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comment1.xml" ContentType="application/vnd.openxmlformats-officedocument.presentationml.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8" r:id="rId1"/>
  </p:sldMasterIdLst>
  <p:notesMasterIdLst>
    <p:notesMasterId r:id="rId55"/>
  </p:notesMasterIdLst>
  <p:handoutMasterIdLst>
    <p:handoutMasterId r:id="rId56"/>
  </p:handoutMasterIdLst>
  <p:sldIdLst>
    <p:sldId id="346" r:id="rId2"/>
    <p:sldId id="347" r:id="rId3"/>
    <p:sldId id="258" r:id="rId4"/>
    <p:sldId id="262" r:id="rId5"/>
    <p:sldId id="259" r:id="rId6"/>
    <p:sldId id="260" r:id="rId7"/>
    <p:sldId id="268" r:id="rId8"/>
    <p:sldId id="287" r:id="rId9"/>
    <p:sldId id="267" r:id="rId10"/>
    <p:sldId id="261" r:id="rId11"/>
    <p:sldId id="263" r:id="rId12"/>
    <p:sldId id="264" r:id="rId13"/>
    <p:sldId id="265" r:id="rId14"/>
    <p:sldId id="269" r:id="rId15"/>
    <p:sldId id="270" r:id="rId16"/>
    <p:sldId id="271" r:id="rId17"/>
    <p:sldId id="266" r:id="rId18"/>
    <p:sldId id="293" r:id="rId19"/>
    <p:sldId id="298" r:id="rId20"/>
    <p:sldId id="274" r:id="rId21"/>
    <p:sldId id="272" r:id="rId22"/>
    <p:sldId id="299" r:id="rId23"/>
    <p:sldId id="273" r:id="rId24"/>
    <p:sldId id="300" r:id="rId25"/>
    <p:sldId id="275" r:id="rId26"/>
    <p:sldId id="286" r:id="rId27"/>
    <p:sldId id="280" r:id="rId28"/>
    <p:sldId id="278" r:id="rId29"/>
    <p:sldId id="279" r:id="rId30"/>
    <p:sldId id="302" r:id="rId31"/>
    <p:sldId id="301" r:id="rId32"/>
    <p:sldId id="285" r:id="rId33"/>
    <p:sldId id="316" r:id="rId34"/>
    <p:sldId id="284" r:id="rId35"/>
    <p:sldId id="290" r:id="rId36"/>
    <p:sldId id="291" r:id="rId37"/>
    <p:sldId id="292" r:id="rId38"/>
    <p:sldId id="336" r:id="rId39"/>
    <p:sldId id="328" r:id="rId40"/>
    <p:sldId id="327" r:id="rId41"/>
    <p:sldId id="330" r:id="rId42"/>
    <p:sldId id="329" r:id="rId43"/>
    <p:sldId id="331" r:id="rId44"/>
    <p:sldId id="337" r:id="rId45"/>
    <p:sldId id="281" r:id="rId46"/>
    <p:sldId id="338" r:id="rId47"/>
    <p:sldId id="333" r:id="rId48"/>
    <p:sldId id="334" r:id="rId49"/>
    <p:sldId id="335" r:id="rId50"/>
    <p:sldId id="305" r:id="rId51"/>
    <p:sldId id="282" r:id="rId52"/>
    <p:sldId id="283" r:id="rId53"/>
    <p:sldId id="289" r:id="rId54"/>
  </p:sldIdLst>
  <p:sldSz cx="9144000" cy="6858000" type="screen4x3"/>
  <p:notesSz cx="6858000" cy="9296400"/>
  <p:defaultTextStyle>
    <a:defPPr>
      <a:defRPr lang="fr-FR"/>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ient" initials="S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1" autoAdjust="0"/>
    <p:restoredTop sz="88391" autoAdjust="0"/>
  </p:normalViewPr>
  <p:slideViewPr>
    <p:cSldViewPr>
      <p:cViewPr varScale="1">
        <p:scale>
          <a:sx n="56" d="100"/>
          <a:sy n="56" d="100"/>
        </p:scale>
        <p:origin x="1640" y="40"/>
      </p:cViewPr>
      <p:guideLst>
        <p:guide orient="horz" pos="2160"/>
        <p:guide pos="2880"/>
      </p:guideLst>
    </p:cSldViewPr>
  </p:slideViewPr>
  <p:outlineViewPr>
    <p:cViewPr>
      <p:scale>
        <a:sx n="33" d="100"/>
        <a:sy n="33" d="100"/>
      </p:scale>
      <p:origin x="0" y="-1124"/>
    </p:cViewPr>
  </p:outlineViewPr>
  <p:notesTextViewPr>
    <p:cViewPr>
      <p:scale>
        <a:sx n="100" d="100"/>
        <a:sy n="100" d="100"/>
      </p:scale>
      <p:origin x="0" y="0"/>
    </p:cViewPr>
  </p:notesTextViewPr>
  <p:sorterViewPr>
    <p:cViewPr>
      <p:scale>
        <a:sx n="78" d="100"/>
        <a:sy n="78" d="100"/>
      </p:scale>
      <p:origin x="0" y="0"/>
    </p:cViewPr>
  </p:sorterViewPr>
  <p:notesViewPr>
    <p:cSldViewPr>
      <p:cViewPr varScale="1">
        <p:scale>
          <a:sx n="38" d="100"/>
          <a:sy n="38" d="100"/>
        </p:scale>
        <p:origin x="2268" y="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4-03-31T08:37:15.661" idx="1">
    <p:pos x="10" y="3"/>
    <p:text>J'ai une question. Je n'ai pas trouvé la source qui supporte le fait que certaines sociétés présentent aussi les variations des CP pour le trimestre (c'est pas les ACVM ou l'OSC) ou qu'elles présentent l'évolution des Flux de trésorerie pourle trimestre seulement.
Je suppose que ces sociétés répondent aux exigences de la SEC. Des idées?</p:tex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3BE84B-39D0-408D-8D03-1EF2CD2A5049}"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fr-CA"/>
        </a:p>
      </dgm:t>
    </dgm:pt>
    <dgm:pt modelId="{65021AAC-C994-461C-A2E4-AE7B9F31B075}">
      <dgm:prSet phldrT="[Texte]"/>
      <dgm:spPr/>
      <dgm:t>
        <a:bodyPr/>
        <a:lstStyle/>
        <a:p>
          <a:r>
            <a:rPr lang="fr-CA" dirty="0"/>
            <a:t>Notes supplémentaires (IAS 34-15B)</a:t>
          </a:r>
        </a:p>
      </dgm:t>
    </dgm:pt>
    <dgm:pt modelId="{01414977-8C45-4C88-B289-D7585F311A98}" type="parTrans" cxnId="{84A21F88-7699-4B24-B9EA-CB12C4C6C108}">
      <dgm:prSet/>
      <dgm:spPr/>
      <dgm:t>
        <a:bodyPr/>
        <a:lstStyle/>
        <a:p>
          <a:endParaRPr lang="fr-CA"/>
        </a:p>
      </dgm:t>
    </dgm:pt>
    <dgm:pt modelId="{26B5AF33-F0CE-47A8-B2D2-42084997294A}" type="sibTrans" cxnId="{84A21F88-7699-4B24-B9EA-CB12C4C6C108}">
      <dgm:prSet/>
      <dgm:spPr/>
      <dgm:t>
        <a:bodyPr/>
        <a:lstStyle/>
        <a:p>
          <a:endParaRPr lang="fr-CA"/>
        </a:p>
      </dgm:t>
    </dgm:pt>
    <dgm:pt modelId="{577EF8F1-4E18-4E3A-9513-625FA59FF044}">
      <dgm:prSet phldrT="[Texte]"/>
      <dgm:spPr/>
      <dgm:t>
        <a:bodyPr/>
        <a:lstStyle/>
        <a:p>
          <a:r>
            <a:rPr lang="fr-CA" dirty="0"/>
            <a:t>Autres informations  que l’entité DOIT fournir </a:t>
          </a:r>
        </a:p>
        <a:p>
          <a:r>
            <a:rPr lang="fr-CA" dirty="0"/>
            <a:t>(IAS 34-16A)</a:t>
          </a:r>
        </a:p>
      </dgm:t>
    </dgm:pt>
    <dgm:pt modelId="{A9A6FE86-BC6B-4FEC-B2BD-81151770190F}" type="parTrans" cxnId="{5ACC80F2-BDC4-47AF-A53C-31D24B4AAC3E}">
      <dgm:prSet/>
      <dgm:spPr/>
      <dgm:t>
        <a:bodyPr/>
        <a:lstStyle/>
        <a:p>
          <a:endParaRPr lang="fr-CA"/>
        </a:p>
      </dgm:t>
    </dgm:pt>
    <dgm:pt modelId="{C625A153-51F0-4390-B6B4-675D2B0AB3C6}" type="sibTrans" cxnId="{5ACC80F2-BDC4-47AF-A53C-31D24B4AAC3E}">
      <dgm:prSet/>
      <dgm:spPr/>
      <dgm:t>
        <a:bodyPr/>
        <a:lstStyle/>
        <a:p>
          <a:endParaRPr lang="fr-CA"/>
        </a:p>
      </dgm:t>
    </dgm:pt>
    <dgm:pt modelId="{14BBC28E-E0F6-4A39-8135-D5C1F15D9FD0}">
      <dgm:prSet phldrT="[Texte]" custT="1"/>
      <dgm:spPr/>
      <dgm:t>
        <a:bodyPr/>
        <a:lstStyle/>
        <a:p>
          <a:r>
            <a:rPr lang="fr-CA" sz="2800" dirty="0"/>
            <a:t>Transactions et événements importants</a:t>
          </a:r>
        </a:p>
      </dgm:t>
    </dgm:pt>
    <dgm:pt modelId="{BD600B8C-85B0-456A-B0DD-09EEE385C49A}" type="parTrans" cxnId="{D0F0C6AE-CADB-4E54-8027-7A178AF5221C}">
      <dgm:prSet/>
      <dgm:spPr/>
      <dgm:t>
        <a:bodyPr/>
        <a:lstStyle/>
        <a:p>
          <a:endParaRPr lang="fr-CA"/>
        </a:p>
      </dgm:t>
    </dgm:pt>
    <dgm:pt modelId="{92847808-A177-4066-9A87-84DD54FDDF13}" type="sibTrans" cxnId="{D0F0C6AE-CADB-4E54-8027-7A178AF5221C}">
      <dgm:prSet/>
      <dgm:spPr/>
      <dgm:t>
        <a:bodyPr/>
        <a:lstStyle/>
        <a:p>
          <a:endParaRPr lang="fr-CA"/>
        </a:p>
      </dgm:t>
    </dgm:pt>
    <dgm:pt modelId="{9E782242-DFF1-44D4-8016-C0BCE782D752}">
      <dgm:prSet phldrT="[Texte]" custT="1"/>
      <dgm:spPr/>
      <dgm:t>
        <a:bodyPr/>
        <a:lstStyle/>
        <a:p>
          <a:r>
            <a:rPr lang="fr-CA" sz="1800" dirty="0"/>
            <a:t>Continuité d’application des méthodes comptables</a:t>
          </a:r>
        </a:p>
        <a:p>
          <a:r>
            <a:rPr lang="fr-CA" sz="1800" dirty="0"/>
            <a:t>Indications sur le caractère saisonnier</a:t>
          </a:r>
        </a:p>
        <a:p>
          <a:r>
            <a:rPr lang="fr-CA" sz="1800" dirty="0"/>
            <a:t>Éléments inhabituels Changements d’estimations </a:t>
          </a:r>
        </a:p>
        <a:p>
          <a:r>
            <a:rPr lang="fr-CA" sz="1800" dirty="0"/>
            <a:t>Etc.</a:t>
          </a:r>
          <a:r>
            <a:rPr lang="fr-CA" sz="2200" dirty="0"/>
            <a:t>  </a:t>
          </a:r>
        </a:p>
      </dgm:t>
    </dgm:pt>
    <dgm:pt modelId="{F8234A7E-2497-41DC-AB8C-9E9342B331B9}" type="sibTrans" cxnId="{79F3B651-22A5-4FB9-835B-7A9FCD71F7F5}">
      <dgm:prSet/>
      <dgm:spPr/>
      <dgm:t>
        <a:bodyPr/>
        <a:lstStyle/>
        <a:p>
          <a:endParaRPr lang="fr-CA"/>
        </a:p>
      </dgm:t>
    </dgm:pt>
    <dgm:pt modelId="{3DF1A9A6-669B-4336-B54C-D8F9E193E3EF}" type="parTrans" cxnId="{79F3B651-22A5-4FB9-835B-7A9FCD71F7F5}">
      <dgm:prSet/>
      <dgm:spPr/>
      <dgm:t>
        <a:bodyPr/>
        <a:lstStyle/>
        <a:p>
          <a:endParaRPr lang="fr-CA"/>
        </a:p>
      </dgm:t>
    </dgm:pt>
    <dgm:pt modelId="{D15F4F9C-78DB-44DC-B0C0-01F6557B93D8}" type="pres">
      <dgm:prSet presAssocID="{C93BE84B-39D0-408D-8D03-1EF2CD2A5049}" presName="diagram" presStyleCnt="0">
        <dgm:presLayoutVars>
          <dgm:chPref val="1"/>
          <dgm:dir/>
          <dgm:animOne val="branch"/>
          <dgm:animLvl val="lvl"/>
          <dgm:resizeHandles/>
        </dgm:presLayoutVars>
      </dgm:prSet>
      <dgm:spPr/>
    </dgm:pt>
    <dgm:pt modelId="{8A87275C-EDDD-41D5-B67B-1E3B7C436682}" type="pres">
      <dgm:prSet presAssocID="{65021AAC-C994-461C-A2E4-AE7B9F31B075}" presName="root" presStyleCnt="0"/>
      <dgm:spPr/>
    </dgm:pt>
    <dgm:pt modelId="{F06AAACF-48C1-4DBE-A27E-B066BD72137D}" type="pres">
      <dgm:prSet presAssocID="{65021AAC-C994-461C-A2E4-AE7B9F31B075}" presName="rootComposite" presStyleCnt="0"/>
      <dgm:spPr/>
    </dgm:pt>
    <dgm:pt modelId="{D3B1341A-0F07-4C31-AD6B-19D5F4238553}" type="pres">
      <dgm:prSet presAssocID="{65021AAC-C994-461C-A2E4-AE7B9F31B075}" presName="rootText" presStyleLbl="node1" presStyleIdx="0" presStyleCnt="2"/>
      <dgm:spPr/>
    </dgm:pt>
    <dgm:pt modelId="{88A904FC-C4BA-47BF-B470-352BF1F35EE3}" type="pres">
      <dgm:prSet presAssocID="{65021AAC-C994-461C-A2E4-AE7B9F31B075}" presName="rootConnector" presStyleLbl="node1" presStyleIdx="0" presStyleCnt="2"/>
      <dgm:spPr/>
    </dgm:pt>
    <dgm:pt modelId="{03931313-A89D-44C7-B9FA-A384FD284E17}" type="pres">
      <dgm:prSet presAssocID="{65021AAC-C994-461C-A2E4-AE7B9F31B075}" presName="childShape" presStyleCnt="0"/>
      <dgm:spPr/>
    </dgm:pt>
    <dgm:pt modelId="{3E45CF49-F17D-4F8E-8BB4-42C085B0743F}" type="pres">
      <dgm:prSet presAssocID="{BD600B8C-85B0-456A-B0DD-09EEE385C49A}" presName="Name13" presStyleLbl="parChTrans1D2" presStyleIdx="0" presStyleCnt="2"/>
      <dgm:spPr/>
    </dgm:pt>
    <dgm:pt modelId="{D15D6483-04C4-45B2-B68C-C3DD31C607A1}" type="pres">
      <dgm:prSet presAssocID="{14BBC28E-E0F6-4A39-8135-D5C1F15D9FD0}" presName="childText" presStyleLbl="bgAcc1" presStyleIdx="0" presStyleCnt="2" custLinFactNeighborX="-66" custLinFactNeighborY="-13826">
        <dgm:presLayoutVars>
          <dgm:bulletEnabled val="1"/>
        </dgm:presLayoutVars>
      </dgm:prSet>
      <dgm:spPr/>
    </dgm:pt>
    <dgm:pt modelId="{527E7F21-62C8-422C-AAAE-D0353A8BAA2C}" type="pres">
      <dgm:prSet presAssocID="{577EF8F1-4E18-4E3A-9513-625FA59FF044}" presName="root" presStyleCnt="0"/>
      <dgm:spPr/>
    </dgm:pt>
    <dgm:pt modelId="{9059015D-562B-4E4D-A6FD-E241EB32A6D9}" type="pres">
      <dgm:prSet presAssocID="{577EF8F1-4E18-4E3A-9513-625FA59FF044}" presName="rootComposite" presStyleCnt="0"/>
      <dgm:spPr/>
    </dgm:pt>
    <dgm:pt modelId="{67511D30-5481-4EC1-BAA6-B2EECD1320E2}" type="pres">
      <dgm:prSet presAssocID="{577EF8F1-4E18-4E3A-9513-625FA59FF044}" presName="rootText" presStyleLbl="node1" presStyleIdx="1" presStyleCnt="2"/>
      <dgm:spPr/>
    </dgm:pt>
    <dgm:pt modelId="{1B652F40-1DE9-4481-A15B-FB8E4F20EB14}" type="pres">
      <dgm:prSet presAssocID="{577EF8F1-4E18-4E3A-9513-625FA59FF044}" presName="rootConnector" presStyleLbl="node1" presStyleIdx="1" presStyleCnt="2"/>
      <dgm:spPr/>
    </dgm:pt>
    <dgm:pt modelId="{2EF57D8E-1DF1-45B1-B197-71102A05DCFC}" type="pres">
      <dgm:prSet presAssocID="{577EF8F1-4E18-4E3A-9513-625FA59FF044}" presName="childShape" presStyleCnt="0"/>
      <dgm:spPr/>
    </dgm:pt>
    <dgm:pt modelId="{0FDDDDD8-EB22-4E32-9AAA-7AC4A33A8035}" type="pres">
      <dgm:prSet presAssocID="{3DF1A9A6-669B-4336-B54C-D8F9E193E3EF}" presName="Name13" presStyleLbl="parChTrans1D2" presStyleIdx="1" presStyleCnt="2"/>
      <dgm:spPr/>
    </dgm:pt>
    <dgm:pt modelId="{14147679-FBA5-4AC4-9ADF-BF6168CA362B}" type="pres">
      <dgm:prSet presAssocID="{9E782242-DFF1-44D4-8016-C0BCE782D752}" presName="childText" presStyleLbl="bgAcc1" presStyleIdx="1" presStyleCnt="2" custScaleY="148547" custLinFactNeighborX="-1335" custLinFactNeighborY="-2102">
        <dgm:presLayoutVars>
          <dgm:bulletEnabled val="1"/>
        </dgm:presLayoutVars>
      </dgm:prSet>
      <dgm:spPr/>
    </dgm:pt>
  </dgm:ptLst>
  <dgm:cxnLst>
    <dgm:cxn modelId="{69CF1819-7101-4AEC-A860-F6916EBA7A8A}" type="presOf" srcId="{577EF8F1-4E18-4E3A-9513-625FA59FF044}" destId="{67511D30-5481-4EC1-BAA6-B2EECD1320E2}" srcOrd="0" destOrd="0" presId="urn:microsoft.com/office/officeart/2005/8/layout/hierarchy3"/>
    <dgm:cxn modelId="{B236CA46-8B83-4A38-BE94-BD219F6B483F}" type="presOf" srcId="{C93BE84B-39D0-408D-8D03-1EF2CD2A5049}" destId="{D15F4F9C-78DB-44DC-B0C0-01F6557B93D8}" srcOrd="0" destOrd="0" presId="urn:microsoft.com/office/officeart/2005/8/layout/hierarchy3"/>
    <dgm:cxn modelId="{A2AA784D-FC97-488D-BFE1-DF9F294CD093}" type="presOf" srcId="{65021AAC-C994-461C-A2E4-AE7B9F31B075}" destId="{88A904FC-C4BA-47BF-B470-352BF1F35EE3}" srcOrd="1" destOrd="0" presId="urn:microsoft.com/office/officeart/2005/8/layout/hierarchy3"/>
    <dgm:cxn modelId="{79F3B651-22A5-4FB9-835B-7A9FCD71F7F5}" srcId="{577EF8F1-4E18-4E3A-9513-625FA59FF044}" destId="{9E782242-DFF1-44D4-8016-C0BCE782D752}" srcOrd="0" destOrd="0" parTransId="{3DF1A9A6-669B-4336-B54C-D8F9E193E3EF}" sibTransId="{F8234A7E-2497-41DC-AB8C-9E9342B331B9}"/>
    <dgm:cxn modelId="{4612B256-4866-4045-A446-2694EB7DA665}" type="presOf" srcId="{14BBC28E-E0F6-4A39-8135-D5C1F15D9FD0}" destId="{D15D6483-04C4-45B2-B68C-C3DD31C607A1}" srcOrd="0" destOrd="0" presId="urn:microsoft.com/office/officeart/2005/8/layout/hierarchy3"/>
    <dgm:cxn modelId="{84A21F88-7699-4B24-B9EA-CB12C4C6C108}" srcId="{C93BE84B-39D0-408D-8D03-1EF2CD2A5049}" destId="{65021AAC-C994-461C-A2E4-AE7B9F31B075}" srcOrd="0" destOrd="0" parTransId="{01414977-8C45-4C88-B289-D7585F311A98}" sibTransId="{26B5AF33-F0CE-47A8-B2D2-42084997294A}"/>
    <dgm:cxn modelId="{5259DBA0-7E0D-4067-AAFD-87BB86B69CFA}" type="presOf" srcId="{577EF8F1-4E18-4E3A-9513-625FA59FF044}" destId="{1B652F40-1DE9-4481-A15B-FB8E4F20EB14}" srcOrd="1" destOrd="0" presId="urn:microsoft.com/office/officeart/2005/8/layout/hierarchy3"/>
    <dgm:cxn modelId="{D0F0C6AE-CADB-4E54-8027-7A178AF5221C}" srcId="{65021AAC-C994-461C-A2E4-AE7B9F31B075}" destId="{14BBC28E-E0F6-4A39-8135-D5C1F15D9FD0}" srcOrd="0" destOrd="0" parTransId="{BD600B8C-85B0-456A-B0DD-09EEE385C49A}" sibTransId="{92847808-A177-4066-9A87-84DD54FDDF13}"/>
    <dgm:cxn modelId="{1B0CF5B8-63FD-409D-B7A0-1D55E1344894}" type="presOf" srcId="{65021AAC-C994-461C-A2E4-AE7B9F31B075}" destId="{D3B1341A-0F07-4C31-AD6B-19D5F4238553}" srcOrd="0" destOrd="0" presId="urn:microsoft.com/office/officeart/2005/8/layout/hierarchy3"/>
    <dgm:cxn modelId="{CF81F5C4-66B9-44EC-91E4-D655AF30B462}" type="presOf" srcId="{9E782242-DFF1-44D4-8016-C0BCE782D752}" destId="{14147679-FBA5-4AC4-9ADF-BF6168CA362B}" srcOrd="0" destOrd="0" presId="urn:microsoft.com/office/officeart/2005/8/layout/hierarchy3"/>
    <dgm:cxn modelId="{312CFEEA-9707-4092-90B2-1336C8176B08}" type="presOf" srcId="{BD600B8C-85B0-456A-B0DD-09EEE385C49A}" destId="{3E45CF49-F17D-4F8E-8BB4-42C085B0743F}" srcOrd="0" destOrd="0" presId="urn:microsoft.com/office/officeart/2005/8/layout/hierarchy3"/>
    <dgm:cxn modelId="{5ACC80F2-BDC4-47AF-A53C-31D24B4AAC3E}" srcId="{C93BE84B-39D0-408D-8D03-1EF2CD2A5049}" destId="{577EF8F1-4E18-4E3A-9513-625FA59FF044}" srcOrd="1" destOrd="0" parTransId="{A9A6FE86-BC6B-4FEC-B2BD-81151770190F}" sibTransId="{C625A153-51F0-4390-B6B4-675D2B0AB3C6}"/>
    <dgm:cxn modelId="{1C0DB7FE-5D7B-4383-B97C-50D590480E97}" type="presOf" srcId="{3DF1A9A6-669B-4336-B54C-D8F9E193E3EF}" destId="{0FDDDDD8-EB22-4E32-9AAA-7AC4A33A8035}" srcOrd="0" destOrd="0" presId="urn:microsoft.com/office/officeart/2005/8/layout/hierarchy3"/>
    <dgm:cxn modelId="{85CA761A-2F2C-4C77-827E-1CE53F70C3E8}" type="presParOf" srcId="{D15F4F9C-78DB-44DC-B0C0-01F6557B93D8}" destId="{8A87275C-EDDD-41D5-B67B-1E3B7C436682}" srcOrd="0" destOrd="0" presId="urn:microsoft.com/office/officeart/2005/8/layout/hierarchy3"/>
    <dgm:cxn modelId="{AC5507CB-2150-45CA-B2A3-E9BB3E88394B}" type="presParOf" srcId="{8A87275C-EDDD-41D5-B67B-1E3B7C436682}" destId="{F06AAACF-48C1-4DBE-A27E-B066BD72137D}" srcOrd="0" destOrd="0" presId="urn:microsoft.com/office/officeart/2005/8/layout/hierarchy3"/>
    <dgm:cxn modelId="{4E38582E-7347-4BF5-9E70-F66252787B8D}" type="presParOf" srcId="{F06AAACF-48C1-4DBE-A27E-B066BD72137D}" destId="{D3B1341A-0F07-4C31-AD6B-19D5F4238553}" srcOrd="0" destOrd="0" presId="urn:microsoft.com/office/officeart/2005/8/layout/hierarchy3"/>
    <dgm:cxn modelId="{DA6D3A1B-B0FA-458B-8307-E9D58BC48145}" type="presParOf" srcId="{F06AAACF-48C1-4DBE-A27E-B066BD72137D}" destId="{88A904FC-C4BA-47BF-B470-352BF1F35EE3}" srcOrd="1" destOrd="0" presId="urn:microsoft.com/office/officeart/2005/8/layout/hierarchy3"/>
    <dgm:cxn modelId="{2814BFEF-0CAF-4B72-B755-B377D439DE24}" type="presParOf" srcId="{8A87275C-EDDD-41D5-B67B-1E3B7C436682}" destId="{03931313-A89D-44C7-B9FA-A384FD284E17}" srcOrd="1" destOrd="0" presId="urn:microsoft.com/office/officeart/2005/8/layout/hierarchy3"/>
    <dgm:cxn modelId="{3BFC6873-83CD-47DA-9AD0-DF48A2519A50}" type="presParOf" srcId="{03931313-A89D-44C7-B9FA-A384FD284E17}" destId="{3E45CF49-F17D-4F8E-8BB4-42C085B0743F}" srcOrd="0" destOrd="0" presId="urn:microsoft.com/office/officeart/2005/8/layout/hierarchy3"/>
    <dgm:cxn modelId="{969F1FDC-A38D-4401-BA4E-1E35F404CCFA}" type="presParOf" srcId="{03931313-A89D-44C7-B9FA-A384FD284E17}" destId="{D15D6483-04C4-45B2-B68C-C3DD31C607A1}" srcOrd="1" destOrd="0" presId="urn:microsoft.com/office/officeart/2005/8/layout/hierarchy3"/>
    <dgm:cxn modelId="{AA815FAF-CDB0-420A-94F4-16D37B7AC114}" type="presParOf" srcId="{D15F4F9C-78DB-44DC-B0C0-01F6557B93D8}" destId="{527E7F21-62C8-422C-AAAE-D0353A8BAA2C}" srcOrd="1" destOrd="0" presId="urn:microsoft.com/office/officeart/2005/8/layout/hierarchy3"/>
    <dgm:cxn modelId="{2890BFC2-4187-4DAE-9672-D24138966F73}" type="presParOf" srcId="{527E7F21-62C8-422C-AAAE-D0353A8BAA2C}" destId="{9059015D-562B-4E4D-A6FD-E241EB32A6D9}" srcOrd="0" destOrd="0" presId="urn:microsoft.com/office/officeart/2005/8/layout/hierarchy3"/>
    <dgm:cxn modelId="{54476BED-9028-466E-B945-319C9CFF57F0}" type="presParOf" srcId="{9059015D-562B-4E4D-A6FD-E241EB32A6D9}" destId="{67511D30-5481-4EC1-BAA6-B2EECD1320E2}" srcOrd="0" destOrd="0" presId="urn:microsoft.com/office/officeart/2005/8/layout/hierarchy3"/>
    <dgm:cxn modelId="{359C6430-8811-45B7-B476-00320BC1BC7E}" type="presParOf" srcId="{9059015D-562B-4E4D-A6FD-E241EB32A6D9}" destId="{1B652F40-1DE9-4481-A15B-FB8E4F20EB14}" srcOrd="1" destOrd="0" presId="urn:microsoft.com/office/officeart/2005/8/layout/hierarchy3"/>
    <dgm:cxn modelId="{D2DF8F02-64C2-48DB-8127-B10A4E5EBA86}" type="presParOf" srcId="{527E7F21-62C8-422C-AAAE-D0353A8BAA2C}" destId="{2EF57D8E-1DF1-45B1-B197-71102A05DCFC}" srcOrd="1" destOrd="0" presId="urn:microsoft.com/office/officeart/2005/8/layout/hierarchy3"/>
    <dgm:cxn modelId="{74730322-1F07-40B0-94BF-0702E300E970}" type="presParOf" srcId="{2EF57D8E-1DF1-45B1-B197-71102A05DCFC}" destId="{0FDDDDD8-EB22-4E32-9AAA-7AC4A33A8035}" srcOrd="0" destOrd="0" presId="urn:microsoft.com/office/officeart/2005/8/layout/hierarchy3"/>
    <dgm:cxn modelId="{B88628A3-EC04-4DF1-B2AF-D6997220D223}" type="presParOf" srcId="{2EF57D8E-1DF1-45B1-B197-71102A05DCFC}" destId="{14147679-FBA5-4AC4-9ADF-BF6168CA362B}"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3BE84B-39D0-408D-8D03-1EF2CD2A5049}"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fr-CA"/>
        </a:p>
      </dgm:t>
    </dgm:pt>
    <dgm:pt modelId="{65021AAC-C994-461C-A2E4-AE7B9F31B075}">
      <dgm:prSet phldrT="[Texte]"/>
      <dgm:spPr/>
      <dgm:t>
        <a:bodyPr/>
        <a:lstStyle/>
        <a:p>
          <a:r>
            <a:rPr lang="fr-CA" dirty="0"/>
            <a:t>Notes supplémentaires (IAS 34-15B)</a:t>
          </a:r>
        </a:p>
      </dgm:t>
    </dgm:pt>
    <dgm:pt modelId="{01414977-8C45-4C88-B289-D7585F311A98}" type="parTrans" cxnId="{84A21F88-7699-4B24-B9EA-CB12C4C6C108}">
      <dgm:prSet/>
      <dgm:spPr/>
      <dgm:t>
        <a:bodyPr/>
        <a:lstStyle/>
        <a:p>
          <a:endParaRPr lang="fr-CA"/>
        </a:p>
      </dgm:t>
    </dgm:pt>
    <dgm:pt modelId="{26B5AF33-F0CE-47A8-B2D2-42084997294A}" type="sibTrans" cxnId="{84A21F88-7699-4B24-B9EA-CB12C4C6C108}">
      <dgm:prSet/>
      <dgm:spPr/>
      <dgm:t>
        <a:bodyPr/>
        <a:lstStyle/>
        <a:p>
          <a:endParaRPr lang="fr-CA"/>
        </a:p>
      </dgm:t>
    </dgm:pt>
    <dgm:pt modelId="{577EF8F1-4E18-4E3A-9513-625FA59FF044}">
      <dgm:prSet phldrT="[Texte]"/>
      <dgm:spPr/>
      <dgm:t>
        <a:bodyPr/>
        <a:lstStyle/>
        <a:p>
          <a:r>
            <a:rPr lang="fr-CA" dirty="0">
              <a:solidFill>
                <a:schemeClr val="accent2">
                  <a:lumMod val="40000"/>
                  <a:lumOff val="60000"/>
                </a:schemeClr>
              </a:solidFill>
            </a:rPr>
            <a:t>Autres informations  que l’entité DOIT fournir  </a:t>
          </a:r>
          <a:r>
            <a:rPr lang="fr-CA" dirty="0">
              <a:solidFill>
                <a:schemeClr val="accent1">
                  <a:lumMod val="40000"/>
                  <a:lumOff val="60000"/>
                </a:schemeClr>
              </a:solidFill>
            </a:rPr>
            <a:t>(IAS 34-16A)</a:t>
          </a:r>
        </a:p>
      </dgm:t>
    </dgm:pt>
    <dgm:pt modelId="{A9A6FE86-BC6B-4FEC-B2BD-81151770190F}" type="parTrans" cxnId="{5ACC80F2-BDC4-47AF-A53C-31D24B4AAC3E}">
      <dgm:prSet/>
      <dgm:spPr/>
      <dgm:t>
        <a:bodyPr/>
        <a:lstStyle/>
        <a:p>
          <a:endParaRPr lang="fr-CA"/>
        </a:p>
      </dgm:t>
    </dgm:pt>
    <dgm:pt modelId="{C625A153-51F0-4390-B6B4-675D2B0AB3C6}" type="sibTrans" cxnId="{5ACC80F2-BDC4-47AF-A53C-31D24B4AAC3E}">
      <dgm:prSet/>
      <dgm:spPr/>
      <dgm:t>
        <a:bodyPr/>
        <a:lstStyle/>
        <a:p>
          <a:endParaRPr lang="fr-CA"/>
        </a:p>
      </dgm:t>
    </dgm:pt>
    <dgm:pt modelId="{14BBC28E-E0F6-4A39-8135-D5C1F15D9FD0}">
      <dgm:prSet phldrT="[Texte]" custT="1"/>
      <dgm:spPr/>
      <dgm:t>
        <a:bodyPr/>
        <a:lstStyle/>
        <a:p>
          <a:r>
            <a:rPr lang="fr-CA" sz="2800" dirty="0"/>
            <a:t>Transactions et événements importants</a:t>
          </a:r>
        </a:p>
      </dgm:t>
    </dgm:pt>
    <dgm:pt modelId="{BD600B8C-85B0-456A-B0DD-09EEE385C49A}" type="parTrans" cxnId="{D0F0C6AE-CADB-4E54-8027-7A178AF5221C}">
      <dgm:prSet/>
      <dgm:spPr/>
      <dgm:t>
        <a:bodyPr/>
        <a:lstStyle/>
        <a:p>
          <a:endParaRPr lang="fr-CA"/>
        </a:p>
      </dgm:t>
    </dgm:pt>
    <dgm:pt modelId="{92847808-A177-4066-9A87-84DD54FDDF13}" type="sibTrans" cxnId="{D0F0C6AE-CADB-4E54-8027-7A178AF5221C}">
      <dgm:prSet/>
      <dgm:spPr/>
      <dgm:t>
        <a:bodyPr/>
        <a:lstStyle/>
        <a:p>
          <a:endParaRPr lang="fr-CA"/>
        </a:p>
      </dgm:t>
    </dgm:pt>
    <dgm:pt modelId="{9E782242-DFF1-44D4-8016-C0BCE782D752}">
      <dgm:prSet phldrT="[Texte]" custT="1"/>
      <dgm:spPr/>
      <dgm:t>
        <a:bodyPr/>
        <a:lstStyle/>
        <a:p>
          <a:r>
            <a:rPr lang="fr-CA" sz="1800" dirty="0">
              <a:solidFill>
                <a:schemeClr val="accent1">
                  <a:lumMod val="40000"/>
                  <a:lumOff val="60000"/>
                </a:schemeClr>
              </a:solidFill>
            </a:rPr>
            <a:t>Continuité d’application des méthodes comptables</a:t>
          </a:r>
        </a:p>
        <a:p>
          <a:r>
            <a:rPr lang="fr-CA" sz="1800" dirty="0">
              <a:solidFill>
                <a:schemeClr val="accent1">
                  <a:lumMod val="40000"/>
                  <a:lumOff val="60000"/>
                </a:schemeClr>
              </a:solidFill>
            </a:rPr>
            <a:t>Indications sur le caractère saisonnier</a:t>
          </a:r>
        </a:p>
        <a:p>
          <a:r>
            <a:rPr lang="fr-CA" sz="1800" dirty="0">
              <a:solidFill>
                <a:schemeClr val="accent1">
                  <a:lumMod val="40000"/>
                  <a:lumOff val="60000"/>
                </a:schemeClr>
              </a:solidFill>
            </a:rPr>
            <a:t>Éléments inhabituels Changements d’estimations </a:t>
          </a:r>
        </a:p>
        <a:p>
          <a:r>
            <a:rPr lang="fr-CA" sz="1800" dirty="0">
              <a:solidFill>
                <a:schemeClr val="accent1">
                  <a:lumMod val="40000"/>
                  <a:lumOff val="60000"/>
                </a:schemeClr>
              </a:solidFill>
            </a:rPr>
            <a:t>Etc.</a:t>
          </a:r>
          <a:r>
            <a:rPr lang="fr-CA" sz="2200" dirty="0">
              <a:solidFill>
                <a:schemeClr val="accent1">
                  <a:lumMod val="40000"/>
                  <a:lumOff val="60000"/>
                </a:schemeClr>
              </a:solidFill>
            </a:rPr>
            <a:t>  </a:t>
          </a:r>
        </a:p>
      </dgm:t>
    </dgm:pt>
    <dgm:pt modelId="{F8234A7E-2497-41DC-AB8C-9E9342B331B9}" type="sibTrans" cxnId="{79F3B651-22A5-4FB9-835B-7A9FCD71F7F5}">
      <dgm:prSet/>
      <dgm:spPr/>
      <dgm:t>
        <a:bodyPr/>
        <a:lstStyle/>
        <a:p>
          <a:endParaRPr lang="fr-CA"/>
        </a:p>
      </dgm:t>
    </dgm:pt>
    <dgm:pt modelId="{3DF1A9A6-669B-4336-B54C-D8F9E193E3EF}" type="parTrans" cxnId="{79F3B651-22A5-4FB9-835B-7A9FCD71F7F5}">
      <dgm:prSet/>
      <dgm:spPr/>
      <dgm:t>
        <a:bodyPr/>
        <a:lstStyle/>
        <a:p>
          <a:endParaRPr lang="fr-CA"/>
        </a:p>
      </dgm:t>
    </dgm:pt>
    <dgm:pt modelId="{D15F4F9C-78DB-44DC-B0C0-01F6557B93D8}" type="pres">
      <dgm:prSet presAssocID="{C93BE84B-39D0-408D-8D03-1EF2CD2A5049}" presName="diagram" presStyleCnt="0">
        <dgm:presLayoutVars>
          <dgm:chPref val="1"/>
          <dgm:dir/>
          <dgm:animOne val="branch"/>
          <dgm:animLvl val="lvl"/>
          <dgm:resizeHandles/>
        </dgm:presLayoutVars>
      </dgm:prSet>
      <dgm:spPr/>
    </dgm:pt>
    <dgm:pt modelId="{8A87275C-EDDD-41D5-B67B-1E3B7C436682}" type="pres">
      <dgm:prSet presAssocID="{65021AAC-C994-461C-A2E4-AE7B9F31B075}" presName="root" presStyleCnt="0"/>
      <dgm:spPr/>
    </dgm:pt>
    <dgm:pt modelId="{F06AAACF-48C1-4DBE-A27E-B066BD72137D}" type="pres">
      <dgm:prSet presAssocID="{65021AAC-C994-461C-A2E4-AE7B9F31B075}" presName="rootComposite" presStyleCnt="0"/>
      <dgm:spPr/>
    </dgm:pt>
    <dgm:pt modelId="{D3B1341A-0F07-4C31-AD6B-19D5F4238553}" type="pres">
      <dgm:prSet presAssocID="{65021AAC-C994-461C-A2E4-AE7B9F31B075}" presName="rootText" presStyleLbl="node1" presStyleIdx="0" presStyleCnt="2"/>
      <dgm:spPr/>
    </dgm:pt>
    <dgm:pt modelId="{88A904FC-C4BA-47BF-B470-352BF1F35EE3}" type="pres">
      <dgm:prSet presAssocID="{65021AAC-C994-461C-A2E4-AE7B9F31B075}" presName="rootConnector" presStyleLbl="node1" presStyleIdx="0" presStyleCnt="2"/>
      <dgm:spPr/>
    </dgm:pt>
    <dgm:pt modelId="{03931313-A89D-44C7-B9FA-A384FD284E17}" type="pres">
      <dgm:prSet presAssocID="{65021AAC-C994-461C-A2E4-AE7B9F31B075}" presName="childShape" presStyleCnt="0"/>
      <dgm:spPr/>
    </dgm:pt>
    <dgm:pt modelId="{3E45CF49-F17D-4F8E-8BB4-42C085B0743F}" type="pres">
      <dgm:prSet presAssocID="{BD600B8C-85B0-456A-B0DD-09EEE385C49A}" presName="Name13" presStyleLbl="parChTrans1D2" presStyleIdx="0" presStyleCnt="2"/>
      <dgm:spPr/>
    </dgm:pt>
    <dgm:pt modelId="{D15D6483-04C4-45B2-B68C-C3DD31C607A1}" type="pres">
      <dgm:prSet presAssocID="{14BBC28E-E0F6-4A39-8135-D5C1F15D9FD0}" presName="childText" presStyleLbl="bgAcc1" presStyleIdx="0" presStyleCnt="2" custLinFactNeighborX="-66" custLinFactNeighborY="-13826">
        <dgm:presLayoutVars>
          <dgm:bulletEnabled val="1"/>
        </dgm:presLayoutVars>
      </dgm:prSet>
      <dgm:spPr/>
    </dgm:pt>
    <dgm:pt modelId="{527E7F21-62C8-422C-AAAE-D0353A8BAA2C}" type="pres">
      <dgm:prSet presAssocID="{577EF8F1-4E18-4E3A-9513-625FA59FF044}" presName="root" presStyleCnt="0"/>
      <dgm:spPr/>
    </dgm:pt>
    <dgm:pt modelId="{9059015D-562B-4E4D-A6FD-E241EB32A6D9}" type="pres">
      <dgm:prSet presAssocID="{577EF8F1-4E18-4E3A-9513-625FA59FF044}" presName="rootComposite" presStyleCnt="0"/>
      <dgm:spPr/>
    </dgm:pt>
    <dgm:pt modelId="{67511D30-5481-4EC1-BAA6-B2EECD1320E2}" type="pres">
      <dgm:prSet presAssocID="{577EF8F1-4E18-4E3A-9513-625FA59FF044}" presName="rootText" presStyleLbl="node1" presStyleIdx="1" presStyleCnt="2" custScaleY="114079"/>
      <dgm:spPr/>
    </dgm:pt>
    <dgm:pt modelId="{1B652F40-1DE9-4481-A15B-FB8E4F20EB14}" type="pres">
      <dgm:prSet presAssocID="{577EF8F1-4E18-4E3A-9513-625FA59FF044}" presName="rootConnector" presStyleLbl="node1" presStyleIdx="1" presStyleCnt="2"/>
      <dgm:spPr/>
    </dgm:pt>
    <dgm:pt modelId="{2EF57D8E-1DF1-45B1-B197-71102A05DCFC}" type="pres">
      <dgm:prSet presAssocID="{577EF8F1-4E18-4E3A-9513-625FA59FF044}" presName="childShape" presStyleCnt="0"/>
      <dgm:spPr/>
    </dgm:pt>
    <dgm:pt modelId="{0FDDDDD8-EB22-4E32-9AAA-7AC4A33A8035}" type="pres">
      <dgm:prSet presAssocID="{3DF1A9A6-669B-4336-B54C-D8F9E193E3EF}" presName="Name13" presStyleLbl="parChTrans1D2" presStyleIdx="1" presStyleCnt="2"/>
      <dgm:spPr/>
    </dgm:pt>
    <dgm:pt modelId="{14147679-FBA5-4AC4-9ADF-BF6168CA362B}" type="pres">
      <dgm:prSet presAssocID="{9E782242-DFF1-44D4-8016-C0BCE782D752}" presName="childText" presStyleLbl="bgAcc1" presStyleIdx="1" presStyleCnt="2" custScaleY="148547" custLinFactNeighborX="-1335" custLinFactNeighborY="-2102">
        <dgm:presLayoutVars>
          <dgm:bulletEnabled val="1"/>
        </dgm:presLayoutVars>
      </dgm:prSet>
      <dgm:spPr/>
    </dgm:pt>
  </dgm:ptLst>
  <dgm:cxnLst>
    <dgm:cxn modelId="{B141BE0E-3E6A-4E5D-9565-EABC7B7534A3}" type="presOf" srcId="{3DF1A9A6-669B-4336-B54C-D8F9E193E3EF}" destId="{0FDDDDD8-EB22-4E32-9AAA-7AC4A33A8035}" srcOrd="0" destOrd="0" presId="urn:microsoft.com/office/officeart/2005/8/layout/hierarchy3"/>
    <dgm:cxn modelId="{F021C524-DEBC-47D7-A6DF-3C6DE57C58B1}" type="presOf" srcId="{BD600B8C-85B0-456A-B0DD-09EEE385C49A}" destId="{3E45CF49-F17D-4F8E-8BB4-42C085B0743F}" srcOrd="0" destOrd="0" presId="urn:microsoft.com/office/officeart/2005/8/layout/hierarchy3"/>
    <dgm:cxn modelId="{79F3B651-22A5-4FB9-835B-7A9FCD71F7F5}" srcId="{577EF8F1-4E18-4E3A-9513-625FA59FF044}" destId="{9E782242-DFF1-44D4-8016-C0BCE782D752}" srcOrd="0" destOrd="0" parTransId="{3DF1A9A6-669B-4336-B54C-D8F9E193E3EF}" sibTransId="{F8234A7E-2497-41DC-AB8C-9E9342B331B9}"/>
    <dgm:cxn modelId="{81DEC181-EF50-4208-A592-D42FE34EB8D3}" type="presOf" srcId="{9E782242-DFF1-44D4-8016-C0BCE782D752}" destId="{14147679-FBA5-4AC4-9ADF-BF6168CA362B}" srcOrd="0" destOrd="0" presId="urn:microsoft.com/office/officeart/2005/8/layout/hierarchy3"/>
    <dgm:cxn modelId="{84A21F88-7699-4B24-B9EA-CB12C4C6C108}" srcId="{C93BE84B-39D0-408D-8D03-1EF2CD2A5049}" destId="{65021AAC-C994-461C-A2E4-AE7B9F31B075}" srcOrd="0" destOrd="0" parTransId="{01414977-8C45-4C88-B289-D7585F311A98}" sibTransId="{26B5AF33-F0CE-47A8-B2D2-42084997294A}"/>
    <dgm:cxn modelId="{657E80A9-1A0D-4CB8-89A7-A8B93AE7BBFE}" type="presOf" srcId="{14BBC28E-E0F6-4A39-8135-D5C1F15D9FD0}" destId="{D15D6483-04C4-45B2-B68C-C3DD31C607A1}" srcOrd="0" destOrd="0" presId="urn:microsoft.com/office/officeart/2005/8/layout/hierarchy3"/>
    <dgm:cxn modelId="{D0F0C6AE-CADB-4E54-8027-7A178AF5221C}" srcId="{65021AAC-C994-461C-A2E4-AE7B9F31B075}" destId="{14BBC28E-E0F6-4A39-8135-D5C1F15D9FD0}" srcOrd="0" destOrd="0" parTransId="{BD600B8C-85B0-456A-B0DD-09EEE385C49A}" sibTransId="{92847808-A177-4066-9A87-84DD54FDDF13}"/>
    <dgm:cxn modelId="{C8F9ECB1-E3F8-4379-AF73-F2205602BC73}" type="presOf" srcId="{65021AAC-C994-461C-A2E4-AE7B9F31B075}" destId="{D3B1341A-0F07-4C31-AD6B-19D5F4238553}" srcOrd="0" destOrd="0" presId="urn:microsoft.com/office/officeart/2005/8/layout/hierarchy3"/>
    <dgm:cxn modelId="{824E75BA-7658-423F-A8E8-D6643C4AE94D}" type="presOf" srcId="{C93BE84B-39D0-408D-8D03-1EF2CD2A5049}" destId="{D15F4F9C-78DB-44DC-B0C0-01F6557B93D8}" srcOrd="0" destOrd="0" presId="urn:microsoft.com/office/officeart/2005/8/layout/hierarchy3"/>
    <dgm:cxn modelId="{096960D6-A7B0-4425-AD16-07572A508833}" type="presOf" srcId="{65021AAC-C994-461C-A2E4-AE7B9F31B075}" destId="{88A904FC-C4BA-47BF-B470-352BF1F35EE3}" srcOrd="1" destOrd="0" presId="urn:microsoft.com/office/officeart/2005/8/layout/hierarchy3"/>
    <dgm:cxn modelId="{5ACC80F2-BDC4-47AF-A53C-31D24B4AAC3E}" srcId="{C93BE84B-39D0-408D-8D03-1EF2CD2A5049}" destId="{577EF8F1-4E18-4E3A-9513-625FA59FF044}" srcOrd="1" destOrd="0" parTransId="{A9A6FE86-BC6B-4FEC-B2BD-81151770190F}" sibTransId="{C625A153-51F0-4390-B6B4-675D2B0AB3C6}"/>
    <dgm:cxn modelId="{709697F7-881D-47CE-BC81-E689B52BF69A}" type="presOf" srcId="{577EF8F1-4E18-4E3A-9513-625FA59FF044}" destId="{67511D30-5481-4EC1-BAA6-B2EECD1320E2}" srcOrd="0" destOrd="0" presId="urn:microsoft.com/office/officeart/2005/8/layout/hierarchy3"/>
    <dgm:cxn modelId="{E4D4B9FD-329C-4501-BE2B-0253B0580738}" type="presOf" srcId="{577EF8F1-4E18-4E3A-9513-625FA59FF044}" destId="{1B652F40-1DE9-4481-A15B-FB8E4F20EB14}" srcOrd="1" destOrd="0" presId="urn:microsoft.com/office/officeart/2005/8/layout/hierarchy3"/>
    <dgm:cxn modelId="{899289BD-7A80-43C2-B76C-4C6F371E74A6}" type="presParOf" srcId="{D15F4F9C-78DB-44DC-B0C0-01F6557B93D8}" destId="{8A87275C-EDDD-41D5-B67B-1E3B7C436682}" srcOrd="0" destOrd="0" presId="urn:microsoft.com/office/officeart/2005/8/layout/hierarchy3"/>
    <dgm:cxn modelId="{644E9879-8988-48FF-8021-4AD83C5D384E}" type="presParOf" srcId="{8A87275C-EDDD-41D5-B67B-1E3B7C436682}" destId="{F06AAACF-48C1-4DBE-A27E-B066BD72137D}" srcOrd="0" destOrd="0" presId="urn:microsoft.com/office/officeart/2005/8/layout/hierarchy3"/>
    <dgm:cxn modelId="{40A8AD14-09AE-45BF-A8E4-D89A86422714}" type="presParOf" srcId="{F06AAACF-48C1-4DBE-A27E-B066BD72137D}" destId="{D3B1341A-0F07-4C31-AD6B-19D5F4238553}" srcOrd="0" destOrd="0" presId="urn:microsoft.com/office/officeart/2005/8/layout/hierarchy3"/>
    <dgm:cxn modelId="{F9A14015-F867-4A22-8413-F707E90B2A5F}" type="presParOf" srcId="{F06AAACF-48C1-4DBE-A27E-B066BD72137D}" destId="{88A904FC-C4BA-47BF-B470-352BF1F35EE3}" srcOrd="1" destOrd="0" presId="urn:microsoft.com/office/officeart/2005/8/layout/hierarchy3"/>
    <dgm:cxn modelId="{B8AA8E1E-ED02-4D25-85E8-86DF260E2C62}" type="presParOf" srcId="{8A87275C-EDDD-41D5-B67B-1E3B7C436682}" destId="{03931313-A89D-44C7-B9FA-A384FD284E17}" srcOrd="1" destOrd="0" presId="urn:microsoft.com/office/officeart/2005/8/layout/hierarchy3"/>
    <dgm:cxn modelId="{8F61CD93-3F14-47E4-B727-28711CB3502B}" type="presParOf" srcId="{03931313-A89D-44C7-B9FA-A384FD284E17}" destId="{3E45CF49-F17D-4F8E-8BB4-42C085B0743F}" srcOrd="0" destOrd="0" presId="urn:microsoft.com/office/officeart/2005/8/layout/hierarchy3"/>
    <dgm:cxn modelId="{512F7F60-10AB-419D-9A5A-9FB4C946F867}" type="presParOf" srcId="{03931313-A89D-44C7-B9FA-A384FD284E17}" destId="{D15D6483-04C4-45B2-B68C-C3DD31C607A1}" srcOrd="1" destOrd="0" presId="urn:microsoft.com/office/officeart/2005/8/layout/hierarchy3"/>
    <dgm:cxn modelId="{63F6EE4D-97A6-44F7-97C6-24064043DAAE}" type="presParOf" srcId="{D15F4F9C-78DB-44DC-B0C0-01F6557B93D8}" destId="{527E7F21-62C8-422C-AAAE-D0353A8BAA2C}" srcOrd="1" destOrd="0" presId="urn:microsoft.com/office/officeart/2005/8/layout/hierarchy3"/>
    <dgm:cxn modelId="{7C727CFD-D50D-4D8A-9B85-4FBF6F2B8343}" type="presParOf" srcId="{527E7F21-62C8-422C-AAAE-D0353A8BAA2C}" destId="{9059015D-562B-4E4D-A6FD-E241EB32A6D9}" srcOrd="0" destOrd="0" presId="urn:microsoft.com/office/officeart/2005/8/layout/hierarchy3"/>
    <dgm:cxn modelId="{4EA823AE-CC78-4114-8F70-3B06108EE642}" type="presParOf" srcId="{9059015D-562B-4E4D-A6FD-E241EB32A6D9}" destId="{67511D30-5481-4EC1-BAA6-B2EECD1320E2}" srcOrd="0" destOrd="0" presId="urn:microsoft.com/office/officeart/2005/8/layout/hierarchy3"/>
    <dgm:cxn modelId="{C6164A7D-DBE7-41B2-A99E-31429FD39483}" type="presParOf" srcId="{9059015D-562B-4E4D-A6FD-E241EB32A6D9}" destId="{1B652F40-1DE9-4481-A15B-FB8E4F20EB14}" srcOrd="1" destOrd="0" presId="urn:microsoft.com/office/officeart/2005/8/layout/hierarchy3"/>
    <dgm:cxn modelId="{D53D798E-E591-4AC6-B362-10D9021A80B0}" type="presParOf" srcId="{527E7F21-62C8-422C-AAAE-D0353A8BAA2C}" destId="{2EF57D8E-1DF1-45B1-B197-71102A05DCFC}" srcOrd="1" destOrd="0" presId="urn:microsoft.com/office/officeart/2005/8/layout/hierarchy3"/>
    <dgm:cxn modelId="{06614BD4-78B0-4C00-B508-6AC33D2D1BBE}" type="presParOf" srcId="{2EF57D8E-1DF1-45B1-B197-71102A05DCFC}" destId="{0FDDDDD8-EB22-4E32-9AAA-7AC4A33A8035}" srcOrd="0" destOrd="0" presId="urn:microsoft.com/office/officeart/2005/8/layout/hierarchy3"/>
    <dgm:cxn modelId="{35C69F9F-A3B3-42FA-9303-B807A0F180D2}" type="presParOf" srcId="{2EF57D8E-1DF1-45B1-B197-71102A05DCFC}" destId="{14147679-FBA5-4AC4-9ADF-BF6168CA362B}"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3BE84B-39D0-408D-8D03-1EF2CD2A5049}"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fr-CA"/>
        </a:p>
      </dgm:t>
    </dgm:pt>
    <dgm:pt modelId="{65021AAC-C994-461C-A2E4-AE7B9F31B075}">
      <dgm:prSet phldrT="[Texte]"/>
      <dgm:spPr/>
      <dgm:t>
        <a:bodyPr/>
        <a:lstStyle/>
        <a:p>
          <a:r>
            <a:rPr lang="fr-CA" dirty="0">
              <a:solidFill>
                <a:schemeClr val="accent1">
                  <a:lumMod val="40000"/>
                  <a:lumOff val="60000"/>
                </a:schemeClr>
              </a:solidFill>
            </a:rPr>
            <a:t>Notes supplémentaires (IAS 34-15B)</a:t>
          </a:r>
        </a:p>
      </dgm:t>
    </dgm:pt>
    <dgm:pt modelId="{01414977-8C45-4C88-B289-D7585F311A98}" type="parTrans" cxnId="{84A21F88-7699-4B24-B9EA-CB12C4C6C108}">
      <dgm:prSet/>
      <dgm:spPr/>
      <dgm:t>
        <a:bodyPr/>
        <a:lstStyle/>
        <a:p>
          <a:endParaRPr lang="fr-CA"/>
        </a:p>
      </dgm:t>
    </dgm:pt>
    <dgm:pt modelId="{26B5AF33-F0CE-47A8-B2D2-42084997294A}" type="sibTrans" cxnId="{84A21F88-7699-4B24-B9EA-CB12C4C6C108}">
      <dgm:prSet/>
      <dgm:spPr/>
      <dgm:t>
        <a:bodyPr/>
        <a:lstStyle/>
        <a:p>
          <a:endParaRPr lang="fr-CA"/>
        </a:p>
      </dgm:t>
    </dgm:pt>
    <dgm:pt modelId="{577EF8F1-4E18-4E3A-9513-625FA59FF044}">
      <dgm:prSet phldrT="[Texte]"/>
      <dgm:spPr/>
      <dgm:t>
        <a:bodyPr/>
        <a:lstStyle/>
        <a:p>
          <a:r>
            <a:rPr lang="fr-CA" dirty="0"/>
            <a:t>Autres informations  que l’entité DOIT fournir (IAS 34-16A)</a:t>
          </a:r>
        </a:p>
      </dgm:t>
    </dgm:pt>
    <dgm:pt modelId="{A9A6FE86-BC6B-4FEC-B2BD-81151770190F}" type="parTrans" cxnId="{5ACC80F2-BDC4-47AF-A53C-31D24B4AAC3E}">
      <dgm:prSet/>
      <dgm:spPr/>
      <dgm:t>
        <a:bodyPr/>
        <a:lstStyle/>
        <a:p>
          <a:endParaRPr lang="fr-CA"/>
        </a:p>
      </dgm:t>
    </dgm:pt>
    <dgm:pt modelId="{C625A153-51F0-4390-B6B4-675D2B0AB3C6}" type="sibTrans" cxnId="{5ACC80F2-BDC4-47AF-A53C-31D24B4AAC3E}">
      <dgm:prSet/>
      <dgm:spPr/>
      <dgm:t>
        <a:bodyPr/>
        <a:lstStyle/>
        <a:p>
          <a:endParaRPr lang="fr-CA"/>
        </a:p>
      </dgm:t>
    </dgm:pt>
    <dgm:pt modelId="{14BBC28E-E0F6-4A39-8135-D5C1F15D9FD0}">
      <dgm:prSet phldrT="[Texte]" custT="1"/>
      <dgm:spPr/>
      <dgm:t>
        <a:bodyPr/>
        <a:lstStyle/>
        <a:p>
          <a:r>
            <a:rPr lang="fr-CA" sz="2800" dirty="0">
              <a:solidFill>
                <a:schemeClr val="accent1">
                  <a:lumMod val="40000"/>
                  <a:lumOff val="60000"/>
                </a:schemeClr>
              </a:solidFill>
            </a:rPr>
            <a:t>Transactions et événements importants</a:t>
          </a:r>
        </a:p>
      </dgm:t>
    </dgm:pt>
    <dgm:pt modelId="{BD600B8C-85B0-456A-B0DD-09EEE385C49A}" type="parTrans" cxnId="{D0F0C6AE-CADB-4E54-8027-7A178AF5221C}">
      <dgm:prSet/>
      <dgm:spPr/>
      <dgm:t>
        <a:bodyPr/>
        <a:lstStyle/>
        <a:p>
          <a:endParaRPr lang="fr-CA"/>
        </a:p>
      </dgm:t>
    </dgm:pt>
    <dgm:pt modelId="{92847808-A177-4066-9A87-84DD54FDDF13}" type="sibTrans" cxnId="{D0F0C6AE-CADB-4E54-8027-7A178AF5221C}">
      <dgm:prSet/>
      <dgm:spPr/>
      <dgm:t>
        <a:bodyPr/>
        <a:lstStyle/>
        <a:p>
          <a:endParaRPr lang="fr-CA"/>
        </a:p>
      </dgm:t>
    </dgm:pt>
    <dgm:pt modelId="{9E782242-DFF1-44D4-8016-C0BCE782D752}">
      <dgm:prSet phldrT="[Texte]" custT="1"/>
      <dgm:spPr/>
      <dgm:t>
        <a:bodyPr/>
        <a:lstStyle/>
        <a:p>
          <a:r>
            <a:rPr lang="fr-CA" sz="1800" dirty="0"/>
            <a:t>Continuité d’application des méthodes comptables</a:t>
          </a:r>
        </a:p>
        <a:p>
          <a:r>
            <a:rPr lang="fr-CA" sz="1800" dirty="0"/>
            <a:t>Indications sur le caractère saisonnier</a:t>
          </a:r>
        </a:p>
        <a:p>
          <a:r>
            <a:rPr lang="fr-CA" sz="1800" dirty="0"/>
            <a:t>Éléments inhabituels Changements d’estimations </a:t>
          </a:r>
        </a:p>
        <a:p>
          <a:r>
            <a:rPr lang="fr-CA" sz="1800" dirty="0"/>
            <a:t>Etc.</a:t>
          </a:r>
          <a:r>
            <a:rPr lang="fr-CA" sz="2200" dirty="0"/>
            <a:t>  </a:t>
          </a:r>
        </a:p>
      </dgm:t>
    </dgm:pt>
    <dgm:pt modelId="{F8234A7E-2497-41DC-AB8C-9E9342B331B9}" type="sibTrans" cxnId="{79F3B651-22A5-4FB9-835B-7A9FCD71F7F5}">
      <dgm:prSet/>
      <dgm:spPr/>
      <dgm:t>
        <a:bodyPr/>
        <a:lstStyle/>
        <a:p>
          <a:endParaRPr lang="fr-CA"/>
        </a:p>
      </dgm:t>
    </dgm:pt>
    <dgm:pt modelId="{3DF1A9A6-669B-4336-B54C-D8F9E193E3EF}" type="parTrans" cxnId="{79F3B651-22A5-4FB9-835B-7A9FCD71F7F5}">
      <dgm:prSet/>
      <dgm:spPr/>
      <dgm:t>
        <a:bodyPr/>
        <a:lstStyle/>
        <a:p>
          <a:endParaRPr lang="fr-CA"/>
        </a:p>
      </dgm:t>
    </dgm:pt>
    <dgm:pt modelId="{D15F4F9C-78DB-44DC-B0C0-01F6557B93D8}" type="pres">
      <dgm:prSet presAssocID="{C93BE84B-39D0-408D-8D03-1EF2CD2A5049}" presName="diagram" presStyleCnt="0">
        <dgm:presLayoutVars>
          <dgm:chPref val="1"/>
          <dgm:dir/>
          <dgm:animOne val="branch"/>
          <dgm:animLvl val="lvl"/>
          <dgm:resizeHandles/>
        </dgm:presLayoutVars>
      </dgm:prSet>
      <dgm:spPr/>
    </dgm:pt>
    <dgm:pt modelId="{8A87275C-EDDD-41D5-B67B-1E3B7C436682}" type="pres">
      <dgm:prSet presAssocID="{65021AAC-C994-461C-A2E4-AE7B9F31B075}" presName="root" presStyleCnt="0"/>
      <dgm:spPr/>
    </dgm:pt>
    <dgm:pt modelId="{F06AAACF-48C1-4DBE-A27E-B066BD72137D}" type="pres">
      <dgm:prSet presAssocID="{65021AAC-C994-461C-A2E4-AE7B9F31B075}" presName="rootComposite" presStyleCnt="0"/>
      <dgm:spPr/>
    </dgm:pt>
    <dgm:pt modelId="{D3B1341A-0F07-4C31-AD6B-19D5F4238553}" type="pres">
      <dgm:prSet presAssocID="{65021AAC-C994-461C-A2E4-AE7B9F31B075}" presName="rootText" presStyleLbl="node1" presStyleIdx="0" presStyleCnt="2"/>
      <dgm:spPr/>
    </dgm:pt>
    <dgm:pt modelId="{88A904FC-C4BA-47BF-B470-352BF1F35EE3}" type="pres">
      <dgm:prSet presAssocID="{65021AAC-C994-461C-A2E4-AE7B9F31B075}" presName="rootConnector" presStyleLbl="node1" presStyleIdx="0" presStyleCnt="2"/>
      <dgm:spPr/>
    </dgm:pt>
    <dgm:pt modelId="{03931313-A89D-44C7-B9FA-A384FD284E17}" type="pres">
      <dgm:prSet presAssocID="{65021AAC-C994-461C-A2E4-AE7B9F31B075}" presName="childShape" presStyleCnt="0"/>
      <dgm:spPr/>
    </dgm:pt>
    <dgm:pt modelId="{3E45CF49-F17D-4F8E-8BB4-42C085B0743F}" type="pres">
      <dgm:prSet presAssocID="{BD600B8C-85B0-456A-B0DD-09EEE385C49A}" presName="Name13" presStyleLbl="parChTrans1D2" presStyleIdx="0" presStyleCnt="2"/>
      <dgm:spPr/>
    </dgm:pt>
    <dgm:pt modelId="{D15D6483-04C4-45B2-B68C-C3DD31C607A1}" type="pres">
      <dgm:prSet presAssocID="{14BBC28E-E0F6-4A39-8135-D5C1F15D9FD0}" presName="childText" presStyleLbl="bgAcc1" presStyleIdx="0" presStyleCnt="2" custLinFactNeighborX="-66" custLinFactNeighborY="-13826">
        <dgm:presLayoutVars>
          <dgm:bulletEnabled val="1"/>
        </dgm:presLayoutVars>
      </dgm:prSet>
      <dgm:spPr/>
    </dgm:pt>
    <dgm:pt modelId="{527E7F21-62C8-422C-AAAE-D0353A8BAA2C}" type="pres">
      <dgm:prSet presAssocID="{577EF8F1-4E18-4E3A-9513-625FA59FF044}" presName="root" presStyleCnt="0"/>
      <dgm:spPr/>
    </dgm:pt>
    <dgm:pt modelId="{9059015D-562B-4E4D-A6FD-E241EB32A6D9}" type="pres">
      <dgm:prSet presAssocID="{577EF8F1-4E18-4E3A-9513-625FA59FF044}" presName="rootComposite" presStyleCnt="0"/>
      <dgm:spPr/>
    </dgm:pt>
    <dgm:pt modelId="{67511D30-5481-4EC1-BAA6-B2EECD1320E2}" type="pres">
      <dgm:prSet presAssocID="{577EF8F1-4E18-4E3A-9513-625FA59FF044}" presName="rootText" presStyleLbl="node1" presStyleIdx="1" presStyleCnt="2"/>
      <dgm:spPr/>
    </dgm:pt>
    <dgm:pt modelId="{1B652F40-1DE9-4481-A15B-FB8E4F20EB14}" type="pres">
      <dgm:prSet presAssocID="{577EF8F1-4E18-4E3A-9513-625FA59FF044}" presName="rootConnector" presStyleLbl="node1" presStyleIdx="1" presStyleCnt="2"/>
      <dgm:spPr/>
    </dgm:pt>
    <dgm:pt modelId="{2EF57D8E-1DF1-45B1-B197-71102A05DCFC}" type="pres">
      <dgm:prSet presAssocID="{577EF8F1-4E18-4E3A-9513-625FA59FF044}" presName="childShape" presStyleCnt="0"/>
      <dgm:spPr/>
    </dgm:pt>
    <dgm:pt modelId="{0FDDDDD8-EB22-4E32-9AAA-7AC4A33A8035}" type="pres">
      <dgm:prSet presAssocID="{3DF1A9A6-669B-4336-B54C-D8F9E193E3EF}" presName="Name13" presStyleLbl="parChTrans1D2" presStyleIdx="1" presStyleCnt="2"/>
      <dgm:spPr/>
    </dgm:pt>
    <dgm:pt modelId="{14147679-FBA5-4AC4-9ADF-BF6168CA362B}" type="pres">
      <dgm:prSet presAssocID="{9E782242-DFF1-44D4-8016-C0BCE782D752}" presName="childText" presStyleLbl="bgAcc1" presStyleIdx="1" presStyleCnt="2" custScaleY="148547" custLinFactNeighborX="-1335" custLinFactNeighborY="-2102">
        <dgm:presLayoutVars>
          <dgm:bulletEnabled val="1"/>
        </dgm:presLayoutVars>
      </dgm:prSet>
      <dgm:spPr/>
    </dgm:pt>
  </dgm:ptLst>
  <dgm:cxnLst>
    <dgm:cxn modelId="{6F80B203-A166-47E4-9968-DF95BA87A46A}" type="presOf" srcId="{577EF8F1-4E18-4E3A-9513-625FA59FF044}" destId="{67511D30-5481-4EC1-BAA6-B2EECD1320E2}" srcOrd="0" destOrd="0" presId="urn:microsoft.com/office/officeart/2005/8/layout/hierarchy3"/>
    <dgm:cxn modelId="{7846CF15-5BE9-4225-9B8B-04479CD13D50}" type="presOf" srcId="{C93BE84B-39D0-408D-8D03-1EF2CD2A5049}" destId="{D15F4F9C-78DB-44DC-B0C0-01F6557B93D8}" srcOrd="0" destOrd="0" presId="urn:microsoft.com/office/officeart/2005/8/layout/hierarchy3"/>
    <dgm:cxn modelId="{C24B9028-54DB-42F7-BC0A-C1A91658806E}" type="presOf" srcId="{65021AAC-C994-461C-A2E4-AE7B9F31B075}" destId="{D3B1341A-0F07-4C31-AD6B-19D5F4238553}" srcOrd="0" destOrd="0" presId="urn:microsoft.com/office/officeart/2005/8/layout/hierarchy3"/>
    <dgm:cxn modelId="{0F026263-8819-4063-A19A-71DC206D969B}" type="presOf" srcId="{3DF1A9A6-669B-4336-B54C-D8F9E193E3EF}" destId="{0FDDDDD8-EB22-4E32-9AAA-7AC4A33A8035}" srcOrd="0" destOrd="0" presId="urn:microsoft.com/office/officeart/2005/8/layout/hierarchy3"/>
    <dgm:cxn modelId="{79F3B651-22A5-4FB9-835B-7A9FCD71F7F5}" srcId="{577EF8F1-4E18-4E3A-9513-625FA59FF044}" destId="{9E782242-DFF1-44D4-8016-C0BCE782D752}" srcOrd="0" destOrd="0" parTransId="{3DF1A9A6-669B-4336-B54C-D8F9E193E3EF}" sibTransId="{F8234A7E-2497-41DC-AB8C-9E9342B331B9}"/>
    <dgm:cxn modelId="{84A21F88-7699-4B24-B9EA-CB12C4C6C108}" srcId="{C93BE84B-39D0-408D-8D03-1EF2CD2A5049}" destId="{65021AAC-C994-461C-A2E4-AE7B9F31B075}" srcOrd="0" destOrd="0" parTransId="{01414977-8C45-4C88-B289-D7585F311A98}" sibTransId="{26B5AF33-F0CE-47A8-B2D2-42084997294A}"/>
    <dgm:cxn modelId="{6CBF73A4-C4D6-4264-B52E-96F01EAE7847}" type="presOf" srcId="{BD600B8C-85B0-456A-B0DD-09EEE385C49A}" destId="{3E45CF49-F17D-4F8E-8BB4-42C085B0743F}" srcOrd="0" destOrd="0" presId="urn:microsoft.com/office/officeart/2005/8/layout/hierarchy3"/>
    <dgm:cxn modelId="{D0F0C6AE-CADB-4E54-8027-7A178AF5221C}" srcId="{65021AAC-C994-461C-A2E4-AE7B9F31B075}" destId="{14BBC28E-E0F6-4A39-8135-D5C1F15D9FD0}" srcOrd="0" destOrd="0" parTransId="{BD600B8C-85B0-456A-B0DD-09EEE385C49A}" sibTransId="{92847808-A177-4066-9A87-84DD54FDDF13}"/>
    <dgm:cxn modelId="{34FDCDB0-A826-4442-AEAE-DA4C199AD7E2}" type="presOf" srcId="{9E782242-DFF1-44D4-8016-C0BCE782D752}" destId="{14147679-FBA5-4AC4-9ADF-BF6168CA362B}" srcOrd="0" destOrd="0" presId="urn:microsoft.com/office/officeart/2005/8/layout/hierarchy3"/>
    <dgm:cxn modelId="{06F539B6-9930-4BEE-9C98-1B562A7D51D9}" type="presOf" srcId="{577EF8F1-4E18-4E3A-9513-625FA59FF044}" destId="{1B652F40-1DE9-4481-A15B-FB8E4F20EB14}" srcOrd="1" destOrd="0" presId="urn:microsoft.com/office/officeart/2005/8/layout/hierarchy3"/>
    <dgm:cxn modelId="{9B1BDCDA-8DB7-454E-80DF-AC3B52A7D031}" type="presOf" srcId="{14BBC28E-E0F6-4A39-8135-D5C1F15D9FD0}" destId="{D15D6483-04C4-45B2-B68C-C3DD31C607A1}" srcOrd="0" destOrd="0" presId="urn:microsoft.com/office/officeart/2005/8/layout/hierarchy3"/>
    <dgm:cxn modelId="{D6C7F3F0-14B3-4D1E-8393-F2CF68F36E27}" type="presOf" srcId="{65021AAC-C994-461C-A2E4-AE7B9F31B075}" destId="{88A904FC-C4BA-47BF-B470-352BF1F35EE3}" srcOrd="1" destOrd="0" presId="urn:microsoft.com/office/officeart/2005/8/layout/hierarchy3"/>
    <dgm:cxn modelId="{5ACC80F2-BDC4-47AF-A53C-31D24B4AAC3E}" srcId="{C93BE84B-39D0-408D-8D03-1EF2CD2A5049}" destId="{577EF8F1-4E18-4E3A-9513-625FA59FF044}" srcOrd="1" destOrd="0" parTransId="{A9A6FE86-BC6B-4FEC-B2BD-81151770190F}" sibTransId="{C625A153-51F0-4390-B6B4-675D2B0AB3C6}"/>
    <dgm:cxn modelId="{DBCACC66-4219-4A0A-8635-8F5E6A9FC330}" type="presParOf" srcId="{D15F4F9C-78DB-44DC-B0C0-01F6557B93D8}" destId="{8A87275C-EDDD-41D5-B67B-1E3B7C436682}" srcOrd="0" destOrd="0" presId="urn:microsoft.com/office/officeart/2005/8/layout/hierarchy3"/>
    <dgm:cxn modelId="{A9FFC7DB-6209-432A-B8AC-910E02AD2553}" type="presParOf" srcId="{8A87275C-EDDD-41D5-B67B-1E3B7C436682}" destId="{F06AAACF-48C1-4DBE-A27E-B066BD72137D}" srcOrd="0" destOrd="0" presId="urn:microsoft.com/office/officeart/2005/8/layout/hierarchy3"/>
    <dgm:cxn modelId="{6096FEDB-E86D-4573-A4B6-D375A81B245E}" type="presParOf" srcId="{F06AAACF-48C1-4DBE-A27E-B066BD72137D}" destId="{D3B1341A-0F07-4C31-AD6B-19D5F4238553}" srcOrd="0" destOrd="0" presId="urn:microsoft.com/office/officeart/2005/8/layout/hierarchy3"/>
    <dgm:cxn modelId="{2D707815-F0EA-42D0-92B3-C88424563B1F}" type="presParOf" srcId="{F06AAACF-48C1-4DBE-A27E-B066BD72137D}" destId="{88A904FC-C4BA-47BF-B470-352BF1F35EE3}" srcOrd="1" destOrd="0" presId="urn:microsoft.com/office/officeart/2005/8/layout/hierarchy3"/>
    <dgm:cxn modelId="{41D7E54C-55C6-4D0C-90A8-C18B0C807830}" type="presParOf" srcId="{8A87275C-EDDD-41D5-B67B-1E3B7C436682}" destId="{03931313-A89D-44C7-B9FA-A384FD284E17}" srcOrd="1" destOrd="0" presId="urn:microsoft.com/office/officeart/2005/8/layout/hierarchy3"/>
    <dgm:cxn modelId="{8394A613-478B-47EB-997E-036B01D3D652}" type="presParOf" srcId="{03931313-A89D-44C7-B9FA-A384FD284E17}" destId="{3E45CF49-F17D-4F8E-8BB4-42C085B0743F}" srcOrd="0" destOrd="0" presId="urn:microsoft.com/office/officeart/2005/8/layout/hierarchy3"/>
    <dgm:cxn modelId="{628E1C12-BE72-4809-9CE7-5E4CBEE38F58}" type="presParOf" srcId="{03931313-A89D-44C7-B9FA-A384FD284E17}" destId="{D15D6483-04C4-45B2-B68C-C3DD31C607A1}" srcOrd="1" destOrd="0" presId="urn:microsoft.com/office/officeart/2005/8/layout/hierarchy3"/>
    <dgm:cxn modelId="{0F792132-E898-4B82-BD14-F5559D0AA84C}" type="presParOf" srcId="{D15F4F9C-78DB-44DC-B0C0-01F6557B93D8}" destId="{527E7F21-62C8-422C-AAAE-D0353A8BAA2C}" srcOrd="1" destOrd="0" presId="urn:microsoft.com/office/officeart/2005/8/layout/hierarchy3"/>
    <dgm:cxn modelId="{03F5B4E5-3F10-4AA0-9C97-7D4A24F303D2}" type="presParOf" srcId="{527E7F21-62C8-422C-AAAE-D0353A8BAA2C}" destId="{9059015D-562B-4E4D-A6FD-E241EB32A6D9}" srcOrd="0" destOrd="0" presId="urn:microsoft.com/office/officeart/2005/8/layout/hierarchy3"/>
    <dgm:cxn modelId="{D2D15A8B-B440-4EAC-B98F-7023CCEF3359}" type="presParOf" srcId="{9059015D-562B-4E4D-A6FD-E241EB32A6D9}" destId="{67511D30-5481-4EC1-BAA6-B2EECD1320E2}" srcOrd="0" destOrd="0" presId="urn:microsoft.com/office/officeart/2005/8/layout/hierarchy3"/>
    <dgm:cxn modelId="{4A870739-4A39-472F-A854-53D0BAB65916}" type="presParOf" srcId="{9059015D-562B-4E4D-A6FD-E241EB32A6D9}" destId="{1B652F40-1DE9-4481-A15B-FB8E4F20EB14}" srcOrd="1" destOrd="0" presId="urn:microsoft.com/office/officeart/2005/8/layout/hierarchy3"/>
    <dgm:cxn modelId="{2FFF8ED9-C8C0-4949-80E9-9B50073C1371}" type="presParOf" srcId="{527E7F21-62C8-422C-AAAE-D0353A8BAA2C}" destId="{2EF57D8E-1DF1-45B1-B197-71102A05DCFC}" srcOrd="1" destOrd="0" presId="urn:microsoft.com/office/officeart/2005/8/layout/hierarchy3"/>
    <dgm:cxn modelId="{D7E07D46-D5FE-4098-AED6-6A00CAB26CEB}" type="presParOf" srcId="{2EF57D8E-1DF1-45B1-B197-71102A05DCFC}" destId="{0FDDDDD8-EB22-4E32-9AAA-7AC4A33A8035}" srcOrd="0" destOrd="0" presId="urn:microsoft.com/office/officeart/2005/8/layout/hierarchy3"/>
    <dgm:cxn modelId="{8F30F082-D04D-43D6-B313-7010F00392D7}" type="presParOf" srcId="{2EF57D8E-1DF1-45B1-B197-71102A05DCFC}" destId="{14147679-FBA5-4AC4-9ADF-BF6168CA362B}"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1341A-0F07-4C31-AD6B-19D5F4238553}">
      <dsp:nvSpPr>
        <dsp:cNvPr id="0" name=""/>
        <dsp:cNvSpPr/>
      </dsp:nvSpPr>
      <dsp:spPr>
        <a:xfrm>
          <a:off x="28128" y="61"/>
          <a:ext cx="3632596" cy="181629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fr-CA" sz="2800" kern="1200" dirty="0"/>
            <a:t>Notes supplémentaires (IAS 34-15B)</a:t>
          </a:r>
        </a:p>
      </dsp:txBody>
      <dsp:txXfrm>
        <a:off x="81326" y="53259"/>
        <a:ext cx="3526200" cy="1709902"/>
      </dsp:txXfrm>
    </dsp:sp>
    <dsp:sp modelId="{3E45CF49-F17D-4F8E-8BB4-42C085B0743F}">
      <dsp:nvSpPr>
        <dsp:cNvPr id="0" name=""/>
        <dsp:cNvSpPr/>
      </dsp:nvSpPr>
      <dsp:spPr>
        <a:xfrm>
          <a:off x="391388" y="1816359"/>
          <a:ext cx="361341" cy="1111102"/>
        </a:xfrm>
        <a:custGeom>
          <a:avLst/>
          <a:gdLst/>
          <a:ahLst/>
          <a:cxnLst/>
          <a:rect l="0" t="0" r="0" b="0"/>
          <a:pathLst>
            <a:path>
              <a:moveTo>
                <a:pt x="0" y="0"/>
              </a:moveTo>
              <a:lnTo>
                <a:pt x="0" y="1111102"/>
              </a:lnTo>
              <a:lnTo>
                <a:pt x="361341" y="1111102"/>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5D6483-04C4-45B2-B68C-C3DD31C607A1}">
      <dsp:nvSpPr>
        <dsp:cNvPr id="0" name=""/>
        <dsp:cNvSpPr/>
      </dsp:nvSpPr>
      <dsp:spPr>
        <a:xfrm>
          <a:off x="752729" y="2019312"/>
          <a:ext cx="2906077" cy="181629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fr-CA" sz="2800" kern="1200" dirty="0"/>
            <a:t>Transactions et événements importants</a:t>
          </a:r>
        </a:p>
      </dsp:txBody>
      <dsp:txXfrm>
        <a:off x="805927" y="2072510"/>
        <a:ext cx="2799681" cy="1709902"/>
      </dsp:txXfrm>
    </dsp:sp>
    <dsp:sp modelId="{67511D30-5481-4EC1-BAA6-B2EECD1320E2}">
      <dsp:nvSpPr>
        <dsp:cNvPr id="0" name=""/>
        <dsp:cNvSpPr/>
      </dsp:nvSpPr>
      <dsp:spPr>
        <a:xfrm>
          <a:off x="4568874" y="61"/>
          <a:ext cx="3632596" cy="181629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fr-CA" sz="2800" kern="1200" dirty="0"/>
            <a:t>Autres informations  que l’entité DOIT fournir </a:t>
          </a:r>
        </a:p>
        <a:p>
          <a:pPr marL="0" lvl="0" indent="0" algn="ctr" defTabSz="1244600">
            <a:lnSpc>
              <a:spcPct val="90000"/>
            </a:lnSpc>
            <a:spcBef>
              <a:spcPct val="0"/>
            </a:spcBef>
            <a:spcAft>
              <a:spcPct val="35000"/>
            </a:spcAft>
            <a:buNone/>
          </a:pPr>
          <a:r>
            <a:rPr lang="fr-CA" sz="2800" kern="1200" dirty="0"/>
            <a:t>(IAS 34-16A)</a:t>
          </a:r>
        </a:p>
      </dsp:txBody>
      <dsp:txXfrm>
        <a:off x="4622072" y="53259"/>
        <a:ext cx="3526200" cy="1709902"/>
      </dsp:txXfrm>
    </dsp:sp>
    <dsp:sp modelId="{0FDDDDD8-EB22-4E32-9AAA-7AC4A33A8035}">
      <dsp:nvSpPr>
        <dsp:cNvPr id="0" name=""/>
        <dsp:cNvSpPr/>
      </dsp:nvSpPr>
      <dsp:spPr>
        <a:xfrm>
          <a:off x="4932134" y="1816359"/>
          <a:ext cx="324463" cy="1764924"/>
        </a:xfrm>
        <a:custGeom>
          <a:avLst/>
          <a:gdLst/>
          <a:ahLst/>
          <a:cxnLst/>
          <a:rect l="0" t="0" r="0" b="0"/>
          <a:pathLst>
            <a:path>
              <a:moveTo>
                <a:pt x="0" y="0"/>
              </a:moveTo>
              <a:lnTo>
                <a:pt x="0" y="1764924"/>
              </a:lnTo>
              <a:lnTo>
                <a:pt x="324463" y="1764924"/>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147679-FBA5-4AC4-9ADF-BF6168CA362B}">
      <dsp:nvSpPr>
        <dsp:cNvPr id="0" name=""/>
        <dsp:cNvSpPr/>
      </dsp:nvSpPr>
      <dsp:spPr>
        <a:xfrm>
          <a:off x="5256597" y="2232255"/>
          <a:ext cx="2906077" cy="269805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CA" sz="1800" kern="1200" dirty="0"/>
            <a:t>Continuité d’application des méthodes comptables</a:t>
          </a:r>
        </a:p>
        <a:p>
          <a:pPr marL="0" lvl="0" indent="0" algn="ctr" defTabSz="800100">
            <a:lnSpc>
              <a:spcPct val="90000"/>
            </a:lnSpc>
            <a:spcBef>
              <a:spcPct val="0"/>
            </a:spcBef>
            <a:spcAft>
              <a:spcPct val="35000"/>
            </a:spcAft>
            <a:buNone/>
          </a:pPr>
          <a:r>
            <a:rPr lang="fr-CA" sz="1800" kern="1200" dirty="0"/>
            <a:t>Indications sur le caractère saisonnier</a:t>
          </a:r>
        </a:p>
        <a:p>
          <a:pPr marL="0" lvl="0" indent="0" algn="ctr" defTabSz="800100">
            <a:lnSpc>
              <a:spcPct val="90000"/>
            </a:lnSpc>
            <a:spcBef>
              <a:spcPct val="0"/>
            </a:spcBef>
            <a:spcAft>
              <a:spcPct val="35000"/>
            </a:spcAft>
            <a:buNone/>
          </a:pPr>
          <a:r>
            <a:rPr lang="fr-CA" sz="1800" kern="1200" dirty="0"/>
            <a:t>Éléments inhabituels Changements d’estimations </a:t>
          </a:r>
        </a:p>
        <a:p>
          <a:pPr marL="0" lvl="0" indent="0" algn="ctr" defTabSz="800100">
            <a:lnSpc>
              <a:spcPct val="90000"/>
            </a:lnSpc>
            <a:spcBef>
              <a:spcPct val="0"/>
            </a:spcBef>
            <a:spcAft>
              <a:spcPct val="35000"/>
            </a:spcAft>
            <a:buNone/>
          </a:pPr>
          <a:r>
            <a:rPr lang="fr-CA" sz="1800" kern="1200" dirty="0"/>
            <a:t>Etc.</a:t>
          </a:r>
          <a:r>
            <a:rPr lang="fr-CA" sz="2200" kern="1200" dirty="0"/>
            <a:t>  </a:t>
          </a:r>
        </a:p>
      </dsp:txBody>
      <dsp:txXfrm>
        <a:off x="5335620" y="2311278"/>
        <a:ext cx="2748031" cy="25400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1341A-0F07-4C31-AD6B-19D5F4238553}">
      <dsp:nvSpPr>
        <dsp:cNvPr id="0" name=""/>
        <dsp:cNvSpPr/>
      </dsp:nvSpPr>
      <dsp:spPr>
        <a:xfrm>
          <a:off x="231557" y="2228"/>
          <a:ext cx="3451770" cy="172588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fr-CA" sz="2800" kern="1200" dirty="0"/>
            <a:t>Notes supplémentaires (IAS 34-15B)</a:t>
          </a:r>
        </a:p>
      </dsp:txBody>
      <dsp:txXfrm>
        <a:off x="282106" y="52777"/>
        <a:ext cx="3350672" cy="1624787"/>
      </dsp:txXfrm>
    </dsp:sp>
    <dsp:sp modelId="{3E45CF49-F17D-4F8E-8BB4-42C085B0743F}">
      <dsp:nvSpPr>
        <dsp:cNvPr id="0" name=""/>
        <dsp:cNvSpPr/>
      </dsp:nvSpPr>
      <dsp:spPr>
        <a:xfrm>
          <a:off x="576735" y="1728113"/>
          <a:ext cx="343354" cy="1055793"/>
        </a:xfrm>
        <a:custGeom>
          <a:avLst/>
          <a:gdLst/>
          <a:ahLst/>
          <a:cxnLst/>
          <a:rect l="0" t="0" r="0" b="0"/>
          <a:pathLst>
            <a:path>
              <a:moveTo>
                <a:pt x="0" y="0"/>
              </a:moveTo>
              <a:lnTo>
                <a:pt x="0" y="1055793"/>
              </a:lnTo>
              <a:lnTo>
                <a:pt x="343354" y="1055793"/>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5D6483-04C4-45B2-B68C-C3DD31C607A1}">
      <dsp:nvSpPr>
        <dsp:cNvPr id="0" name=""/>
        <dsp:cNvSpPr/>
      </dsp:nvSpPr>
      <dsp:spPr>
        <a:xfrm>
          <a:off x="920089" y="1920964"/>
          <a:ext cx="2761416" cy="172588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fr-CA" sz="2800" kern="1200" dirty="0"/>
            <a:t>Transactions et événements importants</a:t>
          </a:r>
        </a:p>
      </dsp:txBody>
      <dsp:txXfrm>
        <a:off x="970638" y="1971513"/>
        <a:ext cx="2660318" cy="1624787"/>
      </dsp:txXfrm>
    </dsp:sp>
    <dsp:sp modelId="{67511D30-5481-4EC1-BAA6-B2EECD1320E2}">
      <dsp:nvSpPr>
        <dsp:cNvPr id="0" name=""/>
        <dsp:cNvSpPr/>
      </dsp:nvSpPr>
      <dsp:spPr>
        <a:xfrm>
          <a:off x="4546271" y="2228"/>
          <a:ext cx="3451770" cy="196887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fr-CA" sz="2800" kern="1200" dirty="0">
              <a:solidFill>
                <a:schemeClr val="accent2">
                  <a:lumMod val="40000"/>
                  <a:lumOff val="60000"/>
                </a:schemeClr>
              </a:solidFill>
            </a:rPr>
            <a:t>Autres informations  que l’entité DOIT fournir  </a:t>
          </a:r>
          <a:r>
            <a:rPr lang="fr-CA" sz="2800" kern="1200" dirty="0">
              <a:solidFill>
                <a:schemeClr val="accent1">
                  <a:lumMod val="40000"/>
                  <a:lumOff val="60000"/>
                </a:schemeClr>
              </a:solidFill>
            </a:rPr>
            <a:t>(IAS 34-16A)</a:t>
          </a:r>
        </a:p>
      </dsp:txBody>
      <dsp:txXfrm>
        <a:off x="4603937" y="59894"/>
        <a:ext cx="3336438" cy="1853540"/>
      </dsp:txXfrm>
    </dsp:sp>
    <dsp:sp modelId="{0FDDDDD8-EB22-4E32-9AAA-7AC4A33A8035}">
      <dsp:nvSpPr>
        <dsp:cNvPr id="0" name=""/>
        <dsp:cNvSpPr/>
      </dsp:nvSpPr>
      <dsp:spPr>
        <a:xfrm>
          <a:off x="4891448" y="1971101"/>
          <a:ext cx="308312" cy="1677068"/>
        </a:xfrm>
        <a:custGeom>
          <a:avLst/>
          <a:gdLst/>
          <a:ahLst/>
          <a:cxnLst/>
          <a:rect l="0" t="0" r="0" b="0"/>
          <a:pathLst>
            <a:path>
              <a:moveTo>
                <a:pt x="0" y="0"/>
              </a:moveTo>
              <a:lnTo>
                <a:pt x="0" y="1677068"/>
              </a:lnTo>
              <a:lnTo>
                <a:pt x="308312" y="1677068"/>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147679-FBA5-4AC4-9ADF-BF6168CA362B}">
      <dsp:nvSpPr>
        <dsp:cNvPr id="0" name=""/>
        <dsp:cNvSpPr/>
      </dsp:nvSpPr>
      <dsp:spPr>
        <a:xfrm>
          <a:off x="5199760" y="2366294"/>
          <a:ext cx="2761416" cy="25637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CA" sz="1800" kern="1200" dirty="0">
              <a:solidFill>
                <a:schemeClr val="accent1">
                  <a:lumMod val="40000"/>
                  <a:lumOff val="60000"/>
                </a:schemeClr>
              </a:solidFill>
            </a:rPr>
            <a:t>Continuité d’application des méthodes comptables</a:t>
          </a:r>
        </a:p>
        <a:p>
          <a:pPr marL="0" lvl="0" indent="0" algn="ctr" defTabSz="800100">
            <a:lnSpc>
              <a:spcPct val="90000"/>
            </a:lnSpc>
            <a:spcBef>
              <a:spcPct val="0"/>
            </a:spcBef>
            <a:spcAft>
              <a:spcPct val="35000"/>
            </a:spcAft>
            <a:buNone/>
          </a:pPr>
          <a:r>
            <a:rPr lang="fr-CA" sz="1800" kern="1200" dirty="0">
              <a:solidFill>
                <a:schemeClr val="accent1">
                  <a:lumMod val="40000"/>
                  <a:lumOff val="60000"/>
                </a:schemeClr>
              </a:solidFill>
            </a:rPr>
            <a:t>Indications sur le caractère saisonnier</a:t>
          </a:r>
        </a:p>
        <a:p>
          <a:pPr marL="0" lvl="0" indent="0" algn="ctr" defTabSz="800100">
            <a:lnSpc>
              <a:spcPct val="90000"/>
            </a:lnSpc>
            <a:spcBef>
              <a:spcPct val="0"/>
            </a:spcBef>
            <a:spcAft>
              <a:spcPct val="35000"/>
            </a:spcAft>
            <a:buNone/>
          </a:pPr>
          <a:r>
            <a:rPr lang="fr-CA" sz="1800" kern="1200" dirty="0">
              <a:solidFill>
                <a:schemeClr val="accent1">
                  <a:lumMod val="40000"/>
                  <a:lumOff val="60000"/>
                </a:schemeClr>
              </a:solidFill>
            </a:rPr>
            <a:t>Éléments inhabituels Changements d’estimations </a:t>
          </a:r>
        </a:p>
        <a:p>
          <a:pPr marL="0" lvl="0" indent="0" algn="ctr" defTabSz="800100">
            <a:lnSpc>
              <a:spcPct val="90000"/>
            </a:lnSpc>
            <a:spcBef>
              <a:spcPct val="0"/>
            </a:spcBef>
            <a:spcAft>
              <a:spcPct val="35000"/>
            </a:spcAft>
            <a:buNone/>
          </a:pPr>
          <a:r>
            <a:rPr lang="fr-CA" sz="1800" kern="1200" dirty="0">
              <a:solidFill>
                <a:schemeClr val="accent1">
                  <a:lumMod val="40000"/>
                  <a:lumOff val="60000"/>
                </a:schemeClr>
              </a:solidFill>
            </a:rPr>
            <a:t>Etc.</a:t>
          </a:r>
          <a:r>
            <a:rPr lang="fr-CA" sz="2200" kern="1200" dirty="0">
              <a:solidFill>
                <a:schemeClr val="accent1">
                  <a:lumMod val="40000"/>
                  <a:lumOff val="60000"/>
                </a:schemeClr>
              </a:solidFill>
            </a:rPr>
            <a:t>  </a:t>
          </a:r>
        </a:p>
      </dsp:txBody>
      <dsp:txXfrm>
        <a:off x="5274850" y="2441384"/>
        <a:ext cx="2611236" cy="24135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1341A-0F07-4C31-AD6B-19D5F4238553}">
      <dsp:nvSpPr>
        <dsp:cNvPr id="0" name=""/>
        <dsp:cNvSpPr/>
      </dsp:nvSpPr>
      <dsp:spPr>
        <a:xfrm>
          <a:off x="28128" y="61"/>
          <a:ext cx="3632596" cy="181629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fr-CA" sz="3000" kern="1200" dirty="0">
              <a:solidFill>
                <a:schemeClr val="accent1">
                  <a:lumMod val="40000"/>
                  <a:lumOff val="60000"/>
                </a:schemeClr>
              </a:solidFill>
            </a:rPr>
            <a:t>Notes supplémentaires (IAS 34-15B)</a:t>
          </a:r>
        </a:p>
      </dsp:txBody>
      <dsp:txXfrm>
        <a:off x="81326" y="53259"/>
        <a:ext cx="3526200" cy="1709902"/>
      </dsp:txXfrm>
    </dsp:sp>
    <dsp:sp modelId="{3E45CF49-F17D-4F8E-8BB4-42C085B0743F}">
      <dsp:nvSpPr>
        <dsp:cNvPr id="0" name=""/>
        <dsp:cNvSpPr/>
      </dsp:nvSpPr>
      <dsp:spPr>
        <a:xfrm>
          <a:off x="391388" y="1816359"/>
          <a:ext cx="361341" cy="1111102"/>
        </a:xfrm>
        <a:custGeom>
          <a:avLst/>
          <a:gdLst/>
          <a:ahLst/>
          <a:cxnLst/>
          <a:rect l="0" t="0" r="0" b="0"/>
          <a:pathLst>
            <a:path>
              <a:moveTo>
                <a:pt x="0" y="0"/>
              </a:moveTo>
              <a:lnTo>
                <a:pt x="0" y="1111102"/>
              </a:lnTo>
              <a:lnTo>
                <a:pt x="361341" y="1111102"/>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5D6483-04C4-45B2-B68C-C3DD31C607A1}">
      <dsp:nvSpPr>
        <dsp:cNvPr id="0" name=""/>
        <dsp:cNvSpPr/>
      </dsp:nvSpPr>
      <dsp:spPr>
        <a:xfrm>
          <a:off x="752729" y="2019312"/>
          <a:ext cx="2906077" cy="181629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fr-CA" sz="2800" kern="1200" dirty="0">
              <a:solidFill>
                <a:schemeClr val="accent1">
                  <a:lumMod val="40000"/>
                  <a:lumOff val="60000"/>
                </a:schemeClr>
              </a:solidFill>
            </a:rPr>
            <a:t>Transactions et événements importants</a:t>
          </a:r>
        </a:p>
      </dsp:txBody>
      <dsp:txXfrm>
        <a:off x="805927" y="2072510"/>
        <a:ext cx="2799681" cy="1709902"/>
      </dsp:txXfrm>
    </dsp:sp>
    <dsp:sp modelId="{67511D30-5481-4EC1-BAA6-B2EECD1320E2}">
      <dsp:nvSpPr>
        <dsp:cNvPr id="0" name=""/>
        <dsp:cNvSpPr/>
      </dsp:nvSpPr>
      <dsp:spPr>
        <a:xfrm>
          <a:off x="4568874" y="61"/>
          <a:ext cx="3632596" cy="181629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fr-CA" sz="3000" kern="1200" dirty="0"/>
            <a:t>Autres informations  que l’entité DOIT fournir (IAS 34-16A)</a:t>
          </a:r>
        </a:p>
      </dsp:txBody>
      <dsp:txXfrm>
        <a:off x="4622072" y="53259"/>
        <a:ext cx="3526200" cy="1709902"/>
      </dsp:txXfrm>
    </dsp:sp>
    <dsp:sp modelId="{0FDDDDD8-EB22-4E32-9AAA-7AC4A33A8035}">
      <dsp:nvSpPr>
        <dsp:cNvPr id="0" name=""/>
        <dsp:cNvSpPr/>
      </dsp:nvSpPr>
      <dsp:spPr>
        <a:xfrm>
          <a:off x="4932134" y="1816359"/>
          <a:ext cx="324463" cy="1764924"/>
        </a:xfrm>
        <a:custGeom>
          <a:avLst/>
          <a:gdLst/>
          <a:ahLst/>
          <a:cxnLst/>
          <a:rect l="0" t="0" r="0" b="0"/>
          <a:pathLst>
            <a:path>
              <a:moveTo>
                <a:pt x="0" y="0"/>
              </a:moveTo>
              <a:lnTo>
                <a:pt x="0" y="1764924"/>
              </a:lnTo>
              <a:lnTo>
                <a:pt x="324463" y="1764924"/>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147679-FBA5-4AC4-9ADF-BF6168CA362B}">
      <dsp:nvSpPr>
        <dsp:cNvPr id="0" name=""/>
        <dsp:cNvSpPr/>
      </dsp:nvSpPr>
      <dsp:spPr>
        <a:xfrm>
          <a:off x="5256597" y="2232255"/>
          <a:ext cx="2906077" cy="269805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CA" sz="1800" kern="1200" dirty="0"/>
            <a:t>Continuité d’application des méthodes comptables</a:t>
          </a:r>
        </a:p>
        <a:p>
          <a:pPr marL="0" lvl="0" indent="0" algn="ctr" defTabSz="800100">
            <a:lnSpc>
              <a:spcPct val="90000"/>
            </a:lnSpc>
            <a:spcBef>
              <a:spcPct val="0"/>
            </a:spcBef>
            <a:spcAft>
              <a:spcPct val="35000"/>
            </a:spcAft>
            <a:buNone/>
          </a:pPr>
          <a:r>
            <a:rPr lang="fr-CA" sz="1800" kern="1200" dirty="0"/>
            <a:t>Indications sur le caractère saisonnier</a:t>
          </a:r>
        </a:p>
        <a:p>
          <a:pPr marL="0" lvl="0" indent="0" algn="ctr" defTabSz="800100">
            <a:lnSpc>
              <a:spcPct val="90000"/>
            </a:lnSpc>
            <a:spcBef>
              <a:spcPct val="0"/>
            </a:spcBef>
            <a:spcAft>
              <a:spcPct val="35000"/>
            </a:spcAft>
            <a:buNone/>
          </a:pPr>
          <a:r>
            <a:rPr lang="fr-CA" sz="1800" kern="1200" dirty="0"/>
            <a:t>Éléments inhabituels Changements d’estimations </a:t>
          </a:r>
        </a:p>
        <a:p>
          <a:pPr marL="0" lvl="0" indent="0" algn="ctr" defTabSz="800100">
            <a:lnSpc>
              <a:spcPct val="90000"/>
            </a:lnSpc>
            <a:spcBef>
              <a:spcPct val="0"/>
            </a:spcBef>
            <a:spcAft>
              <a:spcPct val="35000"/>
            </a:spcAft>
            <a:buNone/>
          </a:pPr>
          <a:r>
            <a:rPr lang="fr-CA" sz="1800" kern="1200" dirty="0"/>
            <a:t>Etc.</a:t>
          </a:r>
          <a:r>
            <a:rPr lang="fr-CA" sz="2200" kern="1200" dirty="0"/>
            <a:t>  </a:t>
          </a:r>
        </a:p>
      </dsp:txBody>
      <dsp:txXfrm>
        <a:off x="5335620" y="2311278"/>
        <a:ext cx="2748031" cy="254001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1" y="0"/>
            <a:ext cx="2972591"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eaLnBrk="1" hangingPunct="1">
              <a:defRPr sz="1200"/>
            </a:lvl1pPr>
          </a:lstStyle>
          <a:p>
            <a:pPr>
              <a:defRPr/>
            </a:pPr>
            <a:endParaRPr lang="fr-CA"/>
          </a:p>
        </p:txBody>
      </p:sp>
      <p:sp>
        <p:nvSpPr>
          <p:cNvPr id="50179" name="Rectangle 3"/>
          <p:cNvSpPr>
            <a:spLocks noGrp="1" noChangeArrowheads="1"/>
          </p:cNvSpPr>
          <p:nvPr>
            <p:ph type="dt" sz="quarter" idx="1"/>
          </p:nvPr>
        </p:nvSpPr>
        <p:spPr bwMode="auto">
          <a:xfrm>
            <a:off x="3886992" y="0"/>
            <a:ext cx="2971009"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algn="r" eaLnBrk="1" hangingPunct="1">
              <a:defRPr sz="1200"/>
            </a:lvl1pPr>
          </a:lstStyle>
          <a:p>
            <a:pPr>
              <a:defRPr/>
            </a:pPr>
            <a:fld id="{D71D3C90-B053-428A-AC89-BFA5DF207940}" type="datetimeFigureOut">
              <a:rPr lang="fr-CA"/>
              <a:pPr>
                <a:defRPr/>
              </a:pPr>
              <a:t>2022-02-10</a:t>
            </a:fld>
            <a:endParaRPr lang="fr-CA" dirty="0"/>
          </a:p>
        </p:txBody>
      </p:sp>
      <p:sp>
        <p:nvSpPr>
          <p:cNvPr id="50180" name="Rectangle 4"/>
          <p:cNvSpPr>
            <a:spLocks noGrp="1" noChangeArrowheads="1"/>
          </p:cNvSpPr>
          <p:nvPr>
            <p:ph type="ftr" sz="quarter" idx="2"/>
          </p:nvPr>
        </p:nvSpPr>
        <p:spPr bwMode="auto">
          <a:xfrm>
            <a:off x="1" y="8831264"/>
            <a:ext cx="2972591"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eaLnBrk="1" hangingPunct="1">
              <a:defRPr sz="1200"/>
            </a:lvl1pPr>
          </a:lstStyle>
          <a:p>
            <a:pPr>
              <a:defRPr/>
            </a:pPr>
            <a:endParaRPr lang="fr-CA"/>
          </a:p>
        </p:txBody>
      </p:sp>
      <p:sp>
        <p:nvSpPr>
          <p:cNvPr id="50181" name="Rectangle 5"/>
          <p:cNvSpPr>
            <a:spLocks noGrp="1" noChangeArrowheads="1"/>
          </p:cNvSpPr>
          <p:nvPr>
            <p:ph type="sldNum" sz="quarter" idx="3"/>
          </p:nvPr>
        </p:nvSpPr>
        <p:spPr bwMode="auto">
          <a:xfrm>
            <a:off x="3886992" y="8831264"/>
            <a:ext cx="2971009"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algn="r" eaLnBrk="1" hangingPunct="1">
              <a:defRPr sz="1200"/>
            </a:lvl1pPr>
          </a:lstStyle>
          <a:p>
            <a:pPr>
              <a:defRPr/>
            </a:pPr>
            <a:fld id="{AB1BBBC2-83C1-4FAD-AEBD-596D8CC7EF0E}" type="slidenum">
              <a:rPr lang="fr-CA" altLang="fr-FR"/>
              <a:pPr>
                <a:defRPr/>
              </a:pPr>
              <a:t>‹N°›</a:t>
            </a:fld>
            <a:endParaRPr lang="fr-CA" altLang="fr-FR"/>
          </a:p>
        </p:txBody>
      </p:sp>
    </p:spTree>
    <p:extLst>
      <p:ext uri="{BB962C8B-B14F-4D97-AF65-F5344CB8AC3E}">
        <p14:creationId xmlns:p14="http://schemas.microsoft.com/office/powerpoint/2010/main" val="319379731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1" y="0"/>
            <a:ext cx="2972591"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eaLnBrk="1" hangingPunct="1">
              <a:defRPr sz="1200"/>
            </a:lvl1pPr>
          </a:lstStyle>
          <a:p>
            <a:pPr>
              <a:defRPr/>
            </a:pPr>
            <a:endParaRPr lang="fr-CA"/>
          </a:p>
        </p:txBody>
      </p:sp>
      <p:sp>
        <p:nvSpPr>
          <p:cNvPr id="1027" name="Rectangle 3"/>
          <p:cNvSpPr>
            <a:spLocks noGrp="1" noChangeArrowheads="1"/>
          </p:cNvSpPr>
          <p:nvPr>
            <p:ph type="dt" idx="1"/>
          </p:nvPr>
        </p:nvSpPr>
        <p:spPr bwMode="auto">
          <a:xfrm>
            <a:off x="3886992" y="0"/>
            <a:ext cx="2971009"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algn="r" eaLnBrk="1" hangingPunct="1">
              <a:defRPr sz="1200"/>
            </a:lvl1pPr>
          </a:lstStyle>
          <a:p>
            <a:pPr>
              <a:defRPr/>
            </a:pPr>
            <a:fld id="{68D3E94B-18EA-40BA-916D-891B8BE2A7B2}" type="datetimeFigureOut">
              <a:rPr lang="fr-CA"/>
              <a:pPr>
                <a:defRPr/>
              </a:pPr>
              <a:t>2022-02-10</a:t>
            </a:fld>
            <a:endParaRPr lang="fr-CA" dirty="0"/>
          </a:p>
        </p:txBody>
      </p:sp>
      <p:sp>
        <p:nvSpPr>
          <p:cNvPr id="4100" name="Rectangle 4"/>
          <p:cNvSpPr>
            <a:spLocks noGrp="1" noRot="1" noChangeAspect="1" noChangeArrowheads="1" noTextEdit="1"/>
          </p:cNvSpPr>
          <p:nvPr>
            <p:ph type="sldImg" idx="2"/>
          </p:nvPr>
        </p:nvSpPr>
        <p:spPr bwMode="auto">
          <a:xfrm>
            <a:off x="1106488" y="696913"/>
            <a:ext cx="4646612"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9" name="Rectangle 5"/>
          <p:cNvSpPr>
            <a:spLocks noGrp="1" noChangeArrowheads="1"/>
          </p:cNvSpPr>
          <p:nvPr>
            <p:ph type="body" sz="quarter" idx="3"/>
          </p:nvPr>
        </p:nvSpPr>
        <p:spPr bwMode="auto">
          <a:xfrm>
            <a:off x="914400" y="4416426"/>
            <a:ext cx="502920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
        <p:nvSpPr>
          <p:cNvPr id="1030" name="Rectangle 6"/>
          <p:cNvSpPr>
            <a:spLocks noGrp="1" noChangeArrowheads="1"/>
          </p:cNvSpPr>
          <p:nvPr>
            <p:ph type="ftr" sz="quarter" idx="4"/>
          </p:nvPr>
        </p:nvSpPr>
        <p:spPr bwMode="auto">
          <a:xfrm>
            <a:off x="1" y="8831264"/>
            <a:ext cx="2972591"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eaLnBrk="1" hangingPunct="1">
              <a:defRPr sz="1200"/>
            </a:lvl1pPr>
          </a:lstStyle>
          <a:p>
            <a:pPr>
              <a:defRPr/>
            </a:pPr>
            <a:endParaRPr lang="fr-CA"/>
          </a:p>
        </p:txBody>
      </p:sp>
      <p:sp>
        <p:nvSpPr>
          <p:cNvPr id="2" name="Espace réservé du numéro de diapositive 1"/>
          <p:cNvSpPr>
            <a:spLocks noGrp="1"/>
          </p:cNvSpPr>
          <p:nvPr>
            <p:ph type="sldNum" sz="quarter" idx="5"/>
          </p:nvPr>
        </p:nvSpPr>
        <p:spPr>
          <a:xfrm>
            <a:off x="3884613" y="8829675"/>
            <a:ext cx="2784747" cy="283021"/>
          </a:xfrm>
          <a:prstGeom prst="rect">
            <a:avLst/>
          </a:prstGeom>
        </p:spPr>
        <p:txBody>
          <a:bodyPr vert="horz" lIns="91440" tIns="45720" rIns="91440" bIns="45720" rtlCol="0" anchor="b"/>
          <a:lstStyle>
            <a:lvl1pPr algn="r">
              <a:defRPr sz="1200"/>
            </a:lvl1pPr>
          </a:lstStyle>
          <a:p>
            <a:fld id="{86528E28-397C-4154-ABDD-FC04FBBE3CDB}" type="slidenum">
              <a:rPr lang="fr-CA" smtClean="0"/>
              <a:t>‹N°›</a:t>
            </a:fld>
            <a:endParaRPr lang="fr-CA" dirty="0"/>
          </a:p>
        </p:txBody>
      </p:sp>
    </p:spTree>
    <p:extLst>
      <p:ext uri="{BB962C8B-B14F-4D97-AF65-F5344CB8AC3E}">
        <p14:creationId xmlns:p14="http://schemas.microsoft.com/office/powerpoint/2010/main" val="370033048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Espace réservé de l'image des diapositives 1"/>
          <p:cNvSpPr>
            <a:spLocks noGrp="1" noRot="1" noChangeAspect="1" noTextEdit="1"/>
          </p:cNvSpPr>
          <p:nvPr>
            <p:ph type="sldImg"/>
          </p:nvPr>
        </p:nvSpPr>
        <p:spPr>
          <a:ln/>
        </p:spPr>
      </p:sp>
      <p:sp>
        <p:nvSpPr>
          <p:cNvPr id="7171" name="Espace réservé des commentaires 2"/>
          <p:cNvSpPr>
            <a:spLocks noGrp="1"/>
          </p:cNvSpPr>
          <p:nvPr>
            <p:ph type="body" idx="1"/>
          </p:nvPr>
        </p:nvSpPr>
        <p:spPr>
          <a:noFill/>
        </p:spPr>
        <p:txBody>
          <a:bodyPr/>
          <a:lstStyle/>
          <a:p>
            <a:endParaRPr lang="fr-CA" altLang="fr-FR" b="1">
              <a:solidFill>
                <a:srgbClr val="3333CC"/>
              </a:solidFill>
            </a:endParaRPr>
          </a:p>
        </p:txBody>
      </p:sp>
      <p:sp>
        <p:nvSpPr>
          <p:cNvPr id="7172"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22DCBA4-006B-4CB8-9B9A-F8090CBAE682}" type="slidenum">
              <a:rPr lang="fr-CA" altLang="fr-FR" sz="1200" smtClean="0"/>
              <a:pPr/>
              <a:t>1</a:t>
            </a:fld>
            <a:endParaRPr lang="fr-CA" altLang="fr-FR" sz="1200"/>
          </a:p>
        </p:txBody>
      </p:sp>
    </p:spTree>
    <p:extLst>
      <p:ext uri="{BB962C8B-B14F-4D97-AF65-F5344CB8AC3E}">
        <p14:creationId xmlns:p14="http://schemas.microsoft.com/office/powerpoint/2010/main" val="2751623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Espace réservé de l'image des diapositives 1"/>
          <p:cNvSpPr>
            <a:spLocks noGrp="1" noRot="1" noChangeAspect="1" noTextEdit="1"/>
          </p:cNvSpPr>
          <p:nvPr>
            <p:ph type="sldImg"/>
          </p:nvPr>
        </p:nvSpPr>
        <p:spPr>
          <a:ln/>
        </p:spPr>
      </p:sp>
      <p:sp>
        <p:nvSpPr>
          <p:cNvPr id="9219" name="Espace réservé des commentaires 2"/>
          <p:cNvSpPr>
            <a:spLocks noGrp="1"/>
          </p:cNvSpPr>
          <p:nvPr>
            <p:ph type="body" idx="1"/>
          </p:nvPr>
        </p:nvSpPr>
        <p:spPr>
          <a:noFill/>
        </p:spPr>
        <p:txBody>
          <a:bodyPr/>
          <a:lstStyle/>
          <a:p>
            <a:endParaRPr lang="fr-CA" altLang="fr-FR"/>
          </a:p>
        </p:txBody>
      </p:sp>
      <p:sp>
        <p:nvSpPr>
          <p:cNvPr id="9220"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53E04BA-F43F-431A-BA2E-D87E7D038FDE}" type="slidenum">
              <a:rPr lang="fr-CA" altLang="fr-FR" sz="1200" smtClean="0"/>
              <a:pPr/>
              <a:t>2</a:t>
            </a:fld>
            <a:endParaRPr lang="fr-CA" altLang="fr-FR" sz="1200"/>
          </a:p>
        </p:txBody>
      </p:sp>
    </p:spTree>
    <p:extLst>
      <p:ext uri="{BB962C8B-B14F-4D97-AF65-F5344CB8AC3E}">
        <p14:creationId xmlns:p14="http://schemas.microsoft.com/office/powerpoint/2010/main" val="397958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86528E28-397C-4154-ABDD-FC04FBBE3CDB}" type="slidenum">
              <a:rPr lang="fr-CA" smtClean="0"/>
              <a:t>3</a:t>
            </a:fld>
            <a:endParaRPr lang="fr-CA" dirty="0"/>
          </a:p>
        </p:txBody>
      </p:sp>
    </p:spTree>
    <p:extLst>
      <p:ext uri="{BB962C8B-B14F-4D97-AF65-F5344CB8AC3E}">
        <p14:creationId xmlns:p14="http://schemas.microsoft.com/office/powerpoint/2010/main" val="501439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a:noFill/>
        </p:spPr>
        <p:txBody>
          <a:bodyPr/>
          <a:lstStyle/>
          <a:p>
            <a:endParaRPr lang="fr-CA" altLang="fr-FR" sz="800" dirty="0"/>
          </a:p>
          <a:p>
            <a:endParaRPr lang="fr-CA" altLang="fr-FR" sz="800"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4</a:t>
            </a:fld>
            <a:endParaRPr lang="fr-CA"/>
          </a:p>
        </p:txBody>
      </p:sp>
    </p:spTree>
    <p:extLst>
      <p:ext uri="{BB962C8B-B14F-4D97-AF65-F5344CB8AC3E}">
        <p14:creationId xmlns:p14="http://schemas.microsoft.com/office/powerpoint/2010/main" val="3301791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Espace réservé de l'image des diapositives 1"/>
          <p:cNvSpPr>
            <a:spLocks noGrp="1" noRot="1" noChangeAspect="1" noTextEdit="1"/>
          </p:cNvSpPr>
          <p:nvPr>
            <p:ph type="sldImg"/>
          </p:nvPr>
        </p:nvSpPr>
        <p:spPr>
          <a:ln/>
        </p:spPr>
      </p:sp>
      <p:sp>
        <p:nvSpPr>
          <p:cNvPr id="14339" name="Espace réservé des commentaires 2"/>
          <p:cNvSpPr>
            <a:spLocks noGrp="1"/>
          </p:cNvSpPr>
          <p:nvPr>
            <p:ph type="body" idx="1"/>
          </p:nvPr>
        </p:nvSpPr>
        <p:spPr>
          <a:noFill/>
        </p:spPr>
        <p:txBody>
          <a:bodyPr/>
          <a:lstStyle/>
          <a:p>
            <a:endParaRPr lang="fr-CA" altLang="fr-FR"/>
          </a:p>
        </p:txBody>
      </p:sp>
      <p:sp>
        <p:nvSpPr>
          <p:cNvPr id="14340"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77E6753-C287-4738-9CA8-E3AB47F0060E}" type="slidenum">
              <a:rPr lang="fr-CA" altLang="fr-FR" smtClean="0">
                <a:latin typeface="Times New Roman" panose="02020603050405020304" pitchFamily="18" charset="0"/>
              </a:rPr>
              <a:pPr>
                <a:spcBef>
                  <a:spcPct val="0"/>
                </a:spcBef>
              </a:pPr>
              <a:t>5</a:t>
            </a:fld>
            <a:endParaRPr lang="fr-CA" altLang="fr-FR">
              <a:latin typeface="Times New Roman" panose="02020603050405020304" pitchFamily="18" charset="0"/>
            </a:endParaRPr>
          </a:p>
        </p:txBody>
      </p:sp>
    </p:spTree>
    <p:extLst>
      <p:ext uri="{BB962C8B-B14F-4D97-AF65-F5344CB8AC3E}">
        <p14:creationId xmlns:p14="http://schemas.microsoft.com/office/powerpoint/2010/main" val="3021999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p:spPr>
        <p:txBody>
          <a:bodyPr/>
          <a:lstStyle/>
          <a:p>
            <a:pPr eaLnBrk="1" hangingPunct="1">
              <a:buFontTx/>
              <a:buChar char="•"/>
            </a:pPr>
            <a:endParaRPr lang="fr-CA" altLang="fr-FR" sz="1000"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6</a:t>
            </a:fld>
            <a:endParaRPr lang="fr-CA"/>
          </a:p>
        </p:txBody>
      </p:sp>
    </p:spTree>
    <p:extLst>
      <p:ext uri="{BB962C8B-B14F-4D97-AF65-F5344CB8AC3E}">
        <p14:creationId xmlns:p14="http://schemas.microsoft.com/office/powerpoint/2010/main" val="2154738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p:spPr>
        <p:txBody>
          <a:bodyPr/>
          <a:lstStyle/>
          <a:p>
            <a:endParaRPr lang="fr-CA" altLang="fr-FR"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7</a:t>
            </a:fld>
            <a:endParaRPr lang="fr-CA"/>
          </a:p>
        </p:txBody>
      </p:sp>
    </p:spTree>
    <p:extLst>
      <p:ext uri="{BB962C8B-B14F-4D97-AF65-F5344CB8AC3E}">
        <p14:creationId xmlns:p14="http://schemas.microsoft.com/office/powerpoint/2010/main" val="873944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ce réservé de l'image des diapositives 1"/>
          <p:cNvSpPr>
            <a:spLocks noGrp="1" noRot="1" noChangeAspect="1" noTextEdit="1"/>
          </p:cNvSpPr>
          <p:nvPr>
            <p:ph type="sldImg"/>
          </p:nvPr>
        </p:nvSpPr>
        <p:spPr>
          <a:ln/>
        </p:spPr>
      </p:sp>
      <p:sp>
        <p:nvSpPr>
          <p:cNvPr id="2048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0"/>
              </a:spcBef>
            </a:pPr>
            <a:endParaRPr lang="fr-CA" altLang="fr-FR" sz="1000" dirty="0"/>
          </a:p>
        </p:txBody>
      </p:sp>
      <p:sp>
        <p:nvSpPr>
          <p:cNvPr id="20484"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5E1DA78-087E-417D-BB64-3AF8E3361BBD}" type="slidenum">
              <a:rPr lang="fr-CA" altLang="fr-FR" smtClean="0">
                <a:latin typeface="Times New Roman" panose="02020603050405020304" pitchFamily="18" charset="0"/>
              </a:rPr>
              <a:pPr>
                <a:spcBef>
                  <a:spcPct val="0"/>
                </a:spcBef>
              </a:pPr>
              <a:t>8</a:t>
            </a:fld>
            <a:endParaRPr lang="fr-CA" altLang="fr-FR">
              <a:latin typeface="Times New Roman" panose="02020603050405020304" pitchFamily="18" charset="0"/>
            </a:endParaRPr>
          </a:p>
        </p:txBody>
      </p:sp>
    </p:spTree>
    <p:extLst>
      <p:ext uri="{BB962C8B-B14F-4D97-AF65-F5344CB8AC3E}">
        <p14:creationId xmlns:p14="http://schemas.microsoft.com/office/powerpoint/2010/main" val="169846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p:spPr>
        <p:txBody>
          <a:bodyPr/>
          <a:lstStyle/>
          <a:p>
            <a:endParaRPr lang="fr-CA" altLang="fr-FR" sz="900" dirty="0"/>
          </a:p>
          <a:p>
            <a:endParaRPr lang="fr-CA" altLang="fr-FR" sz="900" dirty="0"/>
          </a:p>
          <a:p>
            <a:endParaRPr lang="fr-CA" altLang="fr-FR" sz="900" dirty="0"/>
          </a:p>
          <a:p>
            <a:endParaRPr lang="fr-CA" altLang="fr-FR" sz="900"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9</a:t>
            </a:fld>
            <a:endParaRPr lang="fr-CA"/>
          </a:p>
        </p:txBody>
      </p:sp>
    </p:spTree>
    <p:extLst>
      <p:ext uri="{BB962C8B-B14F-4D97-AF65-F5344CB8AC3E}">
        <p14:creationId xmlns:p14="http://schemas.microsoft.com/office/powerpoint/2010/main" val="196190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p:spPr>
        <p:txBody>
          <a:bodyPr/>
          <a:lstStyle/>
          <a:p>
            <a:pPr eaLnBrk="1" hangingPunct="1"/>
            <a:endParaRPr lang="fr-CA" altLang="fr-FR" sz="1000"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10</a:t>
            </a:fld>
            <a:endParaRPr lang="fr-CA"/>
          </a:p>
        </p:txBody>
      </p:sp>
    </p:spTree>
    <p:extLst>
      <p:ext uri="{BB962C8B-B14F-4D97-AF65-F5344CB8AC3E}">
        <p14:creationId xmlns:p14="http://schemas.microsoft.com/office/powerpoint/2010/main" val="4077554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p:spPr>
        <p:txBody>
          <a:bodyPr/>
          <a:lstStyle/>
          <a:p>
            <a:pPr eaLnBrk="1" hangingPunct="1"/>
            <a:endParaRPr lang="fr-CA" altLang="fr-FR"/>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11</a:t>
            </a:fld>
            <a:endParaRPr lang="fr-CA"/>
          </a:p>
        </p:txBody>
      </p:sp>
    </p:spTree>
    <p:extLst>
      <p:ext uri="{BB962C8B-B14F-4D97-AF65-F5344CB8AC3E}">
        <p14:creationId xmlns:p14="http://schemas.microsoft.com/office/powerpoint/2010/main" val="2178826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Espace réservé de l'image des diapositives 1"/>
          <p:cNvSpPr>
            <a:spLocks noGrp="1" noRot="1" noChangeAspect="1" noTextEdit="1"/>
          </p:cNvSpPr>
          <p:nvPr>
            <p:ph type="sldImg"/>
          </p:nvPr>
        </p:nvSpPr>
        <p:spPr>
          <a:ln/>
        </p:spPr>
      </p:sp>
      <p:sp>
        <p:nvSpPr>
          <p:cNvPr id="28675" name="Espace réservé des commentaires 2"/>
          <p:cNvSpPr>
            <a:spLocks noGrp="1"/>
          </p:cNvSpPr>
          <p:nvPr>
            <p:ph type="body" idx="1"/>
          </p:nvPr>
        </p:nvSpPr>
        <p:spPr>
          <a:noFill/>
        </p:spPr>
        <p:txBody>
          <a:bodyPr/>
          <a:lstStyle/>
          <a:p>
            <a:pPr eaLnBrk="1" hangingPunct="1">
              <a:spcBef>
                <a:spcPct val="0"/>
              </a:spcBef>
            </a:pPr>
            <a:endParaRPr lang="fr-CA" altLang="fr-FR" sz="900" dirty="0">
              <a:solidFill>
                <a:srgbClr val="000000"/>
              </a:solidFill>
            </a:endParaRPr>
          </a:p>
        </p:txBody>
      </p:sp>
      <p:sp>
        <p:nvSpPr>
          <p:cNvPr id="28676"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A9FA1EB-590F-4EFD-A37B-6040D732F804}" type="slidenum">
              <a:rPr lang="fr-CA" altLang="fr-FR" smtClean="0">
                <a:latin typeface="Times New Roman" panose="02020603050405020304" pitchFamily="18" charset="0"/>
              </a:rPr>
              <a:pPr>
                <a:spcBef>
                  <a:spcPct val="0"/>
                </a:spcBef>
              </a:pPr>
              <a:t>12</a:t>
            </a:fld>
            <a:endParaRPr lang="fr-CA" altLang="fr-FR">
              <a:latin typeface="Times New Roman" panose="02020603050405020304" pitchFamily="18" charset="0"/>
            </a:endParaRPr>
          </a:p>
        </p:txBody>
      </p:sp>
    </p:spTree>
    <p:extLst>
      <p:ext uri="{BB962C8B-B14F-4D97-AF65-F5344CB8AC3E}">
        <p14:creationId xmlns:p14="http://schemas.microsoft.com/office/powerpoint/2010/main" val="525013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Espace réservé de l'image des diapositives 1"/>
          <p:cNvSpPr>
            <a:spLocks noGrp="1" noRot="1" noChangeAspect="1" noTextEdit="1"/>
          </p:cNvSpPr>
          <p:nvPr>
            <p:ph type="sldImg"/>
          </p:nvPr>
        </p:nvSpPr>
        <p:spPr>
          <a:ln/>
        </p:spPr>
      </p:sp>
      <p:sp>
        <p:nvSpPr>
          <p:cNvPr id="30723" name="Espace réservé des commentaires 2"/>
          <p:cNvSpPr>
            <a:spLocks noGrp="1"/>
          </p:cNvSpPr>
          <p:nvPr>
            <p:ph type="body" idx="1"/>
          </p:nvPr>
        </p:nvSpPr>
        <p:spPr>
          <a:noFill/>
        </p:spPr>
        <p:txBody>
          <a:bodyPr/>
          <a:lstStyle/>
          <a:p>
            <a:pPr eaLnBrk="1" hangingPunct="1"/>
            <a:endParaRPr lang="fr-CA" altLang="fr-FR" sz="1000" dirty="0"/>
          </a:p>
        </p:txBody>
      </p:sp>
      <p:sp>
        <p:nvSpPr>
          <p:cNvPr id="30724"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89AF401-5075-465B-A533-FD4F6326A4F2}" type="slidenum">
              <a:rPr lang="fr-CA" altLang="fr-FR" smtClean="0">
                <a:latin typeface="Times New Roman" panose="02020603050405020304" pitchFamily="18" charset="0"/>
              </a:rPr>
              <a:pPr>
                <a:spcBef>
                  <a:spcPct val="0"/>
                </a:spcBef>
              </a:pPr>
              <a:t>13</a:t>
            </a:fld>
            <a:endParaRPr lang="fr-CA" altLang="fr-FR">
              <a:latin typeface="Times New Roman" panose="02020603050405020304" pitchFamily="18" charset="0"/>
            </a:endParaRPr>
          </a:p>
        </p:txBody>
      </p:sp>
    </p:spTree>
    <p:extLst>
      <p:ext uri="{BB962C8B-B14F-4D97-AF65-F5344CB8AC3E}">
        <p14:creationId xmlns:p14="http://schemas.microsoft.com/office/powerpoint/2010/main" val="647797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Espace réservé de l'image des diapositives 1"/>
          <p:cNvSpPr>
            <a:spLocks noGrp="1" noRot="1" noChangeAspect="1" noTextEdit="1"/>
          </p:cNvSpPr>
          <p:nvPr>
            <p:ph type="sldImg"/>
          </p:nvPr>
        </p:nvSpPr>
        <p:spPr>
          <a:ln/>
        </p:spPr>
      </p:sp>
      <p:sp>
        <p:nvSpPr>
          <p:cNvPr id="32771" name="Espace réservé des commentaires 2"/>
          <p:cNvSpPr>
            <a:spLocks noGrp="1"/>
          </p:cNvSpPr>
          <p:nvPr>
            <p:ph type="body" idx="1"/>
          </p:nvPr>
        </p:nvSpPr>
        <p:spPr>
          <a:noFill/>
        </p:spPr>
        <p:txBody>
          <a:bodyPr/>
          <a:lstStyle/>
          <a:p>
            <a:pPr eaLnBrk="1" hangingPunct="1"/>
            <a:endParaRPr lang="fr-CA" altLang="fr-FR" dirty="0"/>
          </a:p>
        </p:txBody>
      </p:sp>
      <p:sp>
        <p:nvSpPr>
          <p:cNvPr id="32772" name="Espace réservé du numéro de diapositive 3"/>
          <p:cNvSpPr txBox="1">
            <a:spLocks noGrp="1"/>
          </p:cNvSpPr>
          <p:nvPr/>
        </p:nvSpPr>
        <p:spPr bwMode="auto">
          <a:xfrm>
            <a:off x="3886992" y="8831264"/>
            <a:ext cx="2971009"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446" tIns="46223" rIns="92446" bIns="46223"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D19C963D-CF9F-47DF-B78B-2A4F069CA6D5}" type="slidenum">
              <a:rPr lang="fr-CA" altLang="fr-FR">
                <a:latin typeface="Times New Roman" panose="02020603050405020304" pitchFamily="18" charset="0"/>
              </a:rPr>
              <a:pPr algn="r" eaLnBrk="1" hangingPunct="1">
                <a:spcBef>
                  <a:spcPct val="0"/>
                </a:spcBef>
              </a:pPr>
              <a:t>14</a:t>
            </a:fld>
            <a:endParaRPr lang="fr-CA" altLang="fr-FR">
              <a:latin typeface="Times New Roman" panose="02020603050405020304" pitchFamily="18" charset="0"/>
            </a:endParaRPr>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14</a:t>
            </a:fld>
            <a:endParaRPr lang="fr-CA"/>
          </a:p>
        </p:txBody>
      </p:sp>
    </p:spTree>
    <p:extLst>
      <p:ext uri="{BB962C8B-B14F-4D97-AF65-F5344CB8AC3E}">
        <p14:creationId xmlns:p14="http://schemas.microsoft.com/office/powerpoint/2010/main" val="3713018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p:spPr>
        <p:txBody>
          <a:bodyPr/>
          <a:lstStyle/>
          <a:p>
            <a:endParaRPr lang="fr-CA" altLang="fr-FR" b="1"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15</a:t>
            </a:fld>
            <a:endParaRPr lang="fr-CA"/>
          </a:p>
        </p:txBody>
      </p:sp>
    </p:spTree>
    <p:extLst>
      <p:ext uri="{BB962C8B-B14F-4D97-AF65-F5344CB8AC3E}">
        <p14:creationId xmlns:p14="http://schemas.microsoft.com/office/powerpoint/2010/main" val="39115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p:spPr>
        <p:txBody>
          <a:bodyPr/>
          <a:lstStyle/>
          <a:p>
            <a:r>
              <a:rPr lang="fr-CA" altLang="fr-FR" sz="1000" dirty="0"/>
              <a:t>LO : réponse D</a:t>
            </a:r>
          </a:p>
          <a:p>
            <a:r>
              <a:rPr lang="fr-CA" altLang="fr-FR" sz="1000" dirty="0"/>
              <a:t>Voir IAS 34.14</a:t>
            </a:r>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16</a:t>
            </a:fld>
            <a:endParaRPr lang="fr-CA"/>
          </a:p>
        </p:txBody>
      </p:sp>
    </p:spTree>
    <p:extLst>
      <p:ext uri="{BB962C8B-B14F-4D97-AF65-F5344CB8AC3E}">
        <p14:creationId xmlns:p14="http://schemas.microsoft.com/office/powerpoint/2010/main" val="2746146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p:spPr>
        <p:txBody>
          <a:bodyPr/>
          <a:lstStyle/>
          <a:p>
            <a:endParaRPr lang="fr-CA" altLang="fr-FR" sz="1000"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17</a:t>
            </a:fld>
            <a:endParaRPr lang="fr-CA"/>
          </a:p>
        </p:txBody>
      </p:sp>
    </p:spTree>
    <p:extLst>
      <p:ext uri="{BB962C8B-B14F-4D97-AF65-F5344CB8AC3E}">
        <p14:creationId xmlns:p14="http://schemas.microsoft.com/office/powerpoint/2010/main" val="33824589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Espace réservé de l'image des diapositives 1"/>
          <p:cNvSpPr>
            <a:spLocks noGrp="1" noRot="1" noChangeAspect="1" noTextEdit="1"/>
          </p:cNvSpPr>
          <p:nvPr>
            <p:ph type="sldImg"/>
          </p:nvPr>
        </p:nvSpPr>
        <p:spPr>
          <a:ln/>
        </p:spPr>
      </p:sp>
      <p:sp>
        <p:nvSpPr>
          <p:cNvPr id="40963" name="Espace réservé des commentaires 2"/>
          <p:cNvSpPr>
            <a:spLocks noGrp="1"/>
          </p:cNvSpPr>
          <p:nvPr>
            <p:ph type="body" idx="1"/>
          </p:nvPr>
        </p:nvSpPr>
        <p:spPr>
          <a:noFill/>
        </p:spPr>
        <p:txBody>
          <a:bodyPr/>
          <a:lstStyle/>
          <a:p>
            <a:endParaRPr lang="fr-CA" altLang="fr-FR" dirty="0"/>
          </a:p>
        </p:txBody>
      </p:sp>
      <p:sp>
        <p:nvSpPr>
          <p:cNvPr id="40964"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8CA6A2B-084B-41FB-96A7-BD6CC831AB62}" type="slidenum">
              <a:rPr lang="fr-CA" altLang="fr-FR" smtClean="0">
                <a:latin typeface="Times New Roman" panose="02020603050405020304" pitchFamily="18" charset="0"/>
              </a:rPr>
              <a:pPr>
                <a:spcBef>
                  <a:spcPct val="0"/>
                </a:spcBef>
              </a:pPr>
              <a:t>18</a:t>
            </a:fld>
            <a:endParaRPr lang="fr-CA" altLang="fr-FR">
              <a:latin typeface="Times New Roman" panose="02020603050405020304" pitchFamily="18" charset="0"/>
            </a:endParaRPr>
          </a:p>
        </p:txBody>
      </p:sp>
    </p:spTree>
    <p:extLst>
      <p:ext uri="{BB962C8B-B14F-4D97-AF65-F5344CB8AC3E}">
        <p14:creationId xmlns:p14="http://schemas.microsoft.com/office/powerpoint/2010/main" val="28258219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Espace réservé de l'image des diapositives 1"/>
          <p:cNvSpPr>
            <a:spLocks noGrp="1" noRot="1" noChangeAspect="1" noTextEdit="1"/>
          </p:cNvSpPr>
          <p:nvPr>
            <p:ph type="sldImg"/>
          </p:nvPr>
        </p:nvSpPr>
        <p:spPr>
          <a:ln/>
        </p:spPr>
      </p:sp>
      <p:sp>
        <p:nvSpPr>
          <p:cNvPr id="43011" name="Espace réservé des commentaires 2"/>
          <p:cNvSpPr>
            <a:spLocks noGrp="1"/>
          </p:cNvSpPr>
          <p:nvPr>
            <p:ph type="body" idx="1"/>
          </p:nvPr>
        </p:nvSpPr>
        <p:spPr>
          <a:noFill/>
        </p:spPr>
        <p:txBody>
          <a:bodyPr/>
          <a:lstStyle/>
          <a:p>
            <a:endParaRPr lang="fr-CA" altLang="fr-FR" dirty="0"/>
          </a:p>
        </p:txBody>
      </p:sp>
      <p:sp>
        <p:nvSpPr>
          <p:cNvPr id="43012"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5959788-7323-4167-8FAF-77234AF3A6F8}" type="slidenum">
              <a:rPr lang="fr-CA" altLang="fr-FR" smtClean="0">
                <a:latin typeface="Times New Roman" panose="02020603050405020304" pitchFamily="18" charset="0"/>
              </a:rPr>
              <a:pPr>
                <a:spcBef>
                  <a:spcPct val="0"/>
                </a:spcBef>
              </a:pPr>
              <a:t>19</a:t>
            </a:fld>
            <a:endParaRPr lang="fr-CA" altLang="fr-FR">
              <a:latin typeface="Times New Roman" panose="02020603050405020304" pitchFamily="18" charset="0"/>
            </a:endParaRPr>
          </a:p>
        </p:txBody>
      </p:sp>
    </p:spTree>
    <p:extLst>
      <p:ext uri="{BB962C8B-B14F-4D97-AF65-F5344CB8AC3E}">
        <p14:creationId xmlns:p14="http://schemas.microsoft.com/office/powerpoint/2010/main" val="3908667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p:spPr>
        <p:txBody>
          <a:bodyPr/>
          <a:lstStyle/>
          <a:p>
            <a:pPr marL="230188" indent="-230188"/>
            <a:endParaRPr lang="fr-CA" altLang="fr-FR" sz="900" dirty="0"/>
          </a:p>
          <a:p>
            <a:pPr marL="230188" indent="-230188"/>
            <a:endParaRPr lang="fr-CA" altLang="fr-FR" sz="1000"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20</a:t>
            </a:fld>
            <a:endParaRPr lang="fr-CA"/>
          </a:p>
        </p:txBody>
      </p:sp>
    </p:spTree>
    <p:extLst>
      <p:ext uri="{BB962C8B-B14F-4D97-AF65-F5344CB8AC3E}">
        <p14:creationId xmlns:p14="http://schemas.microsoft.com/office/powerpoint/2010/main" val="1041241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p:spPr>
        <p:txBody>
          <a:bodyPr/>
          <a:lstStyle/>
          <a:p>
            <a:endParaRPr lang="fr-CA" altLang="fr-FR" sz="1000" dirty="0"/>
          </a:p>
          <a:p>
            <a:endParaRPr lang="fr-CA" altLang="fr-FR" sz="1000"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21</a:t>
            </a:fld>
            <a:endParaRPr lang="fr-CA"/>
          </a:p>
        </p:txBody>
      </p:sp>
    </p:spTree>
    <p:extLst>
      <p:ext uri="{BB962C8B-B14F-4D97-AF65-F5344CB8AC3E}">
        <p14:creationId xmlns:p14="http://schemas.microsoft.com/office/powerpoint/2010/main" val="29453057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a:ln/>
        </p:spPr>
      </p:sp>
      <p:sp>
        <p:nvSpPr>
          <p:cNvPr id="49155" name="Espace réservé des commentaires 2"/>
          <p:cNvSpPr>
            <a:spLocks noGrp="1"/>
          </p:cNvSpPr>
          <p:nvPr>
            <p:ph type="body" idx="1"/>
          </p:nvPr>
        </p:nvSpPr>
        <p:spPr>
          <a:noFill/>
        </p:spPr>
        <p:txBody>
          <a:bodyPr/>
          <a:lstStyle/>
          <a:p>
            <a:endParaRPr lang="fr-CA" altLang="fr-FR" dirty="0"/>
          </a:p>
        </p:txBody>
      </p:sp>
      <p:sp>
        <p:nvSpPr>
          <p:cNvPr id="49156"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DA8D762-A93A-48F5-80FD-962A48EAE03E}" type="slidenum">
              <a:rPr lang="fr-CA" altLang="fr-FR" smtClean="0">
                <a:latin typeface="Times New Roman" panose="02020603050405020304" pitchFamily="18" charset="0"/>
              </a:rPr>
              <a:pPr>
                <a:spcBef>
                  <a:spcPct val="0"/>
                </a:spcBef>
              </a:pPr>
              <a:t>22</a:t>
            </a:fld>
            <a:endParaRPr lang="fr-CA" altLang="fr-FR">
              <a:latin typeface="Times New Roman" panose="02020603050405020304" pitchFamily="18" charset="0"/>
            </a:endParaRPr>
          </a:p>
        </p:txBody>
      </p:sp>
    </p:spTree>
    <p:extLst>
      <p:ext uri="{BB962C8B-B14F-4D97-AF65-F5344CB8AC3E}">
        <p14:creationId xmlns:p14="http://schemas.microsoft.com/office/powerpoint/2010/main" val="3985766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pPr>
              <a:buFont typeface="Arial" pitchFamily="34" charset="0"/>
              <a:buNone/>
              <a:defRPr/>
            </a:pPr>
            <a:endParaRPr lang="fr-CA" dirty="0">
              <a:latin typeface="Times New Roman" pitchFamily="18" charset="0"/>
            </a:endParaRPr>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23</a:t>
            </a:fld>
            <a:endParaRPr lang="fr-CA"/>
          </a:p>
        </p:txBody>
      </p:sp>
    </p:spTree>
    <p:extLst>
      <p:ext uri="{BB962C8B-B14F-4D97-AF65-F5344CB8AC3E}">
        <p14:creationId xmlns:p14="http://schemas.microsoft.com/office/powerpoint/2010/main" val="5894607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solidFill>
            <a:srgbClr val="FFFFFF"/>
          </a:solidFill>
          <a:ln/>
        </p:spPr>
      </p:sp>
      <p:sp>
        <p:nvSpPr>
          <p:cNvPr id="53251" name="Rectangle 3"/>
          <p:cNvSpPr>
            <a:spLocks noGrp="1" noChangeArrowheads="1"/>
          </p:cNvSpPr>
          <p:nvPr>
            <p:ph type="body" idx="1"/>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fr-CA" altLang="fr-FR" sz="1000" dirty="0"/>
          </a:p>
          <a:p>
            <a:endParaRPr lang="fr-CA" altLang="fr-FR"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24</a:t>
            </a:fld>
            <a:endParaRPr lang="fr-CA"/>
          </a:p>
        </p:txBody>
      </p:sp>
    </p:spTree>
    <p:extLst>
      <p:ext uri="{BB962C8B-B14F-4D97-AF65-F5344CB8AC3E}">
        <p14:creationId xmlns:p14="http://schemas.microsoft.com/office/powerpoint/2010/main" val="3545919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endParaRPr lang="fr-CA" altLang="fr-FR"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25</a:t>
            </a:fld>
            <a:endParaRPr lang="fr-CA"/>
          </a:p>
        </p:txBody>
      </p:sp>
    </p:spTree>
    <p:extLst>
      <p:ext uri="{BB962C8B-B14F-4D97-AF65-F5344CB8AC3E}">
        <p14:creationId xmlns:p14="http://schemas.microsoft.com/office/powerpoint/2010/main" val="10531419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Espace réservé de l'image des diapositives 1"/>
          <p:cNvSpPr>
            <a:spLocks noGrp="1" noRot="1" noChangeAspect="1" noTextEdit="1"/>
          </p:cNvSpPr>
          <p:nvPr>
            <p:ph type="sldImg"/>
          </p:nvPr>
        </p:nvSpPr>
        <p:spPr>
          <a:ln/>
        </p:spPr>
      </p:sp>
      <p:sp>
        <p:nvSpPr>
          <p:cNvPr id="57347" name="Espace réservé des commentaires 2"/>
          <p:cNvSpPr>
            <a:spLocks noGrp="1"/>
          </p:cNvSpPr>
          <p:nvPr>
            <p:ph type="body" idx="1"/>
          </p:nvPr>
        </p:nvSpPr>
        <p:spPr>
          <a:noFill/>
        </p:spPr>
        <p:txBody>
          <a:bodyPr/>
          <a:lstStyle/>
          <a:p>
            <a:r>
              <a:rPr lang="fr-CA" altLang="fr-FR" sz="900" dirty="0"/>
              <a:t>LO : réponse D</a:t>
            </a:r>
          </a:p>
          <a:p>
            <a:r>
              <a:rPr lang="fr-CA" altLang="fr-FR" sz="900" dirty="0"/>
              <a:t>20 000 k$ * 10 % = 2 000 k</a:t>
            </a:r>
          </a:p>
          <a:p>
            <a:r>
              <a:rPr lang="fr-CA" altLang="fr-FR" sz="900" dirty="0"/>
              <a:t>Comptabilisé en T1 : 320 k</a:t>
            </a:r>
          </a:p>
          <a:p>
            <a:r>
              <a:rPr lang="fr-CA" altLang="fr-FR" sz="900" dirty="0"/>
              <a:t>Ajustement requis 1 620 k$</a:t>
            </a:r>
          </a:p>
        </p:txBody>
      </p:sp>
      <p:sp>
        <p:nvSpPr>
          <p:cNvPr id="57348"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443815E-67BD-4224-B93F-66C0DE2BCB7C}" type="slidenum">
              <a:rPr lang="fr-CA" altLang="fr-FR" smtClean="0">
                <a:latin typeface="Times New Roman" panose="02020603050405020304" pitchFamily="18" charset="0"/>
              </a:rPr>
              <a:pPr>
                <a:spcBef>
                  <a:spcPct val="0"/>
                </a:spcBef>
              </a:pPr>
              <a:t>26</a:t>
            </a:fld>
            <a:endParaRPr lang="fr-CA" altLang="fr-FR">
              <a:latin typeface="Times New Roman" panose="02020603050405020304" pitchFamily="18" charset="0"/>
            </a:endParaRPr>
          </a:p>
        </p:txBody>
      </p:sp>
    </p:spTree>
    <p:extLst>
      <p:ext uri="{BB962C8B-B14F-4D97-AF65-F5344CB8AC3E}">
        <p14:creationId xmlns:p14="http://schemas.microsoft.com/office/powerpoint/2010/main" val="6070670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Espace réservé de l'image des diapositives 1"/>
          <p:cNvSpPr>
            <a:spLocks noGrp="1" noRot="1" noChangeAspect="1" noTextEdit="1"/>
          </p:cNvSpPr>
          <p:nvPr>
            <p:ph type="sldImg"/>
          </p:nvPr>
        </p:nvSpPr>
        <p:spPr>
          <a:ln/>
        </p:spPr>
      </p:sp>
      <p:sp>
        <p:nvSpPr>
          <p:cNvPr id="59395" name="Espace réservé des commentaires 2"/>
          <p:cNvSpPr>
            <a:spLocks noGrp="1"/>
          </p:cNvSpPr>
          <p:nvPr>
            <p:ph type="body" idx="1"/>
          </p:nvPr>
        </p:nvSpPr>
        <p:spPr>
          <a:noFill/>
        </p:spPr>
        <p:txBody>
          <a:bodyPr/>
          <a:lstStyle/>
          <a:p>
            <a:endParaRPr lang="fr-CA" altLang="fr-FR" dirty="0"/>
          </a:p>
        </p:txBody>
      </p:sp>
      <p:sp>
        <p:nvSpPr>
          <p:cNvPr id="59396"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DF98960-CDAB-4B6E-BDD8-14C1F2CE9E7E}" type="slidenum">
              <a:rPr lang="fr-CA" altLang="fr-FR" smtClean="0">
                <a:latin typeface="Times New Roman" panose="02020603050405020304" pitchFamily="18" charset="0"/>
              </a:rPr>
              <a:pPr>
                <a:spcBef>
                  <a:spcPct val="0"/>
                </a:spcBef>
              </a:pPr>
              <a:t>27</a:t>
            </a:fld>
            <a:endParaRPr lang="fr-CA" altLang="fr-FR">
              <a:latin typeface="Times New Roman" panose="02020603050405020304" pitchFamily="18" charset="0"/>
            </a:endParaRPr>
          </a:p>
        </p:txBody>
      </p:sp>
    </p:spTree>
    <p:extLst>
      <p:ext uri="{BB962C8B-B14F-4D97-AF65-F5344CB8AC3E}">
        <p14:creationId xmlns:p14="http://schemas.microsoft.com/office/powerpoint/2010/main" val="2226211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Espace réservé de l'image des diapositives 1"/>
          <p:cNvSpPr>
            <a:spLocks noGrp="1" noRot="1" noChangeAspect="1" noTextEdit="1"/>
          </p:cNvSpPr>
          <p:nvPr>
            <p:ph type="sldImg"/>
          </p:nvPr>
        </p:nvSpPr>
        <p:spPr>
          <a:ln/>
        </p:spPr>
      </p:sp>
      <p:sp>
        <p:nvSpPr>
          <p:cNvPr id="61443" name="Espace réservé des commentaires 2"/>
          <p:cNvSpPr>
            <a:spLocks noGrp="1"/>
          </p:cNvSpPr>
          <p:nvPr>
            <p:ph type="body" idx="1"/>
          </p:nvPr>
        </p:nvSpPr>
        <p:spPr>
          <a:noFill/>
        </p:spPr>
        <p:txBody>
          <a:bodyPr/>
          <a:lstStyle/>
          <a:p>
            <a:endParaRPr lang="fr-FR" altLang="fr-FR" dirty="0"/>
          </a:p>
        </p:txBody>
      </p:sp>
      <p:sp>
        <p:nvSpPr>
          <p:cNvPr id="61444"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9616CF8-C856-4AC2-88FA-777255C12539}" type="slidenum">
              <a:rPr lang="fr-CA" altLang="fr-FR" smtClean="0">
                <a:latin typeface="Times New Roman" panose="02020603050405020304" pitchFamily="18" charset="0"/>
              </a:rPr>
              <a:pPr>
                <a:spcBef>
                  <a:spcPct val="0"/>
                </a:spcBef>
              </a:pPr>
              <a:t>28</a:t>
            </a:fld>
            <a:endParaRPr lang="fr-CA" altLang="fr-FR">
              <a:latin typeface="Times New Roman" panose="02020603050405020304" pitchFamily="18" charset="0"/>
            </a:endParaRPr>
          </a:p>
        </p:txBody>
      </p:sp>
    </p:spTree>
    <p:extLst>
      <p:ext uri="{BB962C8B-B14F-4D97-AF65-F5344CB8AC3E}">
        <p14:creationId xmlns:p14="http://schemas.microsoft.com/office/powerpoint/2010/main" val="28016489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p:spPr>
        <p:txBody>
          <a:bodyPr/>
          <a:lstStyle/>
          <a:p>
            <a:r>
              <a:rPr lang="fr-CA" altLang="fr-FR" sz="800" dirty="0"/>
              <a:t>LO : réponse c</a:t>
            </a:r>
          </a:p>
          <a:p>
            <a:r>
              <a:rPr lang="fr-CA" altLang="fr-FR" sz="800" dirty="0"/>
              <a:t>b) Ne peut pas capitaliser après avoir mis en charge</a:t>
            </a:r>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29</a:t>
            </a:fld>
            <a:endParaRPr lang="fr-CA"/>
          </a:p>
        </p:txBody>
      </p:sp>
    </p:spTree>
    <p:extLst>
      <p:ext uri="{BB962C8B-B14F-4D97-AF65-F5344CB8AC3E}">
        <p14:creationId xmlns:p14="http://schemas.microsoft.com/office/powerpoint/2010/main" val="12286889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Espace réservé de l'image des diapositives 1"/>
          <p:cNvSpPr>
            <a:spLocks noGrp="1" noRot="1" noChangeAspect="1" noTextEdit="1"/>
          </p:cNvSpPr>
          <p:nvPr>
            <p:ph type="sldImg"/>
          </p:nvPr>
        </p:nvSpPr>
        <p:spPr>
          <a:ln/>
        </p:spPr>
      </p:sp>
      <p:sp>
        <p:nvSpPr>
          <p:cNvPr id="65539" name="Espace réservé des commentaires 2"/>
          <p:cNvSpPr>
            <a:spLocks noGrp="1"/>
          </p:cNvSpPr>
          <p:nvPr>
            <p:ph type="body" idx="1"/>
          </p:nvPr>
        </p:nvSpPr>
        <p:spPr>
          <a:noFill/>
        </p:spPr>
        <p:txBody>
          <a:bodyPr/>
          <a:lstStyle/>
          <a:p>
            <a:endParaRPr lang="fr-CA" altLang="fr-FR" sz="1000" dirty="0"/>
          </a:p>
        </p:txBody>
      </p:sp>
      <p:sp>
        <p:nvSpPr>
          <p:cNvPr id="65540"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982014F-9E3B-4853-81CA-DC67E2C5C385}" type="slidenum">
              <a:rPr lang="fr-CA" altLang="fr-FR" smtClean="0">
                <a:latin typeface="Times New Roman" panose="02020603050405020304" pitchFamily="18" charset="0"/>
              </a:rPr>
              <a:pPr>
                <a:spcBef>
                  <a:spcPct val="0"/>
                </a:spcBef>
              </a:pPr>
              <a:t>30</a:t>
            </a:fld>
            <a:endParaRPr lang="fr-CA" altLang="fr-FR">
              <a:latin typeface="Times New Roman" panose="02020603050405020304" pitchFamily="18" charset="0"/>
            </a:endParaRPr>
          </a:p>
        </p:txBody>
      </p:sp>
    </p:spTree>
    <p:extLst>
      <p:ext uri="{BB962C8B-B14F-4D97-AF65-F5344CB8AC3E}">
        <p14:creationId xmlns:p14="http://schemas.microsoft.com/office/powerpoint/2010/main" val="17830145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419225" y="696913"/>
            <a:ext cx="4021138" cy="3014662"/>
          </a:xfrm>
          <a:solidFill>
            <a:srgbClr val="FFFFFF"/>
          </a:solidFill>
          <a:ln/>
        </p:spPr>
      </p:sp>
      <p:sp>
        <p:nvSpPr>
          <p:cNvPr id="67587" name="Rectangle 3"/>
          <p:cNvSpPr>
            <a:spLocks noGrp="1" noChangeArrowheads="1"/>
          </p:cNvSpPr>
          <p:nvPr>
            <p:ph type="body" idx="1"/>
          </p:nvPr>
        </p:nvSpPr>
        <p:spPr>
          <a:xfrm>
            <a:off x="914400" y="3784103"/>
            <a:ext cx="5394920" cy="5256585"/>
          </a:xfrm>
          <a:solidFill>
            <a:srgbClr val="FFFFFF"/>
          </a:solidFill>
          <a:ln>
            <a:solidFill>
              <a:srgbClr val="000000"/>
            </a:solidFill>
            <a:miter lim="800000"/>
            <a:headEnd/>
            <a:tailEnd/>
          </a:ln>
        </p:spPr>
        <p:txBody>
          <a:bodyPr/>
          <a:lstStyle/>
          <a:p>
            <a:endParaRPr lang="fr-CA" altLang="fr-FR" sz="800" dirty="0"/>
          </a:p>
          <a:p>
            <a:endParaRPr lang="fr-CA" altLang="fr-FR" sz="1000" dirty="0"/>
          </a:p>
          <a:p>
            <a:endParaRPr lang="fr-CA" altLang="fr-FR" sz="1000" dirty="0"/>
          </a:p>
          <a:p>
            <a:endParaRPr lang="fr-CA" altLang="fr-FR" sz="1000" dirty="0"/>
          </a:p>
          <a:p>
            <a:pPr>
              <a:buFontTx/>
              <a:buChar char="•"/>
            </a:pPr>
            <a:endParaRPr lang="fr-CA" altLang="fr-FR" sz="1000" dirty="0"/>
          </a:p>
          <a:p>
            <a:pPr>
              <a:buFontTx/>
              <a:buChar char="•"/>
            </a:pPr>
            <a:endParaRPr lang="fr-CA" altLang="fr-FR" sz="1000" dirty="0"/>
          </a:p>
          <a:p>
            <a:endParaRPr lang="fr-CA" altLang="fr-FR" sz="1000" dirty="0"/>
          </a:p>
          <a:p>
            <a:pPr>
              <a:buFontTx/>
              <a:buChar char="•"/>
            </a:pPr>
            <a:endParaRPr lang="fr-CA" altLang="fr-FR" sz="1000"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31</a:t>
            </a:fld>
            <a:endParaRPr lang="fr-CA"/>
          </a:p>
        </p:txBody>
      </p:sp>
    </p:spTree>
    <p:extLst>
      <p:ext uri="{BB962C8B-B14F-4D97-AF65-F5344CB8AC3E}">
        <p14:creationId xmlns:p14="http://schemas.microsoft.com/office/powerpoint/2010/main" val="13463255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Espace réservé de l'image des diapositives 1"/>
          <p:cNvSpPr>
            <a:spLocks noGrp="1" noRot="1" noChangeAspect="1" noTextEdit="1"/>
          </p:cNvSpPr>
          <p:nvPr>
            <p:ph type="sldImg"/>
          </p:nvPr>
        </p:nvSpPr>
        <p:spPr>
          <a:ln/>
        </p:spPr>
      </p:sp>
      <p:sp>
        <p:nvSpPr>
          <p:cNvPr id="69635" name="Espace réservé des commentaires 2"/>
          <p:cNvSpPr>
            <a:spLocks noGrp="1"/>
          </p:cNvSpPr>
          <p:nvPr>
            <p:ph type="body" idx="1"/>
          </p:nvPr>
        </p:nvSpPr>
        <p:spPr>
          <a:noFill/>
        </p:spPr>
        <p:txBody>
          <a:bodyPr/>
          <a:lstStyle/>
          <a:p>
            <a:r>
              <a:rPr lang="fr-CA" altLang="fr-FR" sz="800" b="0" dirty="0"/>
              <a:t>LO : réponse d</a:t>
            </a:r>
          </a:p>
          <a:p>
            <a:r>
              <a:rPr lang="fr-CA" altLang="fr-FR" sz="800" b="0" dirty="0"/>
              <a:t>IAS 34.39</a:t>
            </a:r>
          </a:p>
          <a:p>
            <a:r>
              <a:rPr lang="fr-CA" altLang="fr-FR" sz="800" b="0" dirty="0"/>
              <a:t>Ne peut devancer / différer</a:t>
            </a:r>
            <a:endParaRPr lang="fr-FR" altLang="fr-FR" sz="800" b="0" dirty="0"/>
          </a:p>
        </p:txBody>
      </p:sp>
      <p:sp>
        <p:nvSpPr>
          <p:cNvPr id="69636"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09E997F-86B2-4E97-94F8-2C2E94F2449B}" type="slidenum">
              <a:rPr lang="fr-CA" altLang="fr-FR" smtClean="0">
                <a:latin typeface="Times New Roman" panose="02020603050405020304" pitchFamily="18" charset="0"/>
              </a:rPr>
              <a:pPr>
                <a:spcBef>
                  <a:spcPct val="0"/>
                </a:spcBef>
              </a:pPr>
              <a:t>32</a:t>
            </a:fld>
            <a:endParaRPr lang="fr-CA" altLang="fr-FR">
              <a:latin typeface="Times New Roman" panose="02020603050405020304" pitchFamily="18" charset="0"/>
            </a:endParaRPr>
          </a:p>
        </p:txBody>
      </p:sp>
    </p:spTree>
    <p:extLst>
      <p:ext uri="{BB962C8B-B14F-4D97-AF65-F5344CB8AC3E}">
        <p14:creationId xmlns:p14="http://schemas.microsoft.com/office/powerpoint/2010/main" val="20670307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Espace réservé de l'image des diapositives 1"/>
          <p:cNvSpPr>
            <a:spLocks noGrp="1" noRot="1" noChangeAspect="1" noTextEdit="1"/>
          </p:cNvSpPr>
          <p:nvPr>
            <p:ph type="sldImg"/>
          </p:nvPr>
        </p:nvSpPr>
        <p:spPr>
          <a:ln/>
        </p:spPr>
      </p:sp>
      <p:sp>
        <p:nvSpPr>
          <p:cNvPr id="71683" name="Espace réservé des commentaires 2"/>
          <p:cNvSpPr>
            <a:spLocks noGrp="1"/>
          </p:cNvSpPr>
          <p:nvPr>
            <p:ph type="body" idx="1"/>
          </p:nvPr>
        </p:nvSpPr>
        <p:spPr>
          <a:noFill/>
        </p:spPr>
        <p:txBody>
          <a:bodyPr/>
          <a:lstStyle/>
          <a:p>
            <a:r>
              <a:rPr lang="fr-CA" altLang="fr-FR" sz="900" dirty="0"/>
              <a:t>LO : vrai</a:t>
            </a:r>
          </a:p>
          <a:p>
            <a:r>
              <a:rPr lang="fr-CA" altLang="fr-FR" sz="900" dirty="0"/>
              <a:t>Idem que fin d’exercice</a:t>
            </a:r>
          </a:p>
          <a:p>
            <a:r>
              <a:rPr lang="fr-CA" altLang="fr-FR" sz="900" dirty="0"/>
              <a:t>Montant bilan doit être correct</a:t>
            </a:r>
          </a:p>
        </p:txBody>
      </p:sp>
      <p:sp>
        <p:nvSpPr>
          <p:cNvPr id="71684"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2CB306-F6B5-496C-9054-B735AD6D4E9C}" type="slidenum">
              <a:rPr lang="fr-CA" altLang="fr-FR" smtClean="0">
                <a:latin typeface="Times New Roman" panose="02020603050405020304" pitchFamily="18" charset="0"/>
              </a:rPr>
              <a:pPr>
                <a:spcBef>
                  <a:spcPct val="0"/>
                </a:spcBef>
              </a:pPr>
              <a:t>33</a:t>
            </a:fld>
            <a:endParaRPr lang="fr-CA" altLang="fr-FR">
              <a:latin typeface="Times New Roman" panose="02020603050405020304" pitchFamily="18" charset="0"/>
            </a:endParaRPr>
          </a:p>
        </p:txBody>
      </p:sp>
    </p:spTree>
    <p:extLst>
      <p:ext uri="{BB962C8B-B14F-4D97-AF65-F5344CB8AC3E}">
        <p14:creationId xmlns:p14="http://schemas.microsoft.com/office/powerpoint/2010/main" val="3641300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Espace réservé de l'image des diapositives 1"/>
          <p:cNvSpPr>
            <a:spLocks noGrp="1" noRot="1" noChangeAspect="1" noTextEdit="1"/>
          </p:cNvSpPr>
          <p:nvPr>
            <p:ph type="sldImg"/>
          </p:nvPr>
        </p:nvSpPr>
        <p:spPr>
          <a:ln/>
        </p:spPr>
      </p:sp>
      <p:sp>
        <p:nvSpPr>
          <p:cNvPr id="73731" name="Espace réservé des commentaires 2"/>
          <p:cNvSpPr>
            <a:spLocks noGrp="1"/>
          </p:cNvSpPr>
          <p:nvPr>
            <p:ph type="body" idx="1"/>
          </p:nvPr>
        </p:nvSpPr>
        <p:spPr>
          <a:noFill/>
        </p:spPr>
        <p:txBody>
          <a:bodyPr/>
          <a:lstStyle/>
          <a:p>
            <a:r>
              <a:rPr lang="fr-CA" altLang="fr-FR" sz="1000" dirty="0"/>
              <a:t>LO : réponse b)  IAS 34.21</a:t>
            </a:r>
          </a:p>
          <a:p>
            <a:r>
              <a:rPr lang="fr-CA" altLang="fr-FR" sz="1000" dirty="0"/>
              <a:t>La question mentionne suggère</a:t>
            </a:r>
          </a:p>
          <a:p>
            <a:pPr marL="228600" indent="-228600">
              <a:buAutoNum type="alphaLcParenR"/>
            </a:pPr>
            <a:r>
              <a:rPr lang="fr-CA" altLang="fr-FR" sz="1000" dirty="0"/>
              <a:t>IAS 34.16a  doit et non suggestion</a:t>
            </a:r>
          </a:p>
          <a:p>
            <a:pPr marL="228600" indent="-228600">
              <a:buAutoNum type="alphaLcParenR"/>
            </a:pPr>
            <a:endParaRPr lang="fr-CA" altLang="fr-FR" sz="1000" dirty="0"/>
          </a:p>
        </p:txBody>
      </p:sp>
      <p:sp>
        <p:nvSpPr>
          <p:cNvPr id="73732"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20F6F8B-B665-47AF-9ECE-2E60A818AA81}" type="slidenum">
              <a:rPr lang="fr-CA" altLang="fr-FR" smtClean="0">
                <a:latin typeface="Times New Roman" panose="02020603050405020304" pitchFamily="18" charset="0"/>
              </a:rPr>
              <a:pPr>
                <a:spcBef>
                  <a:spcPct val="0"/>
                </a:spcBef>
              </a:pPr>
              <a:t>34</a:t>
            </a:fld>
            <a:endParaRPr lang="fr-CA" altLang="fr-FR">
              <a:latin typeface="Times New Roman" panose="02020603050405020304" pitchFamily="18" charset="0"/>
            </a:endParaRPr>
          </a:p>
        </p:txBody>
      </p:sp>
    </p:spTree>
    <p:extLst>
      <p:ext uri="{BB962C8B-B14F-4D97-AF65-F5344CB8AC3E}">
        <p14:creationId xmlns:p14="http://schemas.microsoft.com/office/powerpoint/2010/main" val="35762647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Espace réservé de l'image des diapositives 1"/>
          <p:cNvSpPr>
            <a:spLocks noGrp="1" noRot="1" noChangeAspect="1" noTextEdit="1"/>
          </p:cNvSpPr>
          <p:nvPr>
            <p:ph type="sldImg"/>
          </p:nvPr>
        </p:nvSpPr>
        <p:spPr>
          <a:ln/>
        </p:spPr>
      </p:sp>
      <p:sp>
        <p:nvSpPr>
          <p:cNvPr id="75779" name="Espace réservé des commentaires 2"/>
          <p:cNvSpPr>
            <a:spLocks noGrp="1"/>
          </p:cNvSpPr>
          <p:nvPr>
            <p:ph type="body" idx="1"/>
          </p:nvPr>
        </p:nvSpPr>
        <p:spPr>
          <a:noFill/>
        </p:spPr>
        <p:txBody>
          <a:bodyPr/>
          <a:lstStyle/>
          <a:p>
            <a:endParaRPr lang="fr-CA" altLang="fr-FR" sz="1000" dirty="0"/>
          </a:p>
        </p:txBody>
      </p:sp>
      <p:sp>
        <p:nvSpPr>
          <p:cNvPr id="75780"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0C19E11-BBA5-462D-8C22-E9CA6040757D}" type="slidenum">
              <a:rPr lang="fr-CA" altLang="fr-FR" smtClean="0">
                <a:latin typeface="Times New Roman" panose="02020603050405020304" pitchFamily="18" charset="0"/>
              </a:rPr>
              <a:pPr>
                <a:spcBef>
                  <a:spcPct val="0"/>
                </a:spcBef>
              </a:pPr>
              <a:t>35</a:t>
            </a:fld>
            <a:endParaRPr lang="fr-CA" altLang="fr-FR">
              <a:latin typeface="Times New Roman" panose="02020603050405020304" pitchFamily="18" charset="0"/>
            </a:endParaRPr>
          </a:p>
        </p:txBody>
      </p:sp>
    </p:spTree>
    <p:extLst>
      <p:ext uri="{BB962C8B-B14F-4D97-AF65-F5344CB8AC3E}">
        <p14:creationId xmlns:p14="http://schemas.microsoft.com/office/powerpoint/2010/main" val="37738554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Espace réservé de l'image des diapositives 1"/>
          <p:cNvSpPr>
            <a:spLocks noGrp="1" noRot="1" noChangeAspect="1" noTextEdit="1"/>
          </p:cNvSpPr>
          <p:nvPr>
            <p:ph type="sldImg"/>
          </p:nvPr>
        </p:nvSpPr>
        <p:spPr>
          <a:ln/>
        </p:spPr>
      </p:sp>
      <p:sp>
        <p:nvSpPr>
          <p:cNvPr id="77827" name="Espace réservé des commentaires 2"/>
          <p:cNvSpPr>
            <a:spLocks noGrp="1"/>
          </p:cNvSpPr>
          <p:nvPr>
            <p:ph type="body" idx="1"/>
          </p:nvPr>
        </p:nvSpPr>
        <p:spPr>
          <a:noFill/>
        </p:spPr>
        <p:txBody>
          <a:bodyPr/>
          <a:lstStyle/>
          <a:p>
            <a:endParaRPr lang="fr-FR" altLang="fr-FR" sz="900" b="1" dirty="0"/>
          </a:p>
        </p:txBody>
      </p:sp>
      <p:sp>
        <p:nvSpPr>
          <p:cNvPr id="77828"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CC075D6-4EB4-4186-B0E9-EDED96679F65}" type="slidenum">
              <a:rPr lang="fr-CA" altLang="fr-FR" smtClean="0">
                <a:latin typeface="Times New Roman" panose="02020603050405020304" pitchFamily="18" charset="0"/>
              </a:rPr>
              <a:pPr>
                <a:spcBef>
                  <a:spcPct val="0"/>
                </a:spcBef>
              </a:pPr>
              <a:t>36</a:t>
            </a:fld>
            <a:endParaRPr lang="fr-CA" altLang="fr-FR">
              <a:latin typeface="Times New Roman" panose="02020603050405020304" pitchFamily="18" charset="0"/>
            </a:endParaRPr>
          </a:p>
        </p:txBody>
      </p:sp>
    </p:spTree>
    <p:extLst>
      <p:ext uri="{BB962C8B-B14F-4D97-AF65-F5344CB8AC3E}">
        <p14:creationId xmlns:p14="http://schemas.microsoft.com/office/powerpoint/2010/main" val="3226032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a:xfrm>
            <a:off x="3886992" y="8831264"/>
            <a:ext cx="2971009" cy="465137"/>
          </a:xfrm>
          <a:prstGeom prst="rect">
            <a:avLst/>
          </a:prstGeom>
        </p:spPr>
        <p:txBody>
          <a:bodyPr/>
          <a:lstStyle/>
          <a:p>
            <a:pPr>
              <a:defRPr/>
            </a:pPr>
            <a:fld id="{5F87672C-8344-4F5C-9675-0B84CDBEC2E5}" type="slidenum">
              <a:rPr lang="fr-CA" altLang="fr-FR" smtClean="0"/>
              <a:pPr>
                <a:defRPr/>
              </a:pPr>
              <a:t>37</a:t>
            </a:fld>
            <a:endParaRPr lang="fr-CA" altLang="fr-FR"/>
          </a:p>
        </p:txBody>
      </p:sp>
    </p:spTree>
    <p:extLst>
      <p:ext uri="{BB962C8B-B14F-4D97-AF65-F5344CB8AC3E}">
        <p14:creationId xmlns:p14="http://schemas.microsoft.com/office/powerpoint/2010/main" val="28640987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a:noFill/>
        </p:spPr>
        <p:txBody>
          <a:bodyPr/>
          <a:lstStyle/>
          <a:p>
            <a:endParaRPr lang="fr-CA" altLang="fr-FR" sz="1100" b="1" dirty="0">
              <a:latin typeface="Arial" panose="020B0604020202020204" pitchFamily="34" charset="0"/>
            </a:endParaRPr>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38</a:t>
            </a:fld>
            <a:endParaRPr lang="fr-CA"/>
          </a:p>
        </p:txBody>
      </p:sp>
    </p:spTree>
    <p:extLst>
      <p:ext uri="{BB962C8B-B14F-4D97-AF65-F5344CB8AC3E}">
        <p14:creationId xmlns:p14="http://schemas.microsoft.com/office/powerpoint/2010/main" val="5768367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Espace réservé de l'image des diapositives 1"/>
          <p:cNvSpPr>
            <a:spLocks noGrp="1" noRot="1" noChangeAspect="1" noTextEdit="1"/>
          </p:cNvSpPr>
          <p:nvPr>
            <p:ph type="sldImg"/>
          </p:nvPr>
        </p:nvSpPr>
        <p:spPr>
          <a:ln/>
        </p:spPr>
      </p:sp>
      <p:sp>
        <p:nvSpPr>
          <p:cNvPr id="132099" name="Espace réservé des commentaires 2"/>
          <p:cNvSpPr>
            <a:spLocks noGrp="1"/>
          </p:cNvSpPr>
          <p:nvPr>
            <p:ph type="body" idx="1"/>
          </p:nvPr>
        </p:nvSpPr>
        <p:spPr>
          <a:noFill/>
        </p:spPr>
        <p:txBody>
          <a:bodyPr/>
          <a:lstStyle/>
          <a:p>
            <a:endParaRPr lang="fr-FR" altLang="fr-FR" sz="1000" dirty="0"/>
          </a:p>
        </p:txBody>
      </p:sp>
      <p:sp>
        <p:nvSpPr>
          <p:cNvPr id="132100"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81E4877-29A8-4D95-9C31-4A15D7497784}" type="slidenum">
              <a:rPr lang="fr-CA" altLang="fr-FR" smtClean="0">
                <a:latin typeface="Times New Roman" panose="02020603050405020304" pitchFamily="18" charset="0"/>
              </a:rPr>
              <a:pPr>
                <a:spcBef>
                  <a:spcPct val="0"/>
                </a:spcBef>
              </a:pPr>
              <a:t>39</a:t>
            </a:fld>
            <a:endParaRPr lang="fr-CA" altLang="fr-FR">
              <a:latin typeface="Times New Roman" panose="02020603050405020304" pitchFamily="18" charset="0"/>
            </a:endParaRPr>
          </a:p>
        </p:txBody>
      </p:sp>
    </p:spTree>
    <p:extLst>
      <p:ext uri="{BB962C8B-B14F-4D97-AF65-F5344CB8AC3E}">
        <p14:creationId xmlns:p14="http://schemas.microsoft.com/office/powerpoint/2010/main" val="24594684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Espace réservé de l'image des diapositives 1"/>
          <p:cNvSpPr>
            <a:spLocks noGrp="1" noRot="1" noChangeAspect="1" noTextEdit="1"/>
          </p:cNvSpPr>
          <p:nvPr>
            <p:ph type="sldImg"/>
          </p:nvPr>
        </p:nvSpPr>
        <p:spPr>
          <a:ln/>
        </p:spPr>
      </p:sp>
      <p:sp>
        <p:nvSpPr>
          <p:cNvPr id="132099" name="Espace réservé des commentaires 2"/>
          <p:cNvSpPr>
            <a:spLocks noGrp="1"/>
          </p:cNvSpPr>
          <p:nvPr>
            <p:ph type="body" idx="1"/>
          </p:nvPr>
        </p:nvSpPr>
        <p:spPr/>
        <p:txBody>
          <a:bodyPr/>
          <a:lstStyle/>
          <a:p>
            <a:pPr>
              <a:defRPr/>
            </a:pPr>
            <a:endParaRPr lang="fr-CA" altLang="fr-FR" sz="800" dirty="0"/>
          </a:p>
          <a:p>
            <a:pPr>
              <a:defRPr/>
            </a:pPr>
            <a:endParaRPr lang="fr-FR" altLang="fr-FR" sz="800" dirty="0"/>
          </a:p>
        </p:txBody>
      </p:sp>
      <p:sp>
        <p:nvSpPr>
          <p:cNvPr id="134148"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3A3D67B-24FC-4F06-A94B-467F86D487C6}" type="slidenum">
              <a:rPr lang="fr-CA" altLang="fr-FR" smtClean="0">
                <a:latin typeface="Times New Roman" panose="02020603050405020304" pitchFamily="18" charset="0"/>
              </a:rPr>
              <a:pPr>
                <a:spcBef>
                  <a:spcPct val="0"/>
                </a:spcBef>
              </a:pPr>
              <a:t>40</a:t>
            </a:fld>
            <a:endParaRPr lang="fr-CA" altLang="fr-FR">
              <a:latin typeface="Times New Roman" panose="02020603050405020304" pitchFamily="18" charset="0"/>
            </a:endParaRPr>
          </a:p>
        </p:txBody>
      </p:sp>
    </p:spTree>
    <p:extLst>
      <p:ext uri="{BB962C8B-B14F-4D97-AF65-F5344CB8AC3E}">
        <p14:creationId xmlns:p14="http://schemas.microsoft.com/office/powerpoint/2010/main" val="18181745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Espace réservé de l'image des diapositives 1"/>
          <p:cNvSpPr>
            <a:spLocks noGrp="1" noRot="1" noChangeAspect="1" noTextEdit="1"/>
          </p:cNvSpPr>
          <p:nvPr>
            <p:ph type="sldImg"/>
          </p:nvPr>
        </p:nvSpPr>
        <p:spPr>
          <a:ln/>
        </p:spPr>
      </p:sp>
      <p:sp>
        <p:nvSpPr>
          <p:cNvPr id="136195" name="Espace réservé des commentaires 2"/>
          <p:cNvSpPr>
            <a:spLocks noGrp="1"/>
          </p:cNvSpPr>
          <p:nvPr>
            <p:ph type="body" idx="1"/>
          </p:nvPr>
        </p:nvSpPr>
        <p:spPr>
          <a:noFill/>
        </p:spPr>
        <p:txBody>
          <a:bodyPr/>
          <a:lstStyle/>
          <a:p>
            <a:endParaRPr lang="fr-CA" altLang="fr-FR" dirty="0"/>
          </a:p>
        </p:txBody>
      </p:sp>
      <p:sp>
        <p:nvSpPr>
          <p:cNvPr id="136196"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8F9979B-C4FC-4ABB-9B50-8395E08D84D6}" type="slidenum">
              <a:rPr lang="fr-CA" altLang="fr-FR" smtClean="0">
                <a:latin typeface="Times New Roman" panose="02020603050405020304" pitchFamily="18" charset="0"/>
              </a:rPr>
              <a:pPr>
                <a:spcBef>
                  <a:spcPct val="0"/>
                </a:spcBef>
              </a:pPr>
              <a:t>41</a:t>
            </a:fld>
            <a:endParaRPr lang="fr-CA" altLang="fr-FR">
              <a:latin typeface="Times New Roman" panose="02020603050405020304" pitchFamily="18" charset="0"/>
            </a:endParaRPr>
          </a:p>
        </p:txBody>
      </p:sp>
    </p:spTree>
    <p:extLst>
      <p:ext uri="{BB962C8B-B14F-4D97-AF65-F5344CB8AC3E}">
        <p14:creationId xmlns:p14="http://schemas.microsoft.com/office/powerpoint/2010/main" val="16761320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Espace réservé de l'image des diapositives 1"/>
          <p:cNvSpPr>
            <a:spLocks noGrp="1" noRot="1" noChangeAspect="1" noTextEdit="1"/>
          </p:cNvSpPr>
          <p:nvPr>
            <p:ph type="sldImg"/>
          </p:nvPr>
        </p:nvSpPr>
        <p:spPr>
          <a:xfrm>
            <a:off x="1276350" y="696913"/>
            <a:ext cx="4306888" cy="3230562"/>
          </a:xfrm>
          <a:ln/>
        </p:spPr>
      </p:sp>
      <p:sp>
        <p:nvSpPr>
          <p:cNvPr id="138243" name="Espace réservé des commentaires 2"/>
          <p:cNvSpPr>
            <a:spLocks noGrp="1"/>
          </p:cNvSpPr>
          <p:nvPr>
            <p:ph type="body" idx="1"/>
          </p:nvPr>
        </p:nvSpPr>
        <p:spPr>
          <a:xfrm>
            <a:off x="914400" y="4000129"/>
            <a:ext cx="5313194" cy="4752527"/>
          </a:xfrm>
          <a:noFill/>
        </p:spPr>
        <p:txBody>
          <a:bodyPr/>
          <a:lstStyle/>
          <a:p>
            <a:endParaRPr lang="fr-FR" altLang="fr-FR" sz="900" dirty="0"/>
          </a:p>
        </p:txBody>
      </p:sp>
      <p:sp>
        <p:nvSpPr>
          <p:cNvPr id="138244"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ACD137E-934D-44B7-B260-6C8D25AD51C4}" type="slidenum">
              <a:rPr lang="fr-CA" altLang="fr-FR" smtClean="0">
                <a:latin typeface="Times New Roman" panose="02020603050405020304" pitchFamily="18" charset="0"/>
              </a:rPr>
              <a:pPr>
                <a:spcBef>
                  <a:spcPct val="0"/>
                </a:spcBef>
              </a:pPr>
              <a:t>42</a:t>
            </a:fld>
            <a:endParaRPr lang="fr-CA" altLang="fr-FR">
              <a:latin typeface="Times New Roman" panose="02020603050405020304" pitchFamily="18" charset="0"/>
            </a:endParaRPr>
          </a:p>
        </p:txBody>
      </p:sp>
    </p:spTree>
    <p:extLst>
      <p:ext uri="{BB962C8B-B14F-4D97-AF65-F5344CB8AC3E}">
        <p14:creationId xmlns:p14="http://schemas.microsoft.com/office/powerpoint/2010/main" val="10472894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Espace réservé de l'image des diapositives 1"/>
          <p:cNvSpPr>
            <a:spLocks noGrp="1" noRot="1" noChangeAspect="1" noTextEdit="1"/>
          </p:cNvSpPr>
          <p:nvPr>
            <p:ph type="sldImg"/>
          </p:nvPr>
        </p:nvSpPr>
        <p:spPr>
          <a:ln/>
        </p:spPr>
      </p:sp>
      <p:sp>
        <p:nvSpPr>
          <p:cNvPr id="140291" name="Espace réservé des commentaires 2"/>
          <p:cNvSpPr>
            <a:spLocks noGrp="1"/>
          </p:cNvSpPr>
          <p:nvPr>
            <p:ph type="body" idx="1"/>
          </p:nvPr>
        </p:nvSpPr>
        <p:spPr>
          <a:noFill/>
        </p:spPr>
        <p:txBody>
          <a:bodyPr/>
          <a:lstStyle/>
          <a:p>
            <a:endParaRPr lang="fr-CA" altLang="fr-FR" dirty="0"/>
          </a:p>
        </p:txBody>
      </p:sp>
      <p:sp>
        <p:nvSpPr>
          <p:cNvPr id="140292"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5F705F3-7773-4FA3-8096-564F7858D426}" type="slidenum">
              <a:rPr lang="fr-CA" altLang="fr-FR" smtClean="0">
                <a:latin typeface="Times New Roman" panose="02020603050405020304" pitchFamily="18" charset="0"/>
              </a:rPr>
              <a:pPr>
                <a:spcBef>
                  <a:spcPct val="0"/>
                </a:spcBef>
              </a:pPr>
              <a:t>43</a:t>
            </a:fld>
            <a:endParaRPr lang="fr-CA" altLang="fr-FR">
              <a:latin typeface="Times New Roman" panose="02020603050405020304" pitchFamily="18" charset="0"/>
            </a:endParaRPr>
          </a:p>
        </p:txBody>
      </p:sp>
    </p:spTree>
    <p:extLst>
      <p:ext uri="{BB962C8B-B14F-4D97-AF65-F5344CB8AC3E}">
        <p14:creationId xmlns:p14="http://schemas.microsoft.com/office/powerpoint/2010/main" val="11787045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a:noFill/>
        </p:spPr>
        <p:txBody>
          <a:bodyPr/>
          <a:lstStyle/>
          <a:p>
            <a:endParaRPr lang="fr-CA" altLang="fr-FR" dirty="0"/>
          </a:p>
          <a:p>
            <a:pPr marL="230188" indent="-230188">
              <a:buFontTx/>
              <a:buAutoNum type="alphaLcParenR"/>
            </a:pPr>
            <a:endParaRPr lang="fr-CA" altLang="fr-FR"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44</a:t>
            </a:fld>
            <a:endParaRPr lang="fr-CA"/>
          </a:p>
        </p:txBody>
      </p:sp>
    </p:spTree>
    <p:extLst>
      <p:ext uri="{BB962C8B-B14F-4D97-AF65-F5344CB8AC3E}">
        <p14:creationId xmlns:p14="http://schemas.microsoft.com/office/powerpoint/2010/main" val="16216237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Espace réservé de l'image des diapositives 1"/>
          <p:cNvSpPr>
            <a:spLocks noGrp="1" noRot="1" noChangeAspect="1" noTextEdit="1"/>
          </p:cNvSpPr>
          <p:nvPr>
            <p:ph type="sldImg"/>
          </p:nvPr>
        </p:nvSpPr>
        <p:spPr>
          <a:ln/>
        </p:spPr>
      </p:sp>
      <p:sp>
        <p:nvSpPr>
          <p:cNvPr id="144387" name="Espace réservé des commentaires 2"/>
          <p:cNvSpPr>
            <a:spLocks noGrp="1"/>
          </p:cNvSpPr>
          <p:nvPr>
            <p:ph type="body" idx="1"/>
          </p:nvPr>
        </p:nvSpPr>
        <p:spPr>
          <a:noFill/>
        </p:spPr>
        <p:txBody>
          <a:bodyPr/>
          <a:lstStyle/>
          <a:p>
            <a:endParaRPr lang="fr-CA" altLang="fr-FR" sz="1000" dirty="0"/>
          </a:p>
        </p:txBody>
      </p:sp>
      <p:sp>
        <p:nvSpPr>
          <p:cNvPr id="144388"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C318B5A-D1CF-4DEB-A61D-C6B50A45CFDE}" type="slidenum">
              <a:rPr lang="fr-CA" altLang="fr-FR" smtClean="0">
                <a:latin typeface="Times New Roman" panose="02020603050405020304" pitchFamily="18" charset="0"/>
              </a:rPr>
              <a:pPr>
                <a:spcBef>
                  <a:spcPct val="0"/>
                </a:spcBef>
              </a:pPr>
              <a:t>45</a:t>
            </a:fld>
            <a:endParaRPr lang="fr-CA" altLang="fr-FR">
              <a:latin typeface="Times New Roman" panose="02020603050405020304" pitchFamily="18" charset="0"/>
            </a:endParaRPr>
          </a:p>
        </p:txBody>
      </p:sp>
    </p:spTree>
    <p:extLst>
      <p:ext uri="{BB962C8B-B14F-4D97-AF65-F5344CB8AC3E}">
        <p14:creationId xmlns:p14="http://schemas.microsoft.com/office/powerpoint/2010/main" val="11559658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a:noFill/>
        </p:spPr>
        <p:txBody>
          <a:bodyPr/>
          <a:lstStyle/>
          <a:p>
            <a:endParaRPr lang="fr-CA" altLang="fr-FR" dirty="0"/>
          </a:p>
          <a:p>
            <a:endParaRPr lang="fr-CA" altLang="fr-FR"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46</a:t>
            </a:fld>
            <a:endParaRPr lang="fr-CA"/>
          </a:p>
        </p:txBody>
      </p:sp>
    </p:spTree>
    <p:extLst>
      <p:ext uri="{BB962C8B-B14F-4D97-AF65-F5344CB8AC3E}">
        <p14:creationId xmlns:p14="http://schemas.microsoft.com/office/powerpoint/2010/main" val="37529849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a:noFill/>
        </p:spPr>
        <p:txBody>
          <a:bodyPr/>
          <a:lstStyle/>
          <a:p>
            <a:endParaRPr lang="fr-CA" altLang="fr-FR" sz="1000"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47</a:t>
            </a:fld>
            <a:endParaRPr lang="fr-CA"/>
          </a:p>
        </p:txBody>
      </p:sp>
    </p:spTree>
    <p:extLst>
      <p:ext uri="{BB962C8B-B14F-4D97-AF65-F5344CB8AC3E}">
        <p14:creationId xmlns:p14="http://schemas.microsoft.com/office/powerpoint/2010/main" val="24700117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a:noFill/>
        </p:spPr>
        <p:txBody>
          <a:bodyPr/>
          <a:lstStyle/>
          <a:p>
            <a:endParaRPr lang="fr-CA" altLang="fr-FR" b="1"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48</a:t>
            </a:fld>
            <a:endParaRPr lang="fr-CA"/>
          </a:p>
        </p:txBody>
      </p:sp>
    </p:spTree>
    <p:extLst>
      <p:ext uri="{BB962C8B-B14F-4D97-AF65-F5344CB8AC3E}">
        <p14:creationId xmlns:p14="http://schemas.microsoft.com/office/powerpoint/2010/main" val="8872099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a:noFill/>
        </p:spPr>
        <p:txBody>
          <a:bodyPr/>
          <a:lstStyle/>
          <a:p>
            <a:endParaRPr lang="fr-CA" altLang="fr-FR" sz="1000" dirty="0"/>
          </a:p>
        </p:txBody>
      </p:sp>
      <p:sp>
        <p:nvSpPr>
          <p:cNvPr id="2" name="Espace réservé du numéro de diapositive 1"/>
          <p:cNvSpPr>
            <a:spLocks noGrp="1"/>
          </p:cNvSpPr>
          <p:nvPr>
            <p:ph type="sldNum" sz="quarter" idx="10"/>
          </p:nvPr>
        </p:nvSpPr>
        <p:spPr/>
        <p:txBody>
          <a:bodyPr/>
          <a:lstStyle/>
          <a:p>
            <a:fld id="{86528E28-397C-4154-ABDD-FC04FBBE3CDB}" type="slidenum">
              <a:rPr lang="fr-CA" smtClean="0"/>
              <a:t>49</a:t>
            </a:fld>
            <a:endParaRPr lang="fr-CA"/>
          </a:p>
        </p:txBody>
      </p:sp>
    </p:spTree>
    <p:extLst>
      <p:ext uri="{BB962C8B-B14F-4D97-AF65-F5344CB8AC3E}">
        <p14:creationId xmlns:p14="http://schemas.microsoft.com/office/powerpoint/2010/main" val="21612408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86528E28-397C-4154-ABDD-FC04FBBE3CDB}" type="slidenum">
              <a:rPr lang="fr-CA" smtClean="0"/>
              <a:t>50</a:t>
            </a:fld>
            <a:endParaRPr lang="fr-CA" dirty="0"/>
          </a:p>
        </p:txBody>
      </p:sp>
    </p:spTree>
    <p:extLst>
      <p:ext uri="{BB962C8B-B14F-4D97-AF65-F5344CB8AC3E}">
        <p14:creationId xmlns:p14="http://schemas.microsoft.com/office/powerpoint/2010/main" val="17408904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Espace réservé de l'image des diapositives 1"/>
          <p:cNvSpPr>
            <a:spLocks noGrp="1" noRot="1" noChangeAspect="1" noTextEdit="1"/>
          </p:cNvSpPr>
          <p:nvPr>
            <p:ph type="sldImg"/>
          </p:nvPr>
        </p:nvSpPr>
        <p:spPr>
          <a:ln/>
        </p:spPr>
      </p:sp>
      <p:sp>
        <p:nvSpPr>
          <p:cNvPr id="155651" name="Espace réservé des commentaires 2"/>
          <p:cNvSpPr>
            <a:spLocks noGrp="1"/>
          </p:cNvSpPr>
          <p:nvPr>
            <p:ph type="body" idx="1"/>
          </p:nvPr>
        </p:nvSpPr>
        <p:spPr>
          <a:noFill/>
        </p:spPr>
        <p:txBody>
          <a:bodyPr/>
          <a:lstStyle/>
          <a:p>
            <a:endParaRPr lang="fr-CA" altLang="fr-FR" dirty="0"/>
          </a:p>
        </p:txBody>
      </p:sp>
      <p:sp>
        <p:nvSpPr>
          <p:cNvPr id="155652"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1CD81AB-CAA9-41F1-9EA5-B9CCFF1C66A5}" type="slidenum">
              <a:rPr lang="fr-CA" altLang="fr-FR" smtClean="0">
                <a:latin typeface="Times New Roman" panose="02020603050405020304" pitchFamily="18" charset="0"/>
              </a:rPr>
              <a:pPr>
                <a:spcBef>
                  <a:spcPct val="0"/>
                </a:spcBef>
              </a:pPr>
              <a:t>51</a:t>
            </a:fld>
            <a:endParaRPr lang="fr-CA" altLang="fr-FR">
              <a:latin typeface="Times New Roman" panose="02020603050405020304" pitchFamily="18" charset="0"/>
            </a:endParaRPr>
          </a:p>
        </p:txBody>
      </p:sp>
    </p:spTree>
    <p:extLst>
      <p:ext uri="{BB962C8B-B14F-4D97-AF65-F5344CB8AC3E}">
        <p14:creationId xmlns:p14="http://schemas.microsoft.com/office/powerpoint/2010/main" val="7672332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Espace réservé de l'image des diapositives 1"/>
          <p:cNvSpPr>
            <a:spLocks noGrp="1" noRot="1" noChangeAspect="1" noTextEdit="1"/>
          </p:cNvSpPr>
          <p:nvPr>
            <p:ph type="sldImg"/>
          </p:nvPr>
        </p:nvSpPr>
        <p:spPr>
          <a:ln/>
        </p:spPr>
      </p:sp>
      <p:sp>
        <p:nvSpPr>
          <p:cNvPr id="157699" name="Espace réservé des commentaires 2"/>
          <p:cNvSpPr>
            <a:spLocks noGrp="1"/>
          </p:cNvSpPr>
          <p:nvPr>
            <p:ph type="body" idx="1"/>
          </p:nvPr>
        </p:nvSpPr>
        <p:spPr>
          <a:noFill/>
        </p:spPr>
        <p:txBody>
          <a:bodyPr/>
          <a:lstStyle/>
          <a:p>
            <a:endParaRPr lang="fr-CA" altLang="fr-FR" dirty="0"/>
          </a:p>
        </p:txBody>
      </p:sp>
      <p:sp>
        <p:nvSpPr>
          <p:cNvPr id="157700"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D4C4EDB-4EB3-458D-AAA7-B9EBFDF2E0A6}" type="slidenum">
              <a:rPr lang="fr-CA" altLang="fr-FR" smtClean="0">
                <a:latin typeface="Times New Roman" panose="02020603050405020304" pitchFamily="18" charset="0"/>
              </a:rPr>
              <a:pPr>
                <a:spcBef>
                  <a:spcPct val="0"/>
                </a:spcBef>
              </a:pPr>
              <a:t>52</a:t>
            </a:fld>
            <a:endParaRPr lang="fr-CA" altLang="fr-FR">
              <a:latin typeface="Times New Roman" panose="02020603050405020304" pitchFamily="18" charset="0"/>
            </a:endParaRPr>
          </a:p>
        </p:txBody>
      </p:sp>
    </p:spTree>
    <p:extLst>
      <p:ext uri="{BB962C8B-B14F-4D97-AF65-F5344CB8AC3E}">
        <p14:creationId xmlns:p14="http://schemas.microsoft.com/office/powerpoint/2010/main" val="27035249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Espace réservé de l'image des diapositives 1"/>
          <p:cNvSpPr>
            <a:spLocks noGrp="1" noRot="1" noChangeAspect="1" noTextEdit="1"/>
          </p:cNvSpPr>
          <p:nvPr>
            <p:ph type="sldImg"/>
          </p:nvPr>
        </p:nvSpPr>
        <p:spPr>
          <a:ln/>
        </p:spPr>
      </p:sp>
      <p:sp>
        <p:nvSpPr>
          <p:cNvPr id="159747" name="Espace réservé des commentaires 2"/>
          <p:cNvSpPr>
            <a:spLocks noGrp="1"/>
          </p:cNvSpPr>
          <p:nvPr>
            <p:ph type="body" idx="1"/>
          </p:nvPr>
        </p:nvSpPr>
        <p:spPr>
          <a:xfrm>
            <a:off x="915194" y="4288160"/>
            <a:ext cx="5029200" cy="4183063"/>
          </a:xfrm>
          <a:noFill/>
        </p:spPr>
        <p:txBody>
          <a:bodyPr/>
          <a:lstStyle/>
          <a:p>
            <a:endParaRPr lang="fr-CA" altLang="fr-FR" dirty="0"/>
          </a:p>
        </p:txBody>
      </p:sp>
      <p:sp>
        <p:nvSpPr>
          <p:cNvPr id="159748" name="Espace réservé du numéro de diapositive 3"/>
          <p:cNvSpPr>
            <a:spLocks noGrp="1"/>
          </p:cNvSpPr>
          <p:nvPr>
            <p:ph type="sldNum" sz="quarter" idx="5"/>
          </p:nvPr>
        </p:nvSpPr>
        <p:spPr>
          <a:xfrm>
            <a:off x="3886992" y="8831264"/>
            <a:ext cx="2971009" cy="465137"/>
          </a:xfrm>
          <a:prstGeom prst="rect">
            <a:avLst/>
          </a:prstGeom>
          <a:noFill/>
        </p:spPr>
        <p:txBody>
          <a:bodyPr/>
          <a:lstStyle>
            <a:lvl1pPr>
              <a:spcBef>
                <a:spcPct val="30000"/>
              </a:spcBef>
              <a:defRPr sz="1200">
                <a:solidFill>
                  <a:schemeClr val="tx1"/>
                </a:solidFill>
                <a:latin typeface="Calibri" panose="020F0502020204030204" pitchFamily="34" charset="0"/>
              </a:defRPr>
            </a:lvl1pPr>
            <a:lvl2pPr marL="750888" indent="-287338">
              <a:spcBef>
                <a:spcPct val="30000"/>
              </a:spcBef>
              <a:defRPr sz="1200">
                <a:solidFill>
                  <a:schemeClr val="tx1"/>
                </a:solidFill>
                <a:latin typeface="Calibri" panose="020F0502020204030204" pitchFamily="34" charset="0"/>
              </a:defRPr>
            </a:lvl2pPr>
            <a:lvl3pPr marL="1154113" indent="-230188">
              <a:spcBef>
                <a:spcPct val="30000"/>
              </a:spcBef>
              <a:defRPr sz="1200">
                <a:solidFill>
                  <a:schemeClr val="tx1"/>
                </a:solidFill>
                <a:latin typeface="Calibri" panose="020F0502020204030204" pitchFamily="34" charset="0"/>
              </a:defRPr>
            </a:lvl3pPr>
            <a:lvl4pPr marL="1617663" indent="-230188">
              <a:spcBef>
                <a:spcPct val="30000"/>
              </a:spcBef>
              <a:defRPr sz="1200">
                <a:solidFill>
                  <a:schemeClr val="tx1"/>
                </a:solidFill>
                <a:latin typeface="Calibri" panose="020F0502020204030204" pitchFamily="34" charset="0"/>
              </a:defRPr>
            </a:lvl4pPr>
            <a:lvl5pPr marL="2079625" indent="-230188">
              <a:spcBef>
                <a:spcPct val="30000"/>
              </a:spcBef>
              <a:defRPr sz="1200">
                <a:solidFill>
                  <a:schemeClr val="tx1"/>
                </a:solidFill>
                <a:latin typeface="Calibri" panose="020F0502020204030204" pitchFamily="34" charset="0"/>
              </a:defRPr>
            </a:lvl5pPr>
            <a:lvl6pPr marL="2536825" indent="-230188" eaLnBrk="0" fontAlgn="base" hangingPunct="0">
              <a:spcBef>
                <a:spcPct val="30000"/>
              </a:spcBef>
              <a:spcAft>
                <a:spcPct val="0"/>
              </a:spcAft>
              <a:defRPr sz="1200">
                <a:solidFill>
                  <a:schemeClr val="tx1"/>
                </a:solidFill>
                <a:latin typeface="Calibri" panose="020F0502020204030204" pitchFamily="34" charset="0"/>
              </a:defRPr>
            </a:lvl6pPr>
            <a:lvl7pPr marL="2994025" indent="-230188" eaLnBrk="0" fontAlgn="base" hangingPunct="0">
              <a:spcBef>
                <a:spcPct val="30000"/>
              </a:spcBef>
              <a:spcAft>
                <a:spcPct val="0"/>
              </a:spcAft>
              <a:defRPr sz="1200">
                <a:solidFill>
                  <a:schemeClr val="tx1"/>
                </a:solidFill>
                <a:latin typeface="Calibri" panose="020F0502020204030204" pitchFamily="34" charset="0"/>
              </a:defRPr>
            </a:lvl7pPr>
            <a:lvl8pPr marL="3451225" indent="-230188" eaLnBrk="0" fontAlgn="base" hangingPunct="0">
              <a:spcBef>
                <a:spcPct val="30000"/>
              </a:spcBef>
              <a:spcAft>
                <a:spcPct val="0"/>
              </a:spcAft>
              <a:defRPr sz="1200">
                <a:solidFill>
                  <a:schemeClr val="tx1"/>
                </a:solidFill>
                <a:latin typeface="Calibri" panose="020F0502020204030204" pitchFamily="34" charset="0"/>
              </a:defRPr>
            </a:lvl8pPr>
            <a:lvl9pPr marL="3908425" indent="-2301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CD071B4-87C7-4FD3-A509-4B62C84118F6}" type="slidenum">
              <a:rPr lang="fr-CA" altLang="fr-FR" smtClean="0">
                <a:latin typeface="Times New Roman" panose="02020603050405020304" pitchFamily="18" charset="0"/>
              </a:rPr>
              <a:pPr>
                <a:spcBef>
                  <a:spcPct val="0"/>
                </a:spcBef>
              </a:pPr>
              <a:t>53</a:t>
            </a:fld>
            <a:endParaRPr lang="fr-CA" altLang="fr-FR">
              <a:latin typeface="Times New Roman" panose="02020603050405020304" pitchFamily="18" charset="0"/>
            </a:endParaRPr>
          </a:p>
        </p:txBody>
      </p:sp>
    </p:spTree>
    <p:extLst>
      <p:ext uri="{BB962C8B-B14F-4D97-AF65-F5344CB8AC3E}">
        <p14:creationId xmlns:p14="http://schemas.microsoft.com/office/powerpoint/2010/main" val="827530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3"/>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5" name="Rectangle 4"/>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6" name="Rectangle 5"/>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7" name="Rectangle 6"/>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0" name="Rectangle 9"/>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useBgFill="1">
        <p:nvSpPr>
          <p:cNvPr id="11" name="Rectangle à coins arrondis 10"/>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useBgFill="1">
        <p:nvSpPr>
          <p:cNvPr id="12" name="Rectangle à coins arrondis 11"/>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3" name="Rectangle 12"/>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4" name="Rectangle 13"/>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5" name="Rectangle 14"/>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6" name="Rectangle 15"/>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8" name="Titr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fr-FR"/>
              <a:t>Modifiez le style du titre</a:t>
            </a:r>
            <a:endParaRPr lang="en-US"/>
          </a:p>
        </p:txBody>
      </p:sp>
      <p:sp>
        <p:nvSpPr>
          <p:cNvPr id="9" name="Sous-titr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fr-FR"/>
              <a:t>Modifiez le style des sous-titres du masque</a:t>
            </a:r>
            <a:endParaRPr lang="en-US"/>
          </a:p>
        </p:txBody>
      </p:sp>
      <p:sp>
        <p:nvSpPr>
          <p:cNvPr id="17" name="Espace réservé de la date 27"/>
          <p:cNvSpPr>
            <a:spLocks noGrp="1"/>
          </p:cNvSpPr>
          <p:nvPr>
            <p:ph type="dt" sz="half" idx="10"/>
          </p:nvPr>
        </p:nvSpPr>
        <p:spPr>
          <a:xfrm>
            <a:off x="8016875" y="4217564"/>
            <a:ext cx="960438" cy="457200"/>
          </a:xfrm>
        </p:spPr>
        <p:txBody>
          <a:bodyPr/>
          <a:lstStyle>
            <a:lvl1pPr>
              <a:defRPr/>
            </a:lvl1pPr>
          </a:lstStyle>
          <a:p>
            <a:pPr>
              <a:defRPr/>
            </a:pPr>
            <a:fld id="{B4CFC865-0031-4BE0-9FAE-89CEFE6D34E9}" type="datetime1">
              <a:rPr lang="fr-CA" smtClean="0"/>
              <a:t>2022-02-10</a:t>
            </a:fld>
            <a:endParaRPr lang="fr-FR" dirty="0"/>
          </a:p>
        </p:txBody>
      </p:sp>
      <p:sp>
        <p:nvSpPr>
          <p:cNvPr id="18" name="Espace réservé du pied de page 16"/>
          <p:cNvSpPr>
            <a:spLocks noGrp="1"/>
          </p:cNvSpPr>
          <p:nvPr>
            <p:ph type="ftr" sz="quarter" idx="11"/>
          </p:nvPr>
        </p:nvSpPr>
        <p:spPr>
          <a:xfrm>
            <a:off x="5410200" y="4205288"/>
            <a:ext cx="2402160" cy="375840"/>
          </a:xfrm>
        </p:spPr>
        <p:txBody>
          <a:bodyPr/>
          <a:lstStyle>
            <a:lvl1pPr>
              <a:defRPr/>
            </a:lvl1pPr>
          </a:lstStyle>
          <a:p>
            <a:pPr>
              <a:defRPr/>
            </a:pPr>
            <a:r>
              <a:rPr lang="fr-CA" dirty="0"/>
              <a:t>© 2014,  Sylviane Beauregard, HEC Montréal</a:t>
            </a:r>
            <a:endParaRPr lang="fr-FR" dirty="0"/>
          </a:p>
        </p:txBody>
      </p:sp>
      <p:sp>
        <p:nvSpPr>
          <p:cNvPr id="19" name="Espace réservé du numéro de diapositive 28"/>
          <p:cNvSpPr>
            <a:spLocks noGrp="1"/>
          </p:cNvSpPr>
          <p:nvPr>
            <p:ph type="sldNum" sz="quarter" idx="12"/>
          </p:nvPr>
        </p:nvSpPr>
        <p:spPr>
          <a:xfrm>
            <a:off x="8320088" y="1588"/>
            <a:ext cx="747712" cy="365125"/>
          </a:xfrm>
        </p:spPr>
        <p:txBody>
          <a:bodyPr/>
          <a:lstStyle>
            <a:lvl1pPr>
              <a:defRPr>
                <a:solidFill>
                  <a:schemeClr val="bg1"/>
                </a:solidFill>
              </a:defRPr>
            </a:lvl1pPr>
          </a:lstStyle>
          <a:p>
            <a:pPr>
              <a:defRPr/>
            </a:pPr>
            <a:fld id="{D9449DFA-EB65-4246-8514-34B6B4E874A3}" type="slidenum">
              <a:rPr lang="fr-FR" altLang="fr-FR"/>
              <a:pPr>
                <a:defRPr/>
              </a:pPr>
              <a:t>‹N°›</a:t>
            </a:fld>
            <a:endParaRPr lang="fr-FR" altLang="fr-FR"/>
          </a:p>
        </p:txBody>
      </p:sp>
    </p:spTree>
    <p:extLst>
      <p:ext uri="{BB962C8B-B14F-4D97-AF65-F5344CB8AC3E}">
        <p14:creationId xmlns:p14="http://schemas.microsoft.com/office/powerpoint/2010/main" val="3468598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13"/>
          <p:cNvSpPr>
            <a:spLocks noGrp="1"/>
          </p:cNvSpPr>
          <p:nvPr>
            <p:ph type="dt" sz="half" idx="10"/>
          </p:nvPr>
        </p:nvSpPr>
        <p:spPr/>
        <p:txBody>
          <a:bodyPr/>
          <a:lstStyle>
            <a:lvl1pPr>
              <a:defRPr/>
            </a:lvl1pPr>
          </a:lstStyle>
          <a:p>
            <a:pPr>
              <a:defRPr/>
            </a:pPr>
            <a:fld id="{11124F1D-9F2E-440F-A55A-09FFD3D79987}" type="datetime1">
              <a:rPr lang="fr-CA" smtClean="0"/>
              <a:t>2022-02-10</a:t>
            </a:fld>
            <a:endParaRPr lang="fr-FR" dirty="0"/>
          </a:p>
        </p:txBody>
      </p:sp>
      <p:sp>
        <p:nvSpPr>
          <p:cNvPr id="5" name="Espace réservé du pied de page 2"/>
          <p:cNvSpPr>
            <a:spLocks noGrp="1"/>
          </p:cNvSpPr>
          <p:nvPr>
            <p:ph type="ftr" sz="quarter" idx="11"/>
          </p:nvPr>
        </p:nvSpPr>
        <p:spPr/>
        <p:txBody>
          <a:bodyPr/>
          <a:lstStyle>
            <a:lvl1pPr>
              <a:defRPr/>
            </a:lvl1pPr>
          </a:lstStyle>
          <a:p>
            <a:pPr>
              <a:defRPr/>
            </a:pPr>
            <a:r>
              <a:rPr lang="fr-CA"/>
              <a:t>© 2014,  Sylviane Beauregard, HEC Montréal</a:t>
            </a:r>
            <a:endParaRPr lang="fr-FR"/>
          </a:p>
        </p:txBody>
      </p:sp>
      <p:sp>
        <p:nvSpPr>
          <p:cNvPr id="6" name="Espace réservé du numéro de diapositive 22"/>
          <p:cNvSpPr>
            <a:spLocks noGrp="1"/>
          </p:cNvSpPr>
          <p:nvPr>
            <p:ph type="sldNum" sz="quarter" idx="12"/>
          </p:nvPr>
        </p:nvSpPr>
        <p:spPr/>
        <p:txBody>
          <a:bodyPr/>
          <a:lstStyle>
            <a:lvl1pPr>
              <a:defRPr/>
            </a:lvl1pPr>
          </a:lstStyle>
          <a:p>
            <a:pPr>
              <a:defRPr/>
            </a:pPr>
            <a:fld id="{C732213C-3817-4F02-8459-8E0ED3E32B0B}" type="slidenum">
              <a:rPr lang="fr-FR" altLang="fr-FR"/>
              <a:pPr>
                <a:defRPr/>
              </a:pPr>
              <a:t>‹N°›</a:t>
            </a:fld>
            <a:endParaRPr lang="fr-FR" altLang="fr-FR"/>
          </a:p>
        </p:txBody>
      </p:sp>
    </p:spTree>
    <p:extLst>
      <p:ext uri="{BB962C8B-B14F-4D97-AF65-F5344CB8AC3E}">
        <p14:creationId xmlns:p14="http://schemas.microsoft.com/office/powerpoint/2010/main" val="508641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fr-FR"/>
              <a:t>Modifiez le style du titre</a:t>
            </a:r>
            <a:endParaRPr lang="en-US"/>
          </a:p>
        </p:txBody>
      </p:sp>
      <p:sp>
        <p:nvSpPr>
          <p:cNvPr id="3" name="Espace réservé du texte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fr-FR"/>
              <a:t>Modifiez les styles du texte du masque</a:t>
            </a:r>
          </a:p>
        </p:txBody>
      </p:sp>
      <p:sp>
        <p:nvSpPr>
          <p:cNvPr id="4" name="Espace réservé de la date 13"/>
          <p:cNvSpPr>
            <a:spLocks noGrp="1"/>
          </p:cNvSpPr>
          <p:nvPr>
            <p:ph type="dt" sz="half" idx="10"/>
          </p:nvPr>
        </p:nvSpPr>
        <p:spPr/>
        <p:txBody>
          <a:bodyPr/>
          <a:lstStyle>
            <a:lvl1pPr>
              <a:defRPr/>
            </a:lvl1pPr>
          </a:lstStyle>
          <a:p>
            <a:pPr>
              <a:defRPr/>
            </a:pPr>
            <a:fld id="{4F218B13-3600-41CD-960D-0506EAA238E2}" type="datetime1">
              <a:rPr lang="fr-CA" smtClean="0"/>
              <a:t>2022-02-10</a:t>
            </a:fld>
            <a:endParaRPr lang="fr-FR" dirty="0"/>
          </a:p>
        </p:txBody>
      </p:sp>
      <p:sp>
        <p:nvSpPr>
          <p:cNvPr id="5" name="Espace réservé du pied de page 2"/>
          <p:cNvSpPr>
            <a:spLocks noGrp="1"/>
          </p:cNvSpPr>
          <p:nvPr>
            <p:ph type="ftr" sz="quarter" idx="11"/>
          </p:nvPr>
        </p:nvSpPr>
        <p:spPr/>
        <p:txBody>
          <a:bodyPr/>
          <a:lstStyle>
            <a:lvl1pPr>
              <a:defRPr/>
            </a:lvl1pPr>
          </a:lstStyle>
          <a:p>
            <a:pPr>
              <a:defRPr/>
            </a:pPr>
            <a:r>
              <a:rPr lang="fr-CA"/>
              <a:t>© 2014,  Sylviane Beauregard, HEC Montréal</a:t>
            </a:r>
            <a:endParaRPr lang="fr-FR"/>
          </a:p>
        </p:txBody>
      </p:sp>
      <p:sp>
        <p:nvSpPr>
          <p:cNvPr id="6" name="Espace réservé du numéro de diapositive 22"/>
          <p:cNvSpPr>
            <a:spLocks noGrp="1"/>
          </p:cNvSpPr>
          <p:nvPr>
            <p:ph type="sldNum" sz="quarter" idx="12"/>
          </p:nvPr>
        </p:nvSpPr>
        <p:spPr/>
        <p:txBody>
          <a:bodyPr/>
          <a:lstStyle>
            <a:lvl1pPr>
              <a:defRPr/>
            </a:lvl1pPr>
          </a:lstStyle>
          <a:p>
            <a:pPr>
              <a:defRPr/>
            </a:pPr>
            <a:fld id="{10DD59BF-93C8-47FF-8186-7799C24A949C}" type="slidenum">
              <a:rPr lang="fr-FR" altLang="fr-FR"/>
              <a:pPr>
                <a:defRPr/>
              </a:pPr>
              <a:t>‹N°›</a:t>
            </a:fld>
            <a:endParaRPr lang="fr-FR" altLang="fr-FR"/>
          </a:p>
        </p:txBody>
      </p:sp>
    </p:spTree>
    <p:extLst>
      <p:ext uri="{BB962C8B-B14F-4D97-AF65-F5344CB8AC3E}">
        <p14:creationId xmlns:p14="http://schemas.microsoft.com/office/powerpoint/2010/main" val="4256478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13"/>
          <p:cNvSpPr>
            <a:spLocks noGrp="1"/>
          </p:cNvSpPr>
          <p:nvPr>
            <p:ph type="dt" sz="half" idx="10"/>
          </p:nvPr>
        </p:nvSpPr>
        <p:spPr/>
        <p:txBody>
          <a:bodyPr/>
          <a:lstStyle>
            <a:lvl1pPr>
              <a:defRPr/>
            </a:lvl1pPr>
          </a:lstStyle>
          <a:p>
            <a:pPr>
              <a:defRPr/>
            </a:pPr>
            <a:fld id="{70E3F422-363E-421C-8A5C-4FF8DA74816A}" type="datetime1">
              <a:rPr lang="fr-CA" smtClean="0"/>
              <a:t>2022-02-10</a:t>
            </a:fld>
            <a:endParaRPr lang="fr-FR" dirty="0"/>
          </a:p>
        </p:txBody>
      </p:sp>
      <p:sp>
        <p:nvSpPr>
          <p:cNvPr id="6" name="Espace réservé du pied de page 2"/>
          <p:cNvSpPr>
            <a:spLocks noGrp="1"/>
          </p:cNvSpPr>
          <p:nvPr>
            <p:ph type="ftr" sz="quarter" idx="11"/>
          </p:nvPr>
        </p:nvSpPr>
        <p:spPr/>
        <p:txBody>
          <a:bodyPr/>
          <a:lstStyle>
            <a:lvl1pPr>
              <a:defRPr/>
            </a:lvl1pPr>
          </a:lstStyle>
          <a:p>
            <a:pPr>
              <a:defRPr/>
            </a:pPr>
            <a:r>
              <a:rPr lang="fr-CA"/>
              <a:t>© 2014,  Sylviane Beauregard, HEC Montréal</a:t>
            </a:r>
            <a:endParaRPr lang="fr-FR"/>
          </a:p>
        </p:txBody>
      </p:sp>
      <p:sp>
        <p:nvSpPr>
          <p:cNvPr id="7" name="Espace réservé du numéro de diapositive 22"/>
          <p:cNvSpPr>
            <a:spLocks noGrp="1"/>
          </p:cNvSpPr>
          <p:nvPr>
            <p:ph type="sldNum" sz="quarter" idx="12"/>
          </p:nvPr>
        </p:nvSpPr>
        <p:spPr/>
        <p:txBody>
          <a:bodyPr/>
          <a:lstStyle>
            <a:lvl1pPr>
              <a:defRPr/>
            </a:lvl1pPr>
          </a:lstStyle>
          <a:p>
            <a:pPr>
              <a:defRPr/>
            </a:pPr>
            <a:fld id="{12E8A76D-C7EB-4F7F-BD6B-38CCE20F7F9B}" type="slidenum">
              <a:rPr lang="fr-FR" altLang="fr-FR"/>
              <a:pPr>
                <a:defRPr/>
              </a:pPr>
              <a:t>‹N°›</a:t>
            </a:fld>
            <a:endParaRPr lang="fr-FR" altLang="fr-FR"/>
          </a:p>
        </p:txBody>
      </p:sp>
    </p:spTree>
    <p:extLst>
      <p:ext uri="{BB962C8B-B14F-4D97-AF65-F5344CB8AC3E}">
        <p14:creationId xmlns:p14="http://schemas.microsoft.com/office/powerpoint/2010/main" val="199690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539552" y="1412776"/>
            <a:ext cx="8229600" cy="1069848"/>
          </a:xfrm>
        </p:spPr>
        <p:txBody>
          <a:bodyPr/>
          <a:lstStyle>
            <a:lvl1pPr>
              <a:defRPr sz="4000">
                <a:solidFill>
                  <a:schemeClr val="tx2"/>
                </a:solidFill>
              </a:defRPr>
            </a:lvl1pPr>
          </a:lstStyle>
          <a:p>
            <a:r>
              <a:rPr lang="fr-FR"/>
              <a:t>Modifiez le style du titre</a:t>
            </a:r>
            <a:endParaRPr lang="en-US"/>
          </a:p>
        </p:txBody>
      </p:sp>
      <p:sp>
        <p:nvSpPr>
          <p:cNvPr id="3" name="Espace réservé de la date 2"/>
          <p:cNvSpPr>
            <a:spLocks noGrp="1"/>
          </p:cNvSpPr>
          <p:nvPr>
            <p:ph type="dt" sz="half" idx="10"/>
          </p:nvPr>
        </p:nvSpPr>
        <p:spPr>
          <a:xfrm>
            <a:off x="8211747" y="688975"/>
            <a:ext cx="957262" cy="457200"/>
          </a:xfrm>
        </p:spPr>
        <p:txBody>
          <a:bodyPr/>
          <a:lstStyle>
            <a:lvl1pPr>
              <a:defRPr/>
            </a:lvl1pPr>
          </a:lstStyle>
          <a:p>
            <a:pPr>
              <a:defRPr/>
            </a:pPr>
            <a:fld id="{4ED99B16-E32A-4B50-A96C-890E9449B47E}" type="datetime1">
              <a:rPr lang="fr-CA" smtClean="0"/>
              <a:t>2022-02-10</a:t>
            </a:fld>
            <a:endParaRPr lang="fr-FR" dirty="0"/>
          </a:p>
        </p:txBody>
      </p:sp>
      <p:sp>
        <p:nvSpPr>
          <p:cNvPr id="4" name="Espace réservé du pied de page 3"/>
          <p:cNvSpPr>
            <a:spLocks noGrp="1"/>
          </p:cNvSpPr>
          <p:nvPr>
            <p:ph type="ftr" sz="quarter" idx="11"/>
          </p:nvPr>
        </p:nvSpPr>
        <p:spPr/>
        <p:txBody>
          <a:bodyPr/>
          <a:lstStyle>
            <a:lvl1pPr>
              <a:defRPr/>
            </a:lvl1pPr>
          </a:lstStyle>
          <a:p>
            <a:pPr>
              <a:defRPr/>
            </a:pPr>
            <a:r>
              <a:rPr lang="fr-CA"/>
              <a:t>© 2014,  Sylviane Beauregard, HEC Montréal</a:t>
            </a:r>
            <a:endParaRPr lang="fr-FR"/>
          </a:p>
        </p:txBody>
      </p:sp>
      <p:sp>
        <p:nvSpPr>
          <p:cNvPr id="5" name="Espace réservé du numéro de diapositive 4"/>
          <p:cNvSpPr>
            <a:spLocks noGrp="1"/>
          </p:cNvSpPr>
          <p:nvPr>
            <p:ph type="sldNum" sz="quarter" idx="12"/>
          </p:nvPr>
        </p:nvSpPr>
        <p:spPr/>
        <p:txBody>
          <a:bodyPr/>
          <a:lstStyle>
            <a:lvl1pPr>
              <a:defRPr/>
            </a:lvl1pPr>
          </a:lstStyle>
          <a:p>
            <a:pPr>
              <a:defRPr/>
            </a:pPr>
            <a:fld id="{98BAEDBC-1B17-46C7-807B-60961D44CA21}" type="slidenum">
              <a:rPr lang="fr-FR" altLang="fr-FR"/>
              <a:pPr>
                <a:defRPr/>
              </a:pPr>
              <a:t>‹N°›</a:t>
            </a:fld>
            <a:endParaRPr lang="fr-FR" altLang="fr-FR"/>
          </a:p>
        </p:txBody>
      </p:sp>
    </p:spTree>
    <p:extLst>
      <p:ext uri="{BB962C8B-B14F-4D97-AF65-F5344CB8AC3E}">
        <p14:creationId xmlns:p14="http://schemas.microsoft.com/office/powerpoint/2010/main" val="2559630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3"/>
          <p:cNvSpPr>
            <a:spLocks noGrp="1"/>
          </p:cNvSpPr>
          <p:nvPr>
            <p:ph type="dt" sz="half" idx="10"/>
          </p:nvPr>
        </p:nvSpPr>
        <p:spPr/>
        <p:txBody>
          <a:bodyPr/>
          <a:lstStyle>
            <a:lvl1pPr>
              <a:defRPr/>
            </a:lvl1pPr>
          </a:lstStyle>
          <a:p>
            <a:pPr>
              <a:defRPr/>
            </a:pPr>
            <a:fld id="{DFE9806D-1538-4DCA-A114-AB7463087A9C}" type="datetime1">
              <a:rPr lang="fr-CA" smtClean="0"/>
              <a:t>2022-02-10</a:t>
            </a:fld>
            <a:endParaRPr lang="fr-FR" dirty="0"/>
          </a:p>
        </p:txBody>
      </p:sp>
      <p:sp>
        <p:nvSpPr>
          <p:cNvPr id="3" name="Espace réservé du pied de page 2"/>
          <p:cNvSpPr>
            <a:spLocks noGrp="1"/>
          </p:cNvSpPr>
          <p:nvPr>
            <p:ph type="ftr" sz="quarter" idx="11"/>
          </p:nvPr>
        </p:nvSpPr>
        <p:spPr/>
        <p:txBody>
          <a:bodyPr/>
          <a:lstStyle>
            <a:lvl1pPr>
              <a:defRPr/>
            </a:lvl1pPr>
          </a:lstStyle>
          <a:p>
            <a:pPr>
              <a:defRPr/>
            </a:pPr>
            <a:r>
              <a:rPr lang="fr-CA"/>
              <a:t>© 2014,  Sylviane Beauregard, HEC Montréal</a:t>
            </a:r>
            <a:endParaRPr lang="fr-FR"/>
          </a:p>
        </p:txBody>
      </p:sp>
      <p:sp>
        <p:nvSpPr>
          <p:cNvPr id="4" name="Espace réservé du numéro de diapositive 22"/>
          <p:cNvSpPr>
            <a:spLocks noGrp="1"/>
          </p:cNvSpPr>
          <p:nvPr>
            <p:ph type="sldNum" sz="quarter" idx="12"/>
          </p:nvPr>
        </p:nvSpPr>
        <p:spPr/>
        <p:txBody>
          <a:bodyPr/>
          <a:lstStyle>
            <a:lvl1pPr>
              <a:defRPr/>
            </a:lvl1pPr>
          </a:lstStyle>
          <a:p>
            <a:pPr>
              <a:defRPr/>
            </a:pPr>
            <a:fld id="{4E10578E-814A-40F4-BED7-B9FB156FB555}" type="slidenum">
              <a:rPr lang="fr-FR" altLang="fr-FR"/>
              <a:pPr>
                <a:defRPr/>
              </a:pPr>
              <a:t>‹N°›</a:t>
            </a:fld>
            <a:endParaRPr lang="fr-FR" altLang="fr-FR"/>
          </a:p>
        </p:txBody>
      </p:sp>
    </p:spTree>
    <p:extLst>
      <p:ext uri="{BB962C8B-B14F-4D97-AF65-F5344CB8AC3E}">
        <p14:creationId xmlns:p14="http://schemas.microsoft.com/office/powerpoint/2010/main" val="908163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353496" y="1101970"/>
            <a:ext cx="3383280" cy="877824"/>
          </a:xfrm>
        </p:spPr>
        <p:txBody>
          <a:bodyPr anchor="b"/>
          <a:lstStyle>
            <a:lvl1pPr algn="l">
              <a:buNone/>
              <a:defRPr sz="1800" b="1"/>
            </a:lvl1pPr>
          </a:lstStyle>
          <a:p>
            <a:r>
              <a:rPr lang="fr-FR"/>
              <a:t>Modifiez le style du titre</a:t>
            </a:r>
            <a:endParaRPr lang="en-US"/>
          </a:p>
        </p:txBody>
      </p:sp>
      <p:sp>
        <p:nvSpPr>
          <p:cNvPr id="3" name="Espace réservé du texte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fr-FR"/>
              <a:t>Modifiez les styles du texte du masque</a:t>
            </a:r>
          </a:p>
        </p:txBody>
      </p:sp>
      <p:sp>
        <p:nvSpPr>
          <p:cNvPr id="4" name="Espace réservé du contenu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13"/>
          <p:cNvSpPr>
            <a:spLocks noGrp="1"/>
          </p:cNvSpPr>
          <p:nvPr>
            <p:ph type="dt" sz="half" idx="10"/>
          </p:nvPr>
        </p:nvSpPr>
        <p:spPr/>
        <p:txBody>
          <a:bodyPr/>
          <a:lstStyle>
            <a:lvl1pPr>
              <a:defRPr/>
            </a:lvl1pPr>
          </a:lstStyle>
          <a:p>
            <a:pPr>
              <a:defRPr/>
            </a:pPr>
            <a:fld id="{6F202973-E0E0-4C8F-A390-C542EC4AFB7C}" type="datetime1">
              <a:rPr lang="fr-CA" smtClean="0"/>
              <a:t>2022-02-10</a:t>
            </a:fld>
            <a:endParaRPr lang="fr-FR" dirty="0"/>
          </a:p>
        </p:txBody>
      </p:sp>
      <p:sp>
        <p:nvSpPr>
          <p:cNvPr id="6" name="Espace réservé du pied de page 2"/>
          <p:cNvSpPr>
            <a:spLocks noGrp="1"/>
          </p:cNvSpPr>
          <p:nvPr>
            <p:ph type="ftr" sz="quarter" idx="11"/>
          </p:nvPr>
        </p:nvSpPr>
        <p:spPr/>
        <p:txBody>
          <a:bodyPr/>
          <a:lstStyle>
            <a:lvl1pPr>
              <a:defRPr/>
            </a:lvl1pPr>
          </a:lstStyle>
          <a:p>
            <a:pPr>
              <a:defRPr/>
            </a:pPr>
            <a:r>
              <a:rPr lang="fr-CA"/>
              <a:t>© 2014,  Sylviane Beauregard, HEC Montréal</a:t>
            </a:r>
            <a:endParaRPr lang="fr-FR"/>
          </a:p>
        </p:txBody>
      </p:sp>
      <p:sp>
        <p:nvSpPr>
          <p:cNvPr id="7" name="Espace réservé du numéro de diapositive 22"/>
          <p:cNvSpPr>
            <a:spLocks noGrp="1"/>
          </p:cNvSpPr>
          <p:nvPr>
            <p:ph type="sldNum" sz="quarter" idx="12"/>
          </p:nvPr>
        </p:nvSpPr>
        <p:spPr/>
        <p:txBody>
          <a:bodyPr/>
          <a:lstStyle>
            <a:lvl1pPr>
              <a:defRPr/>
            </a:lvl1pPr>
          </a:lstStyle>
          <a:p>
            <a:pPr>
              <a:defRPr/>
            </a:pPr>
            <a:fld id="{A847A38E-C33C-461B-9811-BF1AB7F83E43}" type="slidenum">
              <a:rPr lang="fr-FR" altLang="fr-FR"/>
              <a:pPr>
                <a:defRPr/>
              </a:pPr>
              <a:t>‹N°›</a:t>
            </a:fld>
            <a:endParaRPr lang="fr-FR" altLang="fr-FR"/>
          </a:p>
        </p:txBody>
      </p:sp>
    </p:spTree>
    <p:extLst>
      <p:ext uri="{BB962C8B-B14F-4D97-AF65-F5344CB8AC3E}">
        <p14:creationId xmlns:p14="http://schemas.microsoft.com/office/powerpoint/2010/main" val="1786681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fr-FR"/>
              <a:t>Modifiez le style du titre</a:t>
            </a:r>
            <a:endParaRPr lang="en-US"/>
          </a:p>
        </p:txBody>
      </p:sp>
      <p:sp>
        <p:nvSpPr>
          <p:cNvPr id="3" name="Espace réservé pour une image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fr-FR" noProof="0" dirty="0"/>
              <a:t>Cliquez sur l'icône pour ajouter une image</a:t>
            </a:r>
            <a:endParaRPr lang="en-US" noProof="0" dirty="0"/>
          </a:p>
        </p:txBody>
      </p:sp>
      <p:sp>
        <p:nvSpPr>
          <p:cNvPr id="4" name="Espace réservé du texte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fr-FR"/>
              <a:t>Modifiez les styles du texte du masque</a:t>
            </a:r>
          </a:p>
        </p:txBody>
      </p:sp>
      <p:sp>
        <p:nvSpPr>
          <p:cNvPr id="5" name="Espace réservé de la date 13"/>
          <p:cNvSpPr>
            <a:spLocks noGrp="1"/>
          </p:cNvSpPr>
          <p:nvPr>
            <p:ph type="dt" sz="half" idx="10"/>
          </p:nvPr>
        </p:nvSpPr>
        <p:spPr/>
        <p:txBody>
          <a:bodyPr/>
          <a:lstStyle>
            <a:lvl1pPr>
              <a:defRPr/>
            </a:lvl1pPr>
          </a:lstStyle>
          <a:p>
            <a:pPr>
              <a:defRPr/>
            </a:pPr>
            <a:fld id="{B3F30F28-6103-4517-B10C-91DA0E041371}" type="datetime1">
              <a:rPr lang="fr-CA" smtClean="0"/>
              <a:t>2022-02-10</a:t>
            </a:fld>
            <a:endParaRPr lang="fr-FR" dirty="0"/>
          </a:p>
        </p:txBody>
      </p:sp>
      <p:sp>
        <p:nvSpPr>
          <p:cNvPr id="6" name="Espace réservé du pied de page 2"/>
          <p:cNvSpPr>
            <a:spLocks noGrp="1"/>
          </p:cNvSpPr>
          <p:nvPr>
            <p:ph type="ftr" sz="quarter" idx="11"/>
          </p:nvPr>
        </p:nvSpPr>
        <p:spPr/>
        <p:txBody>
          <a:bodyPr/>
          <a:lstStyle>
            <a:lvl1pPr>
              <a:defRPr/>
            </a:lvl1pPr>
          </a:lstStyle>
          <a:p>
            <a:pPr>
              <a:defRPr/>
            </a:pPr>
            <a:r>
              <a:rPr lang="fr-CA"/>
              <a:t>© 2014,  Sylviane Beauregard, HEC Montréal</a:t>
            </a:r>
            <a:endParaRPr lang="fr-FR"/>
          </a:p>
        </p:txBody>
      </p:sp>
      <p:sp>
        <p:nvSpPr>
          <p:cNvPr id="7" name="Espace réservé du numéro de diapositive 22"/>
          <p:cNvSpPr>
            <a:spLocks noGrp="1"/>
          </p:cNvSpPr>
          <p:nvPr>
            <p:ph type="sldNum" sz="quarter" idx="12"/>
          </p:nvPr>
        </p:nvSpPr>
        <p:spPr/>
        <p:txBody>
          <a:bodyPr/>
          <a:lstStyle>
            <a:lvl1pPr>
              <a:defRPr/>
            </a:lvl1pPr>
          </a:lstStyle>
          <a:p>
            <a:pPr>
              <a:defRPr/>
            </a:pPr>
            <a:fld id="{5249E352-D0B1-4BD6-9D97-B08624D5C7AF}" type="slidenum">
              <a:rPr lang="fr-FR" altLang="fr-FR"/>
              <a:pPr>
                <a:defRPr/>
              </a:pPr>
              <a:t>‹N°›</a:t>
            </a:fld>
            <a:endParaRPr lang="fr-FR" altLang="fr-FR"/>
          </a:p>
        </p:txBody>
      </p:sp>
    </p:spTree>
    <p:extLst>
      <p:ext uri="{BB962C8B-B14F-4D97-AF65-F5344CB8AC3E}">
        <p14:creationId xmlns:p14="http://schemas.microsoft.com/office/powerpoint/2010/main" val="368722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13"/>
          <p:cNvSpPr>
            <a:spLocks noGrp="1"/>
          </p:cNvSpPr>
          <p:nvPr>
            <p:ph type="dt" sz="half" idx="10"/>
          </p:nvPr>
        </p:nvSpPr>
        <p:spPr/>
        <p:txBody>
          <a:bodyPr/>
          <a:lstStyle>
            <a:lvl1pPr>
              <a:defRPr/>
            </a:lvl1pPr>
          </a:lstStyle>
          <a:p>
            <a:pPr>
              <a:defRPr/>
            </a:pPr>
            <a:fld id="{7543C1AA-7306-42C0-8A5C-AE5AE3BE7651}" type="datetime1">
              <a:rPr lang="fr-CA" smtClean="0"/>
              <a:t>2022-02-10</a:t>
            </a:fld>
            <a:endParaRPr lang="fr-FR" dirty="0"/>
          </a:p>
        </p:txBody>
      </p:sp>
      <p:sp>
        <p:nvSpPr>
          <p:cNvPr id="5" name="Espace réservé du pied de page 2"/>
          <p:cNvSpPr>
            <a:spLocks noGrp="1"/>
          </p:cNvSpPr>
          <p:nvPr>
            <p:ph type="ftr" sz="quarter" idx="11"/>
          </p:nvPr>
        </p:nvSpPr>
        <p:spPr/>
        <p:txBody>
          <a:bodyPr/>
          <a:lstStyle>
            <a:lvl1pPr>
              <a:defRPr/>
            </a:lvl1pPr>
          </a:lstStyle>
          <a:p>
            <a:pPr>
              <a:defRPr/>
            </a:pPr>
            <a:r>
              <a:rPr lang="fr-CA"/>
              <a:t>© 2014,  Sylviane Beauregard, HEC Montréal</a:t>
            </a:r>
            <a:endParaRPr lang="fr-FR"/>
          </a:p>
        </p:txBody>
      </p:sp>
      <p:sp>
        <p:nvSpPr>
          <p:cNvPr id="6" name="Espace réservé du numéro de diapositive 22"/>
          <p:cNvSpPr>
            <a:spLocks noGrp="1"/>
          </p:cNvSpPr>
          <p:nvPr>
            <p:ph type="sldNum" sz="quarter" idx="12"/>
          </p:nvPr>
        </p:nvSpPr>
        <p:spPr/>
        <p:txBody>
          <a:bodyPr/>
          <a:lstStyle>
            <a:lvl1pPr>
              <a:defRPr/>
            </a:lvl1pPr>
          </a:lstStyle>
          <a:p>
            <a:pPr>
              <a:defRPr/>
            </a:pPr>
            <a:fld id="{57A286C2-94D7-4432-9A72-B60325B2AFC1}" type="slidenum">
              <a:rPr lang="fr-FR" altLang="fr-FR"/>
              <a:pPr>
                <a:defRPr/>
              </a:pPr>
              <a:t>‹N°›</a:t>
            </a:fld>
            <a:endParaRPr lang="fr-FR" altLang="fr-FR"/>
          </a:p>
        </p:txBody>
      </p:sp>
    </p:spTree>
    <p:extLst>
      <p:ext uri="{BB962C8B-B14F-4D97-AF65-F5344CB8AC3E}">
        <p14:creationId xmlns:p14="http://schemas.microsoft.com/office/powerpoint/2010/main" val="3725546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81800" y="1143000"/>
            <a:ext cx="1905000" cy="5486400"/>
          </a:xfrm>
        </p:spPr>
        <p:txBody>
          <a:bodyPr vert="eaVert"/>
          <a:lstStyle/>
          <a:p>
            <a:r>
              <a:rPr lang="fr-FR"/>
              <a:t>Modifiez le style du titre</a:t>
            </a:r>
            <a:endParaRPr lang="en-US"/>
          </a:p>
        </p:txBody>
      </p:sp>
      <p:sp>
        <p:nvSpPr>
          <p:cNvPr id="3" name="Espace réservé du texte vertical 2"/>
          <p:cNvSpPr>
            <a:spLocks noGrp="1"/>
          </p:cNvSpPr>
          <p:nvPr>
            <p:ph type="body" orient="vert" idx="1"/>
          </p:nvPr>
        </p:nvSpPr>
        <p:spPr>
          <a:xfrm>
            <a:off x="457200" y="1143000"/>
            <a:ext cx="6248400" cy="54864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13"/>
          <p:cNvSpPr>
            <a:spLocks noGrp="1"/>
          </p:cNvSpPr>
          <p:nvPr>
            <p:ph type="dt" sz="half" idx="10"/>
          </p:nvPr>
        </p:nvSpPr>
        <p:spPr/>
        <p:txBody>
          <a:bodyPr/>
          <a:lstStyle>
            <a:lvl1pPr>
              <a:defRPr/>
            </a:lvl1pPr>
          </a:lstStyle>
          <a:p>
            <a:pPr>
              <a:defRPr/>
            </a:pPr>
            <a:fld id="{EA14CEF8-0E24-40CB-BB52-662A6351F4A1}" type="datetime1">
              <a:rPr lang="fr-CA" smtClean="0"/>
              <a:t>2022-02-10</a:t>
            </a:fld>
            <a:endParaRPr lang="fr-FR" dirty="0"/>
          </a:p>
        </p:txBody>
      </p:sp>
      <p:sp>
        <p:nvSpPr>
          <p:cNvPr id="5" name="Espace réservé du pied de page 2"/>
          <p:cNvSpPr>
            <a:spLocks noGrp="1"/>
          </p:cNvSpPr>
          <p:nvPr>
            <p:ph type="ftr" sz="quarter" idx="11"/>
          </p:nvPr>
        </p:nvSpPr>
        <p:spPr/>
        <p:txBody>
          <a:bodyPr/>
          <a:lstStyle>
            <a:lvl1pPr>
              <a:defRPr/>
            </a:lvl1pPr>
          </a:lstStyle>
          <a:p>
            <a:pPr>
              <a:defRPr/>
            </a:pPr>
            <a:r>
              <a:rPr lang="fr-CA"/>
              <a:t>© 2014,  Sylviane Beauregard, HEC Montréal</a:t>
            </a:r>
            <a:endParaRPr lang="fr-FR"/>
          </a:p>
        </p:txBody>
      </p:sp>
      <p:sp>
        <p:nvSpPr>
          <p:cNvPr id="6" name="Espace réservé du numéro de diapositive 22"/>
          <p:cNvSpPr>
            <a:spLocks noGrp="1"/>
          </p:cNvSpPr>
          <p:nvPr>
            <p:ph type="sldNum" sz="quarter" idx="12"/>
          </p:nvPr>
        </p:nvSpPr>
        <p:spPr/>
        <p:txBody>
          <a:bodyPr/>
          <a:lstStyle>
            <a:lvl1pPr>
              <a:defRPr/>
            </a:lvl1pPr>
          </a:lstStyle>
          <a:p>
            <a:pPr>
              <a:defRPr/>
            </a:pPr>
            <a:fld id="{8C4C93B3-77F7-4B4E-825D-071A7769E3B6}" type="slidenum">
              <a:rPr lang="fr-FR" altLang="fr-FR"/>
              <a:pPr>
                <a:defRPr/>
              </a:pPr>
              <a:t>‹N°›</a:t>
            </a:fld>
            <a:endParaRPr lang="fr-FR" altLang="fr-FR"/>
          </a:p>
        </p:txBody>
      </p:sp>
    </p:spTree>
    <p:extLst>
      <p:ext uri="{BB962C8B-B14F-4D97-AF65-F5344CB8AC3E}">
        <p14:creationId xmlns:p14="http://schemas.microsoft.com/office/powerpoint/2010/main" val="2189655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9" name="Rectangle 28"/>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30" name="Rectangle 29"/>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31" name="Rectangle 30"/>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32" name="Rectangle 31"/>
          <p:cNvSpPr/>
          <p:nvPr/>
        </p:nvSpPr>
        <p:spPr>
          <a:xfrm flipV="1">
            <a:off x="5309623" y="42866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useBgFill="1">
        <p:nvSpPr>
          <p:cNvPr id="33" name="Rectangle à coins arrondis 32"/>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useBgFill="1">
        <p:nvSpPr>
          <p:cNvPr id="34" name="Rectangle à coins arrondis 33"/>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35" name="Rectangle 34"/>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36" name="Rectangle 35"/>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37" name="Rectangle 36"/>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38" name="Rectangle 37"/>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39" name="Rectangle 38"/>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40" name="Rectangle 39"/>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039" name="Espace réservé du titre 21"/>
          <p:cNvSpPr>
            <a:spLocks noGrp="1"/>
          </p:cNvSpPr>
          <p:nvPr>
            <p:ph type="title"/>
          </p:nvPr>
        </p:nvSpPr>
        <p:spPr bwMode="auto">
          <a:xfrm>
            <a:off x="457200" y="12319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Modifiez le style du titre</a:t>
            </a:r>
            <a:endParaRPr lang="en-US" altLang="fr-FR"/>
          </a:p>
        </p:txBody>
      </p:sp>
      <p:sp>
        <p:nvSpPr>
          <p:cNvPr id="1040" name="Espace réservé du texte 12"/>
          <p:cNvSpPr>
            <a:spLocks noGrp="1"/>
          </p:cNvSpPr>
          <p:nvPr>
            <p:ph type="body" idx="1"/>
          </p:nvPr>
        </p:nvSpPr>
        <p:spPr bwMode="auto">
          <a:xfrm>
            <a:off x="457200" y="2249488"/>
            <a:ext cx="8229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Modifiez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en-US" altLang="fr-FR"/>
          </a:p>
        </p:txBody>
      </p:sp>
      <p:sp>
        <p:nvSpPr>
          <p:cNvPr id="14" name="Espace réservé de la date 13"/>
          <p:cNvSpPr>
            <a:spLocks noGrp="1"/>
          </p:cNvSpPr>
          <p:nvPr>
            <p:ph type="dt" sz="half" idx="2"/>
          </p:nvPr>
        </p:nvSpPr>
        <p:spPr>
          <a:xfrm>
            <a:off x="8114345" y="651669"/>
            <a:ext cx="957262" cy="457200"/>
          </a:xfrm>
          <a:prstGeom prst="rect">
            <a:avLst/>
          </a:prstGeom>
        </p:spPr>
        <p:txBody>
          <a:bodyPr vert="horz"/>
          <a:lstStyle>
            <a:lvl1pPr algn="l" eaLnBrk="1" latinLnBrk="0" hangingPunct="1">
              <a:defRPr kumimoji="0" sz="800">
                <a:solidFill>
                  <a:schemeClr val="accent2"/>
                </a:solidFill>
              </a:defRPr>
            </a:lvl1pPr>
          </a:lstStyle>
          <a:p>
            <a:pPr>
              <a:defRPr/>
            </a:pPr>
            <a:fld id="{BF17BB18-12E7-4B12-8D49-99453BF8509F}" type="datetime1">
              <a:rPr lang="fr-CA" smtClean="0"/>
              <a:t>2022-02-10</a:t>
            </a:fld>
            <a:endParaRPr lang="fr-FR" dirty="0"/>
          </a:p>
        </p:txBody>
      </p:sp>
      <p:sp>
        <p:nvSpPr>
          <p:cNvPr id="3" name="Espace réservé du pied de page 2"/>
          <p:cNvSpPr>
            <a:spLocks noGrp="1"/>
          </p:cNvSpPr>
          <p:nvPr>
            <p:ph type="ftr" sz="quarter" idx="3"/>
          </p:nvPr>
        </p:nvSpPr>
        <p:spPr>
          <a:xfrm>
            <a:off x="4860032" y="612775"/>
            <a:ext cx="3232088" cy="304800"/>
          </a:xfrm>
          <a:prstGeom prst="rect">
            <a:avLst/>
          </a:prstGeom>
        </p:spPr>
        <p:txBody>
          <a:bodyPr vert="horz"/>
          <a:lstStyle>
            <a:lvl1pPr algn="r" eaLnBrk="1" latinLnBrk="0" hangingPunct="1">
              <a:defRPr kumimoji="0" sz="800">
                <a:solidFill>
                  <a:schemeClr val="accent2"/>
                </a:solidFill>
              </a:defRPr>
            </a:lvl1pPr>
          </a:lstStyle>
          <a:p>
            <a:pPr>
              <a:defRPr/>
            </a:pPr>
            <a:r>
              <a:rPr lang="fr-CA" dirty="0"/>
              <a:t>© 2014,  Sylviane Beauregard, HEC Montréal</a:t>
            </a:r>
            <a:endParaRPr lang="fr-FR" dirty="0"/>
          </a:p>
        </p:txBody>
      </p:sp>
      <p:sp>
        <p:nvSpPr>
          <p:cNvPr id="23" name="Espace réservé du numéro de diapositive 22"/>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800">
                <a:solidFill>
                  <a:srgbClr val="FFFFFF"/>
                </a:solidFill>
              </a:defRPr>
            </a:lvl1pPr>
          </a:lstStyle>
          <a:p>
            <a:pPr>
              <a:defRPr/>
            </a:pPr>
            <a:fld id="{77F95E61-E561-4D05-B055-6F8727EACF48}" type="slidenum">
              <a:rPr lang="fr-FR" altLang="fr-FR"/>
              <a:pPr>
                <a:defRPr/>
              </a:pPr>
              <a:t>‹N°›</a:t>
            </a:fld>
            <a:endParaRPr lang="fr-FR" altLang="fr-FR"/>
          </a:p>
        </p:txBody>
      </p:sp>
    </p:spTree>
  </p:cSld>
  <p:clrMap bg1="lt1" tx1="dk1" bg2="lt2" tx2="dk2" accent1="accent1" accent2="accent2" accent3="accent3" accent4="accent4" accent5="accent5" accent6="accent6" hlink="hlink" folHlink="folHlink"/>
  <p:sldLayoutIdLst>
    <p:sldLayoutId id="2147484013" r:id="rId1"/>
    <p:sldLayoutId id="2147484005" r:id="rId2"/>
    <p:sldLayoutId id="2147484006" r:id="rId3"/>
    <p:sldLayoutId id="2147484007" r:id="rId4"/>
    <p:sldLayoutId id="2147484014" r:id="rId5"/>
    <p:sldLayoutId id="2147484008" r:id="rId6"/>
    <p:sldLayoutId id="2147484009" r:id="rId7"/>
    <p:sldLayoutId id="2147484010" r:id="rId8"/>
    <p:sldLayoutId id="2147484011" r:id="rId9"/>
    <p:sldLayoutId id="2147484012" r:id="rId10"/>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p:titleStyle>
    <p:bodyStyle>
      <a:lvl1pPr marL="365125" indent="-255588" algn="l" rtl="0" eaLnBrk="0" fontAlgn="base" hangingPunct="0">
        <a:spcBef>
          <a:spcPts val="300"/>
        </a:spcBef>
        <a:spcAft>
          <a:spcPct val="0"/>
        </a:spcAft>
        <a:buClr>
          <a:srgbClr val="9C007F"/>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2"/>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9C007F"/>
        </a:buClr>
        <a:buFont typeface="Georgia" panose="02040502050405020303" pitchFamily="18" charset="0"/>
        <a:buChar char="▫"/>
        <a:defRPr sz="2000" kern="1200">
          <a:solidFill>
            <a:srgbClr val="9C007F"/>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re 1"/>
          <p:cNvSpPr>
            <a:spLocks noGrp="1"/>
          </p:cNvSpPr>
          <p:nvPr>
            <p:ph type="title" idx="4294967295"/>
          </p:nvPr>
        </p:nvSpPr>
        <p:spPr>
          <a:xfrm>
            <a:off x="179388" y="2060848"/>
            <a:ext cx="6696075" cy="2952328"/>
          </a:xfrm>
        </p:spPr>
        <p:txBody>
          <a:bodyPr/>
          <a:lstStyle/>
          <a:p>
            <a:pPr algn="r" eaLnBrk="1" hangingPunct="1"/>
            <a:r>
              <a:rPr lang="fr-CA" altLang="fr-FR" sz="3200" b="1" dirty="0"/>
              <a:t>Information financière intermédiaire </a:t>
            </a:r>
            <a:r>
              <a:rPr lang="fr-CA" altLang="fr-FR" sz="3200" dirty="0"/>
              <a:t>(IAS</a:t>
            </a:r>
            <a:r>
              <a:rPr lang="fr-CA" altLang="fr-FR" sz="3200" b="1" dirty="0"/>
              <a:t> </a:t>
            </a:r>
            <a:r>
              <a:rPr lang="fr-CA" altLang="fr-FR" sz="3200" dirty="0"/>
              <a:t>34)</a:t>
            </a:r>
            <a:br>
              <a:rPr lang="fr-CA" altLang="fr-FR" sz="3200" dirty="0"/>
            </a:br>
            <a:br>
              <a:rPr lang="fr-CA" altLang="fr-FR" sz="3200" dirty="0"/>
            </a:br>
            <a:r>
              <a:rPr lang="fr-CA" altLang="fr-FR" sz="3200" b="1" dirty="0"/>
              <a:t>Examen par l’auditeur des ÉF intermédiaires </a:t>
            </a:r>
            <a:r>
              <a:rPr lang="fr-CA" altLang="fr-FR" sz="3200" dirty="0"/>
              <a:t>(ANC 7060)</a:t>
            </a:r>
            <a:br>
              <a:rPr lang="fr-CA" altLang="fr-FR" dirty="0"/>
            </a:br>
            <a:br>
              <a:rPr lang="fr-CA" altLang="fr-FR" dirty="0"/>
            </a:br>
            <a:br>
              <a:rPr lang="fr-CA" altLang="fr-FR" dirty="0"/>
            </a:br>
            <a:endParaRPr lang="fr-CA" altLang="fr-FR" dirty="0"/>
          </a:p>
        </p:txBody>
      </p:sp>
      <p:sp>
        <p:nvSpPr>
          <p:cNvPr id="614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88CCD512-F5EF-45B4-94E3-F6BE5FF7F3FA}" type="slidenum">
              <a:rPr lang="fr-FR" altLang="fr-FR" sz="1800" smtClean="0">
                <a:solidFill>
                  <a:srgbClr val="FFFFFF"/>
                </a:solidFill>
                <a:latin typeface="Times New Roman" panose="02020603050405020304" pitchFamily="18" charset="0"/>
              </a:rPr>
              <a:pPr>
                <a:spcBef>
                  <a:spcPct val="0"/>
                </a:spcBef>
                <a:buClrTx/>
                <a:buFontTx/>
                <a:buNone/>
              </a:pPr>
              <a:t>1</a:t>
            </a:fld>
            <a:endParaRPr lang="fr-FR" altLang="fr-FR" sz="1800">
              <a:solidFill>
                <a:srgbClr val="FFFFFF"/>
              </a:solidFill>
              <a:latin typeface="Times New Roman" panose="02020603050405020304" pitchFamily="18" charset="0"/>
            </a:endParaRPr>
          </a:p>
        </p:txBody>
      </p:sp>
      <p:sp>
        <p:nvSpPr>
          <p:cNvPr id="5" name="Espace réservé du pied de page 1"/>
          <p:cNvSpPr txBox="1">
            <a:spLocks/>
          </p:cNvSpPr>
          <p:nvPr/>
        </p:nvSpPr>
        <p:spPr bwMode="auto">
          <a:xfrm>
            <a:off x="1259632" y="5477495"/>
            <a:ext cx="6696869" cy="6559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fr-FR"/>
            </a:defPPr>
            <a:lvl1pPr algn="r" rtl="0" eaLnBrk="1" fontAlgn="base" latinLnBrk="0" hangingPunct="1">
              <a:spcBef>
                <a:spcPts val="300"/>
              </a:spcBef>
              <a:spcAft>
                <a:spcPct val="0"/>
              </a:spcAft>
              <a:buClr>
                <a:srgbClr val="9C007F"/>
              </a:buClr>
              <a:buFont typeface="Georgia" panose="02040502050405020303" pitchFamily="18" charset="0"/>
              <a:buChar char="•"/>
              <a:defRPr kumimoji="0" sz="2800" kern="1200">
                <a:solidFill>
                  <a:schemeClr val="tx1"/>
                </a:solidFill>
                <a:latin typeface="Georgia" panose="02040502050405020303" pitchFamily="18" charset="0"/>
                <a:ea typeface="+mn-ea"/>
                <a:cs typeface="+mn-cs"/>
              </a:defRPr>
            </a:lvl1pPr>
            <a:lvl2pPr marL="742950" indent="-285750"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2"/>
                </a:solidFill>
                <a:latin typeface="Georgia" panose="02040502050405020303" pitchFamily="18" charset="0"/>
                <a:ea typeface="+mn-ea"/>
                <a:cs typeface="+mn-cs"/>
              </a:defRPr>
            </a:lvl2pPr>
            <a:lvl3pPr marL="1143000" indent="-228600"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Georgia" panose="02040502050405020303" pitchFamily="18" charset="0"/>
                <a:ea typeface="+mn-ea"/>
                <a:cs typeface="+mn-cs"/>
              </a:defRPr>
            </a:lvl3pPr>
            <a:lvl4pPr marL="1600200" indent="-228600"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Georgia" panose="02040502050405020303" pitchFamily="18" charset="0"/>
                <a:ea typeface="+mn-ea"/>
                <a:cs typeface="+mn-cs"/>
              </a:defRPr>
            </a:lvl4pPr>
            <a:lvl5pPr marL="2057400" indent="-228600" algn="l" rtl="0" eaLnBrk="0" fontAlgn="base" hangingPunct="0">
              <a:spcBef>
                <a:spcPts val="300"/>
              </a:spcBef>
              <a:spcAft>
                <a:spcPct val="0"/>
              </a:spcAft>
              <a:buClr>
                <a:srgbClr val="9C007F"/>
              </a:buClr>
              <a:buFont typeface="Georgia" panose="02040502050405020303" pitchFamily="18" charset="0"/>
              <a:buChar char="▫"/>
              <a:defRPr sz="2000" kern="1200">
                <a:solidFill>
                  <a:srgbClr val="9C007F"/>
                </a:solidFill>
                <a:latin typeface="Georgia" panose="02040502050405020303" pitchFamily="18" charset="0"/>
                <a:ea typeface="+mn-ea"/>
                <a:cs typeface="+mn-cs"/>
              </a:defRPr>
            </a:lvl5pPr>
            <a:lvl6pPr marL="2514600" indent="-228600" algn="l" defTabSz="914400" rtl="0" eaLnBrk="0" fontAlgn="base" latinLnBrk="0" hangingPunct="0">
              <a:spcBef>
                <a:spcPts val="300"/>
              </a:spcBef>
              <a:spcAft>
                <a:spcPct val="0"/>
              </a:spcAft>
              <a:buClr>
                <a:srgbClr val="9C007F"/>
              </a:buClr>
              <a:buFont typeface="Georgia" panose="02040502050405020303" pitchFamily="18" charset="0"/>
              <a:buChar char="▫"/>
              <a:defRPr sz="2000" kern="1200">
                <a:solidFill>
                  <a:srgbClr val="9C007F"/>
                </a:solidFill>
                <a:latin typeface="Georgia" panose="02040502050405020303" pitchFamily="18" charset="0"/>
                <a:ea typeface="+mn-ea"/>
                <a:cs typeface="+mn-cs"/>
              </a:defRPr>
            </a:lvl6pPr>
            <a:lvl7pPr marL="2971800" indent="-228600" algn="l" defTabSz="914400" rtl="0" eaLnBrk="0" fontAlgn="base" latinLnBrk="0" hangingPunct="0">
              <a:spcBef>
                <a:spcPts val="300"/>
              </a:spcBef>
              <a:spcAft>
                <a:spcPct val="0"/>
              </a:spcAft>
              <a:buClr>
                <a:srgbClr val="9C007F"/>
              </a:buClr>
              <a:buFont typeface="Georgia" panose="02040502050405020303" pitchFamily="18" charset="0"/>
              <a:buChar char="▫"/>
              <a:defRPr sz="2000" kern="1200">
                <a:solidFill>
                  <a:srgbClr val="9C007F"/>
                </a:solidFill>
                <a:latin typeface="Georgia" panose="02040502050405020303" pitchFamily="18" charset="0"/>
                <a:ea typeface="+mn-ea"/>
                <a:cs typeface="+mn-cs"/>
              </a:defRPr>
            </a:lvl7pPr>
            <a:lvl8pPr marL="3429000" indent="-228600" algn="l" defTabSz="914400" rtl="0" eaLnBrk="0" fontAlgn="base" latinLnBrk="0" hangingPunct="0">
              <a:spcBef>
                <a:spcPts val="300"/>
              </a:spcBef>
              <a:spcAft>
                <a:spcPct val="0"/>
              </a:spcAft>
              <a:buClr>
                <a:srgbClr val="9C007F"/>
              </a:buClr>
              <a:buFont typeface="Georgia" panose="02040502050405020303" pitchFamily="18" charset="0"/>
              <a:buChar char="▫"/>
              <a:defRPr sz="2000" kern="1200">
                <a:solidFill>
                  <a:srgbClr val="9C007F"/>
                </a:solidFill>
                <a:latin typeface="Georgia" panose="02040502050405020303" pitchFamily="18" charset="0"/>
                <a:ea typeface="+mn-ea"/>
                <a:cs typeface="+mn-cs"/>
              </a:defRPr>
            </a:lvl8pPr>
            <a:lvl9pPr marL="3886200" indent="-228600" algn="l" defTabSz="914400" rtl="0" eaLnBrk="0" fontAlgn="base" latinLnBrk="0" hangingPunct="0">
              <a:spcBef>
                <a:spcPts val="300"/>
              </a:spcBef>
              <a:spcAft>
                <a:spcPct val="0"/>
              </a:spcAft>
              <a:buClr>
                <a:srgbClr val="9C007F"/>
              </a:buClr>
              <a:buFont typeface="Georgia" panose="02040502050405020303" pitchFamily="18" charset="0"/>
              <a:buChar char="▫"/>
              <a:defRPr sz="2000" kern="1200">
                <a:solidFill>
                  <a:srgbClr val="9C007F"/>
                </a:solidFill>
                <a:latin typeface="Georgia" panose="02040502050405020303" pitchFamily="18" charset="0"/>
                <a:ea typeface="+mn-ea"/>
                <a:cs typeface="+mn-cs"/>
              </a:defRPr>
            </a:lvl9pPr>
          </a:lstStyle>
          <a:p>
            <a:pPr>
              <a:spcBef>
                <a:spcPct val="0"/>
              </a:spcBef>
              <a:buClrTx/>
              <a:buFontTx/>
              <a:buNone/>
            </a:pPr>
            <a:r>
              <a:rPr lang="fr-FR" altLang="fr-FR" sz="2400" b="1" dirty="0">
                <a:solidFill>
                  <a:schemeClr val="accent2"/>
                </a:solidFill>
                <a:latin typeface="Times New Roman" panose="02020603050405020304" pitchFamily="18" charset="0"/>
              </a:rPr>
              <a:t>© 2014,  Sylviane Beauregard, HEC Montréal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Espace réservé du contenu 1"/>
          <p:cNvSpPr>
            <a:spLocks noGrp="1"/>
          </p:cNvSpPr>
          <p:nvPr>
            <p:ph idx="4294967295"/>
          </p:nvPr>
        </p:nvSpPr>
        <p:spPr>
          <a:xfrm>
            <a:off x="827088" y="2214563"/>
            <a:ext cx="7777162" cy="3881437"/>
          </a:xfrm>
        </p:spPr>
        <p:txBody>
          <a:bodyPr/>
          <a:lstStyle/>
          <a:p>
            <a:pPr eaLnBrk="1" hangingPunct="1">
              <a:defRPr/>
            </a:pPr>
            <a:r>
              <a:rPr lang="fr-CA" dirty="0"/>
              <a:t>États financiers intermédiaires </a:t>
            </a:r>
            <a:endParaRPr lang="fr-CA" sz="2400" dirty="0"/>
          </a:p>
          <a:p>
            <a:pPr eaLnBrk="1" hangingPunct="1">
              <a:defRPr/>
            </a:pPr>
            <a:r>
              <a:rPr lang="fr-CA" dirty="0"/>
              <a:t>Examen des états financiers intermédiaires par l’auditeur </a:t>
            </a:r>
            <a:endParaRPr lang="fr-CA" sz="2400" dirty="0"/>
          </a:p>
          <a:p>
            <a:pPr marL="365125" lvl="1" indent="92075" eaLnBrk="1" hangingPunct="1">
              <a:buFont typeface="Wingdings" pitchFamily="2" charset="2"/>
              <a:buNone/>
              <a:defRPr/>
            </a:pPr>
            <a:endParaRPr lang="fr-CA" dirty="0"/>
          </a:p>
        </p:txBody>
      </p:sp>
      <p:sp>
        <p:nvSpPr>
          <p:cNvPr id="8195" name="Titre 2"/>
          <p:cNvSpPr>
            <a:spLocks noGrp="1"/>
          </p:cNvSpPr>
          <p:nvPr>
            <p:ph type="title" idx="4294967295"/>
          </p:nvPr>
        </p:nvSpPr>
        <p:spPr>
          <a:xfrm>
            <a:off x="1765300" y="609600"/>
            <a:ext cx="7378700" cy="1143000"/>
          </a:xfrm>
        </p:spPr>
        <p:txBody>
          <a:bodyPr/>
          <a:lstStyle/>
          <a:p>
            <a:pPr eaLnBrk="1" hangingPunct="1"/>
            <a:r>
              <a:rPr lang="fr-CA" altLang="fr-FR"/>
              <a:t>PLAN DE LA SÉANCE</a:t>
            </a:r>
          </a:p>
        </p:txBody>
      </p:sp>
      <p:sp>
        <p:nvSpPr>
          <p:cNvPr id="8196" name="Espace réservé du pied de page 1"/>
          <p:cNvSpPr>
            <a:spLocks noGrp="1"/>
          </p:cNvSpPr>
          <p:nvPr>
            <p:ph type="ftr" sz="quarter" idx="11"/>
          </p:nvPr>
        </p:nvSpPr>
        <p:spPr bwMode="auto">
          <a:xfrm>
            <a:off x="5257800" y="612775"/>
            <a:ext cx="3635375"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819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A7AEAB4D-34F9-4541-80CA-8680F9C9A33F}" type="slidenum">
              <a:rPr lang="fr-FR" altLang="fr-FR" sz="1800" smtClean="0">
                <a:solidFill>
                  <a:srgbClr val="FFFFFF"/>
                </a:solidFill>
                <a:latin typeface="Times New Roman" panose="02020603050405020304" pitchFamily="18" charset="0"/>
              </a:rPr>
              <a:pPr>
                <a:spcBef>
                  <a:spcPct val="0"/>
                </a:spcBef>
                <a:buClrTx/>
                <a:buFontTx/>
                <a:buNone/>
              </a:pPr>
              <a:t>2</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Espace réservé du contenu 1"/>
          <p:cNvSpPr>
            <a:spLocks noGrp="1"/>
          </p:cNvSpPr>
          <p:nvPr>
            <p:ph idx="4294967295"/>
          </p:nvPr>
        </p:nvSpPr>
        <p:spPr>
          <a:xfrm>
            <a:off x="1185863" y="2214563"/>
            <a:ext cx="7958137" cy="3881437"/>
          </a:xfrm>
        </p:spPr>
        <p:txBody>
          <a:bodyPr/>
          <a:lstStyle/>
          <a:p>
            <a:pPr eaLnBrk="1" hangingPunct="1"/>
            <a:r>
              <a:rPr lang="fr-CA" altLang="fr-FR"/>
              <a:t>Pourquoi ce sujet?</a:t>
            </a:r>
          </a:p>
          <a:p>
            <a:pPr eaLnBrk="1" hangingPunct="1"/>
            <a:r>
              <a:rPr lang="fr-CA" altLang="fr-FR"/>
              <a:t>Pourquoi des renseignements intermédiaires?</a:t>
            </a:r>
          </a:p>
          <a:p>
            <a:pPr eaLnBrk="1" hangingPunct="1"/>
            <a:r>
              <a:rPr lang="fr-CA" altLang="fr-FR"/>
              <a:t>Principales parties prenantes</a:t>
            </a:r>
          </a:p>
          <a:p>
            <a:pPr eaLnBrk="1" hangingPunct="1"/>
            <a:r>
              <a:rPr lang="fr-CA" altLang="fr-FR"/>
              <a:t>Contenu des états financiers intermédiaires</a:t>
            </a:r>
          </a:p>
          <a:p>
            <a:pPr eaLnBrk="1" hangingPunct="1"/>
            <a:r>
              <a:rPr lang="fr-CA" altLang="fr-FR"/>
              <a:t>Rôle de l’auditeur</a:t>
            </a:r>
          </a:p>
          <a:p>
            <a:pPr eaLnBrk="1" hangingPunct="1"/>
            <a:endParaRPr lang="fr-CA" altLang="fr-FR"/>
          </a:p>
        </p:txBody>
      </p:sp>
      <p:sp>
        <p:nvSpPr>
          <p:cNvPr id="10243" name="Titre 2"/>
          <p:cNvSpPr>
            <a:spLocks noGrp="1"/>
          </p:cNvSpPr>
          <p:nvPr>
            <p:ph type="title" idx="4294967295"/>
          </p:nvPr>
        </p:nvSpPr>
        <p:spPr>
          <a:xfrm>
            <a:off x="1765300" y="609600"/>
            <a:ext cx="7378700" cy="1143000"/>
          </a:xfrm>
        </p:spPr>
        <p:txBody>
          <a:bodyPr/>
          <a:lstStyle/>
          <a:p>
            <a:pPr eaLnBrk="1" hangingPunct="1"/>
            <a:r>
              <a:rPr lang="fr-CA" altLang="fr-FR"/>
              <a:t>ÉTATS FINANCIERS INTERMÉDIAIRES</a:t>
            </a:r>
          </a:p>
        </p:txBody>
      </p:sp>
      <p:sp>
        <p:nvSpPr>
          <p:cNvPr id="10244" name="Espace réservé du pied de page 1"/>
          <p:cNvSpPr>
            <a:spLocks noGrp="1"/>
          </p:cNvSpPr>
          <p:nvPr>
            <p:ph type="ftr" sz="quarter" idx="11"/>
          </p:nvPr>
        </p:nvSpPr>
        <p:spPr bwMode="auto">
          <a:xfrm>
            <a:off x="5257800" y="612775"/>
            <a:ext cx="3635375"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024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981DD77B-A495-4837-83CA-8A12D38FF4D3}" type="slidenum">
              <a:rPr lang="fr-FR" altLang="fr-FR" sz="1800" smtClean="0">
                <a:solidFill>
                  <a:srgbClr val="FFFFFF"/>
                </a:solidFill>
                <a:latin typeface="Times New Roman" panose="02020603050405020304" pitchFamily="18" charset="0"/>
              </a:rPr>
              <a:pPr>
                <a:spcBef>
                  <a:spcPct val="0"/>
                </a:spcBef>
                <a:buClrTx/>
                <a:buFontTx/>
                <a:buNone/>
              </a:pPr>
              <a:t>3</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fr-CA" altLang="fr-FR" dirty="0"/>
              <a:t>Pourquoi ce sujet ?</a:t>
            </a:r>
          </a:p>
        </p:txBody>
      </p:sp>
      <p:sp>
        <p:nvSpPr>
          <p:cNvPr id="11267" name="Espace réservé du contenu 1"/>
          <p:cNvSpPr>
            <a:spLocks noGrp="1"/>
          </p:cNvSpPr>
          <p:nvPr>
            <p:ph idx="1"/>
          </p:nvPr>
        </p:nvSpPr>
        <p:spPr/>
        <p:txBody>
          <a:bodyPr/>
          <a:lstStyle/>
          <a:p>
            <a:pPr eaLnBrk="1" hangingPunct="1">
              <a:buFont typeface="Georgia" panose="02040502050405020303" pitchFamily="18" charset="0"/>
              <a:buNone/>
            </a:pPr>
            <a:r>
              <a:rPr lang="fr-CA" altLang="fr-FR"/>
              <a:t>Ce qu’on attend de vous à l’EFC :</a:t>
            </a:r>
          </a:p>
          <a:p>
            <a:pPr eaLnBrk="1" hangingPunct="1">
              <a:buFont typeface="Georgia" panose="02040502050405020303" pitchFamily="18" charset="0"/>
              <a:buNone/>
            </a:pPr>
            <a:endParaRPr lang="fr-CA" altLang="fr-FR"/>
          </a:p>
          <a:p>
            <a:pPr eaLnBrk="1" hangingPunct="1"/>
            <a:r>
              <a:rPr lang="fr-CA" altLang="fr-FR"/>
              <a:t>Évaluer les états financiers y compris les informations fournies par voie de note (1.4.2)</a:t>
            </a:r>
          </a:p>
          <a:p>
            <a:pPr eaLnBrk="1" hangingPunct="1">
              <a:buFont typeface="Georgia" panose="02040502050405020303" pitchFamily="18" charset="0"/>
              <a:buNone/>
            </a:pPr>
            <a:endParaRPr lang="fr-CA" altLang="fr-FR"/>
          </a:p>
          <a:p>
            <a:pPr eaLnBrk="1" hangingPunct="1"/>
            <a:r>
              <a:rPr lang="fr-CA" altLang="fr-FR"/>
              <a:t>Préparer ou interpréter l’information et les rapports pour les </a:t>
            </a:r>
            <a:r>
              <a:rPr lang="fr-CA" altLang="fr-FR" b="1">
                <a:solidFill>
                  <a:schemeClr val="accent1"/>
                </a:solidFill>
              </a:rPr>
              <a:t>parties prenantes</a:t>
            </a:r>
            <a:r>
              <a:rPr lang="fr-CA" altLang="fr-FR"/>
              <a:t> (4.3.11)</a:t>
            </a:r>
          </a:p>
          <a:p>
            <a:pPr eaLnBrk="1" hangingPunct="1"/>
            <a:endParaRPr lang="fr-CA" altLang="fr-FR"/>
          </a:p>
        </p:txBody>
      </p:sp>
      <p:sp>
        <p:nvSpPr>
          <p:cNvPr id="11268" name="Espace réservé du pied de page 1"/>
          <p:cNvSpPr>
            <a:spLocks noGrp="1"/>
          </p:cNvSpPr>
          <p:nvPr>
            <p:ph type="ftr" sz="quarter" idx="11"/>
          </p:nvPr>
        </p:nvSpPr>
        <p:spPr bwMode="auto">
          <a:xfrm>
            <a:off x="5148262" y="620713"/>
            <a:ext cx="2448073" cy="2880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1126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967C5A1B-47D5-4043-B734-3D5408F75307}" type="slidenum">
              <a:rPr lang="fr-FR" altLang="fr-FR" sz="1800" smtClean="0">
                <a:solidFill>
                  <a:srgbClr val="FFFFFF"/>
                </a:solidFill>
                <a:latin typeface="Times New Roman" panose="02020603050405020304" pitchFamily="18" charset="0"/>
              </a:rPr>
              <a:pPr>
                <a:spcBef>
                  <a:spcPct val="0"/>
                </a:spcBef>
                <a:buClrTx/>
                <a:buFontTx/>
                <a:buNone/>
              </a:pPr>
              <a:t>4</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re 2"/>
          <p:cNvSpPr>
            <a:spLocks noGrp="1"/>
          </p:cNvSpPr>
          <p:nvPr>
            <p:ph type="ctrTitle"/>
          </p:nvPr>
        </p:nvSpPr>
        <p:spPr>
          <a:xfrm>
            <a:off x="457200" y="2401888"/>
            <a:ext cx="8458200" cy="1470025"/>
          </a:xfrm>
        </p:spPr>
        <p:txBody>
          <a:bodyPr/>
          <a:lstStyle/>
          <a:p>
            <a:pPr algn="r" eaLnBrk="1" hangingPunct="1"/>
            <a:r>
              <a:rPr lang="fr-CA" altLang="fr-FR" sz="3600"/>
              <a:t>POURQUOI DES RENSEIGNEMENTS INTERMÉDIAIRES</a:t>
            </a:r>
            <a:r>
              <a:rPr lang="fr-CA" altLang="fr-FR" sz="400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fr-CA" altLang="fr-FR"/>
              <a:t>Pourquoi?</a:t>
            </a:r>
          </a:p>
        </p:txBody>
      </p:sp>
      <p:sp>
        <p:nvSpPr>
          <p:cNvPr id="15363" name="Rectangle 3"/>
          <p:cNvSpPr>
            <a:spLocks noGrp="1" noChangeArrowheads="1"/>
          </p:cNvSpPr>
          <p:nvPr>
            <p:ph idx="1"/>
          </p:nvPr>
        </p:nvSpPr>
        <p:spPr/>
        <p:txBody>
          <a:bodyPr/>
          <a:lstStyle/>
          <a:p>
            <a:pPr eaLnBrk="1" hangingPunct="1"/>
            <a:r>
              <a:rPr lang="fr-CA" altLang="fr-FR"/>
              <a:t>L’information est </a:t>
            </a:r>
            <a:r>
              <a:rPr lang="fr-CA" altLang="fr-FR" b="1">
                <a:solidFill>
                  <a:srgbClr val="353535"/>
                </a:solidFill>
              </a:rPr>
              <a:t>utile</a:t>
            </a:r>
            <a:r>
              <a:rPr lang="fr-CA" altLang="fr-FR"/>
              <a:t> si elle est présentée </a:t>
            </a:r>
          </a:p>
          <a:p>
            <a:pPr eaLnBrk="1" hangingPunct="1">
              <a:buFont typeface="Wingdings" panose="05000000000000000000" pitchFamily="2" charset="2"/>
              <a:buNone/>
            </a:pPr>
            <a:r>
              <a:rPr lang="fr-CA" altLang="fr-FR"/>
              <a:t>	</a:t>
            </a:r>
            <a:r>
              <a:rPr lang="fr-CA" altLang="fr-FR" b="1">
                <a:solidFill>
                  <a:srgbClr val="353535"/>
                </a:solidFill>
              </a:rPr>
              <a:t>en temps opportun</a:t>
            </a:r>
            <a:r>
              <a:rPr lang="fr-CA" altLang="fr-FR"/>
              <a:t>.</a:t>
            </a:r>
          </a:p>
          <a:p>
            <a:pPr eaLnBrk="1" hangingPunct="1"/>
            <a:r>
              <a:rPr lang="fr-CA" altLang="fr-FR"/>
              <a:t>La reddition de compte sur une base annuelle n’est pas suffisante pour les marchés financiers.</a:t>
            </a:r>
          </a:p>
          <a:p>
            <a:pPr lvl="1" eaLnBrk="1" hangingPunct="1"/>
            <a:r>
              <a:rPr lang="fr-CA" altLang="fr-FR" b="1">
                <a:solidFill>
                  <a:srgbClr val="353535"/>
                </a:solidFill>
              </a:rPr>
              <a:t>Les analystes souhaitent avoir de l’information sur les événements qui se produisent </a:t>
            </a:r>
            <a:r>
              <a:rPr lang="fr-CA" altLang="fr-FR" b="1"/>
              <a:t>dès qu’ils se produisent.</a:t>
            </a:r>
          </a:p>
        </p:txBody>
      </p:sp>
      <p:sp>
        <p:nvSpPr>
          <p:cNvPr id="15364" name="Espace réservé du pied de page 1"/>
          <p:cNvSpPr>
            <a:spLocks noGrp="1"/>
          </p:cNvSpPr>
          <p:nvPr>
            <p:ph type="ftr" sz="quarter" idx="11"/>
          </p:nvPr>
        </p:nvSpPr>
        <p:spPr bwMode="auto">
          <a:xfrm>
            <a:off x="5257800" y="612775"/>
            <a:ext cx="2698576" cy="36795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1536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FCDEAA42-194A-4247-B253-4AA2CF39A7E5}" type="slidenum">
              <a:rPr lang="fr-FR" altLang="fr-FR" sz="1800" smtClean="0">
                <a:solidFill>
                  <a:srgbClr val="FFFFFF"/>
                </a:solidFill>
                <a:latin typeface="Times New Roman" panose="02020603050405020304" pitchFamily="18" charset="0"/>
              </a:rPr>
              <a:pPr>
                <a:spcBef>
                  <a:spcPct val="0"/>
                </a:spcBef>
                <a:buClrTx/>
                <a:buFontTx/>
                <a:buNone/>
              </a:pPr>
              <a:t>6</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p:txBody>
          <a:bodyPr/>
          <a:lstStyle/>
          <a:p>
            <a:r>
              <a:rPr lang="fr-CA" altLang="fr-FR" sz="3200"/>
              <a:t>Objectif des renseignements intermédiaires</a:t>
            </a:r>
          </a:p>
        </p:txBody>
      </p:sp>
      <p:sp>
        <p:nvSpPr>
          <p:cNvPr id="17411" name="Rectangle 3"/>
          <p:cNvSpPr>
            <a:spLocks noGrp="1"/>
          </p:cNvSpPr>
          <p:nvPr>
            <p:ph type="body" idx="1"/>
          </p:nvPr>
        </p:nvSpPr>
        <p:spPr/>
        <p:txBody>
          <a:bodyPr/>
          <a:lstStyle/>
          <a:p>
            <a:r>
              <a:rPr lang="fr-CA" altLang="fr-FR"/>
              <a:t>Une information financière intermédiaire </a:t>
            </a:r>
            <a:r>
              <a:rPr lang="fr-CA" altLang="fr-FR" b="1">
                <a:solidFill>
                  <a:srgbClr val="E90062"/>
                </a:solidFill>
              </a:rPr>
              <a:t>rapide</a:t>
            </a:r>
            <a:r>
              <a:rPr lang="fr-CA" altLang="fr-FR"/>
              <a:t> et </a:t>
            </a:r>
            <a:r>
              <a:rPr lang="fr-CA" altLang="fr-FR" b="1">
                <a:solidFill>
                  <a:srgbClr val="E90062"/>
                </a:solidFill>
              </a:rPr>
              <a:t>fiable</a:t>
            </a:r>
            <a:r>
              <a:rPr lang="fr-CA" altLang="fr-FR"/>
              <a:t> permet aux </a:t>
            </a:r>
            <a:r>
              <a:rPr lang="fr-CA" altLang="fr-FR" b="1">
                <a:solidFill>
                  <a:schemeClr val="accent1"/>
                </a:solidFill>
              </a:rPr>
              <a:t>investisseurs</a:t>
            </a:r>
            <a:r>
              <a:rPr lang="fr-CA" altLang="fr-FR"/>
              <a:t>, aux </a:t>
            </a:r>
            <a:r>
              <a:rPr lang="fr-CA" altLang="fr-FR" b="1">
                <a:solidFill>
                  <a:schemeClr val="accent1"/>
                </a:solidFill>
              </a:rPr>
              <a:t>créanciers </a:t>
            </a:r>
            <a:r>
              <a:rPr lang="fr-CA" altLang="fr-FR"/>
              <a:t>et </a:t>
            </a:r>
            <a:r>
              <a:rPr lang="fr-CA" altLang="fr-FR" b="1">
                <a:solidFill>
                  <a:schemeClr val="accent1"/>
                </a:solidFill>
              </a:rPr>
              <a:t>autres destinataires</a:t>
            </a:r>
            <a:r>
              <a:rPr lang="fr-CA" altLang="fr-FR"/>
              <a:t> de mieux </a:t>
            </a:r>
            <a:r>
              <a:rPr lang="fr-CA" altLang="fr-FR" b="1">
                <a:solidFill>
                  <a:srgbClr val="FF0066"/>
                </a:solidFill>
              </a:rPr>
              <a:t>appréhender la capacité</a:t>
            </a:r>
            <a:r>
              <a:rPr lang="fr-CA" altLang="fr-FR"/>
              <a:t> de l'entité de générer des bénéfices et des flux de trésorerie, ainsi que sa situation financière et sa liquidité (IAS 34 – Objectif)</a:t>
            </a:r>
          </a:p>
        </p:txBody>
      </p:sp>
      <p:sp>
        <p:nvSpPr>
          <p:cNvPr id="17412" name="Espace réservé du pied de page 1"/>
          <p:cNvSpPr>
            <a:spLocks noGrp="1"/>
          </p:cNvSpPr>
          <p:nvPr>
            <p:ph type="ftr" sz="quarter" idx="11"/>
          </p:nvPr>
        </p:nvSpPr>
        <p:spPr bwMode="auto">
          <a:xfrm>
            <a:off x="5257800" y="612775"/>
            <a:ext cx="3130624" cy="36795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741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3BC5867B-2DC9-4C49-843C-DD13425D3CF5}" type="slidenum">
              <a:rPr lang="fr-FR" altLang="fr-FR" sz="1800" smtClean="0">
                <a:solidFill>
                  <a:srgbClr val="FFFFFF"/>
                </a:solidFill>
                <a:latin typeface="Times New Roman" panose="02020603050405020304" pitchFamily="18" charset="0"/>
              </a:rPr>
              <a:pPr>
                <a:spcBef>
                  <a:spcPct val="0"/>
                </a:spcBef>
                <a:buClrTx/>
                <a:buFontTx/>
                <a:buNone/>
              </a:pPr>
              <a:t>7</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re 1"/>
          <p:cNvSpPr>
            <a:spLocks noGrp="1"/>
          </p:cNvSpPr>
          <p:nvPr>
            <p:ph type="title"/>
          </p:nvPr>
        </p:nvSpPr>
        <p:spPr>
          <a:xfrm>
            <a:off x="588963" y="414338"/>
            <a:ext cx="8083550" cy="462175"/>
          </a:xfrm>
        </p:spPr>
        <p:txBody>
          <a:bodyPr>
            <a:normAutofit fontScale="90000"/>
          </a:bodyPr>
          <a:lstStyle/>
          <a:p>
            <a:pPr eaLnBrk="1" hangingPunct="1">
              <a:defRPr/>
            </a:pPr>
            <a:r>
              <a:rPr lang="fr-CA" sz="2500" b="1" dirty="0">
                <a:solidFill>
                  <a:schemeClr val="tx1"/>
                </a:solidFill>
              </a:rPr>
              <a:t>Le Cadre IFRS et IAS 34</a:t>
            </a:r>
            <a:endParaRPr lang="fr-CA" sz="2400" b="1" dirty="0">
              <a:solidFill>
                <a:schemeClr val="tx1"/>
              </a:solidFill>
            </a:endParaRPr>
          </a:p>
        </p:txBody>
      </p:sp>
      <p:sp>
        <p:nvSpPr>
          <p:cNvPr id="19459" name="Espace réservé du pied de page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p>
        </p:txBody>
      </p:sp>
      <p:sp>
        <p:nvSpPr>
          <p:cNvPr id="19460"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66DF65CF-4794-4F45-A8AB-B46D8CCC71B1}" type="slidenum">
              <a:rPr lang="fr-CA" altLang="fr-FR" sz="1800" smtClean="0">
                <a:solidFill>
                  <a:srgbClr val="FFFFFF"/>
                </a:solidFill>
                <a:latin typeface="Times New Roman" panose="02020603050405020304" pitchFamily="18" charset="0"/>
              </a:rPr>
              <a:pPr>
                <a:spcBef>
                  <a:spcPct val="0"/>
                </a:spcBef>
                <a:buClrTx/>
                <a:buFontTx/>
                <a:buNone/>
              </a:pPr>
              <a:t>8</a:t>
            </a:fld>
            <a:endParaRPr lang="fr-CA" altLang="fr-FR" sz="1800">
              <a:solidFill>
                <a:srgbClr val="FFFFFF"/>
              </a:solidFill>
              <a:latin typeface="Times New Roman" panose="02020603050405020304" pitchFamily="18" charset="0"/>
            </a:endParaRPr>
          </a:p>
        </p:txBody>
      </p:sp>
      <p:graphicFrame>
        <p:nvGraphicFramePr>
          <p:cNvPr id="10277" name="Group 37"/>
          <p:cNvGraphicFramePr>
            <a:graphicFrameLocks noGrp="1"/>
          </p:cNvGraphicFramePr>
          <p:nvPr>
            <p:ph sz="quarter" idx="1"/>
            <p:extLst>
              <p:ext uri="{D42A27DB-BD31-4B8C-83A1-F6EECF244321}">
                <p14:modId xmlns:p14="http://schemas.microsoft.com/office/powerpoint/2010/main" val="1153304987"/>
              </p:ext>
            </p:extLst>
          </p:nvPr>
        </p:nvGraphicFramePr>
        <p:xfrm>
          <a:off x="250825" y="876514"/>
          <a:ext cx="8272463" cy="5681448"/>
        </p:xfrm>
        <a:graphic>
          <a:graphicData uri="http://schemas.openxmlformats.org/drawingml/2006/table">
            <a:tbl>
              <a:tblPr/>
              <a:tblGrid>
                <a:gridCol w="7624298">
                  <a:extLst>
                    <a:ext uri="{9D8B030D-6E8A-4147-A177-3AD203B41FA5}">
                      <a16:colId xmlns:a16="http://schemas.microsoft.com/office/drawing/2014/main" val="20000"/>
                    </a:ext>
                  </a:extLst>
                </a:gridCol>
                <a:gridCol w="648165">
                  <a:extLst>
                    <a:ext uri="{9D8B030D-6E8A-4147-A177-3AD203B41FA5}">
                      <a16:colId xmlns:a16="http://schemas.microsoft.com/office/drawing/2014/main" val="20001"/>
                    </a:ext>
                  </a:extLst>
                </a:gridCol>
              </a:tblGrid>
              <a:tr h="34490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IFRS</a:t>
                      </a:r>
                    </a:p>
                  </a:txBody>
                  <a:tcPr marL="91447" marR="91447" marT="45721" marB="4572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rowSpan="6">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C</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O</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N</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T</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R</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A</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I</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N</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T</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E</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A" sz="1800" b="1" i="0" u="none" strike="noStrike" cap="none" normalizeH="0" baseline="0" dirty="0">
                        <a:ln>
                          <a:noFill/>
                        </a:ln>
                        <a:solidFill>
                          <a:srgbClr val="FFFFFF"/>
                        </a:solidFill>
                        <a:effectLst/>
                        <a:latin typeface="Perpetua"/>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L</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A" sz="1800" b="1" i="0" u="none" strike="noStrike" cap="none" normalizeH="0" baseline="0" dirty="0">
                        <a:ln>
                          <a:noFill/>
                        </a:ln>
                        <a:solidFill>
                          <a:srgbClr val="FFFFFF"/>
                        </a:solidFill>
                        <a:effectLst/>
                        <a:latin typeface="Perpetua"/>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C</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Ô</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U</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Perpetua"/>
                        </a:rPr>
                        <a:t>T</a:t>
                      </a:r>
                    </a:p>
                  </a:txBody>
                  <a:tcPr marL="91447" marR="91447" marT="45721" marB="4572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38369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000000"/>
                          </a:solidFill>
                          <a:effectLst/>
                          <a:latin typeface="Perpetua"/>
                        </a:rPr>
                        <a:t>PERTINENCE </a:t>
                      </a:r>
                      <a:r>
                        <a:rPr kumimoji="0" lang="fr-CA" sz="1800" b="0" i="0" u="none" strike="noStrike" cap="none" normalizeH="0" baseline="0" dirty="0">
                          <a:ln>
                            <a:noFill/>
                          </a:ln>
                          <a:solidFill>
                            <a:srgbClr val="000000"/>
                          </a:solidFill>
                          <a:effectLst/>
                          <a:latin typeface="Perpetua"/>
                        </a:rPr>
                        <a:t>(Importance relative)</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fr-CA" sz="1800" b="0" i="0" u="none" strike="noStrike" cap="none" normalizeH="0" baseline="0" dirty="0">
                          <a:ln>
                            <a:noFill/>
                          </a:ln>
                          <a:solidFill>
                            <a:srgbClr val="000000"/>
                          </a:solidFill>
                          <a:effectLst/>
                          <a:latin typeface="Perpetua"/>
                        </a:rPr>
                        <a:t>Valeur prédictive</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fr-CA" sz="1800" b="0" i="0" u="none" strike="noStrike" cap="none" normalizeH="0" baseline="0" dirty="0">
                          <a:ln>
                            <a:noFill/>
                          </a:ln>
                          <a:solidFill>
                            <a:srgbClr val="000000"/>
                          </a:solidFill>
                          <a:effectLst/>
                          <a:latin typeface="Perpetua"/>
                        </a:rPr>
                        <a:t>Valeur rétrospective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A" sz="1800" b="0" i="0" u="none" strike="noStrike" cap="none" normalizeH="0" baseline="0" dirty="0">
                        <a:ln>
                          <a:noFill/>
                        </a:ln>
                        <a:solidFill>
                          <a:srgbClr val="000000"/>
                        </a:solidFill>
                        <a:effectLst/>
                        <a:latin typeface="Perpetua"/>
                      </a:endParaRPr>
                    </a:p>
                  </a:txBody>
                  <a:tcPr marL="91447" marR="91447" marT="45721" marB="45721" horzOverflow="overflow">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lumMod val="90000"/>
                      </a:schemeClr>
                    </a:solidFill>
                  </a:tcPr>
                </a:tc>
                <a:tc vMerge="1">
                  <a:txBody>
                    <a:bodyPr/>
                    <a:lstStyle/>
                    <a:p>
                      <a:endParaRPr lang="fr-CA"/>
                    </a:p>
                  </a:txBody>
                  <a:tcPr/>
                </a:tc>
                <a:extLst>
                  <a:ext uri="{0D108BD9-81ED-4DB2-BD59-A6C34878D82A}">
                    <a16:rowId xmlns:a16="http://schemas.microsoft.com/office/drawing/2014/main" val="10001"/>
                  </a:ext>
                </a:extLst>
              </a:tr>
              <a:tr h="14362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000000"/>
                          </a:solidFill>
                          <a:effectLst/>
                          <a:latin typeface="Perpetua"/>
                        </a:rPr>
                        <a:t>FIDÉLITÉ (substance vs forme)</a:t>
                      </a: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000000"/>
                          </a:solidFill>
                          <a:effectLst/>
                          <a:latin typeface="Perpetua"/>
                        </a:rPr>
                        <a:t>- </a:t>
                      </a:r>
                      <a:r>
                        <a:rPr kumimoji="0" lang="fr-CA" sz="1800" b="0" i="0" u="none" strike="noStrike" cap="none" normalizeH="0" baseline="0" dirty="0">
                          <a:ln>
                            <a:noFill/>
                          </a:ln>
                          <a:solidFill>
                            <a:srgbClr val="000000"/>
                          </a:solidFill>
                          <a:effectLst/>
                          <a:latin typeface="Perpetua"/>
                        </a:rPr>
                        <a:t>Neutre</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fr-CA" sz="1800" b="0" i="0" u="none" strike="noStrike" cap="none" normalizeH="0" baseline="0" dirty="0">
                          <a:ln>
                            <a:noFill/>
                          </a:ln>
                          <a:solidFill>
                            <a:srgbClr val="000000"/>
                          </a:solidFill>
                          <a:effectLst/>
                          <a:latin typeface="Perpetua"/>
                        </a:rPr>
                        <a:t>Complète</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fr-CA" sz="1800" b="0" i="0" u="none" strike="noStrike" cap="none" normalizeH="0" baseline="0" dirty="0">
                          <a:ln>
                            <a:noFill/>
                          </a:ln>
                          <a:solidFill>
                            <a:srgbClr val="000000"/>
                          </a:solidFill>
                          <a:effectLst/>
                          <a:latin typeface="Perpetua"/>
                        </a:rPr>
                        <a:t>Exempte d’erreurs significatives</a:t>
                      </a:r>
                    </a:p>
                  </a:txBody>
                  <a:tcPr marL="91447" marR="91447" marT="45721" marB="45721" horzOverflow="overflow">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vMerge="1">
                  <a:txBody>
                    <a:bodyPr/>
                    <a:lstStyle/>
                    <a:p>
                      <a:endParaRPr lang="fr-CA"/>
                    </a:p>
                  </a:txBody>
                  <a:tcPr/>
                </a:tc>
                <a:extLst>
                  <a:ext uri="{0D108BD9-81ED-4DB2-BD59-A6C34878D82A}">
                    <a16:rowId xmlns:a16="http://schemas.microsoft.com/office/drawing/2014/main" val="10002"/>
                  </a:ext>
                </a:extLst>
              </a:tr>
              <a:tr h="6789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Perpetua"/>
                        </a:rPr>
                        <a:t>Compréhensibilité / </a:t>
                      </a:r>
                      <a:r>
                        <a:rPr kumimoji="0" lang="fr-CA" sz="1800" b="1" i="0" u="none" strike="noStrike" cap="none" normalizeH="0" baseline="0" dirty="0">
                          <a:ln>
                            <a:noFill/>
                          </a:ln>
                          <a:solidFill>
                            <a:srgbClr val="000000"/>
                          </a:solidFill>
                          <a:effectLst/>
                          <a:latin typeface="Perpetua"/>
                        </a:rPr>
                        <a:t>Comparabilité</a:t>
                      </a:r>
                    </a:p>
                  </a:txBody>
                  <a:tcPr marL="91447" marR="91447" marT="45721" marB="45721" horzOverflow="overflow">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lumMod val="90000"/>
                      </a:schemeClr>
                    </a:solidFill>
                  </a:tcPr>
                </a:tc>
                <a:tc vMerge="1">
                  <a:txBody>
                    <a:bodyPr/>
                    <a:lstStyle/>
                    <a:p>
                      <a:endParaRPr lang="fr-CA"/>
                    </a:p>
                  </a:txBody>
                  <a:tcPr/>
                </a:tc>
                <a:extLst>
                  <a:ext uri="{0D108BD9-81ED-4DB2-BD59-A6C34878D82A}">
                    <a16:rowId xmlns:a16="http://schemas.microsoft.com/office/drawing/2014/main" val="10003"/>
                  </a:ext>
                </a:extLst>
              </a:tr>
              <a:tr h="3455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Perpetua"/>
                        </a:rPr>
                        <a:t>Vérifiabilité</a:t>
                      </a:r>
                    </a:p>
                  </a:txBody>
                  <a:tcPr marL="91447" marR="91447" marT="45721" marB="45721" horzOverflow="overflow">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vMerge="1">
                  <a:txBody>
                    <a:bodyPr/>
                    <a:lstStyle/>
                    <a:p>
                      <a:endParaRPr lang="fr-CA"/>
                    </a:p>
                  </a:txBody>
                  <a:tcPr/>
                </a:tc>
                <a:extLst>
                  <a:ext uri="{0D108BD9-81ED-4DB2-BD59-A6C34878D82A}">
                    <a16:rowId xmlns:a16="http://schemas.microsoft.com/office/drawing/2014/main" val="10004"/>
                  </a:ext>
                </a:extLst>
              </a:tr>
              <a:tr h="145102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CA" sz="1800" b="1" i="0" u="none" strike="noStrike" cap="none" normalizeH="0" baseline="0" dirty="0">
                        <a:ln>
                          <a:noFill/>
                        </a:ln>
                        <a:solidFill>
                          <a:srgbClr val="000000"/>
                        </a:solidFill>
                        <a:effectLst/>
                        <a:latin typeface="Perpetua"/>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CA" sz="1800" b="1" i="0" u="none" strike="noStrike" cap="none" normalizeH="0" baseline="0" dirty="0">
                        <a:ln>
                          <a:noFill/>
                        </a:ln>
                        <a:solidFill>
                          <a:srgbClr val="000000"/>
                        </a:solidFill>
                        <a:effectLst/>
                        <a:latin typeface="Perpetua"/>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000000"/>
                          </a:solidFill>
                          <a:effectLst/>
                          <a:latin typeface="Perpetua"/>
                        </a:rPr>
                        <a:t>Rapidité </a:t>
                      </a:r>
                    </a:p>
                  </a:txBody>
                  <a:tcPr marL="91447" marR="91447" marT="45721" marB="45721" horzOverflow="overflow">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lumMod val="90000"/>
                      </a:schemeClr>
                    </a:solidFill>
                  </a:tcPr>
                </a:tc>
                <a:tc vMerge="1">
                  <a:txBody>
                    <a:bodyPr/>
                    <a:lstStyle/>
                    <a:p>
                      <a:endParaRPr lang="fr-CA"/>
                    </a:p>
                  </a:txBody>
                  <a:tcPr/>
                </a:tc>
                <a:extLst>
                  <a:ext uri="{0D108BD9-81ED-4DB2-BD59-A6C34878D82A}">
                    <a16:rowId xmlns:a16="http://schemas.microsoft.com/office/drawing/2014/main" val="10005"/>
                  </a:ext>
                </a:extLst>
              </a:tr>
            </a:tbl>
          </a:graphicData>
        </a:graphic>
      </p:graphicFrame>
      <p:sp>
        <p:nvSpPr>
          <p:cNvPr id="2" name="Étoile à 5 branches 1"/>
          <p:cNvSpPr/>
          <p:nvPr/>
        </p:nvSpPr>
        <p:spPr>
          <a:xfrm>
            <a:off x="4787900" y="1125538"/>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CA" dirty="0"/>
          </a:p>
        </p:txBody>
      </p:sp>
      <p:sp>
        <p:nvSpPr>
          <p:cNvPr id="3" name="Étoile à 5 branches 2"/>
          <p:cNvSpPr/>
          <p:nvPr/>
        </p:nvSpPr>
        <p:spPr>
          <a:xfrm>
            <a:off x="4843463" y="2708275"/>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CA" dirty="0"/>
          </a:p>
        </p:txBody>
      </p:sp>
      <p:sp>
        <p:nvSpPr>
          <p:cNvPr id="9" name="Étoile à 5 branches 8"/>
          <p:cNvSpPr/>
          <p:nvPr/>
        </p:nvSpPr>
        <p:spPr>
          <a:xfrm>
            <a:off x="4843463" y="5445125"/>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CA" dirty="0"/>
          </a:p>
        </p:txBody>
      </p:sp>
      <p:pic>
        <p:nvPicPr>
          <p:cNvPr id="19484" name="Picture 2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7056" y="4186236"/>
            <a:ext cx="5016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a:lstStyle/>
          <a:p>
            <a:pPr>
              <a:defRPr/>
            </a:pPr>
            <a:r>
              <a:rPr lang="fr-CA" sz="3200" dirty="0"/>
              <a:t>Renseignements intermédiaires –</a:t>
            </a:r>
            <a:r>
              <a:rPr lang="fr-CA" dirty="0"/>
              <a:t> </a:t>
            </a:r>
            <a:br>
              <a:rPr lang="fr-CA" dirty="0"/>
            </a:br>
            <a:r>
              <a:rPr lang="fr-CA" sz="2800" dirty="0"/>
              <a:t>quelles entités </a:t>
            </a:r>
            <a:r>
              <a:rPr lang="fr-CA" sz="2800" b="1" dirty="0">
                <a:solidFill>
                  <a:schemeClr val="bg2">
                    <a:lumMod val="25000"/>
                  </a:schemeClr>
                </a:solidFill>
              </a:rPr>
              <a:t>doivent</a:t>
            </a:r>
            <a:r>
              <a:rPr lang="fr-CA" sz="2800" dirty="0"/>
              <a:t> en publier ?</a:t>
            </a:r>
          </a:p>
        </p:txBody>
      </p:sp>
      <p:sp>
        <p:nvSpPr>
          <p:cNvPr id="39939" name="Rectangle 3"/>
          <p:cNvSpPr>
            <a:spLocks noGrp="1"/>
          </p:cNvSpPr>
          <p:nvPr>
            <p:ph type="body" idx="1"/>
          </p:nvPr>
        </p:nvSpPr>
        <p:spPr>
          <a:xfrm>
            <a:off x="381000" y="2533650"/>
            <a:ext cx="8229600" cy="3867150"/>
          </a:xfrm>
        </p:spPr>
        <p:txBody>
          <a:bodyPr/>
          <a:lstStyle/>
          <a:p>
            <a:pPr>
              <a:defRPr/>
            </a:pPr>
            <a:r>
              <a:rPr lang="fr-CA" dirty="0"/>
              <a:t>Au Canada, ce sont les ACVM qui exigent des </a:t>
            </a:r>
            <a:r>
              <a:rPr lang="fr-CA" b="1" dirty="0">
                <a:solidFill>
                  <a:schemeClr val="accent1">
                    <a:lumMod val="75000"/>
                  </a:schemeClr>
                </a:solidFill>
              </a:rPr>
              <a:t>sociétés ouvertes </a:t>
            </a:r>
            <a:r>
              <a:rPr lang="fr-CA" dirty="0"/>
              <a:t>qu’elles publient des rapports trimestriels.</a:t>
            </a:r>
          </a:p>
          <a:p>
            <a:pPr>
              <a:defRPr/>
            </a:pPr>
            <a:r>
              <a:rPr lang="fr-CA" dirty="0"/>
              <a:t>Ce sont elles qui  </a:t>
            </a:r>
            <a:r>
              <a:rPr lang="fr-CA" b="1" dirty="0">
                <a:solidFill>
                  <a:srgbClr val="E90062"/>
                </a:solidFill>
              </a:rPr>
              <a:t>exigent</a:t>
            </a:r>
            <a:r>
              <a:rPr lang="fr-CA" dirty="0"/>
              <a:t> que celles-ci publient des états financiers </a:t>
            </a:r>
            <a:r>
              <a:rPr lang="fr-CA" b="1" dirty="0">
                <a:solidFill>
                  <a:srgbClr val="E90062"/>
                </a:solidFill>
              </a:rPr>
              <a:t>trimestriels</a:t>
            </a:r>
            <a:r>
              <a:rPr lang="fr-CA" dirty="0"/>
              <a:t>.</a:t>
            </a:r>
          </a:p>
          <a:p>
            <a:pPr>
              <a:buFont typeface="Georgia" panose="02040502050405020303" pitchFamily="18" charset="0"/>
              <a:buNone/>
              <a:defRPr/>
            </a:pPr>
            <a:endParaRPr lang="fr-CA" dirty="0"/>
          </a:p>
        </p:txBody>
      </p:sp>
      <p:sp>
        <p:nvSpPr>
          <p:cNvPr id="21508" name="Espace réservé du pied de page 1"/>
          <p:cNvSpPr>
            <a:spLocks noGrp="1"/>
          </p:cNvSpPr>
          <p:nvPr>
            <p:ph type="ftr" sz="quarter" idx="11"/>
          </p:nvPr>
        </p:nvSpPr>
        <p:spPr bwMode="auto">
          <a:xfrm>
            <a:off x="5257800" y="612775"/>
            <a:ext cx="2482552" cy="384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2150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FB71CCC3-6D17-4994-9337-B2D90D1EFF70}" type="slidenum">
              <a:rPr lang="fr-FR" altLang="fr-FR" sz="1800" smtClean="0">
                <a:solidFill>
                  <a:srgbClr val="FFFFFF"/>
                </a:solidFill>
                <a:latin typeface="Times New Roman" panose="02020603050405020304" pitchFamily="18" charset="0"/>
              </a:rPr>
              <a:pPr>
                <a:spcBef>
                  <a:spcPct val="0"/>
                </a:spcBef>
                <a:buClrTx/>
                <a:buFontTx/>
                <a:buNone/>
              </a:pPr>
              <a:t>9</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143000"/>
            <a:ext cx="8229600" cy="1069975"/>
          </a:xfrm>
        </p:spPr>
        <p:txBody>
          <a:bodyPr/>
          <a:lstStyle/>
          <a:p>
            <a:pPr eaLnBrk="1" hangingPunct="1"/>
            <a:r>
              <a:rPr lang="fr-CA" altLang="fr-FR" sz="3200"/>
              <a:t>Principales parties prenantes </a:t>
            </a:r>
            <a:br>
              <a:rPr lang="fr-CA" altLang="fr-FR"/>
            </a:br>
            <a:r>
              <a:rPr lang="fr-CA" altLang="fr-FR" sz="2800"/>
              <a:t>de l’information trimestrielle</a:t>
            </a:r>
            <a:endParaRPr lang="fr-CA" altLang="fr-FR"/>
          </a:p>
        </p:txBody>
      </p:sp>
      <p:sp>
        <p:nvSpPr>
          <p:cNvPr id="23555" name="Rectangle 3"/>
          <p:cNvSpPr>
            <a:spLocks noGrp="1" noChangeArrowheads="1"/>
          </p:cNvSpPr>
          <p:nvPr>
            <p:ph type="body" idx="4294967295"/>
          </p:nvPr>
        </p:nvSpPr>
        <p:spPr>
          <a:xfrm>
            <a:off x="1185863" y="2349500"/>
            <a:ext cx="7958137" cy="3746500"/>
          </a:xfrm>
        </p:spPr>
        <p:txBody>
          <a:bodyPr/>
          <a:lstStyle/>
          <a:p>
            <a:pPr eaLnBrk="1" hangingPunct="1"/>
            <a:r>
              <a:rPr lang="fr-CA" altLang="fr-FR" dirty="0"/>
              <a:t>La CVMO (OSC)</a:t>
            </a:r>
          </a:p>
          <a:p>
            <a:pPr eaLnBrk="1" hangingPunct="1"/>
            <a:r>
              <a:rPr lang="fr-CA" altLang="fr-FR" dirty="0"/>
              <a:t>Les analystes financiers</a:t>
            </a:r>
          </a:p>
          <a:p>
            <a:pPr eaLnBrk="1" hangingPunct="1"/>
            <a:r>
              <a:rPr lang="fr-CA" altLang="fr-FR" dirty="0"/>
              <a:t>Les actionnaires</a:t>
            </a:r>
          </a:p>
          <a:p>
            <a:pPr eaLnBrk="1" hangingPunct="1"/>
            <a:r>
              <a:rPr lang="fr-CA" altLang="fr-FR" dirty="0"/>
              <a:t>Les détenteurs d’options d’achat d’actions</a:t>
            </a:r>
          </a:p>
          <a:p>
            <a:pPr eaLnBrk="1" hangingPunct="1"/>
            <a:r>
              <a:rPr lang="fr-CA" altLang="fr-FR" dirty="0"/>
              <a:t>Les créanciers</a:t>
            </a:r>
          </a:p>
          <a:p>
            <a:pPr eaLnBrk="1" hangingPunct="1"/>
            <a:r>
              <a:rPr lang="fr-CA" altLang="fr-FR" dirty="0"/>
              <a:t>Les auditeurs</a:t>
            </a:r>
          </a:p>
        </p:txBody>
      </p:sp>
      <p:sp>
        <p:nvSpPr>
          <p:cNvPr id="23556" name="Espace réservé du pied de page 1"/>
          <p:cNvSpPr>
            <a:spLocks noGrp="1"/>
          </p:cNvSpPr>
          <p:nvPr>
            <p:ph type="ftr" sz="quarter" idx="11"/>
          </p:nvPr>
        </p:nvSpPr>
        <p:spPr bwMode="auto">
          <a:xfrm>
            <a:off x="5292725" y="549275"/>
            <a:ext cx="2591643"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2355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3F5BD4AE-2536-47D1-8210-856063EF90C7}" type="slidenum">
              <a:rPr lang="fr-FR" altLang="fr-FR" sz="1800" smtClean="0">
                <a:solidFill>
                  <a:srgbClr val="FFFFFF"/>
                </a:solidFill>
                <a:latin typeface="Times New Roman" panose="02020603050405020304" pitchFamily="18" charset="0"/>
              </a:rPr>
              <a:pPr>
                <a:spcBef>
                  <a:spcPct val="0"/>
                </a:spcBef>
                <a:buClrTx/>
                <a:buFontTx/>
                <a:buNone/>
              </a:pPr>
              <a:t>10</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fontScale="90000"/>
          </a:bodyPr>
          <a:lstStyle/>
          <a:p>
            <a:pPr eaLnBrk="1" fontAlgn="auto" hangingPunct="1">
              <a:spcAft>
                <a:spcPts val="0"/>
              </a:spcAft>
              <a:defRPr/>
            </a:pPr>
            <a:r>
              <a:rPr lang="fr-CA" dirty="0"/>
              <a:t>À propos des états financiers intermédiaires</a:t>
            </a:r>
          </a:p>
        </p:txBody>
      </p:sp>
      <p:sp>
        <p:nvSpPr>
          <p:cNvPr id="25603" name="Rectangle 3"/>
          <p:cNvSpPr>
            <a:spLocks noGrp="1" noChangeArrowheads="1"/>
          </p:cNvSpPr>
          <p:nvPr>
            <p:ph idx="1"/>
          </p:nvPr>
        </p:nvSpPr>
        <p:spPr>
          <a:xfrm>
            <a:off x="457200" y="2565400"/>
            <a:ext cx="8229600" cy="4008438"/>
          </a:xfrm>
        </p:spPr>
        <p:txBody>
          <a:bodyPr/>
          <a:lstStyle/>
          <a:p>
            <a:pPr eaLnBrk="1" hangingPunct="1">
              <a:lnSpc>
                <a:spcPct val="90000"/>
              </a:lnSpc>
            </a:pPr>
            <a:r>
              <a:rPr lang="fr-CA" altLang="fr-FR" sz="2600"/>
              <a:t>Forme et contenu des états financiers intermédiaires</a:t>
            </a:r>
          </a:p>
          <a:p>
            <a:pPr eaLnBrk="1" hangingPunct="1">
              <a:lnSpc>
                <a:spcPct val="90000"/>
              </a:lnSpc>
            </a:pPr>
            <a:r>
              <a:rPr lang="fr-CA" altLang="fr-FR" sz="2600"/>
              <a:t>Notes aux états financiers – des exigences allégées</a:t>
            </a:r>
          </a:p>
          <a:p>
            <a:pPr eaLnBrk="1" hangingPunct="1">
              <a:lnSpc>
                <a:spcPct val="90000"/>
              </a:lnSpc>
            </a:pPr>
            <a:r>
              <a:rPr lang="fr-CA" altLang="fr-FR" sz="2600"/>
              <a:t>Importance relative</a:t>
            </a:r>
          </a:p>
          <a:p>
            <a:pPr eaLnBrk="1" hangingPunct="1">
              <a:lnSpc>
                <a:spcPct val="90000"/>
              </a:lnSpc>
            </a:pPr>
            <a:r>
              <a:rPr lang="fr-CA" altLang="fr-FR" sz="2600"/>
              <a:t>Comptabilisation</a:t>
            </a:r>
          </a:p>
          <a:p>
            <a:pPr eaLnBrk="1" hangingPunct="1">
              <a:lnSpc>
                <a:spcPct val="90000"/>
              </a:lnSpc>
            </a:pPr>
            <a:r>
              <a:rPr lang="fr-CA" altLang="fr-FR" sz="2600"/>
              <a:t>Mesure</a:t>
            </a:r>
          </a:p>
        </p:txBody>
      </p:sp>
      <p:sp>
        <p:nvSpPr>
          <p:cNvPr id="25604" name="Espace réservé du pied de page 1"/>
          <p:cNvSpPr>
            <a:spLocks noGrp="1"/>
          </p:cNvSpPr>
          <p:nvPr>
            <p:ph type="ftr" sz="quarter" idx="11"/>
          </p:nvPr>
        </p:nvSpPr>
        <p:spPr bwMode="auto">
          <a:xfrm>
            <a:off x="5257800" y="612775"/>
            <a:ext cx="2916238" cy="352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2560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99ECE81B-2D84-4E2B-9D11-B3D39FD1410D}" type="slidenum">
              <a:rPr lang="fr-FR" altLang="fr-FR" sz="1800" smtClean="0">
                <a:solidFill>
                  <a:srgbClr val="FFFFFF"/>
                </a:solidFill>
                <a:latin typeface="Times New Roman" panose="02020603050405020304" pitchFamily="18" charset="0"/>
              </a:rPr>
              <a:pPr>
                <a:spcBef>
                  <a:spcPct val="0"/>
                </a:spcBef>
                <a:buClrTx/>
                <a:buFontTx/>
                <a:buNone/>
              </a:pPr>
              <a:t>11</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1"/>
          <p:cNvSpPr>
            <a:spLocks noGrp="1"/>
          </p:cNvSpPr>
          <p:nvPr>
            <p:ph type="title"/>
          </p:nvPr>
        </p:nvSpPr>
        <p:spPr/>
        <p:txBody>
          <a:bodyPr/>
          <a:lstStyle/>
          <a:p>
            <a:pPr eaLnBrk="1" hangingPunct="1"/>
            <a:r>
              <a:rPr lang="fr-CA" altLang="fr-FR" sz="3200"/>
              <a:t>Forme et contenu des états financiers intermédiaires</a:t>
            </a:r>
          </a:p>
        </p:txBody>
      </p:sp>
      <p:graphicFrame>
        <p:nvGraphicFramePr>
          <p:cNvPr id="13349" name="Group 37"/>
          <p:cNvGraphicFramePr>
            <a:graphicFrameLocks noGrp="1"/>
          </p:cNvGraphicFramePr>
          <p:nvPr>
            <p:ph idx="1"/>
            <p:extLst>
              <p:ext uri="{D42A27DB-BD31-4B8C-83A1-F6EECF244321}">
                <p14:modId xmlns:p14="http://schemas.microsoft.com/office/powerpoint/2010/main" val="3345989570"/>
              </p:ext>
            </p:extLst>
          </p:nvPr>
        </p:nvGraphicFramePr>
        <p:xfrm>
          <a:off x="468313" y="2492375"/>
          <a:ext cx="8424862" cy="3024188"/>
        </p:xfrm>
        <a:graphic>
          <a:graphicData uri="http://schemas.openxmlformats.org/drawingml/2006/table">
            <a:tbl>
              <a:tblPr/>
              <a:tblGrid>
                <a:gridCol w="3035300">
                  <a:extLst>
                    <a:ext uri="{9D8B030D-6E8A-4147-A177-3AD203B41FA5}">
                      <a16:colId xmlns:a16="http://schemas.microsoft.com/office/drawing/2014/main" val="20000"/>
                    </a:ext>
                  </a:extLst>
                </a:gridCol>
                <a:gridCol w="5389562">
                  <a:extLst>
                    <a:ext uri="{9D8B030D-6E8A-4147-A177-3AD203B41FA5}">
                      <a16:colId xmlns:a16="http://schemas.microsoft.com/office/drawing/2014/main" val="20001"/>
                    </a:ext>
                  </a:extLst>
                </a:gridCol>
              </a:tblGrid>
              <a:tr h="371475">
                <a:tc>
                  <a:txBody>
                    <a:bodyPr/>
                    <a:lstStyle>
                      <a:lvl1pPr eaLnBrk="0" hangingPunct="0">
                        <a:spcBef>
                          <a:spcPts val="300"/>
                        </a:spcBef>
                        <a:buClr>
                          <a:srgbClr val="9C007F"/>
                        </a:buClr>
                        <a:buFont typeface="Georgia" pitchFamily="18" charset="0"/>
                        <a:defRPr sz="2400">
                          <a:solidFill>
                            <a:schemeClr val="tx1"/>
                          </a:solidFill>
                          <a:latin typeface="Georgia" pitchFamily="18" charset="0"/>
                        </a:defRPr>
                      </a:lvl1pPr>
                      <a:lvl2pPr marL="742950" indent="-285750" eaLnBrk="0" hangingPunct="0">
                        <a:spcBef>
                          <a:spcPts val="300"/>
                        </a:spcBef>
                        <a:buClr>
                          <a:schemeClr val="accent2"/>
                        </a:buClr>
                        <a:buFont typeface="Georgia" pitchFamily="18" charset="0"/>
                        <a:defRPr sz="2200">
                          <a:solidFill>
                            <a:schemeClr val="accent2"/>
                          </a:solidFill>
                          <a:latin typeface="Georgia" pitchFamily="18" charset="0"/>
                        </a:defRPr>
                      </a:lvl2pPr>
                      <a:lvl3pPr marL="1143000" indent="-228600" eaLnBrk="0" hangingPunct="0">
                        <a:spcBef>
                          <a:spcPts val="300"/>
                        </a:spcBef>
                        <a:buClr>
                          <a:schemeClr val="accent1"/>
                        </a:buClr>
                        <a:buFont typeface="Wingdings 2" pitchFamily="18" charset="2"/>
                        <a:defRPr sz="2000">
                          <a:solidFill>
                            <a:schemeClr val="accent1"/>
                          </a:solidFill>
                          <a:latin typeface="Georgia" pitchFamily="18" charset="0"/>
                        </a:defRPr>
                      </a:lvl3pPr>
                      <a:lvl4pPr marL="1600200" indent="-228600" eaLnBrk="0" hangingPunct="0">
                        <a:spcBef>
                          <a:spcPts val="300"/>
                        </a:spcBef>
                        <a:buClr>
                          <a:schemeClr val="accent1"/>
                        </a:buClr>
                        <a:buFont typeface="Wingdings 2" pitchFamily="18" charset="2"/>
                        <a:defRPr sz="2000">
                          <a:solidFill>
                            <a:schemeClr val="accent1"/>
                          </a:solidFill>
                          <a:latin typeface="Georgia" pitchFamily="18" charset="0"/>
                        </a:defRPr>
                      </a:lvl4pPr>
                      <a:lvl5pPr marL="2057400" indent="-228600" eaLnBrk="0" hangingPunct="0">
                        <a:spcBef>
                          <a:spcPts val="300"/>
                        </a:spcBef>
                        <a:buClr>
                          <a:srgbClr val="9C007F"/>
                        </a:buClr>
                        <a:buFont typeface="Georgia" pitchFamily="18" charset="0"/>
                        <a:defRPr>
                          <a:solidFill>
                            <a:srgbClr val="9C007F"/>
                          </a:solidFill>
                          <a:latin typeface="Georgia" pitchFamily="18" charset="0"/>
                        </a:defRPr>
                      </a:lvl5pPr>
                      <a:lvl6pPr marL="25146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6pPr>
                      <a:lvl7pPr marL="29718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7pPr>
                      <a:lvl8pPr marL="34290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8pPr>
                      <a:lvl9pPr marL="38862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altLang="fr-FR" sz="1800" b="1" i="0" u="none" strike="noStrike" cap="none" normalizeH="0" baseline="0" dirty="0">
                          <a:ln>
                            <a:noFill/>
                          </a:ln>
                          <a:solidFill>
                            <a:srgbClr val="FFFFFF"/>
                          </a:solidFill>
                          <a:effectLst/>
                          <a:latin typeface="Georgia" pitchFamily="18" charset="0"/>
                        </a:rPr>
                        <a:t>Choix offerts</a:t>
                      </a:r>
                    </a:p>
                  </a:txBody>
                  <a:tcPr marL="91448" marR="91448"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ts val="300"/>
                        </a:spcBef>
                        <a:buClr>
                          <a:srgbClr val="9C007F"/>
                        </a:buClr>
                        <a:buFont typeface="Georgia" pitchFamily="18" charset="0"/>
                        <a:defRPr sz="2400">
                          <a:solidFill>
                            <a:schemeClr val="tx1"/>
                          </a:solidFill>
                          <a:latin typeface="Georgia" pitchFamily="18" charset="0"/>
                        </a:defRPr>
                      </a:lvl1pPr>
                      <a:lvl2pPr marL="742950" indent="-285750" eaLnBrk="0" hangingPunct="0">
                        <a:spcBef>
                          <a:spcPts val="300"/>
                        </a:spcBef>
                        <a:buClr>
                          <a:schemeClr val="accent2"/>
                        </a:buClr>
                        <a:buFont typeface="Georgia" pitchFamily="18" charset="0"/>
                        <a:defRPr sz="2200">
                          <a:solidFill>
                            <a:schemeClr val="accent2"/>
                          </a:solidFill>
                          <a:latin typeface="Georgia" pitchFamily="18" charset="0"/>
                        </a:defRPr>
                      </a:lvl2pPr>
                      <a:lvl3pPr marL="1143000" indent="-228600" eaLnBrk="0" hangingPunct="0">
                        <a:spcBef>
                          <a:spcPts val="300"/>
                        </a:spcBef>
                        <a:buClr>
                          <a:schemeClr val="accent1"/>
                        </a:buClr>
                        <a:buFont typeface="Wingdings 2" pitchFamily="18" charset="2"/>
                        <a:defRPr sz="2000">
                          <a:solidFill>
                            <a:schemeClr val="accent1"/>
                          </a:solidFill>
                          <a:latin typeface="Georgia" pitchFamily="18" charset="0"/>
                        </a:defRPr>
                      </a:lvl3pPr>
                      <a:lvl4pPr marL="1600200" indent="-228600" eaLnBrk="0" hangingPunct="0">
                        <a:spcBef>
                          <a:spcPts val="300"/>
                        </a:spcBef>
                        <a:buClr>
                          <a:schemeClr val="accent1"/>
                        </a:buClr>
                        <a:buFont typeface="Wingdings 2" pitchFamily="18" charset="2"/>
                        <a:defRPr sz="2000">
                          <a:solidFill>
                            <a:schemeClr val="accent1"/>
                          </a:solidFill>
                          <a:latin typeface="Georgia" pitchFamily="18" charset="0"/>
                        </a:defRPr>
                      </a:lvl4pPr>
                      <a:lvl5pPr marL="2057400" indent="-228600" eaLnBrk="0" hangingPunct="0">
                        <a:spcBef>
                          <a:spcPts val="300"/>
                        </a:spcBef>
                        <a:buClr>
                          <a:srgbClr val="9C007F"/>
                        </a:buClr>
                        <a:buFont typeface="Georgia" pitchFamily="18" charset="0"/>
                        <a:defRPr>
                          <a:solidFill>
                            <a:srgbClr val="9C007F"/>
                          </a:solidFill>
                          <a:latin typeface="Georgia" pitchFamily="18" charset="0"/>
                        </a:defRPr>
                      </a:lvl5pPr>
                      <a:lvl6pPr marL="25146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6pPr>
                      <a:lvl7pPr marL="29718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7pPr>
                      <a:lvl8pPr marL="34290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8pPr>
                      <a:lvl9pPr marL="38862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altLang="fr-FR" sz="1800" b="1" i="0" u="none" strike="noStrike" cap="none" normalizeH="0" baseline="0">
                          <a:ln>
                            <a:noFill/>
                          </a:ln>
                          <a:solidFill>
                            <a:srgbClr val="FFFFFF"/>
                          </a:solidFill>
                          <a:effectLst/>
                          <a:latin typeface="Georgia" pitchFamily="18" charset="0"/>
                        </a:rPr>
                        <a:t>Exigences de présentation</a:t>
                      </a:r>
                    </a:p>
                  </a:txBody>
                  <a:tcPr marL="91448" marR="91448"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463675">
                <a:tc>
                  <a:txBody>
                    <a:bodyPr/>
                    <a:lstStyle>
                      <a:lvl1pPr eaLnBrk="0" hangingPunct="0">
                        <a:spcBef>
                          <a:spcPts val="300"/>
                        </a:spcBef>
                        <a:buClr>
                          <a:srgbClr val="9C007F"/>
                        </a:buClr>
                        <a:buFont typeface="Georgia" pitchFamily="18" charset="0"/>
                        <a:defRPr sz="2400">
                          <a:solidFill>
                            <a:schemeClr val="tx1"/>
                          </a:solidFill>
                          <a:latin typeface="Georgia" pitchFamily="18" charset="0"/>
                        </a:defRPr>
                      </a:lvl1pPr>
                      <a:lvl2pPr marL="742950" indent="-285750" eaLnBrk="0" hangingPunct="0">
                        <a:spcBef>
                          <a:spcPts val="300"/>
                        </a:spcBef>
                        <a:buClr>
                          <a:schemeClr val="accent2"/>
                        </a:buClr>
                        <a:buFont typeface="Georgia" pitchFamily="18" charset="0"/>
                        <a:defRPr sz="2200">
                          <a:solidFill>
                            <a:schemeClr val="accent2"/>
                          </a:solidFill>
                          <a:latin typeface="Georgia" pitchFamily="18" charset="0"/>
                        </a:defRPr>
                      </a:lvl2pPr>
                      <a:lvl3pPr marL="1143000" indent="-228600" eaLnBrk="0" hangingPunct="0">
                        <a:spcBef>
                          <a:spcPts val="300"/>
                        </a:spcBef>
                        <a:buClr>
                          <a:schemeClr val="accent1"/>
                        </a:buClr>
                        <a:buFont typeface="Wingdings 2" pitchFamily="18" charset="2"/>
                        <a:defRPr sz="2000">
                          <a:solidFill>
                            <a:schemeClr val="accent1"/>
                          </a:solidFill>
                          <a:latin typeface="Georgia" pitchFamily="18" charset="0"/>
                        </a:defRPr>
                      </a:lvl3pPr>
                      <a:lvl4pPr marL="1600200" indent="-228600" eaLnBrk="0" hangingPunct="0">
                        <a:spcBef>
                          <a:spcPts val="300"/>
                        </a:spcBef>
                        <a:buClr>
                          <a:schemeClr val="accent1"/>
                        </a:buClr>
                        <a:buFont typeface="Wingdings 2" pitchFamily="18" charset="2"/>
                        <a:defRPr sz="2000">
                          <a:solidFill>
                            <a:schemeClr val="accent1"/>
                          </a:solidFill>
                          <a:latin typeface="Georgia" pitchFamily="18" charset="0"/>
                        </a:defRPr>
                      </a:lvl4pPr>
                      <a:lvl5pPr marL="2057400" indent="-228600" eaLnBrk="0" hangingPunct="0">
                        <a:spcBef>
                          <a:spcPts val="300"/>
                        </a:spcBef>
                        <a:buClr>
                          <a:srgbClr val="9C007F"/>
                        </a:buClr>
                        <a:buFont typeface="Georgia" pitchFamily="18" charset="0"/>
                        <a:defRPr>
                          <a:solidFill>
                            <a:srgbClr val="9C007F"/>
                          </a:solidFill>
                          <a:latin typeface="Georgia" pitchFamily="18" charset="0"/>
                        </a:defRPr>
                      </a:lvl5pPr>
                      <a:lvl6pPr marL="25146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6pPr>
                      <a:lvl7pPr marL="29718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7pPr>
                      <a:lvl8pPr marL="34290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8pPr>
                      <a:lvl9pPr marL="38862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altLang="fr-FR" sz="1800" b="0" i="0" u="none" strike="noStrike" cap="none" normalizeH="0" baseline="0" dirty="0">
                          <a:ln>
                            <a:noFill/>
                          </a:ln>
                          <a:solidFill>
                            <a:srgbClr val="000000"/>
                          </a:solidFill>
                          <a:effectLst/>
                          <a:latin typeface="Georgia" pitchFamily="18" charset="0"/>
                        </a:rPr>
                        <a:t>États financiers complets (comme les EF annuels)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CA" altLang="fr-FR" sz="1800" b="0" i="0" u="none" strike="noStrike" cap="none" normalizeH="0" baseline="0" dirty="0">
                        <a:ln>
                          <a:noFill/>
                        </a:ln>
                        <a:solidFill>
                          <a:srgbClr val="000000"/>
                        </a:solidFill>
                        <a:effectLst/>
                        <a:latin typeface="Georgia"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fr-CA" altLang="fr-FR" sz="1800" b="0" i="0" u="none" strike="noStrike" cap="none" normalizeH="0" baseline="0" dirty="0">
                        <a:ln>
                          <a:noFill/>
                        </a:ln>
                        <a:solidFill>
                          <a:srgbClr val="000000"/>
                        </a:solidFill>
                        <a:effectLst/>
                        <a:latin typeface="Georgia"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fr-CA" altLang="fr-FR" sz="1800" b="1" i="0" u="none" strike="noStrike" cap="none" normalizeH="0" baseline="0" dirty="0">
                          <a:ln>
                            <a:noFill/>
                          </a:ln>
                          <a:solidFill>
                            <a:srgbClr val="000000"/>
                          </a:solidFill>
                          <a:effectLst/>
                          <a:latin typeface="Georgia" pitchFamily="18" charset="0"/>
                        </a:rPr>
                        <a:t>               OU</a:t>
                      </a:r>
                    </a:p>
                  </a:txBody>
                  <a:tcPr marL="91448" marR="91448"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EDB"/>
                    </a:solidFill>
                  </a:tcPr>
                </a:tc>
                <a:tc>
                  <a:txBody>
                    <a:bodyPr/>
                    <a:lstStyle>
                      <a:lvl1pPr marL="285750" indent="-285750" eaLnBrk="0" hangingPunct="0">
                        <a:spcBef>
                          <a:spcPts val="300"/>
                        </a:spcBef>
                        <a:buClr>
                          <a:srgbClr val="9C007F"/>
                        </a:buClr>
                        <a:buFont typeface="Georgia" pitchFamily="18" charset="0"/>
                        <a:defRPr sz="2400">
                          <a:solidFill>
                            <a:schemeClr val="tx1"/>
                          </a:solidFill>
                          <a:latin typeface="Georgia" pitchFamily="18" charset="0"/>
                        </a:defRPr>
                      </a:lvl1pPr>
                      <a:lvl2pPr marL="742950" indent="-285750" eaLnBrk="0" hangingPunct="0">
                        <a:spcBef>
                          <a:spcPts val="300"/>
                        </a:spcBef>
                        <a:buClr>
                          <a:schemeClr val="accent2"/>
                        </a:buClr>
                        <a:buFont typeface="Georgia" pitchFamily="18" charset="0"/>
                        <a:defRPr sz="2200">
                          <a:solidFill>
                            <a:schemeClr val="accent2"/>
                          </a:solidFill>
                          <a:latin typeface="Georgia" pitchFamily="18" charset="0"/>
                        </a:defRPr>
                      </a:lvl2pPr>
                      <a:lvl3pPr marL="1143000" indent="-228600" eaLnBrk="0" hangingPunct="0">
                        <a:spcBef>
                          <a:spcPts val="300"/>
                        </a:spcBef>
                        <a:buClr>
                          <a:schemeClr val="accent1"/>
                        </a:buClr>
                        <a:buFont typeface="Wingdings 2" pitchFamily="18" charset="2"/>
                        <a:defRPr sz="2000">
                          <a:solidFill>
                            <a:schemeClr val="accent1"/>
                          </a:solidFill>
                          <a:latin typeface="Georgia" pitchFamily="18" charset="0"/>
                        </a:defRPr>
                      </a:lvl3pPr>
                      <a:lvl4pPr marL="1600200" indent="-228600" eaLnBrk="0" hangingPunct="0">
                        <a:spcBef>
                          <a:spcPts val="300"/>
                        </a:spcBef>
                        <a:buClr>
                          <a:schemeClr val="accent1"/>
                        </a:buClr>
                        <a:buFont typeface="Wingdings 2" pitchFamily="18" charset="2"/>
                        <a:defRPr sz="2000">
                          <a:solidFill>
                            <a:schemeClr val="accent1"/>
                          </a:solidFill>
                          <a:latin typeface="Georgia" pitchFamily="18" charset="0"/>
                        </a:defRPr>
                      </a:lvl4pPr>
                      <a:lvl5pPr marL="2057400" indent="-228600" eaLnBrk="0" hangingPunct="0">
                        <a:spcBef>
                          <a:spcPts val="300"/>
                        </a:spcBef>
                        <a:buClr>
                          <a:srgbClr val="9C007F"/>
                        </a:buClr>
                        <a:buFont typeface="Georgia" pitchFamily="18" charset="0"/>
                        <a:defRPr>
                          <a:solidFill>
                            <a:srgbClr val="9C007F"/>
                          </a:solidFill>
                          <a:latin typeface="Georgia" pitchFamily="18" charset="0"/>
                        </a:defRPr>
                      </a:lvl5pPr>
                      <a:lvl6pPr marL="25146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6pPr>
                      <a:lvl7pPr marL="29718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7pPr>
                      <a:lvl8pPr marL="34290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8pPr>
                      <a:lvl9pPr marL="38862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9p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altLang="fr-FR" sz="1800" b="0" i="0" u="none" strike="noStrike" cap="none" normalizeH="0" baseline="0">
                          <a:ln>
                            <a:noFill/>
                          </a:ln>
                          <a:solidFill>
                            <a:srgbClr val="000000"/>
                          </a:solidFill>
                          <a:effectLst/>
                          <a:latin typeface="Georgia" pitchFamily="18" charset="0"/>
                        </a:rPr>
                        <a:t>On fait comme si  on présentait des EF annuels</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altLang="fr-FR" sz="1800" b="0" i="0" u="none" strike="noStrike" cap="none" normalizeH="0" baseline="0">
                          <a:ln>
                            <a:noFill/>
                          </a:ln>
                          <a:solidFill>
                            <a:srgbClr val="000000"/>
                          </a:solidFill>
                          <a:effectLst/>
                          <a:latin typeface="Georgia" pitchFamily="18" charset="0"/>
                        </a:rPr>
                        <a:t>On suit </a:t>
                      </a:r>
                      <a:r>
                        <a:rPr kumimoji="0" lang="fr-CA" altLang="fr-FR" sz="1800" b="1" i="0" u="none" strike="noStrike" cap="none" normalizeH="0" baseline="0">
                          <a:ln>
                            <a:noFill/>
                          </a:ln>
                          <a:solidFill>
                            <a:srgbClr val="000000"/>
                          </a:solidFill>
                          <a:effectLst/>
                          <a:latin typeface="Georgia" pitchFamily="18" charset="0"/>
                        </a:rPr>
                        <a:t>toutes</a:t>
                      </a:r>
                      <a:r>
                        <a:rPr kumimoji="0" lang="fr-CA" altLang="fr-FR" sz="1800" b="0" i="0" u="none" strike="noStrike" cap="none" normalizeH="0" baseline="0">
                          <a:ln>
                            <a:noFill/>
                          </a:ln>
                          <a:solidFill>
                            <a:srgbClr val="000000"/>
                          </a:solidFill>
                          <a:effectLst/>
                          <a:latin typeface="Georgia" pitchFamily="18" charset="0"/>
                        </a:rPr>
                        <a:t> les exigences </a:t>
                      </a:r>
                      <a:r>
                        <a:rPr kumimoji="0" lang="fr-CA" altLang="fr-FR" sz="1800" b="0" i="1" u="none" strike="noStrike" cap="none" normalizeH="0" baseline="0">
                          <a:ln>
                            <a:noFill/>
                          </a:ln>
                          <a:solidFill>
                            <a:srgbClr val="000000"/>
                          </a:solidFill>
                          <a:effectLst/>
                          <a:latin typeface="Georgia" pitchFamily="18" charset="0"/>
                        </a:rPr>
                        <a:t>d’IAS 1 – Présentation des états financiers</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None/>
                        <a:tabLst/>
                      </a:pPr>
                      <a:endParaRPr kumimoji="0" lang="fr-CA" altLang="fr-FR" sz="1800" b="0" i="0" u="none" strike="noStrike" cap="none" normalizeH="0" baseline="0">
                        <a:ln>
                          <a:noFill/>
                        </a:ln>
                        <a:solidFill>
                          <a:srgbClr val="000000"/>
                        </a:solidFill>
                        <a:effectLst/>
                        <a:latin typeface="Georgia" pitchFamily="18" charset="0"/>
                      </a:endParaRPr>
                    </a:p>
                  </a:txBody>
                  <a:tcPr marL="91448" marR="91448"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EDB"/>
                    </a:solidFill>
                  </a:tcPr>
                </a:tc>
                <a:extLst>
                  <a:ext uri="{0D108BD9-81ED-4DB2-BD59-A6C34878D82A}">
                    <a16:rowId xmlns:a16="http://schemas.microsoft.com/office/drawing/2014/main" val="10001"/>
                  </a:ext>
                </a:extLst>
              </a:tr>
              <a:tr h="1189038">
                <a:tc>
                  <a:txBody>
                    <a:bodyPr/>
                    <a:lstStyle>
                      <a:lvl1pPr eaLnBrk="0" hangingPunct="0">
                        <a:spcBef>
                          <a:spcPts val="300"/>
                        </a:spcBef>
                        <a:buClr>
                          <a:srgbClr val="9C007F"/>
                        </a:buClr>
                        <a:buFont typeface="Georgia" pitchFamily="18" charset="0"/>
                        <a:defRPr sz="2400">
                          <a:solidFill>
                            <a:schemeClr val="tx1"/>
                          </a:solidFill>
                          <a:latin typeface="Georgia" pitchFamily="18" charset="0"/>
                        </a:defRPr>
                      </a:lvl1pPr>
                      <a:lvl2pPr marL="742950" indent="-285750" eaLnBrk="0" hangingPunct="0">
                        <a:spcBef>
                          <a:spcPts val="300"/>
                        </a:spcBef>
                        <a:buClr>
                          <a:schemeClr val="accent2"/>
                        </a:buClr>
                        <a:buFont typeface="Georgia" pitchFamily="18" charset="0"/>
                        <a:defRPr sz="2200">
                          <a:solidFill>
                            <a:schemeClr val="accent2"/>
                          </a:solidFill>
                          <a:latin typeface="Georgia" pitchFamily="18" charset="0"/>
                        </a:defRPr>
                      </a:lvl2pPr>
                      <a:lvl3pPr marL="1143000" indent="-228600" eaLnBrk="0" hangingPunct="0">
                        <a:spcBef>
                          <a:spcPts val="300"/>
                        </a:spcBef>
                        <a:buClr>
                          <a:schemeClr val="accent1"/>
                        </a:buClr>
                        <a:buFont typeface="Wingdings 2" pitchFamily="18" charset="2"/>
                        <a:defRPr sz="2000">
                          <a:solidFill>
                            <a:schemeClr val="accent1"/>
                          </a:solidFill>
                          <a:latin typeface="Georgia" pitchFamily="18" charset="0"/>
                        </a:defRPr>
                      </a:lvl3pPr>
                      <a:lvl4pPr marL="1600200" indent="-228600" eaLnBrk="0" hangingPunct="0">
                        <a:spcBef>
                          <a:spcPts val="300"/>
                        </a:spcBef>
                        <a:buClr>
                          <a:schemeClr val="accent1"/>
                        </a:buClr>
                        <a:buFont typeface="Wingdings 2" pitchFamily="18" charset="2"/>
                        <a:defRPr sz="2000">
                          <a:solidFill>
                            <a:schemeClr val="accent1"/>
                          </a:solidFill>
                          <a:latin typeface="Georgia" pitchFamily="18" charset="0"/>
                        </a:defRPr>
                      </a:lvl4pPr>
                      <a:lvl5pPr marL="2057400" indent="-228600" eaLnBrk="0" hangingPunct="0">
                        <a:spcBef>
                          <a:spcPts val="300"/>
                        </a:spcBef>
                        <a:buClr>
                          <a:srgbClr val="9C007F"/>
                        </a:buClr>
                        <a:buFont typeface="Georgia" pitchFamily="18" charset="0"/>
                        <a:defRPr>
                          <a:solidFill>
                            <a:srgbClr val="9C007F"/>
                          </a:solidFill>
                          <a:latin typeface="Georgia" pitchFamily="18" charset="0"/>
                        </a:defRPr>
                      </a:lvl5pPr>
                      <a:lvl6pPr marL="25146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6pPr>
                      <a:lvl7pPr marL="29718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7pPr>
                      <a:lvl8pPr marL="34290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8pPr>
                      <a:lvl9pPr marL="38862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altLang="fr-FR" sz="1800" b="0" i="0" u="none" strike="noStrike" cap="none" normalizeH="0" baseline="0" dirty="0">
                          <a:ln>
                            <a:noFill/>
                          </a:ln>
                          <a:solidFill>
                            <a:srgbClr val="002060"/>
                          </a:solidFill>
                          <a:effectLst/>
                          <a:latin typeface="Georgia" pitchFamily="18" charset="0"/>
                          <a:hlinkClick r:id="rId3" action="ppaction://hlinksldjump"/>
                        </a:rPr>
                        <a:t>États financiers résumés (condensés)</a:t>
                      </a:r>
                      <a:endParaRPr kumimoji="0" lang="fr-CA" altLang="fr-FR" sz="1800" b="0" i="0" u="none" strike="noStrike" cap="none" normalizeH="0" baseline="0" dirty="0">
                        <a:ln>
                          <a:noFill/>
                        </a:ln>
                        <a:solidFill>
                          <a:srgbClr val="002060"/>
                        </a:solidFill>
                        <a:effectLst/>
                        <a:latin typeface="Georgia" pitchFamily="18" charset="0"/>
                      </a:endParaRPr>
                    </a:p>
                  </a:txBody>
                  <a:tcPr marL="91448" marR="91448"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8EE"/>
                    </a:solidFill>
                  </a:tcPr>
                </a:tc>
                <a:tc>
                  <a:txBody>
                    <a:bodyPr/>
                    <a:lstStyle>
                      <a:lvl1pPr marL="285750" indent="-285750" eaLnBrk="0" hangingPunct="0">
                        <a:spcBef>
                          <a:spcPts val="300"/>
                        </a:spcBef>
                        <a:buClr>
                          <a:srgbClr val="9C007F"/>
                        </a:buClr>
                        <a:buFont typeface="Georgia" pitchFamily="18" charset="0"/>
                        <a:defRPr sz="2400">
                          <a:solidFill>
                            <a:schemeClr val="tx1"/>
                          </a:solidFill>
                          <a:latin typeface="Georgia" pitchFamily="18" charset="0"/>
                        </a:defRPr>
                      </a:lvl1pPr>
                      <a:lvl2pPr marL="742950" indent="-285750" eaLnBrk="0" hangingPunct="0">
                        <a:spcBef>
                          <a:spcPts val="300"/>
                        </a:spcBef>
                        <a:buClr>
                          <a:schemeClr val="accent2"/>
                        </a:buClr>
                        <a:buFont typeface="Georgia" pitchFamily="18" charset="0"/>
                        <a:defRPr sz="2200">
                          <a:solidFill>
                            <a:schemeClr val="accent2"/>
                          </a:solidFill>
                          <a:latin typeface="Georgia" pitchFamily="18" charset="0"/>
                        </a:defRPr>
                      </a:lvl2pPr>
                      <a:lvl3pPr marL="1143000" indent="-228600" eaLnBrk="0" hangingPunct="0">
                        <a:spcBef>
                          <a:spcPts val="300"/>
                        </a:spcBef>
                        <a:buClr>
                          <a:schemeClr val="accent1"/>
                        </a:buClr>
                        <a:buFont typeface="Wingdings 2" pitchFamily="18" charset="2"/>
                        <a:defRPr sz="2000">
                          <a:solidFill>
                            <a:schemeClr val="accent1"/>
                          </a:solidFill>
                          <a:latin typeface="Georgia" pitchFamily="18" charset="0"/>
                        </a:defRPr>
                      </a:lvl3pPr>
                      <a:lvl4pPr marL="1600200" indent="-228600" eaLnBrk="0" hangingPunct="0">
                        <a:spcBef>
                          <a:spcPts val="300"/>
                        </a:spcBef>
                        <a:buClr>
                          <a:schemeClr val="accent1"/>
                        </a:buClr>
                        <a:buFont typeface="Wingdings 2" pitchFamily="18" charset="2"/>
                        <a:defRPr sz="2000">
                          <a:solidFill>
                            <a:schemeClr val="accent1"/>
                          </a:solidFill>
                          <a:latin typeface="Georgia" pitchFamily="18" charset="0"/>
                        </a:defRPr>
                      </a:lvl4pPr>
                      <a:lvl5pPr marL="2057400" indent="-228600" eaLnBrk="0" hangingPunct="0">
                        <a:spcBef>
                          <a:spcPts val="300"/>
                        </a:spcBef>
                        <a:buClr>
                          <a:srgbClr val="9C007F"/>
                        </a:buClr>
                        <a:buFont typeface="Georgia" pitchFamily="18" charset="0"/>
                        <a:defRPr>
                          <a:solidFill>
                            <a:srgbClr val="9C007F"/>
                          </a:solidFill>
                          <a:latin typeface="Georgia" pitchFamily="18" charset="0"/>
                        </a:defRPr>
                      </a:lvl5pPr>
                      <a:lvl6pPr marL="25146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6pPr>
                      <a:lvl7pPr marL="29718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7pPr>
                      <a:lvl8pPr marL="34290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8pPr>
                      <a:lvl9pPr marL="3886200" indent="-228600" eaLnBrk="0" fontAlgn="base" hangingPunct="0">
                        <a:spcBef>
                          <a:spcPts val="300"/>
                        </a:spcBef>
                        <a:spcAft>
                          <a:spcPct val="0"/>
                        </a:spcAft>
                        <a:buClr>
                          <a:srgbClr val="9C007F"/>
                        </a:buClr>
                        <a:buFont typeface="Georgia" pitchFamily="18" charset="0"/>
                        <a:defRPr>
                          <a:solidFill>
                            <a:srgbClr val="9C007F"/>
                          </a:solidFill>
                          <a:latin typeface="Georgia" pitchFamily="18" charset="0"/>
                        </a:defRPr>
                      </a:lvl9p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altLang="fr-FR" sz="1800" b="0" i="0" u="none" strike="noStrike" cap="none" normalizeH="0" baseline="0">
                          <a:ln>
                            <a:noFill/>
                          </a:ln>
                          <a:solidFill>
                            <a:srgbClr val="000000"/>
                          </a:solidFill>
                          <a:effectLst/>
                          <a:latin typeface="Georgia" pitchFamily="18" charset="0"/>
                        </a:rPr>
                        <a:t>IAS 1-15 @ 35 </a:t>
                      </a:r>
                      <a:r>
                        <a:rPr kumimoji="0" lang="fr-CA" altLang="fr-FR" sz="1800" b="1" i="0" u="none" strike="noStrike" cap="none" normalizeH="0" baseline="0">
                          <a:ln>
                            <a:noFill/>
                          </a:ln>
                          <a:solidFill>
                            <a:srgbClr val="000000"/>
                          </a:solidFill>
                          <a:effectLst/>
                          <a:latin typeface="Georgia" pitchFamily="18" charset="0"/>
                        </a:rPr>
                        <a:t>et</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None/>
                        <a:tabLst/>
                      </a:pPr>
                      <a:endParaRPr kumimoji="0" lang="fr-CA" altLang="fr-FR" sz="1800" b="1" i="0" u="none" strike="noStrike" cap="none" normalizeH="0" baseline="0">
                        <a:ln>
                          <a:noFill/>
                        </a:ln>
                        <a:solidFill>
                          <a:srgbClr val="000000"/>
                        </a:solidFill>
                        <a:effectLst/>
                        <a:latin typeface="Georgia" pitchFamily="18" charset="0"/>
                      </a:endParaRP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altLang="fr-FR" sz="1800" b="0" i="0" u="none" strike="noStrike" cap="none" normalizeH="0" baseline="0">
                          <a:ln>
                            <a:noFill/>
                          </a:ln>
                          <a:solidFill>
                            <a:srgbClr val="000000"/>
                          </a:solidFill>
                          <a:effectLst/>
                          <a:latin typeface="Georgia" pitchFamily="18" charset="0"/>
                        </a:rPr>
                        <a:t>IAS 34 – États financiers intermédiaires</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None/>
                        <a:tabLst/>
                      </a:pPr>
                      <a:endParaRPr kumimoji="0" lang="fr-CA" altLang="fr-FR" sz="1800" b="0" i="0" u="none" strike="noStrike" cap="none" normalizeH="0" baseline="0">
                        <a:ln>
                          <a:noFill/>
                        </a:ln>
                        <a:solidFill>
                          <a:srgbClr val="000000"/>
                        </a:solidFill>
                        <a:effectLst/>
                        <a:latin typeface="Georgia" pitchFamily="18" charset="0"/>
                      </a:endParaRPr>
                    </a:p>
                  </a:txBody>
                  <a:tcPr marL="91448" marR="91448"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8EE"/>
                    </a:solidFill>
                  </a:tcPr>
                </a:tc>
                <a:extLst>
                  <a:ext uri="{0D108BD9-81ED-4DB2-BD59-A6C34878D82A}">
                    <a16:rowId xmlns:a16="http://schemas.microsoft.com/office/drawing/2014/main" val="10002"/>
                  </a:ext>
                </a:extLst>
              </a:tr>
            </a:tbl>
          </a:graphicData>
        </a:graphic>
      </p:graphicFrame>
      <p:sp>
        <p:nvSpPr>
          <p:cNvPr id="27665" name="Espace réservé du pied de page 1"/>
          <p:cNvSpPr>
            <a:spLocks noGrp="1"/>
          </p:cNvSpPr>
          <p:nvPr>
            <p:ph type="ftr" sz="quarter" idx="11"/>
          </p:nvPr>
        </p:nvSpPr>
        <p:spPr bwMode="auto">
          <a:xfrm>
            <a:off x="5257800" y="612775"/>
            <a:ext cx="2770584" cy="425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27666"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4310D942-E292-4203-A0D5-E87421372A62}" type="slidenum">
              <a:rPr lang="fr-FR" altLang="fr-FR" sz="1800" smtClean="0">
                <a:solidFill>
                  <a:srgbClr val="FFFFFF"/>
                </a:solidFill>
                <a:latin typeface="Times New Roman" panose="02020603050405020304" pitchFamily="18" charset="0"/>
              </a:rPr>
              <a:pPr>
                <a:spcBef>
                  <a:spcPct val="0"/>
                </a:spcBef>
                <a:buClrTx/>
                <a:buFontTx/>
                <a:buNone/>
              </a:pPr>
              <a:t>12</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re 1"/>
          <p:cNvSpPr>
            <a:spLocks noGrp="1"/>
          </p:cNvSpPr>
          <p:nvPr>
            <p:ph type="title"/>
          </p:nvPr>
        </p:nvSpPr>
        <p:spPr>
          <a:xfrm>
            <a:off x="0" y="762000"/>
            <a:ext cx="8915400" cy="935038"/>
          </a:xfrm>
        </p:spPr>
        <p:txBody>
          <a:bodyPr/>
          <a:lstStyle/>
          <a:p>
            <a:pPr eaLnBrk="1" hangingPunct="1"/>
            <a:r>
              <a:rPr lang="fr-CA" altLang="fr-FR" sz="2800"/>
              <a:t>Quels états financiers doit-on présenter selon IAS 34 ?</a:t>
            </a:r>
          </a:p>
        </p:txBody>
      </p:sp>
      <p:sp>
        <p:nvSpPr>
          <p:cNvPr id="29699" name="Espace réservé du contenu 4"/>
          <p:cNvSpPr>
            <a:spLocks noGrp="1"/>
          </p:cNvSpPr>
          <p:nvPr>
            <p:ph idx="1"/>
          </p:nvPr>
        </p:nvSpPr>
        <p:spPr>
          <a:xfrm>
            <a:off x="381000" y="1752600"/>
            <a:ext cx="8229600" cy="4824413"/>
          </a:xfrm>
        </p:spPr>
        <p:txBody>
          <a:bodyPr/>
          <a:lstStyle/>
          <a:p>
            <a:pPr marL="109538" indent="0" eaLnBrk="1" hangingPunct="1">
              <a:buFont typeface="Georgia" panose="02040502050405020303" pitchFamily="18" charset="0"/>
              <a:buNone/>
            </a:pPr>
            <a:r>
              <a:rPr lang="fr-CA" altLang="fr-FR" sz="2400" dirty="0"/>
              <a:t>Une société dont la </a:t>
            </a:r>
            <a:r>
              <a:rPr lang="fr-CA" altLang="fr-FR" sz="2400" b="1" dirty="0"/>
              <a:t>fin d’exercice est le 31 décembre </a:t>
            </a:r>
            <a:r>
              <a:rPr lang="fr-CA" altLang="fr-FR" sz="2400" dirty="0"/>
              <a:t>présente ses états financiers pour le 3</a:t>
            </a:r>
            <a:r>
              <a:rPr lang="fr-CA" altLang="fr-FR" sz="2400" baseline="30000" dirty="0"/>
              <a:t>e</a:t>
            </a:r>
            <a:r>
              <a:rPr lang="fr-CA" altLang="fr-FR" sz="2400" dirty="0"/>
              <a:t> trimestre clos le 30 septembre 2015 …</a:t>
            </a:r>
          </a:p>
        </p:txBody>
      </p:sp>
      <p:graphicFrame>
        <p:nvGraphicFramePr>
          <p:cNvPr id="14372" name="Group 36"/>
          <p:cNvGraphicFramePr>
            <a:graphicFrameLocks noGrp="1"/>
          </p:cNvGraphicFramePr>
          <p:nvPr>
            <p:extLst>
              <p:ext uri="{D42A27DB-BD31-4B8C-83A1-F6EECF244321}">
                <p14:modId xmlns:p14="http://schemas.microsoft.com/office/powerpoint/2010/main" val="3360079087"/>
              </p:ext>
            </p:extLst>
          </p:nvPr>
        </p:nvGraphicFramePr>
        <p:xfrm>
          <a:off x="304800" y="3276600"/>
          <a:ext cx="8534400" cy="1593850"/>
        </p:xfrm>
        <a:graphic>
          <a:graphicData uri="http://schemas.openxmlformats.org/drawingml/2006/table">
            <a:tbl>
              <a:tblPr/>
              <a:tblGrid>
                <a:gridCol w="1790700">
                  <a:extLst>
                    <a:ext uri="{9D8B030D-6E8A-4147-A177-3AD203B41FA5}">
                      <a16:colId xmlns:a16="http://schemas.microsoft.com/office/drawing/2014/main" val="20000"/>
                    </a:ext>
                  </a:extLst>
                </a:gridCol>
                <a:gridCol w="3743325">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tblGrid>
              <a:tr h="762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i="0" u="none" strike="noStrike" cap="none" normalizeH="0" baseline="0" dirty="0">
                          <a:ln>
                            <a:noFill/>
                          </a:ln>
                          <a:solidFill>
                            <a:srgbClr val="FFFFFF"/>
                          </a:solidFill>
                          <a:effectLst/>
                          <a:latin typeface="Georgia" pitchFamily="18" charset="0"/>
                        </a:rPr>
                        <a:t>État</a:t>
                      </a:r>
                    </a:p>
                  </a:txBody>
                  <a:tcPr marL="91424" marR="91424"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i="0" u="none" strike="noStrike" cap="none" normalizeH="0" baseline="0" dirty="0">
                          <a:ln>
                            <a:noFill/>
                          </a:ln>
                          <a:solidFill>
                            <a:srgbClr val="FFFFFF"/>
                          </a:solidFill>
                          <a:effectLst/>
                          <a:latin typeface="Georgia" pitchFamily="18" charset="0"/>
                        </a:rPr>
                        <a:t>Année courante</a:t>
                      </a:r>
                    </a:p>
                  </a:txBody>
                  <a:tcPr marL="91424" marR="91424"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400" b="1" i="0" u="none" strike="noStrike" cap="none" normalizeH="0" baseline="0" dirty="0">
                          <a:ln>
                            <a:noFill/>
                          </a:ln>
                          <a:solidFill>
                            <a:srgbClr val="FFFFFF"/>
                          </a:solidFill>
                          <a:effectLst/>
                          <a:latin typeface="Georgia" pitchFamily="18" charset="0"/>
                        </a:rPr>
                        <a:t>Comparatif</a:t>
                      </a:r>
                    </a:p>
                  </a:txBody>
                  <a:tcPr marL="91424" marR="91424"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31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rgbClr val="000000"/>
                          </a:solidFill>
                          <a:effectLst/>
                          <a:latin typeface="Georgia" pitchFamily="18" charset="0"/>
                        </a:rPr>
                        <a:t>Bilan</a:t>
                      </a:r>
                    </a:p>
                  </a:txBody>
                  <a:tcPr marL="91424" marR="91424"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ED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rgbClr val="000000"/>
                          </a:solidFill>
                          <a:effectLst/>
                          <a:latin typeface="Georgia" pitchFamily="18" charset="0"/>
                        </a:rPr>
                        <a:t>Au 30 septembre 2015</a:t>
                      </a:r>
                    </a:p>
                  </a:txBody>
                  <a:tcPr marL="91424" marR="91424"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ED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2000" b="1" i="0" u="none" strike="noStrike" cap="none" normalizeH="0" baseline="0" dirty="0">
                          <a:ln>
                            <a:noFill/>
                          </a:ln>
                          <a:solidFill>
                            <a:srgbClr val="000000"/>
                          </a:solidFill>
                          <a:effectLst/>
                          <a:latin typeface="Georgia" pitchFamily="18" charset="0"/>
                        </a:rPr>
                        <a:t>Au 31 décembre 2014</a:t>
                      </a:r>
                    </a:p>
                  </a:txBody>
                  <a:tcPr marL="91424" marR="91424"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EDB"/>
                    </a:solidFill>
                  </a:tcPr>
                </a:tc>
                <a:extLst>
                  <a:ext uri="{0D108BD9-81ED-4DB2-BD59-A6C34878D82A}">
                    <a16:rowId xmlns:a16="http://schemas.microsoft.com/office/drawing/2014/main" val="10001"/>
                  </a:ext>
                </a:extLst>
              </a:tr>
            </a:tbl>
          </a:graphicData>
        </a:graphic>
      </p:graphicFrame>
      <p:sp>
        <p:nvSpPr>
          <p:cNvPr id="29714" name="Espace réservé du pied de page 1"/>
          <p:cNvSpPr>
            <a:spLocks noGrp="1"/>
          </p:cNvSpPr>
          <p:nvPr>
            <p:ph type="ftr" sz="quarter" idx="11"/>
          </p:nvPr>
        </p:nvSpPr>
        <p:spPr bwMode="auto">
          <a:xfrm>
            <a:off x="5257800" y="612775"/>
            <a:ext cx="2698576" cy="29594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2971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176D0854-DC29-4F41-AE65-F808F26CEFBC}" type="slidenum">
              <a:rPr lang="fr-FR" altLang="fr-FR" sz="1800" smtClean="0">
                <a:solidFill>
                  <a:srgbClr val="FFFFFF"/>
                </a:solidFill>
                <a:latin typeface="Times New Roman" panose="02020603050405020304" pitchFamily="18" charset="0"/>
              </a:rPr>
              <a:pPr>
                <a:spcBef>
                  <a:spcPct val="0"/>
                </a:spcBef>
                <a:buClrTx/>
                <a:buFontTx/>
                <a:buNone/>
              </a:pPr>
              <a:t>13</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457200" y="1143000"/>
            <a:ext cx="8229600" cy="630238"/>
          </a:xfrm>
        </p:spPr>
        <p:txBody>
          <a:bodyPr>
            <a:normAutofit fontScale="90000"/>
          </a:bodyPr>
          <a:lstStyle/>
          <a:p>
            <a:pPr eaLnBrk="1" fontAlgn="auto" hangingPunct="1">
              <a:spcAft>
                <a:spcPts val="0"/>
              </a:spcAft>
              <a:defRPr/>
            </a:pPr>
            <a:r>
              <a:rPr lang="fr-CA" sz="2800" dirty="0"/>
              <a:t>Quels états financiers doit-on présenter selon IAS 34 ?</a:t>
            </a:r>
          </a:p>
        </p:txBody>
      </p:sp>
      <p:sp>
        <p:nvSpPr>
          <p:cNvPr id="31747" name="Espace réservé du contenu 4"/>
          <p:cNvSpPr>
            <a:spLocks noGrp="1"/>
          </p:cNvSpPr>
          <p:nvPr>
            <p:ph idx="4294967295"/>
          </p:nvPr>
        </p:nvSpPr>
        <p:spPr>
          <a:xfrm>
            <a:off x="395288" y="1773238"/>
            <a:ext cx="8229600" cy="4824412"/>
          </a:xfrm>
        </p:spPr>
        <p:txBody>
          <a:bodyPr/>
          <a:lstStyle/>
          <a:p>
            <a:pPr marL="109538" indent="0" eaLnBrk="1" hangingPunct="1">
              <a:buFont typeface="Georgia" panose="02040502050405020303" pitchFamily="18" charset="0"/>
              <a:buNone/>
            </a:pPr>
            <a:r>
              <a:rPr lang="fr-CA" altLang="fr-FR" sz="2000" dirty="0"/>
              <a:t>Une société dont la fin d’exercice est le 31 décembre présente ses états financiers pour le 3</a:t>
            </a:r>
            <a:r>
              <a:rPr lang="fr-CA" altLang="fr-FR" sz="2000" baseline="30000" dirty="0"/>
              <a:t>e</a:t>
            </a:r>
            <a:r>
              <a:rPr lang="fr-CA" altLang="fr-FR" sz="2000" dirty="0"/>
              <a:t> trimestre clos le 30 septembre 2015 …</a:t>
            </a:r>
          </a:p>
          <a:p>
            <a:pPr marL="109538" indent="0" eaLnBrk="1" hangingPunct="1">
              <a:buFont typeface="Georgia" panose="02040502050405020303" pitchFamily="18" charset="0"/>
              <a:buNone/>
            </a:pPr>
            <a:endParaRPr lang="fr-CA" altLang="fr-FR" sz="2000" dirty="0"/>
          </a:p>
          <a:p>
            <a:pPr marL="109538" indent="0" eaLnBrk="1" hangingPunct="1">
              <a:buFont typeface="Georgia" panose="02040502050405020303" pitchFamily="18" charset="0"/>
              <a:buNone/>
            </a:pPr>
            <a:endParaRPr lang="fr-CA" altLang="fr-FR" dirty="0"/>
          </a:p>
        </p:txBody>
      </p:sp>
      <p:graphicFrame>
        <p:nvGraphicFramePr>
          <p:cNvPr id="52256" name="Group 32"/>
          <p:cNvGraphicFramePr>
            <a:graphicFrameLocks noGrp="1"/>
          </p:cNvGraphicFramePr>
          <p:nvPr>
            <p:extLst>
              <p:ext uri="{D42A27DB-BD31-4B8C-83A1-F6EECF244321}">
                <p14:modId xmlns:p14="http://schemas.microsoft.com/office/powerpoint/2010/main" val="593346274"/>
              </p:ext>
            </p:extLst>
          </p:nvPr>
        </p:nvGraphicFramePr>
        <p:xfrm>
          <a:off x="684213" y="2565400"/>
          <a:ext cx="7991475" cy="3835401"/>
        </p:xfrm>
        <a:graphic>
          <a:graphicData uri="http://schemas.openxmlformats.org/drawingml/2006/table">
            <a:tbl>
              <a:tblPr/>
              <a:tblGrid>
                <a:gridCol w="1917700">
                  <a:extLst>
                    <a:ext uri="{9D8B030D-6E8A-4147-A177-3AD203B41FA5}">
                      <a16:colId xmlns:a16="http://schemas.microsoft.com/office/drawing/2014/main" val="20000"/>
                    </a:ext>
                  </a:extLst>
                </a:gridCol>
                <a:gridCol w="3409950">
                  <a:extLst>
                    <a:ext uri="{9D8B030D-6E8A-4147-A177-3AD203B41FA5}">
                      <a16:colId xmlns:a16="http://schemas.microsoft.com/office/drawing/2014/main" val="20001"/>
                    </a:ext>
                  </a:extLst>
                </a:gridCol>
                <a:gridCol w="2663825">
                  <a:extLst>
                    <a:ext uri="{9D8B030D-6E8A-4147-A177-3AD203B41FA5}">
                      <a16:colId xmlns:a16="http://schemas.microsoft.com/office/drawing/2014/main" val="20002"/>
                    </a:ext>
                  </a:extLst>
                </a:gridCol>
              </a:tblGrid>
              <a:tr h="6413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Georgia" pitchFamily="18" charset="0"/>
                        </a:rPr>
                        <a:t>État</a:t>
                      </a: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Georgia" pitchFamily="18" charset="0"/>
                        </a:rPr>
                        <a:t>Trimestre courant</a:t>
                      </a: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FFFFFF"/>
                          </a:solidFill>
                          <a:effectLst/>
                          <a:latin typeface="Georgia" pitchFamily="18" charset="0"/>
                        </a:rPr>
                        <a:t>Cumulé depuis le début de l’exercice</a:t>
                      </a: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1890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1" i="0" u="none" strike="noStrike" cap="none" normalizeH="0" baseline="0" dirty="0">
                          <a:ln>
                            <a:noFill/>
                          </a:ln>
                          <a:solidFill>
                            <a:srgbClr val="000000"/>
                          </a:solidFill>
                          <a:effectLst/>
                          <a:latin typeface="Georgia" pitchFamily="18" charset="0"/>
                        </a:rPr>
                        <a:t>État du Résultat global</a:t>
                      </a: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8EE"/>
                    </a:solidFill>
                  </a:tcPr>
                </a:tc>
                <a:tc>
                  <a:txBody>
                    <a:body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sz="1800" b="0" i="0" u="none" strike="noStrike" cap="none" normalizeH="0" baseline="0" dirty="0">
                          <a:ln>
                            <a:noFill/>
                          </a:ln>
                          <a:solidFill>
                            <a:srgbClr val="000000"/>
                          </a:solidFill>
                          <a:effectLst/>
                          <a:latin typeface="Georgia" pitchFamily="18" charset="0"/>
                        </a:rPr>
                        <a:t>Trimestre clos le 30-09-2015</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sz="1800" b="0" i="0" u="none" strike="noStrike" cap="none" normalizeH="0" baseline="0" dirty="0">
                          <a:ln>
                            <a:noFill/>
                          </a:ln>
                          <a:solidFill>
                            <a:srgbClr val="000000"/>
                          </a:solidFill>
                          <a:effectLst/>
                          <a:latin typeface="Georgia" pitchFamily="18" charset="0"/>
                        </a:rPr>
                        <a:t>Comparatif 30-09-2014</a:t>
                      </a: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8EE"/>
                    </a:solidFill>
                  </a:tcPr>
                </a:tc>
                <a:tc>
                  <a:txBody>
                    <a:body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sz="1800" b="0" i="0" u="none" strike="noStrike" cap="none" normalizeH="0" baseline="0" dirty="0">
                          <a:ln>
                            <a:noFill/>
                          </a:ln>
                          <a:solidFill>
                            <a:srgbClr val="000000"/>
                          </a:solidFill>
                          <a:effectLst/>
                          <a:latin typeface="Georgia" pitchFamily="18" charset="0"/>
                        </a:rPr>
                        <a:t>Neuf mois clos le 30-09-2015</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sz="1800" b="0" i="0" u="none" strike="noStrike" cap="none" normalizeH="0" baseline="0" dirty="0">
                          <a:ln>
                            <a:noFill/>
                          </a:ln>
                          <a:solidFill>
                            <a:srgbClr val="000000"/>
                          </a:solidFill>
                          <a:effectLst/>
                          <a:latin typeface="Georgia" pitchFamily="18" charset="0"/>
                        </a:rPr>
                        <a:t>Comparatif clos </a:t>
                      </a:r>
                      <a:r>
                        <a:rPr kumimoji="0" lang="fr-CA" sz="1800" b="0" i="0" u="none" strike="noStrike" cap="none" normalizeH="0" baseline="0">
                          <a:ln>
                            <a:noFill/>
                          </a:ln>
                          <a:solidFill>
                            <a:srgbClr val="000000"/>
                          </a:solidFill>
                          <a:effectLst/>
                          <a:latin typeface="Georgia" pitchFamily="18" charset="0"/>
                        </a:rPr>
                        <a:t>le 30-09-2014</a:t>
                      </a:r>
                      <a:endParaRPr kumimoji="0" lang="fr-CA" sz="1800" b="0" i="0" u="none" strike="noStrike" cap="none" normalizeH="0" baseline="0" dirty="0">
                        <a:ln>
                          <a:noFill/>
                        </a:ln>
                        <a:solidFill>
                          <a:srgbClr val="000000"/>
                        </a:solidFill>
                        <a:effectLst/>
                        <a:latin typeface="Georgia" pitchFamily="18" charset="0"/>
                      </a:endParaRP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8EE"/>
                    </a:solidFill>
                  </a:tcPr>
                </a:tc>
                <a:extLst>
                  <a:ext uri="{0D108BD9-81ED-4DB2-BD59-A6C34878D82A}">
                    <a16:rowId xmlns:a16="http://schemas.microsoft.com/office/drawing/2014/main" val="10001"/>
                  </a:ext>
                </a:extLst>
              </a:tr>
              <a:tr h="1016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Georgia" pitchFamily="18" charset="0"/>
                        </a:rPr>
                        <a:t>Variation des capitaux propres</a:t>
                      </a: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EDB"/>
                    </a:solidFill>
                  </a:tcPr>
                </a:tc>
                <a:tc>
                  <a:txBody>
                    <a:bodyPr/>
                    <a:lstStyle/>
                    <a:p>
                      <a:pPr marL="285750" marR="0" lvl="0" indent="-285750" algn="l" defTabSz="914400" rtl="0" eaLnBrk="1" fontAlgn="base" latinLnBrk="0" hangingPunct="1">
                        <a:lnSpc>
                          <a:spcPct val="100000"/>
                        </a:lnSpc>
                        <a:spcBef>
                          <a:spcPct val="0"/>
                        </a:spcBef>
                        <a:spcAft>
                          <a:spcPct val="0"/>
                        </a:spcAft>
                        <a:buClrTx/>
                        <a:buSzTx/>
                        <a:buFontTx/>
                        <a:buNone/>
                        <a:tabLst/>
                      </a:pPr>
                      <a:endParaRPr kumimoji="0" lang="fr-CA" sz="1800" b="0" i="0" u="none" strike="noStrike" cap="none" normalizeH="0" baseline="0" dirty="0">
                        <a:ln>
                          <a:noFill/>
                        </a:ln>
                        <a:solidFill>
                          <a:srgbClr val="000000"/>
                        </a:solidFill>
                        <a:effectLst/>
                        <a:latin typeface="Georgia" pitchFamily="18" charset="0"/>
                      </a:endParaRP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EDB"/>
                    </a:solidFill>
                  </a:tcPr>
                </a:tc>
                <a:tc>
                  <a:txBody>
                    <a:body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sz="1800" b="0" i="0" u="none" strike="noStrike" cap="none" normalizeH="0" baseline="0" dirty="0">
                          <a:ln>
                            <a:noFill/>
                          </a:ln>
                          <a:solidFill>
                            <a:srgbClr val="000000"/>
                          </a:solidFill>
                          <a:effectLst/>
                          <a:latin typeface="Georgia" pitchFamily="18" charset="0"/>
                        </a:rPr>
                        <a:t>Neuf mois…</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sz="1800" b="0" i="0" u="none" strike="noStrike" cap="none" normalizeH="0" baseline="0" dirty="0">
                          <a:ln>
                            <a:noFill/>
                          </a:ln>
                          <a:solidFill>
                            <a:srgbClr val="000000"/>
                          </a:solidFill>
                          <a:effectLst/>
                          <a:latin typeface="Georgia" pitchFamily="18" charset="0"/>
                        </a:rPr>
                        <a:t>Comparatif</a:t>
                      </a:r>
                    </a:p>
                    <a:p>
                      <a:pPr marL="285750" marR="0" lvl="0" indent="-285750" algn="l" defTabSz="914400" rtl="0" eaLnBrk="1" fontAlgn="base" latinLnBrk="0" hangingPunct="1">
                        <a:lnSpc>
                          <a:spcPct val="100000"/>
                        </a:lnSpc>
                        <a:spcBef>
                          <a:spcPct val="0"/>
                        </a:spcBef>
                        <a:spcAft>
                          <a:spcPct val="0"/>
                        </a:spcAft>
                        <a:buClrTx/>
                        <a:buSzTx/>
                        <a:buFontTx/>
                        <a:buNone/>
                        <a:tabLst/>
                      </a:pPr>
                      <a:endParaRPr kumimoji="0" lang="fr-CA" sz="1800" b="0" i="0" u="none" strike="noStrike" cap="none" normalizeH="0" baseline="0" dirty="0">
                        <a:ln>
                          <a:noFill/>
                        </a:ln>
                        <a:solidFill>
                          <a:srgbClr val="000000"/>
                        </a:solidFill>
                        <a:effectLst/>
                        <a:latin typeface="Georgia" pitchFamily="18" charset="0"/>
                      </a:endParaRP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EDB"/>
                    </a:solidFill>
                  </a:tcPr>
                </a:tc>
                <a:extLst>
                  <a:ext uri="{0D108BD9-81ED-4DB2-BD59-A6C34878D82A}">
                    <a16:rowId xmlns:a16="http://schemas.microsoft.com/office/drawing/2014/main" val="10002"/>
                  </a:ext>
                </a:extLst>
              </a:tr>
              <a:tr h="9890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Georgia" pitchFamily="18" charset="0"/>
                        </a:rPr>
                        <a:t>Flux de trésorerie</a:t>
                      </a: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8EE"/>
                    </a:solidFill>
                  </a:tcPr>
                </a:tc>
                <a:tc>
                  <a:txBody>
                    <a:body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None/>
                        <a:tabLst/>
                      </a:pPr>
                      <a:endParaRPr kumimoji="0" lang="fr-CA" sz="1800" b="0" i="0" u="none" strike="noStrike" cap="none" normalizeH="0" baseline="0" dirty="0">
                        <a:ln>
                          <a:noFill/>
                        </a:ln>
                        <a:solidFill>
                          <a:srgbClr val="000000"/>
                        </a:solidFill>
                        <a:effectLst/>
                        <a:latin typeface="Georgia" pitchFamily="18" charset="0"/>
                      </a:endParaRP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8EE"/>
                    </a:solidFill>
                  </a:tcPr>
                </a:tc>
                <a:tc>
                  <a:txBody>
                    <a:body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sz="1800" b="0" i="0" u="none" strike="noStrike" cap="none" normalizeH="0" baseline="0" dirty="0">
                          <a:ln>
                            <a:noFill/>
                          </a:ln>
                          <a:solidFill>
                            <a:srgbClr val="000000"/>
                          </a:solidFill>
                          <a:effectLst/>
                          <a:latin typeface="Georgia" pitchFamily="18" charset="0"/>
                        </a:rPr>
                        <a:t>Neuf mois…</a:t>
                      </a: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fr-CA" sz="1800" b="0" i="0" u="none" strike="noStrike" cap="none" normalizeH="0" baseline="0" dirty="0">
                          <a:ln>
                            <a:noFill/>
                          </a:ln>
                          <a:solidFill>
                            <a:srgbClr val="000000"/>
                          </a:solidFill>
                          <a:effectLst/>
                          <a:latin typeface="Georgia" pitchFamily="18" charset="0"/>
                        </a:rPr>
                        <a:t>Comparatif</a:t>
                      </a:r>
                    </a:p>
                  </a:txBody>
                  <a:tcPr marL="91424" marR="91424" marT="45719" marB="4571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8EE"/>
                    </a:solidFill>
                  </a:tcPr>
                </a:tc>
                <a:extLst>
                  <a:ext uri="{0D108BD9-81ED-4DB2-BD59-A6C34878D82A}">
                    <a16:rowId xmlns:a16="http://schemas.microsoft.com/office/drawing/2014/main" val="10003"/>
                  </a:ext>
                </a:extLst>
              </a:tr>
            </a:tbl>
          </a:graphicData>
        </a:graphic>
      </p:graphicFrame>
      <p:sp>
        <p:nvSpPr>
          <p:cNvPr id="31770" name="Espace réservé du pied de page 2"/>
          <p:cNvSpPr>
            <a:spLocks noGrp="1"/>
          </p:cNvSpPr>
          <p:nvPr>
            <p:ph type="ftr" sz="quarter" idx="11"/>
          </p:nvPr>
        </p:nvSpPr>
        <p:spPr bwMode="auto">
          <a:xfrm>
            <a:off x="5257800" y="612775"/>
            <a:ext cx="2410544" cy="3333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31771"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1C3CC7F4-0B5F-49BB-9A30-38CD613DF0EC}" type="slidenum">
              <a:rPr lang="fr-FR" altLang="fr-FR" sz="1800" smtClean="0">
                <a:solidFill>
                  <a:srgbClr val="FFFFFF"/>
                </a:solidFill>
                <a:latin typeface="Times New Roman" panose="02020603050405020304" pitchFamily="18" charset="0"/>
              </a:rPr>
              <a:pPr>
                <a:spcBef>
                  <a:spcPct val="0"/>
                </a:spcBef>
                <a:buClrTx/>
                <a:buFontTx/>
                <a:buNone/>
              </a:pPr>
              <a:t>14</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p:txBody>
          <a:bodyPr/>
          <a:lstStyle/>
          <a:p>
            <a:r>
              <a:rPr lang="fr-CA" altLang="fr-FR" sz="3200"/>
              <a:t>Le contenu des états financiers résumés</a:t>
            </a:r>
          </a:p>
        </p:txBody>
      </p:sp>
      <p:sp>
        <p:nvSpPr>
          <p:cNvPr id="54275" name="Rectangle 3"/>
          <p:cNvSpPr>
            <a:spLocks noGrp="1"/>
          </p:cNvSpPr>
          <p:nvPr>
            <p:ph type="body" idx="1"/>
          </p:nvPr>
        </p:nvSpPr>
        <p:spPr/>
        <p:txBody>
          <a:bodyPr/>
          <a:lstStyle/>
          <a:p>
            <a:pPr>
              <a:lnSpc>
                <a:spcPct val="90000"/>
              </a:lnSpc>
              <a:defRPr/>
            </a:pPr>
            <a:r>
              <a:rPr lang="fr-CA" sz="2400" b="1" dirty="0">
                <a:solidFill>
                  <a:schemeClr val="bg2">
                    <a:lumMod val="25000"/>
                  </a:schemeClr>
                </a:solidFill>
              </a:rPr>
              <a:t>Ils doivent comporter au minimum :</a:t>
            </a:r>
          </a:p>
          <a:p>
            <a:pPr lvl="1">
              <a:lnSpc>
                <a:spcPct val="90000"/>
              </a:lnSpc>
              <a:defRPr/>
            </a:pPr>
            <a:r>
              <a:rPr lang="fr-CA" sz="2200" b="1" dirty="0"/>
              <a:t>chacune des rubriques et chacun des sous-totaux qui étaient présentés dans ses états financiers annuels les plus récents  (IAS 34-10)</a:t>
            </a:r>
          </a:p>
          <a:p>
            <a:pPr lvl="1">
              <a:lnSpc>
                <a:spcPct val="90000"/>
              </a:lnSpc>
              <a:buFont typeface="Georgia" panose="02040502050405020303" pitchFamily="18" charset="0"/>
              <a:buNone/>
              <a:defRPr/>
            </a:pPr>
            <a:endParaRPr lang="fr-CA" sz="2200" b="1" dirty="0"/>
          </a:p>
          <a:p>
            <a:pPr lvl="1">
              <a:lnSpc>
                <a:spcPct val="90000"/>
              </a:lnSpc>
              <a:defRPr/>
            </a:pPr>
            <a:r>
              <a:rPr lang="fr-CA" sz="2200" b="1" dirty="0">
                <a:solidFill>
                  <a:schemeClr val="bg2">
                    <a:lumMod val="25000"/>
                  </a:schemeClr>
                </a:solidFill>
              </a:rPr>
              <a:t>le BPA et le BPA dilué (IAS 34-11) </a:t>
            </a:r>
          </a:p>
          <a:p>
            <a:pPr lvl="1">
              <a:lnSpc>
                <a:spcPct val="90000"/>
              </a:lnSpc>
              <a:buFont typeface="Georgia" panose="02040502050405020303" pitchFamily="18" charset="0"/>
              <a:buNone/>
              <a:defRPr/>
            </a:pPr>
            <a:endParaRPr lang="fr-CA" sz="2200" b="1" dirty="0"/>
          </a:p>
          <a:p>
            <a:pPr lvl="1">
              <a:lnSpc>
                <a:spcPct val="90000"/>
              </a:lnSpc>
              <a:defRPr/>
            </a:pPr>
            <a:r>
              <a:rPr lang="fr-CA" sz="2200" b="1" dirty="0"/>
              <a:t>Ils doivent également présenter les postes ou les notes supplémentaires dont l'omission aurait pour effet de rendre </a:t>
            </a:r>
            <a:r>
              <a:rPr lang="fr-CA" sz="2200" b="1" dirty="0">
                <a:solidFill>
                  <a:schemeClr val="tx1">
                    <a:lumMod val="85000"/>
                    <a:lumOff val="15000"/>
                  </a:schemeClr>
                </a:solidFill>
              </a:rPr>
              <a:t>trompeurs</a:t>
            </a:r>
            <a:r>
              <a:rPr lang="fr-CA" sz="2200" b="1" dirty="0"/>
              <a:t> les états financiers intermédiaires résumés. (IAS 34-10)</a:t>
            </a:r>
          </a:p>
        </p:txBody>
      </p:sp>
      <p:sp>
        <p:nvSpPr>
          <p:cNvPr id="33796" name="Espace réservé du pied de page 1"/>
          <p:cNvSpPr>
            <a:spLocks noGrp="1"/>
          </p:cNvSpPr>
          <p:nvPr>
            <p:ph type="ftr" sz="quarter" idx="11"/>
          </p:nvPr>
        </p:nvSpPr>
        <p:spPr bwMode="auto">
          <a:xfrm>
            <a:off x="5257800" y="612775"/>
            <a:ext cx="21224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3379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6DA5E3D8-5B8A-4E6B-9AEE-66E763054301}" type="slidenum">
              <a:rPr lang="fr-FR" altLang="fr-FR" sz="1800" smtClean="0">
                <a:solidFill>
                  <a:srgbClr val="FFFFFF"/>
                </a:solidFill>
                <a:latin typeface="Times New Roman" panose="02020603050405020304" pitchFamily="18" charset="0"/>
              </a:rPr>
              <a:pPr>
                <a:spcBef>
                  <a:spcPct val="0"/>
                </a:spcBef>
                <a:buClrTx/>
                <a:buFontTx/>
                <a:buNone/>
              </a:pPr>
              <a:t>15</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xfrm>
            <a:off x="457200" y="838200"/>
            <a:ext cx="8229600" cy="914400"/>
          </a:xfrm>
        </p:spPr>
        <p:txBody>
          <a:bodyPr/>
          <a:lstStyle/>
          <a:p>
            <a:r>
              <a:rPr lang="fr-CA" altLang="fr-FR" sz="3200" b="1">
                <a:solidFill>
                  <a:schemeClr val="tx1"/>
                </a:solidFill>
              </a:rPr>
              <a:t>Contenu des EF</a:t>
            </a:r>
            <a:br>
              <a:rPr lang="fr-CA" altLang="fr-FR" b="1">
                <a:solidFill>
                  <a:schemeClr val="tx1"/>
                </a:solidFill>
              </a:rPr>
            </a:br>
            <a:r>
              <a:rPr lang="fr-CA" altLang="fr-FR" sz="2800" b="1">
                <a:solidFill>
                  <a:schemeClr val="tx1"/>
                </a:solidFill>
              </a:rPr>
              <a:t>Quiz</a:t>
            </a:r>
          </a:p>
        </p:txBody>
      </p:sp>
      <p:sp>
        <p:nvSpPr>
          <p:cNvPr id="19459" name="Rectangle 3"/>
          <p:cNvSpPr>
            <a:spLocks noGrp="1"/>
          </p:cNvSpPr>
          <p:nvPr>
            <p:ph type="body" idx="1"/>
          </p:nvPr>
        </p:nvSpPr>
        <p:spPr>
          <a:xfrm>
            <a:off x="457200" y="1981200"/>
            <a:ext cx="8229600" cy="4629150"/>
          </a:xfrm>
        </p:spPr>
        <p:txBody>
          <a:bodyPr/>
          <a:lstStyle/>
          <a:p>
            <a:pPr marL="0" indent="0" algn="just">
              <a:lnSpc>
                <a:spcPct val="90000"/>
              </a:lnSpc>
              <a:buFont typeface="Georgia" panose="02040502050405020303" pitchFamily="18" charset="0"/>
              <a:buNone/>
              <a:defRPr/>
            </a:pPr>
            <a:r>
              <a:rPr lang="fr-CA" sz="2600" dirty="0"/>
              <a:t>Si les états financiers annuels les plus récents de l'entité étaient des états consolidés, les états intermédiaires…</a:t>
            </a:r>
          </a:p>
          <a:p>
            <a:pPr marL="0" indent="0" algn="just">
              <a:lnSpc>
                <a:spcPct val="90000"/>
              </a:lnSpc>
              <a:buFont typeface="Georgia" panose="02040502050405020303" pitchFamily="18" charset="0"/>
              <a:buNone/>
              <a:defRPr/>
            </a:pPr>
            <a:endParaRPr lang="fr-CA" sz="2600" dirty="0"/>
          </a:p>
          <a:p>
            <a:pPr marL="363538" indent="-363538">
              <a:lnSpc>
                <a:spcPct val="90000"/>
              </a:lnSpc>
              <a:buFont typeface="Georgia" panose="02040502050405020303" pitchFamily="18" charset="0"/>
              <a:buAutoNum type="alphaLcParenR"/>
              <a:defRPr/>
            </a:pPr>
            <a:r>
              <a:rPr lang="fr-CA" sz="2600" dirty="0"/>
              <a:t>n’ont pas à être consolidés si l’entité présente des EF résumés.</a:t>
            </a:r>
          </a:p>
          <a:p>
            <a:pPr marL="363538" indent="-363538">
              <a:lnSpc>
                <a:spcPct val="90000"/>
              </a:lnSpc>
              <a:buFont typeface="Georgia" panose="02040502050405020303" pitchFamily="18" charset="0"/>
              <a:buAutoNum type="alphaLcParenR"/>
              <a:defRPr/>
            </a:pPr>
            <a:r>
              <a:rPr lang="fr-CA" sz="2600" dirty="0"/>
              <a:t>n’ont pas à être consolidés si les EF individuels de la filiale sont fournis dans le rapport.</a:t>
            </a:r>
          </a:p>
          <a:p>
            <a:pPr marL="363538" indent="-363538">
              <a:lnSpc>
                <a:spcPct val="90000"/>
              </a:lnSpc>
              <a:buFont typeface="Georgia" panose="02040502050405020303" pitchFamily="18" charset="0"/>
              <a:buAutoNum type="alphaLcParenR"/>
              <a:defRPr/>
            </a:pPr>
            <a:r>
              <a:rPr lang="fr-CA" sz="2600" dirty="0"/>
              <a:t>peuvent être mesurés selon la méthode de la mise en équivalence pour accélérer la publication des EF.</a:t>
            </a:r>
          </a:p>
          <a:p>
            <a:pPr marL="363538" indent="-363538">
              <a:lnSpc>
                <a:spcPct val="90000"/>
              </a:lnSpc>
              <a:buFont typeface="Georgia" panose="02040502050405020303" pitchFamily="18" charset="0"/>
              <a:buAutoNum type="alphaLcParenR"/>
              <a:defRPr/>
            </a:pPr>
            <a:r>
              <a:rPr lang="fr-CA" sz="2600" dirty="0"/>
              <a:t>doivent aussi être consolidés.</a:t>
            </a:r>
          </a:p>
        </p:txBody>
      </p:sp>
      <p:sp>
        <p:nvSpPr>
          <p:cNvPr id="35844" name="Espace réservé du pied de page 1"/>
          <p:cNvSpPr>
            <a:spLocks noGrp="1"/>
          </p:cNvSpPr>
          <p:nvPr>
            <p:ph type="ftr" sz="quarter" idx="11"/>
          </p:nvPr>
        </p:nvSpPr>
        <p:spPr bwMode="auto">
          <a:xfrm>
            <a:off x="5257800" y="612775"/>
            <a:ext cx="21224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3584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60DDAFAF-FF43-417C-819C-8395FB6512B3}" type="slidenum">
              <a:rPr lang="fr-FR" altLang="fr-FR" sz="1800" smtClean="0">
                <a:solidFill>
                  <a:srgbClr val="FFFFFF"/>
                </a:solidFill>
                <a:latin typeface="Times New Roman" panose="02020603050405020304" pitchFamily="18" charset="0"/>
              </a:rPr>
              <a:pPr>
                <a:spcBef>
                  <a:spcPct val="0"/>
                </a:spcBef>
                <a:buClrTx/>
                <a:buFontTx/>
                <a:buNone/>
              </a:pPr>
              <a:t>16</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re 1"/>
          <p:cNvSpPr>
            <a:spLocks noGrp="1"/>
          </p:cNvSpPr>
          <p:nvPr>
            <p:ph type="title"/>
          </p:nvPr>
        </p:nvSpPr>
        <p:spPr/>
        <p:txBody>
          <a:bodyPr/>
          <a:lstStyle/>
          <a:p>
            <a:pPr eaLnBrk="1" hangingPunct="1"/>
            <a:r>
              <a:rPr lang="fr-CA" altLang="fr-FR" sz="3200"/>
              <a:t>Notes explicatives - </a:t>
            </a:r>
            <a:br>
              <a:rPr lang="fr-CA" altLang="fr-FR" sz="3600"/>
            </a:br>
            <a:r>
              <a:rPr lang="fr-CA" altLang="fr-FR" sz="2800"/>
              <a:t>les exigences allégées de IAS 34</a:t>
            </a:r>
          </a:p>
        </p:txBody>
      </p:sp>
      <p:sp>
        <p:nvSpPr>
          <p:cNvPr id="37891" name="Espace réservé du contenu 2"/>
          <p:cNvSpPr>
            <a:spLocks noGrp="1"/>
          </p:cNvSpPr>
          <p:nvPr>
            <p:ph idx="1"/>
          </p:nvPr>
        </p:nvSpPr>
        <p:spPr/>
        <p:txBody>
          <a:bodyPr/>
          <a:lstStyle/>
          <a:p>
            <a:pPr eaLnBrk="1" hangingPunct="1"/>
            <a:r>
              <a:rPr lang="fr-CA" altLang="fr-FR" dirty="0"/>
              <a:t>Le préparateur présentera</a:t>
            </a:r>
          </a:p>
          <a:p>
            <a:pPr marL="742950" lvl="1" indent="-285750" eaLnBrk="1" hangingPunct="1"/>
            <a:r>
              <a:rPr lang="fr-CA" altLang="fr-FR" b="1" dirty="0"/>
              <a:t>La sélection de notes explicatives </a:t>
            </a:r>
            <a:r>
              <a:rPr lang="fr-CA" altLang="fr-FR" b="1" dirty="0">
                <a:solidFill>
                  <a:srgbClr val="353535"/>
                </a:solidFill>
              </a:rPr>
              <a:t>imposée</a:t>
            </a:r>
            <a:r>
              <a:rPr lang="fr-CA" altLang="fr-FR" b="1" dirty="0"/>
              <a:t> par </a:t>
            </a:r>
            <a:r>
              <a:rPr lang="fr-CA" altLang="fr-FR" b="1" dirty="0">
                <a:hlinkClick r:id="rId3" action="ppaction://hlinksldjump"/>
              </a:rPr>
              <a:t>IAS 34 </a:t>
            </a:r>
            <a:endParaRPr lang="fr-CA" altLang="fr-FR" b="1" dirty="0"/>
          </a:p>
          <a:p>
            <a:pPr marL="742950" lvl="1" indent="-285750" eaLnBrk="1" hangingPunct="1">
              <a:buFont typeface="Georgia" panose="02040502050405020303" pitchFamily="18" charset="0"/>
              <a:buNone/>
            </a:pPr>
            <a:r>
              <a:rPr lang="fr-CA" altLang="fr-FR" b="1" dirty="0"/>
              <a:t>	</a:t>
            </a:r>
            <a:r>
              <a:rPr lang="fr-CA" altLang="fr-FR" b="1" dirty="0">
                <a:solidFill>
                  <a:srgbClr val="353535"/>
                </a:solidFill>
              </a:rPr>
              <a:t>ET</a:t>
            </a:r>
          </a:p>
          <a:p>
            <a:pPr marL="742950" lvl="1" indent="-285750" eaLnBrk="1" hangingPunct="1"/>
            <a:r>
              <a:rPr lang="fr-CA" altLang="fr-FR" b="1" dirty="0"/>
              <a:t>Les notes supplémentaires </a:t>
            </a:r>
            <a:r>
              <a:rPr lang="fr-CA" altLang="fr-FR" b="1" u="sng" dirty="0"/>
              <a:t>dont </a:t>
            </a:r>
            <a:r>
              <a:rPr lang="fr-CA" altLang="fr-FR" b="1" u="sng" dirty="0">
                <a:solidFill>
                  <a:srgbClr val="353535"/>
                </a:solidFill>
              </a:rPr>
              <a:t>l'omission </a:t>
            </a:r>
            <a:r>
              <a:rPr lang="fr-CA" altLang="fr-FR" b="1" dirty="0">
                <a:solidFill>
                  <a:srgbClr val="353535"/>
                </a:solidFill>
              </a:rPr>
              <a:t>aurait pour effet de rendre trompeurs </a:t>
            </a:r>
            <a:r>
              <a:rPr lang="fr-CA" altLang="fr-FR" b="1" dirty="0"/>
              <a:t>les états financiers intermédiaires résumés (IAS 34-10)  </a:t>
            </a:r>
          </a:p>
        </p:txBody>
      </p:sp>
      <p:sp>
        <p:nvSpPr>
          <p:cNvPr id="37892" name="Espace réservé du pied de page 1"/>
          <p:cNvSpPr>
            <a:spLocks noGrp="1"/>
          </p:cNvSpPr>
          <p:nvPr>
            <p:ph type="ftr" sz="quarter" idx="11"/>
          </p:nvPr>
        </p:nvSpPr>
        <p:spPr bwMode="auto">
          <a:xfrm>
            <a:off x="5257800" y="612775"/>
            <a:ext cx="2916238" cy="36795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3789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5A252A7F-2AE4-44E4-9768-299DF2E5E6CF}" type="slidenum">
              <a:rPr lang="fr-FR" altLang="fr-FR" sz="1800" smtClean="0">
                <a:solidFill>
                  <a:srgbClr val="FFFFFF"/>
                </a:solidFill>
                <a:latin typeface="Times New Roman" panose="02020603050405020304" pitchFamily="18" charset="0"/>
              </a:rPr>
              <a:pPr>
                <a:spcBef>
                  <a:spcPct val="0"/>
                </a:spcBef>
                <a:buClrTx/>
                <a:buFontTx/>
                <a:buNone/>
              </a:pPr>
              <a:t>17</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395288" y="908050"/>
            <a:ext cx="8229600" cy="576263"/>
          </a:xfrm>
        </p:spPr>
        <p:txBody>
          <a:bodyPr/>
          <a:lstStyle/>
          <a:p>
            <a:pPr>
              <a:defRPr/>
            </a:pPr>
            <a:r>
              <a:rPr lang="fr-CA" sz="3200" b="1" dirty="0">
                <a:solidFill>
                  <a:schemeClr val="bg2">
                    <a:lumMod val="25000"/>
                  </a:schemeClr>
                </a:solidFill>
              </a:rPr>
              <a:t>Notes explicatives</a:t>
            </a:r>
          </a:p>
        </p:txBody>
      </p:sp>
      <p:graphicFrame>
        <p:nvGraphicFramePr>
          <p:cNvPr id="8" name="Espace réservé du contenu 7"/>
          <p:cNvGraphicFramePr>
            <a:graphicFrameLocks noGrp="1"/>
          </p:cNvGraphicFramePr>
          <p:nvPr>
            <p:ph idx="1"/>
          </p:nvPr>
        </p:nvGraphicFramePr>
        <p:xfrm>
          <a:off x="467544" y="1628800"/>
          <a:ext cx="8229600"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9940" name="Espace réservé du pied de page 3"/>
          <p:cNvSpPr>
            <a:spLocks noGrp="1"/>
          </p:cNvSpPr>
          <p:nvPr>
            <p:ph type="ftr" sz="quarter" idx="11"/>
          </p:nvPr>
        </p:nvSpPr>
        <p:spPr bwMode="auto">
          <a:xfrm>
            <a:off x="5257800" y="612774"/>
            <a:ext cx="2916238" cy="5119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39941"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B6D591F8-605F-494F-869F-DD77932258A1}" type="slidenum">
              <a:rPr lang="fr-FR" altLang="fr-FR" sz="1800" smtClean="0">
                <a:solidFill>
                  <a:srgbClr val="FFFFFF"/>
                </a:solidFill>
                <a:latin typeface="Times New Roman" panose="02020603050405020304" pitchFamily="18" charset="0"/>
              </a:rPr>
              <a:pPr>
                <a:spcBef>
                  <a:spcPct val="0"/>
                </a:spcBef>
                <a:buClrTx/>
                <a:buFontTx/>
                <a:buNone/>
              </a:pPr>
              <a:t>18</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395288" y="908050"/>
            <a:ext cx="8229600" cy="576263"/>
          </a:xfrm>
        </p:spPr>
        <p:txBody>
          <a:bodyPr/>
          <a:lstStyle/>
          <a:p>
            <a:pPr>
              <a:defRPr/>
            </a:pPr>
            <a:r>
              <a:rPr lang="fr-CA" sz="3200" b="1" dirty="0">
                <a:solidFill>
                  <a:schemeClr val="bg2">
                    <a:lumMod val="25000"/>
                  </a:schemeClr>
                </a:solidFill>
              </a:rPr>
              <a:t>Notes explicatives</a:t>
            </a:r>
          </a:p>
        </p:txBody>
      </p:sp>
      <p:graphicFrame>
        <p:nvGraphicFramePr>
          <p:cNvPr id="8" name="Espace réservé du contenu 7"/>
          <p:cNvGraphicFramePr>
            <a:graphicFrameLocks noGrp="1"/>
          </p:cNvGraphicFramePr>
          <p:nvPr>
            <p:ph idx="1"/>
          </p:nvPr>
        </p:nvGraphicFramePr>
        <p:xfrm>
          <a:off x="467544" y="1628800"/>
          <a:ext cx="8229600"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1988" name="Espace réservé du pied de page 3"/>
          <p:cNvSpPr>
            <a:spLocks noGrp="1"/>
          </p:cNvSpPr>
          <p:nvPr>
            <p:ph type="ftr" sz="quarter" idx="11"/>
          </p:nvPr>
        </p:nvSpPr>
        <p:spPr bwMode="auto">
          <a:xfrm>
            <a:off x="5257800" y="612775"/>
            <a:ext cx="2554560" cy="4399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41989"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C2F2E749-86D5-4E57-A44A-0D6628F9D360}" type="slidenum">
              <a:rPr lang="fr-FR" altLang="fr-FR" sz="1800" smtClean="0">
                <a:solidFill>
                  <a:srgbClr val="FFFFFF"/>
                </a:solidFill>
                <a:latin typeface="Times New Roman" panose="02020603050405020304" pitchFamily="18" charset="0"/>
              </a:rPr>
              <a:pPr>
                <a:spcBef>
                  <a:spcPct val="0"/>
                </a:spcBef>
                <a:buClrTx/>
                <a:buFontTx/>
                <a:buNone/>
              </a:pPr>
              <a:t>19</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468313" y="1052513"/>
            <a:ext cx="8229600" cy="1368425"/>
          </a:xfrm>
        </p:spPr>
        <p:txBody>
          <a:bodyPr/>
          <a:lstStyle/>
          <a:p>
            <a:r>
              <a:rPr lang="fr-CA" altLang="fr-FR" sz="3200"/>
              <a:t>Notes supplémentaires au sujet des éléments importants </a:t>
            </a:r>
            <a:r>
              <a:rPr lang="fr-CA" altLang="fr-FR" sz="3200">
                <a:hlinkClick r:id="rId3" action="ppaction://hlinksldjump"/>
              </a:rPr>
              <a:t>(IAS 34-15B) </a:t>
            </a:r>
            <a:r>
              <a:rPr lang="fr-CA" altLang="fr-FR" sz="3200"/>
              <a:t>- </a:t>
            </a:r>
            <a:br>
              <a:rPr lang="fr-CA" altLang="fr-FR"/>
            </a:br>
            <a:r>
              <a:rPr lang="fr-CA" altLang="fr-FR" sz="2800"/>
              <a:t>L’importance relative</a:t>
            </a:r>
          </a:p>
        </p:txBody>
      </p:sp>
      <p:sp>
        <p:nvSpPr>
          <p:cNvPr id="44035" name="Rectangle 3"/>
          <p:cNvSpPr>
            <a:spLocks noGrp="1"/>
          </p:cNvSpPr>
          <p:nvPr>
            <p:ph type="body" idx="1"/>
          </p:nvPr>
        </p:nvSpPr>
        <p:spPr>
          <a:xfrm>
            <a:off x="457200" y="2708275"/>
            <a:ext cx="8229600" cy="3865563"/>
          </a:xfrm>
        </p:spPr>
        <p:txBody>
          <a:bodyPr/>
          <a:lstStyle/>
          <a:p>
            <a:r>
              <a:rPr lang="fr-CA" altLang="fr-FR"/>
              <a:t>Comment établir ce qui est important dans le cadre des EF intermédiaires et ce qui ne l’est pas?</a:t>
            </a:r>
          </a:p>
        </p:txBody>
      </p:sp>
      <p:sp>
        <p:nvSpPr>
          <p:cNvPr id="44036" name="Espace réservé du pied de page 1"/>
          <p:cNvSpPr>
            <a:spLocks noGrp="1"/>
          </p:cNvSpPr>
          <p:nvPr>
            <p:ph type="ftr" sz="quarter" idx="11"/>
          </p:nvPr>
        </p:nvSpPr>
        <p:spPr bwMode="auto">
          <a:xfrm>
            <a:off x="5257800" y="612775"/>
            <a:ext cx="2554560" cy="4397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4403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4493A831-C2D7-49B6-8BF3-3CC6230A3DED}" type="slidenum">
              <a:rPr lang="fr-FR" altLang="fr-FR" sz="1800" smtClean="0">
                <a:solidFill>
                  <a:srgbClr val="FFFFFF"/>
                </a:solidFill>
                <a:latin typeface="Times New Roman" panose="02020603050405020304" pitchFamily="18" charset="0"/>
              </a:rPr>
              <a:pPr>
                <a:spcBef>
                  <a:spcPct val="0"/>
                </a:spcBef>
                <a:buClrTx/>
                <a:buFontTx/>
                <a:buNone/>
              </a:pPr>
              <a:t>20</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a:xfrm>
            <a:off x="457200" y="838200"/>
            <a:ext cx="8229600" cy="719138"/>
          </a:xfrm>
        </p:spPr>
        <p:txBody>
          <a:bodyPr/>
          <a:lstStyle/>
          <a:p>
            <a:r>
              <a:rPr lang="fr-CA" altLang="fr-FR" sz="2800" dirty="0"/>
              <a:t>Transaction ou événement </a:t>
            </a:r>
            <a:r>
              <a:rPr lang="fr-CA" altLang="fr-FR" sz="2800" b="1" dirty="0">
                <a:solidFill>
                  <a:srgbClr val="353535"/>
                </a:solidFill>
              </a:rPr>
              <a:t>important</a:t>
            </a:r>
            <a:r>
              <a:rPr lang="fr-CA" altLang="fr-FR" sz="2800" dirty="0"/>
              <a:t> à aborder </a:t>
            </a:r>
            <a:r>
              <a:rPr lang="fr-CA" altLang="fr-FR" sz="2400" dirty="0"/>
              <a:t>(survenu durant la période intermédiaire)</a:t>
            </a:r>
          </a:p>
        </p:txBody>
      </p:sp>
      <p:sp>
        <p:nvSpPr>
          <p:cNvPr id="24579" name="Rectangle 3"/>
          <p:cNvSpPr>
            <a:spLocks noGrp="1"/>
          </p:cNvSpPr>
          <p:nvPr>
            <p:ph type="body" idx="1"/>
          </p:nvPr>
        </p:nvSpPr>
        <p:spPr>
          <a:xfrm>
            <a:off x="381000" y="1745978"/>
            <a:ext cx="8305800" cy="5112022"/>
          </a:xfrm>
        </p:spPr>
        <p:txBody>
          <a:bodyPr/>
          <a:lstStyle/>
          <a:p>
            <a:pPr>
              <a:lnSpc>
                <a:spcPct val="90000"/>
              </a:lnSpc>
              <a:defRPr/>
            </a:pPr>
            <a:r>
              <a:rPr lang="fr-CA" sz="2000" dirty="0"/>
              <a:t>La dépréciation de stocks / la reprise de cette dépréciation ;</a:t>
            </a:r>
          </a:p>
          <a:p>
            <a:pPr>
              <a:lnSpc>
                <a:spcPct val="90000"/>
              </a:lnSpc>
              <a:defRPr/>
            </a:pPr>
            <a:r>
              <a:rPr lang="fr-CA" sz="2000" dirty="0"/>
              <a:t>La perte pour dépréciation d'actifs financiers, d'immobilisations corporelles, d'immobilisations incorporelles ou d'autres actifs, et la reprise de cette perte de valeur ;</a:t>
            </a:r>
          </a:p>
          <a:p>
            <a:pPr>
              <a:lnSpc>
                <a:spcPct val="90000"/>
              </a:lnSpc>
              <a:defRPr/>
            </a:pPr>
            <a:r>
              <a:rPr lang="fr-CA" sz="2000" dirty="0"/>
              <a:t>la reprise d'une provision pour restructuration ;</a:t>
            </a:r>
          </a:p>
          <a:p>
            <a:pPr>
              <a:lnSpc>
                <a:spcPct val="90000"/>
              </a:lnSpc>
              <a:defRPr/>
            </a:pPr>
            <a:r>
              <a:rPr lang="fr-CA" sz="2000" dirty="0"/>
              <a:t>les acquisitions et sorties d'immobilisations corporelles ;</a:t>
            </a:r>
          </a:p>
          <a:p>
            <a:pPr>
              <a:lnSpc>
                <a:spcPct val="90000"/>
              </a:lnSpc>
              <a:defRPr/>
            </a:pPr>
            <a:r>
              <a:rPr lang="fr-CA" sz="2000" dirty="0"/>
              <a:t>les </a:t>
            </a:r>
            <a:r>
              <a:rPr lang="fr-CA" sz="2000" b="1" dirty="0"/>
              <a:t>engagements </a:t>
            </a:r>
            <a:r>
              <a:rPr lang="fr-CA" sz="2000" dirty="0"/>
              <a:t>d'achat d'immobilisations corporelles ;</a:t>
            </a:r>
          </a:p>
          <a:p>
            <a:pPr>
              <a:lnSpc>
                <a:spcPct val="90000"/>
              </a:lnSpc>
              <a:defRPr/>
            </a:pPr>
            <a:r>
              <a:rPr lang="fr-CA" sz="2000" dirty="0"/>
              <a:t>les règlements de litiges ;</a:t>
            </a:r>
          </a:p>
          <a:p>
            <a:pPr>
              <a:lnSpc>
                <a:spcPct val="90000"/>
              </a:lnSpc>
              <a:defRPr/>
            </a:pPr>
            <a:r>
              <a:rPr lang="fr-CA" sz="2000" dirty="0"/>
              <a:t>les corrections d'erreurs d'une période antérieure ;</a:t>
            </a:r>
          </a:p>
          <a:p>
            <a:pPr>
              <a:lnSpc>
                <a:spcPct val="90000"/>
              </a:lnSpc>
              <a:defRPr/>
            </a:pPr>
            <a:r>
              <a:rPr lang="fr-CA" sz="2000" b="1" dirty="0">
                <a:solidFill>
                  <a:schemeClr val="tx1">
                    <a:lumMod val="85000"/>
                    <a:lumOff val="15000"/>
                  </a:schemeClr>
                </a:solidFill>
              </a:rPr>
              <a:t>les changements dans la situation de l'entité ou le contexte économique </a:t>
            </a:r>
            <a:r>
              <a:rPr lang="fr-CA" sz="2000" dirty="0">
                <a:solidFill>
                  <a:schemeClr val="tx1">
                    <a:lumMod val="85000"/>
                    <a:lumOff val="15000"/>
                  </a:schemeClr>
                </a:solidFill>
              </a:rPr>
              <a:t>qui influent sur la juste valeur des actifs financiers et des passifs financiers de l'entité, que ces actifs ou passifs soient comptabilisés à la juste valeur ou au coût amorti</a:t>
            </a:r>
            <a:r>
              <a:rPr lang="fr-CA" sz="2000" b="1" dirty="0">
                <a:solidFill>
                  <a:schemeClr val="tx1">
                    <a:lumMod val="85000"/>
                    <a:lumOff val="15000"/>
                  </a:schemeClr>
                </a:solidFill>
              </a:rPr>
              <a:t> </a:t>
            </a:r>
            <a:r>
              <a:rPr lang="fr-CA" sz="2000" dirty="0"/>
              <a:t>;</a:t>
            </a:r>
          </a:p>
          <a:p>
            <a:pPr>
              <a:lnSpc>
                <a:spcPct val="90000"/>
              </a:lnSpc>
              <a:defRPr/>
            </a:pPr>
            <a:r>
              <a:rPr lang="fr-CA" sz="2000" dirty="0"/>
              <a:t>tout défaut de paiement sur un prêt ou tout autre manquement à un contrat de prêt non réparé au plus tard à la fin de la période de présentation de l'information financière…</a:t>
            </a:r>
          </a:p>
          <a:p>
            <a:pPr>
              <a:lnSpc>
                <a:spcPct val="90000"/>
              </a:lnSpc>
              <a:defRPr/>
            </a:pPr>
            <a:r>
              <a:rPr lang="fr-CA" sz="2000" dirty="0"/>
              <a:t>Etc.</a:t>
            </a:r>
          </a:p>
        </p:txBody>
      </p:sp>
      <p:sp>
        <p:nvSpPr>
          <p:cNvPr id="46084" name="Espace réservé du pied de page 1"/>
          <p:cNvSpPr>
            <a:spLocks noGrp="1"/>
          </p:cNvSpPr>
          <p:nvPr>
            <p:ph type="ftr" sz="quarter" idx="11"/>
          </p:nvPr>
        </p:nvSpPr>
        <p:spPr bwMode="auto">
          <a:xfrm>
            <a:off x="5257800" y="612775"/>
            <a:ext cx="2554560" cy="225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4608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E6DAFA8F-796C-42F0-AB6F-1F4F22470AD7}" type="slidenum">
              <a:rPr lang="fr-FR" altLang="fr-FR" sz="1800" smtClean="0">
                <a:solidFill>
                  <a:srgbClr val="FFFFFF"/>
                </a:solidFill>
                <a:latin typeface="Times New Roman" panose="02020603050405020304" pitchFamily="18" charset="0"/>
              </a:rPr>
              <a:pPr>
                <a:spcBef>
                  <a:spcPct val="0"/>
                </a:spcBef>
                <a:buClrTx/>
                <a:buFontTx/>
                <a:buNone/>
              </a:pPr>
              <a:t>21</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395288" y="908050"/>
            <a:ext cx="8229600" cy="576263"/>
          </a:xfrm>
        </p:spPr>
        <p:txBody>
          <a:bodyPr/>
          <a:lstStyle/>
          <a:p>
            <a:pPr>
              <a:defRPr/>
            </a:pPr>
            <a:r>
              <a:rPr lang="fr-CA" sz="3200" b="1" dirty="0">
                <a:solidFill>
                  <a:schemeClr val="bg2">
                    <a:lumMod val="25000"/>
                  </a:schemeClr>
                </a:solidFill>
              </a:rPr>
              <a:t>Notes explicatives</a:t>
            </a:r>
          </a:p>
        </p:txBody>
      </p:sp>
      <p:graphicFrame>
        <p:nvGraphicFramePr>
          <p:cNvPr id="8" name="Espace réservé du contenu 7"/>
          <p:cNvGraphicFramePr>
            <a:graphicFrameLocks noGrp="1"/>
          </p:cNvGraphicFramePr>
          <p:nvPr>
            <p:ph idx="1"/>
          </p:nvPr>
        </p:nvGraphicFramePr>
        <p:xfrm>
          <a:off x="467544" y="1628800"/>
          <a:ext cx="8229600"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8132" name="Espace réservé du pied de page 3"/>
          <p:cNvSpPr>
            <a:spLocks noGrp="1"/>
          </p:cNvSpPr>
          <p:nvPr>
            <p:ph type="ftr" sz="quarter" idx="11"/>
          </p:nvPr>
        </p:nvSpPr>
        <p:spPr bwMode="auto">
          <a:xfrm>
            <a:off x="5257800" y="612775"/>
            <a:ext cx="2626568" cy="295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48133"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34542D68-D934-4B89-B9B4-9D687F611FA1}" type="slidenum">
              <a:rPr lang="fr-FR" altLang="fr-FR" sz="1800" smtClean="0">
                <a:solidFill>
                  <a:srgbClr val="FFFFFF"/>
                </a:solidFill>
                <a:latin typeface="Times New Roman" panose="02020603050405020304" pitchFamily="18" charset="0"/>
              </a:rPr>
              <a:pPr>
                <a:spcBef>
                  <a:spcPct val="0"/>
                </a:spcBef>
                <a:buClrTx/>
                <a:buFontTx/>
                <a:buNone/>
              </a:pPr>
              <a:t>22</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p:txBody>
          <a:bodyPr/>
          <a:lstStyle/>
          <a:p>
            <a:r>
              <a:rPr lang="fr-CA" altLang="fr-FR" sz="3200"/>
              <a:t>Déclaration de conformité :</a:t>
            </a:r>
            <a:br>
              <a:rPr lang="fr-CA" altLang="fr-FR"/>
            </a:br>
            <a:r>
              <a:rPr lang="fr-CA" altLang="fr-FR" sz="2800"/>
              <a:t>Être ou ne pas être…</a:t>
            </a:r>
          </a:p>
        </p:txBody>
      </p:sp>
      <p:sp>
        <p:nvSpPr>
          <p:cNvPr id="50179" name="Rectangle 3"/>
          <p:cNvSpPr>
            <a:spLocks noGrp="1"/>
          </p:cNvSpPr>
          <p:nvPr>
            <p:ph type="body" idx="1"/>
          </p:nvPr>
        </p:nvSpPr>
        <p:spPr>
          <a:xfrm>
            <a:off x="457200" y="2438400"/>
            <a:ext cx="8229600" cy="4135438"/>
          </a:xfrm>
        </p:spPr>
        <p:txBody>
          <a:bodyPr/>
          <a:lstStyle/>
          <a:p>
            <a:r>
              <a:rPr lang="fr-CA" altLang="fr-FR" b="1" dirty="0">
                <a:solidFill>
                  <a:schemeClr val="tx2"/>
                </a:solidFill>
              </a:rPr>
              <a:t>Si le rapport financier intermédiaire d'une entité est établi selon les principes de IAS 34, ce fait doit être indiqué. </a:t>
            </a:r>
          </a:p>
          <a:p>
            <a:pPr lvl="1"/>
            <a:r>
              <a:rPr lang="fr-CA" altLang="fr-FR" b="1" dirty="0">
                <a:solidFill>
                  <a:schemeClr val="tx2"/>
                </a:solidFill>
              </a:rPr>
              <a:t>Cependant, un rapport financier intermédiaire ne doit être déclaré </a:t>
            </a:r>
            <a:r>
              <a:rPr lang="fr-CA" altLang="fr-FR" b="1" dirty="0"/>
              <a:t>conforme aux IFRS</a:t>
            </a:r>
            <a:r>
              <a:rPr lang="fr-CA" altLang="fr-FR" b="1" dirty="0">
                <a:solidFill>
                  <a:schemeClr val="tx2"/>
                </a:solidFill>
              </a:rPr>
              <a:t> </a:t>
            </a:r>
            <a:r>
              <a:rPr lang="fr-CA" altLang="fr-FR" b="1" u="sng" dirty="0">
                <a:solidFill>
                  <a:schemeClr val="tx2"/>
                </a:solidFill>
              </a:rPr>
              <a:t>que</a:t>
            </a:r>
            <a:r>
              <a:rPr lang="fr-CA" altLang="fr-FR" dirty="0"/>
              <a:t> </a:t>
            </a:r>
            <a:r>
              <a:rPr lang="fr-CA" altLang="fr-FR" b="1" dirty="0">
                <a:solidFill>
                  <a:schemeClr val="tx2"/>
                </a:solidFill>
              </a:rPr>
              <a:t>s'il est conforme à</a:t>
            </a:r>
            <a:r>
              <a:rPr lang="fr-CA" altLang="fr-FR" b="1" dirty="0"/>
              <a:t> toutes </a:t>
            </a:r>
            <a:r>
              <a:rPr lang="fr-CA" altLang="fr-FR" b="1" dirty="0">
                <a:solidFill>
                  <a:schemeClr val="tx2"/>
                </a:solidFill>
              </a:rPr>
              <a:t>les dispositions des IFRS</a:t>
            </a:r>
            <a:r>
              <a:rPr lang="fr-CA" altLang="fr-FR" dirty="0">
                <a:solidFill>
                  <a:schemeClr val="tx2"/>
                </a:solidFill>
              </a:rPr>
              <a:t>.  (IAS 34-19)</a:t>
            </a:r>
            <a:endParaRPr lang="fr-CA" altLang="fr-FR" b="1" dirty="0">
              <a:solidFill>
                <a:schemeClr val="tx2"/>
              </a:solidFill>
            </a:endParaRPr>
          </a:p>
        </p:txBody>
      </p:sp>
      <p:sp>
        <p:nvSpPr>
          <p:cNvPr id="50180" name="Espace réservé du pied de page 1"/>
          <p:cNvSpPr>
            <a:spLocks noGrp="1"/>
          </p:cNvSpPr>
          <p:nvPr>
            <p:ph type="ftr" sz="quarter" idx="11"/>
          </p:nvPr>
        </p:nvSpPr>
        <p:spPr bwMode="auto">
          <a:xfrm>
            <a:off x="5257800" y="612775"/>
            <a:ext cx="2554560" cy="36795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5018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A206B199-3D01-4BCB-BEEF-2AB1315E1B7A}" type="slidenum">
              <a:rPr lang="fr-FR" altLang="fr-FR" sz="1800" smtClean="0">
                <a:solidFill>
                  <a:srgbClr val="FFFFFF"/>
                </a:solidFill>
                <a:latin typeface="Times New Roman" panose="02020603050405020304" pitchFamily="18" charset="0"/>
              </a:rPr>
              <a:pPr>
                <a:spcBef>
                  <a:spcPct val="0"/>
                </a:spcBef>
                <a:buClrTx/>
                <a:buFontTx/>
                <a:buNone/>
              </a:pPr>
              <a:t>23</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idx="4294967295"/>
          </p:nvPr>
        </p:nvSpPr>
        <p:spPr/>
        <p:txBody>
          <a:bodyPr/>
          <a:lstStyle/>
          <a:p>
            <a:r>
              <a:rPr lang="fr-CA" altLang="fr-FR" sz="3200"/>
              <a:t>Comptabilisation et évaluation</a:t>
            </a:r>
            <a:r>
              <a:rPr lang="fr-CA" altLang="fr-FR"/>
              <a:t> – </a:t>
            </a:r>
            <a:r>
              <a:rPr lang="fr-CA" altLang="fr-FR" sz="2800"/>
              <a:t>les principes</a:t>
            </a:r>
          </a:p>
        </p:txBody>
      </p:sp>
      <p:sp>
        <p:nvSpPr>
          <p:cNvPr id="52227" name="Rectangle 3"/>
          <p:cNvSpPr>
            <a:spLocks noGrp="1"/>
          </p:cNvSpPr>
          <p:nvPr>
            <p:ph type="body" idx="4294967295"/>
          </p:nvPr>
        </p:nvSpPr>
        <p:spPr/>
        <p:txBody>
          <a:bodyPr/>
          <a:lstStyle/>
          <a:p>
            <a:r>
              <a:rPr lang="fr-CA" altLang="fr-FR" sz="2200"/>
              <a:t>Dans les </a:t>
            </a:r>
            <a:r>
              <a:rPr lang="fr-CA" altLang="fr-FR" sz="2200" b="1"/>
              <a:t>EF trimestriels</a:t>
            </a:r>
            <a:r>
              <a:rPr lang="fr-CA" altLang="fr-FR" sz="2200"/>
              <a:t>, on applique des méthodes comptables identiques à celles utilisées dans les EF annuels.</a:t>
            </a:r>
          </a:p>
          <a:p>
            <a:pPr>
              <a:buFont typeface="Georgia" panose="02040502050405020303" pitchFamily="18" charset="0"/>
              <a:buNone/>
            </a:pPr>
            <a:endParaRPr lang="fr-CA" altLang="fr-FR" sz="2200"/>
          </a:p>
          <a:p>
            <a:r>
              <a:rPr lang="fr-CA" altLang="fr-FR" sz="2200"/>
              <a:t>La fréquence (annuelle, semestrielle ou trimestrielle) des rapports financiers d'une entité ne doit pas affecter l'évaluation des résultats annuels. </a:t>
            </a:r>
          </a:p>
          <a:p>
            <a:endParaRPr lang="fr-CA" altLang="fr-FR" sz="2200"/>
          </a:p>
          <a:p>
            <a:r>
              <a:rPr lang="fr-CA" altLang="fr-FR" sz="2200"/>
              <a:t>Pour parvenir à cet objectif, les évaluations effectuées aux fins de l'information intermédiaire doivent être faites sur une base cumulée depuis le début de l'exercice.  (IAS 34-28)</a:t>
            </a:r>
          </a:p>
        </p:txBody>
      </p:sp>
      <p:sp>
        <p:nvSpPr>
          <p:cNvPr id="52228" name="Espace réservé du pied de page 1"/>
          <p:cNvSpPr txBox="1">
            <a:spLocks noGrp="1"/>
          </p:cNvSpPr>
          <p:nvPr/>
        </p:nvSpPr>
        <p:spPr bwMode="auto">
          <a:xfrm>
            <a:off x="5257800" y="612775"/>
            <a:ext cx="169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lgn="r" eaLnBrk="1" hangingPunct="1">
              <a:spcBef>
                <a:spcPct val="0"/>
              </a:spcBef>
              <a:buClrTx/>
              <a:buFontTx/>
              <a:buNone/>
            </a:pPr>
            <a:r>
              <a:rPr lang="fr-FR" altLang="fr-FR" sz="800">
                <a:solidFill>
                  <a:schemeClr val="accent2"/>
                </a:solidFill>
                <a:latin typeface="Times New Roman" panose="02020603050405020304" pitchFamily="18" charset="0"/>
              </a:rPr>
              <a:t>© 2014,  Sylviane Beauregard</a:t>
            </a:r>
          </a:p>
        </p:txBody>
      </p:sp>
      <p:sp>
        <p:nvSpPr>
          <p:cNvPr id="52229" name="Espace réservé du numéro de diapositive 2"/>
          <p:cNvSpPr txBox="1">
            <a:spLocks noGrp="1"/>
          </p:cNvSpPr>
          <p:nvPr/>
        </p:nvSpPr>
        <p:spPr bwMode="auto">
          <a:xfrm>
            <a:off x="8174038" y="158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lgn="r" eaLnBrk="1" hangingPunct="1">
              <a:spcBef>
                <a:spcPct val="0"/>
              </a:spcBef>
              <a:buClrTx/>
              <a:buFontTx/>
              <a:buNone/>
            </a:pPr>
            <a:fld id="{DCAAE164-F5EB-4163-B1FF-994FB1B9DD5C}" type="slidenum">
              <a:rPr lang="fr-FR" altLang="fr-FR" sz="1800">
                <a:solidFill>
                  <a:srgbClr val="FFFFFF"/>
                </a:solidFill>
                <a:latin typeface="Times New Roman" panose="02020603050405020304" pitchFamily="18" charset="0"/>
              </a:rPr>
              <a:pPr algn="r" eaLnBrk="1" hangingPunct="1">
                <a:spcBef>
                  <a:spcPct val="0"/>
                </a:spcBef>
                <a:buClrTx/>
                <a:buFontTx/>
                <a:buNone/>
              </a:pPr>
              <a:t>24</a:t>
            </a:fld>
            <a:endParaRPr lang="fr-FR" altLang="fr-FR" sz="1800">
              <a:solidFill>
                <a:srgbClr val="FFFFFF"/>
              </a:solidFill>
              <a:latin typeface="Times New Roman" panose="02020603050405020304" pitchFamily="18" charset="0"/>
            </a:endParaRPr>
          </a:p>
        </p:txBody>
      </p:sp>
      <p:sp>
        <p:nvSpPr>
          <p:cNvPr id="52230" name="Espace réservé du pied de page 1"/>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5223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B4642B35-5581-4F8D-8727-4B4ABED321DC}" type="slidenum">
              <a:rPr lang="fr-FR" altLang="fr-FR" sz="1800" smtClean="0">
                <a:solidFill>
                  <a:srgbClr val="FFFFFF"/>
                </a:solidFill>
                <a:latin typeface="Times New Roman" panose="02020603050405020304" pitchFamily="18" charset="0"/>
              </a:rPr>
              <a:pPr>
                <a:spcBef>
                  <a:spcPct val="0"/>
                </a:spcBef>
                <a:buClrTx/>
                <a:buFontTx/>
                <a:buNone/>
              </a:pPr>
              <a:t>24</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468313" y="839787"/>
            <a:ext cx="8229600" cy="1066800"/>
          </a:xfrm>
        </p:spPr>
        <p:txBody>
          <a:bodyPr/>
          <a:lstStyle/>
          <a:p>
            <a:pPr>
              <a:defRPr/>
            </a:pPr>
            <a:r>
              <a:rPr lang="fr-CA" sz="3200" dirty="0">
                <a:solidFill>
                  <a:schemeClr val="bg2">
                    <a:lumMod val="25000"/>
                  </a:schemeClr>
                </a:solidFill>
              </a:rPr>
              <a:t>Comptabilisation et évaluation</a:t>
            </a:r>
            <a:r>
              <a:rPr lang="fr-CA" dirty="0">
                <a:solidFill>
                  <a:schemeClr val="bg2">
                    <a:lumMod val="25000"/>
                  </a:schemeClr>
                </a:solidFill>
              </a:rPr>
              <a:t> </a:t>
            </a:r>
            <a:r>
              <a:rPr lang="fr-CA" dirty="0"/>
              <a:t>– </a:t>
            </a:r>
            <a:r>
              <a:rPr lang="fr-CA" sz="2800" dirty="0"/>
              <a:t>les principes (IAS 34-28 et 29)</a:t>
            </a:r>
          </a:p>
        </p:txBody>
      </p:sp>
      <p:sp>
        <p:nvSpPr>
          <p:cNvPr id="54275" name="Rectangle 3"/>
          <p:cNvSpPr>
            <a:spLocks noGrp="1"/>
          </p:cNvSpPr>
          <p:nvPr>
            <p:ph type="body" idx="1"/>
          </p:nvPr>
        </p:nvSpPr>
        <p:spPr>
          <a:xfrm>
            <a:off x="370682" y="2157363"/>
            <a:ext cx="8424862" cy="4249738"/>
          </a:xfrm>
        </p:spPr>
        <p:txBody>
          <a:bodyPr/>
          <a:lstStyle/>
          <a:p>
            <a:r>
              <a:rPr lang="fr-CA" altLang="fr-FR" dirty="0"/>
              <a:t>Les </a:t>
            </a:r>
            <a:r>
              <a:rPr lang="fr-CA" altLang="fr-FR" b="1" dirty="0"/>
              <a:t>évaluations effectuées au 3</a:t>
            </a:r>
            <a:r>
              <a:rPr lang="fr-CA" altLang="fr-FR" b="1" baseline="30000" dirty="0"/>
              <a:t>e</a:t>
            </a:r>
            <a:r>
              <a:rPr lang="fr-CA" altLang="fr-FR" b="1" dirty="0"/>
              <a:t> trimestre </a:t>
            </a:r>
            <a:r>
              <a:rPr lang="fr-CA" altLang="fr-FR" dirty="0"/>
              <a:t>peuvent conduire à </a:t>
            </a:r>
            <a:r>
              <a:rPr lang="fr-CA" altLang="fr-FR" b="1" dirty="0"/>
              <a:t>réviser</a:t>
            </a:r>
            <a:r>
              <a:rPr lang="fr-CA" altLang="fr-FR" dirty="0"/>
              <a:t> les estimations faites dans les trimestres antérieurs.</a:t>
            </a:r>
          </a:p>
          <a:p>
            <a:r>
              <a:rPr lang="fr-FR" altLang="fr-FR" dirty="0"/>
              <a:t>Les évaluations devront être effectuées sur une </a:t>
            </a:r>
            <a:r>
              <a:rPr lang="fr-FR" altLang="fr-FR" b="1" dirty="0"/>
              <a:t>base cumulée </a:t>
            </a:r>
            <a:r>
              <a:rPr lang="fr-FR" altLang="fr-FR" dirty="0"/>
              <a:t>depuis le début de l'exercice considéré. </a:t>
            </a:r>
            <a:endParaRPr lang="fr-CA" altLang="fr-FR" dirty="0"/>
          </a:p>
          <a:p>
            <a:r>
              <a:rPr lang="fr-CA" altLang="fr-FR" dirty="0"/>
              <a:t>Les révisions d’estimation devront être </a:t>
            </a:r>
            <a:r>
              <a:rPr lang="fr-CA" altLang="fr-FR" b="1" dirty="0"/>
              <a:t>comptabilisées dans le T où on procède à la révision </a:t>
            </a:r>
            <a:r>
              <a:rPr lang="fr-CA" altLang="fr-FR" dirty="0"/>
              <a:t>(ici, le 3</a:t>
            </a:r>
            <a:r>
              <a:rPr lang="fr-CA" altLang="fr-FR" baseline="30000" dirty="0"/>
              <a:t>e</a:t>
            </a:r>
            <a:r>
              <a:rPr lang="fr-CA" altLang="fr-FR" dirty="0"/>
              <a:t> trimestre).</a:t>
            </a:r>
          </a:p>
          <a:p>
            <a:endParaRPr lang="fr-CA" altLang="fr-FR" dirty="0"/>
          </a:p>
        </p:txBody>
      </p:sp>
      <p:sp>
        <p:nvSpPr>
          <p:cNvPr id="54276" name="Espace réservé du pied de page 1"/>
          <p:cNvSpPr>
            <a:spLocks noGrp="1"/>
          </p:cNvSpPr>
          <p:nvPr>
            <p:ph type="ftr" sz="quarter" idx="11"/>
          </p:nvPr>
        </p:nvSpPr>
        <p:spPr bwMode="auto">
          <a:xfrm>
            <a:off x="5257800" y="612775"/>
            <a:ext cx="2554560" cy="2270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5427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8CBB47C3-CFF1-4C4E-87BF-8053F350C202}" type="slidenum">
              <a:rPr lang="fr-FR" altLang="fr-FR" sz="1800" smtClean="0">
                <a:solidFill>
                  <a:srgbClr val="FFFFFF"/>
                </a:solidFill>
                <a:latin typeface="Times New Roman" panose="02020603050405020304" pitchFamily="18" charset="0"/>
              </a:rPr>
              <a:pPr>
                <a:spcBef>
                  <a:spcPct val="0"/>
                </a:spcBef>
                <a:buClrTx/>
                <a:buFontTx/>
                <a:buNone/>
              </a:pPr>
              <a:t>25</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re 1"/>
          <p:cNvSpPr>
            <a:spLocks noGrp="1"/>
          </p:cNvSpPr>
          <p:nvPr>
            <p:ph type="title"/>
          </p:nvPr>
        </p:nvSpPr>
        <p:spPr>
          <a:xfrm>
            <a:off x="457200" y="1143000"/>
            <a:ext cx="8229600" cy="701675"/>
          </a:xfrm>
        </p:spPr>
        <p:txBody>
          <a:bodyPr/>
          <a:lstStyle/>
          <a:p>
            <a:r>
              <a:rPr lang="fr-CA" altLang="fr-FR" sz="3200"/>
              <a:t>Comptabilisation et évaluation</a:t>
            </a:r>
            <a:br>
              <a:rPr lang="fr-CA" altLang="fr-FR"/>
            </a:br>
            <a:r>
              <a:rPr lang="fr-CA" altLang="fr-FR" sz="2800"/>
              <a:t>Quiz 1 – Le contexte</a:t>
            </a:r>
          </a:p>
        </p:txBody>
      </p:sp>
      <p:sp>
        <p:nvSpPr>
          <p:cNvPr id="56323" name="Espace réservé du contenu 2"/>
          <p:cNvSpPr>
            <a:spLocks noGrp="1"/>
          </p:cNvSpPr>
          <p:nvPr>
            <p:ph idx="1"/>
          </p:nvPr>
        </p:nvSpPr>
        <p:spPr>
          <a:xfrm>
            <a:off x="468313" y="1989138"/>
            <a:ext cx="8229600" cy="4464050"/>
          </a:xfrm>
        </p:spPr>
        <p:txBody>
          <a:bodyPr/>
          <a:lstStyle/>
          <a:p>
            <a:pPr marL="107950" indent="0">
              <a:buFont typeface="Georgia" panose="02040502050405020303" pitchFamily="18" charset="0"/>
              <a:buNone/>
            </a:pPr>
            <a:r>
              <a:rPr lang="fr-CA" altLang="fr-FR" sz="2000" dirty="0"/>
              <a:t>Une entité vend une nouvelle génération de tablettes électroniques. Habituellement, 4% des tablettes font l’objet d’une réclamation en vertu de la garantie. Pendant le T1, les ventes se sont élevées à 8M et la provision correspondant à 4% des ventes a été comptabilisée. Pendant le T2, on a découvert que des tablettes avaient un défaut de fabrication. Sur une base annuelle, on estime désormais que 10% des tablettes feront l’objet d’une réclamation en vertu de la garantie. Les ventes du T2 se sont élevées à 12M. La charge pour garantie qui sera comptabilisée dans les résultats dans le T2 s’élèvera à :</a:t>
            </a:r>
          </a:p>
          <a:p>
            <a:pPr marL="107950" indent="0">
              <a:buFont typeface="Trebuchet MS" panose="020B0603020202020204" pitchFamily="34" charset="0"/>
              <a:buAutoNum type="alphaLcParenR"/>
            </a:pPr>
            <a:r>
              <a:rPr lang="fr-CA" altLang="fr-FR" sz="2000" dirty="0"/>
              <a:t>  480 000$</a:t>
            </a:r>
          </a:p>
          <a:p>
            <a:pPr marL="107950" indent="0">
              <a:buFont typeface="Trebuchet MS" panose="020B0603020202020204" pitchFamily="34" charset="0"/>
              <a:buAutoNum type="alphaLcParenR"/>
            </a:pPr>
            <a:r>
              <a:rPr lang="fr-CA" altLang="fr-FR" sz="2000" dirty="0"/>
              <a:t> 1 200 000$</a:t>
            </a:r>
          </a:p>
          <a:p>
            <a:pPr marL="107950" indent="0">
              <a:buFont typeface="Trebuchet MS" panose="020B0603020202020204" pitchFamily="34" charset="0"/>
              <a:buAutoNum type="alphaLcParenR"/>
            </a:pPr>
            <a:r>
              <a:rPr lang="fr-CA" altLang="fr-FR" sz="2000" dirty="0"/>
              <a:t>    800 000 $</a:t>
            </a:r>
          </a:p>
          <a:p>
            <a:pPr marL="107950" indent="0">
              <a:buFont typeface="Trebuchet MS" panose="020B0603020202020204" pitchFamily="34" charset="0"/>
              <a:buAutoNum type="alphaLcParenR"/>
            </a:pPr>
            <a:r>
              <a:rPr lang="fr-CA" altLang="fr-FR" sz="2000" dirty="0"/>
              <a:t> 1 680 000 $</a:t>
            </a:r>
          </a:p>
          <a:p>
            <a:pPr marL="107950" indent="0">
              <a:buFont typeface="Georgia" panose="02040502050405020303" pitchFamily="18" charset="0"/>
              <a:buNone/>
            </a:pPr>
            <a:endParaRPr lang="fr-CA" altLang="fr-FR" sz="2000" dirty="0"/>
          </a:p>
          <a:p>
            <a:pPr marL="107950" indent="0" algn="r">
              <a:buFont typeface="Georgia" panose="02040502050405020303" pitchFamily="18" charset="0"/>
              <a:buNone/>
            </a:pPr>
            <a:r>
              <a:rPr lang="fr-FR" altLang="fr-FR" sz="1200" dirty="0"/>
              <a:t>Inspiré de </a:t>
            </a:r>
            <a:r>
              <a:rPr lang="fr-FR" altLang="fr-FR" sz="1200" dirty="0" err="1"/>
              <a:t>Wiley</a:t>
            </a:r>
            <a:r>
              <a:rPr lang="fr-FR" altLang="fr-FR" sz="1200" dirty="0"/>
              <a:t>, IFRS </a:t>
            </a:r>
            <a:r>
              <a:rPr lang="fr-FR" altLang="fr-FR" sz="1200" dirty="0" err="1"/>
              <a:t>workbook</a:t>
            </a:r>
            <a:r>
              <a:rPr lang="fr-FR" altLang="fr-FR" sz="1200" dirty="0"/>
              <a:t> and Guide</a:t>
            </a:r>
          </a:p>
          <a:p>
            <a:pPr marL="107950" indent="0">
              <a:buFont typeface="Trebuchet MS" panose="020B0603020202020204" pitchFamily="34" charset="0"/>
              <a:buAutoNum type="alphaLcParenR"/>
            </a:pPr>
            <a:endParaRPr lang="fr-CA" altLang="fr-FR" sz="2000" dirty="0"/>
          </a:p>
        </p:txBody>
      </p:sp>
      <p:sp>
        <p:nvSpPr>
          <p:cNvPr id="56324" name="Espace réservé du pied de page 3"/>
          <p:cNvSpPr>
            <a:spLocks noGrp="1"/>
          </p:cNvSpPr>
          <p:nvPr>
            <p:ph type="ftr" sz="quarter" idx="11"/>
          </p:nvPr>
        </p:nvSpPr>
        <p:spPr bwMode="auto">
          <a:xfrm>
            <a:off x="5257800" y="612775"/>
            <a:ext cx="2698576" cy="3857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56325"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D96912A0-8499-47E1-8573-8FE1B8D09F61}" type="slidenum">
              <a:rPr lang="fr-FR" altLang="fr-FR" sz="1800" smtClean="0">
                <a:solidFill>
                  <a:srgbClr val="FFFFFF"/>
                </a:solidFill>
                <a:latin typeface="Times New Roman" panose="02020603050405020304" pitchFamily="18" charset="0"/>
              </a:rPr>
              <a:pPr>
                <a:spcBef>
                  <a:spcPct val="0"/>
                </a:spcBef>
                <a:buClrTx/>
                <a:buFontTx/>
                <a:buNone/>
              </a:pPr>
              <a:t>26</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395288" y="908050"/>
            <a:ext cx="8229600" cy="1225550"/>
          </a:xfrm>
        </p:spPr>
        <p:txBody>
          <a:bodyPr/>
          <a:lstStyle/>
          <a:p>
            <a:pPr>
              <a:defRPr/>
            </a:pPr>
            <a:r>
              <a:rPr lang="fr-CA" sz="2800" b="1" dirty="0">
                <a:solidFill>
                  <a:schemeClr val="accent1">
                    <a:lumMod val="75000"/>
                  </a:schemeClr>
                </a:solidFill>
              </a:rPr>
              <a:t>À ne jamais oublier</a:t>
            </a:r>
            <a:br>
              <a:rPr lang="fr-CA" sz="2800" dirty="0"/>
            </a:br>
            <a:r>
              <a:rPr lang="fr-CA" sz="2800" b="1" dirty="0">
                <a:solidFill>
                  <a:schemeClr val="bg2">
                    <a:lumMod val="25000"/>
                  </a:schemeClr>
                </a:solidFill>
              </a:rPr>
              <a:t>EF annuels ou intermédiaires, on définit toujours un actif de la même manière</a:t>
            </a:r>
          </a:p>
        </p:txBody>
      </p:sp>
      <p:sp>
        <p:nvSpPr>
          <p:cNvPr id="30723" name="Rectangle 3"/>
          <p:cNvSpPr>
            <a:spLocks noGrp="1"/>
          </p:cNvSpPr>
          <p:nvPr>
            <p:ph type="body" idx="1"/>
          </p:nvPr>
        </p:nvSpPr>
        <p:spPr>
          <a:xfrm>
            <a:off x="457200" y="2565400"/>
            <a:ext cx="8229600" cy="4008438"/>
          </a:xfrm>
        </p:spPr>
        <p:txBody>
          <a:bodyPr/>
          <a:lstStyle/>
          <a:p>
            <a:pPr>
              <a:defRPr/>
            </a:pPr>
            <a:r>
              <a:rPr lang="fr-FR" dirty="0"/>
              <a:t>Pour les actifs, les mêmes tests concernant les avantages économiques futurs s'appliquent aux dates intermédiaires et à la clôture de l’exercice. </a:t>
            </a:r>
          </a:p>
          <a:p>
            <a:pPr marL="109537" indent="0">
              <a:buFont typeface="Georgia" panose="02040502050405020303" pitchFamily="18" charset="0"/>
              <a:buNone/>
              <a:defRPr/>
            </a:pPr>
            <a:endParaRPr lang="fr-FR" dirty="0"/>
          </a:p>
          <a:p>
            <a:pPr>
              <a:defRPr/>
            </a:pPr>
            <a:r>
              <a:rPr lang="fr-FR" dirty="0"/>
              <a:t>Les coûts qui, de par leur nature, ne constituent pas des actifs à la clôture de l'exercice, ne constituent pas des actifs à la date de l'information intermédiaire. (IAS 34-32)</a:t>
            </a:r>
            <a:endParaRPr lang="fr-CA" dirty="0"/>
          </a:p>
        </p:txBody>
      </p:sp>
      <p:sp>
        <p:nvSpPr>
          <p:cNvPr id="58372" name="Espace réservé du pied de page 1"/>
          <p:cNvSpPr>
            <a:spLocks noGrp="1"/>
          </p:cNvSpPr>
          <p:nvPr>
            <p:ph type="ftr" sz="quarter" idx="11"/>
          </p:nvPr>
        </p:nvSpPr>
        <p:spPr bwMode="auto">
          <a:xfrm>
            <a:off x="5257800" y="612775"/>
            <a:ext cx="21224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5837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5DF533C4-B389-443D-BABD-ABAD8A88F112}" type="slidenum">
              <a:rPr lang="fr-FR" altLang="fr-FR" sz="1800" smtClean="0">
                <a:solidFill>
                  <a:srgbClr val="FFFFFF"/>
                </a:solidFill>
                <a:latin typeface="Times New Roman" panose="02020603050405020304" pitchFamily="18" charset="0"/>
              </a:rPr>
              <a:pPr>
                <a:spcBef>
                  <a:spcPct val="0"/>
                </a:spcBef>
                <a:buClrTx/>
                <a:buFontTx/>
                <a:buNone/>
              </a:pPr>
              <a:t>27</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a:xfrm>
            <a:off x="381000" y="838200"/>
            <a:ext cx="8229600" cy="936625"/>
          </a:xfrm>
        </p:spPr>
        <p:txBody>
          <a:bodyPr/>
          <a:lstStyle/>
          <a:p>
            <a:r>
              <a:rPr lang="fr-CA" altLang="fr-FR" sz="3200"/>
              <a:t>Comptabilisation et évaluation</a:t>
            </a:r>
            <a:br>
              <a:rPr lang="fr-CA" altLang="fr-FR"/>
            </a:br>
            <a:r>
              <a:rPr lang="fr-CA" altLang="fr-FR" sz="2800"/>
              <a:t>Quiz 2 – Le contexte</a:t>
            </a:r>
            <a:endParaRPr lang="fr-CA" altLang="fr-FR" sz="3200"/>
          </a:p>
        </p:txBody>
      </p:sp>
      <p:sp>
        <p:nvSpPr>
          <p:cNvPr id="31747" name="Rectangle 3"/>
          <p:cNvSpPr>
            <a:spLocks noGrp="1"/>
          </p:cNvSpPr>
          <p:nvPr>
            <p:ph type="body" idx="1"/>
          </p:nvPr>
        </p:nvSpPr>
        <p:spPr>
          <a:xfrm>
            <a:off x="468313" y="1905000"/>
            <a:ext cx="8229600" cy="4764088"/>
          </a:xfrm>
        </p:spPr>
        <p:txBody>
          <a:bodyPr/>
          <a:lstStyle/>
          <a:p>
            <a:pPr>
              <a:lnSpc>
                <a:spcPct val="90000"/>
              </a:lnSpc>
              <a:defRPr/>
            </a:pPr>
            <a:r>
              <a:rPr lang="fr-CA" sz="2400" dirty="0"/>
              <a:t>Depuis quelques mois, une entreprise high tech développe une nouvelle appli web. </a:t>
            </a:r>
          </a:p>
          <a:p>
            <a:pPr>
              <a:lnSpc>
                <a:spcPct val="90000"/>
              </a:lnSpc>
              <a:defRPr/>
            </a:pPr>
            <a:r>
              <a:rPr lang="fr-CA" sz="2400" dirty="0"/>
              <a:t>Au moment de préparer les EF du T2, à la lumière d’une étude de marché sommaire dont les résultats préliminaires étaient décevants, la haute direction n’a pas approuvé l’achèvement de cette application malgré son caractère innovateur.</a:t>
            </a:r>
          </a:p>
          <a:p>
            <a:pPr>
              <a:lnSpc>
                <a:spcPct val="90000"/>
              </a:lnSpc>
              <a:defRPr/>
            </a:pPr>
            <a:r>
              <a:rPr lang="fr-CA" sz="2400" dirty="0"/>
              <a:t>Une étude plus poussée a été commandée. Cette étude tentera de prouver que le marché asiatique accueillera cette application avec enthousiasme. Ses résultats sont attendus au cours du T4. Les développeurs ont bon espoir que l’achèvement de l’appli sera alors approuvé. </a:t>
            </a:r>
          </a:p>
          <a:p>
            <a:pPr marL="261938" indent="-261938">
              <a:lnSpc>
                <a:spcPct val="90000"/>
              </a:lnSpc>
              <a:buFont typeface="Wingdings" pitchFamily="2" charset="2"/>
              <a:buChar char="Ø"/>
              <a:defRPr/>
            </a:pPr>
            <a:r>
              <a:rPr lang="fr-CA" sz="2400" b="1" dirty="0"/>
              <a:t>Comment traiter les coûts de développement dans le T2?</a:t>
            </a:r>
            <a:r>
              <a:rPr lang="fr-CA" sz="2400" dirty="0"/>
              <a:t> </a:t>
            </a:r>
          </a:p>
        </p:txBody>
      </p:sp>
      <p:sp>
        <p:nvSpPr>
          <p:cNvPr id="60420" name="Espace réservé du pied de page 1"/>
          <p:cNvSpPr>
            <a:spLocks noGrp="1"/>
          </p:cNvSpPr>
          <p:nvPr>
            <p:ph type="ftr" sz="quarter" idx="11"/>
          </p:nvPr>
        </p:nvSpPr>
        <p:spPr bwMode="auto">
          <a:xfrm>
            <a:off x="5257800" y="612775"/>
            <a:ext cx="2482552" cy="225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6042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3516A1FE-FCF4-4BE4-A287-F7FEFA2C7F3F}" type="slidenum">
              <a:rPr lang="fr-FR" altLang="fr-FR" sz="1800" smtClean="0">
                <a:solidFill>
                  <a:srgbClr val="FFFFFF"/>
                </a:solidFill>
                <a:latin typeface="Times New Roman" panose="02020603050405020304" pitchFamily="18" charset="0"/>
              </a:rPr>
              <a:pPr>
                <a:spcBef>
                  <a:spcPct val="0"/>
                </a:spcBef>
                <a:buClrTx/>
                <a:buFontTx/>
                <a:buNone/>
              </a:pPr>
              <a:t>28</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468313" y="836613"/>
            <a:ext cx="8229600" cy="1152525"/>
          </a:xfrm>
        </p:spPr>
        <p:txBody>
          <a:bodyPr/>
          <a:lstStyle/>
          <a:p>
            <a:pPr>
              <a:defRPr/>
            </a:pPr>
            <a:r>
              <a:rPr lang="fr-CA" sz="3200" dirty="0"/>
              <a:t>Quiz 2 –</a:t>
            </a:r>
            <a:r>
              <a:rPr lang="fr-CA" dirty="0"/>
              <a:t> </a:t>
            </a:r>
            <a:r>
              <a:rPr lang="fr-CA" sz="2800" dirty="0"/>
              <a:t>Choisissez la </a:t>
            </a:r>
            <a:r>
              <a:rPr lang="fr-CA" sz="2800" dirty="0">
                <a:solidFill>
                  <a:schemeClr val="bg2">
                    <a:lumMod val="25000"/>
                  </a:schemeClr>
                </a:solidFill>
              </a:rPr>
              <a:t>meilleure</a:t>
            </a:r>
            <a:r>
              <a:rPr lang="fr-CA" sz="2800" dirty="0"/>
              <a:t> réponse parmi celles qui suivent. </a:t>
            </a:r>
            <a:r>
              <a:rPr lang="fr-CA" sz="2800" b="1" dirty="0">
                <a:solidFill>
                  <a:schemeClr val="bg2">
                    <a:lumMod val="25000"/>
                  </a:schemeClr>
                </a:solidFill>
              </a:rPr>
              <a:t>Justifiez votre choix</a:t>
            </a:r>
            <a:r>
              <a:rPr lang="fr-CA" sz="2800" dirty="0"/>
              <a:t>.</a:t>
            </a:r>
          </a:p>
        </p:txBody>
      </p:sp>
      <p:sp>
        <p:nvSpPr>
          <p:cNvPr id="62467" name="Rectangle 3"/>
          <p:cNvSpPr>
            <a:spLocks noGrp="1"/>
          </p:cNvSpPr>
          <p:nvPr>
            <p:ph type="body" idx="1"/>
          </p:nvPr>
        </p:nvSpPr>
        <p:spPr>
          <a:xfrm>
            <a:off x="468313" y="2060575"/>
            <a:ext cx="8229600" cy="4608513"/>
          </a:xfrm>
        </p:spPr>
        <p:txBody>
          <a:bodyPr/>
          <a:lstStyle/>
          <a:p>
            <a:pPr marL="642938" indent="-533400">
              <a:lnSpc>
                <a:spcPct val="90000"/>
              </a:lnSpc>
              <a:buFont typeface="Georgia" panose="02040502050405020303" pitchFamily="18" charset="0"/>
              <a:buAutoNum type="alphaLcParenR"/>
            </a:pPr>
            <a:r>
              <a:rPr lang="fr-CA" altLang="fr-FR" sz="1800" b="1"/>
              <a:t>Parce que les développeurs ont bon espoir que le critère de comptabilisation des frais de développement soit rencontré au T4, les frais de développement de l’appli seront comptabilisés dans le bilan du T2 pourvu que tous les autres critères soient respectés à la date de clôture des EF.</a:t>
            </a:r>
          </a:p>
          <a:p>
            <a:pPr marL="642938" indent="-533400">
              <a:lnSpc>
                <a:spcPct val="90000"/>
              </a:lnSpc>
              <a:buFont typeface="Georgia" panose="02040502050405020303" pitchFamily="18" charset="0"/>
              <a:buAutoNum type="alphaLcParenR"/>
            </a:pPr>
            <a:r>
              <a:rPr lang="fr-CA" altLang="fr-FR" sz="1800" b="1"/>
              <a:t>À la fin du T2, tous les critères de comptabilisation des frais de développement doivent être satisfaits pour que ces frais soient comptabilisés en  bilan. La direction n’a pas autorisé l’achèvement de l’appli. Conséquemment, tous les frais engagés en date de clôture du T2 sont des charges du trimestre. Elles seront incorporées dans l’actif au moment où la direction autorisera l’achèvement de  l’appli.</a:t>
            </a:r>
          </a:p>
          <a:p>
            <a:pPr marL="642938" indent="-533400">
              <a:lnSpc>
                <a:spcPct val="90000"/>
              </a:lnSpc>
              <a:buFont typeface="Georgia" panose="02040502050405020303" pitchFamily="18" charset="0"/>
              <a:buAutoNum type="alphaLcParenR"/>
            </a:pPr>
            <a:r>
              <a:rPr lang="fr-CA" altLang="fr-FR" sz="1800" b="1"/>
              <a:t>À la fin du T2, tous les critères de comptabilisation des frais de développement ne sont pas satisfaits. Aucun actif ne peut être comptabilisé. Si l’autorisation est donnée plus tard, les frais engagés après l’autorisation pourront être comptabilisés à l’actif pourvu que tous les autres critères soient satisfaits.</a:t>
            </a:r>
          </a:p>
        </p:txBody>
      </p:sp>
      <p:sp>
        <p:nvSpPr>
          <p:cNvPr id="62468" name="Espace réservé du pied de page 1"/>
          <p:cNvSpPr>
            <a:spLocks noGrp="1"/>
          </p:cNvSpPr>
          <p:nvPr>
            <p:ph type="ftr" sz="quarter" idx="11"/>
          </p:nvPr>
        </p:nvSpPr>
        <p:spPr bwMode="auto">
          <a:xfrm>
            <a:off x="5257800" y="612775"/>
            <a:ext cx="2482552" cy="4399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6246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7F842A41-7302-4074-957C-D340242ECC48}" type="slidenum">
              <a:rPr lang="fr-FR" altLang="fr-FR" sz="1800" smtClean="0">
                <a:solidFill>
                  <a:srgbClr val="FFFFFF"/>
                </a:solidFill>
                <a:latin typeface="Times New Roman" panose="02020603050405020304" pitchFamily="18" charset="0"/>
              </a:rPr>
              <a:pPr>
                <a:spcBef>
                  <a:spcPct val="0"/>
                </a:spcBef>
                <a:buClrTx/>
                <a:buFontTx/>
                <a:buNone/>
              </a:pPr>
              <a:t>29</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a:xfrm>
            <a:off x="457200" y="1143000"/>
            <a:ext cx="8229600" cy="914400"/>
          </a:xfrm>
        </p:spPr>
        <p:txBody>
          <a:bodyPr/>
          <a:lstStyle/>
          <a:p>
            <a:r>
              <a:rPr lang="fr-CA" altLang="fr-FR" sz="3200" b="1"/>
              <a:t>Comptabilisation et évaluation - </a:t>
            </a:r>
            <a:br>
              <a:rPr lang="fr-CA" altLang="fr-FR" sz="3200" b="1"/>
            </a:br>
            <a:r>
              <a:rPr lang="fr-CA" altLang="fr-FR" sz="3200" b="1"/>
              <a:t>Caractère saisonnier</a:t>
            </a:r>
          </a:p>
        </p:txBody>
      </p:sp>
      <p:sp>
        <p:nvSpPr>
          <p:cNvPr id="64515" name="Rectangle 3"/>
          <p:cNvSpPr>
            <a:spLocks noGrp="1"/>
          </p:cNvSpPr>
          <p:nvPr>
            <p:ph type="body" idx="1"/>
          </p:nvPr>
        </p:nvSpPr>
        <p:spPr>
          <a:xfrm>
            <a:off x="457200" y="2362200"/>
            <a:ext cx="8229600" cy="4211638"/>
          </a:xfrm>
        </p:spPr>
        <p:txBody>
          <a:bodyPr/>
          <a:lstStyle/>
          <a:p>
            <a:pPr marL="109538" indent="0">
              <a:buFont typeface="Georgia" panose="02040502050405020303" pitchFamily="18" charset="0"/>
              <a:buNone/>
            </a:pPr>
            <a:r>
              <a:rPr lang="fr-CA" altLang="fr-FR" dirty="0"/>
              <a:t>La comptabilisation des </a:t>
            </a:r>
            <a:r>
              <a:rPr lang="fr-CA" altLang="fr-FR" b="1" dirty="0"/>
              <a:t>produits des activités ordinaires </a:t>
            </a:r>
            <a:r>
              <a:rPr lang="fr-CA" altLang="fr-FR" dirty="0"/>
              <a:t>qu'une entité perçoit de façon saisonnière, cyclique ou occasionnelle pendant un exercice ne doit être ni devancée ni différée à une date intermédiaire s'il n'est pas approprié de la devancer ou de la différer à la fin de l'exercice de l'entité. </a:t>
            </a:r>
          </a:p>
        </p:txBody>
      </p:sp>
      <p:sp>
        <p:nvSpPr>
          <p:cNvPr id="64516" name="Espace réservé du pied de page 1"/>
          <p:cNvSpPr>
            <a:spLocks noGrp="1"/>
          </p:cNvSpPr>
          <p:nvPr>
            <p:ph type="ftr" sz="quarter" idx="11"/>
          </p:nvPr>
        </p:nvSpPr>
        <p:spPr bwMode="auto">
          <a:xfrm>
            <a:off x="5257800" y="612774"/>
            <a:ext cx="2482552" cy="530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6451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99570A9A-40C3-4912-87EC-AEEBBEA57337}" type="slidenum">
              <a:rPr lang="fr-FR" altLang="fr-FR" sz="1800" smtClean="0">
                <a:solidFill>
                  <a:srgbClr val="FFFFFF"/>
                </a:solidFill>
                <a:latin typeface="Times New Roman" panose="02020603050405020304" pitchFamily="18" charset="0"/>
              </a:rPr>
              <a:pPr>
                <a:spcBef>
                  <a:spcPct val="0"/>
                </a:spcBef>
                <a:buClrTx/>
                <a:buFontTx/>
                <a:buNone/>
              </a:pPr>
              <a:t>30</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a:xfrm>
            <a:off x="197818" y="539750"/>
            <a:ext cx="8362950" cy="763588"/>
          </a:xfrm>
        </p:spPr>
        <p:txBody>
          <a:bodyPr/>
          <a:lstStyle/>
          <a:p>
            <a:r>
              <a:rPr lang="fr-CA" altLang="fr-FR" sz="3200" b="1" dirty="0"/>
              <a:t>Quiz</a:t>
            </a:r>
            <a:br>
              <a:rPr lang="fr-CA" altLang="fr-FR" dirty="0"/>
            </a:br>
            <a:r>
              <a:rPr lang="fr-CA" altLang="fr-FR" sz="2800" dirty="0"/>
              <a:t>Caractère saisonnier – les produits</a:t>
            </a:r>
            <a:endParaRPr lang="fr-CA" altLang="fr-FR" dirty="0"/>
          </a:p>
        </p:txBody>
      </p:sp>
      <p:sp>
        <p:nvSpPr>
          <p:cNvPr id="66563" name="Rectangle 3"/>
          <p:cNvSpPr>
            <a:spLocks noGrp="1"/>
          </p:cNvSpPr>
          <p:nvPr>
            <p:ph type="body" idx="1"/>
          </p:nvPr>
        </p:nvSpPr>
        <p:spPr>
          <a:xfrm>
            <a:off x="539552" y="1474789"/>
            <a:ext cx="8280920" cy="4906539"/>
          </a:xfrm>
        </p:spPr>
        <p:txBody>
          <a:bodyPr/>
          <a:lstStyle/>
          <a:p>
            <a:pPr marL="0" indent="0">
              <a:lnSpc>
                <a:spcPct val="90000"/>
              </a:lnSpc>
              <a:buNone/>
            </a:pPr>
            <a:r>
              <a:rPr lang="fr-CA" altLang="fr-FR" sz="2400" b="1" dirty="0"/>
              <a:t>ABC détient un bloc d’actions de XYZ</a:t>
            </a:r>
            <a:r>
              <a:rPr lang="fr-CA" altLang="fr-FR" sz="2400" dirty="0"/>
              <a:t> </a:t>
            </a:r>
            <a:r>
              <a:rPr lang="fr-CA" altLang="fr-FR" sz="2400" dirty="0" err="1"/>
              <a:t>inc.</a:t>
            </a:r>
            <a:r>
              <a:rPr lang="fr-CA" altLang="fr-FR" sz="2400" dirty="0"/>
              <a:t> donnant droit à un important dividende annuel. </a:t>
            </a:r>
            <a:r>
              <a:rPr lang="fr-CA" altLang="fr-FR" sz="2400" b="1" dirty="0"/>
              <a:t>XYZ </a:t>
            </a:r>
            <a:r>
              <a:rPr lang="fr-CA" altLang="fr-FR" sz="2400" dirty="0"/>
              <a:t>a toujours versé des dividendes dans le passé. </a:t>
            </a:r>
          </a:p>
          <a:p>
            <a:pPr marL="0" indent="0">
              <a:lnSpc>
                <a:spcPct val="90000"/>
              </a:lnSpc>
              <a:buFont typeface="Georgia" panose="02040502050405020303" pitchFamily="18" charset="0"/>
              <a:buNone/>
            </a:pPr>
            <a:r>
              <a:rPr lang="fr-CA" altLang="fr-FR" sz="2400" dirty="0"/>
              <a:t>Le 25 septembre 2015, le Conseil d’administration de </a:t>
            </a:r>
            <a:r>
              <a:rPr lang="fr-CA" altLang="fr-FR" sz="2400" b="1" dirty="0"/>
              <a:t>XYZ </a:t>
            </a:r>
            <a:r>
              <a:rPr lang="fr-CA" altLang="fr-FR" sz="2400" dirty="0"/>
              <a:t>a déclaré un dividende annuel  de 2,50$ l’action, payable le 10 octobre 2015 aux actionnaires inscrits le 30 septembre 2015.</a:t>
            </a:r>
          </a:p>
          <a:p>
            <a:pPr marL="0" indent="0">
              <a:lnSpc>
                <a:spcPct val="90000"/>
              </a:lnSpc>
              <a:buFont typeface="Georgia" panose="02040502050405020303" pitchFamily="18" charset="0"/>
              <a:buNone/>
            </a:pPr>
            <a:endParaRPr lang="fr-CA" altLang="fr-FR" sz="2400" dirty="0"/>
          </a:p>
          <a:p>
            <a:pPr marL="0" indent="0">
              <a:lnSpc>
                <a:spcPct val="90000"/>
              </a:lnSpc>
              <a:buFont typeface="Georgia" panose="02040502050405020303" pitchFamily="18" charset="0"/>
              <a:buNone/>
            </a:pPr>
            <a:r>
              <a:rPr lang="fr-CA" altLang="fr-FR" sz="2400" b="1" dirty="0"/>
              <a:t>ABC</a:t>
            </a:r>
            <a:r>
              <a:rPr lang="fr-CA" altLang="fr-FR" sz="2400" dirty="0"/>
              <a:t>, dont la fin d’exercice est le 31 décembre, </a:t>
            </a:r>
            <a:r>
              <a:rPr lang="fr-CA" altLang="fr-FR" sz="2400" b="1" dirty="0"/>
              <a:t>se demande si elle peut comptabiliser un </a:t>
            </a:r>
            <a:r>
              <a:rPr lang="fr-CA" altLang="fr-FR" sz="2400" b="1" u="sng" dirty="0">
                <a:solidFill>
                  <a:schemeClr val="accent1">
                    <a:lumMod val="75000"/>
                  </a:schemeClr>
                </a:solidFill>
              </a:rPr>
              <a:t>dividende à recevoir </a:t>
            </a:r>
            <a:r>
              <a:rPr lang="fr-CA" altLang="fr-FR" sz="2400" b="1" dirty="0">
                <a:solidFill>
                  <a:schemeClr val="accent1">
                    <a:lumMod val="75000"/>
                  </a:schemeClr>
                </a:solidFill>
              </a:rPr>
              <a:t>dans ses résultats du trimestre clos le 30 juin 2015 </a:t>
            </a:r>
            <a:r>
              <a:rPr lang="fr-CA" altLang="fr-FR" sz="2600" dirty="0"/>
              <a:t>parce que </a:t>
            </a:r>
            <a:r>
              <a:rPr lang="fr-CA" altLang="fr-FR" sz="2600" b="1" dirty="0"/>
              <a:t>XYZ </a:t>
            </a:r>
            <a:r>
              <a:rPr lang="fr-CA" altLang="fr-FR" sz="2600" dirty="0"/>
              <a:t>a toujours versé des dividendes dans le passé et que ce dividende annuel peut être estimé avec certitude.  </a:t>
            </a:r>
          </a:p>
        </p:txBody>
      </p:sp>
      <p:sp>
        <p:nvSpPr>
          <p:cNvPr id="66564" name="Espace réservé du pied de page 1"/>
          <p:cNvSpPr>
            <a:spLocks noGrp="1"/>
          </p:cNvSpPr>
          <p:nvPr>
            <p:ph type="ftr" sz="quarter" idx="11"/>
          </p:nvPr>
        </p:nvSpPr>
        <p:spPr bwMode="auto">
          <a:xfrm>
            <a:off x="5257800" y="612775"/>
            <a:ext cx="2482552" cy="4399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6656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D5CC68B2-846C-4FED-8F1A-87F9A1B0235E}" type="slidenum">
              <a:rPr lang="fr-FR" altLang="fr-FR" sz="1800" smtClean="0">
                <a:solidFill>
                  <a:srgbClr val="FFFFFF"/>
                </a:solidFill>
                <a:latin typeface="Times New Roman" panose="02020603050405020304" pitchFamily="18" charset="0"/>
              </a:rPr>
              <a:pPr>
                <a:spcBef>
                  <a:spcPct val="0"/>
                </a:spcBef>
                <a:buClrTx/>
                <a:buFontTx/>
                <a:buNone/>
              </a:pPr>
              <a:t>31</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re 1"/>
          <p:cNvSpPr>
            <a:spLocks noGrp="1"/>
          </p:cNvSpPr>
          <p:nvPr>
            <p:ph type="title"/>
          </p:nvPr>
        </p:nvSpPr>
        <p:spPr>
          <a:xfrm>
            <a:off x="109538" y="646906"/>
            <a:ext cx="8445500" cy="846138"/>
          </a:xfrm>
        </p:spPr>
        <p:txBody>
          <a:bodyPr anchor="t"/>
          <a:lstStyle/>
          <a:p>
            <a:r>
              <a:rPr lang="fr-CA" altLang="fr-FR" sz="3200" b="1" dirty="0"/>
              <a:t>Quiz</a:t>
            </a:r>
            <a:br>
              <a:rPr lang="fr-CA" altLang="fr-FR" sz="3200" dirty="0"/>
            </a:br>
            <a:r>
              <a:rPr lang="fr-CA" altLang="fr-FR" sz="2400" dirty="0"/>
              <a:t>Coûts engagés de façon inégale durant l’année</a:t>
            </a:r>
            <a:br>
              <a:rPr lang="fr-CA" altLang="fr-FR" sz="2800" dirty="0"/>
            </a:br>
            <a:endParaRPr lang="fr-CA" altLang="fr-FR" sz="2800" dirty="0"/>
          </a:p>
        </p:txBody>
      </p:sp>
      <p:sp>
        <p:nvSpPr>
          <p:cNvPr id="68611" name="Espace réservé du contenu 2"/>
          <p:cNvSpPr>
            <a:spLocks noGrp="1"/>
          </p:cNvSpPr>
          <p:nvPr>
            <p:ph idx="1"/>
          </p:nvPr>
        </p:nvSpPr>
        <p:spPr>
          <a:xfrm>
            <a:off x="0" y="1628801"/>
            <a:ext cx="9144000" cy="5040288"/>
          </a:xfrm>
        </p:spPr>
        <p:txBody>
          <a:bodyPr/>
          <a:lstStyle/>
          <a:p>
            <a:pPr marL="107950" indent="0">
              <a:buFont typeface="Georgia" panose="02040502050405020303" pitchFamily="18" charset="0"/>
              <a:buNone/>
            </a:pPr>
            <a:r>
              <a:rPr lang="fr-CA" altLang="fr-FR" sz="2200" dirty="0"/>
              <a:t>Un voyagiste engage des coûts </a:t>
            </a:r>
            <a:r>
              <a:rPr lang="fr-FR" altLang="fr-FR" sz="2200" dirty="0"/>
              <a:t>de façon inégale au cours de l'exercice. Au cours du T1 terminé le 31 mars 2015, il a engagé 1M $ pour les coûts de la publicité annuelle. </a:t>
            </a:r>
          </a:p>
          <a:p>
            <a:pPr marL="107950" indent="0">
              <a:buFont typeface="Georgia" panose="02040502050405020303" pitchFamily="18" charset="0"/>
              <a:buNone/>
            </a:pPr>
            <a:r>
              <a:rPr lang="fr-FR" altLang="fr-FR" sz="2200" dirty="0"/>
              <a:t>Il offre aussi des bonis fondés sur les ventes trimestrielles à certains employés clés. Selon l’entente, ces bonis sont payés à la fin de l’exercice. Au cours du T1, les bonis gagnés et à verser sont de 2 M $. </a:t>
            </a:r>
          </a:p>
          <a:p>
            <a:pPr marL="107950" indent="0">
              <a:buFont typeface="Georgia" panose="02040502050405020303" pitchFamily="18" charset="0"/>
              <a:buNone/>
            </a:pPr>
            <a:r>
              <a:rPr lang="fr-FR" altLang="fr-FR" sz="2200" dirty="0"/>
              <a:t>Selon le budget, les bonis pourraient atteindre 10 M $ en 2015.</a:t>
            </a:r>
          </a:p>
          <a:p>
            <a:pPr marL="107950" indent="0">
              <a:buFont typeface="Georgia" panose="02040502050405020303" pitchFamily="18" charset="0"/>
              <a:buNone/>
            </a:pPr>
            <a:r>
              <a:rPr lang="fr-FR" altLang="fr-FR" sz="2200" b="1" dirty="0"/>
              <a:t>À quel montant ces coûts seront présentés dans les EF du T1?</a:t>
            </a:r>
          </a:p>
          <a:p>
            <a:pPr marL="714375" indent="0">
              <a:buFont typeface="Georgia" panose="02040502050405020303" pitchFamily="18" charset="0"/>
              <a:buAutoNum type="alphaLcParenR"/>
            </a:pPr>
            <a:r>
              <a:rPr lang="fr-FR" altLang="fr-FR" sz="2200" dirty="0"/>
              <a:t>Publicité : 1M; Bonis : 2,5M</a:t>
            </a:r>
          </a:p>
          <a:p>
            <a:pPr marL="714375" indent="0">
              <a:buFont typeface="Georgia" panose="02040502050405020303" pitchFamily="18" charset="0"/>
              <a:buAutoNum type="alphaLcParenR"/>
            </a:pPr>
            <a:r>
              <a:rPr lang="fr-FR" altLang="fr-FR" sz="2200" dirty="0"/>
              <a:t>Publicité : 250 000; Bonis : 2M</a:t>
            </a:r>
          </a:p>
          <a:p>
            <a:pPr marL="714375" indent="0">
              <a:buFont typeface="Georgia" panose="02040502050405020303" pitchFamily="18" charset="0"/>
              <a:buAutoNum type="alphaLcParenR"/>
            </a:pPr>
            <a:r>
              <a:rPr lang="fr-FR" altLang="fr-FR" sz="2200" dirty="0"/>
              <a:t>Publicité : 250 000; Bonis : 2,5M</a:t>
            </a:r>
          </a:p>
          <a:p>
            <a:pPr marL="714375" indent="0">
              <a:buFont typeface="Georgia" panose="02040502050405020303" pitchFamily="18" charset="0"/>
              <a:buAutoNum type="alphaLcParenR"/>
            </a:pPr>
            <a:r>
              <a:rPr lang="fr-FR" altLang="fr-FR" sz="2200" dirty="0"/>
              <a:t>Publicité : 1M; Bonis : 2M</a:t>
            </a:r>
          </a:p>
          <a:p>
            <a:pPr marL="107950" indent="0">
              <a:buFont typeface="Georgia" panose="02040502050405020303" pitchFamily="18" charset="0"/>
              <a:buNone/>
            </a:pPr>
            <a:endParaRPr lang="fr-FR" altLang="fr-FR" sz="1400" dirty="0"/>
          </a:p>
          <a:p>
            <a:pPr marL="107950" indent="0">
              <a:buFont typeface="Georgia" panose="02040502050405020303" pitchFamily="18" charset="0"/>
              <a:buNone/>
            </a:pPr>
            <a:r>
              <a:rPr lang="fr-FR" altLang="fr-FR" sz="1400" dirty="0"/>
              <a:t>Inspiré de </a:t>
            </a:r>
            <a:r>
              <a:rPr lang="fr-FR" altLang="fr-FR" sz="1400" dirty="0" err="1"/>
              <a:t>Wiley</a:t>
            </a:r>
            <a:r>
              <a:rPr lang="fr-FR" altLang="fr-FR" sz="1400" dirty="0"/>
              <a:t>, IFRS </a:t>
            </a:r>
            <a:r>
              <a:rPr lang="fr-FR" altLang="fr-FR" sz="1400" dirty="0" err="1"/>
              <a:t>workbook</a:t>
            </a:r>
            <a:r>
              <a:rPr lang="fr-FR" altLang="fr-FR" sz="1400" dirty="0"/>
              <a:t> and Guide</a:t>
            </a:r>
          </a:p>
          <a:p>
            <a:pPr marL="107950" indent="0">
              <a:buFont typeface="Georgia" panose="02040502050405020303" pitchFamily="18" charset="0"/>
              <a:buNone/>
            </a:pPr>
            <a:endParaRPr lang="fr-CA" altLang="fr-FR" sz="2400" dirty="0"/>
          </a:p>
        </p:txBody>
      </p:sp>
      <p:sp>
        <p:nvSpPr>
          <p:cNvPr id="68612" name="Espace réservé du pied de page 3"/>
          <p:cNvSpPr>
            <a:spLocks noGrp="1"/>
          </p:cNvSpPr>
          <p:nvPr>
            <p:ph type="ftr" sz="quarter" idx="11"/>
          </p:nvPr>
        </p:nvSpPr>
        <p:spPr bwMode="auto">
          <a:xfrm>
            <a:off x="5257800" y="612775"/>
            <a:ext cx="226695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68613"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805997B9-7FB1-45C1-B5D1-C7933BF35EAE}" type="slidenum">
              <a:rPr lang="fr-FR" altLang="fr-FR" sz="1800" smtClean="0">
                <a:solidFill>
                  <a:srgbClr val="FFFFFF"/>
                </a:solidFill>
                <a:latin typeface="Times New Roman" panose="02020603050405020304" pitchFamily="18" charset="0"/>
              </a:rPr>
              <a:pPr>
                <a:spcBef>
                  <a:spcPct val="0"/>
                </a:spcBef>
                <a:buClrTx/>
                <a:buFontTx/>
                <a:buNone/>
              </a:pPr>
              <a:t>32</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re 1"/>
          <p:cNvSpPr>
            <a:spLocks noGrp="1"/>
          </p:cNvSpPr>
          <p:nvPr>
            <p:ph type="title"/>
          </p:nvPr>
        </p:nvSpPr>
        <p:spPr/>
        <p:txBody>
          <a:bodyPr/>
          <a:lstStyle/>
          <a:p>
            <a:r>
              <a:rPr lang="fr-CA" altLang="fr-FR" b="1"/>
              <a:t>Vrai ou faux?</a:t>
            </a:r>
          </a:p>
        </p:txBody>
      </p:sp>
      <p:sp>
        <p:nvSpPr>
          <p:cNvPr id="68611" name="Espace réservé du contenu 2"/>
          <p:cNvSpPr>
            <a:spLocks noGrp="1"/>
          </p:cNvSpPr>
          <p:nvPr>
            <p:ph idx="1"/>
          </p:nvPr>
        </p:nvSpPr>
        <p:spPr/>
        <p:txBody>
          <a:bodyPr/>
          <a:lstStyle/>
          <a:p>
            <a:pPr marL="107950" indent="0">
              <a:buFont typeface="Georgia" panose="02040502050405020303" pitchFamily="18" charset="0"/>
              <a:buNone/>
              <a:defRPr/>
            </a:pPr>
            <a:r>
              <a:rPr lang="fr-FR" altLang="fr-FR" dirty="0"/>
              <a:t>Il n'est pas approprié de différer les écarts sur volume d’une entreprise de fabrication censés être absorbés en fin de période car on risquerait ainsi de présenter les stocks dans les états financiers intermédiaires à un coût supérieur ou inférieur au </a:t>
            </a:r>
            <a:r>
              <a:rPr lang="fr-FR" altLang="fr-FR" dirty="0">
                <a:solidFill>
                  <a:schemeClr val="accent1">
                    <a:lumMod val="75000"/>
                  </a:schemeClr>
                </a:solidFill>
                <a:hlinkClick r:id="rId3" action="ppaction://hlinksldjump"/>
              </a:rPr>
              <a:t>coût réel de fabrication.</a:t>
            </a:r>
            <a:endParaRPr lang="fr-CA" altLang="fr-FR" dirty="0">
              <a:solidFill>
                <a:schemeClr val="accent1">
                  <a:lumMod val="75000"/>
                </a:schemeClr>
              </a:solidFill>
            </a:endParaRPr>
          </a:p>
        </p:txBody>
      </p:sp>
      <p:sp>
        <p:nvSpPr>
          <p:cNvPr id="70660" name="Espace réservé du pied de page 3"/>
          <p:cNvSpPr>
            <a:spLocks noGrp="1"/>
          </p:cNvSpPr>
          <p:nvPr>
            <p:ph type="ftr" sz="quarter" idx="11"/>
          </p:nvPr>
        </p:nvSpPr>
        <p:spPr bwMode="auto">
          <a:xfrm>
            <a:off x="5257800" y="612775"/>
            <a:ext cx="2409825"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70661"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6A0F10F1-1DC8-405E-AD63-E8269C502E3E}" type="slidenum">
              <a:rPr lang="fr-FR" altLang="fr-FR" sz="1800" smtClean="0">
                <a:solidFill>
                  <a:srgbClr val="FFFFFF"/>
                </a:solidFill>
                <a:latin typeface="Times New Roman" panose="02020603050405020304" pitchFamily="18" charset="0"/>
              </a:rPr>
              <a:pPr>
                <a:spcBef>
                  <a:spcPct val="0"/>
                </a:spcBef>
                <a:buClrTx/>
                <a:buFontTx/>
                <a:buNone/>
              </a:pPr>
              <a:t>33</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re 1"/>
          <p:cNvSpPr>
            <a:spLocks noGrp="1"/>
          </p:cNvSpPr>
          <p:nvPr>
            <p:ph type="title"/>
          </p:nvPr>
        </p:nvSpPr>
        <p:spPr>
          <a:xfrm>
            <a:off x="468313" y="908050"/>
            <a:ext cx="8229600" cy="838200"/>
          </a:xfrm>
        </p:spPr>
        <p:txBody>
          <a:bodyPr/>
          <a:lstStyle/>
          <a:p>
            <a:r>
              <a:rPr lang="fr-CA" altLang="fr-FR" sz="3200" b="1"/>
              <a:t>Quiz</a:t>
            </a:r>
            <a:br>
              <a:rPr lang="fr-CA" altLang="fr-FR" sz="3200"/>
            </a:br>
            <a:r>
              <a:rPr lang="fr-CA" altLang="fr-FR" sz="2800"/>
              <a:t>Caractère saisonnier – les notes</a:t>
            </a:r>
            <a:endParaRPr lang="fr-CA" altLang="fr-FR" sz="2400"/>
          </a:p>
        </p:txBody>
      </p:sp>
      <p:sp>
        <p:nvSpPr>
          <p:cNvPr id="3" name="Espace réservé du contenu 2"/>
          <p:cNvSpPr>
            <a:spLocks noGrp="1"/>
          </p:cNvSpPr>
          <p:nvPr>
            <p:ph idx="1"/>
          </p:nvPr>
        </p:nvSpPr>
        <p:spPr>
          <a:xfrm>
            <a:off x="395288" y="1844675"/>
            <a:ext cx="8229600" cy="4608513"/>
          </a:xfrm>
        </p:spPr>
        <p:txBody>
          <a:bodyPr/>
          <a:lstStyle/>
          <a:p>
            <a:pPr marL="107950" indent="0">
              <a:buFont typeface="Georgia" panose="02040502050405020303" pitchFamily="18" charset="0"/>
              <a:buNone/>
              <a:defRPr/>
            </a:pPr>
            <a:r>
              <a:rPr lang="fr-CA" sz="2400" dirty="0"/>
              <a:t>Une entité réalise 50% de son chiffre d’affaires entre les mois de juillet et de septembre. IAS 34 </a:t>
            </a:r>
            <a:r>
              <a:rPr lang="fr-CA" sz="2400" b="1" dirty="0"/>
              <a:t>suggère</a:t>
            </a:r>
            <a:r>
              <a:rPr lang="fr-CA" sz="2400" dirty="0"/>
              <a:t> de tenir compte du caractère saisonnier de son exploitation par : </a:t>
            </a:r>
          </a:p>
          <a:p>
            <a:pPr marL="450850" indent="-342900">
              <a:buFont typeface="Georgia" panose="02040502050405020303" pitchFamily="18" charset="0"/>
              <a:buAutoNum type="alphaLcParenR"/>
              <a:defRPr/>
            </a:pPr>
            <a:r>
              <a:rPr lang="fr-CA" sz="2400" dirty="0"/>
              <a:t>l’ajout d’une note décrivant le caractère saisonnier de l’exploitation.</a:t>
            </a:r>
          </a:p>
          <a:p>
            <a:pPr marL="446088" indent="-355600">
              <a:buFont typeface="Georgia" panose="02040502050405020303" pitchFamily="18" charset="0"/>
              <a:buAutoNum type="alphaLcParenR"/>
              <a:tabLst>
                <a:tab pos="450850" algn="l"/>
              </a:tabLst>
              <a:defRPr/>
            </a:pPr>
            <a:r>
              <a:rPr lang="fr-FR" sz="2400" dirty="0"/>
              <a:t>la divulgation des informations financières pour la période de douze mois allant jusqu'à la fin de la période intermédiaire, et des informations comparatives pour la période précédente de douze mois.</a:t>
            </a:r>
          </a:p>
          <a:p>
            <a:pPr marL="107950" indent="0">
              <a:buFont typeface="Georgia" panose="02040502050405020303" pitchFamily="18" charset="0"/>
              <a:buAutoNum type="alphaLcParenR"/>
              <a:defRPr/>
            </a:pPr>
            <a:r>
              <a:rPr lang="fr-FR" sz="2400" dirty="0"/>
              <a:t> rien de particulier.</a:t>
            </a:r>
          </a:p>
          <a:p>
            <a:pPr marL="450850" indent="-360363">
              <a:buFont typeface="Georgia" panose="02040502050405020303" pitchFamily="18" charset="0"/>
              <a:buAutoNum type="alphaLcParenR"/>
              <a:defRPr/>
            </a:pPr>
            <a:r>
              <a:rPr lang="fr-FR" sz="2400" dirty="0"/>
              <a:t>une mention dans la note décrivant les méthodes comptables.</a:t>
            </a:r>
            <a:endParaRPr lang="fr-CA" sz="2400" dirty="0"/>
          </a:p>
        </p:txBody>
      </p:sp>
      <p:sp>
        <p:nvSpPr>
          <p:cNvPr id="72708" name="Espace réservé du pied de page 3"/>
          <p:cNvSpPr>
            <a:spLocks noGrp="1"/>
          </p:cNvSpPr>
          <p:nvPr>
            <p:ph type="ftr" sz="quarter" idx="11"/>
          </p:nvPr>
        </p:nvSpPr>
        <p:spPr bwMode="auto">
          <a:xfrm>
            <a:off x="5257800" y="612775"/>
            <a:ext cx="21224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72709"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FEC74B44-9C5A-4A4A-A0CE-081DD943497C}" type="slidenum">
              <a:rPr lang="fr-FR" altLang="fr-FR" sz="1800" smtClean="0">
                <a:solidFill>
                  <a:srgbClr val="FFFFFF"/>
                </a:solidFill>
                <a:latin typeface="Times New Roman" panose="02020603050405020304" pitchFamily="18" charset="0"/>
              </a:rPr>
              <a:pPr>
                <a:spcBef>
                  <a:spcPct val="0"/>
                </a:spcBef>
                <a:buClrTx/>
                <a:buFontTx/>
                <a:buNone/>
              </a:pPr>
              <a:t>34</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re 1"/>
          <p:cNvSpPr>
            <a:spLocks noGrp="1"/>
          </p:cNvSpPr>
          <p:nvPr>
            <p:ph type="title"/>
          </p:nvPr>
        </p:nvSpPr>
        <p:spPr>
          <a:xfrm>
            <a:off x="468313" y="836613"/>
            <a:ext cx="8229600" cy="1066800"/>
          </a:xfrm>
        </p:spPr>
        <p:txBody>
          <a:bodyPr/>
          <a:lstStyle/>
          <a:p>
            <a:r>
              <a:rPr lang="fr-CA" altLang="fr-FR" sz="3200"/>
              <a:t>États financiers intermédiaires</a:t>
            </a:r>
            <a:br>
              <a:rPr lang="fr-CA" altLang="fr-FR"/>
            </a:br>
            <a:r>
              <a:rPr lang="fr-CA" altLang="fr-FR" sz="2800"/>
              <a:t>Utilisation d’estimations </a:t>
            </a:r>
            <a:r>
              <a:rPr lang="fr-CA" altLang="fr-FR" sz="2800">
                <a:hlinkClick r:id="rId3" action="ppaction://hlinksldjump"/>
              </a:rPr>
              <a:t>(IAS 34-41)</a:t>
            </a:r>
            <a:endParaRPr lang="fr-CA" altLang="fr-FR"/>
          </a:p>
        </p:txBody>
      </p:sp>
      <p:sp>
        <p:nvSpPr>
          <p:cNvPr id="3" name="Espace réservé du contenu 2"/>
          <p:cNvSpPr>
            <a:spLocks noGrp="1"/>
          </p:cNvSpPr>
          <p:nvPr>
            <p:ph idx="1"/>
          </p:nvPr>
        </p:nvSpPr>
        <p:spPr>
          <a:xfrm>
            <a:off x="468313" y="1916113"/>
            <a:ext cx="8229600" cy="4419600"/>
          </a:xfrm>
        </p:spPr>
        <p:txBody>
          <a:bodyPr/>
          <a:lstStyle/>
          <a:p>
            <a:pPr>
              <a:defRPr/>
            </a:pPr>
            <a:r>
              <a:rPr lang="fr-FR" sz="2200" dirty="0"/>
              <a:t>Les procédures d'évaluation à adopter pour l'établissement d'un rapport financier intermédiaire doivent être conçues de telle sorte que les informations en résultant soient </a:t>
            </a:r>
            <a:r>
              <a:rPr lang="fr-FR" sz="2200" b="1" dirty="0">
                <a:solidFill>
                  <a:schemeClr val="accent1">
                    <a:lumMod val="75000"/>
                  </a:schemeClr>
                </a:solidFill>
              </a:rPr>
              <a:t>fiables</a:t>
            </a:r>
            <a:r>
              <a:rPr lang="fr-FR" sz="2200" dirty="0"/>
              <a:t> et que toutes les informations financières </a:t>
            </a:r>
            <a:r>
              <a:rPr lang="fr-FR" sz="2200" b="1" dirty="0">
                <a:solidFill>
                  <a:schemeClr val="accent1">
                    <a:lumMod val="75000"/>
                  </a:schemeClr>
                </a:solidFill>
              </a:rPr>
              <a:t>significatives</a:t>
            </a:r>
            <a:r>
              <a:rPr lang="fr-FR" sz="2200" dirty="0"/>
              <a:t> </a:t>
            </a:r>
            <a:r>
              <a:rPr lang="fr-FR" sz="2200" b="1" dirty="0">
                <a:solidFill>
                  <a:schemeClr val="accent1">
                    <a:lumMod val="75000"/>
                  </a:schemeClr>
                </a:solidFill>
              </a:rPr>
              <a:t>pertinentes</a:t>
            </a:r>
            <a:r>
              <a:rPr lang="fr-FR" sz="2200" dirty="0"/>
              <a:t> pour la compréhension de la </a:t>
            </a:r>
            <a:r>
              <a:rPr lang="fr-FR" sz="2200" b="1" dirty="0">
                <a:solidFill>
                  <a:schemeClr val="accent1">
                    <a:lumMod val="75000"/>
                  </a:schemeClr>
                </a:solidFill>
              </a:rPr>
              <a:t>situation financière </a:t>
            </a:r>
            <a:r>
              <a:rPr lang="fr-FR" sz="2200" dirty="0"/>
              <a:t>ou de la </a:t>
            </a:r>
            <a:r>
              <a:rPr lang="fr-FR" sz="2200" b="1" dirty="0">
                <a:solidFill>
                  <a:schemeClr val="accent1">
                    <a:lumMod val="75000"/>
                  </a:schemeClr>
                </a:solidFill>
              </a:rPr>
              <a:t>performance financière </a:t>
            </a:r>
            <a:r>
              <a:rPr lang="fr-FR" sz="2200" dirty="0"/>
              <a:t>de l'entité soient fournies de manière appropriée. </a:t>
            </a:r>
          </a:p>
          <a:p>
            <a:pPr>
              <a:defRPr/>
            </a:pPr>
            <a:r>
              <a:rPr lang="fr-FR" sz="2200" dirty="0"/>
              <a:t>Alors que les évaluations effectuées tant dans les rapports annuels que dans les rapports intermédiaires reposent souvent sur des estimations raisonnables, la préparation des rapports financiers intermédiaires impose en général de </a:t>
            </a:r>
            <a:r>
              <a:rPr lang="fr-FR" sz="2200" b="1" dirty="0">
                <a:solidFill>
                  <a:schemeClr val="accent1">
                    <a:lumMod val="75000"/>
                  </a:schemeClr>
                </a:solidFill>
              </a:rPr>
              <a:t>recourir davantage à des méthodes d'estimation </a:t>
            </a:r>
            <a:r>
              <a:rPr lang="fr-FR" sz="2200" dirty="0"/>
              <a:t>que celui des rapports financiers annuels.</a:t>
            </a:r>
            <a:endParaRPr lang="fr-CA" sz="2200" dirty="0"/>
          </a:p>
        </p:txBody>
      </p:sp>
      <p:sp>
        <p:nvSpPr>
          <p:cNvPr id="74756" name="Espace réservé du pied de page 3"/>
          <p:cNvSpPr>
            <a:spLocks noGrp="1"/>
          </p:cNvSpPr>
          <p:nvPr>
            <p:ph type="ftr" sz="quarter" idx="11"/>
          </p:nvPr>
        </p:nvSpPr>
        <p:spPr bwMode="auto">
          <a:xfrm>
            <a:off x="5257800" y="612775"/>
            <a:ext cx="2626568" cy="29594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74757"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24E7CBBC-E3DD-4DE5-8C92-1BAD152F40F1}" type="slidenum">
              <a:rPr lang="fr-FR" altLang="fr-FR" sz="1800" smtClean="0">
                <a:solidFill>
                  <a:srgbClr val="FFFFFF"/>
                </a:solidFill>
                <a:latin typeface="Times New Roman" panose="02020603050405020304" pitchFamily="18" charset="0"/>
              </a:rPr>
              <a:pPr>
                <a:spcBef>
                  <a:spcPct val="0"/>
                </a:spcBef>
                <a:buClrTx/>
                <a:buFontTx/>
                <a:buNone/>
              </a:pPr>
              <a:t>35</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re 1"/>
          <p:cNvSpPr>
            <a:spLocks noGrp="1"/>
          </p:cNvSpPr>
          <p:nvPr>
            <p:ph type="title"/>
          </p:nvPr>
        </p:nvSpPr>
        <p:spPr>
          <a:xfrm>
            <a:off x="15875" y="765175"/>
            <a:ext cx="8229600" cy="431800"/>
          </a:xfrm>
        </p:spPr>
        <p:txBody>
          <a:bodyPr anchor="t"/>
          <a:lstStyle/>
          <a:p>
            <a:r>
              <a:rPr lang="fr-CA" altLang="fr-FR" sz="2400"/>
              <a:t>Utilisation d’estimations (IAS 34-41)</a:t>
            </a:r>
            <a:endParaRPr lang="fr-CA" altLang="fr-FR" sz="180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3920003983"/>
              </p:ext>
            </p:extLst>
          </p:nvPr>
        </p:nvGraphicFramePr>
        <p:xfrm>
          <a:off x="0" y="1196975"/>
          <a:ext cx="9144000" cy="5481637"/>
        </p:xfrm>
        <a:graphic>
          <a:graphicData uri="http://schemas.openxmlformats.org/drawingml/2006/table">
            <a:tbl>
              <a:tblPr firstRow="1" bandRow="1">
                <a:tableStyleId>{5C22544A-7EE6-4342-B048-85BDC9FD1C3A}</a:tableStyleId>
              </a:tblPr>
              <a:tblGrid>
                <a:gridCol w="2195736">
                  <a:extLst>
                    <a:ext uri="{9D8B030D-6E8A-4147-A177-3AD203B41FA5}">
                      <a16:colId xmlns:a16="http://schemas.microsoft.com/office/drawing/2014/main" val="20000"/>
                    </a:ext>
                  </a:extLst>
                </a:gridCol>
                <a:gridCol w="3168352">
                  <a:extLst>
                    <a:ext uri="{9D8B030D-6E8A-4147-A177-3AD203B41FA5}">
                      <a16:colId xmlns:a16="http://schemas.microsoft.com/office/drawing/2014/main" val="20001"/>
                    </a:ext>
                  </a:extLst>
                </a:gridCol>
                <a:gridCol w="3779912">
                  <a:extLst>
                    <a:ext uri="{9D8B030D-6E8A-4147-A177-3AD203B41FA5}">
                      <a16:colId xmlns:a16="http://schemas.microsoft.com/office/drawing/2014/main" val="20002"/>
                    </a:ext>
                  </a:extLst>
                </a:gridCol>
              </a:tblGrid>
              <a:tr h="504093">
                <a:tc>
                  <a:txBody>
                    <a:bodyPr/>
                    <a:lstStyle/>
                    <a:p>
                      <a:r>
                        <a:rPr lang="fr-CA" sz="1800" dirty="0"/>
                        <a:t>Le poste</a:t>
                      </a:r>
                    </a:p>
                  </a:txBody>
                  <a:tcPr marT="45723" marB="45723"/>
                </a:tc>
                <a:tc>
                  <a:txBody>
                    <a:bodyPr/>
                    <a:lstStyle/>
                    <a:p>
                      <a:r>
                        <a:rPr lang="fr-CA" sz="1800" dirty="0"/>
                        <a:t>EF annuel (audités)</a:t>
                      </a:r>
                    </a:p>
                  </a:txBody>
                  <a:tcPr marT="45723" marB="45723"/>
                </a:tc>
                <a:tc>
                  <a:txBody>
                    <a:bodyPr/>
                    <a:lstStyle/>
                    <a:p>
                      <a:r>
                        <a:rPr lang="fr-CA" sz="1800" dirty="0"/>
                        <a:t>EF trimestriel</a:t>
                      </a:r>
                    </a:p>
                  </a:txBody>
                  <a:tcPr marT="45723" marB="45723"/>
                </a:tc>
                <a:extLst>
                  <a:ext uri="{0D108BD9-81ED-4DB2-BD59-A6C34878D82A}">
                    <a16:rowId xmlns:a16="http://schemas.microsoft.com/office/drawing/2014/main" val="10000"/>
                  </a:ext>
                </a:extLst>
              </a:tr>
              <a:tr h="1501477">
                <a:tc>
                  <a:txBody>
                    <a:bodyPr/>
                    <a:lstStyle/>
                    <a:p>
                      <a:r>
                        <a:rPr lang="fr-CA" sz="1800" dirty="0"/>
                        <a:t>Stocks</a:t>
                      </a:r>
                    </a:p>
                  </a:txBody>
                  <a:tcPr marT="45723" marB="45723"/>
                </a:tc>
                <a:tc>
                  <a:txBody>
                    <a:bodyPr/>
                    <a:lstStyle/>
                    <a:p>
                      <a:pPr marL="90488" indent="-90488">
                        <a:buFont typeface="Arial" pitchFamily="34" charset="0"/>
                        <a:buChar char="•"/>
                      </a:pPr>
                      <a:r>
                        <a:rPr lang="fr-CA" sz="1800" dirty="0"/>
                        <a:t>Décompte</a:t>
                      </a:r>
                      <a:r>
                        <a:rPr lang="fr-CA" sz="1800" baseline="0" dirty="0"/>
                        <a:t> physique complet</a:t>
                      </a:r>
                    </a:p>
                    <a:p>
                      <a:pPr marL="90488" indent="-90488">
                        <a:buFont typeface="Arial" pitchFamily="34" charset="0"/>
                        <a:buChar char="•"/>
                      </a:pPr>
                      <a:r>
                        <a:rPr lang="fr-CA" sz="1800" baseline="0" dirty="0"/>
                        <a:t>Évaluation des éléments en stock</a:t>
                      </a:r>
                      <a:endParaRPr lang="fr-CA" sz="1800" dirty="0"/>
                    </a:p>
                  </a:txBody>
                  <a:tcPr marT="45723" marB="45723"/>
                </a:tc>
                <a:tc>
                  <a:txBody>
                    <a:bodyPr/>
                    <a:lstStyle/>
                    <a:p>
                      <a:pPr marL="90488" indent="-90488">
                        <a:buFont typeface="Arial" pitchFamily="34" charset="0"/>
                        <a:buChar char="•"/>
                      </a:pPr>
                      <a:r>
                        <a:rPr lang="fr-CA" sz="1800" dirty="0"/>
                        <a:t>Estimations fondées</a:t>
                      </a:r>
                      <a:r>
                        <a:rPr lang="fr-CA" sz="1800" baseline="0" dirty="0"/>
                        <a:t> sur le registre des stocks</a:t>
                      </a:r>
                    </a:p>
                    <a:p>
                      <a:pPr marL="90488" indent="-90488">
                        <a:buFont typeface="Arial" pitchFamily="34" charset="0"/>
                        <a:buChar char="•"/>
                        <a:tabLst>
                          <a:tab pos="90488" algn="l"/>
                        </a:tabLst>
                      </a:pPr>
                      <a:r>
                        <a:rPr lang="fr-CA" sz="1800" baseline="0" dirty="0"/>
                        <a:t>Évaluation estimée à partir de la marge sur les ventes, par exemple</a:t>
                      </a:r>
                    </a:p>
                  </a:txBody>
                  <a:tcPr marT="45723" marB="45723"/>
                </a:tc>
                <a:extLst>
                  <a:ext uri="{0D108BD9-81ED-4DB2-BD59-A6C34878D82A}">
                    <a16:rowId xmlns:a16="http://schemas.microsoft.com/office/drawing/2014/main" val="10001"/>
                  </a:ext>
                </a:extLst>
              </a:tr>
              <a:tr h="640126">
                <a:tc>
                  <a:txBody>
                    <a:bodyPr/>
                    <a:lstStyle/>
                    <a:p>
                      <a:r>
                        <a:rPr lang="fr-CA" sz="1800" dirty="0"/>
                        <a:t>Immeubles</a:t>
                      </a:r>
                      <a:r>
                        <a:rPr lang="fr-CA" sz="1800" baseline="0" dirty="0"/>
                        <a:t> de placement à la JV</a:t>
                      </a:r>
                      <a:endParaRPr lang="fr-CA" sz="1800" dirty="0"/>
                    </a:p>
                  </a:txBody>
                  <a:tcPr marT="45723" marB="45723"/>
                </a:tc>
                <a:tc>
                  <a:txBody>
                    <a:bodyPr/>
                    <a:lstStyle/>
                    <a:p>
                      <a:r>
                        <a:rPr lang="fr-CA" sz="1800" dirty="0"/>
                        <a:t>Évaluation professionnelle externe ou interne</a:t>
                      </a:r>
                    </a:p>
                  </a:txBody>
                  <a:tcPr marT="45723" marB="45723"/>
                </a:tc>
                <a:tc>
                  <a:txBody>
                    <a:bodyPr/>
                    <a:lstStyle/>
                    <a:p>
                      <a:pPr marL="90488" indent="-90488">
                        <a:buFont typeface="Arial" pitchFamily="34" charset="0"/>
                        <a:buChar char="•"/>
                      </a:pPr>
                      <a:r>
                        <a:rPr lang="fr-CA" sz="1800" dirty="0"/>
                        <a:t>Mise à jour de la dernière</a:t>
                      </a:r>
                      <a:r>
                        <a:rPr lang="fr-CA" sz="1800" baseline="0" dirty="0"/>
                        <a:t> évaluation annuelle</a:t>
                      </a:r>
                      <a:endParaRPr lang="fr-CA" sz="1800" dirty="0"/>
                    </a:p>
                  </a:txBody>
                  <a:tcPr marT="45723" marB="45723"/>
                </a:tc>
                <a:extLst>
                  <a:ext uri="{0D108BD9-81ED-4DB2-BD59-A6C34878D82A}">
                    <a16:rowId xmlns:a16="http://schemas.microsoft.com/office/drawing/2014/main" val="10002"/>
                  </a:ext>
                </a:extLst>
              </a:tr>
              <a:tr h="732669">
                <a:tc>
                  <a:txBody>
                    <a:bodyPr/>
                    <a:lstStyle/>
                    <a:p>
                      <a:r>
                        <a:rPr lang="fr-CA" sz="1800" dirty="0"/>
                        <a:t>Provision pour démantèlement</a:t>
                      </a:r>
                    </a:p>
                  </a:txBody>
                  <a:tcPr marT="45723" marB="45723"/>
                </a:tc>
                <a:tc>
                  <a:txBody>
                    <a:bodyPr/>
                    <a:lstStyle/>
                    <a:p>
                      <a:r>
                        <a:rPr lang="fr-CA" sz="1800" dirty="0"/>
                        <a:t>Évaluation professionnelle externe</a:t>
                      </a:r>
                      <a:r>
                        <a:rPr lang="fr-CA" sz="1800" baseline="0" dirty="0"/>
                        <a:t> (pas obligé)</a:t>
                      </a:r>
                      <a:endParaRPr lang="fr-CA" sz="1800" dirty="0"/>
                    </a:p>
                  </a:txBody>
                  <a:tcPr marT="45723" marB="45723"/>
                </a:tc>
                <a:tc>
                  <a:txBody>
                    <a:bodyPr/>
                    <a:lstStyle/>
                    <a:p>
                      <a:pPr marL="90488" marR="0" indent="-90488" algn="l" defTabSz="914400" rtl="0" eaLnBrk="1" fontAlgn="auto" latinLnBrk="0" hangingPunct="1">
                        <a:lnSpc>
                          <a:spcPct val="100000"/>
                        </a:lnSpc>
                        <a:spcBef>
                          <a:spcPts val="0"/>
                        </a:spcBef>
                        <a:spcAft>
                          <a:spcPts val="0"/>
                        </a:spcAft>
                        <a:buClrTx/>
                        <a:buSzTx/>
                        <a:buFont typeface="Arial" pitchFamily="34" charset="0"/>
                        <a:buChar char="•"/>
                        <a:tabLst/>
                        <a:defRPr/>
                      </a:pPr>
                      <a:r>
                        <a:rPr lang="fr-CA" sz="1800" dirty="0"/>
                        <a:t>Idem</a:t>
                      </a:r>
                    </a:p>
                    <a:p>
                      <a:pPr marL="0" indent="0">
                        <a:buFont typeface="Arial" pitchFamily="34" charset="0"/>
                        <a:buNone/>
                      </a:pPr>
                      <a:endParaRPr lang="fr-CA" sz="1800" dirty="0"/>
                    </a:p>
                  </a:txBody>
                  <a:tcPr marT="45723" marB="45723"/>
                </a:tc>
                <a:extLst>
                  <a:ext uri="{0D108BD9-81ED-4DB2-BD59-A6C34878D82A}">
                    <a16:rowId xmlns:a16="http://schemas.microsoft.com/office/drawing/2014/main" val="10003"/>
                  </a:ext>
                </a:extLst>
              </a:tr>
              <a:tr h="914466">
                <a:tc>
                  <a:txBody>
                    <a:bodyPr/>
                    <a:lstStyle/>
                    <a:p>
                      <a:r>
                        <a:rPr lang="fr-CA" sz="1800" dirty="0"/>
                        <a:t>Passifs</a:t>
                      </a:r>
                      <a:r>
                        <a:rPr lang="fr-CA" sz="1800" baseline="0" dirty="0"/>
                        <a:t> éventuels</a:t>
                      </a:r>
                      <a:endParaRPr lang="fr-CA" sz="1800" dirty="0"/>
                    </a:p>
                  </a:txBody>
                  <a:tcPr marT="45723" marB="45723"/>
                </a:tc>
                <a:tc>
                  <a:txBody>
                    <a:bodyPr/>
                    <a:lstStyle/>
                    <a:p>
                      <a:r>
                        <a:rPr lang="fr-CA" sz="1800" dirty="0"/>
                        <a:t>Possible participation</a:t>
                      </a:r>
                      <a:r>
                        <a:rPr lang="fr-CA" sz="1800" baseline="0" dirty="0"/>
                        <a:t> des conseillers juridiques à l’estimation du passif</a:t>
                      </a:r>
                      <a:endParaRPr lang="fr-CA" sz="1800" dirty="0"/>
                    </a:p>
                  </a:txBody>
                  <a:tcPr marT="45723" marB="45723"/>
                </a:tc>
                <a:tc>
                  <a:txBody>
                    <a:bodyPr/>
                    <a:lstStyle/>
                    <a:p>
                      <a:r>
                        <a:rPr lang="fr-CA" sz="1800" dirty="0"/>
                        <a:t>L’obtention de leur opinion peut</a:t>
                      </a:r>
                      <a:r>
                        <a:rPr lang="fr-CA" sz="1800" baseline="0" dirty="0"/>
                        <a:t> s’avérer nécessaire, ou pas, dans un EF trimestriel. </a:t>
                      </a:r>
                      <a:endParaRPr lang="fr-CA" sz="1800" dirty="0"/>
                    </a:p>
                  </a:txBody>
                  <a:tcPr marT="45723" marB="45723"/>
                </a:tc>
                <a:extLst>
                  <a:ext uri="{0D108BD9-81ED-4DB2-BD59-A6C34878D82A}">
                    <a16:rowId xmlns:a16="http://schemas.microsoft.com/office/drawing/2014/main" val="10004"/>
                  </a:ext>
                </a:extLst>
              </a:tr>
              <a:tr h="1188806">
                <a:tc>
                  <a:txBody>
                    <a:bodyPr/>
                    <a:lstStyle/>
                    <a:p>
                      <a:r>
                        <a:rPr lang="fr-CA" sz="1800" dirty="0"/>
                        <a:t>Charge</a:t>
                      </a:r>
                      <a:r>
                        <a:rPr lang="fr-CA" sz="1800" baseline="0" dirty="0"/>
                        <a:t> d’impôt / montants à payer</a:t>
                      </a:r>
                      <a:endParaRPr lang="fr-CA" sz="1800" dirty="0"/>
                    </a:p>
                  </a:txBody>
                  <a:tcPr marT="45723" marB="45723"/>
                </a:tc>
                <a:tc>
                  <a:txBody>
                    <a:bodyPr/>
                    <a:lstStyle/>
                    <a:p>
                      <a:r>
                        <a:rPr lang="fr-CA" sz="1800" dirty="0"/>
                        <a:t>Taux d’impôt</a:t>
                      </a:r>
                      <a:r>
                        <a:rPr lang="fr-CA" sz="1800" baseline="0" dirty="0"/>
                        <a:t> annuel moyen pondéré</a:t>
                      </a:r>
                      <a:endParaRPr lang="fr-CA" sz="1800" dirty="0"/>
                    </a:p>
                  </a:txBody>
                  <a:tcPr marT="45723" marB="45723"/>
                </a:tc>
                <a:tc>
                  <a:txBody>
                    <a:bodyPr/>
                    <a:lstStyle/>
                    <a:p>
                      <a:r>
                        <a:rPr lang="fr-FR" sz="1800" dirty="0"/>
                        <a:t>Meilleure estimation du taux d'impôt annuel moyen pondéré attendu pour la totalité de l'exercice</a:t>
                      </a:r>
                      <a:endParaRPr lang="fr-CA" sz="1800" dirty="0"/>
                    </a:p>
                  </a:txBody>
                  <a:tcPr marT="45723" marB="45723"/>
                </a:tc>
                <a:extLst>
                  <a:ext uri="{0D108BD9-81ED-4DB2-BD59-A6C34878D82A}">
                    <a16:rowId xmlns:a16="http://schemas.microsoft.com/office/drawing/2014/main" val="10005"/>
                  </a:ext>
                </a:extLst>
              </a:tr>
            </a:tbl>
          </a:graphicData>
        </a:graphic>
      </p:graphicFrame>
      <p:sp>
        <p:nvSpPr>
          <p:cNvPr id="76833" name="Espace réservé du pied de page 3"/>
          <p:cNvSpPr>
            <a:spLocks noGrp="1"/>
          </p:cNvSpPr>
          <p:nvPr>
            <p:ph type="ftr" sz="quarter" idx="11"/>
          </p:nvPr>
        </p:nvSpPr>
        <p:spPr bwMode="auto">
          <a:xfrm>
            <a:off x="5257800" y="612775"/>
            <a:ext cx="2409825"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76834"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E61B1178-C6B0-4682-8DA6-5A203B0E077F}" type="slidenum">
              <a:rPr lang="fr-FR" altLang="fr-FR" sz="1800" smtClean="0">
                <a:solidFill>
                  <a:srgbClr val="FFFFFF"/>
                </a:solidFill>
                <a:latin typeface="Times New Roman" panose="02020603050405020304" pitchFamily="18" charset="0"/>
              </a:rPr>
              <a:pPr>
                <a:spcBef>
                  <a:spcPct val="0"/>
                </a:spcBef>
                <a:buClrTx/>
                <a:buFontTx/>
                <a:buNone/>
              </a:pPr>
              <a:t>36</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re 5"/>
          <p:cNvSpPr>
            <a:spLocks noGrp="1"/>
          </p:cNvSpPr>
          <p:nvPr>
            <p:ph type="ctrTitle"/>
          </p:nvPr>
        </p:nvSpPr>
        <p:spPr>
          <a:xfrm>
            <a:off x="457200" y="2401888"/>
            <a:ext cx="8458200" cy="1470025"/>
          </a:xfrm>
        </p:spPr>
        <p:txBody>
          <a:bodyPr/>
          <a:lstStyle/>
          <a:p>
            <a:r>
              <a:rPr lang="fr-FR" altLang="fr-FR"/>
              <a:t>Examen des états financiers intermédiaires par l'auditeur</a:t>
            </a:r>
            <a:endParaRPr lang="fr-CA" altLang="fr-FR"/>
          </a:p>
        </p:txBody>
      </p:sp>
      <p:sp>
        <p:nvSpPr>
          <p:cNvPr id="128003" name="Sous-titre 6"/>
          <p:cNvSpPr>
            <a:spLocks noGrp="1"/>
          </p:cNvSpPr>
          <p:nvPr>
            <p:ph type="subTitle" idx="1"/>
          </p:nvPr>
        </p:nvSpPr>
        <p:spPr>
          <a:xfrm>
            <a:off x="457200" y="3900488"/>
            <a:ext cx="4762500" cy="1752600"/>
          </a:xfrm>
        </p:spPr>
        <p:txBody>
          <a:bodyPr/>
          <a:lstStyle/>
          <a:p>
            <a:pPr marL="63500"/>
            <a:r>
              <a:rPr lang="fr-CA" altLang="fr-FR" sz="2800" dirty="0"/>
              <a:t>10 questions  au sujet du chapitre </a:t>
            </a:r>
            <a:r>
              <a:rPr lang="fr-CA" altLang="fr-FR" sz="2800" b="1" dirty="0"/>
              <a:t>ANC 7060 </a:t>
            </a:r>
          </a:p>
          <a:p>
            <a:pPr marL="63500"/>
            <a:r>
              <a:rPr lang="fr-CA" altLang="fr-FR" sz="2800" dirty="0"/>
              <a:t>du Manuel de CPA Canada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p:cNvSpPr>
          <p:nvPr>
            <p:ph type="title"/>
          </p:nvPr>
        </p:nvSpPr>
        <p:spPr/>
        <p:txBody>
          <a:bodyPr/>
          <a:lstStyle/>
          <a:p>
            <a:pPr marL="363538" indent="-363538">
              <a:buFontTx/>
              <a:buAutoNum type="arabicPeriod"/>
            </a:pPr>
            <a:r>
              <a:rPr lang="fr-CA" altLang="fr-FR" sz="3200" b="1">
                <a:solidFill>
                  <a:srgbClr val="353535"/>
                </a:solidFill>
              </a:rPr>
              <a:t>Vrai ou faux?</a:t>
            </a:r>
            <a:br>
              <a:rPr lang="fr-CA" altLang="fr-FR" sz="6000" b="1">
                <a:solidFill>
                  <a:srgbClr val="353535"/>
                </a:solidFill>
              </a:rPr>
            </a:br>
            <a:r>
              <a:rPr lang="fr-CA" altLang="fr-FR" sz="2800" b="1">
                <a:solidFill>
                  <a:srgbClr val="353535"/>
                </a:solidFill>
              </a:rPr>
              <a:t>Justifiez votre réponse.</a:t>
            </a:r>
          </a:p>
        </p:txBody>
      </p:sp>
      <p:sp>
        <p:nvSpPr>
          <p:cNvPr id="129027" name="Rectangle 3"/>
          <p:cNvSpPr>
            <a:spLocks noGrp="1"/>
          </p:cNvSpPr>
          <p:nvPr>
            <p:ph type="body" idx="1"/>
          </p:nvPr>
        </p:nvSpPr>
        <p:spPr>
          <a:xfrm>
            <a:off x="457200" y="2533650"/>
            <a:ext cx="8229600" cy="3790950"/>
          </a:xfrm>
        </p:spPr>
        <p:txBody>
          <a:bodyPr/>
          <a:lstStyle/>
          <a:p>
            <a:pPr marL="96838" indent="12700">
              <a:buFont typeface="Georgia" panose="02040502050405020303" pitchFamily="18" charset="0"/>
              <a:buNone/>
            </a:pPr>
            <a:r>
              <a:rPr lang="fr-CA" altLang="fr-FR"/>
              <a:t>Les entités qui déposent leurs EF intermédiaires en vertu de la Loi sur les valeurs mobilières sont tenues de faire examiner ces EF par un auditeur.</a:t>
            </a:r>
          </a:p>
        </p:txBody>
      </p:sp>
      <p:sp>
        <p:nvSpPr>
          <p:cNvPr id="129028" name="Espace réservé du pied de page 1"/>
          <p:cNvSpPr>
            <a:spLocks noGrp="1"/>
          </p:cNvSpPr>
          <p:nvPr>
            <p:ph type="ftr" sz="quarter" idx="11"/>
          </p:nvPr>
        </p:nvSpPr>
        <p:spPr bwMode="auto">
          <a:xfrm>
            <a:off x="5257800" y="612775"/>
            <a:ext cx="2770584" cy="2239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2902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BCABC4C8-A404-46FE-A90B-C7F030D45FC0}" type="slidenum">
              <a:rPr lang="fr-FR" altLang="fr-FR" sz="1800" smtClean="0">
                <a:solidFill>
                  <a:srgbClr val="FFFFFF"/>
                </a:solidFill>
                <a:latin typeface="Times New Roman" panose="02020603050405020304" pitchFamily="18" charset="0"/>
              </a:rPr>
              <a:pPr>
                <a:spcBef>
                  <a:spcPct val="0"/>
                </a:spcBef>
                <a:buClrTx/>
                <a:buFontTx/>
                <a:buNone/>
              </a:pPr>
              <a:t>38</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itre 1"/>
          <p:cNvSpPr>
            <a:spLocks noGrp="1"/>
          </p:cNvSpPr>
          <p:nvPr>
            <p:ph type="title"/>
          </p:nvPr>
        </p:nvSpPr>
        <p:spPr>
          <a:xfrm>
            <a:off x="457200" y="1143000"/>
            <a:ext cx="8153400" cy="1295400"/>
          </a:xfrm>
        </p:spPr>
        <p:txBody>
          <a:bodyPr/>
          <a:lstStyle/>
          <a:p>
            <a:pPr marL="388938" indent="-388938"/>
            <a:r>
              <a:rPr lang="fr-CA" altLang="fr-FR" sz="3200" b="1">
                <a:solidFill>
                  <a:srgbClr val="353535"/>
                </a:solidFill>
              </a:rPr>
              <a:t>2.Vrai ou faux?</a:t>
            </a:r>
            <a:br>
              <a:rPr lang="fr-CA" altLang="fr-FR" sz="6000" b="1">
                <a:solidFill>
                  <a:srgbClr val="353535"/>
                </a:solidFill>
              </a:rPr>
            </a:br>
            <a:r>
              <a:rPr lang="fr-CA" altLang="fr-FR" sz="2800" b="1">
                <a:solidFill>
                  <a:srgbClr val="353535"/>
                </a:solidFill>
              </a:rPr>
              <a:t>Justifiez votre réponse.</a:t>
            </a:r>
            <a:endParaRPr lang="fr-CA" altLang="fr-FR" sz="2800"/>
          </a:p>
        </p:txBody>
      </p:sp>
      <p:sp>
        <p:nvSpPr>
          <p:cNvPr id="131075" name="Espace réservé du contenu 2"/>
          <p:cNvSpPr>
            <a:spLocks noGrp="1"/>
          </p:cNvSpPr>
          <p:nvPr>
            <p:ph idx="1"/>
          </p:nvPr>
        </p:nvSpPr>
        <p:spPr>
          <a:xfrm>
            <a:off x="381000" y="2743200"/>
            <a:ext cx="8229600" cy="3733800"/>
          </a:xfrm>
        </p:spPr>
        <p:txBody>
          <a:bodyPr/>
          <a:lstStyle/>
          <a:p>
            <a:pPr marL="0" indent="0">
              <a:buFont typeface="Georgia" panose="02040502050405020303" pitchFamily="18" charset="0"/>
              <a:buNone/>
            </a:pPr>
            <a:endParaRPr lang="fr-CA" altLang="fr-FR"/>
          </a:p>
          <a:p>
            <a:pPr marL="0" indent="0">
              <a:buFont typeface="Georgia" panose="02040502050405020303" pitchFamily="18" charset="0"/>
              <a:buNone/>
            </a:pPr>
            <a:r>
              <a:rPr lang="fr-CA" altLang="fr-FR"/>
              <a:t>Le rapport d’examen des états financiers intermédiaires est adressé aux actionnaires.</a:t>
            </a:r>
          </a:p>
        </p:txBody>
      </p:sp>
      <p:sp>
        <p:nvSpPr>
          <p:cNvPr id="131076" name="Espace réservé du pied de page 3"/>
          <p:cNvSpPr>
            <a:spLocks noGrp="1"/>
          </p:cNvSpPr>
          <p:nvPr>
            <p:ph type="ftr" sz="quarter" idx="11"/>
          </p:nvPr>
        </p:nvSpPr>
        <p:spPr bwMode="auto">
          <a:xfrm>
            <a:off x="5257800" y="612775"/>
            <a:ext cx="2626568" cy="36795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31077"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E3631895-A2B1-4754-A760-D14554E434AC}" type="slidenum">
              <a:rPr lang="fr-FR" altLang="fr-FR" sz="1800" smtClean="0">
                <a:solidFill>
                  <a:srgbClr val="FFFFFF"/>
                </a:solidFill>
                <a:latin typeface="Times New Roman" panose="02020603050405020304" pitchFamily="18" charset="0"/>
              </a:rPr>
              <a:pPr>
                <a:spcBef>
                  <a:spcPct val="0"/>
                </a:spcBef>
                <a:buClrTx/>
                <a:buFontTx/>
                <a:buNone/>
              </a:pPr>
              <a:t>39</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re 1"/>
          <p:cNvSpPr>
            <a:spLocks noGrp="1"/>
          </p:cNvSpPr>
          <p:nvPr>
            <p:ph type="title"/>
          </p:nvPr>
        </p:nvSpPr>
        <p:spPr>
          <a:xfrm>
            <a:off x="457200" y="1143000"/>
            <a:ext cx="8229600" cy="1295400"/>
          </a:xfrm>
        </p:spPr>
        <p:txBody>
          <a:bodyPr/>
          <a:lstStyle/>
          <a:p>
            <a:pPr marL="365125" indent="-365125"/>
            <a:r>
              <a:rPr lang="fr-CA" altLang="fr-FR" sz="3200" b="1">
                <a:solidFill>
                  <a:srgbClr val="353535"/>
                </a:solidFill>
              </a:rPr>
              <a:t>3.Vrai ou faux?</a:t>
            </a:r>
            <a:br>
              <a:rPr lang="fr-CA" altLang="fr-FR" sz="4400" b="1">
                <a:solidFill>
                  <a:srgbClr val="353535"/>
                </a:solidFill>
              </a:rPr>
            </a:br>
            <a:r>
              <a:rPr lang="fr-CA" altLang="fr-FR" sz="2800" b="1">
                <a:solidFill>
                  <a:srgbClr val="353535"/>
                </a:solidFill>
              </a:rPr>
              <a:t>Justifiez votre réponse.</a:t>
            </a:r>
            <a:endParaRPr lang="fr-CA" altLang="fr-FR" sz="2800"/>
          </a:p>
        </p:txBody>
      </p:sp>
      <p:sp>
        <p:nvSpPr>
          <p:cNvPr id="133123" name="Espace réservé du contenu 2"/>
          <p:cNvSpPr>
            <a:spLocks noGrp="1"/>
          </p:cNvSpPr>
          <p:nvPr>
            <p:ph idx="1"/>
          </p:nvPr>
        </p:nvSpPr>
        <p:spPr>
          <a:xfrm>
            <a:off x="457200" y="2514600"/>
            <a:ext cx="8229600" cy="4059238"/>
          </a:xfrm>
        </p:spPr>
        <p:txBody>
          <a:bodyPr/>
          <a:lstStyle/>
          <a:p>
            <a:pPr marL="0" indent="0"/>
            <a:endParaRPr lang="fr-CA" altLang="fr-FR"/>
          </a:p>
          <a:p>
            <a:pPr marL="0" indent="0">
              <a:buFont typeface="Georgia" panose="02040502050405020303" pitchFamily="18" charset="0"/>
              <a:buNone/>
            </a:pPr>
            <a:r>
              <a:rPr lang="fr-CA" altLang="fr-FR"/>
              <a:t>Lorsque les états financiers intermédiaires ne sont pas accompagnés d’un rapport d’examen intermédiaire signé par les auditeurs de l’entité, cela signifie que l’auditeur n’a pas procédé à un examen de ces états financiers.</a:t>
            </a:r>
          </a:p>
        </p:txBody>
      </p:sp>
      <p:sp>
        <p:nvSpPr>
          <p:cNvPr id="133124" name="Espace réservé du pied de page 3"/>
          <p:cNvSpPr>
            <a:spLocks noGrp="1"/>
          </p:cNvSpPr>
          <p:nvPr>
            <p:ph type="ftr" sz="quarter" idx="11"/>
          </p:nvPr>
        </p:nvSpPr>
        <p:spPr bwMode="auto">
          <a:xfrm>
            <a:off x="5257800" y="612775"/>
            <a:ext cx="2338536" cy="454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133125"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47393457-5E75-4FCA-B9C1-81D834010182}" type="slidenum">
              <a:rPr lang="fr-FR" altLang="fr-FR" sz="1800" smtClean="0">
                <a:solidFill>
                  <a:srgbClr val="FFFFFF"/>
                </a:solidFill>
                <a:latin typeface="Times New Roman" panose="02020603050405020304" pitchFamily="18" charset="0"/>
              </a:rPr>
              <a:pPr>
                <a:spcBef>
                  <a:spcPct val="0"/>
                </a:spcBef>
                <a:buClrTx/>
                <a:buFontTx/>
                <a:buNone/>
              </a:pPr>
              <a:t>40</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re 1"/>
          <p:cNvSpPr>
            <a:spLocks noGrp="1"/>
          </p:cNvSpPr>
          <p:nvPr>
            <p:ph type="title"/>
          </p:nvPr>
        </p:nvSpPr>
        <p:spPr/>
        <p:txBody>
          <a:bodyPr/>
          <a:lstStyle/>
          <a:p>
            <a:r>
              <a:rPr lang="fr-CA" altLang="fr-FR" sz="3200" dirty="0"/>
              <a:t>En pratique : quand les EF n’ont </a:t>
            </a:r>
            <a:r>
              <a:rPr lang="fr-CA" altLang="fr-FR" sz="3200" u="sng" dirty="0"/>
              <a:t>pas</a:t>
            </a:r>
            <a:r>
              <a:rPr lang="fr-CA" altLang="fr-FR" sz="3200" dirty="0"/>
              <a:t> fait l’objet d’un examen intermédiaire</a:t>
            </a:r>
          </a:p>
        </p:txBody>
      </p:sp>
      <p:sp>
        <p:nvSpPr>
          <p:cNvPr id="3" name="Espace réservé du contenu 2"/>
          <p:cNvSpPr>
            <a:spLocks noGrp="1"/>
          </p:cNvSpPr>
          <p:nvPr>
            <p:ph idx="1"/>
          </p:nvPr>
        </p:nvSpPr>
        <p:spPr/>
        <p:txBody>
          <a:bodyPr/>
          <a:lstStyle/>
          <a:p>
            <a:pPr marL="109537" indent="0">
              <a:buFont typeface="Georgia" panose="02040502050405020303" pitchFamily="18" charset="0"/>
              <a:buNone/>
              <a:defRPr/>
            </a:pPr>
            <a:endParaRPr lang="fr-FR" dirty="0">
              <a:latin typeface="Calibri" pitchFamily="34" charset="0"/>
            </a:endParaRPr>
          </a:p>
          <a:p>
            <a:pPr marL="109537" indent="0">
              <a:buFont typeface="Georgia" panose="02040502050405020303" pitchFamily="18" charset="0"/>
              <a:buNone/>
              <a:defRPr/>
            </a:pPr>
            <a:r>
              <a:rPr lang="fr-FR" dirty="0">
                <a:latin typeface="Calibri" pitchFamily="34" charset="0"/>
              </a:rPr>
              <a:t>Mediagrif technologies interactives</a:t>
            </a:r>
          </a:p>
          <a:p>
            <a:pPr marL="109537" indent="0">
              <a:buFont typeface="Georgia" panose="02040502050405020303" pitchFamily="18" charset="0"/>
              <a:buNone/>
              <a:defRPr/>
            </a:pPr>
            <a:r>
              <a:rPr lang="fr-FR" dirty="0">
                <a:latin typeface="Calibri" pitchFamily="34" charset="0"/>
              </a:rPr>
              <a:t>États financiers consolidés intermédiaires résumés </a:t>
            </a:r>
          </a:p>
          <a:p>
            <a:pPr marL="109537" indent="0">
              <a:buFont typeface="Georgia" panose="02040502050405020303" pitchFamily="18" charset="0"/>
              <a:buNone/>
              <a:defRPr/>
            </a:pPr>
            <a:r>
              <a:rPr lang="fr-FR" dirty="0">
                <a:latin typeface="Calibri" pitchFamily="34" charset="0"/>
              </a:rPr>
              <a:t>pour les périodes de trois mois terminées </a:t>
            </a:r>
          </a:p>
          <a:p>
            <a:pPr marL="109537" indent="0">
              <a:buFont typeface="Georgia" panose="02040502050405020303" pitchFamily="18" charset="0"/>
              <a:buNone/>
              <a:defRPr/>
            </a:pPr>
            <a:r>
              <a:rPr lang="fr-FR" b="1" dirty="0">
                <a:latin typeface="Calibri" pitchFamily="34" charset="0"/>
              </a:rPr>
              <a:t>le 30 juin 2014</a:t>
            </a:r>
          </a:p>
          <a:p>
            <a:pPr marL="109537" indent="0">
              <a:buFont typeface="Georgia" panose="02040502050405020303" pitchFamily="18" charset="0"/>
              <a:buNone/>
              <a:defRPr/>
            </a:pPr>
            <a:r>
              <a:rPr lang="fr-FR" b="1" dirty="0">
                <a:latin typeface="Calibri" pitchFamily="34" charset="0"/>
              </a:rPr>
              <a:t>(non audités et </a:t>
            </a:r>
            <a:r>
              <a:rPr lang="fr-FR" b="1" u="sng" dirty="0">
                <a:latin typeface="Calibri" pitchFamily="34" charset="0"/>
              </a:rPr>
              <a:t>non examinés </a:t>
            </a:r>
            <a:r>
              <a:rPr lang="fr-FR" b="1" dirty="0">
                <a:latin typeface="Calibri" pitchFamily="34" charset="0"/>
              </a:rPr>
              <a:t> </a:t>
            </a:r>
            <a:r>
              <a:rPr lang="fr-FR" b="1" u="sng" dirty="0">
                <a:latin typeface="Calibri" pitchFamily="34" charset="0"/>
              </a:rPr>
              <a:t>par les auditeurs indépendants</a:t>
            </a:r>
            <a:r>
              <a:rPr lang="fr-FR" b="1" dirty="0">
                <a:latin typeface="Calibri" pitchFamily="34" charset="0"/>
              </a:rPr>
              <a:t>)</a:t>
            </a:r>
          </a:p>
          <a:p>
            <a:pPr>
              <a:defRPr/>
            </a:pPr>
            <a:endParaRPr lang="fr-CA" dirty="0"/>
          </a:p>
        </p:txBody>
      </p:sp>
      <p:sp>
        <p:nvSpPr>
          <p:cNvPr id="135172" name="Espace réservé du pied de page 3"/>
          <p:cNvSpPr>
            <a:spLocks noGrp="1"/>
          </p:cNvSpPr>
          <p:nvPr>
            <p:ph type="ftr" sz="quarter" idx="11"/>
          </p:nvPr>
        </p:nvSpPr>
        <p:spPr bwMode="auto">
          <a:xfrm>
            <a:off x="5257800" y="612775"/>
            <a:ext cx="2626568" cy="36795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135173"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57FF8C03-D380-489C-924D-A38C42685369}" type="slidenum">
              <a:rPr lang="fr-FR" altLang="fr-FR" sz="1800" smtClean="0">
                <a:solidFill>
                  <a:srgbClr val="FFFFFF"/>
                </a:solidFill>
                <a:latin typeface="Times New Roman" panose="02020603050405020304" pitchFamily="18" charset="0"/>
              </a:rPr>
              <a:pPr>
                <a:spcBef>
                  <a:spcPct val="0"/>
                </a:spcBef>
                <a:buClrTx/>
                <a:buFontTx/>
                <a:buNone/>
              </a:pPr>
              <a:t>41</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re 1"/>
          <p:cNvSpPr>
            <a:spLocks noGrp="1"/>
          </p:cNvSpPr>
          <p:nvPr>
            <p:ph type="title"/>
          </p:nvPr>
        </p:nvSpPr>
        <p:spPr>
          <a:xfrm>
            <a:off x="468313" y="1125538"/>
            <a:ext cx="8229600" cy="1066800"/>
          </a:xfrm>
        </p:spPr>
        <p:txBody>
          <a:bodyPr/>
          <a:lstStyle/>
          <a:p>
            <a:pPr marL="292100" indent="-292100"/>
            <a:r>
              <a:rPr lang="fr-CA" altLang="fr-FR" sz="2600" b="1">
                <a:solidFill>
                  <a:schemeClr val="tx1"/>
                </a:solidFill>
              </a:rPr>
              <a:t>4.Laquelle des procédures suivantes est normalement appliquée dans le cadre d’un examen des EF intermédiaires? Justifiez votre choix</a:t>
            </a:r>
          </a:p>
        </p:txBody>
      </p:sp>
      <p:sp>
        <p:nvSpPr>
          <p:cNvPr id="137219" name="Espace réservé du contenu 2"/>
          <p:cNvSpPr>
            <a:spLocks noGrp="1"/>
          </p:cNvSpPr>
          <p:nvPr>
            <p:ph idx="1"/>
          </p:nvPr>
        </p:nvSpPr>
        <p:spPr>
          <a:xfrm>
            <a:off x="457200" y="2514600"/>
            <a:ext cx="8229600" cy="4059238"/>
          </a:xfrm>
        </p:spPr>
        <p:txBody>
          <a:bodyPr/>
          <a:lstStyle/>
          <a:p>
            <a:pPr marL="641350" indent="-533400">
              <a:buFont typeface="Trebuchet MS" panose="020B0603020202020204" pitchFamily="34" charset="0"/>
              <a:buAutoNum type="alphaLcParenR"/>
            </a:pPr>
            <a:r>
              <a:rPr lang="fr-CA" altLang="fr-FR"/>
              <a:t>Une demande de confirmation bancaire.</a:t>
            </a:r>
          </a:p>
          <a:p>
            <a:pPr marL="641350" indent="-533400">
              <a:buFont typeface="Trebuchet MS" panose="020B0603020202020204" pitchFamily="34" charset="0"/>
              <a:buAutoNum type="alphaLcParenR"/>
            </a:pPr>
            <a:r>
              <a:rPr lang="fr-CA" altLang="fr-FR"/>
              <a:t>La lecture des procès-verbaux </a:t>
            </a:r>
            <a:r>
              <a:rPr lang="fr-FR" altLang="fr-FR"/>
              <a:t>des assemblées des actionnaires, des réunions du conseil d'administration et du comité d’audit.</a:t>
            </a:r>
          </a:p>
          <a:p>
            <a:pPr marL="641350" indent="-533400">
              <a:buFont typeface="Trebuchet MS" panose="020B0603020202020204" pitchFamily="34" charset="0"/>
              <a:buAutoNum type="alphaLcParenR"/>
            </a:pPr>
            <a:r>
              <a:rPr lang="fr-FR" altLang="fr-FR"/>
              <a:t>L’inspection d’un immeuble acquis durant le trimestre.</a:t>
            </a:r>
          </a:p>
          <a:p>
            <a:pPr marL="641350" indent="-533400">
              <a:buFont typeface="Trebuchet MS" panose="020B0603020202020204" pitchFamily="34" charset="0"/>
              <a:buAutoNum type="alphaLcParenR"/>
            </a:pPr>
            <a:r>
              <a:rPr lang="fr-FR" altLang="fr-FR"/>
              <a:t>Le contrôle mathématique de quelques factures de fournisseurs. </a:t>
            </a:r>
          </a:p>
        </p:txBody>
      </p:sp>
      <p:sp>
        <p:nvSpPr>
          <p:cNvPr id="137220" name="Espace réservé du pied de page 3"/>
          <p:cNvSpPr>
            <a:spLocks noGrp="1"/>
          </p:cNvSpPr>
          <p:nvPr>
            <p:ph type="ftr" sz="quarter" idx="11"/>
          </p:nvPr>
        </p:nvSpPr>
        <p:spPr bwMode="auto">
          <a:xfrm>
            <a:off x="5257800" y="612775"/>
            <a:ext cx="2410544" cy="1905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137221"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6DE36282-E8A5-4152-BD6E-CBEF26C998FB}" type="slidenum">
              <a:rPr lang="fr-FR" altLang="fr-FR" sz="1800" smtClean="0">
                <a:solidFill>
                  <a:srgbClr val="FFFFFF"/>
                </a:solidFill>
                <a:latin typeface="Times New Roman" panose="02020603050405020304" pitchFamily="18" charset="0"/>
              </a:rPr>
              <a:pPr>
                <a:spcBef>
                  <a:spcPct val="0"/>
                </a:spcBef>
                <a:buClrTx/>
                <a:buFontTx/>
                <a:buNone/>
              </a:pPr>
              <a:t>42</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re 1"/>
          <p:cNvSpPr>
            <a:spLocks noGrp="1"/>
          </p:cNvSpPr>
          <p:nvPr>
            <p:ph type="title"/>
          </p:nvPr>
        </p:nvSpPr>
        <p:spPr/>
        <p:txBody>
          <a:bodyPr/>
          <a:lstStyle/>
          <a:p>
            <a:pPr marL="292100" indent="-292100"/>
            <a:r>
              <a:rPr lang="fr-CA" altLang="fr-FR" sz="3200" b="1">
                <a:solidFill>
                  <a:schemeClr val="tx1"/>
                </a:solidFill>
              </a:rPr>
              <a:t>5.Vrai ou faux?</a:t>
            </a:r>
            <a:br>
              <a:rPr lang="fr-CA" altLang="fr-FR" sz="3200" b="1">
                <a:solidFill>
                  <a:schemeClr val="tx1"/>
                </a:solidFill>
              </a:rPr>
            </a:br>
            <a:r>
              <a:rPr lang="fr-CA" altLang="fr-FR" sz="2800" b="1">
                <a:solidFill>
                  <a:schemeClr val="tx1"/>
                </a:solidFill>
              </a:rPr>
              <a:t>Justifiez votre réponse.</a:t>
            </a:r>
          </a:p>
        </p:txBody>
      </p:sp>
      <p:sp>
        <p:nvSpPr>
          <p:cNvPr id="139267" name="Espace réservé du contenu 2"/>
          <p:cNvSpPr>
            <a:spLocks noGrp="1"/>
          </p:cNvSpPr>
          <p:nvPr>
            <p:ph idx="1"/>
          </p:nvPr>
        </p:nvSpPr>
        <p:spPr>
          <a:xfrm>
            <a:off x="457200" y="2590800"/>
            <a:ext cx="8229600" cy="3983038"/>
          </a:xfrm>
        </p:spPr>
        <p:txBody>
          <a:bodyPr/>
          <a:lstStyle/>
          <a:p>
            <a:pPr marL="96838" indent="12700"/>
            <a:endParaRPr lang="fr-CA" altLang="fr-FR"/>
          </a:p>
          <a:p>
            <a:pPr marL="96838" indent="12700">
              <a:buFont typeface="Georgia" panose="02040502050405020303" pitchFamily="18" charset="0"/>
              <a:buNone/>
            </a:pPr>
            <a:r>
              <a:rPr lang="fr-CA" altLang="fr-FR"/>
              <a:t>Les auditeurs peuvent lire le rapport de gestion intermédiaire qui accompagne les EF intermédiaires.</a:t>
            </a:r>
          </a:p>
        </p:txBody>
      </p:sp>
      <p:sp>
        <p:nvSpPr>
          <p:cNvPr id="139268" name="Espace réservé du pied de page 3"/>
          <p:cNvSpPr>
            <a:spLocks noGrp="1"/>
          </p:cNvSpPr>
          <p:nvPr>
            <p:ph type="ftr" sz="quarter" idx="11"/>
          </p:nvPr>
        </p:nvSpPr>
        <p:spPr bwMode="auto">
          <a:xfrm>
            <a:off x="5257800" y="612775"/>
            <a:ext cx="2482552" cy="327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139269"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45966716-A90E-43DF-8041-32C9CA51411E}" type="slidenum">
              <a:rPr lang="fr-FR" altLang="fr-FR" sz="1800" smtClean="0">
                <a:solidFill>
                  <a:srgbClr val="FFFFFF"/>
                </a:solidFill>
                <a:latin typeface="Times New Roman" panose="02020603050405020304" pitchFamily="18" charset="0"/>
              </a:rPr>
              <a:pPr>
                <a:spcBef>
                  <a:spcPct val="0"/>
                </a:spcBef>
                <a:buClrTx/>
                <a:buFontTx/>
                <a:buNone/>
              </a:pPr>
              <a:t>43</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p:cNvSpPr>
          <p:nvPr>
            <p:ph type="title"/>
          </p:nvPr>
        </p:nvSpPr>
        <p:spPr>
          <a:xfrm>
            <a:off x="468313" y="981075"/>
            <a:ext cx="8229600" cy="1066800"/>
          </a:xfrm>
        </p:spPr>
        <p:txBody>
          <a:bodyPr/>
          <a:lstStyle/>
          <a:p>
            <a:r>
              <a:rPr lang="fr-CA" altLang="fr-FR" sz="2800" b="1">
                <a:solidFill>
                  <a:schemeClr val="tx1"/>
                </a:solidFill>
              </a:rPr>
              <a:t>6. Normalement, l'auditeur de l'entité :</a:t>
            </a:r>
          </a:p>
        </p:txBody>
      </p:sp>
      <p:sp>
        <p:nvSpPr>
          <p:cNvPr id="141315" name="Rectangle 3"/>
          <p:cNvSpPr>
            <a:spLocks noGrp="1"/>
          </p:cNvSpPr>
          <p:nvPr>
            <p:ph type="body" idx="1"/>
          </p:nvPr>
        </p:nvSpPr>
        <p:spPr>
          <a:xfrm>
            <a:off x="457200" y="2286000"/>
            <a:ext cx="8229600" cy="4267200"/>
          </a:xfrm>
        </p:spPr>
        <p:txBody>
          <a:bodyPr/>
          <a:lstStyle/>
          <a:p>
            <a:pPr marL="642938" indent="-533400">
              <a:lnSpc>
                <a:spcPct val="90000"/>
              </a:lnSpc>
              <a:buFont typeface="Georgia" panose="02040502050405020303" pitchFamily="18" charset="0"/>
              <a:buAutoNum type="alphaLcParenR"/>
            </a:pPr>
            <a:r>
              <a:rPr lang="fr-CA" altLang="fr-FR"/>
              <a:t>examine les résultats des procédures d'audit mises en œuvre à l'égard des états financiers de l'exercice en cours.</a:t>
            </a:r>
          </a:p>
          <a:p>
            <a:pPr marL="642938" indent="-533400">
              <a:lnSpc>
                <a:spcPct val="90000"/>
              </a:lnSpc>
              <a:buFont typeface="Georgia" panose="02040502050405020303" pitchFamily="18" charset="0"/>
              <a:buAutoNum type="alphaLcParenR"/>
            </a:pPr>
            <a:r>
              <a:rPr lang="fr-CA" altLang="fr-FR"/>
              <a:t>demande si des modifications ont été apportées aux pratiques comptables de l'entité. </a:t>
            </a:r>
          </a:p>
          <a:p>
            <a:pPr marL="642938" indent="-533400">
              <a:lnSpc>
                <a:spcPct val="90000"/>
              </a:lnSpc>
              <a:buFont typeface="Georgia" panose="02040502050405020303" pitchFamily="18" charset="0"/>
              <a:buAutoNum type="alphaLcParenR"/>
            </a:pPr>
            <a:r>
              <a:rPr lang="fr-CA" altLang="fr-FR"/>
              <a:t>demande des informations sur les écritures de journal importantes et les autres ajustements importants.</a:t>
            </a:r>
          </a:p>
          <a:p>
            <a:pPr marL="642938" indent="-533400">
              <a:lnSpc>
                <a:spcPct val="90000"/>
              </a:lnSpc>
              <a:buFont typeface="Georgia" panose="02040502050405020303" pitchFamily="18" charset="0"/>
              <a:buAutoNum type="alphaLcParenR"/>
            </a:pPr>
            <a:r>
              <a:rPr lang="fr-CA" altLang="fr-FR"/>
              <a:t>Toutes ces réponses.</a:t>
            </a:r>
          </a:p>
          <a:p>
            <a:pPr marL="642938" indent="-533400">
              <a:lnSpc>
                <a:spcPct val="90000"/>
              </a:lnSpc>
              <a:buFont typeface="Georgia" panose="02040502050405020303" pitchFamily="18" charset="0"/>
              <a:buAutoNum type="alphaLcParenR"/>
            </a:pPr>
            <a:r>
              <a:rPr lang="fr-CA" altLang="fr-FR"/>
              <a:t>Aucune de ces réponses.</a:t>
            </a:r>
          </a:p>
        </p:txBody>
      </p:sp>
      <p:sp>
        <p:nvSpPr>
          <p:cNvPr id="141316" name="Espace réservé du pied de page 1"/>
          <p:cNvSpPr>
            <a:spLocks noGrp="1"/>
          </p:cNvSpPr>
          <p:nvPr>
            <p:ph type="ftr" sz="quarter" idx="11"/>
          </p:nvPr>
        </p:nvSpPr>
        <p:spPr bwMode="auto">
          <a:xfrm>
            <a:off x="5257800" y="612775"/>
            <a:ext cx="21224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4131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A8644604-45D5-4DAA-9F7D-D0FAF8D9F523}" type="slidenum">
              <a:rPr lang="fr-FR" altLang="fr-FR" sz="1800" smtClean="0">
                <a:solidFill>
                  <a:srgbClr val="FFFFFF"/>
                </a:solidFill>
                <a:latin typeface="Times New Roman" panose="02020603050405020304" pitchFamily="18" charset="0"/>
              </a:rPr>
              <a:pPr>
                <a:spcBef>
                  <a:spcPct val="0"/>
                </a:spcBef>
                <a:buClrTx/>
                <a:buFontTx/>
                <a:buNone/>
              </a:pPr>
              <a:t>44</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itre 5"/>
          <p:cNvSpPr>
            <a:spLocks noGrp="1"/>
          </p:cNvSpPr>
          <p:nvPr>
            <p:ph type="title"/>
          </p:nvPr>
        </p:nvSpPr>
        <p:spPr>
          <a:xfrm>
            <a:off x="381000" y="1143000"/>
            <a:ext cx="8305800" cy="1295400"/>
          </a:xfrm>
        </p:spPr>
        <p:txBody>
          <a:bodyPr/>
          <a:lstStyle/>
          <a:p>
            <a:pPr marL="292100" indent="-292100"/>
            <a:r>
              <a:rPr lang="fr-CA" altLang="fr-FR" sz="3200" b="1">
                <a:solidFill>
                  <a:schemeClr val="tx1"/>
                </a:solidFill>
              </a:rPr>
              <a:t>7.Vrai ou Faux?</a:t>
            </a:r>
            <a:br>
              <a:rPr lang="fr-CA" altLang="fr-FR" sz="3200" b="1">
                <a:solidFill>
                  <a:schemeClr val="tx1"/>
                </a:solidFill>
              </a:rPr>
            </a:br>
            <a:r>
              <a:rPr lang="fr-CA" altLang="fr-FR" sz="2800" b="1">
                <a:solidFill>
                  <a:schemeClr val="tx1"/>
                </a:solidFill>
              </a:rPr>
              <a:t>Justifiez votre réponse.</a:t>
            </a:r>
          </a:p>
        </p:txBody>
      </p:sp>
      <p:sp>
        <p:nvSpPr>
          <p:cNvPr id="143363" name="Espace réservé du contenu 6"/>
          <p:cNvSpPr>
            <a:spLocks noGrp="1"/>
          </p:cNvSpPr>
          <p:nvPr>
            <p:ph idx="1"/>
          </p:nvPr>
        </p:nvSpPr>
        <p:spPr>
          <a:xfrm>
            <a:off x="381000" y="2776538"/>
            <a:ext cx="8229600" cy="4081462"/>
          </a:xfrm>
        </p:spPr>
        <p:txBody>
          <a:bodyPr/>
          <a:lstStyle/>
          <a:p>
            <a:pPr marL="107950" indent="0">
              <a:buFont typeface="Georgia" panose="02040502050405020303" pitchFamily="18" charset="0"/>
              <a:buNone/>
            </a:pPr>
            <a:r>
              <a:rPr lang="fr-CA" altLang="fr-FR" sz="3200" b="1" dirty="0">
                <a:solidFill>
                  <a:srgbClr val="353535"/>
                </a:solidFill>
              </a:rPr>
              <a:t>Les auditeurs qui effectuent une mission d’examen selon le chapitre ANC 7060, </a:t>
            </a:r>
            <a:r>
              <a:rPr lang="fr-CA" altLang="fr-FR" sz="3200" b="1" dirty="0">
                <a:solidFill>
                  <a:srgbClr val="E90062"/>
                </a:solidFill>
              </a:rPr>
              <a:t>Examen des états financiers intermédiaires par l’auditeur</a:t>
            </a:r>
            <a:r>
              <a:rPr lang="fr-CA" altLang="fr-FR" sz="3200" b="1" dirty="0">
                <a:solidFill>
                  <a:srgbClr val="353535"/>
                </a:solidFill>
              </a:rPr>
              <a:t>, devraient établir un seuil d’importance relative.</a:t>
            </a:r>
          </a:p>
          <a:p>
            <a:pPr marL="107950" indent="0" algn="just">
              <a:buFont typeface="Georgia" panose="02040502050405020303" pitchFamily="18" charset="0"/>
              <a:buNone/>
            </a:pPr>
            <a:endParaRPr lang="fr-CA" altLang="fr-FR" dirty="0"/>
          </a:p>
        </p:txBody>
      </p:sp>
      <p:sp>
        <p:nvSpPr>
          <p:cNvPr id="143364" name="Espace réservé du pied de page 3"/>
          <p:cNvSpPr>
            <a:spLocks noGrp="1"/>
          </p:cNvSpPr>
          <p:nvPr>
            <p:ph type="ftr" sz="quarter" idx="11"/>
          </p:nvPr>
        </p:nvSpPr>
        <p:spPr bwMode="auto">
          <a:xfrm>
            <a:off x="5257800" y="612775"/>
            <a:ext cx="2482552" cy="36795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143365"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02A88DBA-1E6A-49AF-9B86-4671ACC95B31}" type="slidenum">
              <a:rPr lang="fr-FR" altLang="fr-FR" sz="1800" smtClean="0">
                <a:solidFill>
                  <a:srgbClr val="FFFFFF"/>
                </a:solidFill>
                <a:latin typeface="Times New Roman" panose="02020603050405020304" pitchFamily="18" charset="0"/>
              </a:rPr>
              <a:pPr>
                <a:spcBef>
                  <a:spcPct val="0"/>
                </a:spcBef>
                <a:buClrTx/>
                <a:buFontTx/>
                <a:buNone/>
              </a:pPr>
              <a:t>45</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p:cNvSpPr>
          <p:nvPr>
            <p:ph type="title"/>
          </p:nvPr>
        </p:nvSpPr>
        <p:spPr>
          <a:xfrm>
            <a:off x="468313" y="836613"/>
            <a:ext cx="8229600" cy="1439862"/>
          </a:xfrm>
        </p:spPr>
        <p:txBody>
          <a:bodyPr/>
          <a:lstStyle/>
          <a:p>
            <a:pPr marL="292100" indent="-292100"/>
            <a:r>
              <a:rPr lang="fr-CA" altLang="fr-FR" sz="3200" b="1" dirty="0">
                <a:solidFill>
                  <a:schemeClr val="tx1"/>
                </a:solidFill>
              </a:rPr>
              <a:t>8.Vrai ou faux? </a:t>
            </a:r>
            <a:br>
              <a:rPr lang="fr-CA" altLang="fr-FR" sz="3200" b="1" dirty="0">
                <a:solidFill>
                  <a:schemeClr val="tx1"/>
                </a:solidFill>
              </a:rPr>
            </a:br>
            <a:r>
              <a:rPr lang="fr-CA" altLang="fr-FR" sz="3200" b="1" dirty="0">
                <a:solidFill>
                  <a:schemeClr val="tx1"/>
                </a:solidFill>
              </a:rPr>
              <a:t>Justifiez votre réponse.</a:t>
            </a:r>
          </a:p>
        </p:txBody>
      </p:sp>
      <p:sp>
        <p:nvSpPr>
          <p:cNvPr id="145411" name="Rectangle 3"/>
          <p:cNvSpPr>
            <a:spLocks noGrp="1"/>
          </p:cNvSpPr>
          <p:nvPr>
            <p:ph type="body" idx="1"/>
          </p:nvPr>
        </p:nvSpPr>
        <p:spPr>
          <a:xfrm>
            <a:off x="468313" y="2636838"/>
            <a:ext cx="8229600" cy="4022725"/>
          </a:xfrm>
        </p:spPr>
        <p:txBody>
          <a:bodyPr/>
          <a:lstStyle/>
          <a:p>
            <a:r>
              <a:rPr lang="fr-CA" altLang="fr-FR" dirty="0"/>
              <a:t>Les anomalies détectées par l'auditeur de l'entité ou portées à son attention, </a:t>
            </a:r>
            <a:r>
              <a:rPr lang="fr-CA" altLang="fr-FR" b="1" dirty="0">
                <a:solidFill>
                  <a:srgbClr val="FF0066"/>
                </a:solidFill>
              </a:rPr>
              <a:t>à l’exclusion</a:t>
            </a:r>
            <a:r>
              <a:rPr lang="fr-CA" altLang="fr-FR" dirty="0"/>
              <a:t> de la présentation inadéquate de l'information, font l'objet d'une évaluation individuelle et d'ensemble en vue de déterminer s'il est nécessaire d'apporter quelque modification significative aux états financiers intermédiaires pour que ceux-ci soient conformes aux IFRS. </a:t>
            </a:r>
          </a:p>
        </p:txBody>
      </p:sp>
      <p:sp>
        <p:nvSpPr>
          <p:cNvPr id="145412" name="Espace réservé du pied de page 1"/>
          <p:cNvSpPr>
            <a:spLocks noGrp="1"/>
          </p:cNvSpPr>
          <p:nvPr>
            <p:ph type="ftr" sz="quarter" idx="11"/>
          </p:nvPr>
        </p:nvSpPr>
        <p:spPr bwMode="auto">
          <a:xfrm>
            <a:off x="5257800" y="612775"/>
            <a:ext cx="21224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4541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E4E10F35-34C7-4848-9558-227010F8D9BF}" type="slidenum">
              <a:rPr lang="fr-FR" altLang="fr-FR" sz="1800" smtClean="0">
                <a:solidFill>
                  <a:srgbClr val="FFFFFF"/>
                </a:solidFill>
                <a:latin typeface="Times New Roman" panose="02020603050405020304" pitchFamily="18" charset="0"/>
              </a:rPr>
              <a:pPr>
                <a:spcBef>
                  <a:spcPct val="0"/>
                </a:spcBef>
                <a:buClrTx/>
                <a:buFontTx/>
                <a:buNone/>
              </a:pPr>
              <a:t>46</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1026"/>
          <p:cNvSpPr>
            <a:spLocks noGrp="1"/>
          </p:cNvSpPr>
          <p:nvPr>
            <p:ph type="title"/>
          </p:nvPr>
        </p:nvSpPr>
        <p:spPr/>
        <p:txBody>
          <a:bodyPr/>
          <a:lstStyle/>
          <a:p>
            <a:pPr marL="388938" indent="-388938"/>
            <a:r>
              <a:rPr lang="fr-CA" altLang="fr-FR" sz="2800" b="1">
                <a:solidFill>
                  <a:schemeClr val="tx1"/>
                </a:solidFill>
              </a:rPr>
              <a:t>9.Cette déclaration apparaît sur la première page du rapport semestriel du Fonds Fidelity Répartition d’actifs canadiens</a:t>
            </a:r>
          </a:p>
        </p:txBody>
      </p:sp>
      <p:sp>
        <p:nvSpPr>
          <p:cNvPr id="147459" name="Rectangle 1027"/>
          <p:cNvSpPr>
            <a:spLocks noGrp="1"/>
          </p:cNvSpPr>
          <p:nvPr>
            <p:ph type="body" idx="1"/>
          </p:nvPr>
        </p:nvSpPr>
        <p:spPr>
          <a:xfrm>
            <a:off x="457200" y="2564904"/>
            <a:ext cx="8229600" cy="3906838"/>
          </a:xfrm>
        </p:spPr>
        <p:txBody>
          <a:bodyPr/>
          <a:lstStyle/>
          <a:p>
            <a:pPr marL="96838" indent="0">
              <a:lnSpc>
                <a:spcPct val="90000"/>
              </a:lnSpc>
              <a:buFont typeface="Georgia" panose="02040502050405020303" pitchFamily="18" charset="0"/>
              <a:buNone/>
            </a:pPr>
            <a:r>
              <a:rPr lang="fr-CA" altLang="fr-FR" b="1" dirty="0"/>
              <a:t>Avis aux lecteurs</a:t>
            </a:r>
          </a:p>
          <a:p>
            <a:pPr marL="96838" indent="0">
              <a:lnSpc>
                <a:spcPct val="90000"/>
              </a:lnSpc>
              <a:buFont typeface="Georgia" panose="02040502050405020303" pitchFamily="18" charset="0"/>
              <a:buNone/>
            </a:pPr>
            <a:endParaRPr lang="fr-CA" altLang="fr-FR" b="1" dirty="0"/>
          </a:p>
          <a:p>
            <a:pPr marL="96838" indent="0">
              <a:lnSpc>
                <a:spcPct val="90000"/>
              </a:lnSpc>
              <a:buFont typeface="Georgia" panose="02040502050405020303" pitchFamily="18" charset="0"/>
              <a:buNone/>
            </a:pPr>
            <a:r>
              <a:rPr lang="fr-CA" altLang="fr-FR" b="1" dirty="0"/>
              <a:t>Les états financiers intermédiaires ci-joints n’ont pas été revus par l’auditeur indépendant du Fonds. L’auditeur indépendant effectuera un audit des états financiers annuels du Fonds conformément aux normes d’audit généralement reconnues du Canada.</a:t>
            </a:r>
          </a:p>
        </p:txBody>
      </p:sp>
      <p:sp>
        <p:nvSpPr>
          <p:cNvPr id="147460" name="Espace réservé du pied de page 1"/>
          <p:cNvSpPr>
            <a:spLocks noGrp="1"/>
          </p:cNvSpPr>
          <p:nvPr>
            <p:ph type="ftr" sz="quarter" idx="11"/>
          </p:nvPr>
        </p:nvSpPr>
        <p:spPr bwMode="auto">
          <a:xfrm>
            <a:off x="5257800" y="612775"/>
            <a:ext cx="2193925"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4746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F9B352F3-158C-4EFC-828C-AEB7B3172F78}" type="slidenum">
              <a:rPr lang="fr-FR" altLang="fr-FR" sz="1800" smtClean="0">
                <a:solidFill>
                  <a:srgbClr val="FFFFFF"/>
                </a:solidFill>
                <a:latin typeface="Times New Roman" panose="02020603050405020304" pitchFamily="18" charset="0"/>
              </a:rPr>
              <a:pPr>
                <a:spcBef>
                  <a:spcPct val="0"/>
                </a:spcBef>
                <a:buClrTx/>
                <a:buFontTx/>
                <a:buNone/>
              </a:pPr>
              <a:t>47</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p:cNvSpPr>
          <p:nvPr>
            <p:ph type="title"/>
          </p:nvPr>
        </p:nvSpPr>
        <p:spPr>
          <a:xfrm>
            <a:off x="457200" y="1143000"/>
            <a:ext cx="8229600" cy="1143000"/>
          </a:xfrm>
        </p:spPr>
        <p:txBody>
          <a:bodyPr/>
          <a:lstStyle/>
          <a:p>
            <a:r>
              <a:rPr lang="fr-CA" altLang="fr-FR" sz="3200" b="1">
                <a:solidFill>
                  <a:schemeClr val="tx1"/>
                </a:solidFill>
              </a:rPr>
              <a:t>Parmi les affirmations qui suivent, laquelle est juste?</a:t>
            </a:r>
          </a:p>
        </p:txBody>
      </p:sp>
      <p:sp>
        <p:nvSpPr>
          <p:cNvPr id="149507" name="Rectangle 3"/>
          <p:cNvSpPr>
            <a:spLocks noGrp="1"/>
          </p:cNvSpPr>
          <p:nvPr>
            <p:ph type="body" idx="1"/>
          </p:nvPr>
        </p:nvSpPr>
        <p:spPr>
          <a:xfrm>
            <a:off x="304800" y="2514600"/>
            <a:ext cx="8229600" cy="3733800"/>
          </a:xfrm>
        </p:spPr>
        <p:txBody>
          <a:bodyPr/>
          <a:lstStyle/>
          <a:p>
            <a:pPr marL="642938" indent="-533400">
              <a:lnSpc>
                <a:spcPct val="90000"/>
              </a:lnSpc>
              <a:buFont typeface="Trebuchet MS" panose="020B0603020202020204" pitchFamily="34" charset="0"/>
              <a:buAutoNum type="alphaLcParenR"/>
            </a:pPr>
            <a:r>
              <a:rPr lang="fr-CA" altLang="fr-FR"/>
              <a:t>L’auditeur n’a procédé ni à un examen, ni à un audit des états intermédiaires du Fonds.</a:t>
            </a:r>
          </a:p>
          <a:p>
            <a:pPr marL="642938" indent="-533400">
              <a:lnSpc>
                <a:spcPct val="90000"/>
              </a:lnSpc>
              <a:buFont typeface="Trebuchet MS" panose="020B0603020202020204" pitchFamily="34" charset="0"/>
              <a:buAutoNum type="alphaLcParenR"/>
            </a:pPr>
            <a:r>
              <a:rPr lang="fr-FR" altLang="fr-FR"/>
              <a:t>Il est obligatoire de faire cette mention pour éviter que les utilisateurs accordent plus de crédibilité que nécessaire au rapport semestriel.</a:t>
            </a:r>
          </a:p>
          <a:p>
            <a:pPr marL="642938" indent="-533400">
              <a:lnSpc>
                <a:spcPct val="90000"/>
              </a:lnSpc>
              <a:buFont typeface="Trebuchet MS" panose="020B0603020202020204" pitchFamily="34" charset="0"/>
              <a:buAutoNum type="alphaLcParenR"/>
            </a:pPr>
            <a:r>
              <a:rPr lang="fr-FR" altLang="fr-FR"/>
              <a:t>Les investisseurs auront accès à des EF annuels qui, eux, seront audités.</a:t>
            </a:r>
          </a:p>
          <a:p>
            <a:pPr marL="642938" indent="-533400">
              <a:lnSpc>
                <a:spcPct val="90000"/>
              </a:lnSpc>
              <a:buFont typeface="Trebuchet MS" panose="020B0603020202020204" pitchFamily="34" charset="0"/>
              <a:buAutoNum type="alphaLcParenR"/>
            </a:pPr>
            <a:r>
              <a:rPr lang="fr-FR" altLang="fr-FR"/>
              <a:t>Toutes ces réponses.</a:t>
            </a:r>
            <a:endParaRPr lang="fr-CA" altLang="fr-FR"/>
          </a:p>
        </p:txBody>
      </p:sp>
      <p:sp>
        <p:nvSpPr>
          <p:cNvPr id="149508" name="Espace réservé du pied de page 1"/>
          <p:cNvSpPr>
            <a:spLocks noGrp="1"/>
          </p:cNvSpPr>
          <p:nvPr>
            <p:ph type="ftr" sz="quarter" idx="11"/>
          </p:nvPr>
        </p:nvSpPr>
        <p:spPr bwMode="auto">
          <a:xfrm>
            <a:off x="5257800" y="612775"/>
            <a:ext cx="23383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4950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475921C0-02CF-4D1A-9414-6BA831F261DB}" type="slidenum">
              <a:rPr lang="fr-FR" altLang="fr-FR" sz="1800" smtClean="0">
                <a:solidFill>
                  <a:srgbClr val="FFFFFF"/>
                </a:solidFill>
                <a:latin typeface="Times New Roman" panose="02020603050405020304" pitchFamily="18" charset="0"/>
              </a:rPr>
              <a:pPr>
                <a:spcBef>
                  <a:spcPct val="0"/>
                </a:spcBef>
                <a:buClrTx/>
                <a:buFontTx/>
                <a:buNone/>
              </a:pPr>
              <a:t>48</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p:cNvSpPr>
          <p:nvPr>
            <p:ph type="title"/>
          </p:nvPr>
        </p:nvSpPr>
        <p:spPr/>
        <p:txBody>
          <a:bodyPr/>
          <a:lstStyle/>
          <a:p>
            <a:pPr marL="292100" indent="-292100"/>
            <a:r>
              <a:rPr lang="fr-CA" altLang="fr-FR" sz="3200" b="1">
                <a:solidFill>
                  <a:schemeClr val="tx1"/>
                </a:solidFill>
              </a:rPr>
              <a:t>10.Discutez.</a:t>
            </a:r>
          </a:p>
        </p:txBody>
      </p:sp>
      <p:sp>
        <p:nvSpPr>
          <p:cNvPr id="151555" name="Rectangle 3"/>
          <p:cNvSpPr>
            <a:spLocks noGrp="1"/>
          </p:cNvSpPr>
          <p:nvPr>
            <p:ph type="body" idx="1"/>
          </p:nvPr>
        </p:nvSpPr>
        <p:spPr/>
        <p:txBody>
          <a:bodyPr/>
          <a:lstStyle/>
          <a:p>
            <a:pPr marL="96838" indent="12700">
              <a:buFont typeface="Georgia" panose="02040502050405020303" pitchFamily="18" charset="0"/>
              <a:buNone/>
            </a:pPr>
            <a:endParaRPr lang="fr-CA" altLang="fr-FR"/>
          </a:p>
          <a:p>
            <a:pPr marL="96838" indent="12700">
              <a:buFont typeface="Georgia" panose="02040502050405020303" pitchFamily="18" charset="0"/>
              <a:buNone/>
            </a:pPr>
            <a:r>
              <a:rPr lang="fr-CA" altLang="fr-FR"/>
              <a:t>Dans la séance 3, on a abordé la question de la gestion du résultat. Un examen intermédiaire pourrait contribuer à réduire les régularisations inattendues pendant le quatrième trimestre.</a:t>
            </a:r>
          </a:p>
        </p:txBody>
      </p:sp>
      <p:sp>
        <p:nvSpPr>
          <p:cNvPr id="151556" name="Espace réservé du pied de page 1"/>
          <p:cNvSpPr>
            <a:spLocks noGrp="1"/>
          </p:cNvSpPr>
          <p:nvPr>
            <p:ph type="ftr" sz="quarter" idx="11"/>
          </p:nvPr>
        </p:nvSpPr>
        <p:spPr bwMode="auto">
          <a:xfrm>
            <a:off x="5257800" y="612775"/>
            <a:ext cx="2122488"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5155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C9D6E16E-D101-45B8-93F0-B4FA5E27661B}" type="slidenum">
              <a:rPr lang="fr-FR" altLang="fr-FR" sz="1800" smtClean="0">
                <a:solidFill>
                  <a:srgbClr val="FFFFFF"/>
                </a:solidFill>
                <a:latin typeface="Times New Roman" panose="02020603050405020304" pitchFamily="18" charset="0"/>
              </a:rPr>
              <a:pPr>
                <a:spcBef>
                  <a:spcPct val="0"/>
                </a:spcBef>
                <a:buClrTx/>
                <a:buFontTx/>
                <a:buNone/>
              </a:pPr>
              <a:t>49</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p:cNvSpPr>
          <p:nvPr>
            <p:ph type="ctrTitle"/>
          </p:nvPr>
        </p:nvSpPr>
        <p:spPr>
          <a:xfrm>
            <a:off x="457200" y="2401888"/>
            <a:ext cx="8458200" cy="1470025"/>
          </a:xfrm>
        </p:spPr>
        <p:txBody>
          <a:bodyPr/>
          <a:lstStyle/>
          <a:p>
            <a:r>
              <a:rPr lang="fr-CA" altLang="fr-FR" sz="3200"/>
              <a:t>Quelques exemples de notes</a:t>
            </a:r>
          </a:p>
        </p:txBody>
      </p:sp>
      <p:sp>
        <p:nvSpPr>
          <p:cNvPr id="153603" name="Sous-titre 1"/>
          <p:cNvSpPr>
            <a:spLocks noGrp="1"/>
          </p:cNvSpPr>
          <p:nvPr>
            <p:ph type="subTitle" idx="1"/>
          </p:nvPr>
        </p:nvSpPr>
        <p:spPr>
          <a:xfrm>
            <a:off x="457200" y="3900488"/>
            <a:ext cx="4953000" cy="1752600"/>
          </a:xfrm>
        </p:spPr>
        <p:txBody>
          <a:bodyPr/>
          <a:lstStyle/>
          <a:p>
            <a:pPr marL="63500"/>
            <a:endParaRPr lang="fr-CA" altLang="fr-F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itre 1"/>
          <p:cNvSpPr>
            <a:spLocks noGrp="1"/>
          </p:cNvSpPr>
          <p:nvPr>
            <p:ph type="title"/>
          </p:nvPr>
        </p:nvSpPr>
        <p:spPr>
          <a:xfrm>
            <a:off x="457200" y="1143000"/>
            <a:ext cx="8229600" cy="838200"/>
          </a:xfrm>
        </p:spPr>
        <p:txBody>
          <a:bodyPr/>
          <a:lstStyle/>
          <a:p>
            <a:r>
              <a:rPr lang="fr-CA" altLang="fr-FR" sz="3200"/>
              <a:t>Caractère saisonnier - note</a:t>
            </a:r>
          </a:p>
        </p:txBody>
      </p:sp>
      <p:sp>
        <p:nvSpPr>
          <p:cNvPr id="154627" name="Espace réservé du contenu 2"/>
          <p:cNvSpPr>
            <a:spLocks noGrp="1"/>
          </p:cNvSpPr>
          <p:nvPr>
            <p:ph idx="1"/>
          </p:nvPr>
        </p:nvSpPr>
        <p:spPr/>
        <p:txBody>
          <a:bodyPr/>
          <a:lstStyle/>
          <a:p>
            <a:pPr marL="107950" indent="0">
              <a:buFont typeface="Georgia" panose="02040502050405020303" pitchFamily="18" charset="0"/>
              <a:buNone/>
            </a:pPr>
            <a:r>
              <a:rPr lang="fr-CA" altLang="fr-FR" sz="2400" b="1"/>
              <a:t>2 b) Fluctuations saisonnières. </a:t>
            </a:r>
            <a:r>
              <a:rPr lang="fr-FR" altLang="fr-FR" sz="2400"/>
              <a:t>Les résultats d’exploitation pour les périodes intermédiaires ne reflètent pas nécessairement les résultats de l’exercice entier, ceci étant causé par des fluctuations saisonnières caractéristiques </a:t>
            </a:r>
            <a:r>
              <a:rPr lang="fr-FR" altLang="fr-FR" sz="2400" b="1"/>
              <a:t>à l’industrie de la quincaillerie, de la rénovation et du jardinage</a:t>
            </a:r>
            <a:r>
              <a:rPr lang="fr-FR" altLang="fr-FR" sz="2400"/>
              <a:t>. Puisque la saisonnalité entraîne des variations importantes de certains actifs et passifs, un état de la situation financière au 23 septembre 2012 est également présenté à des fins comparatives. </a:t>
            </a:r>
          </a:p>
          <a:p>
            <a:pPr marL="107950" indent="0">
              <a:buFont typeface="Georgia" panose="02040502050405020303" pitchFamily="18" charset="0"/>
              <a:buNone/>
            </a:pPr>
            <a:endParaRPr lang="fr-FR" altLang="fr-FR" sz="2400"/>
          </a:p>
          <a:p>
            <a:pPr marL="107950" indent="0">
              <a:buFont typeface="Georgia" panose="02040502050405020303" pitchFamily="18" charset="0"/>
              <a:buNone/>
            </a:pPr>
            <a:r>
              <a:rPr lang="fr-FR" altLang="fr-FR" sz="2400"/>
              <a:t>(RONA, Trimestre terminé le 29 septembre 2013)</a:t>
            </a:r>
          </a:p>
          <a:p>
            <a:pPr marL="107950" indent="0">
              <a:buFont typeface="Georgia" panose="02040502050405020303" pitchFamily="18" charset="0"/>
              <a:buNone/>
            </a:pPr>
            <a:endParaRPr lang="fr-CA" altLang="fr-FR"/>
          </a:p>
        </p:txBody>
      </p:sp>
      <p:sp>
        <p:nvSpPr>
          <p:cNvPr id="154628" name="Espace réservé du pied de page 3"/>
          <p:cNvSpPr>
            <a:spLocks noGrp="1"/>
          </p:cNvSpPr>
          <p:nvPr>
            <p:ph type="ftr" sz="quarter" idx="11"/>
          </p:nvPr>
        </p:nvSpPr>
        <p:spPr bwMode="auto">
          <a:xfrm>
            <a:off x="5148263" y="620713"/>
            <a:ext cx="20875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54629"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C8364F08-D601-4359-8ACE-71009AAA1EF4}" type="slidenum">
              <a:rPr lang="fr-FR" altLang="fr-FR" sz="1800" smtClean="0">
                <a:solidFill>
                  <a:srgbClr val="FFFFFF"/>
                </a:solidFill>
                <a:latin typeface="Times New Roman" panose="02020603050405020304" pitchFamily="18" charset="0"/>
              </a:rPr>
              <a:pPr>
                <a:spcBef>
                  <a:spcPct val="0"/>
                </a:spcBef>
                <a:buClrTx/>
                <a:buFontTx/>
                <a:buNone/>
              </a:pPr>
              <a:t>51</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itre 1"/>
          <p:cNvSpPr>
            <a:spLocks noGrp="1"/>
          </p:cNvSpPr>
          <p:nvPr>
            <p:ph type="title"/>
          </p:nvPr>
        </p:nvSpPr>
        <p:spPr>
          <a:xfrm>
            <a:off x="395288" y="908050"/>
            <a:ext cx="8229600" cy="774700"/>
          </a:xfrm>
        </p:spPr>
        <p:txBody>
          <a:bodyPr/>
          <a:lstStyle/>
          <a:p>
            <a:r>
              <a:rPr lang="fr-CA" altLang="fr-FR" sz="3200"/>
              <a:t>Caractère saisonnier - note</a:t>
            </a:r>
          </a:p>
        </p:txBody>
      </p:sp>
      <p:sp>
        <p:nvSpPr>
          <p:cNvPr id="156675" name="Espace réservé du contenu 2"/>
          <p:cNvSpPr>
            <a:spLocks noGrp="1"/>
          </p:cNvSpPr>
          <p:nvPr>
            <p:ph idx="1"/>
          </p:nvPr>
        </p:nvSpPr>
        <p:spPr>
          <a:xfrm>
            <a:off x="457200" y="1916113"/>
            <a:ext cx="8229600" cy="4657725"/>
          </a:xfrm>
        </p:spPr>
        <p:txBody>
          <a:bodyPr/>
          <a:lstStyle/>
          <a:p>
            <a:pPr marL="107950" indent="0">
              <a:buFont typeface="Georgia" panose="02040502050405020303" pitchFamily="18" charset="0"/>
              <a:buNone/>
            </a:pPr>
            <a:r>
              <a:rPr lang="fr-FR" altLang="fr-FR"/>
              <a:t>Note 3 - Caractère saisonnier </a:t>
            </a:r>
          </a:p>
          <a:p>
            <a:pPr marL="107950" indent="0">
              <a:buFont typeface="Georgia" panose="02040502050405020303" pitchFamily="18" charset="0"/>
              <a:buNone/>
            </a:pPr>
            <a:r>
              <a:rPr lang="fr-FR" altLang="fr-FR" sz="2000"/>
              <a:t>Les activités de la Compagnie sont de nature saisonnière. Par conséquent, les ventes au détail varieront d’un trimestre à l’autre en fonction du comportement d’achat des consommateurs. Par le passé, les produits et les bénéfices de la Compagnie ont été plus élevés au quatrième trimestre en raison de la période des Fêtes. La Compagnie est en mesure d’ajuster certains coûts variables selon les tendances saisonnières des produits. Cependant, certains coûts, comme ceux liés à l’occupation, sont fixes, ce qui amène la Compagnie à présenter un montant disproportionné au titre des bénéfices au quatrième trimestre. Le caractère saisonnier des activités se traduit par un rendement trimestriel qui n’est pas nécessairement représentatif du rendement annuel. (La Compagnie de la Baie d’Hudson, T1 2013)</a:t>
            </a:r>
          </a:p>
          <a:p>
            <a:pPr marL="107950" indent="0">
              <a:buFont typeface="Georgia" panose="02040502050405020303" pitchFamily="18" charset="0"/>
              <a:buNone/>
            </a:pPr>
            <a:endParaRPr lang="fr-CA" altLang="fr-FR"/>
          </a:p>
        </p:txBody>
      </p:sp>
      <p:sp>
        <p:nvSpPr>
          <p:cNvPr id="156676" name="Espace réservé du pied de page 3"/>
          <p:cNvSpPr>
            <a:spLocks noGrp="1"/>
          </p:cNvSpPr>
          <p:nvPr>
            <p:ph type="ftr" sz="quarter" idx="11"/>
          </p:nvPr>
        </p:nvSpPr>
        <p:spPr bwMode="auto">
          <a:xfrm>
            <a:off x="5257800" y="612775"/>
            <a:ext cx="2554560" cy="295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a:solidFill>
                  <a:schemeClr val="accent2"/>
                </a:solidFill>
                <a:latin typeface="Times New Roman" panose="02020603050405020304" pitchFamily="18" charset="0"/>
              </a:rPr>
              <a:t>© 2014,  Sylviane Beauregard, HEC Montréal</a:t>
            </a:r>
            <a:endParaRPr lang="fr-FR" altLang="fr-FR" sz="800">
              <a:solidFill>
                <a:schemeClr val="accent2"/>
              </a:solidFill>
              <a:latin typeface="Times New Roman" panose="02020603050405020304" pitchFamily="18" charset="0"/>
            </a:endParaRPr>
          </a:p>
        </p:txBody>
      </p:sp>
      <p:sp>
        <p:nvSpPr>
          <p:cNvPr id="156677"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B8DC9C94-B451-458C-9B3F-ADCD06A0382A}" type="slidenum">
              <a:rPr lang="fr-FR" altLang="fr-FR" sz="1800" smtClean="0">
                <a:solidFill>
                  <a:srgbClr val="FFFFFF"/>
                </a:solidFill>
                <a:latin typeface="Times New Roman" panose="02020603050405020304" pitchFamily="18" charset="0"/>
              </a:rPr>
              <a:pPr>
                <a:spcBef>
                  <a:spcPct val="0"/>
                </a:spcBef>
                <a:buClrTx/>
                <a:buFontTx/>
                <a:buNone/>
              </a:pPr>
              <a:t>52</a:t>
            </a:fld>
            <a:endParaRPr lang="fr-FR" altLang="fr-FR" sz="1800">
              <a:solidFill>
                <a:srgbClr val="FFFFFF"/>
              </a:solidFill>
              <a:latin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itre 1"/>
          <p:cNvSpPr>
            <a:spLocks noGrp="1"/>
          </p:cNvSpPr>
          <p:nvPr>
            <p:ph type="title"/>
          </p:nvPr>
        </p:nvSpPr>
        <p:spPr>
          <a:xfrm>
            <a:off x="457200" y="1143000"/>
            <a:ext cx="8229600" cy="1206500"/>
          </a:xfrm>
        </p:spPr>
        <p:txBody>
          <a:bodyPr/>
          <a:lstStyle/>
          <a:p>
            <a:r>
              <a:rPr lang="fr-CA" altLang="fr-FR" sz="3200"/>
              <a:t>États financiers trimestriels-</a:t>
            </a:r>
            <a:br>
              <a:rPr lang="fr-CA" altLang="fr-FR"/>
            </a:br>
            <a:r>
              <a:rPr lang="fr-CA" altLang="fr-FR" sz="2800"/>
              <a:t>le défi que posent les estimations des stocks</a:t>
            </a:r>
            <a:br>
              <a:rPr lang="fr-CA" altLang="fr-FR" sz="2800"/>
            </a:br>
            <a:r>
              <a:rPr lang="fr-CA" altLang="fr-FR" sz="2800"/>
              <a:t>Le Château (T3 – 2013)</a:t>
            </a:r>
          </a:p>
        </p:txBody>
      </p:sp>
      <p:sp>
        <p:nvSpPr>
          <p:cNvPr id="158723" name="Espace réservé du pied de page 3"/>
          <p:cNvSpPr>
            <a:spLocks noGrp="1"/>
          </p:cNvSpPr>
          <p:nvPr>
            <p:ph type="ftr" sz="quarter" idx="11"/>
          </p:nvPr>
        </p:nvSpPr>
        <p:spPr bwMode="auto">
          <a:xfrm>
            <a:off x="5257800" y="612774"/>
            <a:ext cx="2554560" cy="530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r>
              <a:rPr lang="fr-CA" altLang="fr-FR" sz="800" dirty="0">
                <a:solidFill>
                  <a:schemeClr val="accent2"/>
                </a:solidFill>
                <a:latin typeface="Times New Roman" panose="02020603050405020304" pitchFamily="18" charset="0"/>
              </a:rPr>
              <a:t>© 2014,  Sylviane Beauregard, HEC Montréal</a:t>
            </a:r>
            <a:endParaRPr lang="fr-FR" altLang="fr-FR" sz="800" dirty="0">
              <a:solidFill>
                <a:schemeClr val="accent2"/>
              </a:solidFill>
              <a:latin typeface="Times New Roman" panose="02020603050405020304" pitchFamily="18" charset="0"/>
            </a:endParaRPr>
          </a:p>
        </p:txBody>
      </p:sp>
      <p:sp>
        <p:nvSpPr>
          <p:cNvPr id="158724" name="Espace réservé du numéro de diapositive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9C007F"/>
              </a:buClr>
              <a:buFont typeface="Georgia" panose="02040502050405020303" pitchFamily="18" charset="0"/>
              <a:buChar char="•"/>
              <a:defRPr sz="2800">
                <a:solidFill>
                  <a:schemeClr val="tx1"/>
                </a:solidFill>
                <a:latin typeface="Georgia" panose="02040502050405020303" pitchFamily="18" charset="0"/>
              </a:defRPr>
            </a:lvl1pPr>
            <a:lvl2pPr marL="742950" indent="-285750">
              <a:spcBef>
                <a:spcPts val="300"/>
              </a:spcBef>
              <a:buClr>
                <a:schemeClr val="accent2"/>
              </a:buClr>
              <a:buFont typeface="Georgia" panose="02040502050405020303" pitchFamily="18" charset="0"/>
              <a:buChar char="▫"/>
              <a:defRPr sz="2600">
                <a:solidFill>
                  <a:schemeClr val="accent2"/>
                </a:solidFill>
                <a:latin typeface="Georgia" panose="02040502050405020303" pitchFamily="18" charset="0"/>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defRPr>
            </a:lvl4pPr>
            <a:lvl5pPr marL="2057400" indent="-228600">
              <a:spcBef>
                <a:spcPts val="300"/>
              </a:spcBef>
              <a:buClr>
                <a:srgbClr val="9C007F"/>
              </a:buClr>
              <a:buFont typeface="Georgia" panose="02040502050405020303" pitchFamily="18" charset="0"/>
              <a:buChar char="▫"/>
              <a:defRPr sz="2000">
                <a:solidFill>
                  <a:srgbClr val="9C007F"/>
                </a:solidFill>
                <a:latin typeface="Georgia" panose="02040502050405020303" pitchFamily="18" charset="0"/>
              </a:defRPr>
            </a:lvl5pPr>
            <a:lvl6pPr marL="25146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6pPr>
            <a:lvl7pPr marL="29718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7pPr>
            <a:lvl8pPr marL="34290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8pPr>
            <a:lvl9pPr marL="3886200" indent="-228600" eaLnBrk="0" fontAlgn="base" hangingPunct="0">
              <a:spcBef>
                <a:spcPts val="300"/>
              </a:spcBef>
              <a:spcAft>
                <a:spcPct val="0"/>
              </a:spcAft>
              <a:buClr>
                <a:srgbClr val="9C007F"/>
              </a:buClr>
              <a:buFont typeface="Georgia" panose="02040502050405020303" pitchFamily="18" charset="0"/>
              <a:buChar char="▫"/>
              <a:defRPr sz="2000">
                <a:solidFill>
                  <a:srgbClr val="9C007F"/>
                </a:solidFill>
                <a:latin typeface="Georgia" panose="02040502050405020303" pitchFamily="18" charset="0"/>
              </a:defRPr>
            </a:lvl9pPr>
          </a:lstStyle>
          <a:p>
            <a:pPr>
              <a:spcBef>
                <a:spcPct val="0"/>
              </a:spcBef>
              <a:buClrTx/>
              <a:buFontTx/>
              <a:buNone/>
            </a:pPr>
            <a:fld id="{C7108753-DBDE-4D8D-9F0E-10ABB0C60676}" type="slidenum">
              <a:rPr lang="fr-FR" altLang="fr-FR" sz="1800" smtClean="0">
                <a:solidFill>
                  <a:srgbClr val="FFFFFF"/>
                </a:solidFill>
                <a:latin typeface="Times New Roman" panose="02020603050405020304" pitchFamily="18" charset="0"/>
              </a:rPr>
              <a:pPr>
                <a:spcBef>
                  <a:spcPct val="0"/>
                </a:spcBef>
                <a:buClrTx/>
                <a:buFontTx/>
                <a:buNone/>
              </a:pPr>
              <a:t>53</a:t>
            </a:fld>
            <a:endParaRPr lang="fr-FR" altLang="fr-FR" sz="1800">
              <a:solidFill>
                <a:srgbClr val="FFFFFF"/>
              </a:solidFill>
              <a:latin typeface="Times New Roman" panose="02020603050405020304" pitchFamily="18" charset="0"/>
            </a:endParaRPr>
          </a:p>
        </p:txBody>
      </p:sp>
      <p:pic>
        <p:nvPicPr>
          <p:cNvPr id="15872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8" y="3357563"/>
            <a:ext cx="9151938" cy="1084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in">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Urbai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i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5788</TotalTime>
  <Words>3921</Words>
  <Application>Microsoft Office PowerPoint</Application>
  <PresentationFormat>Affichage à l'écran (4:3)</PresentationFormat>
  <Paragraphs>489</Paragraphs>
  <Slides>53</Slides>
  <Notes>53</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53</vt:i4>
      </vt:variant>
    </vt:vector>
  </HeadingPairs>
  <TitlesOfParts>
    <vt:vector size="62" baseType="lpstr">
      <vt:lpstr>Arial</vt:lpstr>
      <vt:lpstr>Calibri</vt:lpstr>
      <vt:lpstr>Georgia</vt:lpstr>
      <vt:lpstr>Perpetua</vt:lpstr>
      <vt:lpstr>Times New Roman</vt:lpstr>
      <vt:lpstr>Trebuchet MS</vt:lpstr>
      <vt:lpstr>Wingdings</vt:lpstr>
      <vt:lpstr>Wingdings 2</vt:lpstr>
      <vt:lpstr>Urbain</vt:lpstr>
      <vt:lpstr>Information financière intermédiaire (IAS 34)  Examen par l’auditeur des ÉF intermédiaires (ANC 7060)   </vt:lpstr>
      <vt:lpstr>PLAN DE LA SÉANCE</vt:lpstr>
      <vt:lpstr>ÉTATS FINANCIERS INTERMÉDIAIRES</vt:lpstr>
      <vt:lpstr>Pourquoi ce sujet ?</vt:lpstr>
      <vt:lpstr>POURQUOI DES RENSEIGNEMENTS INTERMÉDIAIRES?</vt:lpstr>
      <vt:lpstr>Pourquoi?</vt:lpstr>
      <vt:lpstr>Objectif des renseignements intermédiaires</vt:lpstr>
      <vt:lpstr>Le Cadre IFRS et IAS 34</vt:lpstr>
      <vt:lpstr>Renseignements intermédiaires –  quelles entités doivent en publier ?</vt:lpstr>
      <vt:lpstr>Principales parties prenantes  de l’information trimestrielle</vt:lpstr>
      <vt:lpstr>À propos des états financiers intermédiaires</vt:lpstr>
      <vt:lpstr>Forme et contenu des états financiers intermédiaires</vt:lpstr>
      <vt:lpstr>Quels états financiers doit-on présenter selon IAS 34 ?</vt:lpstr>
      <vt:lpstr>Quels états financiers doit-on présenter selon IAS 34 ?</vt:lpstr>
      <vt:lpstr>Le contenu des états financiers résumés</vt:lpstr>
      <vt:lpstr>Contenu des EF Quiz</vt:lpstr>
      <vt:lpstr>Notes explicatives -  les exigences allégées de IAS 34</vt:lpstr>
      <vt:lpstr>Notes explicatives</vt:lpstr>
      <vt:lpstr>Notes explicatives</vt:lpstr>
      <vt:lpstr>Notes supplémentaires au sujet des éléments importants (IAS 34-15B) -  L’importance relative</vt:lpstr>
      <vt:lpstr>Transaction ou événement important à aborder (survenu durant la période intermédiaire)</vt:lpstr>
      <vt:lpstr>Notes explicatives</vt:lpstr>
      <vt:lpstr>Déclaration de conformité : Être ou ne pas être…</vt:lpstr>
      <vt:lpstr>Comptabilisation et évaluation – les principes</vt:lpstr>
      <vt:lpstr>Comptabilisation et évaluation – les principes (IAS 34-28 et 29)</vt:lpstr>
      <vt:lpstr>Comptabilisation et évaluation Quiz 1 – Le contexte</vt:lpstr>
      <vt:lpstr>À ne jamais oublier EF annuels ou intermédiaires, on définit toujours un actif de la même manière</vt:lpstr>
      <vt:lpstr>Comptabilisation et évaluation Quiz 2 – Le contexte</vt:lpstr>
      <vt:lpstr>Quiz 2 – Choisissez la meilleure réponse parmi celles qui suivent. Justifiez votre choix.</vt:lpstr>
      <vt:lpstr>Comptabilisation et évaluation -  Caractère saisonnier</vt:lpstr>
      <vt:lpstr>Quiz Caractère saisonnier – les produits</vt:lpstr>
      <vt:lpstr>Quiz Coûts engagés de façon inégale durant l’année </vt:lpstr>
      <vt:lpstr>Vrai ou faux?</vt:lpstr>
      <vt:lpstr>Quiz Caractère saisonnier – les notes</vt:lpstr>
      <vt:lpstr>États financiers intermédiaires Utilisation d’estimations (IAS 34-41)</vt:lpstr>
      <vt:lpstr>Utilisation d’estimations (IAS 34-41)</vt:lpstr>
      <vt:lpstr>Examen des états financiers intermédiaires par l'auditeur</vt:lpstr>
      <vt:lpstr>Vrai ou faux? Justifiez votre réponse.</vt:lpstr>
      <vt:lpstr>2.Vrai ou faux? Justifiez votre réponse.</vt:lpstr>
      <vt:lpstr>3.Vrai ou faux? Justifiez votre réponse.</vt:lpstr>
      <vt:lpstr>En pratique : quand les EF n’ont pas fait l’objet d’un examen intermédiaire</vt:lpstr>
      <vt:lpstr>4.Laquelle des procédures suivantes est normalement appliquée dans le cadre d’un examen des EF intermédiaires? Justifiez votre choix</vt:lpstr>
      <vt:lpstr>5.Vrai ou faux? Justifiez votre réponse.</vt:lpstr>
      <vt:lpstr>6. Normalement, l'auditeur de l'entité :</vt:lpstr>
      <vt:lpstr>7.Vrai ou Faux? Justifiez votre réponse.</vt:lpstr>
      <vt:lpstr>8.Vrai ou faux?  Justifiez votre réponse.</vt:lpstr>
      <vt:lpstr>9.Cette déclaration apparaît sur la première page du rapport semestriel du Fonds Fidelity Répartition d’actifs canadiens</vt:lpstr>
      <vt:lpstr>Parmi les affirmations qui suivent, laquelle est juste?</vt:lpstr>
      <vt:lpstr>10.Discutez.</vt:lpstr>
      <vt:lpstr>Quelques exemples de notes</vt:lpstr>
      <vt:lpstr>Caractère saisonnier - note</vt:lpstr>
      <vt:lpstr>Caractère saisonnier - note</vt:lpstr>
      <vt:lpstr>États financiers trimestriels- le défi que posent les estimations des stocks Le Château (T3 – 2013)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États financiers intermédiaires</dc:title>
  <dc:creator>Client</dc:creator>
  <cp:keywords>4-938-16 (DESS-CPA)</cp:keywords>
  <cp:lastModifiedBy>Louise Overbeek</cp:lastModifiedBy>
  <cp:revision>1358</cp:revision>
  <cp:lastPrinted>2015-12-22T23:57:48Z</cp:lastPrinted>
  <dcterms:created xsi:type="dcterms:W3CDTF">2014-03-23T14:55:49Z</dcterms:created>
  <dcterms:modified xsi:type="dcterms:W3CDTF">2022-02-11T03:07:46Z</dcterms:modified>
</cp:coreProperties>
</file>