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2_434ED992.xml" ContentType="application/vnd.ms-powerpoint.comments+xml"/>
  <Override PartName="/ppt/comments/modernComment_103_8C19312C.xml" ContentType="application/vnd.ms-powerpoint.comments+xml"/>
  <Override PartName="/ppt/comments/modernComment_105_7D9C08B7.xml" ContentType="application/vnd.ms-powerpoint.comments+xml"/>
  <Override PartName="/ppt/comments/modernComment_10C_2AA66B28.xml" ContentType="application/vnd.ms-powerpoint.comments+xml"/>
  <Override PartName="/ppt/comments/modernComment_10E_3F61DF5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2"/>
  </p:handoutMasterIdLst>
  <p:sldIdLst>
    <p:sldId id="257" r:id="rId2"/>
    <p:sldId id="258" r:id="rId3"/>
    <p:sldId id="279" r:id="rId4"/>
    <p:sldId id="259" r:id="rId5"/>
    <p:sldId id="260" r:id="rId6"/>
    <p:sldId id="261" r:id="rId7"/>
    <p:sldId id="28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1" r:id="rId17"/>
    <p:sldId id="270" r:id="rId18"/>
    <p:sldId id="271" r:id="rId19"/>
    <p:sldId id="286" r:id="rId20"/>
    <p:sldId id="272" r:id="rId21"/>
    <p:sldId id="273" r:id="rId22"/>
    <p:sldId id="282" r:id="rId23"/>
    <p:sldId id="274" r:id="rId24"/>
    <p:sldId id="275" r:id="rId25"/>
    <p:sldId id="283" r:id="rId26"/>
    <p:sldId id="276" r:id="rId27"/>
    <p:sldId id="277" r:id="rId28"/>
    <p:sldId id="278" r:id="rId29"/>
    <p:sldId id="284" r:id="rId30"/>
    <p:sldId id="285" r:id="rId31"/>
  </p:sldIdLst>
  <p:sldSz cx="12192000" cy="6858000"/>
  <p:notesSz cx="7010400" cy="9296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FB975C-4C1D-EA33-8340-77B3D970F02F}" name="SOKRI Marzouk" initials="SM" userId="bca8937e5be247a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10C_2AA66B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E9CDAC5-7791-4C25-A25E-CEDD8A7CD4A5}" authorId="{28FB975C-4C1D-EA33-8340-77B3D970F02F}" created="2025-01-07T13:42:56.2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549480" sldId="268"/>
      <ac:spMk id="3" creationId="{00000000-0000-0000-0000-000000000000}"/>
      <ac:txMk cp="379" len="179">
        <ac:context len="559" hash="3719011251"/>
      </ac:txMk>
    </ac:txMkLst>
    <p188:pos x="10125173" y="3707091"/>
    <p188:txBody>
      <a:bodyPr/>
      <a:lstStyle/>
      <a:p>
        <a:r>
          <a:rPr lang="fr-CA"/>
          <a:t>Les deux normes les plus questionner a l’EFC donc attention il faut bien comprendre les éléments de la norme retour a actif et résultat afin de bien le lier au cas </a:t>
        </a:r>
      </a:p>
    </p188:txBody>
  </p188:cm>
</p188:cmLst>
</file>

<file path=ppt/comments/modernComment_10E_3F61DF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EC429D-3079-4951-A6BF-9523E58D7C1B}" authorId="{28FB975C-4C1D-EA33-8340-77B3D970F02F}" created="2025-01-07T13:50:11.79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63378783" sldId="270"/>
      <ac:spMk id="3" creationId="{00000000-0000-0000-0000-000000000000}"/>
    </ac:deMkLst>
    <p188:txBody>
      <a:bodyPr/>
      <a:lstStyle/>
      <a:p>
        <a:r>
          <a:rPr lang="fr-CA"/>
          <a:t>Attention retour des QCM a l’EFC en 2027 
Donc on a pas le choix de le réussir des le premeir coups </a:t>
        </a:r>
      </a:p>
    </p188:txBody>
  </p188:cm>
</p188:cmLst>
</file>

<file path=ppt/comments/modernComment_102_434ED9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B1FA34-D442-4108-AE8A-46FA4B964112}" authorId="{28FB975C-4C1D-EA33-8340-77B3D970F02F}" created="2025-01-07T13:13:54.0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129240978" sldId="258"/>
      <ac:spMk id="3" creationId="{00000000-0000-0000-0000-000000000000}"/>
    </ac:deMkLst>
    <p188:txBody>
      <a:bodyPr/>
      <a:lstStyle/>
      <a:p>
        <a:r>
          <a:rPr lang="fr-CA"/>
          <a:t>Il faut être a jours avec les exigences de l’EFC donc faire les derniers examens </a:t>
        </a:r>
      </a:p>
    </p188:txBody>
  </p188:cm>
  <p188:cm id="{56AEEA0B-12AA-408E-B6CE-4F2265A616F5}" authorId="{28FB975C-4C1D-EA33-8340-77B3D970F02F}" created="2025-01-07T13:14:45.1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129240978" sldId="258"/>
      <ac:spMk id="3" creationId="{00000000-0000-0000-0000-000000000000}"/>
    </ac:deMkLst>
    <p188:replyLst>
      <p188:reply id="{F3C6D586-124B-46CF-809C-EBA01D5CB6B3}" authorId="{28FB975C-4C1D-EA33-8340-77B3D970F02F}" created="2025-01-07T13:15:53.516">
        <p188:txBody>
          <a:bodyPr/>
          <a:lstStyle/>
          <a:p>
            <a:r>
              <a:rPr lang="fr-CA"/>
              <a:t>Attention aux contrainte de temps </a:t>
            </a:r>
          </a:p>
        </p188:txBody>
      </p188:reply>
    </p188:replyLst>
    <p188:txBody>
      <a:bodyPr/>
      <a:lstStyle/>
      <a:p>
        <a:r>
          <a:rPr lang="fr-CA"/>
          <a:t>Donc c’est progressif par rapport aux grille de correction </a:t>
        </a:r>
      </a:p>
    </p188:txBody>
  </p188:cm>
</p188:cmLst>
</file>

<file path=ppt/comments/modernComment_103_8C19312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094807-FC1B-403B-BA67-D5F4D709A4E6}" authorId="{28FB975C-4C1D-EA33-8340-77B3D970F02F}" created="2025-01-07T13:23:10.61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50461228" sldId="259"/>
      <ac:spMk id="3" creationId="{00000000-0000-0000-0000-000000000000}"/>
    </ac:deMkLst>
    <p188:replyLst>
      <p188:reply id="{0BAAA141-4F75-4FD8-BAC5-F20A67C03FFD}" authorId="{28FB975C-4C1D-EA33-8340-77B3D970F02F}" created="2025-01-07T13:24:21.839">
        <p188:txBody>
          <a:bodyPr/>
          <a:lstStyle/>
          <a:p>
            <a:r>
              <a:rPr lang="fr-CA"/>
              <a:t>donc on cherche la démarche de l’analyse on revient toujours aux compétences habilitantes </a:t>
            </a:r>
          </a:p>
        </p188:txBody>
      </p188:reply>
    </p188:replyLst>
    <p188:txBody>
      <a:bodyPr/>
      <a:lstStyle/>
      <a:p>
        <a:r>
          <a:rPr lang="fr-CA"/>
          <a:t>Revoir les cas de module commun 1 attention il faut travailler le maximum et faire le max des cas et aussi il faut bien se concentrer </a:t>
        </a:r>
      </a:p>
    </p188:txBody>
  </p188:cm>
</p188:cmLst>
</file>

<file path=ppt/comments/modernComment_105_7D9C08B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8661661-D03A-47CF-8413-DB4BE518627B}" authorId="{28FB975C-4C1D-EA33-8340-77B3D970F02F}" created="2025-01-07T13:37:59.987">
    <pc:sldMkLst xmlns:pc="http://schemas.microsoft.com/office/powerpoint/2013/main/command">
      <pc:docMk/>
      <pc:sldMk cId="2107377847" sldId="261"/>
    </pc:sldMkLst>
    <p188:replyLst>
      <p188:reply id="{88BB3B39-C9F7-484A-B69D-8279EF00C4E4}" authorId="{28FB975C-4C1D-EA33-8340-77B3D970F02F}" created="2025-01-07T13:38:27.370">
        <p188:txBody>
          <a:bodyPr/>
          <a:lstStyle/>
          <a:p>
            <a:r>
              <a:rPr lang="fr-CA"/>
              <a:t>Pose elle la question sur le dictionnaire </a:t>
            </a:r>
          </a:p>
        </p188:txBody>
      </p188:reply>
    </p188:replyLst>
    <p188:txBody>
      <a:bodyPr/>
      <a:lstStyle/>
      <a:p>
        <a:r>
          <a:rPr lang="fr-CA"/>
          <a:t>Attention il faut utiliser beaucoup plus les normes il faut les savoir mieux que tes enfants 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23A607A-0839-452D-85D2-5C4E6491BD06}" type="datetimeFigureOut">
              <a:rPr lang="fr-CA" smtClean="0"/>
              <a:t>2025-01-07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67D7CD7-9C2C-4C65-9B9D-A70E56CDD43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26182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1F77-536B-4529-B224-D1591F8E735C}" type="datetimeFigureOut">
              <a:rPr lang="fr-CA" smtClean="0"/>
              <a:t>2025-01-07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4049-842F-4719-91E1-BC335062627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178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1F77-536B-4529-B224-D1591F8E735C}" type="datetimeFigureOut">
              <a:rPr lang="fr-CA" smtClean="0"/>
              <a:t>2025-01-07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4049-842F-4719-91E1-BC335062627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13726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1F77-536B-4529-B224-D1591F8E735C}" type="datetimeFigureOut">
              <a:rPr lang="fr-CA" smtClean="0"/>
              <a:t>2025-01-07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4049-842F-4719-91E1-BC335062627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8138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1F77-536B-4529-B224-D1591F8E735C}" type="datetimeFigureOut">
              <a:rPr lang="fr-CA" smtClean="0"/>
              <a:t>2025-01-07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4049-842F-4719-91E1-BC335062627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84384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1F77-536B-4529-B224-D1591F8E735C}" type="datetimeFigureOut">
              <a:rPr lang="fr-CA" smtClean="0"/>
              <a:t>2025-01-07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4049-842F-4719-91E1-BC335062627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0635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1F77-536B-4529-B224-D1591F8E735C}" type="datetimeFigureOut">
              <a:rPr lang="fr-CA" smtClean="0"/>
              <a:t>2025-01-07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4049-842F-4719-91E1-BC335062627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27988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1F77-536B-4529-B224-D1591F8E735C}" type="datetimeFigureOut">
              <a:rPr lang="fr-CA" smtClean="0"/>
              <a:t>2025-01-07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4049-842F-4719-91E1-BC335062627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5067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1F77-536B-4529-B224-D1591F8E735C}" type="datetimeFigureOut">
              <a:rPr lang="fr-CA" smtClean="0"/>
              <a:t>2025-01-07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4049-842F-4719-91E1-BC335062627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11845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1F77-536B-4529-B224-D1591F8E735C}" type="datetimeFigureOut">
              <a:rPr lang="fr-CA" smtClean="0"/>
              <a:t>2025-01-07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4049-842F-4719-91E1-BC335062627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40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1F77-536B-4529-B224-D1591F8E735C}" type="datetimeFigureOut">
              <a:rPr lang="fr-CA" smtClean="0"/>
              <a:t>2025-01-07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4049-842F-4719-91E1-BC335062627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8924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1F77-536B-4529-B224-D1591F8E735C}" type="datetimeFigureOut">
              <a:rPr lang="fr-CA" smtClean="0"/>
              <a:t>2025-01-07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4049-842F-4719-91E1-BC335062627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77289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81F77-536B-4529-B224-D1591F8E735C}" type="datetimeFigureOut">
              <a:rPr lang="fr-CA" smtClean="0"/>
              <a:t>2025-01-07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674049-842F-4719-91E1-BC335062627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773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434ED99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8C19312C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7D9C08B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C_2AA66B2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E_3F61DF5F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sz="3600" b="1" dirty="0"/>
              <a:t>40938</a:t>
            </a:r>
            <a:br>
              <a:rPr lang="fr-FR" b="1" dirty="0"/>
            </a:br>
            <a:r>
              <a:rPr lang="fr-FR" sz="4900" b="1" dirty="0"/>
              <a:t>Information financière : </a:t>
            </a:r>
            <a:br>
              <a:rPr lang="fr-FR" sz="4900" b="1" dirty="0"/>
            </a:br>
            <a:r>
              <a:rPr lang="fr-FR" sz="4900" b="1" dirty="0"/>
              <a:t>intégrité et conformité</a:t>
            </a:r>
            <a:br>
              <a:rPr lang="fr-FR" b="1" dirty="0"/>
            </a:br>
            <a:r>
              <a:rPr lang="fr-FR" b="1" dirty="0"/>
              <a:t>Introduction</a:t>
            </a:r>
            <a:endParaRPr lang="fr-FR" sz="3600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95600" y="4343400"/>
            <a:ext cx="6400800" cy="1318260"/>
          </a:xfrm>
        </p:spPr>
        <p:txBody>
          <a:bodyPr/>
          <a:lstStyle/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/>
              <a:t>Louise Overbeek</a:t>
            </a:r>
            <a:endParaRPr lang="fr-FR" sz="2000" dirty="0"/>
          </a:p>
          <a:p>
            <a:r>
              <a:rPr lang="fr-FR" sz="2000" dirty="0"/>
              <a:t>Hiver 2025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7323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Organisation du cours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199" y="2249214"/>
            <a:ext cx="10515599" cy="3815255"/>
          </a:xfrm>
        </p:spPr>
        <p:txBody>
          <a:bodyPr>
            <a:normAutofit fontScale="92500" lnSpcReduction="10000"/>
          </a:bodyPr>
          <a:lstStyle/>
          <a:p>
            <a:r>
              <a:rPr lang="fr-CA" sz="4000" dirty="0"/>
              <a:t>Référentiels IFRS et NCECF </a:t>
            </a:r>
          </a:p>
          <a:p>
            <a:pPr lvl="1"/>
            <a:r>
              <a:rPr lang="fr-CA" sz="3200" dirty="0"/>
              <a:t>Beaucoup de notions à revoir / à voir</a:t>
            </a:r>
          </a:p>
          <a:p>
            <a:pPr lvl="2"/>
            <a:r>
              <a:rPr lang="fr-CA" sz="2800" dirty="0"/>
              <a:t>L’ensemble des normes IFRS et NCECF</a:t>
            </a:r>
          </a:p>
          <a:p>
            <a:pPr lvl="3"/>
            <a:r>
              <a:rPr lang="fr-CA" sz="2800" dirty="0"/>
              <a:t>OSBL et secteur public non couverts </a:t>
            </a:r>
            <a:r>
              <a:rPr lang="fr-CA" sz="2400" dirty="0"/>
              <a:t>(seront couverts en 40916)</a:t>
            </a:r>
            <a:endParaRPr lang="fr-CA" sz="2800" dirty="0"/>
          </a:p>
          <a:p>
            <a:pPr lvl="2"/>
            <a:r>
              <a:rPr lang="fr-CA" sz="2800" dirty="0"/>
              <a:t>Rapidité pour trouver les extraits dans les référentiels</a:t>
            </a:r>
          </a:p>
          <a:p>
            <a:pPr lvl="3"/>
            <a:r>
              <a:rPr lang="fr-CA" sz="2600" dirty="0"/>
              <a:t>Ou connaître suffisamment les normes pour écrire dans vos mots</a:t>
            </a:r>
          </a:p>
          <a:p>
            <a:pPr marL="914400" lvl="2" indent="0">
              <a:buNone/>
            </a:pPr>
            <a:endParaRPr lang="fr-CA" sz="2400" dirty="0"/>
          </a:p>
          <a:p>
            <a:pPr lvl="1"/>
            <a:r>
              <a:rPr lang="fr-CA" sz="3200" dirty="0"/>
              <a:t>Plusieurs cas à préparer</a:t>
            </a:r>
          </a:p>
          <a:p>
            <a:pPr lvl="2"/>
            <a:r>
              <a:rPr lang="fr-CA" sz="2800" dirty="0">
                <a:solidFill>
                  <a:srgbClr val="0070C0"/>
                </a:solidFill>
              </a:rPr>
              <a:t>Lourde charge de travail</a:t>
            </a:r>
            <a:endParaRPr lang="fr-CA" sz="3600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endParaRPr lang="fr-CA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2409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Organisation du cours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199" y="2060027"/>
            <a:ext cx="10515599" cy="4432847"/>
          </a:xfrm>
        </p:spPr>
        <p:txBody>
          <a:bodyPr>
            <a:normAutofit fontScale="85000" lnSpcReduction="10000"/>
          </a:bodyPr>
          <a:lstStyle/>
          <a:p>
            <a:r>
              <a:rPr lang="fr-CA" sz="3600" dirty="0"/>
              <a:t>Stagiaires d’enseignement</a:t>
            </a:r>
          </a:p>
          <a:p>
            <a:pPr lvl="1"/>
            <a:r>
              <a:rPr lang="fr-CA" sz="3200" dirty="0"/>
              <a:t>Principalement dédiés au bac</a:t>
            </a:r>
          </a:p>
          <a:p>
            <a:pPr marL="457200" lvl="1" indent="0">
              <a:buNone/>
            </a:pPr>
            <a:endParaRPr lang="fr-CA" sz="1200" dirty="0"/>
          </a:p>
          <a:p>
            <a:pPr marL="457200" lvl="1" indent="0">
              <a:buNone/>
            </a:pPr>
            <a:endParaRPr lang="fr-CA" sz="1200" dirty="0"/>
          </a:p>
          <a:p>
            <a:r>
              <a:rPr lang="fr-CA" sz="3600" dirty="0" err="1"/>
              <a:t>ZoneCours</a:t>
            </a:r>
            <a:endParaRPr lang="fr-CA" sz="3600" dirty="0"/>
          </a:p>
          <a:p>
            <a:pPr lvl="1"/>
            <a:r>
              <a:rPr lang="fr-CA" sz="3200" dirty="0"/>
              <a:t>Respecter les échéances des remises - heure (fiches, cas…)</a:t>
            </a:r>
          </a:p>
          <a:p>
            <a:pPr lvl="2"/>
            <a:r>
              <a:rPr lang="fr-CA" sz="2800" dirty="0">
                <a:solidFill>
                  <a:srgbClr val="FF0000"/>
                </a:solidFill>
              </a:rPr>
              <a:t>sinon la note 0 sera attribuée, et aucune correction</a:t>
            </a:r>
          </a:p>
          <a:p>
            <a:pPr lvl="2"/>
            <a:r>
              <a:rPr lang="fr-CA" sz="2800" dirty="0">
                <a:solidFill>
                  <a:srgbClr val="0070C0"/>
                </a:solidFill>
              </a:rPr>
              <a:t>Assurez-vous de déposer la bonne version, vous ne pourrez modifier le document déposé (</a:t>
            </a:r>
            <a:r>
              <a:rPr lang="fr-CA" sz="2800" u="sng" dirty="0">
                <a:solidFill>
                  <a:srgbClr val="0070C0"/>
                </a:solidFill>
              </a:rPr>
              <a:t>et </a:t>
            </a:r>
            <a:r>
              <a:rPr lang="fr-CA" sz="2800" u="sng" dirty="0">
                <a:solidFill>
                  <a:srgbClr val="FF0000"/>
                </a:solidFill>
                <a:highlight>
                  <a:srgbClr val="FFFF00"/>
                </a:highlight>
              </a:rPr>
              <a:t>les remises par courriel ne seront pas acceptées</a:t>
            </a:r>
            <a:r>
              <a:rPr lang="fr-CA" sz="2800" dirty="0">
                <a:solidFill>
                  <a:srgbClr val="0070C0"/>
                </a:solidFill>
              </a:rPr>
              <a:t>)</a:t>
            </a:r>
          </a:p>
          <a:p>
            <a:pPr marL="914400" lvl="2" indent="0">
              <a:buNone/>
            </a:pPr>
            <a:endParaRPr lang="fr-CA" sz="1400" dirty="0"/>
          </a:p>
          <a:p>
            <a:pPr lvl="2"/>
            <a:r>
              <a:rPr lang="fr-CA" sz="2800" dirty="0"/>
              <a:t>Remises format Word / Excel uniquement</a:t>
            </a:r>
          </a:p>
          <a:p>
            <a:pPr lvl="2"/>
            <a:r>
              <a:rPr lang="fr-CA" sz="2800" dirty="0"/>
              <a:t>Sauvegarder les fichiers avec votre </a:t>
            </a:r>
            <a:r>
              <a:rPr lang="fr-CA" sz="2800" b="1" dirty="0">
                <a:solidFill>
                  <a:srgbClr val="0070C0"/>
                </a:solidFill>
              </a:rPr>
              <a:t>nom</a:t>
            </a:r>
            <a:r>
              <a:rPr lang="fr-CA" sz="2800" dirty="0"/>
              <a:t>, titre du travail (voir plan de cours)</a:t>
            </a:r>
            <a:endParaRPr lang="fr-CA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9285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Objectifs du cours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39310"/>
            <a:ext cx="10515600" cy="4517040"/>
          </a:xfrm>
        </p:spPr>
        <p:txBody>
          <a:bodyPr>
            <a:normAutofit/>
          </a:bodyPr>
          <a:lstStyle/>
          <a:p>
            <a:r>
              <a:rPr lang="fr-CA" dirty="0"/>
              <a:t>Maîtrise référentiels IFRS et NCECF</a:t>
            </a:r>
          </a:p>
          <a:p>
            <a:pPr lvl="1"/>
            <a:r>
              <a:rPr lang="fr-CA" dirty="0"/>
              <a:t>Établissement/critique   de   méthodes/traitements comptables</a:t>
            </a:r>
          </a:p>
          <a:p>
            <a:pPr lvl="2"/>
            <a:r>
              <a:rPr lang="fr-CA" sz="2400" dirty="0"/>
              <a:t>Maîtrise des connaissances en information financière</a:t>
            </a:r>
          </a:p>
          <a:p>
            <a:pPr lvl="2"/>
            <a:r>
              <a:rPr lang="fr-CA" sz="2400" dirty="0"/>
              <a:t>Connaissances </a:t>
            </a:r>
            <a:r>
              <a:rPr lang="fr-CA" sz="2400" u="sng" dirty="0"/>
              <a:t>appliquées</a:t>
            </a:r>
            <a:r>
              <a:rPr lang="fr-CA" sz="2400" dirty="0"/>
              <a:t> dans un contexte de cas</a:t>
            </a:r>
          </a:p>
          <a:p>
            <a:pPr lvl="3"/>
            <a:r>
              <a:rPr lang="fr-CA" sz="2400" dirty="0"/>
              <a:t>Pas d’approche théorique (de « dumping »)</a:t>
            </a:r>
            <a:endParaRPr lang="fr-CA" sz="2000" dirty="0"/>
          </a:p>
          <a:p>
            <a:pPr lvl="2"/>
            <a:r>
              <a:rPr lang="fr-CA" sz="2400" dirty="0"/>
              <a:t>Connaissances évaluées selon l’approche par compétences</a:t>
            </a:r>
          </a:p>
          <a:p>
            <a:pPr lvl="2"/>
            <a:endParaRPr lang="fr-CA" dirty="0"/>
          </a:p>
          <a:p>
            <a:pPr lvl="1"/>
            <a:r>
              <a:rPr lang="fr-CA" dirty="0"/>
              <a:t>Ce cours prépare pour l’EFC mais va parfois au-delà du niveau de connaissance exigé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04612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Cas utilisés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3337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fr-CA" sz="3200" dirty="0"/>
              <a:t>Accent sur les enjeux comptables</a:t>
            </a:r>
          </a:p>
          <a:p>
            <a:pPr marL="0" indent="0">
              <a:buNone/>
            </a:pPr>
            <a:endParaRPr lang="fr-CA" sz="1050" dirty="0"/>
          </a:p>
          <a:p>
            <a:pPr lvl="1"/>
            <a:r>
              <a:rPr lang="fr-CA" sz="2800" dirty="0"/>
              <a:t>Identification </a:t>
            </a:r>
            <a:r>
              <a:rPr lang="fr-CA" dirty="0"/>
              <a:t>(nature du poste)</a:t>
            </a:r>
          </a:p>
          <a:p>
            <a:pPr marL="457200" lvl="1" indent="0">
              <a:buNone/>
            </a:pPr>
            <a:endParaRPr lang="fr-CA" dirty="0"/>
          </a:p>
          <a:p>
            <a:pPr lvl="1"/>
            <a:r>
              <a:rPr lang="fr-CA" sz="2800" dirty="0"/>
              <a:t>Moment de comptabilisation/constatation</a:t>
            </a:r>
          </a:p>
          <a:p>
            <a:pPr marL="457200" lvl="1" indent="0">
              <a:buNone/>
            </a:pPr>
            <a:endParaRPr lang="fr-CA" dirty="0"/>
          </a:p>
          <a:p>
            <a:pPr lvl="1"/>
            <a:r>
              <a:rPr lang="fr-CA" sz="2800" dirty="0"/>
              <a:t>Mesure</a:t>
            </a:r>
          </a:p>
          <a:p>
            <a:pPr lvl="2"/>
            <a:r>
              <a:rPr lang="fr-CA" sz="2800" dirty="0"/>
              <a:t>Initiale et subséquente</a:t>
            </a:r>
          </a:p>
          <a:p>
            <a:pPr marL="914400" lvl="2" indent="0">
              <a:buNone/>
            </a:pPr>
            <a:endParaRPr lang="fr-CA" sz="2800" dirty="0"/>
          </a:p>
          <a:p>
            <a:pPr lvl="1"/>
            <a:r>
              <a:rPr lang="fr-CA" sz="2800" dirty="0"/>
              <a:t>Présentation </a:t>
            </a:r>
          </a:p>
          <a:p>
            <a:pPr lvl="2"/>
            <a:r>
              <a:rPr lang="fr-CA" sz="2800" dirty="0"/>
              <a:t>note?</a:t>
            </a:r>
            <a:endParaRPr lang="fr-CA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2851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Approche pédagogique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56441" y="1714501"/>
            <a:ext cx="10397359" cy="4411663"/>
          </a:xfrm>
        </p:spPr>
        <p:txBody>
          <a:bodyPr>
            <a:normAutofit/>
          </a:bodyPr>
          <a:lstStyle/>
          <a:p>
            <a:r>
              <a:rPr lang="fr-CA" dirty="0"/>
              <a:t>Enseignement magistral</a:t>
            </a:r>
          </a:p>
          <a:p>
            <a:pPr lvl="1"/>
            <a:r>
              <a:rPr lang="fr-CA" dirty="0"/>
              <a:t>Plusieurs documents synthèses disponibles, certains en format avec audio</a:t>
            </a:r>
          </a:p>
          <a:p>
            <a:pPr lvl="2"/>
            <a:r>
              <a:rPr lang="fr-CA" sz="2400" dirty="0"/>
              <a:t>Peut avoir à revoir certaines notions comptables (IFRS / NCECF) pour résoudre les cas, pour mieux maîtriser certaines notions</a:t>
            </a:r>
          </a:p>
          <a:p>
            <a:pPr lvl="2"/>
            <a:r>
              <a:rPr lang="fr-CA" sz="2400" dirty="0"/>
              <a:t>Certains documents niveau « bac » disponibles – optionnel</a:t>
            </a:r>
          </a:p>
          <a:p>
            <a:pPr lvl="3"/>
            <a:r>
              <a:rPr lang="fr-CA" sz="2200" dirty="0"/>
              <a:t>Niveau acquisition des connaissances</a:t>
            </a:r>
          </a:p>
          <a:p>
            <a:pPr lvl="3"/>
            <a:r>
              <a:rPr lang="fr-CA" sz="2200" dirty="0"/>
              <a:t>Alors que EFC est application des connaissances</a:t>
            </a:r>
          </a:p>
          <a:p>
            <a:pPr marL="914400" lvl="2" indent="0">
              <a:buNone/>
            </a:pPr>
            <a:endParaRPr lang="fr-CA" dirty="0"/>
          </a:p>
          <a:p>
            <a:r>
              <a:rPr lang="fr-CA" dirty="0"/>
              <a:t>Rétroaction sur les cas </a:t>
            </a:r>
          </a:p>
          <a:p>
            <a:pPr lvl="1"/>
            <a:r>
              <a:rPr lang="fr-CA" dirty="0"/>
              <a:t>Qui auront été préparés avant et parfois pendant la séance en classe</a:t>
            </a:r>
          </a:p>
          <a:p>
            <a:pPr lvl="2"/>
            <a:r>
              <a:rPr lang="fr-CA" sz="2400" dirty="0"/>
              <a:t>Individuellement / en équipe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3778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3B3B8-3C8E-4C77-8BF3-23C66B11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Format des cours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122A2F-7894-49CA-BDE6-3765C85C4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En présentiel / à distance</a:t>
            </a:r>
          </a:p>
          <a:p>
            <a:pPr lvl="1"/>
            <a:r>
              <a:rPr lang="fr-CA" i="1" dirty="0">
                <a:solidFill>
                  <a:srgbClr val="FF0000"/>
                </a:solidFill>
              </a:rPr>
              <a:t>Séances à distance : 7 et 12</a:t>
            </a:r>
          </a:p>
        </p:txBody>
      </p:sp>
    </p:spTree>
    <p:extLst>
      <p:ext uri="{BB962C8B-B14F-4D97-AF65-F5344CB8AC3E}">
        <p14:creationId xmlns:p14="http://schemas.microsoft.com/office/powerpoint/2010/main" val="4209978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C87ECB4-A20D-4708-81EE-FA8D6ECF9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1" y="1128713"/>
            <a:ext cx="8178799" cy="4600575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77ECF43-4AE8-4AF2-B7FE-8BC3E06A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1950" y="6356351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79E831-8B4F-8947-B719-B3666B4E8645}" type="slidenum">
              <a:rPr lang="fr-FR" smtClean="0"/>
              <a:pPr>
                <a:spcAft>
                  <a:spcPts val="600"/>
                </a:spcAft>
              </a:pPr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3188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CB21B2B-F500-4D05-81AC-0CE32A2F3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1" y="1128713"/>
            <a:ext cx="8178799" cy="4600575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2158188-F600-4B59-9958-C63CE6725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1950" y="6356351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79E831-8B4F-8947-B719-B3666B4E8645}" type="slidenum">
              <a:rPr lang="fr-FR" smtClean="0"/>
              <a:pPr>
                <a:spcAft>
                  <a:spcPts val="600"/>
                </a:spcAft>
              </a:pPr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2870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B580E4D-2FA1-45C4-8430-621133C4A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1" y="1128713"/>
            <a:ext cx="8178799" cy="4600575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625828C-B546-4E6B-A8AC-9EFE6F8B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1950" y="6356351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79E831-8B4F-8947-B719-B3666B4E8645}" type="slidenum">
              <a:rPr lang="fr-FR" smtClean="0"/>
              <a:pPr>
                <a:spcAft>
                  <a:spcPts val="600"/>
                </a:spcAft>
              </a:pPr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513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8BFAD0C-2A4E-4885-B2BD-CEE8D4A80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1" y="1128713"/>
            <a:ext cx="8178799" cy="4600575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A72F16-0EA8-49B2-BBEE-BDCCA3BB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1950" y="6356351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79E831-8B4F-8947-B719-B3666B4E8645}" type="slidenum">
              <a:rPr lang="fr-FR" smtClean="0"/>
              <a:pPr>
                <a:spcAft>
                  <a:spcPts val="600"/>
                </a:spcAft>
              </a:pPr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065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Matériel pédagogique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6"/>
          </a:xfrm>
        </p:spPr>
        <p:txBody>
          <a:bodyPr>
            <a:normAutofit fontScale="85000" lnSpcReduction="20000"/>
          </a:bodyPr>
          <a:lstStyle/>
          <a:p>
            <a:r>
              <a:rPr lang="fr-CA" dirty="0"/>
              <a:t>Manuel de CPA Canada</a:t>
            </a:r>
          </a:p>
          <a:p>
            <a:pPr lvl="1"/>
            <a:r>
              <a:rPr lang="fr-CA" dirty="0"/>
              <a:t>IFRS</a:t>
            </a:r>
          </a:p>
          <a:p>
            <a:pPr marL="914400" lvl="2" indent="0">
              <a:buNone/>
            </a:pPr>
            <a:endParaRPr lang="fr-CA" dirty="0"/>
          </a:p>
          <a:p>
            <a:pPr lvl="1"/>
            <a:r>
              <a:rPr lang="fr-CA" dirty="0"/>
              <a:t>NCECF</a:t>
            </a:r>
          </a:p>
          <a:p>
            <a:pPr lvl="2"/>
            <a:r>
              <a:rPr lang="fr-CA" dirty="0"/>
              <a:t>Guide sur les normes comptables pour les entreprises à capital fermé (dans la bibli HEC) - </a:t>
            </a:r>
            <a:r>
              <a:rPr lang="fr-CA" i="1" dirty="0"/>
              <a:t>pas pour les simulations</a:t>
            </a:r>
            <a:endParaRPr lang="fr-CA" dirty="0"/>
          </a:p>
          <a:p>
            <a:pPr lvl="3"/>
            <a:r>
              <a:rPr lang="fr-CA" dirty="0"/>
              <a:t>Pas dans votre lien </a:t>
            </a:r>
            <a:r>
              <a:rPr lang="fr-CA" dirty="0" err="1"/>
              <a:t>Knotia</a:t>
            </a:r>
            <a:r>
              <a:rPr lang="fr-CA" dirty="0"/>
              <a:t> reçu de CPA</a:t>
            </a:r>
          </a:p>
          <a:p>
            <a:pPr marL="914400" lvl="2" indent="0">
              <a:buNone/>
            </a:pPr>
            <a:endParaRPr lang="fr-CA" sz="1000" dirty="0"/>
          </a:p>
          <a:p>
            <a:pPr lvl="3"/>
            <a:r>
              <a:rPr lang="fr-CA" sz="2400" dirty="0">
                <a:solidFill>
                  <a:srgbClr val="0070C0"/>
                </a:solidFill>
              </a:rPr>
              <a:t>Il faut lire les normes!!!</a:t>
            </a:r>
          </a:p>
          <a:p>
            <a:pPr lvl="3"/>
            <a:r>
              <a:rPr lang="fr-CA" sz="2400" i="1" dirty="0">
                <a:solidFill>
                  <a:srgbClr val="0070C0"/>
                </a:solidFill>
              </a:rPr>
              <a:t>télécharger les référentiels avant les examens – juste au cas</a:t>
            </a:r>
          </a:p>
          <a:p>
            <a:pPr lvl="4"/>
            <a:r>
              <a:rPr lang="fr-CA" sz="2400" i="1" dirty="0">
                <a:solidFill>
                  <a:srgbClr val="FF0000"/>
                </a:solidFill>
              </a:rPr>
              <a:t>Ne pas annoter la version qui sera utilisée pour les examens</a:t>
            </a:r>
          </a:p>
          <a:p>
            <a:pPr marL="0" indent="0">
              <a:buNone/>
            </a:pPr>
            <a:endParaRPr lang="fr-CA" sz="1500" dirty="0"/>
          </a:p>
          <a:p>
            <a:r>
              <a:rPr lang="fr-CA" dirty="0"/>
              <a:t>Ressources utilisées au bac</a:t>
            </a:r>
          </a:p>
          <a:p>
            <a:endParaRPr lang="fr-CA" sz="1600" dirty="0"/>
          </a:p>
          <a:p>
            <a:r>
              <a:rPr lang="fr-CA" dirty="0"/>
              <a:t>Autres ressources</a:t>
            </a:r>
          </a:p>
          <a:p>
            <a:pPr lvl="1"/>
            <a:r>
              <a:rPr lang="fr-CA" dirty="0"/>
              <a:t>Publications de CPA Canada et de diverses firmes comptables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4021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Sommaire des évaluations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fr-CA" dirty="0"/>
              <a:t>« Fiches » sur deux normes			  3 %</a:t>
            </a:r>
          </a:p>
          <a:p>
            <a:pPr marL="0" indent="0">
              <a:buNone/>
            </a:pPr>
            <a:endParaRPr lang="fr-CA" sz="1400" dirty="0"/>
          </a:p>
          <a:p>
            <a:r>
              <a:rPr lang="fr-CA" dirty="0"/>
              <a:t>Rapports d’analyse de cas et autres 		15 %</a:t>
            </a:r>
          </a:p>
          <a:p>
            <a:pPr lvl="1"/>
            <a:r>
              <a:rPr lang="fr-CA" dirty="0"/>
              <a:t>Plusieurs cas à préparer</a:t>
            </a:r>
          </a:p>
          <a:p>
            <a:pPr marL="457200" lvl="1" indent="0">
              <a:buNone/>
            </a:pPr>
            <a:endParaRPr lang="fr-CA" sz="1400" dirty="0"/>
          </a:p>
          <a:p>
            <a:r>
              <a:rPr lang="fr-CA" dirty="0"/>
              <a:t>Carte mentale					  2 %</a:t>
            </a:r>
          </a:p>
          <a:p>
            <a:pPr lvl="1"/>
            <a:r>
              <a:rPr lang="fr-CA" dirty="0"/>
              <a:t>Séance 10</a:t>
            </a:r>
          </a:p>
          <a:p>
            <a:endParaRPr lang="fr-CA" sz="1400" dirty="0"/>
          </a:p>
          <a:p>
            <a:r>
              <a:rPr lang="fr-CA" dirty="0"/>
              <a:t>Examen intra					40 %</a:t>
            </a:r>
          </a:p>
          <a:p>
            <a:pPr lvl="1"/>
            <a:r>
              <a:rPr lang="fr-CA" dirty="0"/>
              <a:t>3 heures (un cas) – </a:t>
            </a:r>
            <a:r>
              <a:rPr lang="fr-CA" i="1" dirty="0"/>
              <a:t>en présentiel</a:t>
            </a:r>
            <a:endParaRPr lang="fr-CA" i="1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endParaRPr lang="fr-CA" sz="1400" dirty="0"/>
          </a:p>
          <a:p>
            <a:r>
              <a:rPr lang="fr-CA" dirty="0"/>
              <a:t>Examen final					40 %</a:t>
            </a:r>
          </a:p>
          <a:p>
            <a:pPr lvl="1"/>
            <a:r>
              <a:rPr lang="fr-CA" dirty="0"/>
              <a:t>3 heures (un cas) – </a:t>
            </a:r>
            <a:r>
              <a:rPr lang="fr-CA" i="1" dirty="0"/>
              <a:t>en présentiel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2722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Sommaire des évaluations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00200"/>
            <a:ext cx="10428890" cy="4756150"/>
          </a:xfrm>
        </p:spPr>
        <p:txBody>
          <a:bodyPr>
            <a:normAutofit fontScale="92500" lnSpcReduction="10000"/>
          </a:bodyPr>
          <a:lstStyle/>
          <a:p>
            <a:r>
              <a:rPr lang="fr-CA" sz="3600" b="1" dirty="0"/>
              <a:t>« Fiches » sur deux normes	</a:t>
            </a:r>
          </a:p>
          <a:p>
            <a:pPr lvl="1"/>
            <a:r>
              <a:rPr lang="fr-CA" dirty="0"/>
              <a:t>Devra couvrir IFRS + NCECF</a:t>
            </a:r>
          </a:p>
          <a:p>
            <a:pPr lvl="2"/>
            <a:r>
              <a:rPr lang="fr-CA" dirty="0"/>
              <a:t>Pas obligatoire multidisciplinaires</a:t>
            </a:r>
          </a:p>
          <a:p>
            <a:pPr lvl="1"/>
            <a:r>
              <a:rPr lang="fr-CA" b="1" dirty="0"/>
              <a:t>Vos </a:t>
            </a:r>
            <a:r>
              <a:rPr lang="fr-CA" dirty="0"/>
              <a:t>éléments à retenir – et non un « résumé » des normes</a:t>
            </a:r>
          </a:p>
          <a:p>
            <a:pPr lvl="2"/>
            <a:r>
              <a:rPr lang="fr-CA" dirty="0"/>
              <a:t>Document « vivant », donc non manuscrit</a:t>
            </a:r>
          </a:p>
          <a:p>
            <a:pPr marL="914400" lvl="2" indent="0">
              <a:buNone/>
            </a:pPr>
            <a:endParaRPr lang="fr-CA" dirty="0"/>
          </a:p>
          <a:p>
            <a:pPr lvl="1"/>
            <a:r>
              <a:rPr lang="fr-CA" dirty="0"/>
              <a:t>2 documents à remettre (individuel), format </a:t>
            </a:r>
            <a:r>
              <a:rPr lang="fr-CA" dirty="0" err="1"/>
              <a:t>word</a:t>
            </a:r>
            <a:r>
              <a:rPr lang="fr-CA" dirty="0"/>
              <a:t> ou </a:t>
            </a:r>
            <a:r>
              <a:rPr lang="fr-CA" dirty="0" err="1"/>
              <a:t>excel</a:t>
            </a:r>
            <a:r>
              <a:rPr lang="fr-CA" dirty="0"/>
              <a:t> ou graphique</a:t>
            </a:r>
          </a:p>
          <a:p>
            <a:pPr lvl="2"/>
            <a:r>
              <a:rPr lang="fr-CA" dirty="0"/>
              <a:t>Sur </a:t>
            </a:r>
            <a:r>
              <a:rPr lang="fr-CA" dirty="0" err="1"/>
              <a:t>ZoneCours</a:t>
            </a:r>
            <a:r>
              <a:rPr lang="fr-CA" dirty="0"/>
              <a:t> </a:t>
            </a:r>
          </a:p>
          <a:p>
            <a:pPr marL="914400" lvl="2" indent="0">
              <a:buNone/>
            </a:pPr>
            <a:endParaRPr lang="fr-CA" sz="1000" dirty="0"/>
          </a:p>
          <a:p>
            <a:pPr lvl="2"/>
            <a:r>
              <a:rPr lang="fr-CA" sz="2600" dirty="0">
                <a:solidFill>
                  <a:srgbClr val="0070C0"/>
                </a:solidFill>
                <a:highlight>
                  <a:srgbClr val="C0C0C0"/>
                </a:highlight>
              </a:rPr>
              <a:t>(Secteur agricole : couvrir les deux référentiels) : </a:t>
            </a:r>
          </a:p>
          <a:p>
            <a:pPr lvl="3"/>
            <a:r>
              <a:rPr lang="fr-CA" sz="2400" dirty="0">
                <a:highlight>
                  <a:srgbClr val="C0C0C0"/>
                </a:highlight>
              </a:rPr>
              <a:t>à préparer avant la séance 4 mais pas à remettre</a:t>
            </a:r>
          </a:p>
          <a:p>
            <a:pPr lvl="2"/>
            <a:r>
              <a:rPr lang="fr-CA" sz="2600" dirty="0">
                <a:solidFill>
                  <a:srgbClr val="0070C0"/>
                </a:solidFill>
              </a:rPr>
              <a:t>Produits : couvrir les deux référentiels, </a:t>
            </a:r>
            <a:r>
              <a:rPr lang="fr-CA" sz="2600" i="1" dirty="0">
                <a:solidFill>
                  <a:srgbClr val="0070C0"/>
                </a:solidFill>
              </a:rPr>
              <a:t>ne pas oublier les annexes</a:t>
            </a:r>
          </a:p>
          <a:p>
            <a:pPr lvl="2"/>
            <a:r>
              <a:rPr lang="fr-CA" sz="2600" dirty="0">
                <a:solidFill>
                  <a:srgbClr val="0070C0"/>
                </a:solidFill>
              </a:rPr>
              <a:t>Actifs incorporels : couvrir les deux référentiels, </a:t>
            </a:r>
            <a:r>
              <a:rPr lang="fr-CA" sz="2600" i="1" dirty="0">
                <a:solidFill>
                  <a:srgbClr val="0070C0"/>
                </a:solidFill>
              </a:rPr>
              <a:t>ressortir les différences NCECF au lieu de faire en double</a:t>
            </a:r>
            <a:endParaRPr lang="fr-CA" sz="2400" i="1" dirty="0">
              <a:solidFill>
                <a:srgbClr val="0070C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55494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Sommaire des évaluations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b="1" dirty="0"/>
              <a:t>Rapports d’analyse de cas et autres activités	</a:t>
            </a:r>
          </a:p>
          <a:p>
            <a:pPr lvl="1"/>
            <a:r>
              <a:rPr lang="fr-CA" dirty="0"/>
              <a:t>Plusieurs cas</a:t>
            </a:r>
            <a:endParaRPr lang="fr-CA" sz="2000" dirty="0"/>
          </a:p>
          <a:p>
            <a:pPr lvl="2"/>
            <a:r>
              <a:rPr lang="fr-CA" dirty="0"/>
              <a:t>Remise sur </a:t>
            </a:r>
            <a:r>
              <a:rPr lang="fr-CA" dirty="0" err="1"/>
              <a:t>ZoneCours</a:t>
            </a:r>
            <a:endParaRPr lang="fr-CA" dirty="0"/>
          </a:p>
          <a:p>
            <a:pPr lvl="1"/>
            <a:r>
              <a:rPr lang="fr-CA" dirty="0"/>
              <a:t>Pas de consultation auprès des enseignantes ni stagiaires avant la remise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Règles plagiat : pour les cas individuels, discussions « préliminaires » autorisées (et non solution finale), pas d’échanges de fichiers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725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Sommaire des évaluations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b="1" dirty="0"/>
              <a:t>Carte mentale</a:t>
            </a:r>
            <a:r>
              <a:rPr lang="fr-CA" dirty="0"/>
              <a:t>				</a:t>
            </a:r>
          </a:p>
          <a:p>
            <a:pPr lvl="1"/>
            <a:r>
              <a:rPr lang="fr-CA" dirty="0"/>
              <a:t>Création d’une carte mentale, sur une norme à être déterminée avec l’enseignante – </a:t>
            </a:r>
            <a:r>
              <a:rPr lang="fr-CA" i="1" dirty="0"/>
              <a:t>norme que vous croyez avoir le plus besoin de travailler en équipe</a:t>
            </a:r>
            <a:endParaRPr lang="fr-CA" dirty="0"/>
          </a:p>
          <a:p>
            <a:pPr lvl="2"/>
            <a:r>
              <a:rPr lang="fr-CA" dirty="0"/>
              <a:t>Suivi d’une courte présentation au groupe</a:t>
            </a:r>
          </a:p>
          <a:p>
            <a:pPr lvl="1"/>
            <a:r>
              <a:rPr lang="fr-CA" dirty="0"/>
              <a:t>Travail en équipe, pendant la séance 10</a:t>
            </a:r>
          </a:p>
          <a:p>
            <a:pPr lvl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1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Sommaire des évaluations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b="1" dirty="0"/>
              <a:t>Examens intra et final</a:t>
            </a:r>
          </a:p>
          <a:p>
            <a:pPr lvl="1"/>
            <a:r>
              <a:rPr lang="fr-CA" dirty="0">
                <a:solidFill>
                  <a:srgbClr val="FF0000"/>
                </a:solidFill>
              </a:rPr>
              <a:t>Sur Word / Excel, pas de PDF</a:t>
            </a:r>
          </a:p>
          <a:p>
            <a:pPr lvl="1"/>
            <a:r>
              <a:rPr lang="fr-CA" dirty="0"/>
              <a:t>Silence svp lors des dernières minutes</a:t>
            </a:r>
          </a:p>
          <a:p>
            <a:pPr lvl="2"/>
            <a:r>
              <a:rPr lang="fr-CA" dirty="0"/>
              <a:t>Important de remettre les bons fichiers - pénalité</a:t>
            </a:r>
          </a:p>
          <a:p>
            <a:pPr marL="457200" lvl="1" indent="0">
              <a:buNone/>
            </a:pPr>
            <a:endParaRPr lang="fr-CA" dirty="0"/>
          </a:p>
          <a:p>
            <a:r>
              <a:rPr lang="fr-CA" dirty="0"/>
              <a:t>Politique calculatrice </a:t>
            </a:r>
          </a:p>
          <a:p>
            <a:pPr lvl="1"/>
            <a:r>
              <a:rPr lang="fr-CA" dirty="0"/>
              <a:t>Homologation HEC</a:t>
            </a:r>
          </a:p>
          <a:p>
            <a:pPr lvl="1"/>
            <a:r>
              <a:rPr lang="fr-CA" dirty="0"/>
              <a:t>Mais forte préférence de vous habituer à utiliser Excel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3787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Organisation des séances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Séance 1</a:t>
            </a:r>
            <a:r>
              <a:rPr lang="fr-CA" sz="2400" dirty="0"/>
              <a:t> :</a:t>
            </a:r>
            <a:endParaRPr lang="fr-CA" sz="2400" i="1" dirty="0"/>
          </a:p>
          <a:p>
            <a:r>
              <a:rPr lang="fr-CA" sz="2400" dirty="0"/>
              <a:t>Référentiels comptables, cadres conceptuels et présentation de l’information financière  </a:t>
            </a:r>
          </a:p>
          <a:p>
            <a:r>
              <a:rPr lang="fr-CA" sz="2400" dirty="0"/>
              <a:t>Revue de certaines normes NCECF et IFRS</a:t>
            </a:r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Séance 2 </a:t>
            </a:r>
            <a:r>
              <a:rPr lang="fr-CA" sz="2400" dirty="0"/>
              <a:t>:</a:t>
            </a:r>
          </a:p>
          <a:p>
            <a:r>
              <a:rPr lang="fr-CA" sz="2400" dirty="0"/>
              <a:t>Analyse de cas </a:t>
            </a:r>
          </a:p>
          <a:p>
            <a:r>
              <a:rPr lang="fr-CA" sz="2400" dirty="0"/>
              <a:t>Revue de certaines normes NCECF et IFRS </a:t>
            </a:r>
          </a:p>
          <a:p>
            <a:pPr marL="0" indent="0">
              <a:buNone/>
            </a:pPr>
            <a:r>
              <a:rPr lang="fr-CA" sz="2400" dirty="0">
                <a:solidFill>
                  <a:srgbClr val="00B0F0"/>
                </a:solidFill>
              </a:rPr>
              <a:t>Remise : travail sur l’intelligence artificielle</a:t>
            </a:r>
          </a:p>
          <a:p>
            <a:pPr marL="0" indent="0">
              <a:buNone/>
            </a:pPr>
            <a:r>
              <a:rPr lang="fr-CA" sz="2400" i="1" dirty="0">
                <a:solidFill>
                  <a:srgbClr val="00B0F0"/>
                </a:solidFill>
              </a:rPr>
              <a:t>Les dates de remise sont identifiées dans ZoneCours dans la section Remises</a:t>
            </a:r>
            <a:endParaRPr lang="fr-CA" sz="2400" dirty="0">
              <a:solidFill>
                <a:srgbClr val="00B0F0"/>
              </a:solidFill>
              <a:highlight>
                <a:srgbClr val="C0C0C0"/>
              </a:highligh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CA" sz="2400" dirty="0"/>
              <a:t>Rédaction d’un cas à faire après la séance (ONM/OEA) – pas de remise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201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Organisation des séances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Travail sur l’intelligence artificielle</a:t>
            </a:r>
            <a:r>
              <a:rPr lang="fr-CA" sz="2400" b="1" dirty="0"/>
              <a:t> – en équipe de 4</a:t>
            </a:r>
            <a:r>
              <a:rPr lang="fr-CA" sz="24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A" sz="2400" i="1" dirty="0"/>
              <a:t> Poser une question « précise » en français en lien avec les normes NCECF, sur un site gratuit ; valider / corriger la réponse obtenue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A" sz="2400" dirty="0"/>
              <a:t>Insérer une capture d’écran</a:t>
            </a:r>
          </a:p>
          <a:p>
            <a:pPr marL="0" indent="0">
              <a:buNone/>
            </a:pPr>
            <a:r>
              <a:rPr lang="fr-CA" sz="2400" b="1" dirty="0">
                <a:solidFill>
                  <a:srgbClr val="0070C0"/>
                </a:solidFill>
              </a:rPr>
              <a:t>Corr : 	1 pt pour la pertinence de la question</a:t>
            </a:r>
          </a:p>
          <a:p>
            <a:pPr marL="0" indent="0">
              <a:buNone/>
            </a:pPr>
            <a:r>
              <a:rPr lang="fr-CA" sz="2400" b="1" dirty="0">
                <a:solidFill>
                  <a:srgbClr val="0070C0"/>
                </a:solidFill>
              </a:rPr>
              <a:t>	1 pt pour le travail de validation de la réponse obtenue</a:t>
            </a:r>
          </a:p>
          <a:p>
            <a:pPr marL="0" indent="0">
              <a:buNone/>
            </a:pPr>
            <a:endParaRPr lang="fr-CA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Vidéo – préparation d’une fiche aide-mémoire</a:t>
            </a:r>
            <a:r>
              <a:rPr lang="fr-CA" sz="24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A" sz="2400" i="1" dirty="0"/>
              <a:t> Lire la norme sur les ONM et sur les stocks avant le visionnement</a:t>
            </a:r>
            <a:endParaRPr lang="fr-CA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0893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Organisation des séances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199" y="1509205"/>
            <a:ext cx="10587361" cy="51312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CA" sz="2600" b="1" dirty="0">
                <a:solidFill>
                  <a:srgbClr val="FF0000"/>
                </a:solidFill>
              </a:rPr>
              <a:t>Séance 3 </a:t>
            </a:r>
            <a:r>
              <a:rPr lang="fr-CA" sz="2400" dirty="0"/>
              <a:t>:</a:t>
            </a:r>
          </a:p>
          <a:p>
            <a:r>
              <a:rPr lang="fr-CA" sz="2400" dirty="0"/>
              <a:t>Juste valeur  </a:t>
            </a:r>
          </a:p>
          <a:p>
            <a:r>
              <a:rPr lang="fr-CA" sz="2400" dirty="0"/>
              <a:t>Parties prenantes et gestion des résultats (éthique)</a:t>
            </a:r>
          </a:p>
          <a:p>
            <a:r>
              <a:rPr lang="fr-CA" sz="2400" dirty="0"/>
              <a:t>Revue de certaines normes NCECF et IFRS </a:t>
            </a:r>
          </a:p>
          <a:p>
            <a:pPr marL="0" indent="0">
              <a:buNone/>
            </a:pPr>
            <a:r>
              <a:rPr lang="fr-CA" sz="2400" dirty="0">
                <a:solidFill>
                  <a:srgbClr val="00B0F0"/>
                </a:solidFill>
              </a:rPr>
              <a:t>Remise auto-correction d’un cas à faire après la séance : API</a:t>
            </a:r>
          </a:p>
          <a:p>
            <a:r>
              <a:rPr lang="fr-CA" sz="2400" dirty="0">
                <a:solidFill>
                  <a:srgbClr val="00B0F0"/>
                </a:solidFill>
              </a:rPr>
              <a:t>Corr : traces correction sur le rapport ; grille complétée incluant section du haut ; section rétro globale : points forts, à améliorer, plan d’action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A" sz="2400" dirty="0"/>
              <a:t>Cas Pièces Extra également disponible pour pratique NCECF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A" sz="2400" dirty="0"/>
              <a:t>Préparer une fiche sur les normes du secteur agricole – IFRS et NCECF (pas à remettre)</a:t>
            </a:r>
          </a:p>
          <a:p>
            <a:pPr marL="457200" lvl="1" indent="0">
              <a:buNone/>
            </a:pPr>
            <a:endParaRPr lang="fr-CA" sz="800" dirty="0"/>
          </a:p>
          <a:p>
            <a:pPr marL="457200" lvl="1" indent="0">
              <a:buNone/>
            </a:pPr>
            <a:endParaRPr lang="fr-CA" sz="800" dirty="0"/>
          </a:p>
          <a:p>
            <a:pPr marL="0" indent="0">
              <a:buNone/>
            </a:pPr>
            <a:r>
              <a:rPr lang="fr-CA" sz="2600" b="1" dirty="0">
                <a:solidFill>
                  <a:srgbClr val="FF0000"/>
                </a:solidFill>
              </a:rPr>
              <a:t>Séance 4</a:t>
            </a:r>
            <a:r>
              <a:rPr lang="fr-CA" sz="2400" dirty="0"/>
              <a:t> :</a:t>
            </a:r>
          </a:p>
          <a:p>
            <a:r>
              <a:rPr lang="fr-CA" sz="2400" dirty="0"/>
              <a:t>Activités agricoles</a:t>
            </a:r>
          </a:p>
          <a:p>
            <a:r>
              <a:rPr lang="fr-CA" sz="2400" dirty="0"/>
              <a:t>Immeubles de placement</a:t>
            </a:r>
          </a:p>
          <a:p>
            <a:r>
              <a:rPr lang="fr-CA" sz="2400" dirty="0"/>
              <a:t>Rapport financier intermédiaire, Secteurs opérationnels</a:t>
            </a:r>
          </a:p>
          <a:p>
            <a:pPr marL="0" indent="0">
              <a:buNone/>
            </a:pPr>
            <a:r>
              <a:rPr lang="fr-CA" sz="2400" dirty="0">
                <a:solidFill>
                  <a:srgbClr val="00B0F0"/>
                </a:solidFill>
              </a:rPr>
              <a:t>Remise rédaction (en équipe de 4) d’un cas à faire après la séance </a:t>
            </a:r>
            <a:endParaRPr lang="fr-CA" sz="2400" i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fr-CA" sz="2400" dirty="0"/>
              <a:t>Ajuster au besoin votre fiche Agriculture après la séance</a:t>
            </a:r>
          </a:p>
          <a:p>
            <a:pPr marL="0" indent="0">
              <a:buNone/>
            </a:pPr>
            <a:endParaRPr lang="fr-CA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5091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Organisation des séances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35421" y="1690688"/>
            <a:ext cx="10195034" cy="46405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Séance 5 </a:t>
            </a:r>
            <a:r>
              <a:rPr lang="fr-CA" sz="2400" dirty="0"/>
              <a:t>:</a:t>
            </a:r>
          </a:p>
          <a:p>
            <a:r>
              <a:rPr lang="fr-CA" sz="2400" dirty="0"/>
              <a:t>Retour sur le cas remis (en équipe)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A" sz="2400" dirty="0"/>
              <a:t>Revoir les notions sur les instruments financiers avant la séance 6</a:t>
            </a:r>
          </a:p>
          <a:p>
            <a:pPr marL="0" indent="0">
              <a:buNone/>
            </a:pPr>
            <a:endParaRPr lang="fr-CA" sz="1900" dirty="0"/>
          </a:p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Séance 6</a:t>
            </a:r>
            <a:r>
              <a:rPr lang="fr-CA" sz="2400" dirty="0"/>
              <a:t> :</a:t>
            </a:r>
          </a:p>
          <a:p>
            <a:r>
              <a:rPr lang="fr-CA" sz="2400" dirty="0"/>
              <a:t>Instruments financiers</a:t>
            </a:r>
          </a:p>
          <a:p>
            <a:r>
              <a:rPr lang="fr-CA" sz="2400" dirty="0"/>
              <a:t>Revue de certaines normes NCECF et IFRS</a:t>
            </a:r>
          </a:p>
          <a:p>
            <a:r>
              <a:rPr lang="fr-CA" sz="2400" dirty="0"/>
              <a:t>Exercice base de données</a:t>
            </a:r>
          </a:p>
          <a:p>
            <a:pPr marL="0" indent="0">
              <a:buNone/>
            </a:pPr>
            <a:r>
              <a:rPr lang="fr-CA" sz="2400" dirty="0">
                <a:solidFill>
                  <a:srgbClr val="00B0F0"/>
                </a:solidFill>
              </a:rPr>
              <a:t>Remise d’une correction mutuelle d’un cas à faire après la séance</a:t>
            </a:r>
          </a:p>
          <a:p>
            <a:r>
              <a:rPr lang="fr-CA" sz="2400" dirty="0">
                <a:solidFill>
                  <a:srgbClr val="00B0F0"/>
                </a:solidFill>
              </a:rPr>
              <a:t>Remise au collègue avant le 18 février 22h00</a:t>
            </a:r>
          </a:p>
          <a:p>
            <a:r>
              <a:rPr lang="fr-CA" sz="2400" dirty="0">
                <a:solidFill>
                  <a:srgbClr val="00B0F0"/>
                </a:solidFill>
              </a:rPr>
              <a:t>Corr : commentaires constructifs ; grille complétée, incluant section du haut ; rétro globale : points forts, à améliorer, plan d’action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3248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Organisation des séances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35421" y="1690688"/>
            <a:ext cx="10195034" cy="46405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Séance 7</a:t>
            </a:r>
            <a:r>
              <a:rPr lang="fr-CA" sz="2400" dirty="0"/>
              <a:t> :  </a:t>
            </a:r>
            <a:r>
              <a:rPr lang="fr-CA" sz="2400" b="1" dirty="0">
                <a:highlight>
                  <a:srgbClr val="FFFF00"/>
                </a:highlight>
              </a:rPr>
              <a:t>séance zoom</a:t>
            </a:r>
          </a:p>
          <a:p>
            <a:r>
              <a:rPr lang="fr-CA" sz="2400" dirty="0"/>
              <a:t>Rédaction individuelle</a:t>
            </a:r>
          </a:p>
          <a:p>
            <a:r>
              <a:rPr lang="fr-CA" sz="2400" dirty="0"/>
              <a:t>Discussion en sous-groupes</a:t>
            </a:r>
          </a:p>
          <a:p>
            <a:pPr marL="0" indent="0">
              <a:buNone/>
            </a:pPr>
            <a:r>
              <a:rPr lang="fr-CA" sz="2400" dirty="0">
                <a:solidFill>
                  <a:srgbClr val="00B0F0"/>
                </a:solidFill>
              </a:rPr>
              <a:t>Remise solution (en équipe de 4) – à compléter pendant la séance</a:t>
            </a:r>
          </a:p>
          <a:p>
            <a:pPr marL="0" indent="0">
              <a:buNone/>
            </a:pPr>
            <a:r>
              <a:rPr lang="fr-CA" sz="2400" dirty="0">
                <a:solidFill>
                  <a:srgbClr val="00B0F0"/>
                </a:solidFill>
              </a:rPr>
              <a:t>Corr : participation active aux discussions de l’équipe</a:t>
            </a:r>
          </a:p>
          <a:p>
            <a:pPr marL="0" indent="0">
              <a:buNone/>
            </a:pPr>
            <a:endParaRPr lang="fr-CA" sz="24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Intra</a:t>
            </a:r>
            <a:r>
              <a:rPr lang="fr-CA" sz="2400" dirty="0"/>
              <a:t> : un cas de trois heures, à faire </a:t>
            </a:r>
            <a:r>
              <a:rPr lang="fr-CA" sz="2400" i="1" dirty="0">
                <a:solidFill>
                  <a:srgbClr val="FF0000"/>
                </a:solidFill>
              </a:rPr>
              <a:t>en présentiel </a:t>
            </a:r>
            <a:endParaRPr lang="fr-CA" sz="24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fr-CA" sz="2400" dirty="0">
              <a:solidFill>
                <a:srgbClr val="00B0F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912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Organisation des séances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199" y="1624013"/>
            <a:ext cx="10515599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Séance 8</a:t>
            </a:r>
            <a:r>
              <a:rPr lang="fr-CA" sz="2400" dirty="0"/>
              <a:t> :</a:t>
            </a:r>
          </a:p>
          <a:p>
            <a:r>
              <a:rPr lang="fr-CA" sz="2400" dirty="0"/>
              <a:t>Rétroaction de l’examen intra, version corrigée sera déposée sur ZoneCours</a:t>
            </a:r>
          </a:p>
          <a:p>
            <a:r>
              <a:rPr lang="fr-CA" sz="2400" dirty="0"/>
              <a:t>Introduction sur les notions liées aux placements stratégiques</a:t>
            </a:r>
          </a:p>
          <a:p>
            <a:pPr marL="0" indent="0">
              <a:buNone/>
            </a:pPr>
            <a:r>
              <a:rPr lang="fr-CA" sz="2400" dirty="0">
                <a:solidFill>
                  <a:srgbClr val="00B0F0"/>
                </a:solidFill>
              </a:rPr>
              <a:t>Remise rétro sur intra : points forts, points à améliorer et plan d’action à la suite de l’intra</a:t>
            </a:r>
          </a:p>
          <a:p>
            <a:pPr marL="0" indent="0">
              <a:buNone/>
            </a:pPr>
            <a:r>
              <a:rPr lang="fr-CA" sz="2400" dirty="0">
                <a:solidFill>
                  <a:srgbClr val="00B0F0"/>
                </a:solidFill>
              </a:rPr>
              <a:t>Remise rédaction individuelle d’un cas – peut être fait en consultation avec un collègue, mais rédaction individuelle</a:t>
            </a:r>
          </a:p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Séance 9</a:t>
            </a:r>
            <a:r>
              <a:rPr lang="fr-CA" sz="2400" dirty="0"/>
              <a:t> :</a:t>
            </a:r>
          </a:p>
          <a:p>
            <a:pPr marL="0" indent="0">
              <a:buNone/>
            </a:pPr>
            <a:r>
              <a:rPr lang="fr-CA" sz="2400" dirty="0"/>
              <a:t>Placements stratégiques</a:t>
            </a:r>
          </a:p>
          <a:p>
            <a:pPr marL="0" indent="0">
              <a:buNone/>
            </a:pPr>
            <a:r>
              <a:rPr lang="fr-CA" sz="2400" dirty="0"/>
              <a:t>Regroupements d’entreprises</a:t>
            </a:r>
          </a:p>
          <a:p>
            <a:pPr marL="0" indent="0">
              <a:buNone/>
            </a:pPr>
            <a:r>
              <a:rPr lang="fr-CA" sz="2400" dirty="0">
                <a:solidFill>
                  <a:srgbClr val="00B0F0"/>
                </a:solidFill>
              </a:rPr>
              <a:t>Remise fiches Immobilisations incorporelles - 23 mars</a:t>
            </a:r>
          </a:p>
          <a:p>
            <a:pPr marL="0" indent="0">
              <a:buNone/>
            </a:pPr>
            <a:r>
              <a:rPr lang="fr-CA" sz="2400" dirty="0"/>
              <a:t>Correction fiche immobilisations incorporelles : ressortir les concepts importants de la norme IFRS, préciser quand cela diffère en NCECF (et non faire en double)</a:t>
            </a:r>
          </a:p>
          <a:p>
            <a:pPr marL="0" indent="0">
              <a:buNone/>
            </a:pPr>
            <a:endParaRPr lang="fr-CA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966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Organisation des séances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Séance 10 </a:t>
            </a:r>
            <a:r>
              <a:rPr lang="fr-CA" sz="2400" dirty="0"/>
              <a:t>:</a:t>
            </a:r>
          </a:p>
          <a:p>
            <a:r>
              <a:rPr lang="fr-CA" sz="2400" dirty="0"/>
              <a:t>Produits</a:t>
            </a:r>
          </a:p>
          <a:p>
            <a:r>
              <a:rPr lang="fr-CA" sz="2400" dirty="0"/>
              <a:t>Immobilisations corporelles</a:t>
            </a:r>
          </a:p>
          <a:p>
            <a:r>
              <a:rPr lang="fr-CA" sz="2400" dirty="0"/>
              <a:t>Immobilisations incorporelles</a:t>
            </a:r>
          </a:p>
          <a:p>
            <a:r>
              <a:rPr lang="fr-CA" sz="2400" dirty="0"/>
              <a:t>Contrats de location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A" sz="2400" dirty="0"/>
              <a:t> préparation d’une « carte mentale » en équipe (2h30)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000" dirty="0"/>
              <a:t>Présentation au groupe (30 min)</a:t>
            </a:r>
          </a:p>
          <a:p>
            <a:pPr marL="0" indent="0">
              <a:buNone/>
            </a:pPr>
            <a:r>
              <a:rPr lang="fr-CA" sz="2400" dirty="0">
                <a:solidFill>
                  <a:srgbClr val="00B0F0"/>
                </a:solidFill>
              </a:rPr>
              <a:t>Corr : Participation active à l’activité de la carte mentale préparée en équipe pendant la séance</a:t>
            </a:r>
          </a:p>
          <a:p>
            <a:pPr marL="0" indent="0">
              <a:buNone/>
            </a:pPr>
            <a:r>
              <a:rPr lang="fr-CA" sz="2400" dirty="0">
                <a:solidFill>
                  <a:srgbClr val="00B0F0"/>
                </a:solidFill>
              </a:rPr>
              <a:t>Remise rédaction en équipe de 4 d’un cas à faire après la séance</a:t>
            </a:r>
          </a:p>
          <a:p>
            <a:pPr marL="0" indent="0">
              <a:buNone/>
            </a:pPr>
            <a:r>
              <a:rPr lang="fr-CA" sz="2400" dirty="0">
                <a:solidFill>
                  <a:srgbClr val="00B0F0"/>
                </a:solidFill>
              </a:rPr>
              <a:t>Remise fiche sur les produits – IFRS et NCECF, incluant les annexes – 30 mars</a:t>
            </a:r>
            <a:endParaRPr lang="fr-CA" sz="800" dirty="0"/>
          </a:p>
          <a:p>
            <a:pPr marL="0" indent="0">
              <a:buNone/>
            </a:pPr>
            <a:endParaRPr lang="fr-CA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73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Organisation des séances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Séance 11 </a:t>
            </a:r>
            <a:r>
              <a:rPr lang="fr-CA" sz="2400" dirty="0"/>
              <a:t>:</a:t>
            </a:r>
          </a:p>
          <a:p>
            <a:r>
              <a:rPr lang="fr-CA" sz="2400" dirty="0"/>
              <a:t>Retour sur le cas remis en équipe</a:t>
            </a:r>
          </a:p>
          <a:p>
            <a:r>
              <a:rPr lang="fr-CA" sz="2400" dirty="0"/>
              <a:t>Complément sujets séance 10</a:t>
            </a:r>
          </a:p>
          <a:p>
            <a:pPr marL="0" indent="0">
              <a:buNone/>
            </a:pPr>
            <a:r>
              <a:rPr lang="fr-CA" sz="2400" dirty="0">
                <a:solidFill>
                  <a:srgbClr val="00B0F0"/>
                </a:solidFill>
              </a:rPr>
              <a:t>Remise travail en équipe de 4 portant sur le rapport de gestion après la séance</a:t>
            </a:r>
          </a:p>
          <a:p>
            <a:endParaRPr lang="fr-CA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048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Organisation des séances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00200"/>
            <a:ext cx="10428890" cy="467487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CA" sz="2400" dirty="0"/>
          </a:p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Séance 12 </a:t>
            </a:r>
            <a:r>
              <a:rPr lang="fr-CA" sz="2400" dirty="0"/>
              <a:t>: </a:t>
            </a:r>
            <a:r>
              <a:rPr lang="fr-CA" sz="2400" b="1" dirty="0">
                <a:highlight>
                  <a:srgbClr val="FFFF00"/>
                </a:highlight>
              </a:rPr>
              <a:t>séance zoom</a:t>
            </a:r>
            <a:endParaRPr lang="fr-CA" sz="2400" dirty="0"/>
          </a:p>
          <a:p>
            <a:r>
              <a:rPr lang="fr-CA" sz="2400" dirty="0"/>
              <a:t>Retour sur travail rapports de gestion</a:t>
            </a:r>
          </a:p>
          <a:p>
            <a:r>
              <a:rPr lang="fr-CA" sz="2400" dirty="0"/>
              <a:t>Compléter sujets séance 10</a:t>
            </a:r>
          </a:p>
          <a:p>
            <a:r>
              <a:rPr lang="fr-CA" sz="2400" dirty="0"/>
              <a:t>Autres demandes?</a:t>
            </a:r>
          </a:p>
          <a:p>
            <a:endParaRPr lang="fr-CA" sz="2000" dirty="0"/>
          </a:p>
          <a:p>
            <a:pPr lvl="1"/>
            <a:endParaRPr lang="fr-CA" dirty="0"/>
          </a:p>
          <a:p>
            <a:pPr marL="0" indent="0">
              <a:buNone/>
            </a:pPr>
            <a:r>
              <a:rPr lang="fr-CA" sz="2400" b="1" dirty="0">
                <a:solidFill>
                  <a:srgbClr val="FF0000"/>
                </a:solidFill>
              </a:rPr>
              <a:t>Final</a:t>
            </a:r>
            <a:r>
              <a:rPr lang="fr-CA" sz="2400" dirty="0"/>
              <a:t> : un cas de trois heures, </a:t>
            </a:r>
            <a:r>
              <a:rPr lang="fr-CA" sz="2400" i="1" dirty="0">
                <a:solidFill>
                  <a:srgbClr val="FF0000"/>
                </a:solidFill>
              </a:rPr>
              <a:t>en présentiel </a:t>
            </a:r>
            <a:endParaRPr lang="fr-CA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022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Inscription au cours obligatoire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Se présenter au groupe-cours dans lequel vous êtes inscrit</a:t>
            </a:r>
          </a:p>
          <a:p>
            <a:pPr lvl="1"/>
            <a:r>
              <a:rPr lang="fr-CA" dirty="0"/>
              <a:t>Sur une base exceptionnelle, vous pouvez assister dans un autre groupe-cours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5123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CA" dirty="0"/>
          </a:p>
          <a:p>
            <a:pPr marL="0" indent="0" algn="ctr">
              <a:buNone/>
            </a:pPr>
            <a:r>
              <a:rPr lang="fr-CA" sz="5400" dirty="0"/>
              <a:t>BONNE SESSION!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9E831-8B4F-8947-B719-B3666B4E8645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114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A076B-04B8-4A65-B558-BD1F1B309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Liste des travaux à remettre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F55B23-E9E5-4333-B168-8D9C12536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12 janvier 20h00 : travail sur l’intelligence artificielle </a:t>
            </a:r>
            <a:r>
              <a:rPr lang="fr-CA" i="1" dirty="0"/>
              <a:t>– 2 pt</a:t>
            </a:r>
          </a:p>
          <a:p>
            <a:r>
              <a:rPr lang="fr-CA" dirty="0"/>
              <a:t>26 janvier 20h00 : auto-correction cas API </a:t>
            </a:r>
            <a:r>
              <a:rPr lang="fr-CA" i="1" dirty="0"/>
              <a:t>– 1 pt</a:t>
            </a:r>
          </a:p>
          <a:p>
            <a:r>
              <a:rPr lang="fr-CA" dirty="0"/>
              <a:t>2 février 20h00 : rédaction cas en équipe de 4 </a:t>
            </a:r>
            <a:r>
              <a:rPr lang="fr-CA" i="1" dirty="0"/>
              <a:t>– 3 pts</a:t>
            </a:r>
          </a:p>
          <a:p>
            <a:r>
              <a:rPr lang="fr-CA" dirty="0"/>
              <a:t>21 février 20h00 : correction mutuelle cas intra session antérieure ; remise au collègue 18 février 22h00 </a:t>
            </a:r>
            <a:r>
              <a:rPr lang="fr-CA" i="1" dirty="0"/>
              <a:t>– 2 pts</a:t>
            </a:r>
            <a:endParaRPr lang="fr-CA" dirty="0"/>
          </a:p>
          <a:p>
            <a:r>
              <a:rPr lang="fr-CA" dirty="0"/>
              <a:t>à la fin de la séance 7 : solution en équipe d’un cas, rédigée en classe </a:t>
            </a:r>
            <a:r>
              <a:rPr lang="fr-CA" i="1" dirty="0"/>
              <a:t>– 1 pt</a:t>
            </a:r>
            <a:endParaRPr lang="fr-CA" dirty="0"/>
          </a:p>
          <a:p>
            <a:r>
              <a:rPr lang="fr-CA" dirty="0"/>
              <a:t>24 février 9h00 à 12h00 </a:t>
            </a:r>
            <a:r>
              <a:rPr lang="fr-CA" i="1" dirty="0">
                <a:solidFill>
                  <a:srgbClr val="FF0000"/>
                </a:solidFill>
              </a:rPr>
              <a:t>à confirmer </a:t>
            </a:r>
            <a:r>
              <a:rPr lang="fr-CA" dirty="0"/>
              <a:t>: remise rédaction intra –</a:t>
            </a:r>
            <a:r>
              <a:rPr lang="fr-CA" i="1" dirty="0"/>
              <a:t> 40 pts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37884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A076B-04B8-4A65-B558-BD1F1B309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Liste des travaux à remettre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F55B23-E9E5-4333-B168-8D9C12536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A" dirty="0"/>
              <a:t>16 mars 20h00 : retour sur intra (points forts, points à améliorer, plan d’action) </a:t>
            </a:r>
            <a:r>
              <a:rPr lang="fr-CA" i="1" dirty="0"/>
              <a:t>– 1 pt</a:t>
            </a:r>
          </a:p>
          <a:p>
            <a:r>
              <a:rPr lang="fr-CA" dirty="0"/>
              <a:t>16 mars 20h00 : rédaction individuelle cas sur le regroupement </a:t>
            </a:r>
            <a:r>
              <a:rPr lang="fr-CA" i="1" dirty="0"/>
              <a:t>– 1 pt</a:t>
            </a:r>
          </a:p>
          <a:p>
            <a:r>
              <a:rPr lang="fr-CA" dirty="0"/>
              <a:t>23 mars 20h00 : fiche Immobilisations incorporelles </a:t>
            </a:r>
            <a:r>
              <a:rPr lang="fr-CA" i="1" dirty="0"/>
              <a:t>– 1 pts</a:t>
            </a:r>
            <a:endParaRPr lang="fr-CA" dirty="0"/>
          </a:p>
          <a:p>
            <a:r>
              <a:rPr lang="fr-CA" dirty="0"/>
              <a:t>Séance 10 : participation active à la préparation d’une carte mentale en équipe de 4, pendant la séance </a:t>
            </a:r>
            <a:r>
              <a:rPr lang="fr-CA" i="1" dirty="0"/>
              <a:t>– 2 pts</a:t>
            </a:r>
            <a:endParaRPr lang="fr-CA" dirty="0"/>
          </a:p>
          <a:p>
            <a:r>
              <a:rPr lang="fr-CA" dirty="0"/>
              <a:t>30 mars 20h00 : rédaction cas Cirque en équipe de 4 </a:t>
            </a:r>
            <a:r>
              <a:rPr lang="fr-CA" i="1" dirty="0"/>
              <a:t>– 3 pts</a:t>
            </a:r>
            <a:endParaRPr lang="fr-CA" dirty="0"/>
          </a:p>
          <a:p>
            <a:r>
              <a:rPr lang="fr-CA" dirty="0"/>
              <a:t>30 mars 20h00 : fiche Produits </a:t>
            </a:r>
            <a:r>
              <a:rPr lang="fr-CA" i="1" dirty="0"/>
              <a:t>– 2 pts </a:t>
            </a:r>
          </a:p>
          <a:p>
            <a:r>
              <a:rPr lang="fr-CA" dirty="0"/>
              <a:t>6 avril 20h00 : travail rapport de gestion en équipe de 4 </a:t>
            </a:r>
            <a:r>
              <a:rPr lang="fr-CA" i="1" dirty="0"/>
              <a:t>– 1 pt</a:t>
            </a:r>
            <a:endParaRPr lang="fr-CA" dirty="0"/>
          </a:p>
          <a:p>
            <a:r>
              <a:rPr lang="fr-CA" dirty="0"/>
              <a:t>22 avril 9h00 à 12h00 </a:t>
            </a:r>
            <a:r>
              <a:rPr lang="fr-CA" i="1" dirty="0">
                <a:solidFill>
                  <a:srgbClr val="FF0000"/>
                </a:solidFill>
              </a:rPr>
              <a:t>à confirmer </a:t>
            </a:r>
            <a:r>
              <a:rPr lang="fr-CA" dirty="0"/>
              <a:t>: remise rédaction final –</a:t>
            </a:r>
            <a:r>
              <a:rPr lang="fr-CA" i="1" dirty="0"/>
              <a:t> 40 pts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55707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2869</TotalTime>
  <Words>1657</Words>
  <Application>Microsoft Office PowerPoint</Application>
  <PresentationFormat>Grand écran</PresentationFormat>
  <Paragraphs>268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Wingdings</vt:lpstr>
      <vt:lpstr>Thème Office</vt:lpstr>
      <vt:lpstr>40938 Information financière :  intégrité et conformité Introduction</vt:lpstr>
      <vt:lpstr>Organisation du cours</vt:lpstr>
      <vt:lpstr>Organisation du cours</vt:lpstr>
      <vt:lpstr>Objectifs du cours</vt:lpstr>
      <vt:lpstr>Cas utilisés</vt:lpstr>
      <vt:lpstr>Approche pédagogique</vt:lpstr>
      <vt:lpstr>Format des cours</vt:lpstr>
      <vt:lpstr>Présentation PowerPoint</vt:lpstr>
      <vt:lpstr>Présentation PowerPoint</vt:lpstr>
      <vt:lpstr>Présentation PowerPoint</vt:lpstr>
      <vt:lpstr>Présentation PowerPoint</vt:lpstr>
      <vt:lpstr>Matériel pédagogique</vt:lpstr>
      <vt:lpstr>Sommaire des évaluations</vt:lpstr>
      <vt:lpstr>Sommaire des évaluations</vt:lpstr>
      <vt:lpstr>Sommaire des évaluations</vt:lpstr>
      <vt:lpstr>Sommaire des évaluations</vt:lpstr>
      <vt:lpstr>Sommaire des évaluations</vt:lpstr>
      <vt:lpstr>Organisation des séances</vt:lpstr>
      <vt:lpstr>Organisation des séances</vt:lpstr>
      <vt:lpstr>Organisation des séances</vt:lpstr>
      <vt:lpstr>Organisation des séances</vt:lpstr>
      <vt:lpstr>Organisation des séances</vt:lpstr>
      <vt:lpstr>Organisation des séances</vt:lpstr>
      <vt:lpstr>Organisation des séances</vt:lpstr>
      <vt:lpstr>Organisation des séances</vt:lpstr>
      <vt:lpstr>Organisation des séances</vt:lpstr>
      <vt:lpstr>Inscription au cours obligatoire</vt:lpstr>
      <vt:lpstr>Présentation PowerPoint</vt:lpstr>
      <vt:lpstr>Liste des travaux à remettre</vt:lpstr>
      <vt:lpstr>Liste des travaux à remettre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louise overbeek</dc:creator>
  <cp:lastModifiedBy>SOKRI Marzouk</cp:lastModifiedBy>
  <cp:revision>38</cp:revision>
  <cp:lastPrinted>2021-09-02T11:20:57Z</cp:lastPrinted>
  <dcterms:created xsi:type="dcterms:W3CDTF">2019-08-22T15:24:30Z</dcterms:created>
  <dcterms:modified xsi:type="dcterms:W3CDTF">2025-01-07T14:04:13Z</dcterms:modified>
</cp:coreProperties>
</file>