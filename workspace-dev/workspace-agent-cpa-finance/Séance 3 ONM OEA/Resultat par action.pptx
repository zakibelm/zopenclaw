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8_DE6D949E.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67"/>
  </p:notesMasterIdLst>
  <p:sldIdLst>
    <p:sldId id="256" r:id="rId2"/>
    <p:sldId id="306" r:id="rId3"/>
    <p:sldId id="283" r:id="rId4"/>
    <p:sldId id="257" r:id="rId5"/>
    <p:sldId id="259" r:id="rId6"/>
    <p:sldId id="307" r:id="rId7"/>
    <p:sldId id="264" r:id="rId8"/>
    <p:sldId id="263" r:id="rId9"/>
    <p:sldId id="266" r:id="rId10"/>
    <p:sldId id="311" r:id="rId11"/>
    <p:sldId id="310" r:id="rId12"/>
    <p:sldId id="261" r:id="rId13"/>
    <p:sldId id="267" r:id="rId14"/>
    <p:sldId id="268" r:id="rId15"/>
    <p:sldId id="285" r:id="rId16"/>
    <p:sldId id="260" r:id="rId17"/>
    <p:sldId id="269" r:id="rId18"/>
    <p:sldId id="270" r:id="rId19"/>
    <p:sldId id="312" r:id="rId20"/>
    <p:sldId id="316" r:id="rId21"/>
    <p:sldId id="317" r:id="rId22"/>
    <p:sldId id="313" r:id="rId23"/>
    <p:sldId id="318" r:id="rId24"/>
    <p:sldId id="314" r:id="rId25"/>
    <p:sldId id="289" r:id="rId26"/>
    <p:sldId id="271" r:id="rId27"/>
    <p:sldId id="272" r:id="rId28"/>
    <p:sldId id="319" r:id="rId29"/>
    <p:sldId id="320" r:id="rId30"/>
    <p:sldId id="276" r:id="rId31"/>
    <p:sldId id="277" r:id="rId32"/>
    <p:sldId id="278" r:id="rId33"/>
    <p:sldId id="279" r:id="rId34"/>
    <p:sldId id="280" r:id="rId35"/>
    <p:sldId id="281" r:id="rId36"/>
    <p:sldId id="321" r:id="rId37"/>
    <p:sldId id="290" r:id="rId38"/>
    <p:sldId id="292" r:id="rId39"/>
    <p:sldId id="294" r:id="rId40"/>
    <p:sldId id="295" r:id="rId41"/>
    <p:sldId id="297" r:id="rId42"/>
    <p:sldId id="273" r:id="rId43"/>
    <p:sldId id="274" r:id="rId44"/>
    <p:sldId id="322" r:id="rId45"/>
    <p:sldId id="275" r:id="rId46"/>
    <p:sldId id="325" r:id="rId47"/>
    <p:sldId id="331" r:id="rId48"/>
    <p:sldId id="326" r:id="rId49"/>
    <p:sldId id="333" r:id="rId50"/>
    <p:sldId id="328" r:id="rId51"/>
    <p:sldId id="332" r:id="rId52"/>
    <p:sldId id="334" r:id="rId53"/>
    <p:sldId id="335" r:id="rId54"/>
    <p:sldId id="324" r:id="rId55"/>
    <p:sldId id="323" r:id="rId56"/>
    <p:sldId id="282" r:id="rId57"/>
    <p:sldId id="288" r:id="rId58"/>
    <p:sldId id="299" r:id="rId59"/>
    <p:sldId id="284" r:id="rId60"/>
    <p:sldId id="300" r:id="rId61"/>
    <p:sldId id="301" r:id="rId62"/>
    <p:sldId id="302" r:id="rId63"/>
    <p:sldId id="303" r:id="rId64"/>
    <p:sldId id="304" r:id="rId65"/>
    <p:sldId id="305" r:id="rId66"/>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0FB2FB9-13A8-49CA-9219-293B61C02E71}">
          <p14:sldIdLst>
            <p14:sldId id="256"/>
            <p14:sldId id="306"/>
          </p14:sldIdLst>
        </p14:section>
        <p14:section name="Contexte" id="{4880BDBC-CF36-4BDB-BAE8-20D86247C2AA}">
          <p14:sldIdLst>
            <p14:sldId id="283"/>
            <p14:sldId id="257"/>
            <p14:sldId id="259"/>
            <p14:sldId id="307"/>
            <p14:sldId id="264"/>
            <p14:sldId id="263"/>
            <p14:sldId id="266"/>
          </p14:sldIdLst>
        </p14:section>
        <p14:section name="RPA de base" id="{E365CBD7-F5DC-4C7E-8C01-38759F9944EA}">
          <p14:sldIdLst/>
        </p14:section>
        <p14:section name="Présentation" id="{6509A02B-D9BC-4D21-94FE-1F97F731AA2C}">
          <p14:sldIdLst>
            <p14:sldId id="311"/>
            <p14:sldId id="310"/>
          </p14:sldIdLst>
        </p14:section>
        <p14:section name="Éléments entrant dans le calcul" id="{AA46CEE5-AC2C-40A6-9EB8-827EDE384493}">
          <p14:sldIdLst>
            <p14:sldId id="261"/>
            <p14:sldId id="267"/>
            <p14:sldId id="268"/>
            <p14:sldId id="285"/>
            <p14:sldId id="260"/>
            <p14:sldId id="269"/>
            <p14:sldId id="270"/>
          </p14:sldIdLst>
        </p14:section>
        <p14:section name="Exemple - analyse et calcul" id="{69206E78-D7EC-4466-B6EC-15F33CB98A2A}">
          <p14:sldIdLst>
            <p14:sldId id="312"/>
            <p14:sldId id="316"/>
            <p14:sldId id="317"/>
            <p14:sldId id="313"/>
            <p14:sldId id="318"/>
            <p14:sldId id="314"/>
          </p14:sldIdLst>
        </p14:section>
        <p14:section name="RPA dilué" id="{65BCA9E2-93F0-4772-94D0-CCD5FFA52555}">
          <p14:sldIdLst/>
        </p14:section>
        <p14:section name="Présentation" id="{D9F30C0F-4C35-4F86-94D3-EED224817C49}">
          <p14:sldIdLst>
            <p14:sldId id="289"/>
            <p14:sldId id="271"/>
            <p14:sldId id="272"/>
          </p14:sldIdLst>
        </p14:section>
        <p14:section name="Éléments entrant dans le calcul" id="{B0ABDA23-F134-4DB4-9724-DAACEF86A7B3}">
          <p14:sldIdLst>
            <p14:sldId id="319"/>
            <p14:sldId id="320"/>
            <p14:sldId id="276"/>
            <p14:sldId id="277"/>
            <p14:sldId id="278"/>
            <p14:sldId id="279"/>
            <p14:sldId id="280"/>
            <p14:sldId id="281"/>
            <p14:sldId id="321"/>
            <p14:sldId id="290"/>
            <p14:sldId id="292"/>
            <p14:sldId id="294"/>
            <p14:sldId id="295"/>
            <p14:sldId id="297"/>
            <p14:sldId id="273"/>
            <p14:sldId id="274"/>
            <p14:sldId id="322"/>
            <p14:sldId id="275"/>
            <p14:sldId id="325"/>
            <p14:sldId id="331"/>
            <p14:sldId id="326"/>
            <p14:sldId id="333"/>
            <p14:sldId id="328"/>
            <p14:sldId id="332"/>
            <p14:sldId id="334"/>
            <p14:sldId id="335"/>
          </p14:sldIdLst>
        </p14:section>
        <p14:section name="Activités abandonnées" id="{DF98F53E-7C0E-4B5C-A4F1-EC2165A1CA84}">
          <p14:sldIdLst>
            <p14:sldId id="324"/>
            <p14:sldId id="323"/>
            <p14:sldId id="282"/>
            <p14:sldId id="288"/>
          </p14:sldIdLst>
        </p14:section>
        <p14:section name="Exemples" id="{C08F6A46-2905-4560-AFBB-8D6009C7B391}">
          <p14:sldIdLst>
            <p14:sldId id="299"/>
            <p14:sldId id="284"/>
            <p14:sldId id="300"/>
            <p14:sldId id="301"/>
            <p14:sldId id="302"/>
            <p14:sldId id="303"/>
            <p14:sldId id="304"/>
            <p14:sldId id="30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FB975C-4C1D-EA33-8340-77B3D970F02F}" name="SOKRI Marzouk" initials="SM" userId="bca8937e5be247a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99" autoAdjust="0"/>
    <p:restoredTop sz="84758" autoAdjust="0"/>
  </p:normalViewPr>
  <p:slideViewPr>
    <p:cSldViewPr snapToGrid="0">
      <p:cViewPr varScale="1">
        <p:scale>
          <a:sx n="81" d="100"/>
          <a:sy n="81" d="100"/>
        </p:scale>
        <p:origin x="48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omments/modernComment_108_DE6D949E.xml><?xml version="1.0" encoding="utf-8"?>
<p188:cmLst xmlns:a="http://schemas.openxmlformats.org/drawingml/2006/main" xmlns:r="http://schemas.openxmlformats.org/officeDocument/2006/relationships" xmlns:p188="http://schemas.microsoft.com/office/powerpoint/2018/8/main">
  <p188:cm id="{D4A22F0D-474F-413F-9B0A-8386F94853BF}" authorId="{28FB975C-4C1D-EA33-8340-77B3D970F02F}" created="2025-02-22T21:06:40.358">
    <ac:txMkLst xmlns:ac="http://schemas.microsoft.com/office/drawing/2013/main/command">
      <pc:docMk xmlns:pc="http://schemas.microsoft.com/office/powerpoint/2013/main/command"/>
      <pc:sldMk xmlns:pc="http://schemas.microsoft.com/office/powerpoint/2013/main/command" cId="3731723422" sldId="264"/>
      <ac:spMk id="3" creationId="{2FA89FFE-5FE9-405E-9A04-5B88BCF31E62}"/>
      <ac:txMk cp="506" len="20">
        <ac:context len="616" hash="2929867193"/>
      </ac:txMk>
    </ac:txMkLst>
    <p188:pos x="4437375" y="2880602"/>
    <p188:txBody>
      <a:bodyPr/>
      <a:lstStyle/>
      <a:p>
        <a:r>
          <a:rPr lang="fr-CA"/>
          <a:t>Outil de spéculation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FR"/>
          </a:p>
        </p:txBody>
      </p:sp>
      <p:sp>
        <p:nvSpPr>
          <p:cNvPr id="3" name="Espace réservé de la date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163893E0-A1B6-42F5-964D-0BF390F92EE0}" type="datetimeFigureOut">
              <a:rPr lang="fr-FR" smtClean="0"/>
              <a:t>22/02/2025</a:t>
            </a:fld>
            <a:endParaRPr lang="fr-FR"/>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fr-FR"/>
          </a:p>
        </p:txBody>
      </p:sp>
      <p:sp>
        <p:nvSpPr>
          <p:cNvPr id="5" name="Espace réservé des notes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C435CBE1-A578-4EEA-9029-F34EA9DFDA5C}" type="slidenum">
              <a:rPr lang="fr-FR" smtClean="0"/>
              <a:t>‹N°›</a:t>
            </a:fld>
            <a:endParaRPr lang="fr-FR"/>
          </a:p>
        </p:txBody>
      </p:sp>
    </p:spTree>
    <p:extLst>
      <p:ext uri="{BB962C8B-B14F-4D97-AF65-F5344CB8AC3E}">
        <p14:creationId xmlns:p14="http://schemas.microsoft.com/office/powerpoint/2010/main" val="2198705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5602"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fr-CA">
              <a:latin typeface="Calibri" charset="0"/>
              <a:ea typeface="MS PGothic" charset="0"/>
              <a:cs typeface="MS PGothic" charset="0"/>
            </a:endParaRPr>
          </a:p>
        </p:txBody>
      </p:sp>
    </p:spTree>
    <p:extLst>
      <p:ext uri="{BB962C8B-B14F-4D97-AF65-F5344CB8AC3E}">
        <p14:creationId xmlns:p14="http://schemas.microsoft.com/office/powerpoint/2010/main" val="2603477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435CBE1-A578-4EEA-9029-F34EA9DFDA5C}" type="slidenum">
              <a:rPr lang="fr-FR" smtClean="0"/>
              <a:t>5</a:t>
            </a:fld>
            <a:endParaRPr lang="fr-FR"/>
          </a:p>
        </p:txBody>
      </p:sp>
    </p:spTree>
    <p:extLst>
      <p:ext uri="{BB962C8B-B14F-4D97-AF65-F5344CB8AC3E}">
        <p14:creationId xmlns:p14="http://schemas.microsoft.com/office/powerpoint/2010/main" val="822918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highlight>
                  <a:srgbClr val="FFFF00"/>
                </a:highlight>
              </a:rPr>
              <a:t>Tiré du rapport annuel de Cascades 2021, p.89</a:t>
            </a:r>
          </a:p>
        </p:txBody>
      </p:sp>
      <p:sp>
        <p:nvSpPr>
          <p:cNvPr id="4" name="Espace réservé du numéro de diapositive 3"/>
          <p:cNvSpPr>
            <a:spLocks noGrp="1"/>
          </p:cNvSpPr>
          <p:nvPr>
            <p:ph type="sldNum" sz="quarter" idx="5"/>
          </p:nvPr>
        </p:nvSpPr>
        <p:spPr/>
        <p:txBody>
          <a:bodyPr/>
          <a:lstStyle/>
          <a:p>
            <a:fld id="{C435CBE1-A578-4EEA-9029-F34EA9DFDA5C}" type="slidenum">
              <a:rPr lang="fr-FR" smtClean="0"/>
              <a:t>6</a:t>
            </a:fld>
            <a:endParaRPr lang="fr-FR"/>
          </a:p>
        </p:txBody>
      </p:sp>
    </p:spTree>
    <p:extLst>
      <p:ext uri="{BB962C8B-B14F-4D97-AF65-F5344CB8AC3E}">
        <p14:creationId xmlns:p14="http://schemas.microsoft.com/office/powerpoint/2010/main" val="2339218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435CBE1-A578-4EEA-9029-F34EA9DFDA5C}" type="slidenum">
              <a:rPr lang="fr-FR" smtClean="0"/>
              <a:t>7</a:t>
            </a:fld>
            <a:endParaRPr lang="fr-FR"/>
          </a:p>
        </p:txBody>
      </p:sp>
    </p:spTree>
    <p:extLst>
      <p:ext uri="{BB962C8B-B14F-4D97-AF65-F5344CB8AC3E}">
        <p14:creationId xmlns:p14="http://schemas.microsoft.com/office/powerpoint/2010/main" val="3877628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435CBE1-A578-4EEA-9029-F34EA9DFDA5C}" type="slidenum">
              <a:rPr lang="fr-FR" smtClean="0"/>
              <a:t>14</a:t>
            </a:fld>
            <a:endParaRPr lang="fr-FR"/>
          </a:p>
        </p:txBody>
      </p:sp>
    </p:spTree>
    <p:extLst>
      <p:ext uri="{BB962C8B-B14F-4D97-AF65-F5344CB8AC3E}">
        <p14:creationId xmlns:p14="http://schemas.microsoft.com/office/powerpoint/2010/main" val="3539235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435CBE1-A578-4EEA-9029-F34EA9DFDA5C}" type="slidenum">
              <a:rPr lang="fr-FR" smtClean="0"/>
              <a:t>17</a:t>
            </a:fld>
            <a:endParaRPr lang="fr-FR"/>
          </a:p>
        </p:txBody>
      </p:sp>
    </p:spTree>
    <p:extLst>
      <p:ext uri="{BB962C8B-B14F-4D97-AF65-F5344CB8AC3E}">
        <p14:creationId xmlns:p14="http://schemas.microsoft.com/office/powerpoint/2010/main" val="60611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5"/>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898525" eaLnBrk="0" hangingPunct="0">
              <a:defRPr sz="2400">
                <a:solidFill>
                  <a:schemeClr val="tx1"/>
                </a:solidFill>
                <a:latin typeface="Calibri" charset="0"/>
                <a:ea typeface="ＭＳ Ｐゴシック" charset="0"/>
                <a:cs typeface="ＭＳ Ｐゴシック" charset="0"/>
              </a:defRPr>
            </a:lvl1pPr>
            <a:lvl2pPr marL="742950" indent="-285750" defTabSz="898525" eaLnBrk="0" hangingPunct="0">
              <a:defRPr sz="2400">
                <a:solidFill>
                  <a:schemeClr val="tx1"/>
                </a:solidFill>
                <a:latin typeface="Calibri" charset="0"/>
                <a:ea typeface="ＭＳ Ｐゴシック" charset="0"/>
              </a:defRPr>
            </a:lvl2pPr>
            <a:lvl3pPr marL="1143000" indent="-228600" defTabSz="898525" eaLnBrk="0" hangingPunct="0">
              <a:defRPr sz="2400">
                <a:solidFill>
                  <a:schemeClr val="tx1"/>
                </a:solidFill>
                <a:latin typeface="Calibri" charset="0"/>
                <a:ea typeface="ＭＳ Ｐゴシック" charset="0"/>
              </a:defRPr>
            </a:lvl3pPr>
            <a:lvl4pPr marL="1600200" indent="-228600" defTabSz="898525" eaLnBrk="0" hangingPunct="0">
              <a:defRPr sz="2400">
                <a:solidFill>
                  <a:schemeClr val="tx1"/>
                </a:solidFill>
                <a:latin typeface="Calibri" charset="0"/>
                <a:ea typeface="ＭＳ Ｐゴシック" charset="0"/>
              </a:defRPr>
            </a:lvl4pPr>
            <a:lvl5pPr marL="2057400" indent="-228600" defTabSz="898525" eaLnBrk="0" hangingPunct="0">
              <a:defRPr sz="2400">
                <a:solidFill>
                  <a:schemeClr val="tx1"/>
                </a:solidFill>
                <a:latin typeface="Calibri" charset="0"/>
                <a:ea typeface="ＭＳ Ｐゴシック" charset="0"/>
              </a:defRPr>
            </a:lvl5pPr>
            <a:lvl6pPr marL="2514600" indent="-228600" defTabSz="898525" eaLnBrk="0" fontAlgn="base" hangingPunct="0">
              <a:spcBef>
                <a:spcPct val="0"/>
              </a:spcBef>
              <a:spcAft>
                <a:spcPct val="0"/>
              </a:spcAft>
              <a:defRPr sz="2400">
                <a:solidFill>
                  <a:schemeClr val="tx1"/>
                </a:solidFill>
                <a:latin typeface="Calibri" charset="0"/>
                <a:ea typeface="ＭＳ Ｐゴシック" charset="0"/>
              </a:defRPr>
            </a:lvl6pPr>
            <a:lvl7pPr marL="2971800" indent="-228600" defTabSz="898525" eaLnBrk="0" fontAlgn="base" hangingPunct="0">
              <a:spcBef>
                <a:spcPct val="0"/>
              </a:spcBef>
              <a:spcAft>
                <a:spcPct val="0"/>
              </a:spcAft>
              <a:defRPr sz="2400">
                <a:solidFill>
                  <a:schemeClr val="tx1"/>
                </a:solidFill>
                <a:latin typeface="Calibri" charset="0"/>
                <a:ea typeface="ＭＳ Ｐゴシック" charset="0"/>
              </a:defRPr>
            </a:lvl7pPr>
            <a:lvl8pPr marL="3429000" indent="-228600" defTabSz="898525" eaLnBrk="0" fontAlgn="base" hangingPunct="0">
              <a:spcBef>
                <a:spcPct val="0"/>
              </a:spcBef>
              <a:spcAft>
                <a:spcPct val="0"/>
              </a:spcAft>
              <a:defRPr sz="2400">
                <a:solidFill>
                  <a:schemeClr val="tx1"/>
                </a:solidFill>
                <a:latin typeface="Calibri" charset="0"/>
                <a:ea typeface="ＭＳ Ｐゴシック" charset="0"/>
              </a:defRPr>
            </a:lvl8pPr>
            <a:lvl9pPr marL="3886200" indent="-228600" defTabSz="898525" eaLnBrk="0" fontAlgn="base" hangingPunct="0">
              <a:spcBef>
                <a:spcPct val="0"/>
              </a:spcBef>
              <a:spcAft>
                <a:spcPct val="0"/>
              </a:spcAft>
              <a:defRPr sz="2400">
                <a:solidFill>
                  <a:schemeClr val="tx1"/>
                </a:solidFill>
                <a:latin typeface="Calibri" charset="0"/>
                <a:ea typeface="ＭＳ Ｐゴシック" charset="0"/>
              </a:defRPr>
            </a:lvl9pPr>
          </a:lstStyle>
          <a:p>
            <a:pPr fontAlgn="base">
              <a:spcBef>
                <a:spcPct val="0"/>
              </a:spcBef>
              <a:spcAft>
                <a:spcPct val="0"/>
              </a:spcAft>
            </a:pPr>
            <a:fld id="{CD7FE2BF-8692-B44F-9563-FD6BC9B6C4FB}" type="slidenum">
              <a:rPr lang="en-US" sz="1000">
                <a:latin typeface="Times New Roman" charset="0"/>
                <a:ea typeface="MS PGothic" charset="0"/>
                <a:cs typeface="MS PGothic" charset="0"/>
              </a:rPr>
              <a:pPr fontAlgn="base">
                <a:spcBef>
                  <a:spcPct val="0"/>
                </a:spcBef>
                <a:spcAft>
                  <a:spcPct val="0"/>
                </a:spcAft>
              </a:pPr>
              <a:t>25</a:t>
            </a:fld>
            <a:endParaRPr lang="en-US" sz="1000">
              <a:latin typeface="Times New Roman" charset="0"/>
              <a:ea typeface="MS PGothic" charset="0"/>
              <a:cs typeface="MS PGothic" charset="0"/>
            </a:endParaRPr>
          </a:p>
        </p:txBody>
      </p:sp>
      <p:sp>
        <p:nvSpPr>
          <p:cNvPr id="50178" name="Rectangle 2"/>
          <p:cNvSpPr>
            <a:spLocks noGrp="1" noRot="1" noChangeAspect="1" noChangeArrowheads="1" noTextEdit="1"/>
          </p:cNvSpPr>
          <p:nvPr>
            <p:ph type="sldImg"/>
          </p:nvPr>
        </p:nvSpPr>
        <p:spPr bwMode="auto">
          <a:xfrm>
            <a:off x="366713" y="674688"/>
            <a:ext cx="6124575" cy="3446462"/>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0179" name="Rectangle 3"/>
          <p:cNvSpPr>
            <a:spLocks noGrp="1" noChangeArrowheads="1"/>
          </p:cNvSpPr>
          <p:nvPr>
            <p:ph type="body" idx="1"/>
          </p:nvPr>
        </p:nvSpPr>
        <p:spPr bwMode="auto">
          <a:xfrm>
            <a:off x="893764" y="4347251"/>
            <a:ext cx="5070475" cy="412093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defTabSz="920750"/>
            <a:endParaRPr lang="fr-CA">
              <a:latin typeface="Calibri" charset="0"/>
              <a:ea typeface="MS PGothic" charset="0"/>
              <a:cs typeface="MS PGothic" charset="0"/>
            </a:endParaRPr>
          </a:p>
        </p:txBody>
      </p:sp>
    </p:spTree>
    <p:extLst>
      <p:ext uri="{BB962C8B-B14F-4D97-AF65-F5344CB8AC3E}">
        <p14:creationId xmlns:p14="http://schemas.microsoft.com/office/powerpoint/2010/main" val="4164554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435CBE1-A578-4EEA-9029-F34EA9DFDA5C}" type="slidenum">
              <a:rPr lang="fr-FR" smtClean="0"/>
              <a:t>28</a:t>
            </a:fld>
            <a:endParaRPr lang="fr-FR"/>
          </a:p>
        </p:txBody>
      </p:sp>
    </p:spTree>
    <p:extLst>
      <p:ext uri="{BB962C8B-B14F-4D97-AF65-F5344CB8AC3E}">
        <p14:creationId xmlns:p14="http://schemas.microsoft.com/office/powerpoint/2010/main" val="4120005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435CBE1-A578-4EEA-9029-F34EA9DFDA5C}" type="slidenum">
              <a:rPr lang="fr-FR" smtClean="0"/>
              <a:t>29</a:t>
            </a:fld>
            <a:endParaRPr lang="fr-FR"/>
          </a:p>
        </p:txBody>
      </p:sp>
    </p:spTree>
    <p:extLst>
      <p:ext uri="{BB962C8B-B14F-4D97-AF65-F5344CB8AC3E}">
        <p14:creationId xmlns:p14="http://schemas.microsoft.com/office/powerpoint/2010/main" val="1261340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435CBE1-A578-4EEA-9029-F34EA9DFDA5C}" type="slidenum">
              <a:rPr lang="fr-FR" smtClean="0"/>
              <a:t>31</a:t>
            </a:fld>
            <a:endParaRPr lang="fr-FR"/>
          </a:p>
        </p:txBody>
      </p:sp>
    </p:spTree>
    <p:extLst>
      <p:ext uri="{BB962C8B-B14F-4D97-AF65-F5344CB8AC3E}">
        <p14:creationId xmlns:p14="http://schemas.microsoft.com/office/powerpoint/2010/main" val="36863749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2226"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fr-CA">
              <a:latin typeface="Calibri" charset="0"/>
              <a:ea typeface="MS PGothic" charset="0"/>
              <a:cs typeface="MS PGothic" charset="0"/>
            </a:endParaRPr>
          </a:p>
        </p:txBody>
      </p:sp>
    </p:spTree>
    <p:extLst>
      <p:ext uri="{BB962C8B-B14F-4D97-AF65-F5344CB8AC3E}">
        <p14:creationId xmlns:p14="http://schemas.microsoft.com/office/powerpoint/2010/main" val="483614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5"/>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898525" eaLnBrk="0" hangingPunct="0">
              <a:defRPr sz="2400">
                <a:solidFill>
                  <a:schemeClr val="tx1"/>
                </a:solidFill>
                <a:latin typeface="Calibri" charset="0"/>
                <a:ea typeface="ＭＳ Ｐゴシック" charset="0"/>
                <a:cs typeface="ＭＳ Ｐゴシック" charset="0"/>
              </a:defRPr>
            </a:lvl1pPr>
            <a:lvl2pPr marL="742950" indent="-285750" defTabSz="898525" eaLnBrk="0" hangingPunct="0">
              <a:defRPr sz="2400">
                <a:solidFill>
                  <a:schemeClr val="tx1"/>
                </a:solidFill>
                <a:latin typeface="Calibri" charset="0"/>
                <a:ea typeface="ＭＳ Ｐゴシック" charset="0"/>
              </a:defRPr>
            </a:lvl2pPr>
            <a:lvl3pPr marL="1143000" indent="-228600" defTabSz="898525" eaLnBrk="0" hangingPunct="0">
              <a:defRPr sz="2400">
                <a:solidFill>
                  <a:schemeClr val="tx1"/>
                </a:solidFill>
                <a:latin typeface="Calibri" charset="0"/>
                <a:ea typeface="ＭＳ Ｐゴシック" charset="0"/>
              </a:defRPr>
            </a:lvl3pPr>
            <a:lvl4pPr marL="1600200" indent="-228600" defTabSz="898525" eaLnBrk="0" hangingPunct="0">
              <a:defRPr sz="2400">
                <a:solidFill>
                  <a:schemeClr val="tx1"/>
                </a:solidFill>
                <a:latin typeface="Calibri" charset="0"/>
                <a:ea typeface="ＭＳ Ｐゴシック" charset="0"/>
              </a:defRPr>
            </a:lvl4pPr>
            <a:lvl5pPr marL="2057400" indent="-228600" defTabSz="898525" eaLnBrk="0" hangingPunct="0">
              <a:defRPr sz="2400">
                <a:solidFill>
                  <a:schemeClr val="tx1"/>
                </a:solidFill>
                <a:latin typeface="Calibri" charset="0"/>
                <a:ea typeface="ＭＳ Ｐゴシック" charset="0"/>
              </a:defRPr>
            </a:lvl5pPr>
            <a:lvl6pPr marL="2514600" indent="-228600" defTabSz="898525" eaLnBrk="0" fontAlgn="base" hangingPunct="0">
              <a:spcBef>
                <a:spcPct val="0"/>
              </a:spcBef>
              <a:spcAft>
                <a:spcPct val="0"/>
              </a:spcAft>
              <a:defRPr sz="2400">
                <a:solidFill>
                  <a:schemeClr val="tx1"/>
                </a:solidFill>
                <a:latin typeface="Calibri" charset="0"/>
                <a:ea typeface="ＭＳ Ｐゴシック" charset="0"/>
              </a:defRPr>
            </a:lvl6pPr>
            <a:lvl7pPr marL="2971800" indent="-228600" defTabSz="898525" eaLnBrk="0" fontAlgn="base" hangingPunct="0">
              <a:spcBef>
                <a:spcPct val="0"/>
              </a:spcBef>
              <a:spcAft>
                <a:spcPct val="0"/>
              </a:spcAft>
              <a:defRPr sz="2400">
                <a:solidFill>
                  <a:schemeClr val="tx1"/>
                </a:solidFill>
                <a:latin typeface="Calibri" charset="0"/>
                <a:ea typeface="ＭＳ Ｐゴシック" charset="0"/>
              </a:defRPr>
            </a:lvl7pPr>
            <a:lvl8pPr marL="3429000" indent="-228600" defTabSz="898525" eaLnBrk="0" fontAlgn="base" hangingPunct="0">
              <a:spcBef>
                <a:spcPct val="0"/>
              </a:spcBef>
              <a:spcAft>
                <a:spcPct val="0"/>
              </a:spcAft>
              <a:defRPr sz="2400">
                <a:solidFill>
                  <a:schemeClr val="tx1"/>
                </a:solidFill>
                <a:latin typeface="Calibri" charset="0"/>
                <a:ea typeface="ＭＳ Ｐゴシック" charset="0"/>
              </a:defRPr>
            </a:lvl8pPr>
            <a:lvl9pPr marL="3886200" indent="-228600" defTabSz="898525" eaLnBrk="0" fontAlgn="base" hangingPunct="0">
              <a:spcBef>
                <a:spcPct val="0"/>
              </a:spcBef>
              <a:spcAft>
                <a:spcPct val="0"/>
              </a:spcAft>
              <a:defRPr sz="2400">
                <a:solidFill>
                  <a:schemeClr val="tx1"/>
                </a:solidFill>
                <a:latin typeface="Calibri" charset="0"/>
                <a:ea typeface="ＭＳ Ｐゴシック" charset="0"/>
              </a:defRPr>
            </a:lvl9pPr>
          </a:lstStyle>
          <a:p>
            <a:pPr fontAlgn="base">
              <a:spcBef>
                <a:spcPct val="0"/>
              </a:spcBef>
              <a:spcAft>
                <a:spcPct val="0"/>
              </a:spcAft>
            </a:pPr>
            <a:fld id="{0509C363-E0D8-7341-AE2C-E22E265B5F4F}" type="slidenum">
              <a:rPr lang="en-US" sz="1000">
                <a:latin typeface="Times New Roman" charset="0"/>
                <a:ea typeface="MS PGothic" charset="0"/>
                <a:cs typeface="MS PGothic" charset="0"/>
              </a:rPr>
              <a:pPr fontAlgn="base">
                <a:spcBef>
                  <a:spcPct val="0"/>
                </a:spcBef>
                <a:spcAft>
                  <a:spcPct val="0"/>
                </a:spcAft>
              </a:pPr>
              <a:t>38</a:t>
            </a:fld>
            <a:endParaRPr lang="en-US" sz="1000">
              <a:latin typeface="Times New Roman" charset="0"/>
              <a:ea typeface="MS PGothic" charset="0"/>
              <a:cs typeface="MS PGothic" charset="0"/>
            </a:endParaRPr>
          </a:p>
        </p:txBody>
      </p:sp>
      <p:sp>
        <p:nvSpPr>
          <p:cNvPr id="56322" name="Rectangle 2"/>
          <p:cNvSpPr>
            <a:spLocks noGrp="1" noRot="1" noChangeAspect="1" noChangeArrowheads="1" noTextEdit="1"/>
          </p:cNvSpPr>
          <p:nvPr>
            <p:ph type="sldImg"/>
          </p:nvPr>
        </p:nvSpPr>
        <p:spPr bwMode="auto">
          <a:xfrm>
            <a:off x="366713" y="674688"/>
            <a:ext cx="6124575" cy="3446462"/>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6323" name="Rectangle 3"/>
          <p:cNvSpPr>
            <a:spLocks noGrp="1" noChangeArrowheads="1"/>
          </p:cNvSpPr>
          <p:nvPr>
            <p:ph type="body" idx="1"/>
          </p:nvPr>
        </p:nvSpPr>
        <p:spPr bwMode="auto">
          <a:xfrm>
            <a:off x="893764" y="4347251"/>
            <a:ext cx="5070475" cy="412093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defTabSz="920750"/>
            <a:endParaRPr lang="fr-CA">
              <a:latin typeface="Calibri" charset="0"/>
              <a:ea typeface="MS PGothic" charset="0"/>
              <a:cs typeface="MS PGothic" charset="0"/>
            </a:endParaRPr>
          </a:p>
        </p:txBody>
      </p:sp>
    </p:spTree>
    <p:extLst>
      <p:ext uri="{BB962C8B-B14F-4D97-AF65-F5344CB8AC3E}">
        <p14:creationId xmlns:p14="http://schemas.microsoft.com/office/powerpoint/2010/main" val="1555399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5"/>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898525" eaLnBrk="0" hangingPunct="0">
              <a:defRPr sz="2400">
                <a:solidFill>
                  <a:schemeClr val="tx1"/>
                </a:solidFill>
                <a:latin typeface="Calibri" charset="0"/>
                <a:ea typeface="ＭＳ Ｐゴシック" charset="0"/>
                <a:cs typeface="ＭＳ Ｐゴシック" charset="0"/>
              </a:defRPr>
            </a:lvl1pPr>
            <a:lvl2pPr marL="742950" indent="-285750" defTabSz="898525" eaLnBrk="0" hangingPunct="0">
              <a:defRPr sz="2400">
                <a:solidFill>
                  <a:schemeClr val="tx1"/>
                </a:solidFill>
                <a:latin typeface="Calibri" charset="0"/>
                <a:ea typeface="ＭＳ Ｐゴシック" charset="0"/>
              </a:defRPr>
            </a:lvl2pPr>
            <a:lvl3pPr marL="1143000" indent="-228600" defTabSz="898525" eaLnBrk="0" hangingPunct="0">
              <a:defRPr sz="2400">
                <a:solidFill>
                  <a:schemeClr val="tx1"/>
                </a:solidFill>
                <a:latin typeface="Calibri" charset="0"/>
                <a:ea typeface="ＭＳ Ｐゴシック" charset="0"/>
              </a:defRPr>
            </a:lvl3pPr>
            <a:lvl4pPr marL="1600200" indent="-228600" defTabSz="898525" eaLnBrk="0" hangingPunct="0">
              <a:defRPr sz="2400">
                <a:solidFill>
                  <a:schemeClr val="tx1"/>
                </a:solidFill>
                <a:latin typeface="Calibri" charset="0"/>
                <a:ea typeface="ＭＳ Ｐゴシック" charset="0"/>
              </a:defRPr>
            </a:lvl4pPr>
            <a:lvl5pPr marL="2057400" indent="-228600" defTabSz="898525" eaLnBrk="0" hangingPunct="0">
              <a:defRPr sz="2400">
                <a:solidFill>
                  <a:schemeClr val="tx1"/>
                </a:solidFill>
                <a:latin typeface="Calibri" charset="0"/>
                <a:ea typeface="ＭＳ Ｐゴシック" charset="0"/>
              </a:defRPr>
            </a:lvl5pPr>
            <a:lvl6pPr marL="2514600" indent="-228600" defTabSz="898525" eaLnBrk="0" fontAlgn="base" hangingPunct="0">
              <a:spcBef>
                <a:spcPct val="0"/>
              </a:spcBef>
              <a:spcAft>
                <a:spcPct val="0"/>
              </a:spcAft>
              <a:defRPr sz="2400">
                <a:solidFill>
                  <a:schemeClr val="tx1"/>
                </a:solidFill>
                <a:latin typeface="Calibri" charset="0"/>
                <a:ea typeface="ＭＳ Ｐゴシック" charset="0"/>
              </a:defRPr>
            </a:lvl6pPr>
            <a:lvl7pPr marL="2971800" indent="-228600" defTabSz="898525" eaLnBrk="0" fontAlgn="base" hangingPunct="0">
              <a:spcBef>
                <a:spcPct val="0"/>
              </a:spcBef>
              <a:spcAft>
                <a:spcPct val="0"/>
              </a:spcAft>
              <a:defRPr sz="2400">
                <a:solidFill>
                  <a:schemeClr val="tx1"/>
                </a:solidFill>
                <a:latin typeface="Calibri" charset="0"/>
                <a:ea typeface="ＭＳ Ｐゴシック" charset="0"/>
              </a:defRPr>
            </a:lvl7pPr>
            <a:lvl8pPr marL="3429000" indent="-228600" defTabSz="898525" eaLnBrk="0" fontAlgn="base" hangingPunct="0">
              <a:spcBef>
                <a:spcPct val="0"/>
              </a:spcBef>
              <a:spcAft>
                <a:spcPct val="0"/>
              </a:spcAft>
              <a:defRPr sz="2400">
                <a:solidFill>
                  <a:schemeClr val="tx1"/>
                </a:solidFill>
                <a:latin typeface="Calibri" charset="0"/>
                <a:ea typeface="ＭＳ Ｐゴシック" charset="0"/>
              </a:defRPr>
            </a:lvl8pPr>
            <a:lvl9pPr marL="3886200" indent="-228600" defTabSz="898525" eaLnBrk="0" fontAlgn="base" hangingPunct="0">
              <a:spcBef>
                <a:spcPct val="0"/>
              </a:spcBef>
              <a:spcAft>
                <a:spcPct val="0"/>
              </a:spcAft>
              <a:defRPr sz="2400">
                <a:solidFill>
                  <a:schemeClr val="tx1"/>
                </a:solidFill>
                <a:latin typeface="Calibri" charset="0"/>
                <a:ea typeface="ＭＳ Ｐゴシック" charset="0"/>
              </a:defRPr>
            </a:lvl9pPr>
          </a:lstStyle>
          <a:p>
            <a:pPr fontAlgn="base">
              <a:spcBef>
                <a:spcPct val="0"/>
              </a:spcBef>
              <a:spcAft>
                <a:spcPct val="0"/>
              </a:spcAft>
            </a:pPr>
            <a:fld id="{EBB5CCDA-A601-F947-9165-E414C590550B}" type="slidenum">
              <a:rPr lang="en-US" sz="1000">
                <a:latin typeface="Times New Roman" charset="0"/>
                <a:ea typeface="MS PGothic" charset="0"/>
                <a:cs typeface="MS PGothic" charset="0"/>
              </a:rPr>
              <a:pPr fontAlgn="base">
                <a:spcBef>
                  <a:spcPct val="0"/>
                </a:spcBef>
                <a:spcAft>
                  <a:spcPct val="0"/>
                </a:spcAft>
              </a:pPr>
              <a:t>39</a:t>
            </a:fld>
            <a:endParaRPr lang="en-US" sz="1000">
              <a:latin typeface="Times New Roman" charset="0"/>
              <a:ea typeface="MS PGothic" charset="0"/>
              <a:cs typeface="MS PGothic" charset="0"/>
            </a:endParaRPr>
          </a:p>
        </p:txBody>
      </p:sp>
      <p:sp>
        <p:nvSpPr>
          <p:cNvPr id="60418" name="Rectangle 2"/>
          <p:cNvSpPr>
            <a:spLocks noGrp="1" noRot="1" noChangeAspect="1" noChangeArrowheads="1" noTextEdit="1"/>
          </p:cNvSpPr>
          <p:nvPr>
            <p:ph type="sldImg"/>
          </p:nvPr>
        </p:nvSpPr>
        <p:spPr bwMode="auto">
          <a:xfrm>
            <a:off x="366713" y="674688"/>
            <a:ext cx="6124575" cy="3446462"/>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0419" name="Rectangle 3"/>
          <p:cNvSpPr>
            <a:spLocks noGrp="1" noChangeArrowheads="1"/>
          </p:cNvSpPr>
          <p:nvPr>
            <p:ph type="body" idx="1"/>
          </p:nvPr>
        </p:nvSpPr>
        <p:spPr bwMode="auto">
          <a:xfrm>
            <a:off x="893764" y="4347251"/>
            <a:ext cx="5070475" cy="412093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defTabSz="920750"/>
            <a:endParaRPr lang="fr-CA">
              <a:latin typeface="Calibri" charset="0"/>
              <a:ea typeface="MS PGothic" charset="0"/>
              <a:cs typeface="MS PGothic" charset="0"/>
            </a:endParaRPr>
          </a:p>
        </p:txBody>
      </p:sp>
    </p:spTree>
    <p:extLst>
      <p:ext uri="{BB962C8B-B14F-4D97-AF65-F5344CB8AC3E}">
        <p14:creationId xmlns:p14="http://schemas.microsoft.com/office/powerpoint/2010/main" val="327173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5"/>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898525" eaLnBrk="0" hangingPunct="0">
              <a:defRPr sz="2400">
                <a:solidFill>
                  <a:schemeClr val="tx1"/>
                </a:solidFill>
                <a:latin typeface="Calibri" charset="0"/>
                <a:ea typeface="ＭＳ Ｐゴシック" charset="0"/>
                <a:cs typeface="ＭＳ Ｐゴシック" charset="0"/>
              </a:defRPr>
            </a:lvl1pPr>
            <a:lvl2pPr marL="742950" indent="-285750" defTabSz="898525" eaLnBrk="0" hangingPunct="0">
              <a:defRPr sz="2400">
                <a:solidFill>
                  <a:schemeClr val="tx1"/>
                </a:solidFill>
                <a:latin typeface="Calibri" charset="0"/>
                <a:ea typeface="ＭＳ Ｐゴシック" charset="0"/>
              </a:defRPr>
            </a:lvl2pPr>
            <a:lvl3pPr marL="1143000" indent="-228600" defTabSz="898525" eaLnBrk="0" hangingPunct="0">
              <a:defRPr sz="2400">
                <a:solidFill>
                  <a:schemeClr val="tx1"/>
                </a:solidFill>
                <a:latin typeface="Calibri" charset="0"/>
                <a:ea typeface="ＭＳ Ｐゴシック" charset="0"/>
              </a:defRPr>
            </a:lvl3pPr>
            <a:lvl4pPr marL="1600200" indent="-228600" defTabSz="898525" eaLnBrk="0" hangingPunct="0">
              <a:defRPr sz="2400">
                <a:solidFill>
                  <a:schemeClr val="tx1"/>
                </a:solidFill>
                <a:latin typeface="Calibri" charset="0"/>
                <a:ea typeface="ＭＳ Ｐゴシック" charset="0"/>
              </a:defRPr>
            </a:lvl4pPr>
            <a:lvl5pPr marL="2057400" indent="-228600" defTabSz="898525" eaLnBrk="0" hangingPunct="0">
              <a:defRPr sz="2400">
                <a:solidFill>
                  <a:schemeClr val="tx1"/>
                </a:solidFill>
                <a:latin typeface="Calibri" charset="0"/>
                <a:ea typeface="ＭＳ Ｐゴシック" charset="0"/>
              </a:defRPr>
            </a:lvl5pPr>
            <a:lvl6pPr marL="2514600" indent="-228600" defTabSz="898525" eaLnBrk="0" fontAlgn="base" hangingPunct="0">
              <a:spcBef>
                <a:spcPct val="0"/>
              </a:spcBef>
              <a:spcAft>
                <a:spcPct val="0"/>
              </a:spcAft>
              <a:defRPr sz="2400">
                <a:solidFill>
                  <a:schemeClr val="tx1"/>
                </a:solidFill>
                <a:latin typeface="Calibri" charset="0"/>
                <a:ea typeface="ＭＳ Ｐゴシック" charset="0"/>
              </a:defRPr>
            </a:lvl6pPr>
            <a:lvl7pPr marL="2971800" indent="-228600" defTabSz="898525" eaLnBrk="0" fontAlgn="base" hangingPunct="0">
              <a:spcBef>
                <a:spcPct val="0"/>
              </a:spcBef>
              <a:spcAft>
                <a:spcPct val="0"/>
              </a:spcAft>
              <a:defRPr sz="2400">
                <a:solidFill>
                  <a:schemeClr val="tx1"/>
                </a:solidFill>
                <a:latin typeface="Calibri" charset="0"/>
                <a:ea typeface="ＭＳ Ｐゴシック" charset="0"/>
              </a:defRPr>
            </a:lvl7pPr>
            <a:lvl8pPr marL="3429000" indent="-228600" defTabSz="898525" eaLnBrk="0" fontAlgn="base" hangingPunct="0">
              <a:spcBef>
                <a:spcPct val="0"/>
              </a:spcBef>
              <a:spcAft>
                <a:spcPct val="0"/>
              </a:spcAft>
              <a:defRPr sz="2400">
                <a:solidFill>
                  <a:schemeClr val="tx1"/>
                </a:solidFill>
                <a:latin typeface="Calibri" charset="0"/>
                <a:ea typeface="ＭＳ Ｐゴシック" charset="0"/>
              </a:defRPr>
            </a:lvl8pPr>
            <a:lvl9pPr marL="3886200" indent="-228600" defTabSz="898525" eaLnBrk="0" fontAlgn="base" hangingPunct="0">
              <a:spcBef>
                <a:spcPct val="0"/>
              </a:spcBef>
              <a:spcAft>
                <a:spcPct val="0"/>
              </a:spcAft>
              <a:defRPr sz="2400">
                <a:solidFill>
                  <a:schemeClr val="tx1"/>
                </a:solidFill>
                <a:latin typeface="Calibri" charset="0"/>
                <a:ea typeface="ＭＳ Ｐゴシック" charset="0"/>
              </a:defRPr>
            </a:lvl9pPr>
          </a:lstStyle>
          <a:p>
            <a:pPr fontAlgn="base">
              <a:spcBef>
                <a:spcPct val="0"/>
              </a:spcBef>
              <a:spcAft>
                <a:spcPct val="0"/>
              </a:spcAft>
            </a:pPr>
            <a:fld id="{91509B52-12AC-D84E-9DD4-EDF08D393D68}" type="slidenum">
              <a:rPr lang="en-US" sz="1000">
                <a:latin typeface="Times New Roman" charset="0"/>
                <a:ea typeface="MS PGothic" charset="0"/>
                <a:cs typeface="MS PGothic" charset="0"/>
              </a:rPr>
              <a:pPr fontAlgn="base">
                <a:spcBef>
                  <a:spcPct val="0"/>
                </a:spcBef>
                <a:spcAft>
                  <a:spcPct val="0"/>
                </a:spcAft>
              </a:pPr>
              <a:t>40</a:t>
            </a:fld>
            <a:endParaRPr lang="en-US" sz="1000">
              <a:latin typeface="Times New Roman" charset="0"/>
              <a:ea typeface="MS PGothic" charset="0"/>
              <a:cs typeface="MS PGothic" charset="0"/>
            </a:endParaRPr>
          </a:p>
        </p:txBody>
      </p:sp>
      <p:sp>
        <p:nvSpPr>
          <p:cNvPr id="62466" name="Rectangle 2"/>
          <p:cNvSpPr>
            <a:spLocks noGrp="1" noRot="1" noChangeAspect="1" noChangeArrowheads="1" noTextEdit="1"/>
          </p:cNvSpPr>
          <p:nvPr>
            <p:ph type="sldImg"/>
          </p:nvPr>
        </p:nvSpPr>
        <p:spPr bwMode="auto">
          <a:xfrm>
            <a:off x="366713" y="674688"/>
            <a:ext cx="6124575" cy="3446462"/>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2467" name="Rectangle 3"/>
          <p:cNvSpPr>
            <a:spLocks noGrp="1" noChangeArrowheads="1"/>
          </p:cNvSpPr>
          <p:nvPr>
            <p:ph type="body" idx="1"/>
          </p:nvPr>
        </p:nvSpPr>
        <p:spPr bwMode="auto">
          <a:xfrm>
            <a:off x="893764" y="4347251"/>
            <a:ext cx="5070475" cy="412093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defTabSz="920750"/>
            <a:endParaRPr lang="fr-CA">
              <a:latin typeface="Calibri" charset="0"/>
              <a:ea typeface="MS PGothic" charset="0"/>
              <a:cs typeface="MS PGothic" charset="0"/>
            </a:endParaRPr>
          </a:p>
        </p:txBody>
      </p:sp>
    </p:spTree>
    <p:extLst>
      <p:ext uri="{BB962C8B-B14F-4D97-AF65-F5344CB8AC3E}">
        <p14:creationId xmlns:p14="http://schemas.microsoft.com/office/powerpoint/2010/main" val="3215754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5"/>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898525" eaLnBrk="0" hangingPunct="0">
              <a:defRPr sz="2400">
                <a:solidFill>
                  <a:schemeClr val="tx1"/>
                </a:solidFill>
                <a:latin typeface="Calibri" charset="0"/>
                <a:ea typeface="ＭＳ Ｐゴシック" charset="0"/>
                <a:cs typeface="ＭＳ Ｐゴシック" charset="0"/>
              </a:defRPr>
            </a:lvl1pPr>
            <a:lvl2pPr marL="742950" indent="-285750" defTabSz="898525" eaLnBrk="0" hangingPunct="0">
              <a:defRPr sz="2400">
                <a:solidFill>
                  <a:schemeClr val="tx1"/>
                </a:solidFill>
                <a:latin typeface="Calibri" charset="0"/>
                <a:ea typeface="ＭＳ Ｐゴシック" charset="0"/>
              </a:defRPr>
            </a:lvl2pPr>
            <a:lvl3pPr marL="1143000" indent="-228600" defTabSz="898525" eaLnBrk="0" hangingPunct="0">
              <a:defRPr sz="2400">
                <a:solidFill>
                  <a:schemeClr val="tx1"/>
                </a:solidFill>
                <a:latin typeface="Calibri" charset="0"/>
                <a:ea typeface="ＭＳ Ｐゴシック" charset="0"/>
              </a:defRPr>
            </a:lvl3pPr>
            <a:lvl4pPr marL="1600200" indent="-228600" defTabSz="898525" eaLnBrk="0" hangingPunct="0">
              <a:defRPr sz="2400">
                <a:solidFill>
                  <a:schemeClr val="tx1"/>
                </a:solidFill>
                <a:latin typeface="Calibri" charset="0"/>
                <a:ea typeface="ＭＳ Ｐゴシック" charset="0"/>
              </a:defRPr>
            </a:lvl4pPr>
            <a:lvl5pPr marL="2057400" indent="-228600" defTabSz="898525" eaLnBrk="0" hangingPunct="0">
              <a:defRPr sz="2400">
                <a:solidFill>
                  <a:schemeClr val="tx1"/>
                </a:solidFill>
                <a:latin typeface="Calibri" charset="0"/>
                <a:ea typeface="ＭＳ Ｐゴシック" charset="0"/>
              </a:defRPr>
            </a:lvl5pPr>
            <a:lvl6pPr marL="2514600" indent="-228600" defTabSz="898525" eaLnBrk="0" fontAlgn="base" hangingPunct="0">
              <a:spcBef>
                <a:spcPct val="0"/>
              </a:spcBef>
              <a:spcAft>
                <a:spcPct val="0"/>
              </a:spcAft>
              <a:defRPr sz="2400">
                <a:solidFill>
                  <a:schemeClr val="tx1"/>
                </a:solidFill>
                <a:latin typeface="Calibri" charset="0"/>
                <a:ea typeface="ＭＳ Ｐゴシック" charset="0"/>
              </a:defRPr>
            </a:lvl6pPr>
            <a:lvl7pPr marL="2971800" indent="-228600" defTabSz="898525" eaLnBrk="0" fontAlgn="base" hangingPunct="0">
              <a:spcBef>
                <a:spcPct val="0"/>
              </a:spcBef>
              <a:spcAft>
                <a:spcPct val="0"/>
              </a:spcAft>
              <a:defRPr sz="2400">
                <a:solidFill>
                  <a:schemeClr val="tx1"/>
                </a:solidFill>
                <a:latin typeface="Calibri" charset="0"/>
                <a:ea typeface="ＭＳ Ｐゴシック" charset="0"/>
              </a:defRPr>
            </a:lvl7pPr>
            <a:lvl8pPr marL="3429000" indent="-228600" defTabSz="898525" eaLnBrk="0" fontAlgn="base" hangingPunct="0">
              <a:spcBef>
                <a:spcPct val="0"/>
              </a:spcBef>
              <a:spcAft>
                <a:spcPct val="0"/>
              </a:spcAft>
              <a:defRPr sz="2400">
                <a:solidFill>
                  <a:schemeClr val="tx1"/>
                </a:solidFill>
                <a:latin typeface="Calibri" charset="0"/>
                <a:ea typeface="ＭＳ Ｐゴシック" charset="0"/>
              </a:defRPr>
            </a:lvl8pPr>
            <a:lvl9pPr marL="3886200" indent="-228600" defTabSz="898525" eaLnBrk="0" fontAlgn="base" hangingPunct="0">
              <a:spcBef>
                <a:spcPct val="0"/>
              </a:spcBef>
              <a:spcAft>
                <a:spcPct val="0"/>
              </a:spcAft>
              <a:defRPr sz="2400">
                <a:solidFill>
                  <a:schemeClr val="tx1"/>
                </a:solidFill>
                <a:latin typeface="Calibri" charset="0"/>
                <a:ea typeface="ＭＳ Ｐゴシック" charset="0"/>
              </a:defRPr>
            </a:lvl9pPr>
          </a:lstStyle>
          <a:p>
            <a:pPr fontAlgn="base">
              <a:spcBef>
                <a:spcPct val="0"/>
              </a:spcBef>
              <a:spcAft>
                <a:spcPct val="0"/>
              </a:spcAft>
            </a:pPr>
            <a:fld id="{D3BAA916-15B5-4E4E-8D4B-CF5065ED6557}" type="slidenum">
              <a:rPr lang="en-US" sz="1000">
                <a:latin typeface="Times New Roman" charset="0"/>
                <a:ea typeface="MS PGothic" charset="0"/>
                <a:cs typeface="MS PGothic" charset="0"/>
              </a:rPr>
              <a:pPr fontAlgn="base">
                <a:spcBef>
                  <a:spcPct val="0"/>
                </a:spcBef>
                <a:spcAft>
                  <a:spcPct val="0"/>
                </a:spcAft>
              </a:pPr>
              <a:t>41</a:t>
            </a:fld>
            <a:endParaRPr lang="en-US" sz="1000">
              <a:latin typeface="Times New Roman" charset="0"/>
              <a:ea typeface="MS PGothic" charset="0"/>
              <a:cs typeface="MS PGothic" charset="0"/>
            </a:endParaRPr>
          </a:p>
        </p:txBody>
      </p:sp>
      <p:sp>
        <p:nvSpPr>
          <p:cNvPr id="66562" name="Rectangle 2"/>
          <p:cNvSpPr>
            <a:spLocks noGrp="1" noRot="1" noChangeAspect="1" noChangeArrowheads="1" noTextEdit="1"/>
          </p:cNvSpPr>
          <p:nvPr>
            <p:ph type="sldImg"/>
          </p:nvPr>
        </p:nvSpPr>
        <p:spPr bwMode="auto">
          <a:xfrm>
            <a:off x="366713" y="674688"/>
            <a:ext cx="6124575" cy="3446462"/>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6563" name="Rectangle 3"/>
          <p:cNvSpPr>
            <a:spLocks noGrp="1" noChangeArrowheads="1"/>
          </p:cNvSpPr>
          <p:nvPr>
            <p:ph type="body" idx="1"/>
          </p:nvPr>
        </p:nvSpPr>
        <p:spPr bwMode="auto">
          <a:xfrm>
            <a:off x="893764" y="4347251"/>
            <a:ext cx="5070475" cy="412093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defTabSz="920750"/>
            <a:endParaRPr lang="fr-CA">
              <a:latin typeface="Calibri" charset="0"/>
              <a:ea typeface="MS PGothic" charset="0"/>
              <a:cs typeface="MS PGothic" charset="0"/>
            </a:endParaRPr>
          </a:p>
        </p:txBody>
      </p:sp>
    </p:spTree>
    <p:extLst>
      <p:ext uri="{BB962C8B-B14F-4D97-AF65-F5344CB8AC3E}">
        <p14:creationId xmlns:p14="http://schemas.microsoft.com/office/powerpoint/2010/main" val="29206576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5"/>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898525" eaLnBrk="0" hangingPunct="0">
              <a:defRPr sz="2400">
                <a:solidFill>
                  <a:schemeClr val="tx1"/>
                </a:solidFill>
                <a:latin typeface="Calibri" charset="0"/>
                <a:ea typeface="ＭＳ Ｐゴシック" charset="0"/>
                <a:cs typeface="ＭＳ Ｐゴシック" charset="0"/>
              </a:defRPr>
            </a:lvl1pPr>
            <a:lvl2pPr marL="742950" indent="-285750" defTabSz="898525" eaLnBrk="0" hangingPunct="0">
              <a:defRPr sz="2400">
                <a:solidFill>
                  <a:schemeClr val="tx1"/>
                </a:solidFill>
                <a:latin typeface="Calibri" charset="0"/>
                <a:ea typeface="ＭＳ Ｐゴシック" charset="0"/>
              </a:defRPr>
            </a:lvl2pPr>
            <a:lvl3pPr marL="1143000" indent="-228600" defTabSz="898525" eaLnBrk="0" hangingPunct="0">
              <a:defRPr sz="2400">
                <a:solidFill>
                  <a:schemeClr val="tx1"/>
                </a:solidFill>
                <a:latin typeface="Calibri" charset="0"/>
                <a:ea typeface="ＭＳ Ｐゴシック" charset="0"/>
              </a:defRPr>
            </a:lvl3pPr>
            <a:lvl4pPr marL="1600200" indent="-228600" defTabSz="898525" eaLnBrk="0" hangingPunct="0">
              <a:defRPr sz="2400">
                <a:solidFill>
                  <a:schemeClr val="tx1"/>
                </a:solidFill>
                <a:latin typeface="Calibri" charset="0"/>
                <a:ea typeface="ＭＳ Ｐゴシック" charset="0"/>
              </a:defRPr>
            </a:lvl4pPr>
            <a:lvl5pPr marL="2057400" indent="-228600" defTabSz="898525" eaLnBrk="0" hangingPunct="0">
              <a:defRPr sz="2400">
                <a:solidFill>
                  <a:schemeClr val="tx1"/>
                </a:solidFill>
                <a:latin typeface="Calibri" charset="0"/>
                <a:ea typeface="ＭＳ Ｐゴシック" charset="0"/>
              </a:defRPr>
            </a:lvl5pPr>
            <a:lvl6pPr marL="2514600" indent="-228600" defTabSz="898525" eaLnBrk="0" fontAlgn="base" hangingPunct="0">
              <a:spcBef>
                <a:spcPct val="0"/>
              </a:spcBef>
              <a:spcAft>
                <a:spcPct val="0"/>
              </a:spcAft>
              <a:defRPr sz="2400">
                <a:solidFill>
                  <a:schemeClr val="tx1"/>
                </a:solidFill>
                <a:latin typeface="Calibri" charset="0"/>
                <a:ea typeface="ＭＳ Ｐゴシック" charset="0"/>
              </a:defRPr>
            </a:lvl6pPr>
            <a:lvl7pPr marL="2971800" indent="-228600" defTabSz="898525" eaLnBrk="0" fontAlgn="base" hangingPunct="0">
              <a:spcBef>
                <a:spcPct val="0"/>
              </a:spcBef>
              <a:spcAft>
                <a:spcPct val="0"/>
              </a:spcAft>
              <a:defRPr sz="2400">
                <a:solidFill>
                  <a:schemeClr val="tx1"/>
                </a:solidFill>
                <a:latin typeface="Calibri" charset="0"/>
                <a:ea typeface="ＭＳ Ｐゴシック" charset="0"/>
              </a:defRPr>
            </a:lvl7pPr>
            <a:lvl8pPr marL="3429000" indent="-228600" defTabSz="898525" eaLnBrk="0" fontAlgn="base" hangingPunct="0">
              <a:spcBef>
                <a:spcPct val="0"/>
              </a:spcBef>
              <a:spcAft>
                <a:spcPct val="0"/>
              </a:spcAft>
              <a:defRPr sz="2400">
                <a:solidFill>
                  <a:schemeClr val="tx1"/>
                </a:solidFill>
                <a:latin typeface="Calibri" charset="0"/>
                <a:ea typeface="ＭＳ Ｐゴシック" charset="0"/>
              </a:defRPr>
            </a:lvl8pPr>
            <a:lvl9pPr marL="3886200" indent="-228600" defTabSz="898525" eaLnBrk="0" fontAlgn="base" hangingPunct="0">
              <a:spcBef>
                <a:spcPct val="0"/>
              </a:spcBef>
              <a:spcAft>
                <a:spcPct val="0"/>
              </a:spcAft>
              <a:defRPr sz="2400">
                <a:solidFill>
                  <a:schemeClr val="tx1"/>
                </a:solidFill>
                <a:latin typeface="Calibri" charset="0"/>
                <a:ea typeface="ＭＳ Ｐゴシック" charset="0"/>
              </a:defRPr>
            </a:lvl9pPr>
          </a:lstStyle>
          <a:p>
            <a:pPr fontAlgn="base">
              <a:spcBef>
                <a:spcPct val="0"/>
              </a:spcBef>
              <a:spcAft>
                <a:spcPct val="0"/>
              </a:spcAft>
            </a:pPr>
            <a:fld id="{36E61F55-8B3C-7A44-BD8F-3AD1540B8E7E}" type="slidenum">
              <a:rPr lang="en-US" sz="1000">
                <a:latin typeface="Times New Roman" charset="0"/>
                <a:ea typeface="MS PGothic" charset="0"/>
                <a:cs typeface="MS PGothic" charset="0"/>
              </a:rPr>
              <a:pPr fontAlgn="base">
                <a:spcBef>
                  <a:spcPct val="0"/>
                </a:spcBef>
                <a:spcAft>
                  <a:spcPct val="0"/>
                </a:spcAft>
              </a:pPr>
              <a:t>57</a:t>
            </a:fld>
            <a:endParaRPr lang="en-US" sz="1000">
              <a:latin typeface="Times New Roman" charset="0"/>
              <a:ea typeface="MS PGothic" charset="0"/>
              <a:cs typeface="MS PGothic" charset="0"/>
            </a:endParaRPr>
          </a:p>
        </p:txBody>
      </p:sp>
      <p:sp>
        <p:nvSpPr>
          <p:cNvPr id="46082" name="Rectangle 2"/>
          <p:cNvSpPr>
            <a:spLocks noGrp="1" noRot="1" noChangeAspect="1" noChangeArrowheads="1" noTextEdit="1"/>
          </p:cNvSpPr>
          <p:nvPr>
            <p:ph type="sldImg"/>
          </p:nvPr>
        </p:nvSpPr>
        <p:spPr bwMode="auto">
          <a:xfrm>
            <a:off x="366713" y="674688"/>
            <a:ext cx="6124575" cy="3446462"/>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6083" name="Rectangle 3"/>
          <p:cNvSpPr>
            <a:spLocks noGrp="1" noChangeArrowheads="1"/>
          </p:cNvSpPr>
          <p:nvPr>
            <p:ph type="body" idx="1"/>
          </p:nvPr>
        </p:nvSpPr>
        <p:spPr bwMode="auto">
          <a:xfrm>
            <a:off x="893764" y="4347251"/>
            <a:ext cx="5070475" cy="412093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defTabSz="920750"/>
            <a:endParaRPr lang="fr-CA">
              <a:latin typeface="Calibri" charset="0"/>
              <a:ea typeface="MS PGothic" charset="0"/>
              <a:cs typeface="MS PGothic" charset="0"/>
            </a:endParaRPr>
          </a:p>
        </p:txBody>
      </p:sp>
    </p:spTree>
    <p:extLst>
      <p:ext uri="{BB962C8B-B14F-4D97-AF65-F5344CB8AC3E}">
        <p14:creationId xmlns:p14="http://schemas.microsoft.com/office/powerpoint/2010/main" val="3070015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E87E0E5-93E4-4ABF-8F95-E1BCD44EC27D}" type="datetime1">
              <a:rPr lang="fr-FR" smtClean="0"/>
              <a:t>22/02/2025</a:t>
            </a:fld>
            <a:endParaRPr lang="fr-F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r>
              <a:rPr lang="fr-FR"/>
              <a:t>Droits réservés Louise Overbeek</a:t>
            </a: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2EA31DA-C5E9-4F8B-B6E9-F53BC230C270}" type="slidenum">
              <a:rPr lang="fr-FR" smtClean="0"/>
              <a:t>‹N°›</a:t>
            </a:fld>
            <a:endParaRPr lang="fr-FR"/>
          </a:p>
        </p:txBody>
      </p:sp>
    </p:spTree>
    <p:extLst>
      <p:ext uri="{BB962C8B-B14F-4D97-AF65-F5344CB8AC3E}">
        <p14:creationId xmlns:p14="http://schemas.microsoft.com/office/powerpoint/2010/main" val="1717301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D1B05EC-8E46-4F89-BE5F-65C7A36CBD02}" type="datetime1">
              <a:rPr lang="fr-FR" smtClean="0"/>
              <a:t>22/02/2025</a:t>
            </a:fld>
            <a:endParaRPr lang="fr-FR"/>
          </a:p>
        </p:txBody>
      </p:sp>
      <p:sp>
        <p:nvSpPr>
          <p:cNvPr id="5" name="Footer Placeholder 4"/>
          <p:cNvSpPr>
            <a:spLocks noGrp="1"/>
          </p:cNvSpPr>
          <p:nvPr>
            <p:ph type="ftr" sz="quarter" idx="11"/>
          </p:nvPr>
        </p:nvSpPr>
        <p:spPr/>
        <p:txBody>
          <a:bodyPr/>
          <a:lstStyle/>
          <a:p>
            <a:r>
              <a:rPr lang="fr-FR"/>
              <a:t>Droits réservés Louise Overbeek</a:t>
            </a:r>
          </a:p>
        </p:txBody>
      </p:sp>
      <p:sp>
        <p:nvSpPr>
          <p:cNvPr id="6" name="Slide Number Placeholder 5"/>
          <p:cNvSpPr>
            <a:spLocks noGrp="1"/>
          </p:cNvSpPr>
          <p:nvPr>
            <p:ph type="sldNum" sz="quarter" idx="12"/>
          </p:nvPr>
        </p:nvSpPr>
        <p:spPr>
          <a:xfrm>
            <a:off x="10558300" y="5956137"/>
            <a:ext cx="1052508" cy="365125"/>
          </a:xfrm>
        </p:spPr>
        <p:txBody>
          <a:bodyPr/>
          <a:lstStyle/>
          <a:p>
            <a:fld id="{82EA31DA-C5E9-4F8B-B6E9-F53BC230C270}" type="slidenum">
              <a:rPr lang="fr-FR" smtClean="0"/>
              <a:t>‹N°›</a:t>
            </a:fld>
            <a:endParaRPr lang="fr-FR"/>
          </a:p>
        </p:txBody>
      </p:sp>
    </p:spTree>
    <p:extLst>
      <p:ext uri="{BB962C8B-B14F-4D97-AF65-F5344CB8AC3E}">
        <p14:creationId xmlns:p14="http://schemas.microsoft.com/office/powerpoint/2010/main" val="2036266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fr-FR"/>
              <a:t>Modifiez le style du titre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8F14E81-4B2C-4853-9878-737BB2380F79}" type="datetime1">
              <a:rPr lang="fr-FR" smtClean="0"/>
              <a:t>22/02/2025</a:t>
            </a:fld>
            <a:endParaRPr lang="fr-F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fr-FR"/>
              <a:t>Droits réservés Louise Overbeek</a:t>
            </a: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2EA31DA-C5E9-4F8B-B6E9-F53BC230C270}" type="slidenum">
              <a:rPr lang="fr-FR" smtClean="0"/>
              <a:t>‹N°›</a:t>
            </a:fld>
            <a:endParaRPr lang="fr-FR"/>
          </a:p>
        </p:txBody>
      </p:sp>
    </p:spTree>
    <p:extLst>
      <p:ext uri="{BB962C8B-B14F-4D97-AF65-F5344CB8AC3E}">
        <p14:creationId xmlns:p14="http://schemas.microsoft.com/office/powerpoint/2010/main" val="343226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EC61D26-6AD0-4E18-88AE-826663662F69}" type="datetime1">
              <a:rPr lang="fr-FR" smtClean="0"/>
              <a:t>22/02/2025</a:t>
            </a:fld>
            <a:endParaRPr lang="fr-FR"/>
          </a:p>
        </p:txBody>
      </p:sp>
      <p:sp>
        <p:nvSpPr>
          <p:cNvPr id="6" name="Footer Placeholder 5"/>
          <p:cNvSpPr>
            <a:spLocks noGrp="1"/>
          </p:cNvSpPr>
          <p:nvPr>
            <p:ph type="ftr" sz="quarter" idx="11"/>
          </p:nvPr>
        </p:nvSpPr>
        <p:spPr/>
        <p:txBody>
          <a:bodyPr/>
          <a:lstStyle/>
          <a:p>
            <a:r>
              <a:rPr lang="fr-FR"/>
              <a:t>Droits réservés Louise Overbeek</a:t>
            </a:r>
          </a:p>
        </p:txBody>
      </p:sp>
      <p:sp>
        <p:nvSpPr>
          <p:cNvPr id="7" name="Slide Number Placeholder 6"/>
          <p:cNvSpPr>
            <a:spLocks noGrp="1"/>
          </p:cNvSpPr>
          <p:nvPr>
            <p:ph type="sldNum" sz="quarter" idx="12"/>
          </p:nvPr>
        </p:nvSpPr>
        <p:spPr/>
        <p:txBody>
          <a:bodyPr/>
          <a:lstStyle/>
          <a:p>
            <a:fld id="{82EA31DA-C5E9-4F8B-B6E9-F53BC230C270}" type="slidenum">
              <a:rPr lang="fr-FR" smtClean="0"/>
              <a:t>‹N°›</a:t>
            </a:fld>
            <a:endParaRPr lang="fr-FR"/>
          </a:p>
        </p:txBody>
      </p:sp>
    </p:spTree>
    <p:extLst>
      <p:ext uri="{BB962C8B-B14F-4D97-AF65-F5344CB8AC3E}">
        <p14:creationId xmlns:p14="http://schemas.microsoft.com/office/powerpoint/2010/main" val="3143495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88454CF-4DE5-4B51-980E-AACC3B24A253}" type="datetime1">
              <a:rPr lang="fr-FR" smtClean="0"/>
              <a:t>22/02/2025</a:t>
            </a:fld>
            <a:endParaRPr lang="fr-FR"/>
          </a:p>
        </p:txBody>
      </p:sp>
      <p:sp>
        <p:nvSpPr>
          <p:cNvPr id="8" name="Footer Placeholder 7"/>
          <p:cNvSpPr>
            <a:spLocks noGrp="1"/>
          </p:cNvSpPr>
          <p:nvPr>
            <p:ph type="ftr" sz="quarter" idx="11"/>
          </p:nvPr>
        </p:nvSpPr>
        <p:spPr/>
        <p:txBody>
          <a:bodyPr/>
          <a:lstStyle/>
          <a:p>
            <a:r>
              <a:rPr lang="fr-FR"/>
              <a:t>Droits réservés Louise Overbeek</a:t>
            </a:r>
          </a:p>
        </p:txBody>
      </p:sp>
      <p:sp>
        <p:nvSpPr>
          <p:cNvPr id="9" name="Slide Number Placeholder 8"/>
          <p:cNvSpPr>
            <a:spLocks noGrp="1"/>
          </p:cNvSpPr>
          <p:nvPr>
            <p:ph type="sldNum" sz="quarter" idx="12"/>
          </p:nvPr>
        </p:nvSpPr>
        <p:spPr/>
        <p:txBody>
          <a:bodyPr/>
          <a:lstStyle/>
          <a:p>
            <a:fld id="{82EA31DA-C5E9-4F8B-B6E9-F53BC230C270}" type="slidenum">
              <a:rPr lang="fr-FR" smtClean="0"/>
              <a:t>‹N°›</a:t>
            </a:fld>
            <a:endParaRPr lang="fr-FR"/>
          </a:p>
        </p:txBody>
      </p:sp>
    </p:spTree>
    <p:extLst>
      <p:ext uri="{BB962C8B-B14F-4D97-AF65-F5344CB8AC3E}">
        <p14:creationId xmlns:p14="http://schemas.microsoft.com/office/powerpoint/2010/main" val="3079830752"/>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3B6882F-AA99-4D2F-A4AA-2FE2ECF9DE75}" type="datetime1">
              <a:rPr lang="fr-FR" smtClean="0"/>
              <a:t>22/02/2025</a:t>
            </a:fld>
            <a:endParaRPr lang="fr-FR"/>
          </a:p>
        </p:txBody>
      </p:sp>
      <p:sp>
        <p:nvSpPr>
          <p:cNvPr id="4" name="Footer Placeholder 3"/>
          <p:cNvSpPr>
            <a:spLocks noGrp="1"/>
          </p:cNvSpPr>
          <p:nvPr>
            <p:ph type="ftr" sz="quarter" idx="11"/>
          </p:nvPr>
        </p:nvSpPr>
        <p:spPr/>
        <p:txBody>
          <a:bodyPr/>
          <a:lstStyle/>
          <a:p>
            <a:r>
              <a:rPr lang="fr-FR"/>
              <a:t>Droits réservés Louise Overbeek</a:t>
            </a:r>
          </a:p>
        </p:txBody>
      </p:sp>
      <p:sp>
        <p:nvSpPr>
          <p:cNvPr id="5" name="Slide Number Placeholder 4"/>
          <p:cNvSpPr>
            <a:spLocks noGrp="1"/>
          </p:cNvSpPr>
          <p:nvPr>
            <p:ph type="sldNum" sz="quarter" idx="12"/>
          </p:nvPr>
        </p:nvSpPr>
        <p:spPr/>
        <p:txBody>
          <a:bodyPr/>
          <a:lstStyle/>
          <a:p>
            <a:fld id="{82EA31DA-C5E9-4F8B-B6E9-F53BC230C270}" type="slidenum">
              <a:rPr lang="fr-FR" smtClean="0"/>
              <a:t>‹N°›</a:t>
            </a:fld>
            <a:endParaRPr lang="fr-FR"/>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fr-FR"/>
              <a:t>Modifiez le style du titre</a:t>
            </a:r>
            <a:endParaRPr lang="en-US" dirty="0"/>
          </a:p>
        </p:txBody>
      </p:sp>
    </p:spTree>
    <p:extLst>
      <p:ext uri="{BB962C8B-B14F-4D97-AF65-F5344CB8AC3E}">
        <p14:creationId xmlns:p14="http://schemas.microsoft.com/office/powerpoint/2010/main" val="3413540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1387D4-0B53-4F01-BC63-C8628E60CF78}" type="datetime1">
              <a:rPr lang="fr-FR" smtClean="0"/>
              <a:t>22/02/2025</a:t>
            </a:fld>
            <a:endParaRPr lang="fr-FR"/>
          </a:p>
        </p:txBody>
      </p:sp>
      <p:sp>
        <p:nvSpPr>
          <p:cNvPr id="3" name="Footer Placeholder 2"/>
          <p:cNvSpPr>
            <a:spLocks noGrp="1"/>
          </p:cNvSpPr>
          <p:nvPr>
            <p:ph type="ftr" sz="quarter" idx="11"/>
          </p:nvPr>
        </p:nvSpPr>
        <p:spPr/>
        <p:txBody>
          <a:bodyPr/>
          <a:lstStyle/>
          <a:p>
            <a:r>
              <a:rPr lang="fr-FR"/>
              <a:t>Droits réservés Louise Overbeek</a:t>
            </a:r>
          </a:p>
        </p:txBody>
      </p:sp>
      <p:sp>
        <p:nvSpPr>
          <p:cNvPr id="4" name="Slide Number Placeholder 3"/>
          <p:cNvSpPr>
            <a:spLocks noGrp="1"/>
          </p:cNvSpPr>
          <p:nvPr>
            <p:ph type="sldNum" sz="quarter" idx="12"/>
          </p:nvPr>
        </p:nvSpPr>
        <p:spPr/>
        <p:txBody>
          <a:bodyPr/>
          <a:lstStyle/>
          <a:p>
            <a:fld id="{82EA31DA-C5E9-4F8B-B6E9-F53BC230C270}" type="slidenum">
              <a:rPr lang="fr-FR" smtClean="0"/>
              <a:t>‹N°›</a:t>
            </a:fld>
            <a:endParaRPr lang="fr-FR"/>
          </a:p>
        </p:txBody>
      </p:sp>
    </p:spTree>
    <p:extLst>
      <p:ext uri="{BB962C8B-B14F-4D97-AF65-F5344CB8AC3E}">
        <p14:creationId xmlns:p14="http://schemas.microsoft.com/office/powerpoint/2010/main" val="3576640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fr-FR"/>
              <a:t>Modifiez le style du titre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57A4D4D7-B87D-4AB9-A9C5-66E4C096F651}" type="datetime1">
              <a:rPr lang="fr-FR" smtClean="0"/>
              <a:t>22/02/2025</a:t>
            </a:fld>
            <a:endParaRPr lang="fr-F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fr-FR"/>
              <a:t>Droits réservés Louise Overbeek</a:t>
            </a: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2EA31DA-C5E9-4F8B-B6E9-F53BC230C270}" type="slidenum">
              <a:rPr lang="fr-FR" smtClean="0"/>
              <a:t>‹N°›</a:t>
            </a:fld>
            <a:endParaRPr lang="fr-FR"/>
          </a:p>
        </p:txBody>
      </p:sp>
    </p:spTree>
    <p:extLst>
      <p:ext uri="{BB962C8B-B14F-4D97-AF65-F5344CB8AC3E}">
        <p14:creationId xmlns:p14="http://schemas.microsoft.com/office/powerpoint/2010/main" val="3818496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69BB9D8-2C5D-4468-88D2-3122BF24BF27}" type="datetime1">
              <a:rPr lang="fr-FR" smtClean="0"/>
              <a:t>22/02/2025</a:t>
            </a:fld>
            <a:endParaRPr lang="fr-FR"/>
          </a:p>
        </p:txBody>
      </p:sp>
      <p:sp>
        <p:nvSpPr>
          <p:cNvPr id="6" name="Footer Placeholder 5"/>
          <p:cNvSpPr>
            <a:spLocks noGrp="1"/>
          </p:cNvSpPr>
          <p:nvPr>
            <p:ph type="ftr" sz="quarter" idx="11"/>
          </p:nvPr>
        </p:nvSpPr>
        <p:spPr/>
        <p:txBody>
          <a:bodyPr/>
          <a:lstStyle/>
          <a:p>
            <a:r>
              <a:rPr lang="fr-FR"/>
              <a:t>Droits réservés Louise Overbeek</a:t>
            </a:r>
          </a:p>
        </p:txBody>
      </p:sp>
      <p:sp>
        <p:nvSpPr>
          <p:cNvPr id="7" name="Slide Number Placeholder 6"/>
          <p:cNvSpPr>
            <a:spLocks noGrp="1"/>
          </p:cNvSpPr>
          <p:nvPr>
            <p:ph type="sldNum" sz="quarter" idx="12"/>
          </p:nvPr>
        </p:nvSpPr>
        <p:spPr/>
        <p:txBody>
          <a:bodyPr/>
          <a:lstStyle/>
          <a:p>
            <a:fld id="{82EA31DA-C5E9-4F8B-B6E9-F53BC230C270}" type="slidenum">
              <a:rPr lang="fr-FR" smtClean="0"/>
              <a:t>‹N°›</a:t>
            </a:fld>
            <a:endParaRPr lang="fr-FR"/>
          </a:p>
        </p:txBody>
      </p:sp>
    </p:spTree>
    <p:extLst>
      <p:ext uri="{BB962C8B-B14F-4D97-AF65-F5344CB8AC3E}">
        <p14:creationId xmlns:p14="http://schemas.microsoft.com/office/powerpoint/2010/main" val="1748116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8DB0E6B-17CD-4435-BD0F-26616DCB5F9F}" type="datetime1">
              <a:rPr lang="fr-FR" smtClean="0"/>
              <a:t>22/02/2025</a:t>
            </a:fld>
            <a:endParaRPr lang="fr-FR"/>
          </a:p>
        </p:txBody>
      </p:sp>
      <p:sp>
        <p:nvSpPr>
          <p:cNvPr id="5" name="Footer Placeholder 4"/>
          <p:cNvSpPr>
            <a:spLocks noGrp="1"/>
          </p:cNvSpPr>
          <p:nvPr>
            <p:ph type="ftr" sz="quarter" idx="11"/>
          </p:nvPr>
        </p:nvSpPr>
        <p:spPr/>
        <p:txBody>
          <a:bodyPr/>
          <a:lstStyle/>
          <a:p>
            <a:r>
              <a:rPr lang="fr-FR"/>
              <a:t>Droits réservés Louise Overbeek</a:t>
            </a:r>
          </a:p>
        </p:txBody>
      </p:sp>
      <p:sp>
        <p:nvSpPr>
          <p:cNvPr id="6" name="Slide Number Placeholder 5"/>
          <p:cNvSpPr>
            <a:spLocks noGrp="1"/>
          </p:cNvSpPr>
          <p:nvPr>
            <p:ph type="sldNum" sz="quarter" idx="12"/>
          </p:nvPr>
        </p:nvSpPr>
        <p:spPr/>
        <p:txBody>
          <a:bodyPr/>
          <a:lstStyle/>
          <a:p>
            <a:fld id="{82EA31DA-C5E9-4F8B-B6E9-F53BC230C270}" type="slidenum">
              <a:rPr lang="fr-FR" smtClean="0"/>
              <a:t>‹N°›</a:t>
            </a:fld>
            <a:endParaRPr lang="fr-FR"/>
          </a:p>
        </p:txBody>
      </p:sp>
    </p:spTree>
    <p:extLst>
      <p:ext uri="{BB962C8B-B14F-4D97-AF65-F5344CB8AC3E}">
        <p14:creationId xmlns:p14="http://schemas.microsoft.com/office/powerpoint/2010/main" val="2917959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F9B03931-EF47-4D84-B0A9-B500F3052C46}" type="datetime1">
              <a:rPr lang="fr-FR" smtClean="0"/>
              <a:t>22/02/2025</a:t>
            </a:fld>
            <a:endParaRPr lang="fr-FR"/>
          </a:p>
        </p:txBody>
      </p:sp>
      <p:sp>
        <p:nvSpPr>
          <p:cNvPr id="5" name="Footer Placeholder 4"/>
          <p:cNvSpPr>
            <a:spLocks noGrp="1"/>
          </p:cNvSpPr>
          <p:nvPr>
            <p:ph type="ftr" sz="quarter" idx="11"/>
          </p:nvPr>
        </p:nvSpPr>
        <p:spPr>
          <a:xfrm>
            <a:off x="774923" y="5951811"/>
            <a:ext cx="7896279" cy="365125"/>
          </a:xfrm>
        </p:spPr>
        <p:txBody>
          <a:bodyPr/>
          <a:lstStyle/>
          <a:p>
            <a:r>
              <a:rPr lang="fr-FR"/>
              <a:t>Droits réservés Louise Overbeek</a:t>
            </a: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2EA31DA-C5E9-4F8B-B6E9-F53BC230C270}" type="slidenum">
              <a:rPr lang="fr-FR" smtClean="0"/>
              <a:t>‹N°›</a:t>
            </a:fld>
            <a:endParaRPr lang="fr-FR"/>
          </a:p>
        </p:txBody>
      </p:sp>
    </p:spTree>
    <p:extLst>
      <p:ext uri="{BB962C8B-B14F-4D97-AF65-F5344CB8AC3E}">
        <p14:creationId xmlns:p14="http://schemas.microsoft.com/office/powerpoint/2010/main" val="695823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88454CF-4DE5-4B51-980E-AACC3B24A253}" type="datetime1">
              <a:rPr lang="fr-FR" smtClean="0"/>
              <a:t>22/02/2025</a:t>
            </a:fld>
            <a:endParaRPr lang="fr-F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fr-FR"/>
              <a:t>Droits réservés Louise Overbeek</a:t>
            </a: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2EA31DA-C5E9-4F8B-B6E9-F53BC230C270}" type="slidenum">
              <a:rPr lang="fr-FR" smtClean="0"/>
              <a:t>‹N°›</a:t>
            </a:fld>
            <a:endParaRPr lang="fr-F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18148484"/>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sldNum="0" hd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8_DE6D949E.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proxy2.hec.ca:2916/Knowledge/Home.aspx?productID=114"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4CBB86-9767-43FC-82A8-890F9E399382}"/>
              </a:ext>
            </a:extLst>
          </p:cNvPr>
          <p:cNvSpPr>
            <a:spLocks noGrp="1"/>
          </p:cNvSpPr>
          <p:nvPr>
            <p:ph type="ctrTitle"/>
          </p:nvPr>
        </p:nvSpPr>
        <p:spPr>
          <a:xfrm>
            <a:off x="581191" y="1020433"/>
            <a:ext cx="10993549" cy="798208"/>
          </a:xfrm>
        </p:spPr>
        <p:txBody>
          <a:bodyPr/>
          <a:lstStyle/>
          <a:p>
            <a:r>
              <a:rPr lang="fr-CA" b="1" dirty="0"/>
              <a:t>Résultat par action</a:t>
            </a:r>
            <a:endParaRPr lang="fr-FR" b="1" dirty="0"/>
          </a:p>
        </p:txBody>
      </p:sp>
      <p:sp>
        <p:nvSpPr>
          <p:cNvPr id="3" name="Sous-titre 2">
            <a:extLst>
              <a:ext uri="{FF2B5EF4-FFF2-40B4-BE49-F238E27FC236}">
                <a16:creationId xmlns:a16="http://schemas.microsoft.com/office/drawing/2014/main" id="{966FAE5C-CF89-4739-8646-8479105B2D15}"/>
              </a:ext>
            </a:extLst>
          </p:cNvPr>
          <p:cNvSpPr>
            <a:spLocks noGrp="1"/>
          </p:cNvSpPr>
          <p:nvPr>
            <p:ph type="subTitle" idx="1"/>
          </p:nvPr>
        </p:nvSpPr>
        <p:spPr>
          <a:xfrm>
            <a:off x="581188" y="3232438"/>
            <a:ext cx="10993546" cy="2020282"/>
          </a:xfrm>
        </p:spPr>
        <p:txBody>
          <a:bodyPr>
            <a:noAutofit/>
          </a:bodyPr>
          <a:lstStyle/>
          <a:p>
            <a:r>
              <a:rPr lang="fr-CA" sz="2000" dirty="0"/>
              <a:t>Louise Overbeek</a:t>
            </a:r>
          </a:p>
          <a:p>
            <a:r>
              <a:rPr lang="fr-CA" sz="2000" dirty="0"/>
              <a:t>Véronique Béland</a:t>
            </a:r>
          </a:p>
          <a:p>
            <a:endParaRPr lang="fr-CA" sz="2000" dirty="0"/>
          </a:p>
          <a:p>
            <a:r>
              <a:rPr lang="fr-CA" sz="2000" dirty="0"/>
              <a:t>octobre 2022</a:t>
            </a:r>
          </a:p>
        </p:txBody>
      </p:sp>
    </p:spTree>
    <p:extLst>
      <p:ext uri="{BB962C8B-B14F-4D97-AF65-F5344CB8AC3E}">
        <p14:creationId xmlns:p14="http://schemas.microsoft.com/office/powerpoint/2010/main" val="1293806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E7501F-92C4-F5E3-500E-5DBDDA933054}"/>
              </a:ext>
            </a:extLst>
          </p:cNvPr>
          <p:cNvSpPr>
            <a:spLocks noGrp="1"/>
          </p:cNvSpPr>
          <p:nvPr>
            <p:ph type="title"/>
          </p:nvPr>
        </p:nvSpPr>
        <p:spPr/>
        <p:txBody>
          <a:bodyPr/>
          <a:lstStyle/>
          <a:p>
            <a:r>
              <a:rPr lang="fr-CA" dirty="0"/>
              <a:t>Résultat par action (IAS 33)</a:t>
            </a:r>
          </a:p>
        </p:txBody>
      </p:sp>
      <p:sp>
        <p:nvSpPr>
          <p:cNvPr id="3" name="Espace réservé du contenu 2">
            <a:extLst>
              <a:ext uri="{FF2B5EF4-FFF2-40B4-BE49-F238E27FC236}">
                <a16:creationId xmlns:a16="http://schemas.microsoft.com/office/drawing/2014/main" id="{59DE9AC4-35F8-7D08-773B-85344B1DE494}"/>
              </a:ext>
            </a:extLst>
          </p:cNvPr>
          <p:cNvSpPr>
            <a:spLocks noGrp="1"/>
          </p:cNvSpPr>
          <p:nvPr>
            <p:ph idx="1"/>
          </p:nvPr>
        </p:nvSpPr>
        <p:spPr>
          <a:xfrm>
            <a:off x="581192" y="1899919"/>
            <a:ext cx="11029615" cy="4681355"/>
          </a:xfrm>
        </p:spPr>
        <p:txBody>
          <a:bodyPr>
            <a:normAutofit lnSpcReduction="10000"/>
          </a:bodyPr>
          <a:lstStyle/>
          <a:p>
            <a:r>
              <a:rPr lang="fr-CA" sz="2000" dirty="0"/>
              <a:t>Contexte</a:t>
            </a:r>
          </a:p>
          <a:p>
            <a:r>
              <a:rPr lang="fr-CA" sz="2000" dirty="0"/>
              <a:t>IAS 33</a:t>
            </a:r>
          </a:p>
          <a:p>
            <a:pPr lvl="1"/>
            <a:r>
              <a:rPr lang="fr-CA" sz="1800" dirty="0"/>
              <a:t>Résultat de base par action</a:t>
            </a:r>
          </a:p>
          <a:p>
            <a:pPr lvl="2"/>
            <a:r>
              <a:rPr lang="fr-CA" sz="1600" dirty="0"/>
              <a:t>Présentation</a:t>
            </a:r>
          </a:p>
          <a:p>
            <a:pPr lvl="2"/>
            <a:r>
              <a:rPr lang="fr-CA" sz="1600" dirty="0"/>
              <a:t>Éléments entrant dans le calcul et norme</a:t>
            </a:r>
          </a:p>
          <a:p>
            <a:pPr lvl="2"/>
            <a:r>
              <a:rPr lang="fr-CA" sz="1600" dirty="0"/>
              <a:t>Exemple – analyse et calcul</a:t>
            </a:r>
          </a:p>
          <a:p>
            <a:pPr lvl="1"/>
            <a:r>
              <a:rPr lang="fr-CA" sz="1800" dirty="0"/>
              <a:t>Résultat par action dilué</a:t>
            </a:r>
          </a:p>
          <a:p>
            <a:pPr lvl="2"/>
            <a:r>
              <a:rPr lang="fr-CA" sz="1600" dirty="0"/>
              <a:t>Présentation</a:t>
            </a:r>
          </a:p>
          <a:p>
            <a:pPr lvl="2"/>
            <a:r>
              <a:rPr lang="fr-CA" sz="1600" dirty="0"/>
              <a:t>Éléments entrant dans le calcul et norme</a:t>
            </a:r>
          </a:p>
          <a:p>
            <a:pPr lvl="2"/>
            <a:r>
              <a:rPr lang="fr-CA" sz="1600" dirty="0"/>
              <a:t>Exemple – analyse et calcul</a:t>
            </a:r>
          </a:p>
          <a:p>
            <a:pPr lvl="1"/>
            <a:r>
              <a:rPr lang="fr-CA" sz="1800" dirty="0"/>
              <a:t>Activités abandonnées</a:t>
            </a:r>
          </a:p>
          <a:p>
            <a:r>
              <a:rPr lang="fr-CA" sz="2000" dirty="0"/>
              <a:t>Exemples</a:t>
            </a:r>
          </a:p>
        </p:txBody>
      </p:sp>
      <p:sp>
        <p:nvSpPr>
          <p:cNvPr id="4" name="Espace réservé du pied de page 3">
            <a:extLst>
              <a:ext uri="{FF2B5EF4-FFF2-40B4-BE49-F238E27FC236}">
                <a16:creationId xmlns:a16="http://schemas.microsoft.com/office/drawing/2014/main" id="{DD4D730D-04A2-9C85-47CF-C8B78C363C44}"/>
              </a:ext>
            </a:extLst>
          </p:cNvPr>
          <p:cNvSpPr>
            <a:spLocks noGrp="1"/>
          </p:cNvSpPr>
          <p:nvPr>
            <p:ph type="ftr" sz="quarter" idx="11"/>
          </p:nvPr>
        </p:nvSpPr>
        <p:spPr>
          <a:xfrm>
            <a:off x="713539" y="6492875"/>
            <a:ext cx="6917210" cy="365125"/>
          </a:xfrm>
        </p:spPr>
        <p:txBody>
          <a:bodyPr/>
          <a:lstStyle/>
          <a:p>
            <a:r>
              <a:rPr lang="fr-FR" dirty="0"/>
              <a:t>Droits réservés Louise Overbeek</a:t>
            </a:r>
          </a:p>
        </p:txBody>
      </p:sp>
    </p:spTree>
    <p:extLst>
      <p:ext uri="{BB962C8B-B14F-4D97-AF65-F5344CB8AC3E}">
        <p14:creationId xmlns:p14="http://schemas.microsoft.com/office/powerpoint/2010/main" val="2218884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fr-FR" dirty="0">
                <a:latin typeface="Calibri" charset="0"/>
                <a:ea typeface="MS PGothic" charset="0"/>
                <a:cs typeface="MS PGothic" charset="0"/>
              </a:rPr>
              <a:t>Contexte</a:t>
            </a:r>
          </a:p>
        </p:txBody>
      </p:sp>
      <p:sp>
        <p:nvSpPr>
          <p:cNvPr id="10242" name="Rectangle 3"/>
          <p:cNvSpPr>
            <a:spLocks noGrp="1" noChangeArrowheads="1"/>
          </p:cNvSpPr>
          <p:nvPr>
            <p:ph idx="1"/>
          </p:nvPr>
        </p:nvSpPr>
        <p:spPr>
          <a:xfrm>
            <a:off x="961534" y="1818640"/>
            <a:ext cx="10392266" cy="4188460"/>
          </a:xfrm>
        </p:spPr>
        <p:txBody>
          <a:bodyPr>
            <a:normAutofit/>
          </a:bodyPr>
          <a:lstStyle/>
          <a:p>
            <a:pPr marL="109537" indent="0">
              <a:buNone/>
              <a:defRPr/>
            </a:pPr>
            <a:r>
              <a:rPr lang="fr-FR" altLang="en-US" sz="2000" b="1" dirty="0"/>
              <a:t>Objectif</a:t>
            </a:r>
            <a:r>
              <a:rPr lang="fr-FR" altLang="en-US" sz="2000" dirty="0"/>
              <a:t> :</a:t>
            </a:r>
          </a:p>
          <a:p>
            <a:pPr marL="566737" indent="-457200">
              <a:defRPr/>
            </a:pPr>
            <a:r>
              <a:rPr lang="fr-FR" altLang="en-US" sz="2000" dirty="0"/>
              <a:t>Améliorer les comparaisons de la performance entre des entités différentes pour une même période de présentation et entre des périodes de présentation différentes pour la même entité</a:t>
            </a:r>
          </a:p>
          <a:p>
            <a:pPr marL="109537" indent="0">
              <a:buNone/>
              <a:defRPr/>
            </a:pPr>
            <a:endParaRPr lang="fr-FR" altLang="en-US" sz="2000" dirty="0"/>
          </a:p>
          <a:p>
            <a:pPr marL="109537" indent="0">
              <a:buNone/>
              <a:defRPr/>
            </a:pPr>
            <a:r>
              <a:rPr lang="fr-FR" altLang="en-US" sz="2000" b="1" dirty="0"/>
              <a:t>Limites </a:t>
            </a:r>
            <a:r>
              <a:rPr lang="fr-FR" altLang="en-US" sz="2000" dirty="0"/>
              <a:t>:</a:t>
            </a:r>
          </a:p>
          <a:p>
            <a:pPr marL="566737" indent="-457200">
              <a:defRPr/>
            </a:pPr>
            <a:r>
              <a:rPr lang="fr-FR" altLang="en-US" sz="2000" dirty="0"/>
              <a:t>Emploi de méthodes comptables différentes pour déterminer le « résultat »</a:t>
            </a:r>
          </a:p>
          <a:p>
            <a:pPr eaLnBrk="1" hangingPunct="1">
              <a:buFont typeface="Wingdings" pitchFamily="2" charset="2"/>
              <a:buNone/>
              <a:defRPr/>
            </a:pPr>
            <a:endParaRPr lang="fr-FR" altLang="en-US" sz="2000" dirty="0"/>
          </a:p>
        </p:txBody>
      </p:sp>
      <p:sp>
        <p:nvSpPr>
          <p:cNvPr id="2" name="Espace réservé du pied de page 1">
            <a:extLst>
              <a:ext uri="{FF2B5EF4-FFF2-40B4-BE49-F238E27FC236}">
                <a16:creationId xmlns:a16="http://schemas.microsoft.com/office/drawing/2014/main" id="{5CECD516-C37D-4B82-B8F2-3E07EB4A5A78}"/>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2752920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p:txBody>
          <a:bodyPr/>
          <a:lstStyle/>
          <a:p>
            <a:r>
              <a:rPr lang="fr-CA" dirty="0"/>
              <a:t>Contexte</a:t>
            </a:r>
            <a:endParaRPr lang="fr-FR" dirty="0"/>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798320"/>
            <a:ext cx="11029615" cy="4662638"/>
          </a:xfrm>
        </p:spPr>
        <p:txBody>
          <a:bodyPr>
            <a:normAutofit/>
          </a:bodyPr>
          <a:lstStyle/>
          <a:p>
            <a:pPr marL="0" indent="0">
              <a:buNone/>
              <a:defRPr/>
            </a:pPr>
            <a:r>
              <a:rPr lang="fr-FR" altLang="en-US" sz="2000" b="1" dirty="0"/>
              <a:t>Que signifie le « résultat par action »?</a:t>
            </a:r>
          </a:p>
          <a:p>
            <a:pPr>
              <a:defRPr/>
            </a:pPr>
            <a:r>
              <a:rPr lang="fr-FR" altLang="en-US" sz="2000" dirty="0"/>
              <a:t>Part du résultat net disponible par action ordinaire</a:t>
            </a:r>
          </a:p>
          <a:p>
            <a:pPr marL="0" indent="0">
              <a:buNone/>
              <a:defRPr/>
            </a:pPr>
            <a:endParaRPr lang="fr-FR" altLang="en-US" sz="600" dirty="0"/>
          </a:p>
          <a:p>
            <a:pPr marL="0" indent="0">
              <a:buNone/>
              <a:defRPr/>
            </a:pPr>
            <a:r>
              <a:rPr lang="fr-FR" altLang="en-US" sz="2000" b="1" dirty="0"/>
              <a:t>Utilité du résultat par action</a:t>
            </a:r>
          </a:p>
          <a:p>
            <a:pPr>
              <a:defRPr/>
            </a:pPr>
            <a:r>
              <a:rPr lang="fr-FR" altLang="en-US" sz="2000" dirty="0"/>
              <a:t>Évaluation des entreprises, détermination d’un prix cible de l’action cotée</a:t>
            </a:r>
          </a:p>
          <a:p>
            <a:pPr lvl="1">
              <a:defRPr/>
            </a:pPr>
            <a:r>
              <a:rPr lang="fr-FR" altLang="en-US" sz="1800" dirty="0"/>
              <a:t>Bémol : évaluation des entreprises se fait plutôt selon un multiple du BAIIA</a:t>
            </a:r>
          </a:p>
          <a:p>
            <a:pPr>
              <a:defRPr/>
            </a:pPr>
            <a:endParaRPr lang="fr-FR" altLang="en-US" sz="600" dirty="0"/>
          </a:p>
          <a:p>
            <a:pPr marL="0" indent="0">
              <a:buNone/>
              <a:defRPr/>
            </a:pPr>
            <a:r>
              <a:rPr lang="fr-FR" altLang="en-US" sz="2000" b="1" dirty="0"/>
              <a:t>Autres informations financières plus pertinentes</a:t>
            </a:r>
          </a:p>
          <a:p>
            <a:pPr>
              <a:defRPr/>
            </a:pPr>
            <a:r>
              <a:rPr lang="fr-FR" altLang="en-US" sz="2000" dirty="0"/>
              <a:t>BAIIA : soit en considérant autrement la structure de financement et le coût du parc immobilier</a:t>
            </a:r>
          </a:p>
          <a:p>
            <a:pPr lvl="1">
              <a:defRPr/>
            </a:pPr>
            <a:r>
              <a:rPr lang="fr-FR" altLang="en-US" sz="1800" dirty="0"/>
              <a:t>Difficulté : le multiple est un estimé, habituellement déterminé en fonction de transactions comparables de l’industrie</a:t>
            </a:r>
          </a:p>
          <a:p>
            <a:pPr lvl="1">
              <a:defRPr/>
            </a:pPr>
            <a:r>
              <a:rPr lang="fr-FR" altLang="en-US" sz="1800" dirty="0"/>
              <a:t>Les mesures non conformes aux PCGR seront vues à la séance 12</a:t>
            </a:r>
          </a:p>
        </p:txBody>
      </p:sp>
      <p:sp>
        <p:nvSpPr>
          <p:cNvPr id="5" name="Espace réservé du pied de page 4">
            <a:extLst>
              <a:ext uri="{FF2B5EF4-FFF2-40B4-BE49-F238E27FC236}">
                <a16:creationId xmlns:a16="http://schemas.microsoft.com/office/drawing/2014/main" id="{F22FD3CD-C177-495E-AC54-5C46B24B3883}"/>
              </a:ext>
            </a:extLst>
          </p:cNvPr>
          <p:cNvSpPr>
            <a:spLocks noGrp="1"/>
          </p:cNvSpPr>
          <p:nvPr>
            <p:ph type="ftr" sz="quarter" idx="11"/>
          </p:nvPr>
        </p:nvSpPr>
        <p:spPr>
          <a:xfrm>
            <a:off x="584868" y="6324790"/>
            <a:ext cx="6917210" cy="365125"/>
          </a:xfrm>
        </p:spPr>
        <p:txBody>
          <a:bodyPr/>
          <a:lstStyle/>
          <a:p>
            <a:r>
              <a:rPr lang="fr-FR" dirty="0"/>
              <a:t>Droits réservés Louise Overbeek</a:t>
            </a:r>
          </a:p>
        </p:txBody>
      </p:sp>
    </p:spTree>
    <p:extLst>
      <p:ext uri="{BB962C8B-B14F-4D97-AF65-F5344CB8AC3E}">
        <p14:creationId xmlns:p14="http://schemas.microsoft.com/office/powerpoint/2010/main" val="552401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p:txBody>
          <a:bodyPr/>
          <a:lstStyle/>
          <a:p>
            <a:r>
              <a:rPr lang="fr-CA" dirty="0"/>
              <a:t>Contexte</a:t>
            </a:r>
            <a:endParaRPr lang="fr-FR" dirty="0"/>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p:txBody>
          <a:bodyPr>
            <a:normAutofit/>
          </a:bodyPr>
          <a:lstStyle/>
          <a:p>
            <a:pPr marL="0" indent="0">
              <a:buNone/>
            </a:pPr>
            <a:r>
              <a:rPr lang="fr-FR" sz="2000" b="1" dirty="0">
                <a:latin typeface="+mj-lt"/>
              </a:rPr>
              <a:t>Selon Résultat par action – IAS 33, deux mesures à présenter, par les </a:t>
            </a:r>
            <a:r>
              <a:rPr lang="fr-FR" sz="2000" b="1" dirty="0">
                <a:solidFill>
                  <a:srgbClr val="0070C0"/>
                </a:solidFill>
                <a:latin typeface="+mj-lt"/>
              </a:rPr>
              <a:t>sociétés cotées </a:t>
            </a:r>
            <a:r>
              <a:rPr lang="fr-FR" sz="2000" b="1" dirty="0">
                <a:latin typeface="+mj-lt"/>
              </a:rPr>
              <a:t>: </a:t>
            </a:r>
          </a:p>
          <a:p>
            <a:pPr marL="0" indent="0">
              <a:buNone/>
            </a:pPr>
            <a:endParaRPr lang="fr-FR" sz="2000" dirty="0">
              <a:latin typeface="+mj-lt"/>
            </a:endParaRPr>
          </a:p>
          <a:p>
            <a:r>
              <a:rPr lang="fr-FR" sz="2000" dirty="0">
                <a:latin typeface="+mj-lt"/>
              </a:rPr>
              <a:t>Résultat de base par action</a:t>
            </a:r>
          </a:p>
          <a:p>
            <a:endParaRPr lang="fr-FR" sz="500" dirty="0">
              <a:latin typeface="+mj-lt"/>
            </a:endParaRPr>
          </a:p>
          <a:p>
            <a:r>
              <a:rPr lang="fr-FR" sz="2000" dirty="0">
                <a:latin typeface="+mj-lt"/>
              </a:rPr>
              <a:t>Résultat dilué par action</a:t>
            </a:r>
          </a:p>
          <a:p>
            <a:endParaRPr lang="fr-FR" sz="2000" dirty="0">
              <a:latin typeface="+mj-lt"/>
            </a:endParaRPr>
          </a:p>
          <a:p>
            <a:pPr lvl="1"/>
            <a:r>
              <a:rPr lang="fr-FR" sz="1800" dirty="0">
                <a:latin typeface="+mj-lt"/>
              </a:rPr>
              <a:t>Information souvent présentée dans le bas de l’état des résultats</a:t>
            </a:r>
          </a:p>
          <a:p>
            <a:pPr marL="0" indent="0">
              <a:buNone/>
            </a:pPr>
            <a:endParaRPr lang="fr-FR" sz="2000" dirty="0">
              <a:latin typeface="+mj-lt"/>
            </a:endParaRPr>
          </a:p>
        </p:txBody>
      </p:sp>
      <p:sp>
        <p:nvSpPr>
          <p:cNvPr id="5" name="Espace réservé du pied de page 4">
            <a:extLst>
              <a:ext uri="{FF2B5EF4-FFF2-40B4-BE49-F238E27FC236}">
                <a16:creationId xmlns:a16="http://schemas.microsoft.com/office/drawing/2014/main" id="{957AD073-68C8-438B-A55D-CE375B972122}"/>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1389041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0A919B-34DA-96C4-C363-F31196F76E59}"/>
              </a:ext>
            </a:extLst>
          </p:cNvPr>
          <p:cNvSpPr>
            <a:spLocks noGrp="1"/>
          </p:cNvSpPr>
          <p:nvPr>
            <p:ph type="title"/>
          </p:nvPr>
        </p:nvSpPr>
        <p:spPr/>
        <p:txBody>
          <a:bodyPr/>
          <a:lstStyle/>
          <a:p>
            <a:r>
              <a:rPr lang="fr-CA" dirty="0"/>
              <a:t>Contexte</a:t>
            </a:r>
          </a:p>
        </p:txBody>
      </p:sp>
      <p:pic>
        <p:nvPicPr>
          <p:cNvPr id="6" name="Espace réservé du contenu 5" descr="Une image contenant table&#10;&#10;Description générée automatiquement">
            <a:extLst>
              <a:ext uri="{FF2B5EF4-FFF2-40B4-BE49-F238E27FC236}">
                <a16:creationId xmlns:a16="http://schemas.microsoft.com/office/drawing/2014/main" id="{84BA76F8-B9DB-87ED-5190-9BF20BCAB09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24854" t="15315" r="26939" b="12846"/>
          <a:stretch/>
        </p:blipFill>
        <p:spPr>
          <a:xfrm>
            <a:off x="3688180" y="1915027"/>
            <a:ext cx="4815640" cy="4036784"/>
          </a:xfrm>
        </p:spPr>
      </p:pic>
      <p:sp>
        <p:nvSpPr>
          <p:cNvPr id="4" name="Espace réservé du pied de page 3">
            <a:extLst>
              <a:ext uri="{FF2B5EF4-FFF2-40B4-BE49-F238E27FC236}">
                <a16:creationId xmlns:a16="http://schemas.microsoft.com/office/drawing/2014/main" id="{D9BAA4BE-C457-4342-7D53-1C43F0671FEA}"/>
              </a:ext>
            </a:extLst>
          </p:cNvPr>
          <p:cNvSpPr>
            <a:spLocks noGrp="1"/>
          </p:cNvSpPr>
          <p:nvPr>
            <p:ph type="ftr" sz="quarter" idx="11"/>
          </p:nvPr>
        </p:nvSpPr>
        <p:spPr/>
        <p:txBody>
          <a:bodyPr/>
          <a:lstStyle/>
          <a:p>
            <a:r>
              <a:rPr lang="fr-FR"/>
              <a:t>Droits réservés Louise Overbeek</a:t>
            </a:r>
          </a:p>
        </p:txBody>
      </p:sp>
      <p:sp>
        <p:nvSpPr>
          <p:cNvPr id="7" name="Rectangle 6">
            <a:extLst>
              <a:ext uri="{FF2B5EF4-FFF2-40B4-BE49-F238E27FC236}">
                <a16:creationId xmlns:a16="http://schemas.microsoft.com/office/drawing/2014/main" id="{7CCF89EB-4C5C-9E8B-CF81-1F618D66C3C2}"/>
              </a:ext>
            </a:extLst>
          </p:cNvPr>
          <p:cNvSpPr/>
          <p:nvPr/>
        </p:nvSpPr>
        <p:spPr>
          <a:xfrm>
            <a:off x="3597442" y="4824663"/>
            <a:ext cx="4906378" cy="1239253"/>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8" name="Espace réservé du contenu 5" descr="Une image contenant table&#10;&#10;Description générée automatiquement">
            <a:extLst>
              <a:ext uri="{FF2B5EF4-FFF2-40B4-BE49-F238E27FC236}">
                <a16:creationId xmlns:a16="http://schemas.microsoft.com/office/drawing/2014/main" id="{C15366C3-6E55-9128-F5C9-5834CA2CFBC5}"/>
              </a:ext>
            </a:extLst>
          </p:cNvPr>
          <p:cNvPicPr>
            <a:picLocks noChangeAspect="1"/>
          </p:cNvPicPr>
          <p:nvPr/>
        </p:nvPicPr>
        <p:blipFill rotWithShape="1">
          <a:blip r:embed="rId3">
            <a:extLst>
              <a:ext uri="{28A0092B-C50C-407E-A947-70E740481C1C}">
                <a14:useLocalDpi xmlns:a14="http://schemas.microsoft.com/office/drawing/2010/main" val="0"/>
              </a:ext>
            </a:extLst>
          </a:blip>
          <a:srcRect l="24854" t="58059" r="26939" b="12846"/>
          <a:stretch/>
        </p:blipFill>
        <p:spPr>
          <a:xfrm>
            <a:off x="332370" y="2230593"/>
            <a:ext cx="11547179" cy="3833322"/>
          </a:xfrm>
          <a:prstGeom prst="rect">
            <a:avLst/>
          </a:prstGeom>
        </p:spPr>
      </p:pic>
      <p:sp>
        <p:nvSpPr>
          <p:cNvPr id="9" name="Rectangle 8">
            <a:extLst>
              <a:ext uri="{FF2B5EF4-FFF2-40B4-BE49-F238E27FC236}">
                <a16:creationId xmlns:a16="http://schemas.microsoft.com/office/drawing/2014/main" id="{272EE58C-F449-418A-244D-5F0F50115BC4}"/>
              </a:ext>
            </a:extLst>
          </p:cNvPr>
          <p:cNvSpPr/>
          <p:nvPr/>
        </p:nvSpPr>
        <p:spPr>
          <a:xfrm>
            <a:off x="356881" y="4307306"/>
            <a:ext cx="11387500" cy="1771016"/>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4919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p:txBody>
          <a:bodyPr/>
          <a:lstStyle/>
          <a:p>
            <a:r>
              <a:rPr lang="fr-CA" b="1" dirty="0"/>
              <a:t>Définitions</a:t>
            </a:r>
            <a:endParaRPr lang="fr-FR" dirty="0"/>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2180496"/>
            <a:ext cx="11029615" cy="3534504"/>
          </a:xfrm>
        </p:spPr>
        <p:txBody>
          <a:bodyPr>
            <a:normAutofit/>
          </a:bodyPr>
          <a:lstStyle/>
          <a:p>
            <a:pPr marL="0" indent="0">
              <a:buNone/>
            </a:pPr>
            <a:r>
              <a:rPr lang="fr-CA" sz="2000" b="1" dirty="0"/>
              <a:t>La </a:t>
            </a:r>
            <a:r>
              <a:rPr lang="fr-CA" sz="2000" b="1" i="1" dirty="0">
                <a:solidFill>
                  <a:srgbClr val="0070C0"/>
                </a:solidFill>
              </a:rPr>
              <a:t>dilution</a:t>
            </a:r>
            <a:r>
              <a:rPr lang="fr-CA" sz="2000" b="1" dirty="0"/>
              <a:t> est une réduction du bénéfice par action ou une augmentation de la perte par action résultant de l'hypothèse de la conversion d'instruments convertibles, de l'exercice d'options ou de bons de souscription, ou de l'émission d'actions ordinaires si certaines conditions spécifiées sont remplies.</a:t>
            </a:r>
          </a:p>
          <a:p>
            <a:pPr marL="0" indent="0">
              <a:spcAft>
                <a:spcPts val="0"/>
              </a:spcAft>
              <a:buNone/>
            </a:pPr>
            <a:endParaRPr lang="fr-CA" sz="2000" b="1" dirty="0"/>
          </a:p>
          <a:p>
            <a:pPr marL="0" indent="0">
              <a:buNone/>
            </a:pPr>
            <a:r>
              <a:rPr lang="fr-CA" sz="2000" b="1" dirty="0"/>
              <a:t>L'</a:t>
            </a:r>
            <a:r>
              <a:rPr lang="fr-CA" sz="2000" b="1" i="1" dirty="0" err="1">
                <a:solidFill>
                  <a:srgbClr val="0070C0"/>
                </a:solidFill>
              </a:rPr>
              <a:t>antidilution</a:t>
            </a:r>
            <a:r>
              <a:rPr lang="fr-CA" sz="2000" b="1" dirty="0"/>
              <a:t> est une augmentation du bénéfice par action ou une réduction de la perte par action résultant de l'hypothèse de la conversion d'instruments convertibles, de l'exercice d'options ou de bons de souscription, ou de l'émission d'actions ordinaires si certaines conditions spécifiées sont remplies.</a:t>
            </a:r>
            <a:endParaRPr lang="fr-CA" sz="2000" dirty="0"/>
          </a:p>
        </p:txBody>
      </p:sp>
      <p:sp>
        <p:nvSpPr>
          <p:cNvPr id="5" name="Espace réservé du pied de page 4">
            <a:extLst>
              <a:ext uri="{FF2B5EF4-FFF2-40B4-BE49-F238E27FC236}">
                <a16:creationId xmlns:a16="http://schemas.microsoft.com/office/drawing/2014/main" id="{8C1771DD-4D46-48D3-9A6B-1F80CEEA7B74}"/>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3731723422"/>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p:txBody>
          <a:bodyPr/>
          <a:lstStyle/>
          <a:p>
            <a:r>
              <a:rPr lang="fr-CA" b="1" dirty="0"/>
              <a:t>Définitions</a:t>
            </a:r>
            <a:endParaRPr lang="fr-FR" dirty="0"/>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p:txBody>
          <a:bodyPr>
            <a:normAutofit/>
          </a:bodyPr>
          <a:lstStyle/>
          <a:p>
            <a:pPr marL="0" indent="0">
              <a:buNone/>
            </a:pPr>
            <a:r>
              <a:rPr lang="fr-CA" sz="2000" b="1" dirty="0"/>
              <a:t>Une </a:t>
            </a:r>
            <a:r>
              <a:rPr lang="fr-CA" sz="2000" b="1" i="1" dirty="0">
                <a:solidFill>
                  <a:srgbClr val="0070C0"/>
                </a:solidFill>
              </a:rPr>
              <a:t>action ordinaire potentielle</a:t>
            </a:r>
            <a:r>
              <a:rPr lang="fr-CA" sz="2000" b="1" dirty="0"/>
              <a:t> est un instrument financier ou un autre contrat qui peut donner droit au porteur à des actions ordinaires.</a:t>
            </a:r>
          </a:p>
          <a:p>
            <a:pPr marL="0" indent="0">
              <a:buNone/>
            </a:pPr>
            <a:endParaRPr lang="fr-CA" sz="2000" b="1" dirty="0"/>
          </a:p>
          <a:p>
            <a:pPr marL="0" indent="0">
              <a:buNone/>
            </a:pPr>
            <a:r>
              <a:rPr lang="fr-CA" sz="2000" dirty="0"/>
              <a:t>7       Exemples d'actions ordinaires potentielles :</a:t>
            </a:r>
          </a:p>
          <a:p>
            <a:pPr marL="1433513" indent="-717550">
              <a:buNone/>
            </a:pPr>
            <a:r>
              <a:rPr lang="fr-CA" sz="2000" dirty="0"/>
              <a:t>(a)     les instruments de passifs financiers ou de capitaux propres, y compris les actions préférentielles, qui sont convertibles en actions ordinaires ;</a:t>
            </a:r>
          </a:p>
          <a:p>
            <a:pPr marL="1433513" indent="-717550">
              <a:buNone/>
            </a:pPr>
            <a:r>
              <a:rPr lang="fr-CA" sz="2000" dirty="0"/>
              <a:t>(b)     les options et les bons de souscription ;</a:t>
            </a:r>
          </a:p>
          <a:p>
            <a:pPr marL="1433513" indent="-717550">
              <a:buNone/>
            </a:pPr>
            <a:r>
              <a:rPr lang="fr-CA" sz="2000" dirty="0"/>
              <a:t>(c)     les actions qui seraient émises si des conditions résultant d'accords contractuels telles que l'acquisition d'une entreprise ou d'autres actifs étaient remplies.</a:t>
            </a:r>
          </a:p>
          <a:p>
            <a:pPr marL="0" indent="0">
              <a:buNone/>
            </a:pPr>
            <a:endParaRPr lang="fr-CA" b="1" dirty="0"/>
          </a:p>
        </p:txBody>
      </p:sp>
      <p:sp>
        <p:nvSpPr>
          <p:cNvPr id="5" name="Espace réservé du pied de page 4">
            <a:extLst>
              <a:ext uri="{FF2B5EF4-FFF2-40B4-BE49-F238E27FC236}">
                <a16:creationId xmlns:a16="http://schemas.microsoft.com/office/drawing/2014/main" id="{1FE915BE-5F74-4DDE-A477-9B6576DFD7A8}"/>
              </a:ext>
            </a:extLst>
          </p:cNvPr>
          <p:cNvSpPr>
            <a:spLocks noGrp="1"/>
          </p:cNvSpPr>
          <p:nvPr>
            <p:ph type="ftr" sz="quarter" idx="11"/>
          </p:nvPr>
        </p:nvSpPr>
        <p:spPr/>
        <p:txBody>
          <a:bodyPr/>
          <a:lstStyle/>
          <a:p>
            <a:r>
              <a:rPr lang="fr-FR" dirty="0"/>
              <a:t>Droits réservés Louise Overbeek</a:t>
            </a:r>
          </a:p>
        </p:txBody>
      </p:sp>
    </p:spTree>
    <p:extLst>
      <p:ext uri="{BB962C8B-B14F-4D97-AF65-F5344CB8AC3E}">
        <p14:creationId xmlns:p14="http://schemas.microsoft.com/office/powerpoint/2010/main" val="1405111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p:txBody>
          <a:bodyPr/>
          <a:lstStyle/>
          <a:p>
            <a:r>
              <a:rPr lang="fr-CA" b="1" dirty="0"/>
              <a:t>Définitions</a:t>
            </a:r>
            <a:endParaRPr lang="fr-FR" dirty="0"/>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2180496"/>
            <a:ext cx="11029615" cy="3975348"/>
          </a:xfrm>
        </p:spPr>
        <p:txBody>
          <a:bodyPr>
            <a:normAutofit/>
          </a:bodyPr>
          <a:lstStyle/>
          <a:p>
            <a:pPr marL="0" indent="0">
              <a:buNone/>
            </a:pPr>
            <a:r>
              <a:rPr lang="fr-CA" sz="2000" b="1" dirty="0"/>
              <a:t>Les </a:t>
            </a:r>
            <a:r>
              <a:rPr lang="fr-CA" sz="2000" b="1" i="1" dirty="0">
                <a:solidFill>
                  <a:srgbClr val="0070C0"/>
                </a:solidFill>
              </a:rPr>
              <a:t>options, bons de souscription et leurs équivalents</a:t>
            </a:r>
            <a:r>
              <a:rPr lang="fr-CA" sz="2000" b="1" dirty="0">
                <a:solidFill>
                  <a:srgbClr val="0070C0"/>
                </a:solidFill>
              </a:rPr>
              <a:t> </a:t>
            </a:r>
            <a:r>
              <a:rPr lang="fr-CA" sz="2000" b="1" dirty="0"/>
              <a:t>sont des instruments financiers qui donnent au porteur le droit d'acheter des actions ordinaires.</a:t>
            </a:r>
          </a:p>
          <a:p>
            <a:pPr marL="0" indent="0">
              <a:spcAft>
                <a:spcPts val="0"/>
              </a:spcAft>
              <a:buNone/>
            </a:pPr>
            <a:endParaRPr lang="fr-CA" sz="2000" b="1" dirty="0"/>
          </a:p>
          <a:p>
            <a:pPr marL="0" indent="0">
              <a:buNone/>
            </a:pPr>
            <a:r>
              <a:rPr lang="fr-CA" sz="2000" b="1" dirty="0"/>
              <a:t>Un </a:t>
            </a:r>
            <a:r>
              <a:rPr lang="fr-CA" sz="2000" b="1" i="1" dirty="0">
                <a:solidFill>
                  <a:srgbClr val="0070C0"/>
                </a:solidFill>
              </a:rPr>
              <a:t>contrat conditionnel relatif à des actions</a:t>
            </a:r>
            <a:r>
              <a:rPr lang="fr-CA" sz="2000" b="1" dirty="0"/>
              <a:t> est un contrat visant à l'émission d'actions sous réserve de la réalisation de conditions spécifiées.</a:t>
            </a:r>
          </a:p>
          <a:p>
            <a:pPr marL="0" indent="0">
              <a:spcAft>
                <a:spcPts val="0"/>
              </a:spcAft>
              <a:buNone/>
            </a:pPr>
            <a:endParaRPr lang="fr-CA" sz="2000" b="1" dirty="0"/>
          </a:p>
          <a:p>
            <a:pPr marL="0" indent="0">
              <a:buNone/>
            </a:pPr>
            <a:r>
              <a:rPr lang="fr-CA" sz="2000" b="1" dirty="0"/>
              <a:t>Des </a:t>
            </a:r>
            <a:r>
              <a:rPr lang="fr-CA" sz="2000" b="1" i="1" dirty="0">
                <a:solidFill>
                  <a:srgbClr val="0070C0"/>
                </a:solidFill>
              </a:rPr>
              <a:t>actions ordinaires dont l'émission est conditionnelle</a:t>
            </a:r>
            <a:r>
              <a:rPr lang="fr-CA" sz="2000" b="1" dirty="0"/>
              <a:t> sont des actions ordinaires qui peuvent être émises en échange d'une contrepartie en trésorerie faible ou nulle, ou d'une autre contrepartie lorsque certaines </a:t>
            </a:r>
            <a:r>
              <a:rPr lang="fr-CA" sz="2000" b="1" i="1" dirty="0"/>
              <a:t>conditions</a:t>
            </a:r>
            <a:r>
              <a:rPr lang="fr-CA" sz="2000" b="1" dirty="0"/>
              <a:t>, spécifiées dans un contrat conditionnel relatif à des actions, sont remplies.</a:t>
            </a:r>
            <a:endParaRPr lang="fr-CA" sz="2000" dirty="0"/>
          </a:p>
        </p:txBody>
      </p:sp>
      <p:sp>
        <p:nvSpPr>
          <p:cNvPr id="5" name="Espace réservé du pied de page 4">
            <a:extLst>
              <a:ext uri="{FF2B5EF4-FFF2-40B4-BE49-F238E27FC236}">
                <a16:creationId xmlns:a16="http://schemas.microsoft.com/office/drawing/2014/main" id="{5BD48374-07E1-4A9F-8FDB-12028FECBF9F}"/>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347852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7C21CC-CF7D-F76B-011D-632D84E70C10}"/>
              </a:ext>
            </a:extLst>
          </p:cNvPr>
          <p:cNvSpPr>
            <a:spLocks noGrp="1"/>
          </p:cNvSpPr>
          <p:nvPr>
            <p:ph type="title"/>
          </p:nvPr>
        </p:nvSpPr>
        <p:spPr/>
        <p:txBody>
          <a:bodyPr/>
          <a:lstStyle/>
          <a:p>
            <a:r>
              <a:rPr lang="fr-CA" dirty="0"/>
              <a:t>Résultat de base par action – Présentation</a:t>
            </a:r>
          </a:p>
        </p:txBody>
      </p:sp>
      <p:sp>
        <p:nvSpPr>
          <p:cNvPr id="3" name="Espace réservé du contenu 2">
            <a:extLst>
              <a:ext uri="{FF2B5EF4-FFF2-40B4-BE49-F238E27FC236}">
                <a16:creationId xmlns:a16="http://schemas.microsoft.com/office/drawing/2014/main" id="{858CAD67-917E-3718-EA9D-0B7BD682D836}"/>
              </a:ext>
            </a:extLst>
          </p:cNvPr>
          <p:cNvSpPr>
            <a:spLocks noGrp="1"/>
          </p:cNvSpPr>
          <p:nvPr>
            <p:ph idx="1"/>
          </p:nvPr>
        </p:nvSpPr>
        <p:spPr/>
        <p:txBody>
          <a:bodyPr/>
          <a:lstStyle/>
          <a:p>
            <a:pPr marL="0" indent="0">
              <a:lnSpc>
                <a:spcPct val="80000"/>
              </a:lnSpc>
              <a:buNone/>
              <a:defRPr/>
            </a:pPr>
            <a:r>
              <a:rPr lang="fr-CA" sz="2400" dirty="0"/>
              <a:t>Résultat par action = 		Résultat net attribuable aux actionnaires ordinaires</a:t>
            </a:r>
          </a:p>
          <a:p>
            <a:pPr marL="0" indent="0">
              <a:lnSpc>
                <a:spcPct val="80000"/>
              </a:lnSpc>
              <a:buNone/>
              <a:defRPr/>
            </a:pPr>
            <a:r>
              <a:rPr lang="fr-CA" sz="2400" dirty="0"/>
              <a:t> 							Nombre moyen pondéré d’actions ordinaires en circulation</a:t>
            </a:r>
            <a:endParaRPr lang="fr-CA" altLang="en-US" sz="2400" dirty="0"/>
          </a:p>
          <a:p>
            <a:pPr marL="0" indent="0" eaLnBrk="1" hangingPunct="1">
              <a:lnSpc>
                <a:spcPct val="80000"/>
              </a:lnSpc>
              <a:buNone/>
              <a:defRPr/>
            </a:pPr>
            <a:endParaRPr lang="fr-CA" altLang="en-US" dirty="0"/>
          </a:p>
          <a:p>
            <a:pPr marL="0" indent="0" eaLnBrk="1" hangingPunct="1">
              <a:lnSpc>
                <a:spcPct val="80000"/>
              </a:lnSpc>
              <a:buNone/>
              <a:defRPr/>
            </a:pPr>
            <a:endParaRPr lang="fr-CA" altLang="en-US" dirty="0"/>
          </a:p>
          <a:p>
            <a:pPr eaLnBrk="1" hangingPunct="1">
              <a:lnSpc>
                <a:spcPct val="80000"/>
              </a:lnSpc>
              <a:defRPr/>
            </a:pPr>
            <a:r>
              <a:rPr lang="fr-CA" altLang="en-US" sz="2000" dirty="0"/>
              <a:t>Mesure de la quote-part de chaque action ordinaire dans la performance de l’entité (résultat net) au cours de la période de présentation de l’information financière</a:t>
            </a:r>
          </a:p>
          <a:p>
            <a:pPr marL="1143000" lvl="1">
              <a:lnSpc>
                <a:spcPct val="80000"/>
              </a:lnSpc>
              <a:defRPr/>
            </a:pPr>
            <a:r>
              <a:rPr lang="fr-CA" altLang="en-US" sz="2000" dirty="0"/>
              <a:t>EF annuels et période intermédiaire (EF trimestriels)</a:t>
            </a:r>
          </a:p>
        </p:txBody>
      </p:sp>
      <p:sp>
        <p:nvSpPr>
          <p:cNvPr id="4" name="Espace réservé du pied de page 3">
            <a:extLst>
              <a:ext uri="{FF2B5EF4-FFF2-40B4-BE49-F238E27FC236}">
                <a16:creationId xmlns:a16="http://schemas.microsoft.com/office/drawing/2014/main" id="{37A34BDB-1344-BF10-6BE3-A5DCDA1AA7F0}"/>
              </a:ext>
            </a:extLst>
          </p:cNvPr>
          <p:cNvSpPr>
            <a:spLocks noGrp="1"/>
          </p:cNvSpPr>
          <p:nvPr>
            <p:ph type="ftr" sz="quarter" idx="11"/>
          </p:nvPr>
        </p:nvSpPr>
        <p:spPr/>
        <p:txBody>
          <a:bodyPr/>
          <a:lstStyle/>
          <a:p>
            <a:r>
              <a:rPr lang="fr-FR"/>
              <a:t>Droits réservés Louise Overbeek</a:t>
            </a:r>
          </a:p>
        </p:txBody>
      </p:sp>
      <p:cxnSp>
        <p:nvCxnSpPr>
          <p:cNvPr id="6" name="Connecteur droit 5">
            <a:extLst>
              <a:ext uri="{FF2B5EF4-FFF2-40B4-BE49-F238E27FC236}">
                <a16:creationId xmlns:a16="http://schemas.microsoft.com/office/drawing/2014/main" id="{B39A14C7-ACFC-1D61-4260-AD0CE543F768}"/>
              </a:ext>
            </a:extLst>
          </p:cNvPr>
          <p:cNvCxnSpPr/>
          <p:nvPr/>
        </p:nvCxnSpPr>
        <p:spPr>
          <a:xfrm>
            <a:off x="3798691" y="3152274"/>
            <a:ext cx="739942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2624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Résultat de base par action – éléments entrant dans le calcul</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lnSpc>
                <a:spcPct val="90000"/>
              </a:lnSpc>
              <a:buNone/>
            </a:pPr>
            <a:r>
              <a:rPr lang="fr-CA" sz="2000" b="1" dirty="0">
                <a:solidFill>
                  <a:schemeClr val="accent2">
                    <a:lumMod val="50000"/>
                  </a:schemeClr>
                </a:solidFill>
              </a:rPr>
              <a:t>Résultat de base par action</a:t>
            </a:r>
          </a:p>
          <a:p>
            <a:pPr marL="0" indent="0">
              <a:lnSpc>
                <a:spcPct val="90000"/>
              </a:lnSpc>
              <a:buNone/>
            </a:pPr>
            <a:r>
              <a:rPr lang="fr-CA" sz="2000" b="1" dirty="0">
                <a:solidFill>
                  <a:schemeClr val="accent2">
                    <a:lumMod val="50000"/>
                  </a:schemeClr>
                </a:solidFill>
              </a:rPr>
              <a:t>9       Une entité doit calculer le résultat de base par action correspondant au résultat net attribuable aux porteurs d'actions ordinaires de l'entité mère et, s'il est présenté, au résultat net des activités poursuivies attribuable à ces porteurs d'instruments de capitaux propres.</a:t>
            </a:r>
          </a:p>
          <a:p>
            <a:pPr marL="0" indent="0">
              <a:lnSpc>
                <a:spcPct val="90000"/>
              </a:lnSpc>
              <a:buNone/>
            </a:pPr>
            <a:r>
              <a:rPr lang="fr-CA" sz="2000" b="1" dirty="0">
                <a:solidFill>
                  <a:schemeClr val="accent2">
                    <a:lumMod val="50000"/>
                  </a:schemeClr>
                </a:solidFill>
              </a:rPr>
              <a:t>10     Le résultat de base par action doit être calculé en divisant le résultat net attribuable aux porteurs d'actions ordinaires de l'entité mère (le numérateur) par le nombre moyen pondéré d'actions ordinaires en circulation (le dénominateur) au cours de la période.</a:t>
            </a:r>
          </a:p>
          <a:p>
            <a:pPr marL="0" indent="0">
              <a:lnSpc>
                <a:spcPct val="90000"/>
              </a:lnSpc>
              <a:buNone/>
            </a:pPr>
            <a:r>
              <a:rPr lang="fr-CA" sz="2000" dirty="0">
                <a:solidFill>
                  <a:schemeClr val="accent2">
                    <a:lumMod val="50000"/>
                  </a:schemeClr>
                </a:solidFill>
              </a:rPr>
              <a:t>11     L'objectif de l'information sur le résultat de base par action consiste à fournir une mesure de la quote-part de chaque action ordinaire d'une entité mère dans la performance de l'entité au cours de la période de présentation de l'information financière.</a:t>
            </a:r>
          </a:p>
          <a:p>
            <a:pPr marL="0" indent="0">
              <a:lnSpc>
                <a:spcPct val="90000"/>
              </a:lnSpc>
              <a:buNone/>
            </a:pPr>
            <a:endParaRPr lang="fr-FR" sz="2000"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BB5C4B5E-1BCD-45B9-AF27-75C79F340ECB}"/>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1527740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p:txBody>
          <a:bodyPr>
            <a:normAutofit/>
          </a:bodyPr>
          <a:lstStyle/>
          <a:p>
            <a:r>
              <a:rPr lang="fr-CA" dirty="0"/>
              <a:t>Résultat de base par action – éléments entrant dans le calcul</a:t>
            </a:r>
            <a:endParaRPr lang="fr-FR" dirty="0"/>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3" y="1930400"/>
            <a:ext cx="7191207" cy="3928399"/>
          </a:xfrm>
        </p:spPr>
        <p:txBody>
          <a:bodyPr>
            <a:normAutofit lnSpcReduction="10000"/>
          </a:bodyPr>
          <a:lstStyle/>
          <a:p>
            <a:pPr marL="0" indent="0">
              <a:buNone/>
            </a:pPr>
            <a:r>
              <a:rPr lang="fr-FR" sz="2200" u="sng" dirty="0"/>
              <a:t>Résultat net attribuable aux actionnaires ordinaires</a:t>
            </a:r>
          </a:p>
          <a:p>
            <a:r>
              <a:rPr lang="fr-FR" sz="2200" dirty="0"/>
              <a:t>Point de départ : résultat net</a:t>
            </a:r>
          </a:p>
          <a:p>
            <a:r>
              <a:rPr lang="fr-FR" sz="2200" dirty="0"/>
              <a:t>Ajustements nécessaires, nets d’impôt, pour retirer des éléments comptabilisés à l’extérieur du résultat net qui réduisent ce qui revient aux actionnaires ordinaires</a:t>
            </a:r>
          </a:p>
          <a:p>
            <a:pPr lvl="1"/>
            <a:r>
              <a:rPr lang="fr-FR" sz="2200" i="1" dirty="0"/>
              <a:t>Exemples : </a:t>
            </a:r>
          </a:p>
          <a:p>
            <a:pPr lvl="2"/>
            <a:r>
              <a:rPr lang="fr-FR" sz="2000" i="1" dirty="0"/>
              <a:t>dividendes déclarés durant l’année pour des actions préférentielles classées dans les capitaux propres</a:t>
            </a:r>
          </a:p>
          <a:p>
            <a:pPr lvl="2"/>
            <a:r>
              <a:rPr lang="fr-FR" sz="2000" i="1" dirty="0"/>
              <a:t>dividendes non déclarés pour des actions préférentielles classées dans les capitaux propres si le dividende est cumulatif</a:t>
            </a:r>
          </a:p>
        </p:txBody>
      </p:sp>
      <p:sp>
        <p:nvSpPr>
          <p:cNvPr id="5" name="Espace réservé du pied de page 4">
            <a:extLst>
              <a:ext uri="{FF2B5EF4-FFF2-40B4-BE49-F238E27FC236}">
                <a16:creationId xmlns:a16="http://schemas.microsoft.com/office/drawing/2014/main" id="{BB5C4B5E-1BCD-45B9-AF27-75C79F340ECB}"/>
              </a:ext>
            </a:extLst>
          </p:cNvPr>
          <p:cNvSpPr>
            <a:spLocks noGrp="1"/>
          </p:cNvSpPr>
          <p:nvPr>
            <p:ph type="ftr" sz="quarter" idx="11"/>
          </p:nvPr>
        </p:nvSpPr>
        <p:spPr/>
        <p:txBody>
          <a:bodyPr/>
          <a:lstStyle/>
          <a:p>
            <a:r>
              <a:rPr lang="fr-FR"/>
              <a:t>Droits réservés Louise Overbeek</a:t>
            </a:r>
          </a:p>
        </p:txBody>
      </p:sp>
      <p:sp>
        <p:nvSpPr>
          <p:cNvPr id="4" name="Espace réservé du contenu 2">
            <a:extLst>
              <a:ext uri="{FF2B5EF4-FFF2-40B4-BE49-F238E27FC236}">
                <a16:creationId xmlns:a16="http://schemas.microsoft.com/office/drawing/2014/main" id="{819A6975-7D35-2E80-E0D2-7C2D5B17B44F}"/>
              </a:ext>
            </a:extLst>
          </p:cNvPr>
          <p:cNvSpPr txBox="1">
            <a:spLocks/>
          </p:cNvSpPr>
          <p:nvPr/>
        </p:nvSpPr>
        <p:spPr>
          <a:xfrm>
            <a:off x="7498402" y="2801233"/>
            <a:ext cx="4561518" cy="218673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fr-FR" i="1" dirty="0"/>
              <a:t>Résultat net                                   	   XX</a:t>
            </a:r>
          </a:p>
          <a:p>
            <a:pPr marL="0" indent="0">
              <a:buFont typeface="Wingdings 2" panose="05020102010507070707" pitchFamily="18" charset="2"/>
              <a:buNone/>
            </a:pPr>
            <a:r>
              <a:rPr lang="fr-FR" i="1" dirty="0"/>
              <a:t>Ajustements :</a:t>
            </a:r>
          </a:p>
          <a:p>
            <a:pPr marL="0" indent="0">
              <a:buFont typeface="Wingdings 2" panose="05020102010507070707" pitchFamily="18" charset="2"/>
              <a:buNone/>
            </a:pPr>
            <a:r>
              <a:rPr lang="fr-FR" i="1" u="sng" dirty="0"/>
              <a:t>Dividendes préférentielles (classement CP)  (XX)</a:t>
            </a:r>
          </a:p>
          <a:p>
            <a:pPr marL="0" indent="0">
              <a:buFont typeface="Wingdings 2" panose="05020102010507070707" pitchFamily="18" charset="2"/>
              <a:buNone/>
            </a:pPr>
            <a:r>
              <a:rPr lang="fr-FR" b="1" i="1" dirty="0"/>
              <a:t>Résultat net attribuable aux AO	          XX</a:t>
            </a:r>
          </a:p>
        </p:txBody>
      </p:sp>
    </p:spTree>
    <p:extLst>
      <p:ext uri="{BB962C8B-B14F-4D97-AF65-F5344CB8AC3E}">
        <p14:creationId xmlns:p14="http://schemas.microsoft.com/office/powerpoint/2010/main" val="1968995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Résultat de base par action – éléments entrant dans le calcul</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lnSpc>
                <a:spcPct val="90000"/>
              </a:lnSpc>
              <a:buNone/>
            </a:pPr>
            <a:r>
              <a:rPr lang="fr-CA" sz="2400" b="1" dirty="0">
                <a:solidFill>
                  <a:schemeClr val="accent2">
                    <a:lumMod val="50000"/>
                  </a:schemeClr>
                </a:solidFill>
              </a:rPr>
              <a:t>Résultat</a:t>
            </a:r>
          </a:p>
          <a:p>
            <a:pPr marL="0" indent="0">
              <a:lnSpc>
                <a:spcPct val="90000"/>
              </a:lnSpc>
              <a:buNone/>
            </a:pPr>
            <a:r>
              <a:rPr lang="fr-CA" sz="2400" b="1" dirty="0">
                <a:solidFill>
                  <a:schemeClr val="accent2">
                    <a:lumMod val="50000"/>
                  </a:schemeClr>
                </a:solidFill>
              </a:rPr>
              <a:t>12     Pour les besoins du calcul du résultat de base par action, les montants attribuables aux porteurs d'actions ordinaires de l'entité mère découlant :</a:t>
            </a:r>
          </a:p>
          <a:p>
            <a:pPr marL="0" indent="0">
              <a:lnSpc>
                <a:spcPct val="90000"/>
              </a:lnSpc>
              <a:buNone/>
            </a:pPr>
            <a:r>
              <a:rPr lang="fr-CA" sz="2400" b="1" dirty="0">
                <a:solidFill>
                  <a:schemeClr val="accent2">
                    <a:lumMod val="50000"/>
                  </a:schemeClr>
                </a:solidFill>
              </a:rPr>
              <a:t>(a)     du résultat net des activités poursuivies attribuable à l'entité mère ; et</a:t>
            </a:r>
          </a:p>
          <a:p>
            <a:pPr marL="0" indent="0">
              <a:lnSpc>
                <a:spcPct val="90000"/>
              </a:lnSpc>
              <a:buNone/>
            </a:pPr>
            <a:r>
              <a:rPr lang="fr-CA" sz="2400" b="1" dirty="0">
                <a:solidFill>
                  <a:schemeClr val="accent2">
                    <a:lumMod val="50000"/>
                  </a:schemeClr>
                </a:solidFill>
              </a:rPr>
              <a:t>(b)     du résultat net attribuable à l'entité mère</a:t>
            </a:r>
          </a:p>
          <a:p>
            <a:pPr marL="0" indent="0">
              <a:lnSpc>
                <a:spcPct val="90000"/>
              </a:lnSpc>
              <a:buNone/>
            </a:pPr>
            <a:r>
              <a:rPr lang="fr-CA" sz="2400" b="1" dirty="0">
                <a:solidFill>
                  <a:schemeClr val="accent2">
                    <a:lumMod val="50000"/>
                  </a:schemeClr>
                </a:solidFill>
              </a:rPr>
              <a:t>     doivent être les montants des points (a) et (b) ajustés des montants après impôt des dividendes préférentiels, des écarts résultant du règlement des actions préférentielles, et d'autres effets similaires d'actions préférentielles classés en capitaux propres.</a:t>
            </a:r>
          </a:p>
          <a:p>
            <a:pPr marL="0" indent="0">
              <a:lnSpc>
                <a:spcPct val="90000"/>
              </a:lnSpc>
              <a:buNone/>
            </a:pPr>
            <a:endParaRPr lang="fr-FR" sz="2400"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421E38FF-4441-42B8-B513-39F11DFBBD32}"/>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2581416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Résultat de base par action – éléments entrant dans le calcul</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683432" y="1707337"/>
            <a:ext cx="11029615" cy="4722338"/>
          </a:xfrm>
        </p:spPr>
        <p:txBody>
          <a:bodyPr>
            <a:normAutofit lnSpcReduction="10000"/>
          </a:bodyPr>
          <a:lstStyle/>
          <a:p>
            <a:pPr marL="0" indent="0">
              <a:lnSpc>
                <a:spcPct val="90000"/>
              </a:lnSpc>
              <a:buNone/>
            </a:pPr>
            <a:r>
              <a:rPr lang="fr-CA" sz="2400" dirty="0">
                <a:solidFill>
                  <a:schemeClr val="accent2">
                    <a:lumMod val="50000"/>
                  </a:schemeClr>
                </a:solidFill>
              </a:rPr>
              <a:t>14     Le montant après impôt des dividendes préférentiels qui est déduit du résultat net de la période est :</a:t>
            </a:r>
          </a:p>
          <a:p>
            <a:pPr marL="0" indent="0">
              <a:lnSpc>
                <a:spcPct val="90000"/>
              </a:lnSpc>
              <a:buNone/>
            </a:pPr>
            <a:r>
              <a:rPr lang="fr-CA" sz="2400" dirty="0">
                <a:solidFill>
                  <a:schemeClr val="accent2">
                    <a:lumMod val="50000"/>
                  </a:schemeClr>
                </a:solidFill>
              </a:rPr>
              <a:t>(a)     le montant après impôt de tout dividende préférentiel sur des actions préférentielles à dividende </a:t>
            </a:r>
            <a:r>
              <a:rPr lang="fr-CA" sz="2400" u="sng" dirty="0">
                <a:solidFill>
                  <a:schemeClr val="accent2">
                    <a:lumMod val="50000"/>
                  </a:schemeClr>
                </a:solidFill>
              </a:rPr>
              <a:t>non cumulatif déclaré </a:t>
            </a:r>
            <a:r>
              <a:rPr lang="fr-CA" sz="2400" dirty="0">
                <a:solidFill>
                  <a:schemeClr val="accent2">
                    <a:lumMod val="50000"/>
                  </a:schemeClr>
                </a:solidFill>
              </a:rPr>
              <a:t>au titre de la période ; et</a:t>
            </a:r>
          </a:p>
          <a:p>
            <a:pPr marL="0" indent="0">
              <a:lnSpc>
                <a:spcPct val="90000"/>
              </a:lnSpc>
              <a:buNone/>
            </a:pPr>
            <a:r>
              <a:rPr lang="fr-CA" sz="2400" dirty="0">
                <a:solidFill>
                  <a:schemeClr val="accent2">
                    <a:lumMod val="50000"/>
                  </a:schemeClr>
                </a:solidFill>
              </a:rPr>
              <a:t>(b)     le montant après impôt des dividendes préférentiels dus au titre des actions préférentielles à dividende </a:t>
            </a:r>
            <a:r>
              <a:rPr lang="fr-CA" sz="2400" u="sng" dirty="0">
                <a:solidFill>
                  <a:schemeClr val="accent2">
                    <a:lumMod val="50000"/>
                  </a:schemeClr>
                </a:solidFill>
              </a:rPr>
              <a:t>cumulatif de la période, que ces dividendes aient ou non été déclarés</a:t>
            </a:r>
            <a:r>
              <a:rPr lang="fr-CA" sz="2400" dirty="0">
                <a:solidFill>
                  <a:schemeClr val="accent2">
                    <a:lumMod val="50000"/>
                  </a:schemeClr>
                </a:solidFill>
              </a:rPr>
              <a:t>. Le montant des dividendes préférentiels pour la période n'inclut pas le montant des dividendes préférentiels revenant aux actions préférentielles à dividende cumulatif, versés ou déclarés au cours de la période considérée au titre de périodes antérieures.</a:t>
            </a:r>
            <a:endParaRPr lang="fr-CA" sz="2400" b="1" dirty="0">
              <a:solidFill>
                <a:schemeClr val="accent2">
                  <a:lumMod val="50000"/>
                </a:schemeClr>
              </a:solidFill>
            </a:endParaRPr>
          </a:p>
          <a:p>
            <a:pPr marL="0" indent="0">
              <a:lnSpc>
                <a:spcPct val="90000"/>
              </a:lnSpc>
              <a:buNone/>
            </a:pPr>
            <a:endParaRPr lang="fr-FR" sz="2400" dirty="0">
              <a:solidFill>
                <a:schemeClr val="accent2">
                  <a:lumMod val="50000"/>
                </a:schemeClr>
              </a:solidFill>
            </a:endParaRPr>
          </a:p>
          <a:p>
            <a:pPr>
              <a:lnSpc>
                <a:spcPct val="90000"/>
              </a:lnSpc>
              <a:buFont typeface="Wingdings" panose="05000000000000000000" pitchFamily="2" charset="2"/>
              <a:buChar char="Ø"/>
            </a:pPr>
            <a:r>
              <a:rPr lang="fr-FR" sz="2400" i="1" dirty="0">
                <a:solidFill>
                  <a:schemeClr val="accent2">
                    <a:lumMod val="50000"/>
                  </a:schemeClr>
                </a:solidFill>
              </a:rPr>
              <a:t> Les dividendes liés aux actions privilégiées classées dans le passif sont déjà considérés dans le calcul du résultat net, donc aucun autre ajustement requis.</a:t>
            </a:r>
          </a:p>
        </p:txBody>
      </p:sp>
      <p:sp>
        <p:nvSpPr>
          <p:cNvPr id="5" name="Espace réservé du pied de page 4">
            <a:extLst>
              <a:ext uri="{FF2B5EF4-FFF2-40B4-BE49-F238E27FC236}">
                <a16:creationId xmlns:a16="http://schemas.microsoft.com/office/drawing/2014/main" id="{08BD88E9-043C-4F44-981B-12F6D2377E99}"/>
              </a:ext>
            </a:extLst>
          </p:cNvPr>
          <p:cNvSpPr>
            <a:spLocks noGrp="1"/>
          </p:cNvSpPr>
          <p:nvPr>
            <p:ph type="ftr" sz="quarter" idx="11"/>
          </p:nvPr>
        </p:nvSpPr>
        <p:spPr>
          <a:xfrm>
            <a:off x="596900" y="6400799"/>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1482510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26D629-FC5B-4066-97EA-B96B75369CE1}"/>
              </a:ext>
            </a:extLst>
          </p:cNvPr>
          <p:cNvSpPr>
            <a:spLocks noGrp="1"/>
          </p:cNvSpPr>
          <p:nvPr>
            <p:ph type="title"/>
          </p:nvPr>
        </p:nvSpPr>
        <p:spPr/>
        <p:txBody>
          <a:bodyPr/>
          <a:lstStyle/>
          <a:p>
            <a:r>
              <a:rPr lang="fr-CA" dirty="0"/>
              <a:t>Résultat de base par action – éléments entrant dans le calcul</a:t>
            </a:r>
            <a:endParaRPr lang="fr-FR" dirty="0"/>
          </a:p>
        </p:txBody>
      </p:sp>
      <p:sp>
        <p:nvSpPr>
          <p:cNvPr id="3" name="Espace réservé du contenu 2">
            <a:extLst>
              <a:ext uri="{FF2B5EF4-FFF2-40B4-BE49-F238E27FC236}">
                <a16:creationId xmlns:a16="http://schemas.microsoft.com/office/drawing/2014/main" id="{CA60544B-0C2C-41A0-B11D-4811CC490F0B}"/>
              </a:ext>
            </a:extLst>
          </p:cNvPr>
          <p:cNvSpPr>
            <a:spLocks noGrp="1"/>
          </p:cNvSpPr>
          <p:nvPr>
            <p:ph idx="1"/>
          </p:nvPr>
        </p:nvSpPr>
        <p:spPr/>
        <p:txBody>
          <a:bodyPr>
            <a:normAutofit fontScale="92500" lnSpcReduction="10000"/>
          </a:bodyPr>
          <a:lstStyle/>
          <a:p>
            <a:pPr marL="0" indent="0">
              <a:lnSpc>
                <a:spcPct val="80000"/>
              </a:lnSpc>
              <a:buNone/>
              <a:defRPr/>
            </a:pPr>
            <a:r>
              <a:rPr lang="fr-CA" altLang="en-US" sz="2400" u="sng" dirty="0"/>
              <a:t>Nombre moyen pondéré d’actions ordinaires en circulation :</a:t>
            </a:r>
          </a:p>
          <a:p>
            <a:pPr>
              <a:lnSpc>
                <a:spcPct val="80000"/>
              </a:lnSpc>
              <a:defRPr/>
            </a:pPr>
            <a:r>
              <a:rPr lang="fr-CA" altLang="en-US" sz="2400" dirty="0"/>
              <a:t>Point de départ : nombre d’</a:t>
            </a:r>
            <a:r>
              <a:rPr lang="fr-CA" altLang="en-US" sz="2400" i="1" dirty="0"/>
              <a:t>actions ordinaires </a:t>
            </a:r>
            <a:r>
              <a:rPr lang="fr-CA" altLang="en-US" sz="2400" dirty="0"/>
              <a:t>en circulation en date de début ou de fin d’année</a:t>
            </a:r>
          </a:p>
          <a:p>
            <a:pPr>
              <a:lnSpc>
                <a:spcPct val="80000"/>
              </a:lnSpc>
              <a:defRPr/>
            </a:pPr>
            <a:r>
              <a:rPr lang="fr-CA" altLang="en-US" sz="2400" dirty="0"/>
              <a:t>Ajustement :</a:t>
            </a:r>
          </a:p>
          <a:p>
            <a:pPr lvl="1">
              <a:lnSpc>
                <a:spcPct val="80000"/>
              </a:lnSpc>
              <a:defRPr/>
            </a:pPr>
            <a:r>
              <a:rPr lang="fr-CA" altLang="en-US" sz="2400" dirty="0"/>
              <a:t>Émission ou rachat d’actions ordinaires : à partir de la date d’émission ou jusqu’à la date de rachat</a:t>
            </a:r>
          </a:p>
          <a:p>
            <a:pPr lvl="1">
              <a:lnSpc>
                <a:spcPct val="80000"/>
              </a:lnSpc>
              <a:defRPr/>
            </a:pPr>
            <a:r>
              <a:rPr lang="fr-CA" altLang="en-US" sz="2400" dirty="0"/>
              <a:t>Conversion d’actions préférentielles : à partir de la date d’émission</a:t>
            </a:r>
          </a:p>
          <a:p>
            <a:pPr lvl="1">
              <a:lnSpc>
                <a:spcPct val="80000"/>
              </a:lnSpc>
              <a:defRPr/>
            </a:pPr>
            <a:r>
              <a:rPr lang="fr-CA" altLang="en-US" sz="2400" dirty="0"/>
              <a:t>Dividendes en actions ordinaires sur actions ordinaires, fractionnement, ou consolidation : depuis le début de l’exercice le plus ancien fourni à titre comparatif</a:t>
            </a:r>
          </a:p>
          <a:p>
            <a:pPr lvl="2">
              <a:lnSpc>
                <a:spcPct val="80000"/>
              </a:lnSpc>
              <a:defRPr/>
            </a:pPr>
            <a:r>
              <a:rPr lang="fr-CA" altLang="en-US" sz="2400" dirty="0"/>
              <a:t>Idem si le fractionnement survient après la fin de l’exercice mais avant la publication des états financiers</a:t>
            </a:r>
          </a:p>
        </p:txBody>
      </p:sp>
      <p:sp>
        <p:nvSpPr>
          <p:cNvPr id="5" name="Espace réservé du pied de page 4">
            <a:extLst>
              <a:ext uri="{FF2B5EF4-FFF2-40B4-BE49-F238E27FC236}">
                <a16:creationId xmlns:a16="http://schemas.microsoft.com/office/drawing/2014/main" id="{BF528E8C-F021-41AC-A289-1D28DF1C6CBA}"/>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2043348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b="1">
                <a:solidFill>
                  <a:schemeClr val="accent2"/>
                </a:solidFill>
              </a:rPr>
              <a:t>Définitions</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buNone/>
            </a:pPr>
            <a:r>
              <a:rPr lang="fr-CA" sz="2400" b="1">
                <a:solidFill>
                  <a:schemeClr val="accent2">
                    <a:lumMod val="50000"/>
                  </a:schemeClr>
                </a:solidFill>
              </a:rPr>
              <a:t>Une </a:t>
            </a:r>
            <a:r>
              <a:rPr lang="fr-CA" sz="2400" b="1" i="1">
                <a:solidFill>
                  <a:schemeClr val="accent2">
                    <a:lumMod val="50000"/>
                  </a:schemeClr>
                </a:solidFill>
              </a:rPr>
              <a:t>action ordinaire</a:t>
            </a:r>
            <a:r>
              <a:rPr lang="fr-CA" sz="2400" b="1">
                <a:solidFill>
                  <a:schemeClr val="accent2">
                    <a:lumMod val="50000"/>
                  </a:schemeClr>
                </a:solidFill>
              </a:rPr>
              <a:t> est un instrument de capitaux propres qui est subordonné à toutes les autres catégories d'instruments de capitaux propres.</a:t>
            </a:r>
          </a:p>
          <a:p>
            <a:pPr marL="0" indent="0">
              <a:buNone/>
            </a:pPr>
            <a:endParaRPr lang="fr-CA" sz="2400" b="1">
              <a:solidFill>
                <a:schemeClr val="accent2">
                  <a:lumMod val="50000"/>
                </a:schemeClr>
              </a:solidFill>
            </a:endParaRPr>
          </a:p>
          <a:p>
            <a:pPr marL="0" indent="0">
              <a:buNone/>
            </a:pPr>
            <a:r>
              <a:rPr lang="fr-CA" sz="2400">
                <a:solidFill>
                  <a:schemeClr val="accent2">
                    <a:lumMod val="50000"/>
                  </a:schemeClr>
                </a:solidFill>
              </a:rPr>
              <a:t>6       Les actions ordinaires ne participent au résultat de la période qu'après les autres catégories d'actions telles que les actions préférentielles. Une entité peut avoir plus d'une catégorie d'actions ordinaires. Les actions ordinaires de la même catégorie ont les mêmes droits à recevoir des dividendes.</a:t>
            </a:r>
          </a:p>
        </p:txBody>
      </p:sp>
      <p:sp>
        <p:nvSpPr>
          <p:cNvPr id="5" name="Espace réservé du pied de page 4">
            <a:extLst>
              <a:ext uri="{FF2B5EF4-FFF2-40B4-BE49-F238E27FC236}">
                <a16:creationId xmlns:a16="http://schemas.microsoft.com/office/drawing/2014/main" id="{4D3E76D9-6504-4768-8D62-C258ABFA96D5}"/>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538920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Résultat de base par action – éléments entrant dans le calcul</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lnSpcReduction="10000"/>
          </a:bodyPr>
          <a:lstStyle/>
          <a:p>
            <a:pPr marL="0" indent="0">
              <a:buNone/>
            </a:pPr>
            <a:r>
              <a:rPr lang="fr-CA" sz="2200" b="1" dirty="0">
                <a:solidFill>
                  <a:schemeClr val="accent2">
                    <a:lumMod val="50000"/>
                  </a:schemeClr>
                </a:solidFill>
              </a:rPr>
              <a:t>Actions</a:t>
            </a:r>
          </a:p>
          <a:p>
            <a:pPr marL="0" indent="0">
              <a:buNone/>
            </a:pPr>
            <a:r>
              <a:rPr lang="fr-CA" sz="2200" b="1" dirty="0">
                <a:solidFill>
                  <a:schemeClr val="accent2">
                    <a:lumMod val="50000"/>
                  </a:schemeClr>
                </a:solidFill>
              </a:rPr>
              <a:t>19     Pour le calcul du résultat de base par action, le nombre d'actions ordinaires doit être le nombre moyen pondéré d'actions ordinaires en circulation au cours de la période.</a:t>
            </a:r>
          </a:p>
          <a:p>
            <a:pPr marL="0" indent="0">
              <a:buNone/>
            </a:pPr>
            <a:endParaRPr lang="fr-CA" sz="2200" b="1" dirty="0">
              <a:solidFill>
                <a:schemeClr val="accent2">
                  <a:lumMod val="50000"/>
                </a:schemeClr>
              </a:solidFill>
            </a:endParaRPr>
          </a:p>
          <a:p>
            <a:pPr marL="0" indent="0">
              <a:buNone/>
            </a:pPr>
            <a:r>
              <a:rPr lang="fr-CA" sz="2200" dirty="0">
                <a:solidFill>
                  <a:schemeClr val="accent2">
                    <a:lumMod val="50000"/>
                  </a:schemeClr>
                </a:solidFill>
              </a:rPr>
              <a:t>20     (…)  Le nombre moyen pondéré d'actions ordinaires en circulation au cours de la période est le nombre d'actions ordinaires en circulation au début de la période, ajusté du nombre d'actions ordinaires remboursées ou émises au cours de la période, multiplié par un </a:t>
            </a:r>
            <a:r>
              <a:rPr lang="fr-CA" sz="2200" dirty="0">
                <a:solidFill>
                  <a:schemeClr val="accent2">
                    <a:lumMod val="50000"/>
                  </a:schemeClr>
                </a:solidFill>
                <a:highlight>
                  <a:srgbClr val="FFFF00"/>
                </a:highlight>
              </a:rPr>
              <a:t>facteur de pondération </a:t>
            </a:r>
            <a:r>
              <a:rPr lang="fr-CA" sz="2200" dirty="0">
                <a:solidFill>
                  <a:schemeClr val="accent2">
                    <a:lumMod val="50000"/>
                  </a:schemeClr>
                </a:solidFill>
              </a:rPr>
              <a:t>en fonction du temps. Ce facteur de pondération est égal au nombre de jours où les actions sont en circulation par rapport au nombre total de jours de la période ; dans de nombreux cas, une approximation raisonnable de la moyenne pondérée est adéquate.</a:t>
            </a:r>
          </a:p>
          <a:p>
            <a:pPr marL="0" indent="0">
              <a:buNone/>
            </a:pPr>
            <a:endParaRPr lang="fr-CA" sz="2200" dirty="0">
              <a:solidFill>
                <a:schemeClr val="accent2">
                  <a:lumMod val="50000"/>
                </a:schemeClr>
              </a:solidFill>
            </a:endParaRPr>
          </a:p>
          <a:p>
            <a:pPr marL="0" indent="0">
              <a:buNone/>
            </a:pPr>
            <a:endParaRPr lang="fr-FR" sz="2200"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EBC35969-58E8-4F93-89EA-F6712E77C83B}"/>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dirty="0"/>
              <a:t>Droits réservés Louise </a:t>
            </a:r>
            <a:r>
              <a:rPr lang="fr-FR" dirty="0" err="1"/>
              <a:t>Overbeek</a:t>
            </a:r>
            <a:endParaRPr lang="fr-FR" dirty="0"/>
          </a:p>
        </p:txBody>
      </p:sp>
    </p:spTree>
    <p:extLst>
      <p:ext uri="{BB962C8B-B14F-4D97-AF65-F5344CB8AC3E}">
        <p14:creationId xmlns:p14="http://schemas.microsoft.com/office/powerpoint/2010/main" val="1195621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Résultat de base par action – éléments entrant dans le calcul</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737213"/>
            <a:ext cx="11029615" cy="4121587"/>
          </a:xfrm>
        </p:spPr>
        <p:txBody>
          <a:bodyPr>
            <a:normAutofit lnSpcReduction="10000"/>
          </a:bodyPr>
          <a:lstStyle/>
          <a:p>
            <a:pPr marL="0" indent="0">
              <a:lnSpc>
                <a:spcPct val="90000"/>
              </a:lnSpc>
              <a:buNone/>
            </a:pPr>
            <a:r>
              <a:rPr lang="fr-CA" sz="2000" b="1" dirty="0">
                <a:solidFill>
                  <a:schemeClr val="accent2">
                    <a:lumMod val="50000"/>
                  </a:schemeClr>
                </a:solidFill>
              </a:rPr>
              <a:t>26     Le nombre moyen pondéré d'actions ordinaires en circulation au cours de la période et pendant toutes les périodes présentées doit être ajusté pour tenir compte d'événements, autres que la conversion d'actions ordinaires potentielles, qui ont changé le nombre d'actions ordinaires en circulation sans changement correspondant des ressources.</a:t>
            </a:r>
          </a:p>
          <a:p>
            <a:pPr marL="0" indent="0">
              <a:lnSpc>
                <a:spcPct val="90000"/>
              </a:lnSpc>
              <a:buNone/>
            </a:pPr>
            <a:endParaRPr lang="fr-CA" sz="2000" b="1" dirty="0">
              <a:solidFill>
                <a:schemeClr val="accent2">
                  <a:lumMod val="50000"/>
                </a:schemeClr>
              </a:solidFill>
            </a:endParaRPr>
          </a:p>
          <a:p>
            <a:pPr marL="0" indent="0">
              <a:lnSpc>
                <a:spcPct val="90000"/>
              </a:lnSpc>
              <a:buNone/>
            </a:pPr>
            <a:r>
              <a:rPr lang="fr-CA" sz="2000" dirty="0">
                <a:solidFill>
                  <a:schemeClr val="accent2">
                    <a:lumMod val="50000"/>
                  </a:schemeClr>
                </a:solidFill>
              </a:rPr>
              <a:t>27     Des actions ordinaires peuvent être émises, ou le nombre d'actions ordinaires en circulation peut être réduit, sans modification correspondante des ressources. On peut citer, à titre d'exemple :</a:t>
            </a:r>
          </a:p>
          <a:p>
            <a:pPr marL="0" indent="0">
              <a:lnSpc>
                <a:spcPct val="90000"/>
              </a:lnSpc>
              <a:buNone/>
            </a:pPr>
            <a:r>
              <a:rPr lang="fr-CA" sz="2000" dirty="0">
                <a:solidFill>
                  <a:schemeClr val="accent2">
                    <a:lumMod val="50000"/>
                  </a:schemeClr>
                </a:solidFill>
              </a:rPr>
              <a:t>(a)     une émission d'actions gratuites (parfois appelée </a:t>
            </a:r>
            <a:r>
              <a:rPr lang="fr-CA" sz="2000" u="sng" dirty="0">
                <a:solidFill>
                  <a:schemeClr val="accent2">
                    <a:lumMod val="50000"/>
                  </a:schemeClr>
                </a:solidFill>
              </a:rPr>
              <a:t>dividendes en actions</a:t>
            </a:r>
            <a:r>
              <a:rPr lang="fr-CA" sz="2000" dirty="0">
                <a:solidFill>
                  <a:schemeClr val="accent2">
                    <a:lumMod val="50000"/>
                  </a:schemeClr>
                </a:solidFill>
              </a:rPr>
              <a:t>) ;</a:t>
            </a:r>
          </a:p>
          <a:p>
            <a:pPr marL="0" indent="0">
              <a:lnSpc>
                <a:spcPct val="90000"/>
              </a:lnSpc>
              <a:buNone/>
            </a:pPr>
            <a:r>
              <a:rPr lang="fr-CA" sz="2000" dirty="0">
                <a:solidFill>
                  <a:schemeClr val="accent2">
                    <a:lumMod val="50000"/>
                  </a:schemeClr>
                </a:solidFill>
              </a:rPr>
              <a:t>(b)     un élément gratuit dans toute autre émission, par exemple un élément gratuit dans le cadre d'une émission de droits de souscription au profit des porteurs d'actions ordinaires existants ;</a:t>
            </a:r>
          </a:p>
          <a:p>
            <a:pPr marL="0" indent="0">
              <a:lnSpc>
                <a:spcPct val="90000"/>
              </a:lnSpc>
              <a:buNone/>
            </a:pPr>
            <a:r>
              <a:rPr lang="fr-CA" sz="2000" dirty="0">
                <a:solidFill>
                  <a:schemeClr val="accent2">
                    <a:lumMod val="50000"/>
                  </a:schemeClr>
                </a:solidFill>
              </a:rPr>
              <a:t>(c)     un </a:t>
            </a:r>
            <a:r>
              <a:rPr lang="fr-CA" sz="2000" u="sng" dirty="0">
                <a:solidFill>
                  <a:schemeClr val="accent2">
                    <a:lumMod val="50000"/>
                  </a:schemeClr>
                </a:solidFill>
              </a:rPr>
              <a:t>fractionnement d'actions </a:t>
            </a:r>
            <a:r>
              <a:rPr lang="fr-CA" sz="2000" dirty="0">
                <a:solidFill>
                  <a:schemeClr val="accent2">
                    <a:lumMod val="50000"/>
                  </a:schemeClr>
                </a:solidFill>
              </a:rPr>
              <a:t>; et</a:t>
            </a:r>
          </a:p>
          <a:p>
            <a:pPr marL="0" indent="0">
              <a:lnSpc>
                <a:spcPct val="90000"/>
              </a:lnSpc>
              <a:buNone/>
            </a:pPr>
            <a:r>
              <a:rPr lang="fr-CA" sz="2000" dirty="0">
                <a:solidFill>
                  <a:schemeClr val="accent2">
                    <a:lumMod val="50000"/>
                  </a:schemeClr>
                </a:solidFill>
              </a:rPr>
              <a:t>(d)     un fractionnement inversé d'actions (</a:t>
            </a:r>
            <a:r>
              <a:rPr lang="fr-CA" sz="2000" u="sng" dirty="0">
                <a:solidFill>
                  <a:schemeClr val="accent2">
                    <a:lumMod val="50000"/>
                  </a:schemeClr>
                </a:solidFill>
              </a:rPr>
              <a:t>regroupement d'actions</a:t>
            </a:r>
            <a:r>
              <a:rPr lang="fr-CA" sz="2000" dirty="0">
                <a:solidFill>
                  <a:schemeClr val="accent2">
                    <a:lumMod val="50000"/>
                  </a:schemeClr>
                </a:solidFill>
              </a:rPr>
              <a:t>).</a:t>
            </a:r>
          </a:p>
        </p:txBody>
      </p:sp>
      <p:sp>
        <p:nvSpPr>
          <p:cNvPr id="5" name="Espace réservé du pied de page 4">
            <a:extLst>
              <a:ext uri="{FF2B5EF4-FFF2-40B4-BE49-F238E27FC236}">
                <a16:creationId xmlns:a16="http://schemas.microsoft.com/office/drawing/2014/main" id="{3C353256-2598-4EC8-80B8-29F77C55D80C}"/>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287839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de base par action – exemple (analyse 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a:xfrm>
            <a:off x="581192" y="1960880"/>
            <a:ext cx="11029615" cy="4536173"/>
          </a:xfrm>
        </p:spPr>
        <p:txBody>
          <a:bodyPr>
            <a:normAutofit/>
          </a:bodyPr>
          <a:lstStyle/>
          <a:p>
            <a:pPr marL="0" indent="0">
              <a:buNone/>
            </a:pPr>
            <a:r>
              <a:rPr lang="fr-CA" b="1" dirty="0">
                <a:solidFill>
                  <a:srgbClr val="002060"/>
                </a:solidFill>
              </a:rPr>
              <a:t>Quel est le résultat par action de base?</a:t>
            </a:r>
          </a:p>
          <a:p>
            <a:r>
              <a:rPr lang="fr-CA" dirty="0">
                <a:solidFill>
                  <a:srgbClr val="002060"/>
                </a:solidFill>
              </a:rPr>
              <a:t>Résultat net pour l’exercice terminé le 31 décembre 2022 : 100 000 $</a:t>
            </a:r>
          </a:p>
          <a:p>
            <a:r>
              <a:rPr lang="fr-CA" dirty="0">
                <a:solidFill>
                  <a:srgbClr val="002060"/>
                </a:solidFill>
              </a:rPr>
              <a:t>Dividendes déclarés :</a:t>
            </a:r>
          </a:p>
          <a:p>
            <a:pPr lvl="1"/>
            <a:r>
              <a:rPr lang="fr-CA" dirty="0">
                <a:solidFill>
                  <a:srgbClr val="002060"/>
                </a:solidFill>
              </a:rPr>
              <a:t>Sur actions préférentielles (classées en capitaux propres) : 10 000 $</a:t>
            </a:r>
          </a:p>
          <a:p>
            <a:pPr lvl="1"/>
            <a:r>
              <a:rPr lang="fr-CA" dirty="0">
                <a:solidFill>
                  <a:srgbClr val="002060"/>
                </a:solidFill>
              </a:rPr>
              <a:t>Sur actions préférentielles (classées en passif) : 8 000 $</a:t>
            </a:r>
          </a:p>
          <a:p>
            <a:pPr lvl="1"/>
            <a:r>
              <a:rPr lang="fr-CA" dirty="0">
                <a:solidFill>
                  <a:srgbClr val="002060"/>
                </a:solidFill>
              </a:rPr>
              <a:t>Sur actions ordinaires : 5 000 $</a:t>
            </a:r>
          </a:p>
          <a:p>
            <a:r>
              <a:rPr lang="fr-CA" dirty="0">
                <a:solidFill>
                  <a:srgbClr val="002060"/>
                </a:solidFill>
              </a:rPr>
              <a:t>Actions ordinaires :</a:t>
            </a:r>
          </a:p>
          <a:p>
            <a:pPr lvl="1"/>
            <a:r>
              <a:rPr lang="fr-CA" dirty="0">
                <a:solidFill>
                  <a:srgbClr val="002060"/>
                </a:solidFill>
              </a:rPr>
              <a:t>Au 31 décembre 2021 : 1 000</a:t>
            </a:r>
          </a:p>
          <a:p>
            <a:pPr lvl="1"/>
            <a:r>
              <a:rPr lang="fr-CA" dirty="0">
                <a:solidFill>
                  <a:srgbClr val="002060"/>
                </a:solidFill>
              </a:rPr>
              <a:t>Conversion d’actions préférentielles en actions ordinaires le 1</a:t>
            </a:r>
            <a:r>
              <a:rPr lang="fr-CA" baseline="30000" dirty="0">
                <a:solidFill>
                  <a:srgbClr val="002060"/>
                </a:solidFill>
              </a:rPr>
              <a:t>er</a:t>
            </a:r>
            <a:r>
              <a:rPr lang="fr-CA" dirty="0">
                <a:solidFill>
                  <a:srgbClr val="002060"/>
                </a:solidFill>
              </a:rPr>
              <a:t> janvier 2022 : 100</a:t>
            </a:r>
          </a:p>
          <a:p>
            <a:pPr lvl="1"/>
            <a:r>
              <a:rPr lang="fr-CA" dirty="0">
                <a:solidFill>
                  <a:srgbClr val="002060"/>
                </a:solidFill>
              </a:rPr>
              <a:t>Émission d’actions le 1</a:t>
            </a:r>
            <a:r>
              <a:rPr lang="fr-CA" baseline="30000" dirty="0">
                <a:solidFill>
                  <a:srgbClr val="002060"/>
                </a:solidFill>
              </a:rPr>
              <a:t>er</a:t>
            </a:r>
            <a:r>
              <a:rPr lang="fr-CA" dirty="0">
                <a:solidFill>
                  <a:srgbClr val="002060"/>
                </a:solidFill>
              </a:rPr>
              <a:t> juin 2022 : 300</a:t>
            </a:r>
          </a:p>
          <a:p>
            <a:pPr lvl="1"/>
            <a:r>
              <a:rPr lang="fr-CA" dirty="0">
                <a:solidFill>
                  <a:srgbClr val="002060"/>
                </a:solidFill>
              </a:rPr>
              <a:t>Au 31 décembre 2022 : 1 400</a:t>
            </a:r>
          </a:p>
        </p:txBody>
      </p:sp>
      <p:sp>
        <p:nvSpPr>
          <p:cNvPr id="4" name="Espace réservé du pied de page 3">
            <a:extLst>
              <a:ext uri="{FF2B5EF4-FFF2-40B4-BE49-F238E27FC236}">
                <a16:creationId xmlns:a16="http://schemas.microsoft.com/office/drawing/2014/main" id="{2143E937-40D8-4713-6D17-3C3DEE2C13CE}"/>
              </a:ext>
            </a:extLst>
          </p:cNvPr>
          <p:cNvSpPr>
            <a:spLocks noGrp="1"/>
          </p:cNvSpPr>
          <p:nvPr>
            <p:ph type="ftr" sz="quarter" idx="11"/>
          </p:nvPr>
        </p:nvSpPr>
        <p:spPr>
          <a:xfrm>
            <a:off x="581192" y="6360884"/>
            <a:ext cx="6917210" cy="365125"/>
          </a:xfrm>
        </p:spPr>
        <p:txBody>
          <a:bodyPr/>
          <a:lstStyle/>
          <a:p>
            <a:r>
              <a:rPr lang="fr-FR"/>
              <a:t>Droits réservés Louise Overbeek</a:t>
            </a:r>
          </a:p>
        </p:txBody>
      </p:sp>
    </p:spTree>
    <p:extLst>
      <p:ext uri="{BB962C8B-B14F-4D97-AF65-F5344CB8AC3E}">
        <p14:creationId xmlns:p14="http://schemas.microsoft.com/office/powerpoint/2010/main" val="3507253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de base par action – exemple (</a:t>
            </a:r>
            <a:r>
              <a:rPr lang="fr-CA" b="1" dirty="0"/>
              <a:t>analyse </a:t>
            </a:r>
            <a:r>
              <a:rPr lang="fr-CA" dirty="0"/>
              <a:t>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p:txBody>
          <a:bodyPr>
            <a:normAutofit/>
          </a:bodyPr>
          <a:lstStyle/>
          <a:p>
            <a:pPr marL="0" indent="0">
              <a:buNone/>
            </a:pPr>
            <a:r>
              <a:rPr lang="fr-FR" sz="2000" dirty="0"/>
              <a:t>10     Le résultat de base par action doit être calculé en divisant le résultat net attribuable aux porteurs d'actions ordinaires de l'entité mère (le numérateur) par le nombre moyen pondéré d'actions ordinaires en circulation (le dénominateur) au cours de la période.</a:t>
            </a:r>
          </a:p>
          <a:p>
            <a:pPr>
              <a:buFont typeface="Wingdings" panose="05000000000000000000" pitchFamily="2" charset="2"/>
              <a:buChar char="Ø"/>
            </a:pPr>
            <a:r>
              <a:rPr lang="fr-FR" sz="2000" dirty="0">
                <a:solidFill>
                  <a:srgbClr val="0070C0"/>
                </a:solidFill>
              </a:rPr>
              <a:t>Il faut donc calculer le résultat net attribuable aux porteurs d’actions ordinaires, puis le nombre moyen pondéré d’actions ordinaires en circulations. </a:t>
            </a:r>
          </a:p>
        </p:txBody>
      </p:sp>
      <p:sp>
        <p:nvSpPr>
          <p:cNvPr id="4" name="Espace réservé du pied de page 3">
            <a:extLst>
              <a:ext uri="{FF2B5EF4-FFF2-40B4-BE49-F238E27FC236}">
                <a16:creationId xmlns:a16="http://schemas.microsoft.com/office/drawing/2014/main" id="{2143E937-40D8-4713-6D17-3C3DEE2C13CE}"/>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2536036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de base par action – exemple (</a:t>
            </a:r>
            <a:r>
              <a:rPr lang="fr-CA" b="1" dirty="0"/>
              <a:t>analyse</a:t>
            </a:r>
            <a:r>
              <a:rPr lang="fr-CA" dirty="0"/>
              <a:t> 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p:txBody>
          <a:bodyPr>
            <a:normAutofit fontScale="92500" lnSpcReduction="10000"/>
          </a:bodyPr>
          <a:lstStyle/>
          <a:p>
            <a:pPr marL="0" indent="0">
              <a:buNone/>
            </a:pPr>
            <a:r>
              <a:rPr lang="fr-FR" dirty="0">
                <a:solidFill>
                  <a:schemeClr val="tx1"/>
                </a:solidFill>
              </a:rPr>
              <a:t>Résultat</a:t>
            </a:r>
          </a:p>
          <a:p>
            <a:pPr marL="0" indent="0">
              <a:buNone/>
            </a:pPr>
            <a:r>
              <a:rPr lang="fr-FR" dirty="0">
                <a:solidFill>
                  <a:schemeClr val="tx1"/>
                </a:solidFill>
              </a:rPr>
              <a:t>12     Pour les besoins du calcul du résultat de base par action, les montants attribuables aux porteurs d'actions ordinaires de l'entité mère découlant :</a:t>
            </a:r>
          </a:p>
          <a:p>
            <a:pPr marL="0" indent="0">
              <a:buNone/>
            </a:pPr>
            <a:r>
              <a:rPr lang="fr-FR" dirty="0">
                <a:solidFill>
                  <a:schemeClr val="tx1"/>
                </a:solidFill>
              </a:rPr>
              <a:t>(a)     du résultat net des activités poursuivies attribuable à l'entité mère ; et</a:t>
            </a:r>
          </a:p>
          <a:p>
            <a:pPr marL="0" indent="0">
              <a:buNone/>
            </a:pPr>
            <a:r>
              <a:rPr lang="fr-FR" dirty="0">
                <a:solidFill>
                  <a:schemeClr val="tx1"/>
                </a:solidFill>
              </a:rPr>
              <a:t>(b)     du résultat net attribuable à l'entité mère</a:t>
            </a:r>
          </a:p>
          <a:p>
            <a:pPr marL="0" indent="0">
              <a:buNone/>
            </a:pPr>
            <a:r>
              <a:rPr lang="fr-FR" dirty="0">
                <a:solidFill>
                  <a:schemeClr val="tx1"/>
                </a:solidFill>
              </a:rPr>
              <a:t>     doivent être les montants des points (a) et (b) ajustés des montants après impôt des dividendes préférentiels, des écarts résultant du règlement des actions préférentielles, et d'autres effets similaires d'actions préférentielles classés en capitaux propres.</a:t>
            </a:r>
          </a:p>
          <a:p>
            <a:pPr>
              <a:buFont typeface="Wingdings" panose="05000000000000000000" pitchFamily="2" charset="2"/>
              <a:buChar char="Ø"/>
            </a:pPr>
            <a:r>
              <a:rPr lang="fr-CA" dirty="0">
                <a:solidFill>
                  <a:srgbClr val="0070C0"/>
                </a:solidFill>
              </a:rPr>
              <a:t>Il faut donc ajuster le résultat net de 100 000 $ des dividendes préférentiels classés en CP, soit 10 000 $.</a:t>
            </a:r>
            <a:endParaRPr lang="fr-CA" i="1" dirty="0">
              <a:solidFill>
                <a:srgbClr val="0070C0"/>
              </a:solidFill>
            </a:endParaRPr>
          </a:p>
          <a:p>
            <a:pPr>
              <a:buFont typeface="Wingdings" panose="05000000000000000000" pitchFamily="2" charset="2"/>
              <a:buChar char="Ø"/>
            </a:pPr>
            <a:r>
              <a:rPr lang="fr-CA" dirty="0">
                <a:solidFill>
                  <a:srgbClr val="0070C0"/>
                </a:solidFill>
              </a:rPr>
              <a:t>Il n’est pas nécessaire d’ajuster le résultat net des dividendes liés aux actions préférentielles classées dans le passif, car ces dividendes sont inclus dans les frais financiers et réduisent déjà le résultat net.</a:t>
            </a:r>
          </a:p>
        </p:txBody>
      </p:sp>
      <p:sp>
        <p:nvSpPr>
          <p:cNvPr id="4" name="Espace réservé du pied de page 3">
            <a:extLst>
              <a:ext uri="{FF2B5EF4-FFF2-40B4-BE49-F238E27FC236}">
                <a16:creationId xmlns:a16="http://schemas.microsoft.com/office/drawing/2014/main" id="{2143E937-40D8-4713-6D17-3C3DEE2C13CE}"/>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1562310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de base par action – exemple (</a:t>
            </a:r>
            <a:r>
              <a:rPr lang="fr-CA" b="1" dirty="0"/>
              <a:t>analyse</a:t>
            </a:r>
            <a:r>
              <a:rPr lang="fr-CA" dirty="0"/>
              <a:t> 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a:xfrm>
            <a:off x="581192" y="1869440"/>
            <a:ext cx="11029615" cy="3989359"/>
          </a:xfrm>
        </p:spPr>
        <p:txBody>
          <a:bodyPr>
            <a:normAutofit/>
          </a:bodyPr>
          <a:lstStyle/>
          <a:p>
            <a:pPr marL="0" indent="0">
              <a:buNone/>
            </a:pPr>
            <a:r>
              <a:rPr lang="fr-FR" dirty="0"/>
              <a:t>Nombre moyen pondéré d'actions ordinaires en circulation</a:t>
            </a:r>
          </a:p>
          <a:p>
            <a:pPr marL="0" indent="0">
              <a:buNone/>
            </a:pPr>
            <a:r>
              <a:rPr lang="fr-FR" dirty="0"/>
              <a:t>20     (…)  Le nombre moyen pondéré d'actions ordinaires en circulation au cours de la période est le nombre d'actions ordinaires en circulation au début de la période, ajusté du nombre d'actions ordinaires remboursées ou émises au cours de la période, multiplié par un facteur de pondération en fonction du temps. Ce facteur de pondération est égal au nombre de jours où les actions sont en circulation par rapport au nombre total de jours de la période ; dans de nombreux cas, une approximation raisonnable de la moyenne pondérée est adéquate.</a:t>
            </a:r>
          </a:p>
          <a:p>
            <a:pPr>
              <a:buFont typeface="Wingdings" panose="05000000000000000000" pitchFamily="2" charset="2"/>
              <a:buChar char="Ø"/>
            </a:pPr>
            <a:r>
              <a:rPr lang="fr-FR" dirty="0">
                <a:solidFill>
                  <a:srgbClr val="0070C0"/>
                </a:solidFill>
              </a:rPr>
              <a:t>Il faut donc calculer un facteur de pondération pour les actions déjà existantes, les nouvelles actions ordinaires émises, les actions ordinaires émises suite à la conversion d’actions préférentielles, l’exercice d’options…, en calculant le nombre de jours où ces actions étaient en circulation par rapport au nombre total de jour durant la période (soit nombre de jours du trimestre ou de l’année).  </a:t>
            </a:r>
          </a:p>
          <a:p>
            <a:pPr marL="0" indent="0">
              <a:buNone/>
            </a:pPr>
            <a:endParaRPr lang="fr-CA" dirty="0"/>
          </a:p>
        </p:txBody>
      </p:sp>
      <p:sp>
        <p:nvSpPr>
          <p:cNvPr id="4" name="Espace réservé du pied de page 3">
            <a:extLst>
              <a:ext uri="{FF2B5EF4-FFF2-40B4-BE49-F238E27FC236}">
                <a16:creationId xmlns:a16="http://schemas.microsoft.com/office/drawing/2014/main" id="{2143E937-40D8-4713-6D17-3C3DEE2C13CE}"/>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4099984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de base par action – exemple (</a:t>
            </a:r>
            <a:r>
              <a:rPr lang="fr-CA" b="1" dirty="0"/>
              <a:t>analyse</a:t>
            </a:r>
            <a:r>
              <a:rPr lang="fr-CA" dirty="0"/>
              <a:t> 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a:xfrm>
            <a:off x="581193" y="2180496"/>
            <a:ext cx="11029615" cy="3678303"/>
          </a:xfrm>
        </p:spPr>
        <p:txBody>
          <a:bodyPr>
            <a:normAutofit/>
          </a:bodyPr>
          <a:lstStyle/>
          <a:p>
            <a:pPr marL="0" indent="0">
              <a:buNone/>
            </a:pPr>
            <a:r>
              <a:rPr lang="fr-FR" dirty="0"/>
              <a:t>21     Les actions sont habituellement incluses dans le nombre moyen pondéré d'actions à compter de la date à laquelle la créance est née (qui est le plus souvent la date d'émission), par exemple :</a:t>
            </a:r>
          </a:p>
          <a:p>
            <a:pPr marL="342900" indent="-342900">
              <a:buAutoNum type="alphaLcParenBoth"/>
            </a:pPr>
            <a:r>
              <a:rPr lang="fr-FR" dirty="0"/>
              <a:t>les actions ordinaires émises en contrepartie de trésorerie sont incluses lorsque la trésorerie est exigible ; […]</a:t>
            </a:r>
          </a:p>
          <a:p>
            <a:pPr>
              <a:buFont typeface="Wingdings" panose="05000000000000000000" pitchFamily="2" charset="2"/>
              <a:buChar char="Ø"/>
            </a:pPr>
            <a:r>
              <a:rPr lang="fr-FR" dirty="0">
                <a:solidFill>
                  <a:srgbClr val="0070C0"/>
                </a:solidFill>
              </a:rPr>
              <a:t>Il faut donc calculer le facteur de pondération des actions ordinaires émises le 1</a:t>
            </a:r>
            <a:r>
              <a:rPr lang="fr-FR" baseline="30000" dirty="0">
                <a:solidFill>
                  <a:srgbClr val="0070C0"/>
                </a:solidFill>
              </a:rPr>
              <a:t>er</a:t>
            </a:r>
            <a:r>
              <a:rPr lang="fr-FR" dirty="0">
                <a:solidFill>
                  <a:srgbClr val="0070C0"/>
                </a:solidFill>
              </a:rPr>
              <a:t> juin 2022. </a:t>
            </a:r>
          </a:p>
          <a:p>
            <a:pPr marL="0" indent="0">
              <a:buNone/>
            </a:pPr>
            <a:endParaRPr lang="fr-FR" dirty="0"/>
          </a:p>
          <a:p>
            <a:pPr marL="0" indent="0">
              <a:buNone/>
            </a:pPr>
            <a:r>
              <a:rPr lang="fr-FR" dirty="0"/>
              <a:t>23     Les actions ordinaires qui seront émises lors de la conversion d'un instrument obligatoirement convertible sont incluses dans le calcul du résultat de base par action à compter de la date de la conclusion du contrat.</a:t>
            </a:r>
          </a:p>
          <a:p>
            <a:pPr>
              <a:buFont typeface="Wingdings" panose="05000000000000000000" pitchFamily="2" charset="2"/>
              <a:buChar char="Ø"/>
            </a:pPr>
            <a:r>
              <a:rPr lang="fr-FR" dirty="0">
                <a:solidFill>
                  <a:srgbClr val="0070C0"/>
                </a:solidFill>
              </a:rPr>
              <a:t>Il faut donc calculer le facteur de pondération des actions ordinaires émises suite à la conversion des actions préférentielles le 1</a:t>
            </a:r>
            <a:r>
              <a:rPr lang="fr-FR" baseline="30000" dirty="0">
                <a:solidFill>
                  <a:srgbClr val="0070C0"/>
                </a:solidFill>
              </a:rPr>
              <a:t>ER</a:t>
            </a:r>
            <a:r>
              <a:rPr lang="fr-FR" dirty="0">
                <a:solidFill>
                  <a:srgbClr val="0070C0"/>
                </a:solidFill>
              </a:rPr>
              <a:t> janvier 2022. </a:t>
            </a:r>
          </a:p>
        </p:txBody>
      </p:sp>
      <p:sp>
        <p:nvSpPr>
          <p:cNvPr id="4" name="Espace réservé du pied de page 3">
            <a:extLst>
              <a:ext uri="{FF2B5EF4-FFF2-40B4-BE49-F238E27FC236}">
                <a16:creationId xmlns:a16="http://schemas.microsoft.com/office/drawing/2014/main" id="{2143E937-40D8-4713-6D17-3C3DEE2C13CE}"/>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729263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de base par action – exemple (analyse et </a:t>
            </a:r>
            <a:r>
              <a:rPr lang="fr-CA" b="1" dirty="0"/>
              <a:t>calcul</a:t>
            </a:r>
            <a:r>
              <a:rPr lang="fr-CA" dirty="0"/>
              <a:t>)</a:t>
            </a:r>
          </a:p>
        </p:txBody>
      </p:sp>
      <p:sp>
        <p:nvSpPr>
          <p:cNvPr id="4" name="Espace réservé du pied de page 3">
            <a:extLst>
              <a:ext uri="{FF2B5EF4-FFF2-40B4-BE49-F238E27FC236}">
                <a16:creationId xmlns:a16="http://schemas.microsoft.com/office/drawing/2014/main" id="{2143E937-40D8-4713-6D17-3C3DEE2C13CE}"/>
              </a:ext>
            </a:extLst>
          </p:cNvPr>
          <p:cNvSpPr>
            <a:spLocks noGrp="1"/>
          </p:cNvSpPr>
          <p:nvPr>
            <p:ph type="ftr" sz="quarter" idx="11"/>
          </p:nvPr>
        </p:nvSpPr>
        <p:spPr/>
        <p:txBody>
          <a:bodyPr/>
          <a:lstStyle/>
          <a:p>
            <a:r>
              <a:rPr lang="fr-FR"/>
              <a:t>Droits réservés Louise Overbeek</a:t>
            </a:r>
          </a:p>
        </p:txBody>
      </p:sp>
      <p:graphicFrame>
        <p:nvGraphicFramePr>
          <p:cNvPr id="5" name="Espace réservé du contenu 4">
            <a:extLst>
              <a:ext uri="{FF2B5EF4-FFF2-40B4-BE49-F238E27FC236}">
                <a16:creationId xmlns:a16="http://schemas.microsoft.com/office/drawing/2014/main" id="{F0B61B2A-84D3-A8A7-D18E-A50C651F9012}"/>
              </a:ext>
            </a:extLst>
          </p:cNvPr>
          <p:cNvGraphicFramePr>
            <a:graphicFrameLocks noGrp="1" noChangeAspect="1"/>
          </p:cNvGraphicFramePr>
          <p:nvPr>
            <p:ph idx="1"/>
            <p:extLst>
              <p:ext uri="{D42A27DB-BD31-4B8C-83A1-F6EECF244321}">
                <p14:modId xmlns:p14="http://schemas.microsoft.com/office/powerpoint/2010/main" val="2244010946"/>
              </p:ext>
            </p:extLst>
          </p:nvPr>
        </p:nvGraphicFramePr>
        <p:xfrm>
          <a:off x="474663" y="2049463"/>
          <a:ext cx="11099800" cy="3613150"/>
        </p:xfrm>
        <a:graphic>
          <a:graphicData uri="http://schemas.openxmlformats.org/presentationml/2006/ole">
            <mc:AlternateContent xmlns:mc="http://schemas.openxmlformats.org/markup-compatibility/2006">
              <mc:Choice xmlns:v="urn:schemas-microsoft-com:vml" Requires="v">
                <p:oleObj name="Worksheet" r:id="rId2" imgW="11900023" imgH="3873383" progId="Excel.Sheet.12">
                  <p:embed/>
                </p:oleObj>
              </mc:Choice>
              <mc:Fallback>
                <p:oleObj name="Worksheet" r:id="rId2" imgW="11900023" imgH="3873383" progId="Excel.Sheet.12">
                  <p:embed/>
                  <p:pic>
                    <p:nvPicPr>
                      <p:cNvPr id="5" name="Espace réservé du contenu 4">
                        <a:extLst>
                          <a:ext uri="{FF2B5EF4-FFF2-40B4-BE49-F238E27FC236}">
                            <a16:creationId xmlns:a16="http://schemas.microsoft.com/office/drawing/2014/main" id="{F0B61B2A-84D3-A8A7-D18E-A50C651F9012}"/>
                          </a:ext>
                        </a:extLst>
                      </p:cNvPr>
                      <p:cNvPicPr/>
                      <p:nvPr/>
                    </p:nvPicPr>
                    <p:blipFill>
                      <a:blip r:embed="rId3"/>
                      <a:stretch>
                        <a:fillRect/>
                      </a:stretch>
                    </p:blipFill>
                    <p:spPr>
                      <a:xfrm>
                        <a:off x="474663" y="2049463"/>
                        <a:ext cx="11099800" cy="3613150"/>
                      </a:xfrm>
                      <a:prstGeom prst="rect">
                        <a:avLst/>
                      </a:prstGeom>
                    </p:spPr>
                  </p:pic>
                </p:oleObj>
              </mc:Fallback>
            </mc:AlternateContent>
          </a:graphicData>
        </a:graphic>
      </p:graphicFrame>
    </p:spTree>
    <p:extLst>
      <p:ext uri="{BB962C8B-B14F-4D97-AF65-F5344CB8AC3E}">
        <p14:creationId xmlns:p14="http://schemas.microsoft.com/office/powerpoint/2010/main" val="316938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867266" y="336550"/>
            <a:ext cx="9205606" cy="1303338"/>
          </a:xfrm>
        </p:spPr>
        <p:txBody>
          <a:bodyPr/>
          <a:lstStyle/>
          <a:p>
            <a:pPr eaLnBrk="1" hangingPunct="1"/>
            <a:r>
              <a:rPr lang="fr-CA" sz="3200" dirty="0">
                <a:latin typeface="Gill Sans MT (Corps)"/>
                <a:ea typeface="MS PGothic" charset="0"/>
                <a:cs typeface="MS PGothic" charset="0"/>
              </a:rPr>
              <a:t>Résultat dilué par action – présentation</a:t>
            </a:r>
            <a:endParaRPr lang="fr-CA" sz="2800" dirty="0">
              <a:latin typeface="Gill Sans MT (Corps)"/>
              <a:ea typeface="MS PGothic" charset="0"/>
              <a:cs typeface="MS PGothic" charset="0"/>
            </a:endParaRPr>
          </a:p>
        </p:txBody>
      </p:sp>
      <p:sp>
        <p:nvSpPr>
          <p:cNvPr id="20482" name="Rectangle 3"/>
          <p:cNvSpPr>
            <a:spLocks noGrp="1" noChangeArrowheads="1"/>
          </p:cNvSpPr>
          <p:nvPr>
            <p:ph idx="1"/>
          </p:nvPr>
        </p:nvSpPr>
        <p:spPr>
          <a:xfrm>
            <a:off x="581192" y="1960563"/>
            <a:ext cx="10896934" cy="4400550"/>
          </a:xfrm>
        </p:spPr>
        <p:txBody>
          <a:bodyPr>
            <a:normAutofit/>
          </a:bodyPr>
          <a:lstStyle/>
          <a:p>
            <a:pPr marL="0" indent="0" algn="just">
              <a:lnSpc>
                <a:spcPct val="80000"/>
              </a:lnSpc>
              <a:buNone/>
              <a:tabLst>
                <a:tab pos="0" algn="l"/>
              </a:tabLst>
              <a:defRPr/>
            </a:pPr>
            <a:r>
              <a:rPr lang="fr-CA" sz="2400" dirty="0"/>
              <a:t>							Résultat net attribuable aux actionnaires ordinaires </a:t>
            </a:r>
            <a:r>
              <a:rPr lang="fr-CA" sz="2400" b="1" dirty="0">
                <a:highlight>
                  <a:srgbClr val="FFFF00"/>
                </a:highlight>
              </a:rPr>
              <a:t>ajusté de </a:t>
            </a:r>
          </a:p>
          <a:p>
            <a:pPr marL="0" indent="0" algn="just">
              <a:lnSpc>
                <a:spcPct val="80000"/>
              </a:lnSpc>
              <a:buNone/>
              <a:tabLst>
                <a:tab pos="0" algn="l"/>
              </a:tabLst>
              <a:defRPr/>
            </a:pPr>
            <a:r>
              <a:rPr lang="fr-CA" sz="2400" b="1" dirty="0"/>
              <a:t>	 						</a:t>
            </a:r>
            <a:r>
              <a:rPr lang="fr-CA" sz="2400" b="1" dirty="0">
                <a:highlight>
                  <a:srgbClr val="FFFF00"/>
                </a:highlight>
              </a:rPr>
              <a:t>l’effet des actions potentielles dilutives </a:t>
            </a:r>
          </a:p>
          <a:p>
            <a:pPr marL="0" indent="0" algn="just">
              <a:lnSpc>
                <a:spcPct val="80000"/>
              </a:lnSpc>
              <a:buNone/>
              <a:tabLst>
                <a:tab pos="0" algn="l"/>
              </a:tabLst>
              <a:defRPr/>
            </a:pPr>
            <a:r>
              <a:rPr lang="fr-CA" sz="2400" dirty="0"/>
              <a:t>							Nombre moyen pondéré d’actions ordinaires en circulation </a:t>
            </a:r>
          </a:p>
          <a:p>
            <a:pPr marL="0" indent="0" algn="just">
              <a:lnSpc>
                <a:spcPct val="80000"/>
              </a:lnSpc>
              <a:buNone/>
              <a:tabLst>
                <a:tab pos="0" algn="l"/>
              </a:tabLst>
              <a:defRPr/>
            </a:pPr>
            <a:r>
              <a:rPr lang="fr-CA" sz="2400" dirty="0"/>
              <a:t>							</a:t>
            </a:r>
            <a:r>
              <a:rPr lang="fr-CA" sz="2400" b="1" dirty="0">
                <a:highlight>
                  <a:srgbClr val="FFFF00"/>
                </a:highlight>
              </a:rPr>
              <a:t>ajusté de l’effet des actions potentielles dilutives</a:t>
            </a:r>
          </a:p>
          <a:p>
            <a:pPr marL="0" indent="0" algn="just">
              <a:lnSpc>
                <a:spcPct val="80000"/>
              </a:lnSpc>
              <a:buNone/>
              <a:tabLst>
                <a:tab pos="0" algn="l"/>
              </a:tabLst>
              <a:defRPr/>
            </a:pPr>
            <a:endParaRPr lang="fr-CA" altLang="en-US" sz="2000" dirty="0"/>
          </a:p>
          <a:p>
            <a:pPr algn="just">
              <a:lnSpc>
                <a:spcPct val="80000"/>
              </a:lnSpc>
              <a:tabLst>
                <a:tab pos="0" algn="l"/>
              </a:tabLst>
              <a:defRPr/>
            </a:pPr>
            <a:r>
              <a:rPr lang="fr-CA" altLang="en-US" sz="2000" dirty="0"/>
              <a:t>Mesure la </a:t>
            </a:r>
            <a:r>
              <a:rPr lang="fr-FR" altLang="en-US" sz="2000" dirty="0"/>
              <a:t>quote-part de chaque action ordinaire réelle ou </a:t>
            </a:r>
            <a:r>
              <a:rPr lang="fr-FR" altLang="en-US" sz="2000" b="1" dirty="0"/>
              <a:t>potentielle </a:t>
            </a:r>
            <a:r>
              <a:rPr lang="fr-FR" altLang="en-US" sz="2000" b="1" u="sng" dirty="0">
                <a:solidFill>
                  <a:srgbClr val="00B0F0"/>
                </a:solidFill>
              </a:rPr>
              <a:t>et</a:t>
            </a:r>
            <a:r>
              <a:rPr lang="fr-FR" altLang="en-US" sz="2000" b="1" dirty="0">
                <a:solidFill>
                  <a:srgbClr val="00B0F0"/>
                </a:solidFill>
              </a:rPr>
              <a:t> dilutive </a:t>
            </a:r>
            <a:r>
              <a:rPr lang="fr-FR" altLang="en-US" sz="2000" dirty="0"/>
              <a:t>dans la performance de l’entité (résultat net, </a:t>
            </a:r>
            <a:r>
              <a:rPr lang="fr-FR" altLang="en-US" sz="2000" b="1" dirty="0"/>
              <a:t>ajusté de l’effet de l’action ordinaire potentielle et dilutive</a:t>
            </a:r>
            <a:r>
              <a:rPr lang="fr-FR" altLang="en-US" sz="2000" dirty="0"/>
              <a:t>) au cours de la période de présentation de l’information financière</a:t>
            </a:r>
          </a:p>
          <a:p>
            <a:pPr algn="just">
              <a:lnSpc>
                <a:spcPct val="80000"/>
              </a:lnSpc>
              <a:tabLst>
                <a:tab pos="0" algn="l"/>
              </a:tabLst>
              <a:defRPr/>
            </a:pPr>
            <a:r>
              <a:rPr lang="fr-FR" altLang="en-US" sz="2000" dirty="0"/>
              <a:t>Montre la </a:t>
            </a:r>
            <a:r>
              <a:rPr lang="fr-FR" altLang="en-US" sz="2000" dirty="0">
                <a:solidFill>
                  <a:srgbClr val="00B0F0"/>
                </a:solidFill>
              </a:rPr>
              <a:t>réduction potentielle maximale du </a:t>
            </a:r>
            <a:r>
              <a:rPr lang="fr-CA" altLang="en-US" sz="2000" dirty="0">
                <a:solidFill>
                  <a:srgbClr val="00B0F0"/>
                </a:solidFill>
              </a:rPr>
              <a:t>RPA</a:t>
            </a:r>
          </a:p>
        </p:txBody>
      </p:sp>
      <p:sp>
        <p:nvSpPr>
          <p:cNvPr id="2" name="Espace réservé du pied de page 1">
            <a:extLst>
              <a:ext uri="{FF2B5EF4-FFF2-40B4-BE49-F238E27FC236}">
                <a16:creationId xmlns:a16="http://schemas.microsoft.com/office/drawing/2014/main" id="{408369B5-2F59-40D0-8EC3-D942A6198055}"/>
              </a:ext>
            </a:extLst>
          </p:cNvPr>
          <p:cNvSpPr>
            <a:spLocks noGrp="1"/>
          </p:cNvSpPr>
          <p:nvPr>
            <p:ph type="ftr" sz="quarter" idx="11"/>
          </p:nvPr>
        </p:nvSpPr>
        <p:spPr/>
        <p:txBody>
          <a:bodyPr/>
          <a:lstStyle/>
          <a:p>
            <a:r>
              <a:rPr lang="fr-FR"/>
              <a:t>Droits réservés Louise Overbeek</a:t>
            </a:r>
          </a:p>
        </p:txBody>
      </p:sp>
      <p:sp>
        <p:nvSpPr>
          <p:cNvPr id="49156" name="Text Box 4"/>
          <p:cNvSpPr txBox="1">
            <a:spLocks noChangeArrowheads="1"/>
          </p:cNvSpPr>
          <p:nvPr/>
        </p:nvSpPr>
        <p:spPr bwMode="auto">
          <a:xfrm>
            <a:off x="8763000" y="0"/>
            <a:ext cx="19050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spcBef>
                <a:spcPct val="50000"/>
              </a:spcBef>
            </a:pPr>
            <a:endParaRPr lang="en-CA" sz="1600" b="1">
              <a:latin typeface="Univers" charset="0"/>
              <a:ea typeface="MS PGothic" charset="0"/>
              <a:cs typeface="MS PGothic" charset="0"/>
            </a:endParaRPr>
          </a:p>
        </p:txBody>
      </p:sp>
      <p:sp>
        <p:nvSpPr>
          <p:cNvPr id="3" name="Rectangle 3">
            <a:extLst>
              <a:ext uri="{FF2B5EF4-FFF2-40B4-BE49-F238E27FC236}">
                <a16:creationId xmlns:a16="http://schemas.microsoft.com/office/drawing/2014/main" id="{4D5BFD78-2E0C-A4D9-49AE-F65083CBC18C}"/>
              </a:ext>
            </a:extLst>
          </p:cNvPr>
          <p:cNvSpPr txBox="1">
            <a:spLocks noChangeArrowheads="1"/>
          </p:cNvSpPr>
          <p:nvPr/>
        </p:nvSpPr>
        <p:spPr>
          <a:xfrm>
            <a:off x="867266" y="3247482"/>
            <a:ext cx="1877261" cy="363036"/>
          </a:xfrm>
          <a:prstGeom prst="rect">
            <a:avLst/>
          </a:prstGeom>
        </p:spPr>
        <p:txBody>
          <a:bodyPr vert="horz" lIns="91440" tIns="45720" rIns="91440" bIns="45720" rtlCol="0" anchor="ct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lnSpc>
                <a:spcPct val="80000"/>
              </a:lnSpc>
              <a:buFont typeface="Wingdings 2" panose="05020102010507070707" pitchFamily="18" charset="2"/>
              <a:buNone/>
              <a:tabLst>
                <a:tab pos="0" algn="l"/>
              </a:tabLst>
              <a:defRPr/>
            </a:pPr>
            <a:r>
              <a:rPr lang="fr-CA" sz="2400" dirty="0"/>
              <a:t>RPA dilué =</a:t>
            </a:r>
            <a:endParaRPr lang="fr-CA" altLang="en-US" sz="2000" dirty="0"/>
          </a:p>
        </p:txBody>
      </p:sp>
      <p:cxnSp>
        <p:nvCxnSpPr>
          <p:cNvPr id="9" name="Connecteur droit 8">
            <a:extLst>
              <a:ext uri="{FF2B5EF4-FFF2-40B4-BE49-F238E27FC236}">
                <a16:creationId xmlns:a16="http://schemas.microsoft.com/office/drawing/2014/main" id="{4D3BAE44-A094-FA67-680D-F179EA262396}"/>
              </a:ext>
            </a:extLst>
          </p:cNvPr>
          <p:cNvCxnSpPr/>
          <p:nvPr/>
        </p:nvCxnSpPr>
        <p:spPr>
          <a:xfrm>
            <a:off x="3380874" y="3332747"/>
            <a:ext cx="767614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914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FR" dirty="0">
                <a:solidFill>
                  <a:schemeClr val="accent2"/>
                </a:solidFill>
              </a:rPr>
              <a:t>Résultat dilué par action – présentation</a:t>
            </a: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lnSpc>
                <a:spcPct val="90000"/>
              </a:lnSpc>
              <a:buNone/>
            </a:pPr>
            <a:r>
              <a:rPr lang="fr-CA" sz="2400" b="1" dirty="0">
                <a:solidFill>
                  <a:schemeClr val="accent2">
                    <a:lumMod val="50000"/>
                  </a:schemeClr>
                </a:solidFill>
              </a:rPr>
              <a:t>Résultat dilué par action</a:t>
            </a:r>
          </a:p>
          <a:p>
            <a:pPr marL="0" indent="0">
              <a:lnSpc>
                <a:spcPct val="90000"/>
              </a:lnSpc>
              <a:buNone/>
            </a:pPr>
            <a:endParaRPr lang="fr-CA" sz="2000" b="1" dirty="0">
              <a:solidFill>
                <a:schemeClr val="accent2">
                  <a:lumMod val="50000"/>
                </a:schemeClr>
              </a:solidFill>
            </a:endParaRPr>
          </a:p>
          <a:p>
            <a:pPr marL="0" indent="0">
              <a:lnSpc>
                <a:spcPct val="90000"/>
              </a:lnSpc>
              <a:buNone/>
            </a:pPr>
            <a:r>
              <a:rPr lang="fr-CA" sz="2000" b="1" dirty="0">
                <a:solidFill>
                  <a:schemeClr val="accent2">
                    <a:lumMod val="50000"/>
                  </a:schemeClr>
                </a:solidFill>
              </a:rPr>
              <a:t>30     Une entité doit calculer le résultat dilué par action pour le résultat net attribuable aux porteurs d'actions ordinaires de l'entité mère et, s'il est présenté, pour le résultat net des activités poursuivies attribuables à ces mêmes porteurs d'instruments de capitaux propres.</a:t>
            </a:r>
          </a:p>
          <a:p>
            <a:pPr marL="0" indent="0">
              <a:lnSpc>
                <a:spcPct val="90000"/>
              </a:lnSpc>
              <a:buNone/>
            </a:pPr>
            <a:endParaRPr lang="fr-CA" sz="2000" b="1" dirty="0">
              <a:solidFill>
                <a:schemeClr val="accent2">
                  <a:lumMod val="50000"/>
                </a:schemeClr>
              </a:solidFill>
            </a:endParaRPr>
          </a:p>
          <a:p>
            <a:pPr marL="0" indent="0">
              <a:lnSpc>
                <a:spcPct val="90000"/>
              </a:lnSpc>
              <a:buNone/>
            </a:pPr>
            <a:r>
              <a:rPr lang="fr-CA" sz="2000" b="1" dirty="0">
                <a:solidFill>
                  <a:schemeClr val="accent2">
                    <a:lumMod val="50000"/>
                  </a:schemeClr>
                </a:solidFill>
              </a:rPr>
              <a:t>31     Pour le calcul du résultat dilué par action, une entité doit ajuster le résultat net attribuable aux actionnaires ordinaires de l'entité mère ainsi que le nombre moyen pondéré d'actions en circulation, des </a:t>
            </a:r>
            <a:r>
              <a:rPr lang="fr-CA" sz="2000" b="1" u="sng" dirty="0">
                <a:solidFill>
                  <a:schemeClr val="accent2">
                    <a:lumMod val="50000"/>
                  </a:schemeClr>
                </a:solidFill>
                <a:highlight>
                  <a:srgbClr val="FFFF00"/>
                </a:highlight>
              </a:rPr>
              <a:t>effets de toutes les actions ordinaires potentielles dilutives</a:t>
            </a:r>
            <a:r>
              <a:rPr lang="fr-CA" sz="2000" b="1" u="sng" dirty="0">
                <a:solidFill>
                  <a:schemeClr val="accent2">
                    <a:lumMod val="50000"/>
                  </a:schemeClr>
                </a:solidFill>
              </a:rPr>
              <a:t>.</a:t>
            </a:r>
            <a:endParaRPr lang="fr-CA" sz="2000" b="1" dirty="0">
              <a:solidFill>
                <a:schemeClr val="accent2">
                  <a:lumMod val="50000"/>
                </a:schemeClr>
              </a:solidFill>
            </a:endParaRPr>
          </a:p>
          <a:p>
            <a:pPr marL="0" indent="0">
              <a:lnSpc>
                <a:spcPct val="90000"/>
              </a:lnSpc>
              <a:buNone/>
            </a:pPr>
            <a:endParaRPr lang="fr-CA" sz="2000" dirty="0">
              <a:solidFill>
                <a:schemeClr val="accent2">
                  <a:lumMod val="50000"/>
                </a:schemeClr>
              </a:solidFill>
            </a:endParaRPr>
          </a:p>
          <a:p>
            <a:pPr marL="0" indent="0">
              <a:lnSpc>
                <a:spcPct val="90000"/>
              </a:lnSpc>
              <a:buNone/>
            </a:pPr>
            <a:endParaRPr lang="fr-FR" sz="2000"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FD8F64B0-8E09-4DD6-8AC6-E8E95A119ABD}"/>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297170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FR" dirty="0">
                <a:solidFill>
                  <a:schemeClr val="accent2"/>
                </a:solidFill>
              </a:rPr>
              <a:t>Résultat dilué par action – présentation</a:t>
            </a: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lnSpc>
                <a:spcPct val="90000"/>
              </a:lnSpc>
              <a:buNone/>
            </a:pPr>
            <a:r>
              <a:rPr lang="fr-CA" sz="2400" b="1" dirty="0">
                <a:solidFill>
                  <a:schemeClr val="accent2">
                    <a:lumMod val="50000"/>
                  </a:schemeClr>
                </a:solidFill>
              </a:rPr>
              <a:t>Résultat dilué par action</a:t>
            </a:r>
          </a:p>
          <a:p>
            <a:pPr marL="0" indent="0">
              <a:lnSpc>
                <a:spcPct val="90000"/>
              </a:lnSpc>
              <a:buNone/>
            </a:pPr>
            <a:r>
              <a:rPr lang="fr-CA" sz="2000" dirty="0">
                <a:solidFill>
                  <a:schemeClr val="accent2">
                    <a:lumMod val="50000"/>
                  </a:schemeClr>
                </a:solidFill>
              </a:rPr>
              <a:t>32     L'objectif du résultat dilué par action est cohérent avec celui du résultat de base par action — fournir une évaluation de la quote-part de chaque action ordinaire dans la performance d'une entité — tout en tenant compte de toutes les actions ordinaires potentielles dilutives en circulation au cours de la période. De ce fait :</a:t>
            </a:r>
          </a:p>
          <a:p>
            <a:pPr marL="0" indent="0">
              <a:lnSpc>
                <a:spcPct val="90000"/>
              </a:lnSpc>
              <a:buNone/>
            </a:pPr>
            <a:r>
              <a:rPr lang="fr-CA" sz="2000" dirty="0">
                <a:solidFill>
                  <a:schemeClr val="accent2">
                    <a:lumMod val="50000"/>
                  </a:schemeClr>
                </a:solidFill>
              </a:rPr>
              <a:t>(a)     le résultat net attribuable aux porteurs d'actions ordinaires de l'entité mère est </a:t>
            </a:r>
            <a:r>
              <a:rPr lang="fr-CA" sz="2000" b="1" dirty="0">
                <a:solidFill>
                  <a:srgbClr val="FF0000"/>
                </a:solidFill>
                <a:highlight>
                  <a:srgbClr val="FFFF00"/>
                </a:highlight>
              </a:rPr>
              <a:t>majoré</a:t>
            </a:r>
            <a:r>
              <a:rPr lang="fr-CA" sz="2000" dirty="0">
                <a:solidFill>
                  <a:schemeClr val="accent2">
                    <a:lumMod val="50000"/>
                  </a:schemeClr>
                </a:solidFill>
              </a:rPr>
              <a:t> du montant après impôt des dividendes et des intérêts comptabilisés au cours de la période au titre des </a:t>
            </a:r>
            <a:r>
              <a:rPr lang="fr-CA" sz="2000" b="1" dirty="0">
                <a:solidFill>
                  <a:srgbClr val="FF0000"/>
                </a:solidFill>
                <a:highlight>
                  <a:srgbClr val="FFFF00"/>
                </a:highlight>
              </a:rPr>
              <a:t>actions ordinaires potentielles dilutives</a:t>
            </a:r>
            <a:r>
              <a:rPr lang="fr-CA" sz="2000" dirty="0">
                <a:solidFill>
                  <a:schemeClr val="accent2">
                    <a:lumMod val="50000"/>
                  </a:schemeClr>
                </a:solidFill>
              </a:rPr>
              <a:t>, et ajusté pour tenir compte de toute autre variation des produits ou des charges qui résulterait de la conversion des actions ordinaires potentielles dilutives ; et</a:t>
            </a:r>
          </a:p>
          <a:p>
            <a:pPr marL="0" indent="0">
              <a:lnSpc>
                <a:spcPct val="90000"/>
              </a:lnSpc>
              <a:buNone/>
            </a:pPr>
            <a:r>
              <a:rPr lang="fr-CA" sz="2000" dirty="0">
                <a:solidFill>
                  <a:schemeClr val="accent2">
                    <a:lumMod val="50000"/>
                  </a:schemeClr>
                </a:solidFill>
              </a:rPr>
              <a:t>(b)     le nombre moyen pondéré d'actions ordinaires en circulation est majoré du nombre moyen pondéré d'actions ordinaires supplémentaires qui auraient été en circulation dans l'hypothèse d'une conversion de toutes les actions ordinaires potentielles dilutives.</a:t>
            </a:r>
          </a:p>
          <a:p>
            <a:pPr marL="0" indent="0">
              <a:lnSpc>
                <a:spcPct val="90000"/>
              </a:lnSpc>
              <a:buNone/>
            </a:pPr>
            <a:endParaRPr lang="fr-FR" sz="2000"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8188F6DB-8CE4-43E4-8A64-34DE27F39125}"/>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1402064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72F80C-009B-25B1-989F-3BD01BBBA0B8}"/>
              </a:ext>
            </a:extLst>
          </p:cNvPr>
          <p:cNvSpPr>
            <a:spLocks noGrp="1"/>
          </p:cNvSpPr>
          <p:nvPr>
            <p:ph type="title"/>
          </p:nvPr>
        </p:nvSpPr>
        <p:spPr/>
        <p:txBody>
          <a:bodyPr/>
          <a:lstStyle/>
          <a:p>
            <a:r>
              <a:rPr lang="fr-CA" dirty="0"/>
              <a:t>Résultat dilué par action – éléments entrant dans le calcul</a:t>
            </a:r>
          </a:p>
        </p:txBody>
      </p:sp>
      <p:sp>
        <p:nvSpPr>
          <p:cNvPr id="3" name="Espace réservé du contenu 2">
            <a:extLst>
              <a:ext uri="{FF2B5EF4-FFF2-40B4-BE49-F238E27FC236}">
                <a16:creationId xmlns:a16="http://schemas.microsoft.com/office/drawing/2014/main" id="{9DCACD14-EECD-E2C3-7CE8-CEABE47B80D9}"/>
              </a:ext>
            </a:extLst>
          </p:cNvPr>
          <p:cNvSpPr>
            <a:spLocks noGrp="1"/>
          </p:cNvSpPr>
          <p:nvPr>
            <p:ph idx="1"/>
          </p:nvPr>
        </p:nvSpPr>
        <p:spPr>
          <a:xfrm>
            <a:off x="581192" y="1888958"/>
            <a:ext cx="11029615" cy="3969841"/>
          </a:xfrm>
        </p:spPr>
        <p:txBody>
          <a:bodyPr>
            <a:noAutofit/>
          </a:bodyPr>
          <a:lstStyle/>
          <a:p>
            <a:pPr marL="0" indent="0" algn="just">
              <a:lnSpc>
                <a:spcPct val="80000"/>
              </a:lnSpc>
              <a:buNone/>
              <a:tabLst>
                <a:tab pos="0" algn="l"/>
              </a:tabLst>
              <a:defRPr/>
            </a:pPr>
            <a:r>
              <a:rPr lang="fr-CA" altLang="en-US" sz="2000" u="sng" dirty="0"/>
              <a:t>Point de départ : résultat de base par action</a:t>
            </a:r>
          </a:p>
          <a:p>
            <a:pPr algn="just">
              <a:lnSpc>
                <a:spcPct val="80000"/>
              </a:lnSpc>
              <a:tabLst>
                <a:tab pos="0" algn="l"/>
              </a:tabLst>
              <a:defRPr/>
            </a:pPr>
            <a:r>
              <a:rPr lang="fr-CA" altLang="en-US" sz="2000" dirty="0"/>
              <a:t>Identifier tous les éléments qui peuvent se transformer en actions ordinaires</a:t>
            </a:r>
          </a:p>
          <a:p>
            <a:pPr algn="just">
              <a:lnSpc>
                <a:spcPct val="80000"/>
              </a:lnSpc>
              <a:tabLst>
                <a:tab pos="0" algn="l"/>
              </a:tabLst>
              <a:defRPr/>
            </a:pPr>
            <a:r>
              <a:rPr lang="fr-CA" altLang="en-US" sz="2000" dirty="0"/>
              <a:t>Pour chacun de ces éléments, déterminer l’impact </a:t>
            </a:r>
            <a:r>
              <a:rPr lang="fr-CA" altLang="en-US" sz="2000" dirty="0">
                <a:solidFill>
                  <a:srgbClr val="00B0F0"/>
                </a:solidFill>
              </a:rPr>
              <a:t>marginal</a:t>
            </a:r>
            <a:r>
              <a:rPr lang="fr-CA" altLang="en-US" sz="2000" dirty="0"/>
              <a:t> s’ils deviennent des actions ordinaires sur :</a:t>
            </a:r>
          </a:p>
          <a:p>
            <a:pPr lvl="1" algn="just">
              <a:lnSpc>
                <a:spcPct val="80000"/>
              </a:lnSpc>
              <a:tabLst>
                <a:tab pos="0" algn="l"/>
              </a:tabLst>
              <a:defRPr/>
            </a:pPr>
            <a:r>
              <a:rPr lang="fr-CA" altLang="en-US" sz="2000" dirty="0"/>
              <a:t>Résultat net</a:t>
            </a:r>
          </a:p>
          <a:p>
            <a:pPr lvl="1" algn="just">
              <a:lnSpc>
                <a:spcPct val="80000"/>
              </a:lnSpc>
              <a:tabLst>
                <a:tab pos="0" algn="l"/>
              </a:tabLst>
              <a:defRPr/>
            </a:pPr>
            <a:r>
              <a:rPr lang="fr-CA" altLang="en-US" sz="2000" dirty="0"/>
              <a:t>Nombre pondéré d’actions ordinaires en circulation</a:t>
            </a:r>
          </a:p>
          <a:p>
            <a:pPr algn="just">
              <a:lnSpc>
                <a:spcPct val="80000"/>
              </a:lnSpc>
              <a:tabLst>
                <a:tab pos="0" algn="l"/>
              </a:tabLst>
              <a:defRPr/>
            </a:pPr>
            <a:r>
              <a:rPr lang="fr-CA" altLang="en-US" sz="2000" dirty="0"/>
              <a:t>Pour chacun de ces éléments, déterminer s’ils sont</a:t>
            </a:r>
          </a:p>
          <a:p>
            <a:pPr lvl="1" algn="just">
              <a:lnSpc>
                <a:spcPct val="80000"/>
              </a:lnSpc>
              <a:tabLst>
                <a:tab pos="0" algn="l"/>
              </a:tabLst>
              <a:defRPr/>
            </a:pPr>
            <a:r>
              <a:rPr lang="fr-CA" altLang="en-US" sz="2000" dirty="0"/>
              <a:t>Dilutif ou</a:t>
            </a:r>
          </a:p>
          <a:p>
            <a:pPr lvl="1" algn="just">
              <a:lnSpc>
                <a:spcPct val="80000"/>
              </a:lnSpc>
              <a:tabLst>
                <a:tab pos="0" algn="l"/>
              </a:tabLst>
              <a:defRPr/>
            </a:pPr>
            <a:r>
              <a:rPr lang="fr-CA" altLang="en-US" sz="2000" dirty="0" err="1"/>
              <a:t>Antidilutif</a:t>
            </a:r>
            <a:r>
              <a:rPr lang="fr-CA" altLang="en-US" sz="2000" dirty="0"/>
              <a:t> </a:t>
            </a:r>
          </a:p>
          <a:p>
            <a:pPr algn="just">
              <a:lnSpc>
                <a:spcPct val="80000"/>
              </a:lnSpc>
              <a:tabLst>
                <a:tab pos="0" algn="l"/>
              </a:tabLst>
              <a:defRPr/>
            </a:pPr>
            <a:r>
              <a:rPr lang="fr-CA" altLang="en-US" sz="2000" dirty="0"/>
              <a:t>Par ordre décroissant de dilution, intégrer tous les éléments qui ont un effet dilutifs</a:t>
            </a:r>
          </a:p>
        </p:txBody>
      </p:sp>
      <p:sp>
        <p:nvSpPr>
          <p:cNvPr id="4" name="Espace réservé du pied de page 3">
            <a:extLst>
              <a:ext uri="{FF2B5EF4-FFF2-40B4-BE49-F238E27FC236}">
                <a16:creationId xmlns:a16="http://schemas.microsoft.com/office/drawing/2014/main" id="{B911DB12-0CA7-987B-2FDB-1FFCF59A34A7}"/>
              </a:ext>
            </a:extLst>
          </p:cNvPr>
          <p:cNvSpPr>
            <a:spLocks noGrp="1"/>
          </p:cNvSpPr>
          <p:nvPr>
            <p:ph type="ftr" sz="quarter" idx="11"/>
          </p:nvPr>
        </p:nvSpPr>
        <p:spPr/>
        <p:txBody>
          <a:bodyPr/>
          <a:lstStyle/>
          <a:p>
            <a:r>
              <a:rPr lang="fr-FR" dirty="0"/>
              <a:t>Droits réservés Louise Overbeek</a:t>
            </a:r>
          </a:p>
        </p:txBody>
      </p:sp>
    </p:spTree>
    <p:extLst>
      <p:ext uri="{BB962C8B-B14F-4D97-AF65-F5344CB8AC3E}">
        <p14:creationId xmlns:p14="http://schemas.microsoft.com/office/powerpoint/2010/main" val="15082536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72F80C-009B-25B1-989F-3BD01BBBA0B8}"/>
              </a:ext>
            </a:extLst>
          </p:cNvPr>
          <p:cNvSpPr>
            <a:spLocks noGrp="1"/>
          </p:cNvSpPr>
          <p:nvPr>
            <p:ph type="title"/>
          </p:nvPr>
        </p:nvSpPr>
        <p:spPr/>
        <p:txBody>
          <a:bodyPr/>
          <a:lstStyle/>
          <a:p>
            <a:r>
              <a:rPr lang="fr-CA" dirty="0"/>
              <a:t>Résultat dilué par action – éléments entrant dans le calcul</a:t>
            </a:r>
          </a:p>
        </p:txBody>
      </p:sp>
      <p:sp>
        <p:nvSpPr>
          <p:cNvPr id="3" name="Espace réservé du contenu 2">
            <a:extLst>
              <a:ext uri="{FF2B5EF4-FFF2-40B4-BE49-F238E27FC236}">
                <a16:creationId xmlns:a16="http://schemas.microsoft.com/office/drawing/2014/main" id="{9DCACD14-EECD-E2C3-7CE8-CEABE47B80D9}"/>
              </a:ext>
            </a:extLst>
          </p:cNvPr>
          <p:cNvSpPr>
            <a:spLocks noGrp="1"/>
          </p:cNvSpPr>
          <p:nvPr>
            <p:ph idx="1"/>
          </p:nvPr>
        </p:nvSpPr>
        <p:spPr>
          <a:xfrm>
            <a:off x="455027" y="1861749"/>
            <a:ext cx="11281945" cy="4090062"/>
          </a:xfrm>
        </p:spPr>
        <p:txBody>
          <a:bodyPr>
            <a:noAutofit/>
          </a:bodyPr>
          <a:lstStyle/>
          <a:p>
            <a:pPr marL="0" indent="0" algn="just">
              <a:lnSpc>
                <a:spcPct val="80000"/>
              </a:lnSpc>
              <a:buNone/>
              <a:tabLst>
                <a:tab pos="0" algn="l"/>
              </a:tabLst>
              <a:defRPr/>
            </a:pPr>
            <a:r>
              <a:rPr lang="fr-CA" altLang="en-US" sz="2400" u="sng" dirty="0"/>
              <a:t>Identifier tous les éléments qui peuvent se transformer en actions ordinaires</a:t>
            </a:r>
          </a:p>
          <a:p>
            <a:pPr algn="just">
              <a:lnSpc>
                <a:spcPct val="80000"/>
              </a:lnSpc>
              <a:tabLst>
                <a:tab pos="0" algn="l"/>
              </a:tabLst>
              <a:defRPr/>
            </a:pPr>
            <a:r>
              <a:rPr lang="fr-CA" altLang="en-US" sz="2000" dirty="0"/>
              <a:t>Options, bons de souscription et leurs équivalents</a:t>
            </a:r>
          </a:p>
          <a:p>
            <a:pPr lvl="1" algn="just">
              <a:lnSpc>
                <a:spcPct val="80000"/>
              </a:lnSpc>
              <a:tabLst>
                <a:tab pos="0" algn="l"/>
              </a:tabLst>
              <a:defRPr/>
            </a:pPr>
            <a:r>
              <a:rPr lang="fr-CA" altLang="en-US" sz="1800" dirty="0"/>
              <a:t>Si l’option d’achat d’action ordinaire était exercée, il y aurait davantage d’actions ordinaires en circulation</a:t>
            </a:r>
          </a:p>
          <a:p>
            <a:pPr algn="just">
              <a:lnSpc>
                <a:spcPct val="80000"/>
              </a:lnSpc>
              <a:tabLst>
                <a:tab pos="0" algn="l"/>
              </a:tabLst>
              <a:defRPr/>
            </a:pPr>
            <a:r>
              <a:rPr lang="fr-CA" altLang="en-US" sz="2000" dirty="0"/>
              <a:t>Instruments convertibles</a:t>
            </a:r>
          </a:p>
          <a:p>
            <a:pPr lvl="1" algn="just">
              <a:lnSpc>
                <a:spcPct val="80000"/>
              </a:lnSpc>
              <a:tabLst>
                <a:tab pos="0" algn="l"/>
              </a:tabLst>
              <a:defRPr/>
            </a:pPr>
            <a:r>
              <a:rPr lang="fr-CA" altLang="en-US" sz="1800" dirty="0"/>
              <a:t>Si une dette convertible en actions ordinaires était convertie, il y aurait davantage d’actions ordinaires en circulation</a:t>
            </a:r>
          </a:p>
          <a:p>
            <a:pPr algn="just">
              <a:lnSpc>
                <a:spcPct val="80000"/>
              </a:lnSpc>
              <a:tabLst>
                <a:tab pos="0" algn="l"/>
              </a:tabLst>
              <a:defRPr/>
            </a:pPr>
            <a:r>
              <a:rPr lang="fr-CA" altLang="en-US" sz="2000" dirty="0"/>
              <a:t>Contrats pouvant être réglés en actions ordinaires ou en trésorerie</a:t>
            </a:r>
          </a:p>
          <a:p>
            <a:pPr lvl="1" algn="just">
              <a:lnSpc>
                <a:spcPct val="80000"/>
              </a:lnSpc>
              <a:tabLst>
                <a:tab pos="0" algn="l"/>
              </a:tabLst>
              <a:defRPr/>
            </a:pPr>
            <a:r>
              <a:rPr lang="fr-CA" altLang="en-US" sz="1800" dirty="0"/>
              <a:t>Si le contrat était réglé en actions ordinaires, il y aurait avantage d’actions ordinaires en circulation</a:t>
            </a:r>
          </a:p>
          <a:p>
            <a:pPr algn="just">
              <a:lnSpc>
                <a:spcPct val="80000"/>
              </a:lnSpc>
              <a:tabLst>
                <a:tab pos="0" algn="l"/>
              </a:tabLst>
              <a:defRPr/>
            </a:pPr>
            <a:r>
              <a:rPr lang="fr-CA" altLang="en-US" sz="2000" dirty="0"/>
              <a:t>Options de vente émises</a:t>
            </a:r>
          </a:p>
          <a:p>
            <a:pPr lvl="1" algn="just">
              <a:lnSpc>
                <a:spcPct val="80000"/>
              </a:lnSpc>
              <a:tabLst>
                <a:tab pos="0" algn="l"/>
              </a:tabLst>
              <a:defRPr/>
            </a:pPr>
            <a:r>
              <a:rPr lang="fr-CA" altLang="en-US" sz="1800" dirty="0"/>
              <a:t>Si l’option de vente était exercée, il y aurait davantage d’actions ordinaires en circulation (i.e. actions ordinaires supplémentaires égales à la différence entre les actions ordinaires supposées émises et le nombre d’actions ordinaires reçues lors de l’exécution du contrat</a:t>
            </a:r>
          </a:p>
        </p:txBody>
      </p:sp>
      <p:sp>
        <p:nvSpPr>
          <p:cNvPr id="4" name="Espace réservé du pied de page 3">
            <a:extLst>
              <a:ext uri="{FF2B5EF4-FFF2-40B4-BE49-F238E27FC236}">
                <a16:creationId xmlns:a16="http://schemas.microsoft.com/office/drawing/2014/main" id="{B911DB12-0CA7-987B-2FDB-1FFCF59A34A7}"/>
              </a:ext>
            </a:extLst>
          </p:cNvPr>
          <p:cNvSpPr>
            <a:spLocks noGrp="1"/>
          </p:cNvSpPr>
          <p:nvPr>
            <p:ph type="ftr" sz="quarter" idx="11"/>
          </p:nvPr>
        </p:nvSpPr>
        <p:spPr/>
        <p:txBody>
          <a:bodyPr/>
          <a:lstStyle/>
          <a:p>
            <a:r>
              <a:rPr lang="fr-FR" dirty="0"/>
              <a:t>Droits réservés Louise Overbeek</a:t>
            </a:r>
          </a:p>
        </p:txBody>
      </p:sp>
      <p:sp>
        <p:nvSpPr>
          <p:cNvPr id="5" name="Phylactère : pensées 4">
            <a:extLst>
              <a:ext uri="{FF2B5EF4-FFF2-40B4-BE49-F238E27FC236}">
                <a16:creationId xmlns:a16="http://schemas.microsoft.com/office/drawing/2014/main" id="{BC7EB347-D199-41F5-C404-471DFB9F1DC0}"/>
              </a:ext>
            </a:extLst>
          </p:cNvPr>
          <p:cNvSpPr/>
          <p:nvPr/>
        </p:nvSpPr>
        <p:spPr>
          <a:xfrm>
            <a:off x="7772400" y="2141620"/>
            <a:ext cx="4211054" cy="600889"/>
          </a:xfrm>
          <a:prstGeom prst="cloudCallout">
            <a:avLst>
              <a:gd name="adj1" fmla="val -164681"/>
              <a:gd name="adj2" fmla="val -4952"/>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Exemple : OAA pour des employés, selon IFRS 2</a:t>
            </a:r>
          </a:p>
        </p:txBody>
      </p:sp>
      <p:sp>
        <p:nvSpPr>
          <p:cNvPr id="6" name="Phylactère : pensées 5">
            <a:extLst>
              <a:ext uri="{FF2B5EF4-FFF2-40B4-BE49-F238E27FC236}">
                <a16:creationId xmlns:a16="http://schemas.microsoft.com/office/drawing/2014/main" id="{27AEC7C7-BAC7-D3BC-2001-3DC31F6B6019}"/>
              </a:ext>
            </a:extLst>
          </p:cNvPr>
          <p:cNvSpPr/>
          <p:nvPr/>
        </p:nvSpPr>
        <p:spPr>
          <a:xfrm>
            <a:off x="5422999" y="3031957"/>
            <a:ext cx="6769001" cy="429649"/>
          </a:xfrm>
          <a:prstGeom prst="cloudCallout">
            <a:avLst>
              <a:gd name="adj1" fmla="val -75968"/>
              <a:gd name="adj2" fmla="val 9899"/>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Exemple : IF composé évalué selon IAS 32</a:t>
            </a:r>
          </a:p>
        </p:txBody>
      </p:sp>
    </p:spTree>
    <p:extLst>
      <p:ext uri="{BB962C8B-B14F-4D97-AF65-F5344CB8AC3E}">
        <p14:creationId xmlns:p14="http://schemas.microsoft.com/office/powerpoint/2010/main" val="244159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Évaluation - </a:t>
            </a:r>
            <a:r>
              <a:rPr lang="fr-CA" b="1">
                <a:solidFill>
                  <a:schemeClr val="accent2"/>
                </a:solidFill>
              </a:rPr>
              <a:t>Résultat dilué par action</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lnSpc>
                <a:spcPct val="90000"/>
              </a:lnSpc>
              <a:buNone/>
            </a:pPr>
            <a:r>
              <a:rPr lang="fr-CA" sz="2000" i="1" dirty="0">
                <a:solidFill>
                  <a:schemeClr val="accent2">
                    <a:lumMod val="50000"/>
                  </a:schemeClr>
                </a:solidFill>
              </a:rPr>
              <a:t>Options, bons de souscription et leurs équivalents</a:t>
            </a:r>
          </a:p>
          <a:p>
            <a:pPr marL="0" indent="0">
              <a:lnSpc>
                <a:spcPct val="90000"/>
              </a:lnSpc>
              <a:buNone/>
            </a:pPr>
            <a:r>
              <a:rPr lang="fr-CA" sz="2000" b="1" dirty="0">
                <a:solidFill>
                  <a:schemeClr val="accent2">
                    <a:lumMod val="50000"/>
                  </a:schemeClr>
                </a:solidFill>
              </a:rPr>
              <a:t>45     Pour calculer son résultat dilué par action, une entité doit supposer que les options dilutives et les bons de souscription dilutifs </a:t>
            </a:r>
            <a:r>
              <a:rPr lang="fr-CA" sz="2000" b="1" dirty="0">
                <a:solidFill>
                  <a:srgbClr val="FF0000"/>
                </a:solidFill>
                <a:highlight>
                  <a:srgbClr val="FFFF00"/>
                </a:highlight>
              </a:rPr>
              <a:t>ont été exercés. </a:t>
            </a:r>
            <a:r>
              <a:rPr lang="fr-CA" sz="2000" b="1" dirty="0">
                <a:solidFill>
                  <a:schemeClr val="accent2">
                    <a:lumMod val="50000"/>
                  </a:schemeClr>
                </a:solidFill>
              </a:rPr>
              <a:t>Le produit supposé de ces instruments doit être considéré comme ayant été perçu lors de l'émission d'actions ordinaires au </a:t>
            </a:r>
            <a:r>
              <a:rPr lang="fr-CA" sz="2000" b="1" dirty="0">
                <a:solidFill>
                  <a:srgbClr val="FF0000"/>
                </a:solidFill>
                <a:highlight>
                  <a:srgbClr val="FFFF00"/>
                </a:highlight>
              </a:rPr>
              <a:t>cours moyen </a:t>
            </a:r>
            <a:r>
              <a:rPr lang="fr-CA" sz="2000" b="1" dirty="0">
                <a:solidFill>
                  <a:schemeClr val="accent2">
                    <a:lumMod val="50000"/>
                  </a:schemeClr>
                </a:solidFill>
              </a:rPr>
              <a:t>de marché des actions ordinaires pendant la période. La </a:t>
            </a:r>
            <a:r>
              <a:rPr lang="fr-CA" sz="2000" b="1" dirty="0">
                <a:solidFill>
                  <a:srgbClr val="FF0000"/>
                </a:solidFill>
                <a:highlight>
                  <a:srgbClr val="FFFF00"/>
                </a:highlight>
              </a:rPr>
              <a:t>différence</a:t>
            </a:r>
            <a:r>
              <a:rPr lang="fr-CA" sz="2000" b="1" dirty="0">
                <a:solidFill>
                  <a:schemeClr val="accent2">
                    <a:lumMod val="50000"/>
                  </a:schemeClr>
                </a:solidFill>
              </a:rPr>
              <a:t> entre le </a:t>
            </a:r>
            <a:r>
              <a:rPr lang="fr-CA" sz="2000" b="1" dirty="0">
                <a:solidFill>
                  <a:srgbClr val="FF0000"/>
                </a:solidFill>
              </a:rPr>
              <a:t>nombre</a:t>
            </a:r>
            <a:r>
              <a:rPr lang="fr-CA" sz="2000" b="1" dirty="0">
                <a:solidFill>
                  <a:schemeClr val="accent2">
                    <a:lumMod val="50000"/>
                  </a:schemeClr>
                </a:solidFill>
              </a:rPr>
              <a:t> d'actions ordinaires émises et le nombre d'actions ordinaires qui auraient été émises au cours moyen du marché d'actions ordinaires pendant la période doit être traitée comme une émission d'actions ordinaires </a:t>
            </a:r>
            <a:r>
              <a:rPr lang="fr-CA" sz="2000" b="1" dirty="0">
                <a:solidFill>
                  <a:srgbClr val="FF0000"/>
                </a:solidFill>
                <a:highlight>
                  <a:srgbClr val="FFFF00"/>
                </a:highlight>
              </a:rPr>
              <a:t>sans contrepartie</a:t>
            </a:r>
            <a:r>
              <a:rPr lang="fr-CA" sz="2000" b="1" dirty="0">
                <a:solidFill>
                  <a:schemeClr val="accent2">
                    <a:lumMod val="50000"/>
                  </a:schemeClr>
                </a:solidFill>
              </a:rPr>
              <a:t>.</a:t>
            </a:r>
          </a:p>
          <a:p>
            <a:pPr marL="0" indent="0">
              <a:lnSpc>
                <a:spcPct val="90000"/>
              </a:lnSpc>
              <a:buNone/>
            </a:pPr>
            <a:r>
              <a:rPr lang="fr-CA" sz="2000" dirty="0">
                <a:solidFill>
                  <a:schemeClr val="accent2">
                    <a:lumMod val="50000"/>
                  </a:schemeClr>
                </a:solidFill>
              </a:rPr>
              <a:t>46     Les options et les bons de souscription ont un effet dilutif lorsque leur conséquence serait l'émission d'actions ordinaires à un cours inférieur au cours moyen de marché des actions ordinaires pendant la période. Le montant de la dilution est le cours moyen de marché d'actions ordinaires pendant la période, diminué du prix d'émission. (…)</a:t>
            </a:r>
          </a:p>
          <a:p>
            <a:pPr marL="0" indent="0">
              <a:lnSpc>
                <a:spcPct val="90000"/>
              </a:lnSpc>
              <a:buNone/>
            </a:pPr>
            <a:endParaRPr lang="fr-CA" sz="2000" b="1"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B12A31B9-D5AD-4533-B30A-D365636ED0E5}"/>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851986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Évaluation - </a:t>
            </a:r>
            <a:r>
              <a:rPr lang="fr-CA" b="1">
                <a:solidFill>
                  <a:schemeClr val="accent2"/>
                </a:solidFill>
              </a:rPr>
              <a:t>Résultat dilué par action</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buNone/>
            </a:pPr>
            <a:r>
              <a:rPr lang="fr-CA" sz="2000" i="1" dirty="0">
                <a:solidFill>
                  <a:schemeClr val="accent2">
                    <a:lumMod val="50000"/>
                  </a:schemeClr>
                </a:solidFill>
              </a:rPr>
              <a:t>Instruments convertibles</a:t>
            </a:r>
          </a:p>
          <a:p>
            <a:pPr marL="0" indent="0">
              <a:buNone/>
            </a:pPr>
            <a:r>
              <a:rPr lang="fr-CA" sz="2000" dirty="0">
                <a:solidFill>
                  <a:schemeClr val="accent2">
                    <a:lumMod val="50000"/>
                  </a:schemeClr>
                </a:solidFill>
              </a:rPr>
              <a:t>49     L'effet dilutif des instruments convertibles doit être reflété dans les </a:t>
            </a:r>
            <a:r>
              <a:rPr lang="fr-CA" sz="2000" b="1" dirty="0">
                <a:solidFill>
                  <a:srgbClr val="FF0000"/>
                </a:solidFill>
                <a:highlight>
                  <a:srgbClr val="FFFF00"/>
                </a:highlight>
              </a:rPr>
              <a:t>résultats dilués </a:t>
            </a:r>
            <a:r>
              <a:rPr lang="fr-CA" sz="2000" dirty="0">
                <a:solidFill>
                  <a:schemeClr val="accent2">
                    <a:lumMod val="50000"/>
                  </a:schemeClr>
                </a:solidFill>
              </a:rPr>
              <a:t>par action selon les paragraphes </a:t>
            </a:r>
            <a:r>
              <a:rPr lang="fr-CA" sz="2000" dirty="0">
                <a:solidFill>
                  <a:schemeClr val="accent2">
                    <a:lumMod val="50000"/>
                  </a:schemeClr>
                </a:solidFill>
                <a:hlinkClick r:id="rId3"/>
              </a:rPr>
              <a:t>33</a:t>
            </a:r>
            <a:r>
              <a:rPr lang="fr-CA" sz="2000" dirty="0">
                <a:solidFill>
                  <a:schemeClr val="accent2">
                    <a:lumMod val="50000"/>
                  </a:schemeClr>
                </a:solidFill>
              </a:rPr>
              <a:t> et 36.</a:t>
            </a:r>
          </a:p>
          <a:p>
            <a:pPr marL="0" indent="0">
              <a:buNone/>
            </a:pPr>
            <a:r>
              <a:rPr lang="fr-CA" sz="2000" dirty="0">
                <a:solidFill>
                  <a:schemeClr val="accent2">
                    <a:lumMod val="50000"/>
                  </a:schemeClr>
                </a:solidFill>
              </a:rPr>
              <a:t>50     Les actions préférentielles convertibles sont </a:t>
            </a:r>
            <a:r>
              <a:rPr lang="fr-CA" sz="2000" b="1" dirty="0" err="1">
                <a:solidFill>
                  <a:srgbClr val="FF0000"/>
                </a:solidFill>
                <a:highlight>
                  <a:srgbClr val="FFFF00"/>
                </a:highlight>
              </a:rPr>
              <a:t>antidilutives</a:t>
            </a:r>
            <a:r>
              <a:rPr lang="fr-CA" sz="2000" dirty="0">
                <a:solidFill>
                  <a:schemeClr val="accent2">
                    <a:lumMod val="50000"/>
                  </a:schemeClr>
                </a:solidFill>
              </a:rPr>
              <a:t> lorsque le montant du dividende sur ces actions, </a:t>
            </a:r>
            <a:r>
              <a:rPr lang="fr-CA" sz="2000" b="1" dirty="0">
                <a:solidFill>
                  <a:srgbClr val="FF0000"/>
                </a:solidFill>
                <a:highlight>
                  <a:srgbClr val="FFFF00"/>
                </a:highlight>
              </a:rPr>
              <a:t>déclaré</a:t>
            </a:r>
            <a:r>
              <a:rPr lang="fr-CA" sz="2000" dirty="0">
                <a:solidFill>
                  <a:schemeClr val="accent2">
                    <a:lumMod val="50000"/>
                  </a:schemeClr>
                </a:solidFill>
              </a:rPr>
              <a:t> pendant ou </a:t>
            </a:r>
            <a:r>
              <a:rPr lang="fr-CA" sz="2000" b="1" dirty="0">
                <a:solidFill>
                  <a:srgbClr val="FF0000"/>
                </a:solidFill>
                <a:highlight>
                  <a:srgbClr val="FFFF00"/>
                </a:highlight>
              </a:rPr>
              <a:t>accumulé</a:t>
            </a:r>
            <a:r>
              <a:rPr lang="fr-CA" sz="2000" dirty="0">
                <a:solidFill>
                  <a:schemeClr val="accent2">
                    <a:lumMod val="50000"/>
                  </a:schemeClr>
                </a:solidFill>
              </a:rPr>
              <a:t> pour la période considérée par action ordinaire susceptible de résulter de la conversion, </a:t>
            </a:r>
            <a:r>
              <a:rPr lang="fr-CA" sz="2000" b="1" dirty="0">
                <a:solidFill>
                  <a:srgbClr val="FF0000"/>
                </a:solidFill>
                <a:highlight>
                  <a:srgbClr val="FFFF00"/>
                </a:highlight>
              </a:rPr>
              <a:t>est supérieur au résultat de base par action</a:t>
            </a:r>
            <a:r>
              <a:rPr lang="fr-CA" sz="2000" dirty="0">
                <a:solidFill>
                  <a:schemeClr val="accent2">
                    <a:lumMod val="50000"/>
                  </a:schemeClr>
                </a:solidFill>
              </a:rPr>
              <a:t>. De même, les instruments d'emprunts convertibles sont </a:t>
            </a:r>
            <a:r>
              <a:rPr lang="fr-CA" sz="2000" dirty="0" err="1">
                <a:solidFill>
                  <a:schemeClr val="accent2">
                    <a:lumMod val="50000"/>
                  </a:schemeClr>
                </a:solidFill>
              </a:rPr>
              <a:t>antidilutifs</a:t>
            </a:r>
            <a:r>
              <a:rPr lang="fr-CA" sz="2000" dirty="0">
                <a:solidFill>
                  <a:schemeClr val="accent2">
                    <a:lumMod val="50000"/>
                  </a:schemeClr>
                </a:solidFill>
              </a:rPr>
              <a:t> dès lors que l'intérêt (net d'impôt et d'autres variations du résultat) par action ordinaire susceptible de résulter de la conversion excède le résultat de base par action.</a:t>
            </a:r>
          </a:p>
          <a:p>
            <a:pPr marL="0" indent="0">
              <a:buNone/>
            </a:pPr>
            <a:endParaRPr lang="fr-CA" sz="2400" b="1"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F6CD8219-210C-4D44-B4AB-0655074D8F10}"/>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3972502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Évaluation - </a:t>
            </a:r>
            <a:r>
              <a:rPr lang="fr-CA" b="1">
                <a:solidFill>
                  <a:schemeClr val="accent2"/>
                </a:solidFill>
              </a:rPr>
              <a:t>Résultat dilué par action</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lnSpc>
                <a:spcPct val="90000"/>
              </a:lnSpc>
              <a:buNone/>
            </a:pPr>
            <a:r>
              <a:rPr lang="fr-CA" sz="2200" i="1" dirty="0">
                <a:solidFill>
                  <a:schemeClr val="accent2">
                    <a:lumMod val="50000"/>
                  </a:schemeClr>
                </a:solidFill>
              </a:rPr>
              <a:t>Actions dont l'émission est conditionnelle</a:t>
            </a:r>
          </a:p>
          <a:p>
            <a:pPr marL="0" indent="0">
              <a:lnSpc>
                <a:spcPct val="90000"/>
              </a:lnSpc>
              <a:buNone/>
            </a:pPr>
            <a:r>
              <a:rPr lang="fr-CA" sz="2200" dirty="0">
                <a:solidFill>
                  <a:schemeClr val="accent2">
                    <a:lumMod val="50000"/>
                  </a:schemeClr>
                </a:solidFill>
              </a:rPr>
              <a:t>52     Comme pour le calcul du résultat de base par action, des actions ordinaires dont l'émission est conditionnelle sont traitées comme étant en circulation et incluses dans le calcul du résultat dilué par action si les conditions sont remplies (c'est-à-dire que tous les événements sont survenus). Les actions dont l'émission est conditionnelle sont incluses depuis l'ouverture de la période (ou à compter de la date du contrat conditionnel relatif aux actions si elle est postérieure). Si les conditions n'ont pas été réunies, le nombre d'actions dont l'émission est conditionnelle incluses dans le calcul du résultat dilué par action est basé sur le nombre d'actions qui seraient à émettre si la date de clôture de la période était la fin de la période d'éventualité. Le retraitement n'est pas autorisé si les conditions ne sont pas remplies à l'expiration de la période d'éventualité.</a:t>
            </a:r>
          </a:p>
          <a:p>
            <a:pPr marL="0" indent="0">
              <a:lnSpc>
                <a:spcPct val="90000"/>
              </a:lnSpc>
              <a:buNone/>
            </a:pPr>
            <a:endParaRPr lang="fr-CA" sz="2200" b="1"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9F8AFF68-DC64-47B5-BF0B-FB9552AD205A}"/>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6315130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Évaluation - </a:t>
            </a:r>
            <a:r>
              <a:rPr lang="fr-CA" b="1">
                <a:solidFill>
                  <a:schemeClr val="accent2"/>
                </a:solidFill>
              </a:rPr>
              <a:t>Résultat dilué par action</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buNone/>
            </a:pPr>
            <a:r>
              <a:rPr lang="fr-CA" sz="2200" i="1">
                <a:solidFill>
                  <a:schemeClr val="accent2">
                    <a:lumMod val="50000"/>
                  </a:schemeClr>
                </a:solidFill>
              </a:rPr>
              <a:t>Contrats pouvant être réglés en actions ordinaires ou en trésorerie</a:t>
            </a:r>
          </a:p>
          <a:p>
            <a:pPr marL="0" indent="0">
              <a:buNone/>
            </a:pPr>
            <a:r>
              <a:rPr lang="fr-CA" sz="2200" b="1">
                <a:solidFill>
                  <a:schemeClr val="accent2">
                    <a:lumMod val="50000"/>
                  </a:schemeClr>
                </a:solidFill>
              </a:rPr>
              <a:t>58     Lorsqu'une entité a émis un contrat qui peut être réglé en actions ordinaires ou en trésorerie, au choix de l'entité, celle-ci doit présumer que le contrat sera réglé en actions ordinaires, et le nombre correspondant d'actions ordinaires potentielles sera inclus dans le résultat dilué par action si leur effet est dilutif.</a:t>
            </a:r>
          </a:p>
          <a:p>
            <a:pPr marL="0" indent="0">
              <a:buNone/>
            </a:pPr>
            <a:endParaRPr lang="fr-CA" sz="2200" b="1">
              <a:solidFill>
                <a:schemeClr val="accent2">
                  <a:lumMod val="50000"/>
                </a:schemeClr>
              </a:solidFill>
            </a:endParaRPr>
          </a:p>
          <a:p>
            <a:pPr marL="0" indent="0">
              <a:buNone/>
            </a:pPr>
            <a:r>
              <a:rPr lang="fr-CA" sz="2200" b="1">
                <a:solidFill>
                  <a:schemeClr val="accent2">
                    <a:lumMod val="50000"/>
                  </a:schemeClr>
                </a:solidFill>
              </a:rPr>
              <a:t>60     Pour les contrats pouvant être réglés en actions ordinaires ou en trésorerie, au choix du porteur, la méthode de règlement la plus dilutive (entre le règlement en trésorerie et le règlement en actions) doit être retenue pour le calcul du résultat dilué par action.</a:t>
            </a:r>
          </a:p>
          <a:p>
            <a:pPr marL="0" indent="0">
              <a:buNone/>
            </a:pPr>
            <a:endParaRPr lang="fr-CA" sz="2200" b="1">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50865CCB-5D42-4811-8A02-DDA40276FD6B}"/>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3364896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Évaluation - </a:t>
            </a:r>
            <a:r>
              <a:rPr lang="fr-CA" b="1">
                <a:solidFill>
                  <a:schemeClr val="accent2"/>
                </a:solidFill>
              </a:rPr>
              <a:t>Résultat dilué par action</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275347"/>
            <a:ext cx="11029615" cy="5138273"/>
          </a:xfrm>
        </p:spPr>
        <p:txBody>
          <a:bodyPr>
            <a:normAutofit/>
          </a:bodyPr>
          <a:lstStyle/>
          <a:p>
            <a:pPr marL="0" indent="0">
              <a:lnSpc>
                <a:spcPct val="90000"/>
              </a:lnSpc>
              <a:buNone/>
            </a:pPr>
            <a:r>
              <a:rPr lang="fr-CA" sz="2000" i="1" dirty="0">
                <a:solidFill>
                  <a:schemeClr val="accent2">
                    <a:lumMod val="50000"/>
                  </a:schemeClr>
                </a:solidFill>
              </a:rPr>
              <a:t>Options de vente émises</a:t>
            </a:r>
          </a:p>
          <a:p>
            <a:pPr marL="0" indent="0">
              <a:lnSpc>
                <a:spcPct val="90000"/>
              </a:lnSpc>
              <a:buNone/>
            </a:pPr>
            <a:r>
              <a:rPr lang="fr-CA" sz="2000" b="1" dirty="0">
                <a:solidFill>
                  <a:schemeClr val="accent2">
                    <a:lumMod val="50000"/>
                  </a:schemeClr>
                </a:solidFill>
              </a:rPr>
              <a:t>63     Les contrats qui imposent à l'entité de racheter ses propres actions, tels que les options de vente émises et les contrats d'achat à terme de gré à gré, interviennent dans le calcul du résultat dilué par action si leur effet est dilutif. Si ces contrats sont « dans le cours » pendant la période (c'est-à-dire que le prix d'exercice ou de règlement est supérieur au cours moyen pour cette période), l'effet dilutif potentiel sur le résultat par action doit être calculé comme suit :</a:t>
            </a:r>
          </a:p>
          <a:p>
            <a:pPr marL="1254125" indent="-622300">
              <a:lnSpc>
                <a:spcPct val="90000"/>
              </a:lnSpc>
              <a:buNone/>
            </a:pPr>
            <a:r>
              <a:rPr lang="fr-CA" sz="2000" b="1" dirty="0">
                <a:solidFill>
                  <a:schemeClr val="accent2">
                    <a:lumMod val="50000"/>
                  </a:schemeClr>
                </a:solidFill>
              </a:rPr>
              <a:t>(a)     l'entité doit supposer qu'au début de la période, des actions ordinaires seront émises en nombre suffisant (au cours moyen du marché pendant la période) pour augmenter le produit de manière à honorer le contrat ;</a:t>
            </a:r>
          </a:p>
          <a:p>
            <a:pPr marL="1254125" indent="-622300">
              <a:lnSpc>
                <a:spcPct val="90000"/>
              </a:lnSpc>
              <a:buNone/>
            </a:pPr>
            <a:r>
              <a:rPr lang="fr-CA" sz="2000" b="1" dirty="0">
                <a:solidFill>
                  <a:schemeClr val="accent2">
                    <a:lumMod val="50000"/>
                  </a:schemeClr>
                </a:solidFill>
              </a:rPr>
              <a:t>(b)     l'entité doit supposer que le produit de l'émission doit être utilisé pour honorer le contrat (c'est-à-dire pour procéder au rachat d'actions ordinaires) ; et</a:t>
            </a:r>
          </a:p>
          <a:p>
            <a:pPr marL="1254125" indent="-622300">
              <a:lnSpc>
                <a:spcPct val="90000"/>
              </a:lnSpc>
              <a:buNone/>
            </a:pPr>
            <a:r>
              <a:rPr lang="fr-CA" sz="2000" b="1" dirty="0">
                <a:solidFill>
                  <a:schemeClr val="accent2">
                    <a:lumMod val="50000"/>
                  </a:schemeClr>
                </a:solidFill>
              </a:rPr>
              <a:t>(c)     les actions ordinaires supplémentaires (la différence entre le nombre d'actions ordinaires supposées émises et le nombre d'actions ordinaires reçues lors de l'exécution du contrat) doivent être incluses dans le calcul du résultat dilué par action.</a:t>
            </a:r>
          </a:p>
        </p:txBody>
      </p:sp>
      <p:sp>
        <p:nvSpPr>
          <p:cNvPr id="5" name="Espace réservé du pied de page 4">
            <a:extLst>
              <a:ext uri="{FF2B5EF4-FFF2-40B4-BE49-F238E27FC236}">
                <a16:creationId xmlns:a16="http://schemas.microsoft.com/office/drawing/2014/main" id="{3D8DAF52-36B4-4046-BE88-49A09B5958F2}"/>
              </a:ext>
            </a:extLst>
          </p:cNvPr>
          <p:cNvSpPr>
            <a:spLocks noGrp="1"/>
          </p:cNvSpPr>
          <p:nvPr>
            <p:ph type="ftr" sz="quarter" idx="11"/>
          </p:nvPr>
        </p:nvSpPr>
        <p:spPr>
          <a:xfrm>
            <a:off x="581192" y="6413621"/>
            <a:ext cx="6917210" cy="365125"/>
          </a:xfrm>
        </p:spPr>
        <p:txBody>
          <a:bodyPr>
            <a:normAutofit/>
          </a:bodyPr>
          <a:lstStyle/>
          <a:p>
            <a:pPr>
              <a:spcAft>
                <a:spcPts val="600"/>
              </a:spcAft>
            </a:pPr>
            <a:r>
              <a:rPr lang="fr-FR" dirty="0"/>
              <a:t>Droits réservés Louise Overbeek</a:t>
            </a:r>
          </a:p>
        </p:txBody>
      </p:sp>
    </p:spTree>
    <p:extLst>
      <p:ext uri="{BB962C8B-B14F-4D97-AF65-F5344CB8AC3E}">
        <p14:creationId xmlns:p14="http://schemas.microsoft.com/office/powerpoint/2010/main" val="20983309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Évaluation - </a:t>
            </a:r>
            <a:r>
              <a:rPr lang="fr-CA" b="1">
                <a:solidFill>
                  <a:schemeClr val="accent2"/>
                </a:solidFill>
              </a:rPr>
              <a:t>Résultat dilué par action</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275347"/>
            <a:ext cx="11029615" cy="4940999"/>
          </a:xfrm>
        </p:spPr>
        <p:txBody>
          <a:bodyPr>
            <a:normAutofit/>
          </a:bodyPr>
          <a:lstStyle/>
          <a:p>
            <a:pPr marL="0" indent="0">
              <a:lnSpc>
                <a:spcPct val="90000"/>
              </a:lnSpc>
              <a:buNone/>
            </a:pPr>
            <a:r>
              <a:rPr lang="fr-CA" sz="2000" b="1" dirty="0">
                <a:solidFill>
                  <a:schemeClr val="accent2">
                    <a:lumMod val="50000"/>
                  </a:schemeClr>
                </a:solidFill>
              </a:rPr>
              <a:t>Ajustements rétrospectifs</a:t>
            </a:r>
          </a:p>
          <a:p>
            <a:pPr marL="0" indent="0">
              <a:lnSpc>
                <a:spcPct val="90000"/>
              </a:lnSpc>
              <a:buNone/>
            </a:pPr>
            <a:r>
              <a:rPr lang="fr-CA" sz="2000" b="1" dirty="0">
                <a:solidFill>
                  <a:schemeClr val="accent2">
                    <a:lumMod val="50000"/>
                  </a:schemeClr>
                </a:solidFill>
              </a:rPr>
              <a:t>64     Si le nombre d'actions ordinaires ou d'actions ordinaires potentielles en circulation augmente à la suite d'une capitalisation ou d'une émission d'actions gratuites, ou d'un fractionnement d'actions, ou diminue à la suite d'un fractionnement inversé d'actions, le calcul du résultat par action, de base et dilué, doit être ajusté de façon rétrospective pour toutes les périodes présentées. Si ces changements interviennent après la date de clôture mais avant la date d'autorisation de publication des états financiers, les calculs par action pour la période concernée et les périodes précédentes présentées doivent être faits sur la base du nouveau nombre d'actions. Le fait que les calculs par action reflètent de tels changements dans le nombre d'actions doit être indiqué. En outre, le résultat par action de base et dilué de toutes les périodes présentées doit être ajusté pour tenir compte des effets des erreurs et des ajustements résultant de changements de méthodes comptables comptabilisés de manière rétrospective.</a:t>
            </a:r>
          </a:p>
          <a:p>
            <a:pPr marL="0" indent="0">
              <a:lnSpc>
                <a:spcPct val="90000"/>
              </a:lnSpc>
              <a:buNone/>
            </a:pPr>
            <a:r>
              <a:rPr lang="fr-CA" sz="2000" dirty="0">
                <a:solidFill>
                  <a:schemeClr val="accent2">
                    <a:lumMod val="50000"/>
                  </a:schemeClr>
                </a:solidFill>
              </a:rPr>
              <a:t>65     Une entité ne retraite pas le résultat par action dilué pour les périodes antérieures présentées pour tenir compte de modifications des hypothèses retenues pour le calcul du résultat par action ou pour tenir compte de la conversion des actions ordinaires potentielles en actions ordinaires.</a:t>
            </a:r>
          </a:p>
        </p:txBody>
      </p:sp>
      <p:sp>
        <p:nvSpPr>
          <p:cNvPr id="5" name="Espace réservé du pied de page 4">
            <a:extLst>
              <a:ext uri="{FF2B5EF4-FFF2-40B4-BE49-F238E27FC236}">
                <a16:creationId xmlns:a16="http://schemas.microsoft.com/office/drawing/2014/main" id="{7657FBF5-2DA4-48B5-8BC3-E33094D04D52}"/>
              </a:ext>
            </a:extLst>
          </p:cNvPr>
          <p:cNvSpPr>
            <a:spLocks noGrp="1"/>
          </p:cNvSpPr>
          <p:nvPr>
            <p:ph type="ftr" sz="quarter" idx="11"/>
          </p:nvPr>
        </p:nvSpPr>
        <p:spPr>
          <a:xfrm>
            <a:off x="596900" y="6256079"/>
            <a:ext cx="6917210" cy="365125"/>
          </a:xfrm>
        </p:spPr>
        <p:txBody>
          <a:bodyPr>
            <a:normAutofit/>
          </a:bodyPr>
          <a:lstStyle/>
          <a:p>
            <a:pPr>
              <a:spcAft>
                <a:spcPts val="600"/>
              </a:spcAft>
            </a:pPr>
            <a:r>
              <a:rPr lang="fr-FR" dirty="0"/>
              <a:t>Droits réservés Louise Overbeek</a:t>
            </a:r>
          </a:p>
        </p:txBody>
      </p:sp>
    </p:spTree>
    <p:extLst>
      <p:ext uri="{BB962C8B-B14F-4D97-AF65-F5344CB8AC3E}">
        <p14:creationId xmlns:p14="http://schemas.microsoft.com/office/powerpoint/2010/main" val="1411770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72F80C-009B-25B1-989F-3BD01BBBA0B8}"/>
              </a:ext>
            </a:extLst>
          </p:cNvPr>
          <p:cNvSpPr>
            <a:spLocks noGrp="1"/>
          </p:cNvSpPr>
          <p:nvPr>
            <p:ph type="title"/>
          </p:nvPr>
        </p:nvSpPr>
        <p:spPr/>
        <p:txBody>
          <a:bodyPr/>
          <a:lstStyle/>
          <a:p>
            <a:r>
              <a:rPr lang="fr-CA" dirty="0"/>
              <a:t>Résultat dilué par action – éléments entrant dans le calcul</a:t>
            </a:r>
          </a:p>
        </p:txBody>
      </p:sp>
      <p:sp>
        <p:nvSpPr>
          <p:cNvPr id="3" name="Espace réservé du contenu 2">
            <a:extLst>
              <a:ext uri="{FF2B5EF4-FFF2-40B4-BE49-F238E27FC236}">
                <a16:creationId xmlns:a16="http://schemas.microsoft.com/office/drawing/2014/main" id="{9DCACD14-EECD-E2C3-7CE8-CEABE47B80D9}"/>
              </a:ext>
            </a:extLst>
          </p:cNvPr>
          <p:cNvSpPr>
            <a:spLocks noGrp="1"/>
          </p:cNvSpPr>
          <p:nvPr>
            <p:ph idx="1"/>
          </p:nvPr>
        </p:nvSpPr>
        <p:spPr>
          <a:xfrm>
            <a:off x="581192" y="1971040"/>
            <a:ext cx="11029615" cy="4184804"/>
          </a:xfrm>
        </p:spPr>
        <p:txBody>
          <a:bodyPr>
            <a:noAutofit/>
          </a:bodyPr>
          <a:lstStyle/>
          <a:p>
            <a:pPr marL="0" indent="0" algn="just">
              <a:lnSpc>
                <a:spcPct val="80000"/>
              </a:lnSpc>
              <a:buNone/>
              <a:tabLst>
                <a:tab pos="0" algn="l"/>
              </a:tabLst>
              <a:defRPr/>
            </a:pPr>
            <a:r>
              <a:rPr lang="fr-CA" altLang="en-US" sz="2400" u="sng" dirty="0"/>
              <a:t>Pour chacun de ces éléments, déterminer l’impact, s’ils deviennent des actions ordinaires, sur le </a:t>
            </a:r>
            <a:r>
              <a:rPr lang="fr-CA" altLang="en-US" sz="2400" b="1" u="sng" dirty="0"/>
              <a:t>résultat net</a:t>
            </a:r>
            <a:r>
              <a:rPr lang="fr-CA" altLang="en-US" sz="2400" u="sng" dirty="0"/>
              <a:t> et le </a:t>
            </a:r>
            <a:r>
              <a:rPr lang="fr-CA" altLang="en-US" sz="2400" b="1" u="sng" dirty="0"/>
              <a:t>nombre moyen pondéré d’actions ordinaires en circulation</a:t>
            </a:r>
            <a:r>
              <a:rPr lang="fr-CA" altLang="en-US" sz="2400" u="sng" dirty="0"/>
              <a:t> </a:t>
            </a:r>
          </a:p>
          <a:p>
            <a:pPr algn="just">
              <a:lnSpc>
                <a:spcPct val="80000"/>
              </a:lnSpc>
              <a:tabLst>
                <a:tab pos="0" algn="l"/>
              </a:tabLst>
              <a:defRPr/>
            </a:pPr>
            <a:r>
              <a:rPr lang="fr-CA" altLang="en-US" sz="2200" dirty="0"/>
              <a:t>Effet sur le résultat net : </a:t>
            </a:r>
          </a:p>
          <a:p>
            <a:pPr lvl="1" algn="just">
              <a:lnSpc>
                <a:spcPct val="80000"/>
              </a:lnSpc>
              <a:tabLst>
                <a:tab pos="0" algn="l"/>
              </a:tabLst>
              <a:defRPr/>
            </a:pPr>
            <a:r>
              <a:rPr lang="fr-CA" altLang="en-US" sz="2000" i="1" dirty="0"/>
              <a:t>Quel est l’impact sur le résultat net si ces actions ordinaires avaient existées?</a:t>
            </a:r>
          </a:p>
          <a:p>
            <a:pPr algn="just">
              <a:lnSpc>
                <a:spcPct val="80000"/>
              </a:lnSpc>
              <a:tabLst>
                <a:tab pos="0" algn="l"/>
              </a:tabLst>
              <a:defRPr/>
            </a:pPr>
            <a:r>
              <a:rPr lang="fr-CA" altLang="en-US" sz="2200" dirty="0"/>
              <a:t>Effet sur le nombre moyen pondéré d’actions ordinaires en circulation : </a:t>
            </a:r>
          </a:p>
          <a:p>
            <a:pPr lvl="1" algn="just">
              <a:lnSpc>
                <a:spcPct val="80000"/>
              </a:lnSpc>
              <a:tabLst>
                <a:tab pos="0" algn="l"/>
              </a:tabLst>
              <a:defRPr/>
            </a:pPr>
            <a:r>
              <a:rPr lang="fr-CA" altLang="en-US" sz="2000" i="1" dirty="0"/>
              <a:t>Quel est le nombre pondéré d’actions ordinaires si ces actions ordinaires avaient existées?</a:t>
            </a:r>
            <a:endParaRPr lang="fr-CA" altLang="en-US" sz="2800" dirty="0"/>
          </a:p>
          <a:p>
            <a:pPr marL="0" indent="0" algn="just">
              <a:lnSpc>
                <a:spcPct val="80000"/>
              </a:lnSpc>
              <a:buNone/>
              <a:tabLst>
                <a:tab pos="0" algn="l"/>
              </a:tabLst>
              <a:defRPr/>
            </a:pPr>
            <a:endParaRPr lang="fr-CA" altLang="en-US" sz="2400" dirty="0"/>
          </a:p>
          <a:p>
            <a:pPr marL="0" indent="0" algn="just">
              <a:lnSpc>
                <a:spcPct val="80000"/>
              </a:lnSpc>
              <a:buNone/>
              <a:tabLst>
                <a:tab pos="0" algn="l"/>
              </a:tabLst>
              <a:defRPr/>
            </a:pPr>
            <a:endParaRPr lang="fr-CA" altLang="en-US" sz="2400" dirty="0"/>
          </a:p>
          <a:p>
            <a:pPr marL="0" indent="0" algn="just">
              <a:lnSpc>
                <a:spcPct val="80000"/>
              </a:lnSpc>
              <a:buNone/>
              <a:tabLst>
                <a:tab pos="0" algn="l"/>
              </a:tabLst>
              <a:defRPr/>
            </a:pPr>
            <a:r>
              <a:rPr lang="fr-CA" altLang="en-US" sz="2400" dirty="0"/>
              <a:t>	</a:t>
            </a:r>
            <a:endParaRPr lang="fr-CA" altLang="en-US" sz="2000" i="1" dirty="0"/>
          </a:p>
        </p:txBody>
      </p:sp>
      <p:sp>
        <p:nvSpPr>
          <p:cNvPr id="4" name="Espace réservé du pied de page 3">
            <a:extLst>
              <a:ext uri="{FF2B5EF4-FFF2-40B4-BE49-F238E27FC236}">
                <a16:creationId xmlns:a16="http://schemas.microsoft.com/office/drawing/2014/main" id="{B911DB12-0CA7-987B-2FDB-1FFCF59A34A7}"/>
              </a:ext>
            </a:extLst>
          </p:cNvPr>
          <p:cNvSpPr>
            <a:spLocks noGrp="1"/>
          </p:cNvSpPr>
          <p:nvPr>
            <p:ph type="ftr" sz="quarter" idx="11"/>
          </p:nvPr>
        </p:nvSpPr>
        <p:spPr/>
        <p:txBody>
          <a:bodyPr/>
          <a:lstStyle/>
          <a:p>
            <a:r>
              <a:rPr lang="fr-FR" dirty="0"/>
              <a:t>Droits réservés Louise Overbeek</a:t>
            </a:r>
          </a:p>
        </p:txBody>
      </p:sp>
    </p:spTree>
    <p:extLst>
      <p:ext uri="{BB962C8B-B14F-4D97-AF65-F5344CB8AC3E}">
        <p14:creationId xmlns:p14="http://schemas.microsoft.com/office/powerpoint/2010/main" val="3848879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95546" y="617538"/>
            <a:ext cx="9772454" cy="1143000"/>
          </a:xfrm>
        </p:spPr>
        <p:txBody>
          <a:bodyPr>
            <a:normAutofit fontScale="90000"/>
          </a:bodyPr>
          <a:lstStyle/>
          <a:p>
            <a:pPr>
              <a:defRPr/>
            </a:pPr>
            <a:br>
              <a:rPr lang="fr-CA" sz="3800" dirty="0"/>
            </a:br>
            <a:r>
              <a:rPr lang="fr-CA" sz="4000" dirty="0"/>
              <a:t>Résultat dilué par action – éléments entrant dans le calcul</a:t>
            </a:r>
            <a:endParaRPr lang="fr-CA" sz="3200" dirty="0"/>
          </a:p>
        </p:txBody>
      </p:sp>
      <p:sp>
        <p:nvSpPr>
          <p:cNvPr id="51201" name="Rectangle 3"/>
          <p:cNvSpPr>
            <a:spLocks noGrp="1" noChangeArrowheads="1"/>
          </p:cNvSpPr>
          <p:nvPr>
            <p:ph idx="1"/>
          </p:nvPr>
        </p:nvSpPr>
        <p:spPr>
          <a:xfrm>
            <a:off x="895546" y="1977643"/>
            <a:ext cx="10096108" cy="3974168"/>
          </a:xfrm>
        </p:spPr>
        <p:txBody>
          <a:bodyPr>
            <a:noAutofit/>
          </a:bodyPr>
          <a:lstStyle/>
          <a:p>
            <a:pPr marL="0" indent="0" eaLnBrk="1" hangingPunct="1">
              <a:lnSpc>
                <a:spcPct val="80000"/>
              </a:lnSpc>
              <a:buNone/>
            </a:pPr>
            <a:r>
              <a:rPr lang="fr-CA" sz="2200" u="sng" dirty="0">
                <a:latin typeface="Gill Sans MT (Corps)"/>
                <a:ea typeface="MS PGothic" charset="0"/>
                <a:cs typeface="MS PGothic" charset="0"/>
              </a:rPr>
              <a:t>Méthode de la conversion </a:t>
            </a:r>
            <a:r>
              <a:rPr lang="fr-CA" sz="2200" u="sng" dirty="0">
                <a:solidFill>
                  <a:srgbClr val="00B0F0"/>
                </a:solidFill>
                <a:latin typeface="Gill Sans MT (Corps)"/>
                <a:ea typeface="MS PGothic" charset="0"/>
                <a:cs typeface="MS PGothic" charset="0"/>
              </a:rPr>
              <a:t>hypothétique</a:t>
            </a:r>
          </a:p>
          <a:p>
            <a:pPr eaLnBrk="1" hangingPunct="1">
              <a:lnSpc>
                <a:spcPct val="80000"/>
              </a:lnSpc>
            </a:pPr>
            <a:r>
              <a:rPr lang="fr-CA" sz="2000" dirty="0">
                <a:latin typeface="Gill Sans MT (Corps)"/>
                <a:ea typeface="MS PGothic" charset="0"/>
                <a:cs typeface="MS PGothic" charset="0"/>
              </a:rPr>
              <a:t>Méthode de calcul des chiffres de résultat par action qui repose sur l’hypothèse que la conversion des titres convertibles a eu lieu </a:t>
            </a:r>
            <a:r>
              <a:rPr lang="fr-CA" sz="2000" u="sng" dirty="0">
                <a:latin typeface="Gill Sans MT (Corps)"/>
                <a:ea typeface="MS PGothic" charset="0"/>
                <a:cs typeface="MS PGothic" charset="0"/>
              </a:rPr>
              <a:t>au début de la période</a:t>
            </a:r>
            <a:r>
              <a:rPr lang="fr-CA" sz="2000" dirty="0">
                <a:latin typeface="Gill Sans MT (Corps)"/>
                <a:ea typeface="MS PGothic" charset="0"/>
                <a:cs typeface="MS PGothic" charset="0"/>
              </a:rPr>
              <a:t> considérée (ou à la date d’émission des titres convertibles, si elle est postérieure).</a:t>
            </a:r>
          </a:p>
          <a:p>
            <a:pPr eaLnBrk="1" hangingPunct="1">
              <a:lnSpc>
                <a:spcPct val="80000"/>
              </a:lnSpc>
            </a:pPr>
            <a:r>
              <a:rPr lang="fr-CA" sz="2000" b="1" dirty="0">
                <a:latin typeface="Gill Sans MT (Corps)"/>
                <a:ea typeface="MS PGothic" charset="0"/>
                <a:cs typeface="MS PGothic" charset="0"/>
              </a:rPr>
              <a:t>Applicable pour : titres convertibles </a:t>
            </a:r>
            <a:r>
              <a:rPr lang="fr-CA" sz="2000" dirty="0">
                <a:latin typeface="Gill Sans MT (Corps)"/>
                <a:ea typeface="MS PGothic" charset="0"/>
                <a:cs typeface="MS PGothic" charset="0"/>
              </a:rPr>
              <a:t>(dettes et actions préférentielles convertibles en actions ordinaires)</a:t>
            </a:r>
          </a:p>
          <a:p>
            <a:pPr marL="0" indent="0" eaLnBrk="1" hangingPunct="1">
              <a:lnSpc>
                <a:spcPct val="80000"/>
              </a:lnSpc>
              <a:buNone/>
            </a:pPr>
            <a:endParaRPr lang="fr-CA" sz="2200" dirty="0">
              <a:latin typeface="Gill Sans MT (Corps)"/>
              <a:ea typeface="MS PGothic" charset="0"/>
              <a:cs typeface="MS PGothic" charset="0"/>
            </a:endParaRPr>
          </a:p>
          <a:p>
            <a:pPr marL="0" indent="0" algn="just">
              <a:lnSpc>
                <a:spcPct val="80000"/>
              </a:lnSpc>
              <a:buNone/>
              <a:tabLst>
                <a:tab pos="0" algn="l"/>
              </a:tabLst>
              <a:defRPr/>
            </a:pPr>
            <a:r>
              <a:rPr lang="fr-CA" altLang="en-US" sz="2000" dirty="0"/>
              <a:t>	</a:t>
            </a:r>
            <a:r>
              <a:rPr lang="fr-CA" altLang="en-US" sz="2000" i="1" dirty="0"/>
              <a:t>Dans le cas d’une dette convertible, on suppose qu’elle a été convertie au début de la période, donc… </a:t>
            </a:r>
          </a:p>
          <a:p>
            <a:pPr lvl="1" algn="just">
              <a:lnSpc>
                <a:spcPct val="80000"/>
              </a:lnSpc>
              <a:tabLst>
                <a:tab pos="0" algn="l"/>
              </a:tabLst>
              <a:defRPr/>
            </a:pPr>
            <a:r>
              <a:rPr lang="fr-CA" altLang="en-US" sz="2000" i="1" dirty="0"/>
              <a:t>Effet sur le résultat net : + charge d’intérêts nette d’impôts </a:t>
            </a:r>
          </a:p>
          <a:p>
            <a:pPr lvl="1" algn="just">
              <a:lnSpc>
                <a:spcPct val="80000"/>
              </a:lnSpc>
              <a:tabLst>
                <a:tab pos="0" algn="l"/>
              </a:tabLst>
              <a:defRPr/>
            </a:pPr>
            <a:r>
              <a:rPr lang="fr-CA" altLang="en-US" sz="2000" i="1" dirty="0"/>
              <a:t>Effet sur le nombre moyen pondéré d’actions ordinaires en circulation : + nombre d’actions ordinaires émises liées à la conversion</a:t>
            </a:r>
            <a:endParaRPr lang="fr-CA" sz="2000" dirty="0">
              <a:latin typeface="Gill Sans MT (Corps)"/>
              <a:ea typeface="MS PGothic" charset="0"/>
              <a:cs typeface="MS PGothic" charset="0"/>
            </a:endParaRPr>
          </a:p>
        </p:txBody>
      </p:sp>
      <p:sp>
        <p:nvSpPr>
          <p:cNvPr id="2" name="Espace réservé du pied de page 1">
            <a:extLst>
              <a:ext uri="{FF2B5EF4-FFF2-40B4-BE49-F238E27FC236}">
                <a16:creationId xmlns:a16="http://schemas.microsoft.com/office/drawing/2014/main" id="{3F1DB123-EBDE-4180-BBAF-C9AA941B6BB0}"/>
              </a:ext>
            </a:extLst>
          </p:cNvPr>
          <p:cNvSpPr>
            <a:spLocks noGrp="1"/>
          </p:cNvSpPr>
          <p:nvPr>
            <p:ph type="ftr" sz="quarter" idx="11"/>
          </p:nvPr>
        </p:nvSpPr>
        <p:spPr/>
        <p:txBody>
          <a:bodyPr/>
          <a:lstStyle/>
          <a:p>
            <a:r>
              <a:rPr lang="fr-FR" dirty="0"/>
              <a:t>Droits réservés Louise Overbeek</a:t>
            </a:r>
          </a:p>
        </p:txBody>
      </p:sp>
    </p:spTree>
    <p:extLst>
      <p:ext uri="{BB962C8B-B14F-4D97-AF65-F5344CB8AC3E}">
        <p14:creationId xmlns:p14="http://schemas.microsoft.com/office/powerpoint/2010/main" val="927932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895546" y="457200"/>
            <a:ext cx="9543854" cy="1303338"/>
          </a:xfrm>
        </p:spPr>
        <p:txBody>
          <a:bodyPr/>
          <a:lstStyle/>
          <a:p>
            <a:pPr eaLnBrk="1" hangingPunct="1"/>
            <a:r>
              <a:rPr lang="fr-CA" sz="3600" dirty="0"/>
              <a:t>Résultat dilué par action – éléments entrant dans le calcul</a:t>
            </a:r>
            <a:endParaRPr lang="fr-CA" sz="3400" dirty="0">
              <a:latin typeface="Gill Sans MT (Corps)"/>
              <a:ea typeface="MS PGothic" charset="0"/>
              <a:cs typeface="MS PGothic" charset="0"/>
            </a:endParaRPr>
          </a:p>
        </p:txBody>
      </p:sp>
      <p:sp>
        <p:nvSpPr>
          <p:cNvPr id="55297" name="Rectangle 3"/>
          <p:cNvSpPr>
            <a:spLocks noGrp="1" noChangeArrowheads="1"/>
          </p:cNvSpPr>
          <p:nvPr>
            <p:ph idx="1"/>
          </p:nvPr>
        </p:nvSpPr>
        <p:spPr>
          <a:xfrm>
            <a:off x="457200" y="1881188"/>
            <a:ext cx="11285621" cy="4676023"/>
          </a:xfrm>
        </p:spPr>
        <p:txBody>
          <a:bodyPr>
            <a:normAutofit fontScale="92500"/>
          </a:bodyPr>
          <a:lstStyle/>
          <a:p>
            <a:pPr marL="628650" lvl="1" indent="-533400" algn="just">
              <a:lnSpc>
                <a:spcPct val="80000"/>
              </a:lnSpc>
              <a:buNone/>
              <a:tabLst>
                <a:tab pos="0" algn="l"/>
              </a:tabLst>
              <a:defRPr/>
            </a:pPr>
            <a:r>
              <a:rPr lang="fr-CA" sz="2000" u="sng" dirty="0">
                <a:latin typeface="Gill Sans MT (Corps)"/>
                <a:ea typeface="MS PGothic" charset="0"/>
                <a:cs typeface="MS PGothic" charset="0"/>
              </a:rPr>
              <a:t>Méthode de la conversion hypothétique (suite)</a:t>
            </a:r>
            <a:endParaRPr lang="fr-CA" altLang="en-US" sz="2000" b="1" dirty="0"/>
          </a:p>
          <a:p>
            <a:pPr marL="628650" lvl="1" indent="-533400" algn="just">
              <a:lnSpc>
                <a:spcPct val="80000"/>
              </a:lnSpc>
              <a:spcAft>
                <a:spcPts val="0"/>
              </a:spcAft>
              <a:buNone/>
              <a:tabLst>
                <a:tab pos="0" algn="l"/>
              </a:tabLst>
              <a:defRPr/>
            </a:pPr>
            <a:r>
              <a:rPr lang="fr-CA" altLang="en-US" sz="2000" b="1" dirty="0"/>
              <a:t>a) </a:t>
            </a:r>
            <a:r>
              <a:rPr lang="fr-CA" altLang="en-US" sz="2000" dirty="0"/>
              <a:t>Les rendements des instruments de capitaux propres préférentiels convertibles doivent être rajoutés au numérateur (ou déduits)</a:t>
            </a:r>
          </a:p>
          <a:p>
            <a:pPr marL="628650" lvl="1" indent="-533400" algn="just">
              <a:lnSpc>
                <a:spcPct val="80000"/>
              </a:lnSpc>
              <a:spcAft>
                <a:spcPts val="0"/>
              </a:spcAft>
              <a:buNone/>
              <a:tabLst>
                <a:tab pos="0" algn="l"/>
              </a:tabLst>
              <a:defRPr/>
            </a:pPr>
            <a:r>
              <a:rPr lang="fr-CA" altLang="en-US" sz="2000" dirty="0"/>
              <a:t>		ex: dividende sur une action préférentielle convertible </a:t>
            </a:r>
          </a:p>
          <a:p>
            <a:pPr marL="628650" lvl="1" indent="-533400" algn="just">
              <a:lnSpc>
                <a:spcPct val="80000"/>
              </a:lnSpc>
              <a:spcAft>
                <a:spcPts val="0"/>
              </a:spcAft>
              <a:buNone/>
              <a:tabLst>
                <a:tab pos="0" algn="l"/>
              </a:tabLst>
              <a:defRPr/>
            </a:pPr>
            <a:endParaRPr lang="fr-CA" altLang="en-US" sz="1000" dirty="0"/>
          </a:p>
          <a:p>
            <a:pPr marL="628650" lvl="1" indent="-533400" algn="just">
              <a:lnSpc>
                <a:spcPct val="80000"/>
              </a:lnSpc>
              <a:spcAft>
                <a:spcPts val="0"/>
              </a:spcAft>
              <a:buNone/>
              <a:tabLst>
                <a:tab pos="0" algn="l"/>
              </a:tabLst>
              <a:defRPr/>
            </a:pPr>
            <a:r>
              <a:rPr lang="fr-CA" altLang="en-US" sz="2000" b="1" dirty="0"/>
              <a:t>b)</a:t>
            </a:r>
            <a:r>
              <a:rPr lang="fr-CA" altLang="en-US" sz="2000" dirty="0"/>
              <a:t>	Les montants portés au débit (ou au crédit) des résultats au titre des passifs financiers convertibles doivent être rajoutés au numérateur (ou déduits)</a:t>
            </a:r>
          </a:p>
          <a:p>
            <a:pPr marL="1295400" lvl="2" indent="-381000">
              <a:lnSpc>
                <a:spcPct val="80000"/>
              </a:lnSpc>
              <a:spcAft>
                <a:spcPts val="0"/>
              </a:spcAft>
              <a:buNone/>
              <a:tabLst>
                <a:tab pos="0" algn="l"/>
              </a:tabLst>
              <a:defRPr/>
            </a:pPr>
            <a:r>
              <a:rPr lang="fr-CA" altLang="en-US" sz="2000" dirty="0"/>
              <a:t>ex: intérêts (nets d’impôts) sur la dette convertible</a:t>
            </a:r>
            <a:endParaRPr lang="fr-CA" sz="2000" b="1" dirty="0">
              <a:latin typeface="Gill Sans MT (Corps)"/>
              <a:ea typeface="MS PGothic" charset="0"/>
              <a:cs typeface="MS PGothic" charset="0"/>
            </a:endParaRPr>
          </a:p>
          <a:p>
            <a:pPr marL="533400" lvl="1" indent="-438150">
              <a:spcBef>
                <a:spcPts val="325"/>
              </a:spcBef>
              <a:spcAft>
                <a:spcPts val="0"/>
              </a:spcAft>
              <a:buNone/>
            </a:pPr>
            <a:r>
              <a:rPr lang="fr-CA" sz="2000" b="1" dirty="0">
                <a:latin typeface="Gill Sans MT (Corps)"/>
                <a:ea typeface="MS PGothic" charset="0"/>
                <a:cs typeface="MS PGothic" charset="0"/>
              </a:rPr>
              <a:t>c) </a:t>
            </a:r>
            <a:r>
              <a:rPr lang="fr-CA" sz="2000" dirty="0">
                <a:latin typeface="Gill Sans MT (Corps)"/>
                <a:ea typeface="MS PGothic" charset="0"/>
                <a:cs typeface="MS PGothic" charset="0"/>
              </a:rPr>
              <a:t>Le numérateur doit être ajusté pour tenir compte de toute variation non discrétionnaire du bénéfice ou de la perte qui résulterait de la conversion hypothétique des titres convertibles dilutifs mentionnés aux alinéas a) et b), par exemple les charges liées aux régimes d’intéressement ou aux accords relatifs à des redevances</a:t>
            </a:r>
          </a:p>
          <a:p>
            <a:pPr marL="533400" lvl="1" indent="-438150">
              <a:spcBef>
                <a:spcPts val="325"/>
              </a:spcBef>
              <a:spcAft>
                <a:spcPts val="0"/>
              </a:spcAft>
              <a:buNone/>
            </a:pPr>
            <a:endParaRPr lang="fr-CA" sz="1000" dirty="0">
              <a:latin typeface="Gill Sans MT (Corps)"/>
              <a:ea typeface="MS PGothic" charset="0"/>
              <a:cs typeface="MS PGothic" charset="0"/>
            </a:endParaRPr>
          </a:p>
          <a:p>
            <a:pPr marL="533400" lvl="1" indent="-438150">
              <a:spcBef>
                <a:spcPts val="325"/>
              </a:spcBef>
              <a:spcAft>
                <a:spcPts val="0"/>
              </a:spcAft>
              <a:buNone/>
            </a:pPr>
            <a:r>
              <a:rPr lang="fr-CA" sz="2000" b="1" dirty="0">
                <a:latin typeface="Gill Sans MT (Corps)"/>
                <a:ea typeface="MS PGothic" charset="0"/>
                <a:cs typeface="MS PGothic" charset="0"/>
              </a:rPr>
              <a:t>d) </a:t>
            </a:r>
            <a:r>
              <a:rPr lang="fr-CA" sz="2000" dirty="0">
                <a:latin typeface="Gill Sans MT (Corps)"/>
                <a:ea typeface="MS PGothic" charset="0"/>
                <a:cs typeface="MS PGothic" charset="0"/>
              </a:rPr>
              <a:t>Le numérateur doit être ajusté pour tenir compte de l’incidence fiscale des éléments a), b) et c) </a:t>
            </a:r>
          </a:p>
          <a:p>
            <a:pPr marL="533400" lvl="1" indent="-438150">
              <a:spcBef>
                <a:spcPts val="325"/>
              </a:spcBef>
              <a:spcAft>
                <a:spcPts val="0"/>
              </a:spcAft>
              <a:buNone/>
            </a:pPr>
            <a:endParaRPr lang="fr-CA" sz="1000" dirty="0">
              <a:latin typeface="Gill Sans MT (Corps)"/>
              <a:ea typeface="MS PGothic" charset="0"/>
              <a:cs typeface="MS PGothic" charset="0"/>
            </a:endParaRPr>
          </a:p>
          <a:p>
            <a:pPr marL="533400" lvl="1" indent="-438150">
              <a:spcBef>
                <a:spcPts val="325"/>
              </a:spcBef>
              <a:spcAft>
                <a:spcPts val="0"/>
              </a:spcAft>
              <a:buNone/>
            </a:pPr>
            <a:r>
              <a:rPr lang="fr-CA" sz="2000" b="1" dirty="0">
                <a:latin typeface="Gill Sans MT (Corps)"/>
              </a:rPr>
              <a:t>e) </a:t>
            </a:r>
            <a:r>
              <a:rPr lang="fr-CA" sz="2000" dirty="0">
                <a:latin typeface="Gill Sans MT (Corps)"/>
              </a:rPr>
              <a:t>Les titres convertibles doivent être réputés convertis au début de la période (ou à la date de leur émission si elle est postérieure), et le nombre d’actions ordinaires qui en résulte doit être inclus dans le dénominateur.</a:t>
            </a:r>
            <a:endParaRPr lang="fr-CA" sz="2000" dirty="0">
              <a:latin typeface="Gill Sans MT (Corps)"/>
              <a:ea typeface="MS PGothic" charset="0"/>
              <a:cs typeface="MS PGothic" charset="0"/>
            </a:endParaRPr>
          </a:p>
        </p:txBody>
      </p:sp>
      <p:sp>
        <p:nvSpPr>
          <p:cNvPr id="2" name="Espace réservé du pied de page 1">
            <a:extLst>
              <a:ext uri="{FF2B5EF4-FFF2-40B4-BE49-F238E27FC236}">
                <a16:creationId xmlns:a16="http://schemas.microsoft.com/office/drawing/2014/main" id="{5246765B-07CE-40F0-B8EF-37F0FB2C3A8C}"/>
              </a:ext>
            </a:extLst>
          </p:cNvPr>
          <p:cNvSpPr>
            <a:spLocks noGrp="1"/>
          </p:cNvSpPr>
          <p:nvPr>
            <p:ph type="ftr" sz="quarter" idx="11"/>
          </p:nvPr>
        </p:nvSpPr>
        <p:spPr>
          <a:xfrm>
            <a:off x="560805" y="6361765"/>
            <a:ext cx="6917210" cy="365125"/>
          </a:xfrm>
        </p:spPr>
        <p:txBody>
          <a:bodyPr/>
          <a:lstStyle/>
          <a:p>
            <a:r>
              <a:rPr lang="fr-FR" dirty="0"/>
              <a:t>Droits réservés Louise Overbeek</a:t>
            </a:r>
          </a:p>
        </p:txBody>
      </p:sp>
      <p:sp>
        <p:nvSpPr>
          <p:cNvPr id="55300" name="Text Box 4"/>
          <p:cNvSpPr txBox="1">
            <a:spLocks noChangeArrowheads="1"/>
          </p:cNvSpPr>
          <p:nvPr/>
        </p:nvSpPr>
        <p:spPr bwMode="auto">
          <a:xfrm>
            <a:off x="8763000" y="0"/>
            <a:ext cx="19050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spcBef>
                <a:spcPct val="50000"/>
              </a:spcBef>
            </a:pPr>
            <a:endParaRPr lang="en-CA" sz="1600" b="1">
              <a:latin typeface="Univers" charset="0"/>
              <a:ea typeface="MS PGothic" charset="0"/>
              <a:cs typeface="MS PGothic" charset="0"/>
            </a:endParaRPr>
          </a:p>
        </p:txBody>
      </p:sp>
    </p:spTree>
    <p:extLst>
      <p:ext uri="{BB962C8B-B14F-4D97-AF65-F5344CB8AC3E}">
        <p14:creationId xmlns:p14="http://schemas.microsoft.com/office/powerpoint/2010/main" val="31357737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848412" y="457200"/>
            <a:ext cx="9590988" cy="1303338"/>
          </a:xfrm>
        </p:spPr>
        <p:txBody>
          <a:bodyPr/>
          <a:lstStyle/>
          <a:p>
            <a:pPr eaLnBrk="1" hangingPunct="1"/>
            <a:r>
              <a:rPr lang="fr-CA" sz="3200" dirty="0"/>
              <a:t>Résultat dilué par action – éléments entrant dans le calcul</a:t>
            </a:r>
            <a:endParaRPr lang="fr-CA" sz="3200" dirty="0">
              <a:latin typeface="Gill Sans MT (Corps)"/>
              <a:ea typeface="MS PGothic" charset="0"/>
              <a:cs typeface="MS PGothic" charset="0"/>
            </a:endParaRPr>
          </a:p>
        </p:txBody>
      </p:sp>
      <p:sp>
        <p:nvSpPr>
          <p:cNvPr id="27652" name="Rectangle 3"/>
          <p:cNvSpPr>
            <a:spLocks noGrp="1" noChangeArrowheads="1"/>
          </p:cNvSpPr>
          <p:nvPr>
            <p:ph idx="1"/>
          </p:nvPr>
        </p:nvSpPr>
        <p:spPr>
          <a:xfrm>
            <a:off x="914400" y="1960563"/>
            <a:ext cx="10265790" cy="4400550"/>
          </a:xfrm>
        </p:spPr>
        <p:txBody>
          <a:bodyPr>
            <a:normAutofit/>
          </a:bodyPr>
          <a:lstStyle/>
          <a:p>
            <a:pPr marL="628650" lvl="1" indent="-533400" algn="just">
              <a:lnSpc>
                <a:spcPct val="80000"/>
              </a:lnSpc>
              <a:buNone/>
              <a:tabLst>
                <a:tab pos="0" algn="l"/>
              </a:tabLst>
              <a:defRPr/>
            </a:pPr>
            <a:r>
              <a:rPr lang="fr-CA" sz="2000" u="sng" dirty="0">
                <a:latin typeface="Gill Sans MT (Corps)"/>
                <a:ea typeface="MS PGothic" charset="0"/>
                <a:cs typeface="MS PGothic" charset="0"/>
              </a:rPr>
              <a:t>Méthode de la conversion hypothétique (suite)</a:t>
            </a:r>
            <a:endParaRPr lang="fr-CA" altLang="en-US" sz="1800" b="1" dirty="0"/>
          </a:p>
          <a:p>
            <a:pPr marL="533400" indent="-533400">
              <a:lnSpc>
                <a:spcPct val="80000"/>
              </a:lnSpc>
              <a:defRPr/>
            </a:pPr>
            <a:r>
              <a:rPr lang="fr-CA" sz="2000" dirty="0"/>
              <a:t>Si conversion dans la période : inclure la partie de la période précédant la conversion</a:t>
            </a:r>
          </a:p>
          <a:p>
            <a:pPr marL="788988" lvl="1" indent="-533400">
              <a:lnSpc>
                <a:spcPct val="80000"/>
              </a:lnSpc>
              <a:defRPr/>
            </a:pPr>
            <a:r>
              <a:rPr lang="fr-CA" sz="1800" dirty="0"/>
              <a:t>Ex : débenture convertie au 31 janvier, calculer l’impact dilutif si avait été convertie au début de la période</a:t>
            </a:r>
          </a:p>
          <a:p>
            <a:pPr marL="788988" lvl="1" indent="-533400">
              <a:lnSpc>
                <a:spcPct val="80000"/>
              </a:lnSpc>
              <a:defRPr/>
            </a:pPr>
            <a:endParaRPr lang="fr-CA" sz="1800" dirty="0"/>
          </a:p>
          <a:p>
            <a:pPr marL="533400" indent="-533400">
              <a:lnSpc>
                <a:spcPct val="80000"/>
              </a:lnSpc>
              <a:defRPr/>
            </a:pPr>
            <a:r>
              <a:rPr lang="fr-CA" sz="2000" dirty="0"/>
              <a:t>Lorsque plusieurs bases de conversion coexistent, le calcul retient le taux de conversion ou le prix d’exercice le plus avantageux du point de vue du porteur des actions ordinaires potentielles</a:t>
            </a:r>
          </a:p>
          <a:p>
            <a:pPr marL="857400" lvl="1" indent="-533400">
              <a:lnSpc>
                <a:spcPct val="80000"/>
              </a:lnSpc>
              <a:defRPr/>
            </a:pPr>
            <a:r>
              <a:rPr lang="fr-CA" sz="1800" dirty="0"/>
              <a:t>Donc le plus dilutif</a:t>
            </a:r>
          </a:p>
          <a:p>
            <a:pPr marL="0" indent="0">
              <a:lnSpc>
                <a:spcPct val="80000"/>
              </a:lnSpc>
              <a:buNone/>
              <a:defRPr/>
            </a:pPr>
            <a:r>
              <a:rPr lang="fr-CA" dirty="0">
                <a:solidFill>
                  <a:srgbClr val="000000"/>
                </a:solidFill>
                <a:cs typeface="Times New Roman" pitchFamily="18" charset="0"/>
              </a:rPr>
              <a:t>	</a:t>
            </a:r>
          </a:p>
        </p:txBody>
      </p:sp>
      <p:sp>
        <p:nvSpPr>
          <p:cNvPr id="2" name="Espace réservé du pied de page 1">
            <a:extLst>
              <a:ext uri="{FF2B5EF4-FFF2-40B4-BE49-F238E27FC236}">
                <a16:creationId xmlns:a16="http://schemas.microsoft.com/office/drawing/2014/main" id="{298F3605-9070-4F0D-92C1-C5E225398098}"/>
              </a:ext>
            </a:extLst>
          </p:cNvPr>
          <p:cNvSpPr>
            <a:spLocks noGrp="1"/>
          </p:cNvSpPr>
          <p:nvPr>
            <p:ph type="ftr" sz="quarter" idx="11"/>
          </p:nvPr>
        </p:nvSpPr>
        <p:spPr/>
        <p:txBody>
          <a:bodyPr/>
          <a:lstStyle/>
          <a:p>
            <a:r>
              <a:rPr lang="fr-FR"/>
              <a:t>Droits réservés Louise Overbeek</a:t>
            </a:r>
          </a:p>
        </p:txBody>
      </p:sp>
      <p:sp>
        <p:nvSpPr>
          <p:cNvPr id="59396" name="Text Box 4"/>
          <p:cNvSpPr txBox="1">
            <a:spLocks noChangeArrowheads="1"/>
          </p:cNvSpPr>
          <p:nvPr/>
        </p:nvSpPr>
        <p:spPr bwMode="auto">
          <a:xfrm>
            <a:off x="8763000" y="0"/>
            <a:ext cx="19050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spcBef>
                <a:spcPct val="50000"/>
              </a:spcBef>
            </a:pPr>
            <a:endParaRPr lang="en-CA" sz="1600" b="1">
              <a:latin typeface="Univers" charset="0"/>
              <a:ea typeface="MS PGothic" charset="0"/>
              <a:cs typeface="MS PGothic" charset="0"/>
            </a:endParaRPr>
          </a:p>
        </p:txBody>
      </p:sp>
    </p:spTree>
    <p:extLst>
      <p:ext uri="{BB962C8B-B14F-4D97-AF65-F5344CB8AC3E}">
        <p14:creationId xmlns:p14="http://schemas.microsoft.com/office/powerpoint/2010/main" val="847403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a:xfrm>
            <a:off x="1018095" y="457200"/>
            <a:ext cx="9421305" cy="1303338"/>
          </a:xfrm>
        </p:spPr>
        <p:txBody>
          <a:bodyPr/>
          <a:lstStyle/>
          <a:p>
            <a:pPr eaLnBrk="1" hangingPunct="1"/>
            <a:r>
              <a:rPr lang="fr-CA" sz="3200" dirty="0"/>
              <a:t>Résultat dilué par action – éléments entrant dans le calcul</a:t>
            </a:r>
            <a:endParaRPr lang="fr-CA" sz="3400" dirty="0">
              <a:latin typeface="Gill Sans MT (Corps)"/>
              <a:ea typeface="MS PGothic" charset="0"/>
              <a:cs typeface="MS PGothic" charset="0"/>
            </a:endParaRPr>
          </a:p>
        </p:txBody>
      </p:sp>
      <p:sp>
        <p:nvSpPr>
          <p:cNvPr id="61441" name="Rectangle 3"/>
          <p:cNvSpPr>
            <a:spLocks noGrp="1" noChangeArrowheads="1"/>
          </p:cNvSpPr>
          <p:nvPr>
            <p:ph idx="1"/>
          </p:nvPr>
        </p:nvSpPr>
        <p:spPr>
          <a:xfrm>
            <a:off x="445167" y="1881188"/>
            <a:ext cx="11309685" cy="4547436"/>
          </a:xfrm>
        </p:spPr>
        <p:txBody>
          <a:bodyPr>
            <a:normAutofit lnSpcReduction="10000"/>
          </a:bodyPr>
          <a:lstStyle/>
          <a:p>
            <a:pPr marL="0" indent="0" algn="just">
              <a:lnSpc>
                <a:spcPct val="80000"/>
              </a:lnSpc>
              <a:buNone/>
            </a:pPr>
            <a:r>
              <a:rPr lang="fr-CA" sz="2400" u="sng" dirty="0">
                <a:latin typeface="Gill Sans MT (Corps)"/>
                <a:ea typeface="MS PGothic" charset="0"/>
                <a:cs typeface="MS PGothic" charset="0"/>
              </a:rPr>
              <a:t>Méthode du rachat d’actions</a:t>
            </a:r>
            <a:endParaRPr lang="fr-CA" sz="2000" dirty="0">
              <a:latin typeface="Gill Sans MT (Corps)"/>
              <a:ea typeface="MS PGothic" charset="0"/>
              <a:cs typeface="MS PGothic" charset="0"/>
            </a:endParaRPr>
          </a:p>
          <a:p>
            <a:pPr algn="just">
              <a:lnSpc>
                <a:spcPct val="80000"/>
              </a:lnSpc>
            </a:pPr>
            <a:r>
              <a:rPr lang="fr-CA" sz="2000" dirty="0">
                <a:latin typeface="Gill Sans MT (Corps)"/>
                <a:ea typeface="MS PGothic" charset="0"/>
                <a:cs typeface="MS PGothic" charset="0"/>
              </a:rPr>
              <a:t>Cette méthode repose sur l’hypothèse que tout produit reçu grâce à l’exercice d’options ou de bons de souscription serait utilisé pour racheter des actions ordinaires à leur cours </a:t>
            </a:r>
            <a:r>
              <a:rPr lang="fr-CA" sz="2000" u="sng" dirty="0">
                <a:solidFill>
                  <a:srgbClr val="00B0F0"/>
                </a:solidFill>
                <a:latin typeface="Gill Sans MT (Corps)"/>
                <a:ea typeface="MS PGothic" charset="0"/>
                <a:cs typeface="MS PGothic" charset="0"/>
              </a:rPr>
              <a:t>moyen</a:t>
            </a:r>
            <a:r>
              <a:rPr lang="fr-CA" sz="2000" dirty="0">
                <a:latin typeface="Gill Sans MT (Corps)"/>
                <a:ea typeface="MS PGothic" charset="0"/>
                <a:cs typeface="MS PGothic" charset="0"/>
              </a:rPr>
              <a:t> pendant la période.</a:t>
            </a:r>
          </a:p>
          <a:p>
            <a:pPr algn="just">
              <a:lnSpc>
                <a:spcPct val="80000"/>
              </a:lnSpc>
            </a:pPr>
            <a:r>
              <a:rPr lang="fr-CA" sz="2000" b="1" dirty="0">
                <a:latin typeface="Gill Sans MT (Corps)"/>
                <a:ea typeface="MS PGothic" charset="0"/>
                <a:cs typeface="MS PGothic" charset="0"/>
              </a:rPr>
              <a:t>Applicable pour : options d’achat, bons de souscription en circulation et autres instruments équivalents</a:t>
            </a:r>
          </a:p>
          <a:p>
            <a:pPr lvl="1" algn="just">
              <a:lnSpc>
                <a:spcPct val="80000"/>
              </a:lnSpc>
            </a:pPr>
            <a:r>
              <a:rPr lang="fr-CA" sz="1800" dirty="0">
                <a:latin typeface="Gill Sans MT (Corps)"/>
                <a:ea typeface="MS PGothic" charset="0"/>
                <a:cs typeface="MS PGothic" charset="0"/>
              </a:rPr>
              <a:t>Seulement les éléments dilutifs (voir diapo 44)</a:t>
            </a:r>
          </a:p>
          <a:p>
            <a:pPr algn="just">
              <a:lnSpc>
                <a:spcPct val="80000"/>
              </a:lnSpc>
            </a:pPr>
            <a:r>
              <a:rPr lang="fr-CA" sz="2000" dirty="0">
                <a:latin typeface="Gill Sans MT (Corps)"/>
                <a:ea typeface="MS PGothic" charset="0"/>
                <a:cs typeface="MS PGothic" charset="0"/>
              </a:rPr>
              <a:t>Fonctionnement</a:t>
            </a:r>
          </a:p>
          <a:p>
            <a:pPr marL="914400" lvl="1" indent="-457200">
              <a:spcBef>
                <a:spcPts val="325"/>
              </a:spcBef>
              <a:spcAft>
                <a:spcPts val="600"/>
              </a:spcAft>
              <a:buClr>
                <a:schemeClr val="folHlink"/>
              </a:buClr>
              <a:buFont typeface="Wingdings" charset="0"/>
              <a:buAutoNum type="alphaUcPeriod"/>
            </a:pPr>
            <a:r>
              <a:rPr lang="fr-CA" sz="1800" dirty="0">
                <a:latin typeface="Gill Sans MT (Corps)"/>
                <a:ea typeface="MS PGothic" charset="0"/>
                <a:cs typeface="MS PGothic" charset="0"/>
              </a:rPr>
              <a:t>Les options, les bons de souscription et les instruments équivalents doivent être réputés exercés au début de la période (ou à la date d’émission si elle est postérieure) et des actions ordinaires doivent être réputées émises </a:t>
            </a:r>
          </a:p>
          <a:p>
            <a:pPr marL="914400" lvl="1" indent="-457200">
              <a:spcBef>
                <a:spcPts val="325"/>
              </a:spcBef>
              <a:spcAft>
                <a:spcPts val="600"/>
              </a:spcAft>
              <a:buClr>
                <a:schemeClr val="folHlink"/>
              </a:buClr>
              <a:buFont typeface="Arial" charset="0"/>
              <a:buAutoNum type="alphaUcPeriod"/>
            </a:pPr>
            <a:r>
              <a:rPr lang="fr-CA" sz="1800" dirty="0">
                <a:latin typeface="Gill Sans MT (Corps)"/>
                <a:ea typeface="MS PGothic" charset="0"/>
                <a:cs typeface="MS PGothic" charset="0"/>
              </a:rPr>
              <a:t>Le produit de l’exercice de ces instruments doit être réputé utilisé pour acheter des actions ordinaire pour leur </a:t>
            </a:r>
            <a:r>
              <a:rPr lang="fr-CA" sz="1800" u="sng" dirty="0">
                <a:latin typeface="Gill Sans MT (Corps)"/>
                <a:ea typeface="MS PGothic" charset="0"/>
                <a:cs typeface="MS PGothic" charset="0"/>
              </a:rPr>
              <a:t>cours moyen</a:t>
            </a:r>
            <a:r>
              <a:rPr lang="fr-CA" sz="1800" dirty="0">
                <a:latin typeface="Gill Sans MT (Corps)"/>
                <a:ea typeface="MS PGothic" charset="0"/>
                <a:cs typeface="MS PGothic" charset="0"/>
              </a:rPr>
              <a:t> pendant la période</a:t>
            </a:r>
          </a:p>
          <a:p>
            <a:pPr marL="914400" lvl="1" indent="-457200">
              <a:spcBef>
                <a:spcPts val="325"/>
              </a:spcBef>
              <a:buClr>
                <a:schemeClr val="folHlink"/>
              </a:buClr>
              <a:buFont typeface="Arial" charset="0"/>
              <a:buAutoNum type="alphaUcPeriod"/>
            </a:pPr>
            <a:r>
              <a:rPr lang="fr-CA" sz="1800" dirty="0">
                <a:latin typeface="Gill Sans MT (Corps)"/>
                <a:ea typeface="MS PGothic" charset="0"/>
                <a:cs typeface="MS PGothic" charset="0"/>
              </a:rPr>
              <a:t>Le nombre d’actions supplémentaires (la différence entre le nombre d’actions réputées émises et le nombre d’actions réputées achetées ) doit être inclus dans le dénominateur utilisé dans le calcul du résultat dilué par actions.</a:t>
            </a:r>
          </a:p>
        </p:txBody>
      </p:sp>
      <p:sp>
        <p:nvSpPr>
          <p:cNvPr id="2" name="Espace réservé du pied de page 1">
            <a:extLst>
              <a:ext uri="{FF2B5EF4-FFF2-40B4-BE49-F238E27FC236}">
                <a16:creationId xmlns:a16="http://schemas.microsoft.com/office/drawing/2014/main" id="{235176DB-4503-46BC-8F20-21D77A2A4D13}"/>
              </a:ext>
            </a:extLst>
          </p:cNvPr>
          <p:cNvSpPr>
            <a:spLocks noGrp="1"/>
          </p:cNvSpPr>
          <p:nvPr>
            <p:ph type="ftr" sz="quarter" idx="11"/>
          </p:nvPr>
        </p:nvSpPr>
        <p:spPr>
          <a:xfrm>
            <a:off x="605255" y="6428624"/>
            <a:ext cx="6917210" cy="365125"/>
          </a:xfrm>
        </p:spPr>
        <p:txBody>
          <a:bodyPr/>
          <a:lstStyle/>
          <a:p>
            <a:r>
              <a:rPr lang="fr-FR" dirty="0"/>
              <a:t>Droits réservés Louise Overbeek</a:t>
            </a:r>
          </a:p>
        </p:txBody>
      </p:sp>
      <p:sp>
        <p:nvSpPr>
          <p:cNvPr id="61444" name="Text Box 4"/>
          <p:cNvSpPr txBox="1">
            <a:spLocks noChangeArrowheads="1"/>
          </p:cNvSpPr>
          <p:nvPr/>
        </p:nvSpPr>
        <p:spPr bwMode="auto">
          <a:xfrm>
            <a:off x="8763000" y="0"/>
            <a:ext cx="19050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spcBef>
                <a:spcPct val="50000"/>
              </a:spcBef>
            </a:pPr>
            <a:endParaRPr lang="en-CA" sz="1600" b="1">
              <a:latin typeface="Univers" charset="0"/>
              <a:ea typeface="MS PGothic" charset="0"/>
              <a:cs typeface="MS PGothic" charset="0"/>
            </a:endParaRPr>
          </a:p>
        </p:txBody>
      </p:sp>
    </p:spTree>
    <p:extLst>
      <p:ext uri="{BB962C8B-B14F-4D97-AF65-F5344CB8AC3E}">
        <p14:creationId xmlns:p14="http://schemas.microsoft.com/office/powerpoint/2010/main" val="15198632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801278" y="457200"/>
            <a:ext cx="9866723" cy="1303338"/>
          </a:xfrm>
        </p:spPr>
        <p:txBody>
          <a:bodyPr/>
          <a:lstStyle/>
          <a:p>
            <a:pPr eaLnBrk="1" hangingPunct="1"/>
            <a:r>
              <a:rPr lang="fr-CA" sz="3600" dirty="0"/>
              <a:t>Résultat dilué par action – éléments entrant dans le calcul</a:t>
            </a:r>
            <a:endParaRPr lang="fr-CA" sz="2800" dirty="0">
              <a:latin typeface="Gill Sans MT (Corps)"/>
              <a:ea typeface="MS PGothic" charset="0"/>
              <a:cs typeface="MS PGothic" charset="0"/>
            </a:endParaRPr>
          </a:p>
        </p:txBody>
      </p:sp>
      <p:sp>
        <p:nvSpPr>
          <p:cNvPr id="27650" name="Rectangle 3"/>
          <p:cNvSpPr>
            <a:spLocks noGrp="1" noChangeArrowheads="1"/>
          </p:cNvSpPr>
          <p:nvPr>
            <p:ph idx="1"/>
          </p:nvPr>
        </p:nvSpPr>
        <p:spPr>
          <a:xfrm>
            <a:off x="942680" y="1881188"/>
            <a:ext cx="10263800" cy="4070623"/>
          </a:xfrm>
        </p:spPr>
        <p:txBody>
          <a:bodyPr>
            <a:normAutofit/>
          </a:bodyPr>
          <a:lstStyle/>
          <a:p>
            <a:pPr marL="0" indent="0">
              <a:lnSpc>
                <a:spcPct val="80000"/>
              </a:lnSpc>
              <a:spcAft>
                <a:spcPts val="600"/>
              </a:spcAft>
              <a:buNone/>
              <a:tabLst>
                <a:tab pos="0" algn="l"/>
              </a:tabLst>
              <a:defRPr/>
            </a:pPr>
            <a:r>
              <a:rPr lang="fr-CA" altLang="en-US" sz="2200" u="sng" dirty="0">
                <a:latin typeface="Gill Sans MT (Corps)"/>
              </a:rPr>
              <a:t>Actions dont l’émission est conditionnelle</a:t>
            </a:r>
          </a:p>
          <a:p>
            <a:pPr>
              <a:lnSpc>
                <a:spcPct val="80000"/>
              </a:lnSpc>
              <a:tabLst>
                <a:tab pos="0" algn="l"/>
              </a:tabLst>
              <a:defRPr/>
            </a:pPr>
            <a:r>
              <a:rPr lang="fr-CA" altLang="en-US" sz="2000" dirty="0">
                <a:latin typeface="Gill Sans MT (Corps)"/>
              </a:rPr>
              <a:t>Inclure dans le calcul du résultat dilué par action si les conditions sont remplies</a:t>
            </a:r>
          </a:p>
          <a:p>
            <a:pPr marL="781200" lvl="1" indent="-457200">
              <a:lnSpc>
                <a:spcPct val="80000"/>
              </a:lnSpc>
              <a:tabLst>
                <a:tab pos="0" algn="l"/>
              </a:tabLst>
              <a:defRPr/>
            </a:pPr>
            <a:r>
              <a:rPr lang="fr-CA" altLang="en-US" sz="1800" dirty="0">
                <a:latin typeface="Gill Sans MT (Corps)"/>
              </a:rPr>
              <a:t>Si dépend du cours futur de l’action ordinaire :</a:t>
            </a:r>
          </a:p>
          <a:p>
            <a:pPr marL="1184400" lvl="2" indent="-457200">
              <a:lnSpc>
                <a:spcPct val="80000"/>
              </a:lnSpc>
              <a:tabLst>
                <a:tab pos="0" algn="l"/>
              </a:tabLst>
              <a:defRPr/>
            </a:pPr>
            <a:r>
              <a:rPr lang="fr-CA" altLang="en-US" sz="1600" dirty="0">
                <a:latin typeface="Gill Sans MT (Corps)"/>
              </a:rPr>
              <a:t>Utiliser le cours à la fin de la période de présentation, comme si était le cours à la fin de la période d’éventualité</a:t>
            </a:r>
          </a:p>
          <a:p>
            <a:pPr marL="781200" lvl="1" indent="-457200">
              <a:lnSpc>
                <a:spcPct val="80000"/>
              </a:lnSpc>
              <a:tabLst>
                <a:tab pos="0" algn="l"/>
              </a:tabLst>
              <a:defRPr/>
            </a:pPr>
            <a:r>
              <a:rPr lang="fr-CA" altLang="en-US" sz="1800" dirty="0">
                <a:latin typeface="Gill Sans MT (Corps)"/>
              </a:rPr>
              <a:t>Si dépend du résultat futur et du cours de l’action ordinaire</a:t>
            </a:r>
          </a:p>
          <a:p>
            <a:pPr marL="1184400" lvl="2" indent="-457200">
              <a:lnSpc>
                <a:spcPct val="80000"/>
              </a:lnSpc>
              <a:tabLst>
                <a:tab pos="0" algn="l"/>
              </a:tabLst>
              <a:defRPr/>
            </a:pPr>
            <a:r>
              <a:rPr lang="fr-CA" altLang="en-US" sz="1600" dirty="0">
                <a:latin typeface="Gill Sans MT (Corps)"/>
              </a:rPr>
              <a:t>Inclure uniquement quand les 2 conditions sont réunies</a:t>
            </a:r>
          </a:p>
          <a:p>
            <a:pPr marL="0" indent="0">
              <a:lnSpc>
                <a:spcPct val="80000"/>
              </a:lnSpc>
              <a:spcAft>
                <a:spcPts val="600"/>
              </a:spcAft>
              <a:buNone/>
              <a:tabLst>
                <a:tab pos="0" algn="l"/>
              </a:tabLst>
              <a:defRPr/>
            </a:pPr>
            <a:endParaRPr lang="fr-CA" sz="2000" dirty="0">
              <a:latin typeface="Gill Sans MT (Corps)"/>
              <a:ea typeface="MS PGothic" charset="0"/>
              <a:cs typeface="MS PGothic" charset="0"/>
            </a:endParaRPr>
          </a:p>
          <a:p>
            <a:pPr marL="0" indent="0">
              <a:lnSpc>
                <a:spcPct val="80000"/>
              </a:lnSpc>
              <a:spcAft>
                <a:spcPts val="600"/>
              </a:spcAft>
              <a:buNone/>
              <a:tabLst>
                <a:tab pos="0" algn="l"/>
              </a:tabLst>
              <a:defRPr/>
            </a:pPr>
            <a:r>
              <a:rPr lang="fr-CA" sz="2200" u="sng" dirty="0">
                <a:latin typeface="Gill Sans MT (Corps)"/>
                <a:ea typeface="MS PGothic" charset="0"/>
                <a:cs typeface="MS PGothic" charset="0"/>
              </a:rPr>
              <a:t>Contrats pouvant être réglés en actions ordinaires ou en trésorerie</a:t>
            </a:r>
          </a:p>
          <a:p>
            <a:pPr>
              <a:lnSpc>
                <a:spcPct val="80000"/>
              </a:lnSpc>
              <a:spcAft>
                <a:spcPts val="600"/>
              </a:spcAft>
              <a:tabLst>
                <a:tab pos="0" algn="l"/>
              </a:tabLst>
            </a:pPr>
            <a:r>
              <a:rPr lang="fr-CA" sz="2000" dirty="0">
                <a:latin typeface="Gill Sans MT (Corps)"/>
                <a:ea typeface="MS PGothic" charset="0"/>
                <a:cs typeface="MS PGothic" charset="0"/>
              </a:rPr>
              <a:t>Si au choix de l’entité : présumer que sera réglé en actions ordinaires</a:t>
            </a:r>
          </a:p>
          <a:p>
            <a:pPr>
              <a:lnSpc>
                <a:spcPct val="80000"/>
              </a:lnSpc>
              <a:spcAft>
                <a:spcPts val="600"/>
              </a:spcAft>
              <a:tabLst>
                <a:tab pos="0" algn="l"/>
              </a:tabLst>
            </a:pPr>
            <a:r>
              <a:rPr lang="fr-CA" sz="2000" dirty="0">
                <a:latin typeface="Gill Sans MT (Corps)"/>
                <a:ea typeface="MS PGothic" charset="0"/>
                <a:cs typeface="MS PGothic" charset="0"/>
              </a:rPr>
              <a:t>Si au choix du porteur : retenir la méthode de règlement la plus dilutive (voir diapositive 44)</a:t>
            </a:r>
            <a:endParaRPr lang="fr-CA" sz="2800" dirty="0">
              <a:latin typeface="Gill Sans MT (Corps)"/>
              <a:ea typeface="MS PGothic" charset="0"/>
              <a:cs typeface="MS PGothic" charset="0"/>
            </a:endParaRPr>
          </a:p>
        </p:txBody>
      </p:sp>
      <p:sp>
        <p:nvSpPr>
          <p:cNvPr id="2" name="Espace réservé du pied de page 1">
            <a:extLst>
              <a:ext uri="{FF2B5EF4-FFF2-40B4-BE49-F238E27FC236}">
                <a16:creationId xmlns:a16="http://schemas.microsoft.com/office/drawing/2014/main" id="{19992302-8A31-4707-BA68-C74A932984EB}"/>
              </a:ext>
            </a:extLst>
          </p:cNvPr>
          <p:cNvSpPr>
            <a:spLocks noGrp="1"/>
          </p:cNvSpPr>
          <p:nvPr>
            <p:ph type="ftr" sz="quarter" idx="11"/>
          </p:nvPr>
        </p:nvSpPr>
        <p:spPr/>
        <p:txBody>
          <a:bodyPr/>
          <a:lstStyle/>
          <a:p>
            <a:r>
              <a:rPr lang="fr-FR" dirty="0"/>
              <a:t>Droits réservés Louise Overbeek</a:t>
            </a:r>
          </a:p>
        </p:txBody>
      </p:sp>
      <p:sp>
        <p:nvSpPr>
          <p:cNvPr id="65540" name="Text Box 4"/>
          <p:cNvSpPr txBox="1">
            <a:spLocks noChangeArrowheads="1"/>
          </p:cNvSpPr>
          <p:nvPr/>
        </p:nvSpPr>
        <p:spPr bwMode="auto">
          <a:xfrm>
            <a:off x="8763000" y="0"/>
            <a:ext cx="19050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spcBef>
                <a:spcPct val="50000"/>
              </a:spcBef>
            </a:pPr>
            <a:endParaRPr lang="en-CA" sz="1600" b="1">
              <a:latin typeface="Univers" charset="0"/>
              <a:ea typeface="MS PGothic" charset="0"/>
              <a:cs typeface="MS PGothic" charset="0"/>
            </a:endParaRPr>
          </a:p>
        </p:txBody>
      </p:sp>
    </p:spTree>
    <p:extLst>
      <p:ext uri="{BB962C8B-B14F-4D97-AF65-F5344CB8AC3E}">
        <p14:creationId xmlns:p14="http://schemas.microsoft.com/office/powerpoint/2010/main" val="14501583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Évaluation - </a:t>
            </a:r>
            <a:r>
              <a:rPr lang="fr-CA" b="1">
                <a:solidFill>
                  <a:schemeClr val="accent2"/>
                </a:solidFill>
              </a:rPr>
              <a:t>Résultat dilué par action</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lnSpc>
                <a:spcPct val="90000"/>
              </a:lnSpc>
              <a:buNone/>
            </a:pPr>
            <a:r>
              <a:rPr lang="fr-CA" sz="2000" b="1">
                <a:solidFill>
                  <a:schemeClr val="accent2">
                    <a:lumMod val="50000"/>
                  </a:schemeClr>
                </a:solidFill>
              </a:rPr>
              <a:t>Résultat</a:t>
            </a:r>
          </a:p>
          <a:p>
            <a:pPr marL="0" indent="0">
              <a:lnSpc>
                <a:spcPct val="90000"/>
              </a:lnSpc>
              <a:buNone/>
            </a:pPr>
            <a:r>
              <a:rPr lang="fr-CA" sz="2000" b="1">
                <a:solidFill>
                  <a:schemeClr val="accent2">
                    <a:lumMod val="50000"/>
                  </a:schemeClr>
                </a:solidFill>
              </a:rPr>
              <a:t>33     Pour le calcul du résultat dilué par action, une entité doit ajuster le résultat net attribuable aux actionnaires ordinaires de l'entité mère, calculé conformément au paragraphe </a:t>
            </a:r>
            <a:r>
              <a:rPr lang="fr-CA" sz="2000" b="1">
                <a:solidFill>
                  <a:schemeClr val="accent2">
                    <a:lumMod val="50000"/>
                  </a:schemeClr>
                </a:solidFill>
                <a:hlinkClick r:id="rId2"/>
              </a:rPr>
              <a:t>12</a:t>
            </a:r>
            <a:r>
              <a:rPr lang="fr-CA" sz="2000" b="1">
                <a:solidFill>
                  <a:schemeClr val="accent2">
                    <a:lumMod val="50000"/>
                  </a:schemeClr>
                </a:solidFill>
              </a:rPr>
              <a:t>, à hauteur de l'effet après impôt :</a:t>
            </a:r>
          </a:p>
          <a:p>
            <a:pPr marL="1433513" indent="-717550">
              <a:lnSpc>
                <a:spcPct val="90000"/>
              </a:lnSpc>
              <a:buNone/>
            </a:pPr>
            <a:r>
              <a:rPr lang="fr-CA" sz="2000" b="1">
                <a:solidFill>
                  <a:schemeClr val="accent2">
                    <a:lumMod val="50000"/>
                  </a:schemeClr>
                </a:solidFill>
              </a:rPr>
              <a:t>(a)     de tout dividende ou autre élément au titre des actions ordinaires potentielles dilutives qui a été déduit pour obtenir le résultat net attribuable aux porteurs d'actions ordinaires de l'entité mère, calculé selon le paragraphe </a:t>
            </a:r>
            <a:r>
              <a:rPr lang="fr-CA" sz="2000" b="1">
                <a:solidFill>
                  <a:schemeClr val="accent2">
                    <a:lumMod val="50000"/>
                  </a:schemeClr>
                </a:solidFill>
                <a:hlinkClick r:id="rId2"/>
              </a:rPr>
              <a:t>12</a:t>
            </a:r>
            <a:r>
              <a:rPr lang="fr-CA" sz="2000" b="1">
                <a:solidFill>
                  <a:schemeClr val="accent2">
                    <a:lumMod val="50000"/>
                  </a:schemeClr>
                </a:solidFill>
              </a:rPr>
              <a:t> ;</a:t>
            </a:r>
          </a:p>
          <a:p>
            <a:pPr marL="1433513" indent="-717550">
              <a:lnSpc>
                <a:spcPct val="90000"/>
              </a:lnSpc>
              <a:buNone/>
            </a:pPr>
            <a:r>
              <a:rPr lang="fr-CA" sz="2000" b="1">
                <a:solidFill>
                  <a:schemeClr val="accent2">
                    <a:lumMod val="50000"/>
                  </a:schemeClr>
                </a:solidFill>
              </a:rPr>
              <a:t>(b)     des intérêts comptabilisés au cours de la période au titre des actions ordinaires potentielles dilutives ; et</a:t>
            </a:r>
          </a:p>
          <a:p>
            <a:pPr marL="1433513" indent="-717550">
              <a:lnSpc>
                <a:spcPct val="90000"/>
              </a:lnSpc>
              <a:buNone/>
            </a:pPr>
            <a:r>
              <a:rPr lang="fr-CA" sz="2000" b="1">
                <a:solidFill>
                  <a:schemeClr val="accent2">
                    <a:lumMod val="50000"/>
                  </a:schemeClr>
                </a:solidFill>
              </a:rPr>
              <a:t>(c)     de tout autre changement dans les produits ou charges qui résulterait de la conversion des actions ordinaires potentielles dilutives.</a:t>
            </a:r>
          </a:p>
          <a:p>
            <a:pPr marL="0" indent="0">
              <a:lnSpc>
                <a:spcPct val="90000"/>
              </a:lnSpc>
              <a:buNone/>
            </a:pPr>
            <a:endParaRPr lang="fr-CA" sz="2000" b="1">
              <a:solidFill>
                <a:schemeClr val="accent2">
                  <a:lumMod val="50000"/>
                </a:schemeClr>
              </a:solidFill>
            </a:endParaRPr>
          </a:p>
          <a:p>
            <a:pPr marL="0" indent="0">
              <a:lnSpc>
                <a:spcPct val="90000"/>
              </a:lnSpc>
              <a:buNone/>
            </a:pPr>
            <a:endParaRPr lang="fr-CA" sz="2000">
              <a:solidFill>
                <a:schemeClr val="accent2">
                  <a:lumMod val="50000"/>
                </a:schemeClr>
              </a:solidFill>
            </a:endParaRPr>
          </a:p>
          <a:p>
            <a:pPr marL="0" indent="0">
              <a:lnSpc>
                <a:spcPct val="90000"/>
              </a:lnSpc>
              <a:buNone/>
            </a:pPr>
            <a:endParaRPr lang="fr-FR" sz="200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001ACFA5-A928-4A86-8F70-23AD1174441F}"/>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37580512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Évaluation - </a:t>
            </a:r>
            <a:r>
              <a:rPr lang="fr-CA" b="1">
                <a:solidFill>
                  <a:schemeClr val="accent2"/>
                </a:solidFill>
              </a:rPr>
              <a:t>Résultat dilué par action</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879600"/>
            <a:ext cx="11029615" cy="3979200"/>
          </a:xfrm>
        </p:spPr>
        <p:txBody>
          <a:bodyPr>
            <a:normAutofit/>
          </a:bodyPr>
          <a:lstStyle/>
          <a:p>
            <a:pPr marL="0" indent="0">
              <a:buNone/>
            </a:pPr>
            <a:r>
              <a:rPr lang="fr-CA" sz="2400" b="1">
                <a:solidFill>
                  <a:schemeClr val="accent2">
                    <a:lumMod val="50000"/>
                  </a:schemeClr>
                </a:solidFill>
              </a:rPr>
              <a:t>Actions</a:t>
            </a:r>
          </a:p>
          <a:p>
            <a:pPr marL="0" indent="0">
              <a:buNone/>
            </a:pPr>
            <a:r>
              <a:rPr lang="fr-CA" sz="2400" b="1">
                <a:solidFill>
                  <a:schemeClr val="accent2">
                    <a:lumMod val="50000"/>
                  </a:schemeClr>
                </a:solidFill>
              </a:rPr>
              <a:t>36     Pour le calcul du résultat dilué par action, le nombre d'actions ordinaires doit être le nombre moyen pondéré d'actions ordinaires calculé selon les paragraphes 19 et </a:t>
            </a:r>
            <a:r>
              <a:rPr lang="fr-CA" sz="2400" b="1">
                <a:solidFill>
                  <a:schemeClr val="accent2">
                    <a:lumMod val="50000"/>
                  </a:schemeClr>
                </a:solidFill>
                <a:hlinkClick r:id="rId2"/>
              </a:rPr>
              <a:t>26</a:t>
            </a:r>
            <a:r>
              <a:rPr lang="fr-CA" sz="2400" b="1">
                <a:solidFill>
                  <a:schemeClr val="accent2">
                    <a:lumMod val="50000"/>
                  </a:schemeClr>
                </a:solidFill>
              </a:rPr>
              <a:t>, majoré du nombre moyen pondéré d'actions ordinaires qui seraient émises lors de la conversion en actions ordinaires de toutes les actions ordinaires potentielles dilutives. Il faut considérer que les actions ordinaires potentielles dilutives ont été converties en actions ordinaires au début de la période ou à la date d'émission des actions ordinaires potentielles si elle est ultérieure.</a:t>
            </a:r>
          </a:p>
        </p:txBody>
      </p:sp>
      <p:sp>
        <p:nvSpPr>
          <p:cNvPr id="5" name="Espace réservé du pied de page 4">
            <a:extLst>
              <a:ext uri="{FF2B5EF4-FFF2-40B4-BE49-F238E27FC236}">
                <a16:creationId xmlns:a16="http://schemas.microsoft.com/office/drawing/2014/main" id="{00053153-8EC6-4419-8D47-E895ADBF79E1}"/>
              </a:ext>
            </a:extLst>
          </p:cNvPr>
          <p:cNvSpPr>
            <a:spLocks noGrp="1"/>
          </p:cNvSpPr>
          <p:nvPr>
            <p:ph type="ftr" sz="quarter" idx="11"/>
          </p:nvPr>
        </p:nvSpPr>
        <p:spPr>
          <a:xfrm>
            <a:off x="581192" y="5951811"/>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3861140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72F80C-009B-25B1-989F-3BD01BBBA0B8}"/>
              </a:ext>
            </a:extLst>
          </p:cNvPr>
          <p:cNvSpPr>
            <a:spLocks noGrp="1"/>
          </p:cNvSpPr>
          <p:nvPr>
            <p:ph type="title"/>
          </p:nvPr>
        </p:nvSpPr>
        <p:spPr/>
        <p:txBody>
          <a:bodyPr/>
          <a:lstStyle/>
          <a:p>
            <a:r>
              <a:rPr lang="fr-CA" dirty="0"/>
              <a:t>Résultat dilué par action – éléments entrant dans le calcul</a:t>
            </a:r>
          </a:p>
        </p:txBody>
      </p:sp>
      <p:sp>
        <p:nvSpPr>
          <p:cNvPr id="3" name="Espace réservé du contenu 2">
            <a:extLst>
              <a:ext uri="{FF2B5EF4-FFF2-40B4-BE49-F238E27FC236}">
                <a16:creationId xmlns:a16="http://schemas.microsoft.com/office/drawing/2014/main" id="{9DCACD14-EECD-E2C3-7CE8-CEABE47B80D9}"/>
              </a:ext>
            </a:extLst>
          </p:cNvPr>
          <p:cNvSpPr>
            <a:spLocks noGrp="1"/>
          </p:cNvSpPr>
          <p:nvPr>
            <p:ph idx="1"/>
          </p:nvPr>
        </p:nvSpPr>
        <p:spPr>
          <a:xfrm>
            <a:off x="581192" y="1838960"/>
            <a:ext cx="11029615" cy="4501682"/>
          </a:xfrm>
        </p:spPr>
        <p:txBody>
          <a:bodyPr>
            <a:noAutofit/>
          </a:bodyPr>
          <a:lstStyle/>
          <a:p>
            <a:pPr marL="0" indent="0" algn="just">
              <a:lnSpc>
                <a:spcPct val="80000"/>
              </a:lnSpc>
              <a:buNone/>
              <a:tabLst>
                <a:tab pos="0" algn="l"/>
              </a:tabLst>
              <a:defRPr/>
            </a:pPr>
            <a:r>
              <a:rPr lang="fr-CA" altLang="en-US" sz="2400" u="sng" dirty="0"/>
              <a:t>Pour chacun de ces éléments, déterminer s’ils sont dilutifs ou </a:t>
            </a:r>
            <a:r>
              <a:rPr lang="fr-CA" altLang="en-US" sz="2400" u="sng" dirty="0" err="1"/>
              <a:t>antidilutifs</a:t>
            </a:r>
            <a:r>
              <a:rPr lang="fr-CA" altLang="en-US" sz="2400" u="sng" dirty="0"/>
              <a:t> </a:t>
            </a:r>
          </a:p>
          <a:p>
            <a:pPr algn="just">
              <a:lnSpc>
                <a:spcPct val="80000"/>
              </a:lnSpc>
              <a:tabLst>
                <a:tab pos="0" algn="l"/>
              </a:tabLst>
              <a:defRPr/>
            </a:pPr>
            <a:r>
              <a:rPr lang="fr-CA" altLang="en-US" sz="2400" dirty="0"/>
              <a:t>IMPORTANT : il faut le faire élément par élément, et non l’impact global des éléments</a:t>
            </a:r>
          </a:p>
          <a:p>
            <a:pPr algn="just">
              <a:lnSpc>
                <a:spcPct val="80000"/>
              </a:lnSpc>
              <a:tabLst>
                <a:tab pos="0" algn="l"/>
              </a:tabLst>
              <a:defRPr/>
            </a:pPr>
            <a:r>
              <a:rPr lang="fr-CA" altLang="en-US" sz="2400" dirty="0"/>
              <a:t>Comparer : </a:t>
            </a:r>
            <a:r>
              <a:rPr lang="fr-CA" altLang="en-US" sz="2400" b="1" dirty="0"/>
              <a:t>effet sur RN/effet sur AO </a:t>
            </a:r>
            <a:r>
              <a:rPr lang="fr-CA" altLang="en-US" sz="2400" dirty="0"/>
              <a:t>versus </a:t>
            </a:r>
            <a:r>
              <a:rPr lang="fr-CA" altLang="en-US" sz="2400" b="1" dirty="0"/>
              <a:t>résultat de base par action</a:t>
            </a:r>
            <a:endParaRPr lang="fr-CA" altLang="en-US" sz="2400" dirty="0"/>
          </a:p>
          <a:p>
            <a:pPr algn="just">
              <a:lnSpc>
                <a:spcPct val="80000"/>
              </a:lnSpc>
              <a:tabLst>
                <a:tab pos="0" algn="l"/>
              </a:tabLst>
              <a:defRPr/>
            </a:pPr>
            <a:r>
              <a:rPr lang="fr-CA" altLang="en-US" sz="2400" dirty="0"/>
              <a:t>Si effet sur RN/effet sur AO &gt; Résultat de base par action</a:t>
            </a:r>
          </a:p>
          <a:p>
            <a:pPr lvl="1" algn="just">
              <a:lnSpc>
                <a:spcPct val="80000"/>
              </a:lnSpc>
              <a:tabLst>
                <a:tab pos="0" algn="l"/>
              </a:tabLst>
              <a:defRPr/>
            </a:pPr>
            <a:r>
              <a:rPr lang="fr-CA" altLang="en-US" sz="2000" dirty="0" err="1"/>
              <a:t>Antidilutif</a:t>
            </a:r>
            <a:r>
              <a:rPr lang="fr-CA" altLang="en-US" sz="2000" dirty="0"/>
              <a:t>, car augmenterait le résultat de base par action</a:t>
            </a:r>
          </a:p>
          <a:p>
            <a:pPr lvl="2" algn="just">
              <a:lnSpc>
                <a:spcPct val="80000"/>
              </a:lnSpc>
              <a:tabLst>
                <a:tab pos="0" algn="l"/>
              </a:tabLst>
              <a:defRPr/>
            </a:pPr>
            <a:r>
              <a:rPr lang="fr-CA" altLang="en-US" sz="1800" dirty="0"/>
              <a:t>À exclure</a:t>
            </a:r>
          </a:p>
          <a:p>
            <a:pPr algn="just">
              <a:lnSpc>
                <a:spcPct val="80000"/>
              </a:lnSpc>
              <a:tabLst>
                <a:tab pos="0" algn="l"/>
              </a:tabLst>
              <a:defRPr/>
            </a:pPr>
            <a:r>
              <a:rPr lang="fr-CA" altLang="en-US" sz="2400" dirty="0"/>
              <a:t>Si effet sur RN/effet sur AO &lt; Résultat de base par action</a:t>
            </a:r>
          </a:p>
          <a:p>
            <a:pPr lvl="1" algn="just">
              <a:lnSpc>
                <a:spcPct val="80000"/>
              </a:lnSpc>
              <a:tabLst>
                <a:tab pos="0" algn="l"/>
              </a:tabLst>
              <a:defRPr/>
            </a:pPr>
            <a:r>
              <a:rPr lang="fr-CA" altLang="en-US" sz="2000" dirty="0"/>
              <a:t>Dilutif, car augmenterait le résultat de base par action</a:t>
            </a:r>
          </a:p>
          <a:p>
            <a:pPr lvl="2" algn="just">
              <a:lnSpc>
                <a:spcPct val="80000"/>
              </a:lnSpc>
              <a:tabLst>
                <a:tab pos="0" algn="l"/>
              </a:tabLst>
              <a:defRPr/>
            </a:pPr>
            <a:r>
              <a:rPr lang="fr-CA" altLang="en-US" sz="1800" dirty="0"/>
              <a:t>À inclure en respectant l’ordre décroissant de dilution</a:t>
            </a:r>
          </a:p>
          <a:p>
            <a:pPr lvl="3" algn="just">
              <a:lnSpc>
                <a:spcPct val="80000"/>
              </a:lnSpc>
              <a:tabLst>
                <a:tab pos="0" algn="l"/>
              </a:tabLst>
              <a:defRPr/>
            </a:pPr>
            <a:r>
              <a:rPr lang="fr-CA" altLang="en-US" sz="1800" dirty="0"/>
              <a:t>Intégrer chaque élément en commençant avec l’effet le plus dilutif sur le RPA (</a:t>
            </a:r>
            <a:r>
              <a:rPr lang="fr-CA" altLang="en-US" sz="1800" i="1" dirty="0"/>
              <a:t>donc RN/effet sur AO le plus petit)</a:t>
            </a:r>
          </a:p>
        </p:txBody>
      </p:sp>
      <p:sp>
        <p:nvSpPr>
          <p:cNvPr id="4" name="Espace réservé du pied de page 3">
            <a:extLst>
              <a:ext uri="{FF2B5EF4-FFF2-40B4-BE49-F238E27FC236}">
                <a16:creationId xmlns:a16="http://schemas.microsoft.com/office/drawing/2014/main" id="{B911DB12-0CA7-987B-2FDB-1FFCF59A34A7}"/>
              </a:ext>
            </a:extLst>
          </p:cNvPr>
          <p:cNvSpPr>
            <a:spLocks noGrp="1"/>
          </p:cNvSpPr>
          <p:nvPr>
            <p:ph type="ftr" sz="quarter" idx="11"/>
          </p:nvPr>
        </p:nvSpPr>
        <p:spPr>
          <a:xfrm>
            <a:off x="581192" y="6232326"/>
            <a:ext cx="6917210" cy="365125"/>
          </a:xfrm>
        </p:spPr>
        <p:txBody>
          <a:bodyPr/>
          <a:lstStyle/>
          <a:p>
            <a:r>
              <a:rPr lang="fr-FR" dirty="0"/>
              <a:t>Droits réservés Louise Overbeek</a:t>
            </a:r>
          </a:p>
        </p:txBody>
      </p:sp>
    </p:spTree>
    <p:extLst>
      <p:ext uri="{BB962C8B-B14F-4D97-AF65-F5344CB8AC3E}">
        <p14:creationId xmlns:p14="http://schemas.microsoft.com/office/powerpoint/2010/main" val="36945618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CA">
                <a:solidFill>
                  <a:schemeClr val="accent2"/>
                </a:solidFill>
              </a:rPr>
              <a:t>Évaluation - </a:t>
            </a:r>
            <a:r>
              <a:rPr lang="fr-CA" b="1">
                <a:solidFill>
                  <a:schemeClr val="accent2"/>
                </a:solidFill>
              </a:rPr>
              <a:t>Résultat dilué par action</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381759"/>
            <a:ext cx="11029615" cy="5019040"/>
          </a:xfrm>
        </p:spPr>
        <p:txBody>
          <a:bodyPr>
            <a:normAutofit fontScale="92500" lnSpcReduction="10000"/>
          </a:bodyPr>
          <a:lstStyle/>
          <a:p>
            <a:pPr marL="0" indent="0">
              <a:lnSpc>
                <a:spcPct val="90000"/>
              </a:lnSpc>
              <a:buNone/>
            </a:pPr>
            <a:r>
              <a:rPr lang="fr-CA" sz="2000" b="1" dirty="0">
                <a:solidFill>
                  <a:schemeClr val="accent2">
                    <a:lumMod val="50000"/>
                  </a:schemeClr>
                </a:solidFill>
              </a:rPr>
              <a:t>Actions ordinaires potentielles dilutives</a:t>
            </a:r>
          </a:p>
          <a:p>
            <a:pPr marL="0" indent="0">
              <a:lnSpc>
                <a:spcPct val="90000"/>
              </a:lnSpc>
              <a:spcAft>
                <a:spcPts val="0"/>
              </a:spcAft>
              <a:buNone/>
            </a:pPr>
            <a:r>
              <a:rPr lang="fr-CA" sz="2000" b="1" dirty="0">
                <a:solidFill>
                  <a:schemeClr val="accent2">
                    <a:lumMod val="50000"/>
                  </a:schemeClr>
                </a:solidFill>
              </a:rPr>
              <a:t>41     Les actions ordinaires potentielles doivent être traitées comme dilutives si, et seulement si, leur conversion en actions ordinaires avait pour effet de réduire le bénéfice par action ou d'augmenter la perte par action des activités poursuivies.</a:t>
            </a:r>
          </a:p>
          <a:p>
            <a:pPr marL="0" indent="0">
              <a:lnSpc>
                <a:spcPct val="90000"/>
              </a:lnSpc>
              <a:spcAft>
                <a:spcPts val="0"/>
              </a:spcAft>
              <a:buNone/>
            </a:pPr>
            <a:endParaRPr lang="fr-FR" sz="2000" b="1" dirty="0">
              <a:solidFill>
                <a:schemeClr val="accent2">
                  <a:lumMod val="50000"/>
                </a:schemeClr>
              </a:solidFill>
            </a:endParaRPr>
          </a:p>
          <a:p>
            <a:pPr marL="0" indent="0">
              <a:lnSpc>
                <a:spcPct val="90000"/>
              </a:lnSpc>
              <a:spcAft>
                <a:spcPts val="0"/>
              </a:spcAft>
              <a:buNone/>
            </a:pPr>
            <a:r>
              <a:rPr lang="fr-CA" sz="2000" dirty="0">
                <a:solidFill>
                  <a:schemeClr val="accent2">
                    <a:lumMod val="50000"/>
                  </a:schemeClr>
                </a:solidFill>
              </a:rPr>
              <a:t>43     Les actions ordinaires potentielles sont </a:t>
            </a:r>
            <a:r>
              <a:rPr lang="fr-CA" sz="2000" dirty="0" err="1">
                <a:solidFill>
                  <a:schemeClr val="accent2">
                    <a:lumMod val="50000"/>
                  </a:schemeClr>
                </a:solidFill>
              </a:rPr>
              <a:t>antidilutives</a:t>
            </a:r>
            <a:r>
              <a:rPr lang="fr-CA" sz="2000" dirty="0">
                <a:solidFill>
                  <a:schemeClr val="accent2">
                    <a:lumMod val="50000"/>
                  </a:schemeClr>
                </a:solidFill>
              </a:rPr>
              <a:t> lorsque leur conversion en actions ordinaires aurait pour effet d'augmenter le bénéfice par action ou de diminuer la perte par action découlant des activités poursuivies. Le calcul du résultat dilué par action ne tient pas compte d'hypothèses de conversion, d'exercice, ou d'autres émissions d'actions ordinaires potentielles qui auraient un effet </a:t>
            </a:r>
            <a:r>
              <a:rPr lang="fr-CA" sz="2000" dirty="0" err="1">
                <a:solidFill>
                  <a:schemeClr val="accent2">
                    <a:lumMod val="50000"/>
                  </a:schemeClr>
                </a:solidFill>
              </a:rPr>
              <a:t>antidilutif</a:t>
            </a:r>
            <a:r>
              <a:rPr lang="fr-CA" sz="2000" dirty="0">
                <a:solidFill>
                  <a:schemeClr val="accent2">
                    <a:lumMod val="50000"/>
                  </a:schemeClr>
                </a:solidFill>
              </a:rPr>
              <a:t> sur le résultat par action.</a:t>
            </a:r>
          </a:p>
          <a:p>
            <a:pPr marL="0" indent="0">
              <a:lnSpc>
                <a:spcPct val="90000"/>
              </a:lnSpc>
              <a:spcAft>
                <a:spcPts val="0"/>
              </a:spcAft>
              <a:buNone/>
            </a:pPr>
            <a:endParaRPr lang="fr-CA" sz="2000" dirty="0">
              <a:solidFill>
                <a:schemeClr val="accent2">
                  <a:lumMod val="50000"/>
                </a:schemeClr>
              </a:solidFill>
            </a:endParaRPr>
          </a:p>
          <a:p>
            <a:pPr marL="0" indent="0">
              <a:lnSpc>
                <a:spcPct val="90000"/>
              </a:lnSpc>
              <a:spcAft>
                <a:spcPts val="0"/>
              </a:spcAft>
              <a:buNone/>
            </a:pPr>
            <a:r>
              <a:rPr lang="fr-CA" sz="2000" dirty="0">
                <a:solidFill>
                  <a:schemeClr val="accent2">
                    <a:lumMod val="50000"/>
                  </a:schemeClr>
                </a:solidFill>
              </a:rPr>
              <a:t>44     Lorsqu'on détermine l'effet dilutif ou </a:t>
            </a:r>
            <a:r>
              <a:rPr lang="fr-CA" sz="2000" dirty="0" err="1">
                <a:solidFill>
                  <a:schemeClr val="accent2">
                    <a:lumMod val="50000"/>
                  </a:schemeClr>
                </a:solidFill>
              </a:rPr>
              <a:t>antidilutif</a:t>
            </a:r>
            <a:r>
              <a:rPr lang="fr-CA" sz="2000" dirty="0">
                <a:solidFill>
                  <a:schemeClr val="accent2">
                    <a:lumMod val="50000"/>
                  </a:schemeClr>
                </a:solidFill>
              </a:rPr>
              <a:t> des actions ordinaires potentielles, on considère séparément et non globalement chaque émission ou série d'actions ordinaires potentielles. La séquence selon laquelle sont prises en considération les actions ordinaires potentielles peut affecter leur caractère dilutif ou non. Dès lors, pour maximiser la dilution du résultat de base par action, chaque émission ou série d'actions ordinaires potentielles est considérée de manière séquentielle depuis la plus dilutive jusqu'à la moins dilutive. En d'autres termes, les actions ordinaires potentielles dilutives assorties du « résultat par action supplémentaire » le plus faible participent au calcul du résultat dilué par action avant celles qui sont assorties du résultat par action supplémentaire le plus élevé. Les options et les bons de souscription sont habituellement inclus en premier parce qu'ils n'affectent pas le numérateur du calcul.</a:t>
            </a:r>
            <a:endParaRPr lang="fr-CA" sz="2000" b="1"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0AA08AE1-43F2-4122-87FE-004457D8F5D8}"/>
              </a:ext>
            </a:extLst>
          </p:cNvPr>
          <p:cNvSpPr>
            <a:spLocks noGrp="1"/>
          </p:cNvSpPr>
          <p:nvPr>
            <p:ph type="ftr" sz="quarter" idx="11"/>
          </p:nvPr>
        </p:nvSpPr>
        <p:spPr>
          <a:xfrm>
            <a:off x="581192" y="6356819"/>
            <a:ext cx="6917210" cy="365125"/>
          </a:xfrm>
        </p:spPr>
        <p:txBody>
          <a:bodyPr>
            <a:normAutofit/>
          </a:bodyPr>
          <a:lstStyle/>
          <a:p>
            <a:pPr>
              <a:spcAft>
                <a:spcPts val="600"/>
              </a:spcAft>
            </a:pPr>
            <a:r>
              <a:rPr lang="fr-FR"/>
              <a:t>Droits réservés Louise Overbeek</a:t>
            </a:r>
          </a:p>
        </p:txBody>
      </p:sp>
    </p:spTree>
    <p:extLst>
      <p:ext uri="{BB962C8B-B14F-4D97-AF65-F5344CB8AC3E}">
        <p14:creationId xmlns:p14="http://schemas.microsoft.com/office/powerpoint/2010/main" val="23333039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par action dilué – exemple (analyse 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a:xfrm>
            <a:off x="581192" y="1852596"/>
            <a:ext cx="11269913" cy="4194964"/>
          </a:xfrm>
        </p:spPr>
        <p:txBody>
          <a:bodyPr numCol="2">
            <a:normAutofit/>
          </a:bodyPr>
          <a:lstStyle/>
          <a:p>
            <a:pPr marL="0" indent="0">
              <a:buNone/>
            </a:pPr>
            <a:r>
              <a:rPr lang="fr-CA" b="1" dirty="0">
                <a:solidFill>
                  <a:srgbClr val="002060"/>
                </a:solidFill>
              </a:rPr>
              <a:t>Quel est le résultat par action dilué?</a:t>
            </a:r>
          </a:p>
          <a:p>
            <a:r>
              <a:rPr lang="fr-CA" dirty="0">
                <a:solidFill>
                  <a:srgbClr val="002060"/>
                </a:solidFill>
              </a:rPr>
              <a:t>Résultat net pour l’exercice terminé le 31 décembre 2022 : 100 000 $ (taux d’imposition : 30 %)</a:t>
            </a:r>
          </a:p>
          <a:p>
            <a:r>
              <a:rPr lang="fr-CA" dirty="0">
                <a:solidFill>
                  <a:srgbClr val="002060"/>
                </a:solidFill>
              </a:rPr>
              <a:t>Dividendes déclarés :</a:t>
            </a:r>
          </a:p>
          <a:p>
            <a:pPr lvl="1"/>
            <a:r>
              <a:rPr lang="fr-CA" dirty="0">
                <a:solidFill>
                  <a:srgbClr val="002060"/>
                </a:solidFill>
              </a:rPr>
              <a:t>Sur actions préférentielles (classées en passif) : 8 000 $</a:t>
            </a:r>
          </a:p>
          <a:p>
            <a:r>
              <a:rPr lang="fr-CA" dirty="0">
                <a:solidFill>
                  <a:srgbClr val="002060"/>
                </a:solidFill>
              </a:rPr>
              <a:t>Actions ordinaires :</a:t>
            </a:r>
          </a:p>
          <a:p>
            <a:pPr lvl="1"/>
            <a:r>
              <a:rPr lang="fr-CA" dirty="0">
                <a:solidFill>
                  <a:srgbClr val="002060"/>
                </a:solidFill>
              </a:rPr>
              <a:t>Au 31 décembre 2021 : 1 000</a:t>
            </a:r>
          </a:p>
          <a:p>
            <a:pPr lvl="1"/>
            <a:r>
              <a:rPr lang="fr-CA" dirty="0">
                <a:solidFill>
                  <a:srgbClr val="002060"/>
                </a:solidFill>
              </a:rPr>
              <a:t>Conversion d’actions préférentielles en actions ordinaires le 1</a:t>
            </a:r>
            <a:r>
              <a:rPr lang="fr-CA" baseline="30000" dirty="0">
                <a:solidFill>
                  <a:srgbClr val="002060"/>
                </a:solidFill>
              </a:rPr>
              <a:t>er</a:t>
            </a:r>
            <a:r>
              <a:rPr lang="fr-CA" dirty="0">
                <a:solidFill>
                  <a:srgbClr val="002060"/>
                </a:solidFill>
              </a:rPr>
              <a:t> janvier 2022 : 100</a:t>
            </a:r>
          </a:p>
          <a:p>
            <a:pPr lvl="1"/>
            <a:r>
              <a:rPr lang="fr-CA" dirty="0">
                <a:solidFill>
                  <a:srgbClr val="002060"/>
                </a:solidFill>
              </a:rPr>
              <a:t>Émission d’actions le 1</a:t>
            </a:r>
            <a:r>
              <a:rPr lang="fr-CA" baseline="30000" dirty="0">
                <a:solidFill>
                  <a:srgbClr val="002060"/>
                </a:solidFill>
              </a:rPr>
              <a:t>er</a:t>
            </a:r>
            <a:r>
              <a:rPr lang="fr-CA" dirty="0">
                <a:solidFill>
                  <a:srgbClr val="002060"/>
                </a:solidFill>
              </a:rPr>
              <a:t> juin 2022 : 300</a:t>
            </a:r>
          </a:p>
          <a:p>
            <a:pPr lvl="1"/>
            <a:r>
              <a:rPr lang="fr-CA" dirty="0">
                <a:solidFill>
                  <a:srgbClr val="002060"/>
                </a:solidFill>
              </a:rPr>
              <a:t>Au 31 décembre 2022 : 1 400</a:t>
            </a:r>
          </a:p>
          <a:p>
            <a:r>
              <a:rPr lang="fr-CA" dirty="0">
                <a:solidFill>
                  <a:srgbClr val="002060"/>
                </a:solidFill>
              </a:rPr>
              <a:t>Options sur achat d’actions :</a:t>
            </a:r>
          </a:p>
          <a:p>
            <a:pPr lvl="1"/>
            <a:r>
              <a:rPr lang="fr-CA" dirty="0">
                <a:solidFill>
                  <a:srgbClr val="002060"/>
                </a:solidFill>
              </a:rPr>
              <a:t>100 en circulation au prix de levé de 10 $</a:t>
            </a:r>
          </a:p>
          <a:p>
            <a:pPr lvl="1"/>
            <a:r>
              <a:rPr lang="fr-CA" dirty="0">
                <a:solidFill>
                  <a:srgbClr val="002060"/>
                </a:solidFill>
              </a:rPr>
              <a:t>200 en circulation au prix de levé de 23 $</a:t>
            </a:r>
          </a:p>
          <a:p>
            <a:r>
              <a:rPr lang="fr-CA" dirty="0">
                <a:solidFill>
                  <a:srgbClr val="002060"/>
                </a:solidFill>
              </a:rPr>
              <a:t>Dette convertible en actions ordinaires :</a:t>
            </a:r>
          </a:p>
          <a:p>
            <a:pPr lvl="1"/>
            <a:r>
              <a:rPr lang="fr-CA" dirty="0">
                <a:solidFill>
                  <a:srgbClr val="002060"/>
                </a:solidFill>
              </a:rPr>
              <a:t>50 000 $ au 1</a:t>
            </a:r>
            <a:r>
              <a:rPr lang="fr-CA" baseline="30000" dirty="0">
                <a:solidFill>
                  <a:srgbClr val="002060"/>
                </a:solidFill>
              </a:rPr>
              <a:t>er</a:t>
            </a:r>
            <a:r>
              <a:rPr lang="fr-CA" dirty="0">
                <a:solidFill>
                  <a:srgbClr val="002060"/>
                </a:solidFill>
              </a:rPr>
              <a:t> janvier 2021, taux de 10%</a:t>
            </a:r>
          </a:p>
          <a:p>
            <a:pPr lvl="1"/>
            <a:r>
              <a:rPr lang="fr-CA" dirty="0">
                <a:solidFill>
                  <a:srgbClr val="002060"/>
                </a:solidFill>
              </a:rPr>
              <a:t>Conversion : 2 actions ordinaires par tranche de 1 000 $</a:t>
            </a:r>
          </a:p>
          <a:p>
            <a:r>
              <a:rPr lang="fr-CA" dirty="0">
                <a:solidFill>
                  <a:srgbClr val="002060"/>
                </a:solidFill>
              </a:rPr>
              <a:t>Cours de l’action :</a:t>
            </a:r>
          </a:p>
          <a:p>
            <a:pPr lvl="1"/>
            <a:r>
              <a:rPr lang="fr-CA" dirty="0">
                <a:solidFill>
                  <a:srgbClr val="002060"/>
                </a:solidFill>
              </a:rPr>
              <a:t>Moyen : 22 $</a:t>
            </a:r>
          </a:p>
          <a:p>
            <a:pPr lvl="1"/>
            <a:r>
              <a:rPr lang="fr-CA" dirty="0">
                <a:solidFill>
                  <a:srgbClr val="002060"/>
                </a:solidFill>
              </a:rPr>
              <a:t>Au 31 décembre 2022 : 25 $</a:t>
            </a:r>
          </a:p>
        </p:txBody>
      </p:sp>
      <p:sp>
        <p:nvSpPr>
          <p:cNvPr id="4" name="Espace réservé du pied de page 3">
            <a:extLst>
              <a:ext uri="{FF2B5EF4-FFF2-40B4-BE49-F238E27FC236}">
                <a16:creationId xmlns:a16="http://schemas.microsoft.com/office/drawing/2014/main" id="{2143E937-40D8-4713-6D17-3C3DEE2C13CE}"/>
              </a:ext>
            </a:extLst>
          </p:cNvPr>
          <p:cNvSpPr>
            <a:spLocks noGrp="1"/>
          </p:cNvSpPr>
          <p:nvPr>
            <p:ph type="ftr" sz="quarter" idx="11"/>
          </p:nvPr>
        </p:nvSpPr>
        <p:spPr>
          <a:xfrm>
            <a:off x="581192" y="6228488"/>
            <a:ext cx="6917210" cy="365125"/>
          </a:xfrm>
        </p:spPr>
        <p:txBody>
          <a:bodyPr/>
          <a:lstStyle/>
          <a:p>
            <a:r>
              <a:rPr lang="fr-FR" dirty="0"/>
              <a:t>Droits réservés Louise Overbeek</a:t>
            </a:r>
          </a:p>
        </p:txBody>
      </p:sp>
      <p:sp>
        <p:nvSpPr>
          <p:cNvPr id="5" name="Phylactère : pensées 4">
            <a:extLst>
              <a:ext uri="{FF2B5EF4-FFF2-40B4-BE49-F238E27FC236}">
                <a16:creationId xmlns:a16="http://schemas.microsoft.com/office/drawing/2014/main" id="{6E8FB2AA-3F77-407C-669D-9B9C065D60F6}"/>
              </a:ext>
            </a:extLst>
          </p:cNvPr>
          <p:cNvSpPr/>
          <p:nvPr/>
        </p:nvSpPr>
        <p:spPr>
          <a:xfrm>
            <a:off x="8024849" y="5320578"/>
            <a:ext cx="4001738" cy="1453964"/>
          </a:xfrm>
          <a:prstGeom prst="cloudCallout">
            <a:avLst>
              <a:gd name="adj1" fmla="val -126479"/>
              <a:gd name="adj2" fmla="val -30649"/>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t>Même exercice que RPA de base, mais avec des éléments supplémentaires</a:t>
            </a:r>
          </a:p>
        </p:txBody>
      </p:sp>
    </p:spTree>
    <p:extLst>
      <p:ext uri="{BB962C8B-B14F-4D97-AF65-F5344CB8AC3E}">
        <p14:creationId xmlns:p14="http://schemas.microsoft.com/office/powerpoint/2010/main" val="795085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par action dilué – exemple (</a:t>
            </a:r>
            <a:r>
              <a:rPr lang="fr-CA" b="1" dirty="0"/>
              <a:t>analyse </a:t>
            </a:r>
            <a:r>
              <a:rPr lang="fr-CA" dirty="0"/>
              <a:t>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a:xfrm>
            <a:off x="410912" y="2180496"/>
            <a:ext cx="11370175" cy="3678303"/>
          </a:xfrm>
        </p:spPr>
        <p:txBody>
          <a:bodyPr>
            <a:normAutofit/>
          </a:bodyPr>
          <a:lstStyle/>
          <a:p>
            <a:pPr marL="0" indent="0">
              <a:buNone/>
            </a:pPr>
            <a:r>
              <a:rPr lang="fr-FR" sz="2400" b="1" dirty="0">
                <a:solidFill>
                  <a:schemeClr val="tx1"/>
                </a:solidFill>
              </a:rPr>
              <a:t>RAPPEL : </a:t>
            </a:r>
            <a:r>
              <a:rPr lang="fr-FR" sz="2400" dirty="0">
                <a:solidFill>
                  <a:schemeClr val="tx1"/>
                </a:solidFill>
              </a:rPr>
              <a:t>le </a:t>
            </a:r>
            <a:r>
              <a:rPr lang="fr-FR" sz="2400" u="sng" dirty="0">
                <a:solidFill>
                  <a:schemeClr val="tx1"/>
                </a:solidFill>
              </a:rPr>
              <a:t>point de départ </a:t>
            </a:r>
            <a:r>
              <a:rPr lang="fr-FR" sz="2400" dirty="0">
                <a:solidFill>
                  <a:schemeClr val="tx1"/>
                </a:solidFill>
              </a:rPr>
              <a:t>du résultat par action dilué est le </a:t>
            </a:r>
            <a:r>
              <a:rPr lang="fr-FR" sz="2400" u="sng" dirty="0">
                <a:solidFill>
                  <a:schemeClr val="tx1"/>
                </a:solidFill>
              </a:rPr>
              <a:t>résultat de base par action</a:t>
            </a:r>
          </a:p>
          <a:p>
            <a:pPr marL="0" indent="0">
              <a:buNone/>
            </a:pPr>
            <a:endParaRPr lang="fr-FR" sz="1050" dirty="0">
              <a:solidFill>
                <a:schemeClr val="tx1"/>
              </a:solidFill>
            </a:endParaRPr>
          </a:p>
          <a:p>
            <a:r>
              <a:rPr lang="fr-FR" sz="2200" dirty="0">
                <a:solidFill>
                  <a:schemeClr val="tx1"/>
                </a:solidFill>
              </a:rPr>
              <a:t>Pour analyser le résultat par action dilué, il faut également analyser et calculer le résultat de base par action, donc l’analyse qui suit suppose que l’on a fait l’analyse du résultat par action (revoir au besoin les diapositives 19 à 24)</a:t>
            </a:r>
          </a:p>
        </p:txBody>
      </p:sp>
      <p:sp>
        <p:nvSpPr>
          <p:cNvPr id="4" name="Espace réservé du pied de page 3">
            <a:extLst>
              <a:ext uri="{FF2B5EF4-FFF2-40B4-BE49-F238E27FC236}">
                <a16:creationId xmlns:a16="http://schemas.microsoft.com/office/drawing/2014/main" id="{2143E937-40D8-4713-6D17-3C3DEE2C13CE}"/>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37528627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par action dilué – exemple (</a:t>
            </a:r>
            <a:r>
              <a:rPr lang="fr-CA" b="1" dirty="0"/>
              <a:t>analyse </a:t>
            </a:r>
            <a:r>
              <a:rPr lang="fr-CA" dirty="0"/>
              <a:t>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p:txBody>
          <a:bodyPr>
            <a:normAutofit/>
          </a:bodyPr>
          <a:lstStyle/>
          <a:p>
            <a:pPr marL="0" indent="0">
              <a:buNone/>
            </a:pPr>
            <a:r>
              <a:rPr lang="fr-FR" sz="2000" dirty="0"/>
              <a:t>30     Une entité doit calculer le résultat dilué par action pour le résultat net attribuable aux porteurs d'actions ordinaires de l'entité mère et, s'il est présenté, pour le résultat net des activités poursuivies attribuables à ces mêmes porteurs d'instruments de capitaux propres.</a:t>
            </a:r>
          </a:p>
          <a:p>
            <a:pPr marL="0" indent="0">
              <a:buNone/>
            </a:pPr>
            <a:r>
              <a:rPr lang="fr-FR" sz="2000" dirty="0"/>
              <a:t>31     Pour le calcul du résultat dilué par action, une entité doit ajuster le résultat net attribuable aux actionnaires ordinaires de l'entité mère ainsi que le nombre moyen pondéré d'actions en circulation, des effets de toutes les actions ordinaires potentielles dilutives.</a:t>
            </a:r>
          </a:p>
          <a:p>
            <a:pPr>
              <a:buFont typeface="Wingdings" panose="05000000000000000000" pitchFamily="2" charset="2"/>
              <a:buChar char="Ø"/>
            </a:pPr>
            <a:r>
              <a:rPr lang="fr-FR" sz="2000" dirty="0">
                <a:solidFill>
                  <a:srgbClr val="0070C0"/>
                </a:solidFill>
              </a:rPr>
              <a:t>Il faut donc ajuster le résultat net attribuable aux porteurs d’actions ordinaires d’ABC </a:t>
            </a:r>
            <a:r>
              <a:rPr lang="fr-FR" sz="2000" dirty="0" err="1">
                <a:solidFill>
                  <a:srgbClr val="0070C0"/>
                </a:solidFill>
              </a:rPr>
              <a:t>inc.</a:t>
            </a:r>
            <a:r>
              <a:rPr lang="fr-FR" sz="2000" dirty="0">
                <a:solidFill>
                  <a:srgbClr val="0070C0"/>
                </a:solidFill>
              </a:rPr>
              <a:t> (90 000) ainsi que le nombre pondéré d’actions ordinaires (1 125) des actions ordinaires potentielles dilutives.</a:t>
            </a:r>
          </a:p>
          <a:p>
            <a:pPr marL="0" indent="0">
              <a:buNone/>
            </a:pPr>
            <a:endParaRPr lang="fr-FR" dirty="0">
              <a:solidFill>
                <a:srgbClr val="0070C0"/>
              </a:solidFill>
            </a:endParaRPr>
          </a:p>
        </p:txBody>
      </p:sp>
      <p:sp>
        <p:nvSpPr>
          <p:cNvPr id="4" name="Espace réservé du pied de page 3">
            <a:extLst>
              <a:ext uri="{FF2B5EF4-FFF2-40B4-BE49-F238E27FC236}">
                <a16:creationId xmlns:a16="http://schemas.microsoft.com/office/drawing/2014/main" id="{2143E937-40D8-4713-6D17-3C3DEE2C13CE}"/>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22750055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par action dilué – exemple (</a:t>
            </a:r>
            <a:r>
              <a:rPr lang="fr-CA" b="1" dirty="0"/>
              <a:t>analyse</a:t>
            </a:r>
            <a:r>
              <a:rPr lang="fr-CA" dirty="0"/>
              <a:t> 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a:xfrm>
            <a:off x="581192" y="1852863"/>
            <a:ext cx="11233819" cy="4098947"/>
          </a:xfrm>
        </p:spPr>
        <p:txBody>
          <a:bodyPr>
            <a:normAutofit lnSpcReduction="10000"/>
          </a:bodyPr>
          <a:lstStyle/>
          <a:p>
            <a:pPr marL="0" indent="0">
              <a:buNone/>
            </a:pPr>
            <a:r>
              <a:rPr lang="fr-FR" dirty="0">
                <a:solidFill>
                  <a:schemeClr val="tx1"/>
                </a:solidFill>
              </a:rPr>
              <a:t>41     Les actions ordinaires potentielles doivent être traitées comme dilutives si, et seulement si, leur conversion en actions ordinaires avait pour effet de réduire le bénéfice par action ou d'augmenter la perte par action des activités poursuivies.</a:t>
            </a:r>
            <a:endParaRPr lang="fr-CA" dirty="0">
              <a:solidFill>
                <a:srgbClr val="0070C0"/>
              </a:solidFill>
            </a:endParaRPr>
          </a:p>
          <a:p>
            <a:pPr marL="0" indent="0">
              <a:buNone/>
            </a:pPr>
            <a:r>
              <a:rPr lang="fr-FR" dirty="0">
                <a:solidFill>
                  <a:schemeClr val="tx1"/>
                </a:solidFill>
              </a:rPr>
              <a:t>44     Lorsqu'on détermine l'effet dilutif ou </a:t>
            </a:r>
            <a:r>
              <a:rPr lang="fr-FR" dirty="0" err="1">
                <a:solidFill>
                  <a:schemeClr val="tx1"/>
                </a:solidFill>
              </a:rPr>
              <a:t>antidilutif</a:t>
            </a:r>
            <a:r>
              <a:rPr lang="fr-FR" dirty="0">
                <a:solidFill>
                  <a:schemeClr val="tx1"/>
                </a:solidFill>
              </a:rPr>
              <a:t> des actions ordinaires potentielles, on considère séparément et non globalement chaque émission ou série d'actions ordinaires potentielles. La séquence selon laquelle sont prises en considération les actions ordinaires potentielles peut affecter leur caractère dilutif ou non. Dès lors, pour maximiser la dilution du résultat de base par action, chaque émission ou série d'actions ordinaires potentielles est considérée de manière séquentielle depuis la plus dilutive jusqu'à la moins dilutive. En d'autres termes, les actions ordinaires potentielles dilutives assorties du « résultat par action supplémentaire » le plus faible participent au calcul du résultat dilué par action avant celles qui sont assorties du résultat par action supplémentaire le plus élevé. Les options et les bons de souscription sont habituellement inclus en premier parce qu'ils n'affectent pas le numérateur du calcul.</a:t>
            </a:r>
            <a:endParaRPr lang="fr-CA" dirty="0">
              <a:solidFill>
                <a:schemeClr val="tx1"/>
              </a:solidFill>
            </a:endParaRPr>
          </a:p>
          <a:p>
            <a:pPr marL="0" indent="0">
              <a:buNone/>
            </a:pPr>
            <a:r>
              <a:rPr lang="fr-CA" dirty="0">
                <a:solidFill>
                  <a:srgbClr val="0070C0"/>
                </a:solidFill>
              </a:rPr>
              <a:t>Ainsi, pour faire les ajustements au résultat net attribuable aux actionnaires et au nombre moyen pondéré d’actions ordinaires, il faut analyser </a:t>
            </a:r>
            <a:r>
              <a:rPr lang="fr-CA" u="sng" dirty="0">
                <a:solidFill>
                  <a:srgbClr val="0070C0"/>
                </a:solidFill>
              </a:rPr>
              <a:t>séparément</a:t>
            </a:r>
            <a:r>
              <a:rPr lang="fr-CA" dirty="0">
                <a:solidFill>
                  <a:srgbClr val="0070C0"/>
                </a:solidFill>
              </a:rPr>
              <a:t> l’effet de conversion des options d’achat d’actions et de la dette. Cela nous permettra d’identifier les éléments qui ont un effet dilutif seulement, et de les intégrer en passant du plus dilutif, jusqu’au moins dilutif.</a:t>
            </a:r>
          </a:p>
        </p:txBody>
      </p:sp>
      <p:sp>
        <p:nvSpPr>
          <p:cNvPr id="4" name="Espace réservé du pied de page 3">
            <a:extLst>
              <a:ext uri="{FF2B5EF4-FFF2-40B4-BE49-F238E27FC236}">
                <a16:creationId xmlns:a16="http://schemas.microsoft.com/office/drawing/2014/main" id="{2143E937-40D8-4713-6D17-3C3DEE2C13CE}"/>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23789427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par action dilué – exemple (</a:t>
            </a:r>
            <a:r>
              <a:rPr lang="fr-CA" b="1" dirty="0"/>
              <a:t>analyse</a:t>
            </a:r>
            <a:r>
              <a:rPr lang="fr-CA" dirty="0"/>
              <a:t> 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a:xfrm>
            <a:off x="372979" y="1869440"/>
            <a:ext cx="11718758" cy="4988560"/>
          </a:xfrm>
        </p:spPr>
        <p:txBody>
          <a:bodyPr>
            <a:normAutofit fontScale="92500" lnSpcReduction="20000"/>
          </a:bodyPr>
          <a:lstStyle/>
          <a:p>
            <a:pPr marL="0" indent="0">
              <a:buNone/>
            </a:pPr>
            <a:r>
              <a:rPr lang="fr-FR" u="sng" dirty="0"/>
              <a:t>Options d’achat d’actions</a:t>
            </a:r>
          </a:p>
          <a:p>
            <a:pPr marL="0" indent="0">
              <a:buNone/>
            </a:pPr>
            <a:r>
              <a:rPr lang="fr-FR" dirty="0"/>
              <a:t>45     Pour calculer son résultat dilué par action, une entité doit supposer que les options dilutives et les bons de souscription dilutifs ont été exercés. Le produit supposé de ces instruments doit être considéré comme ayant été perçu lors de l'émission d'actions ordinaires au cours moyen de marché des actions ordinaires pendant la période. La différence entre le nombre d'actions ordinaires émises et le nombre d'actions ordinaires qui auraient été émises au cours moyen du marché d'actions ordinaires pendant la période doit être traitée comme une émission d'actions ordinaires sans contrepartie.</a:t>
            </a:r>
          </a:p>
          <a:p>
            <a:pPr marL="0" indent="0">
              <a:buNone/>
            </a:pPr>
            <a:r>
              <a:rPr lang="fr-FR" dirty="0"/>
              <a:t>46     Les options et les bons de souscription ont un effet dilutif lorsque leur conséquence serait l'émission d'actions ordinaires à un cours inférieur au cours moyen de marché des actions ordinaires pendant la période. Le montant de la dilution est le cours moyen de marché d'actions ordinaires pendant la période, diminué du prix d'émission. </a:t>
            </a:r>
          </a:p>
          <a:p>
            <a:pPr marL="0" indent="0">
              <a:buNone/>
            </a:pPr>
            <a:r>
              <a:rPr lang="fr-FR" dirty="0">
                <a:solidFill>
                  <a:srgbClr val="0070C0"/>
                </a:solidFill>
              </a:rPr>
              <a:t>Les seules options avec effet dilutif sont les 100 options qui ont un prix d’exercice de 20 $ (car inférieur au cours moyen).</a:t>
            </a:r>
          </a:p>
          <a:p>
            <a:r>
              <a:rPr lang="fr-FR" dirty="0">
                <a:solidFill>
                  <a:srgbClr val="0070C0"/>
                </a:solidFill>
              </a:rPr>
              <a:t>Produit d’émission = 10 $/action x 100 options = 1 000 $</a:t>
            </a:r>
          </a:p>
          <a:p>
            <a:r>
              <a:rPr lang="fr-FR" dirty="0">
                <a:solidFill>
                  <a:srgbClr val="0070C0"/>
                </a:solidFill>
              </a:rPr>
              <a:t>Nombre d’actions ordinaires rachetées = 1 000 $ / 22 $/action = 45 actions rachetées (arrondissement à l’unité inférieur)</a:t>
            </a:r>
          </a:p>
          <a:p>
            <a:r>
              <a:rPr lang="fr-FR" dirty="0">
                <a:solidFill>
                  <a:srgbClr val="0070C0"/>
                </a:solidFill>
              </a:rPr>
              <a:t>Nombre d’actions ordinaires supplémentaires = 100 actions (exercice des options) – 45 actions rachetées = 55 actions au net</a:t>
            </a:r>
          </a:p>
          <a:p>
            <a:pPr marL="0" indent="0">
              <a:buNone/>
            </a:pPr>
            <a:r>
              <a:rPr lang="fr-FR" dirty="0">
                <a:solidFill>
                  <a:srgbClr val="0070C0"/>
                </a:solidFill>
              </a:rPr>
              <a:t>Donc : </a:t>
            </a:r>
          </a:p>
          <a:p>
            <a:r>
              <a:rPr lang="fr-FR" dirty="0">
                <a:solidFill>
                  <a:srgbClr val="0070C0"/>
                </a:solidFill>
              </a:rPr>
              <a:t>effet sur le résultat net attribuable aux actionnaires ordinaires : 0$</a:t>
            </a:r>
          </a:p>
          <a:p>
            <a:r>
              <a:rPr lang="fr-FR" dirty="0">
                <a:solidFill>
                  <a:srgbClr val="0070C0"/>
                </a:solidFill>
              </a:rPr>
              <a:t>effet sur le nombre moyen pondéré d’actions ordinaires : 55 actions ordinaires potentielles supplémentaires au 1</a:t>
            </a:r>
            <a:r>
              <a:rPr lang="fr-FR" baseline="30000" dirty="0">
                <a:solidFill>
                  <a:srgbClr val="0070C0"/>
                </a:solidFill>
              </a:rPr>
              <a:t>er</a:t>
            </a:r>
            <a:r>
              <a:rPr lang="fr-FR" dirty="0">
                <a:solidFill>
                  <a:srgbClr val="0070C0"/>
                </a:solidFill>
              </a:rPr>
              <a:t> janvier 2022</a:t>
            </a:r>
          </a:p>
          <a:p>
            <a:pPr marL="0" indent="0">
              <a:buNone/>
            </a:pPr>
            <a:endParaRPr lang="fr-FR" dirty="0">
              <a:solidFill>
                <a:srgbClr val="0070C0"/>
              </a:solidFill>
            </a:endParaRPr>
          </a:p>
        </p:txBody>
      </p:sp>
    </p:spTree>
    <p:extLst>
      <p:ext uri="{BB962C8B-B14F-4D97-AF65-F5344CB8AC3E}">
        <p14:creationId xmlns:p14="http://schemas.microsoft.com/office/powerpoint/2010/main" val="14170939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par action dilué – exemple (</a:t>
            </a:r>
            <a:r>
              <a:rPr lang="fr-CA" b="1" dirty="0"/>
              <a:t>analyse</a:t>
            </a:r>
            <a:r>
              <a:rPr lang="fr-CA" dirty="0"/>
              <a:t> 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a:xfrm>
            <a:off x="372980" y="1869440"/>
            <a:ext cx="11550316" cy="4988560"/>
          </a:xfrm>
        </p:spPr>
        <p:txBody>
          <a:bodyPr>
            <a:normAutofit fontScale="92500" lnSpcReduction="20000"/>
          </a:bodyPr>
          <a:lstStyle/>
          <a:p>
            <a:pPr marL="0" indent="0">
              <a:buNone/>
            </a:pPr>
            <a:r>
              <a:rPr lang="fr-FR" u="sng" dirty="0"/>
              <a:t>Dette convertible en actions ordinaires</a:t>
            </a:r>
          </a:p>
          <a:p>
            <a:pPr marL="0" indent="0">
              <a:buNone/>
            </a:pPr>
            <a:r>
              <a:rPr lang="fr-FR" dirty="0"/>
              <a:t>33     Pour le calcul du résultat dilué par action, une entité doit ajuster le résultat net attribuable aux actionnaires ordinaires de l'entité mère, calculé conformément au paragraphe 12, à hauteur de l'effet après impôt :</a:t>
            </a:r>
          </a:p>
          <a:p>
            <a:pPr marL="0" indent="0">
              <a:buNone/>
            </a:pPr>
            <a:r>
              <a:rPr lang="fr-FR" dirty="0"/>
              <a:t>(b)     des intérêts comptabilisés au cours de la période au titre des actions ordinaires potentielles dilutives ; et</a:t>
            </a:r>
          </a:p>
          <a:p>
            <a:pPr marL="0" indent="0">
              <a:buNone/>
            </a:pPr>
            <a:r>
              <a:rPr lang="fr-FR" dirty="0">
                <a:solidFill>
                  <a:srgbClr val="0070C0"/>
                </a:solidFill>
              </a:rPr>
              <a:t>Ainsi, les intérêts sur la dette n’auraient pas été versés si elle avait été convertie et n’avait donc pas été une dette durant l’année (100 000 $ x 10% x (1 – 30%) = 7 000 $)</a:t>
            </a:r>
          </a:p>
          <a:p>
            <a:pPr marL="0" indent="0">
              <a:buNone/>
            </a:pPr>
            <a:endParaRPr lang="fr-CA" sz="600" dirty="0"/>
          </a:p>
          <a:p>
            <a:pPr marL="0" indent="0">
              <a:buNone/>
            </a:pPr>
            <a:r>
              <a:rPr lang="fr-FR" dirty="0"/>
              <a:t>36     Pour le calcul du résultat dilué par action, le nombre d'actions ordinaires doit être le nombre moyen pondéré d'actions ordinaires calculé selon les paragraphes 19 et 26, majoré du nombre moyen pondéré d'actions ordinaires qui seraient émises lors de la conversion en actions ordinaires de toutes les actions ordinaires potentielles dilutives. Il faut considérer que les actions ordinaires potentielles dilutives ont été converties en actions ordinaires</a:t>
            </a:r>
            <a:r>
              <a:rPr lang="fr-FR" b="1" dirty="0"/>
              <a:t> au début de la période </a:t>
            </a:r>
            <a:r>
              <a:rPr lang="fr-FR" dirty="0"/>
              <a:t>ou à la date d'émission des actions ordinaires potentielles si elle est ultérieure.</a:t>
            </a:r>
          </a:p>
          <a:p>
            <a:pPr marL="0" indent="0">
              <a:buNone/>
            </a:pPr>
            <a:r>
              <a:rPr lang="fr-FR" dirty="0">
                <a:solidFill>
                  <a:srgbClr val="0070C0"/>
                </a:solidFill>
              </a:rPr>
              <a:t>Il y a 100 actions ordinaires potentielles à prendre en compte au 1</a:t>
            </a:r>
            <a:r>
              <a:rPr lang="fr-FR" baseline="30000" dirty="0">
                <a:solidFill>
                  <a:srgbClr val="0070C0"/>
                </a:solidFill>
              </a:rPr>
              <a:t>er</a:t>
            </a:r>
            <a:r>
              <a:rPr lang="fr-FR" dirty="0">
                <a:solidFill>
                  <a:srgbClr val="0070C0"/>
                </a:solidFill>
              </a:rPr>
              <a:t> janvier 2022 (50 000 $ / 1000 $ x 2 =100).</a:t>
            </a:r>
          </a:p>
          <a:p>
            <a:pPr marL="0" indent="0">
              <a:buNone/>
            </a:pPr>
            <a:r>
              <a:rPr lang="fr-FR" dirty="0">
                <a:solidFill>
                  <a:srgbClr val="0070C0"/>
                </a:solidFill>
              </a:rPr>
              <a:t>Donc : </a:t>
            </a:r>
          </a:p>
          <a:p>
            <a:r>
              <a:rPr lang="fr-FR" dirty="0">
                <a:solidFill>
                  <a:srgbClr val="0070C0"/>
                </a:solidFill>
              </a:rPr>
              <a:t>effet sur le résultat net attribuable aux actionnaires ordinaires : 7 000$</a:t>
            </a:r>
          </a:p>
          <a:p>
            <a:r>
              <a:rPr lang="fr-FR" dirty="0">
                <a:solidFill>
                  <a:srgbClr val="0070C0"/>
                </a:solidFill>
              </a:rPr>
              <a:t>effet sur le nombre moyen pondéré d’actions ordinaires : 100 actions ordinaires potentielles supplémentaires au 1</a:t>
            </a:r>
            <a:r>
              <a:rPr lang="fr-FR" baseline="30000" dirty="0">
                <a:solidFill>
                  <a:srgbClr val="0070C0"/>
                </a:solidFill>
              </a:rPr>
              <a:t>er</a:t>
            </a:r>
            <a:r>
              <a:rPr lang="fr-FR" dirty="0">
                <a:solidFill>
                  <a:srgbClr val="0070C0"/>
                </a:solidFill>
              </a:rPr>
              <a:t> janvier 2022</a:t>
            </a:r>
          </a:p>
          <a:p>
            <a:pPr marL="0" indent="0">
              <a:buNone/>
            </a:pPr>
            <a:endParaRPr lang="fr-CA" dirty="0"/>
          </a:p>
        </p:txBody>
      </p:sp>
    </p:spTree>
    <p:extLst>
      <p:ext uri="{BB962C8B-B14F-4D97-AF65-F5344CB8AC3E}">
        <p14:creationId xmlns:p14="http://schemas.microsoft.com/office/powerpoint/2010/main" val="19496254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par action dilué – exemple (</a:t>
            </a:r>
            <a:r>
              <a:rPr lang="fr-CA" b="1" dirty="0"/>
              <a:t>analyse</a:t>
            </a:r>
            <a:r>
              <a:rPr lang="fr-CA" dirty="0"/>
              <a:t> 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a:xfrm>
            <a:off x="372980" y="1869440"/>
            <a:ext cx="11550316" cy="4988560"/>
          </a:xfrm>
        </p:spPr>
        <p:txBody>
          <a:bodyPr>
            <a:normAutofit/>
          </a:bodyPr>
          <a:lstStyle/>
          <a:p>
            <a:pPr marL="0" indent="0">
              <a:buNone/>
            </a:pPr>
            <a:r>
              <a:rPr lang="fr-FR" sz="2000" u="sng" dirty="0"/>
              <a:t>Effet dilutif</a:t>
            </a:r>
          </a:p>
          <a:p>
            <a:pPr marL="0" indent="0">
              <a:buNone/>
            </a:pPr>
            <a:r>
              <a:rPr lang="fr-FR" sz="2000" dirty="0"/>
              <a:t>Options : </a:t>
            </a:r>
          </a:p>
          <a:p>
            <a:r>
              <a:rPr lang="fr-FR" sz="2000" dirty="0"/>
              <a:t>Effet marginal sur le RPA dilué = 0 $ / 55 actions ordinaires = </a:t>
            </a:r>
            <a:r>
              <a:rPr lang="fr-FR" sz="2000" b="1" dirty="0"/>
              <a:t>0 $/AO potentielle </a:t>
            </a:r>
            <a:r>
              <a:rPr lang="fr-FR" sz="2000" dirty="0"/>
              <a:t>versus </a:t>
            </a:r>
            <a:r>
              <a:rPr lang="fr-FR" sz="2000" b="1" dirty="0"/>
              <a:t>RPA de 70,59 $/AO</a:t>
            </a:r>
            <a:r>
              <a:rPr lang="fr-FR" sz="2000" dirty="0"/>
              <a:t> donc DILUTIF</a:t>
            </a:r>
          </a:p>
          <a:p>
            <a:pPr marL="0" indent="0">
              <a:buNone/>
            </a:pPr>
            <a:endParaRPr lang="fr-FR" sz="600" dirty="0"/>
          </a:p>
          <a:p>
            <a:pPr marL="0" indent="0">
              <a:buNone/>
            </a:pPr>
            <a:r>
              <a:rPr lang="fr-FR" sz="2000" dirty="0"/>
              <a:t>Dette :</a:t>
            </a:r>
          </a:p>
          <a:p>
            <a:r>
              <a:rPr lang="fr-FR" sz="2000" dirty="0"/>
              <a:t>Effet marginal sur le RPA dilué = 7 000 $ / 100 actions ordinaires = </a:t>
            </a:r>
            <a:r>
              <a:rPr lang="fr-FR" sz="2000" b="1" dirty="0"/>
              <a:t>70,00 $/AO potentielle</a:t>
            </a:r>
            <a:r>
              <a:rPr lang="fr-FR" sz="2000" dirty="0"/>
              <a:t> versus </a:t>
            </a:r>
            <a:r>
              <a:rPr lang="fr-FR" sz="2000" b="1" dirty="0"/>
              <a:t>RPA de 70,59 $/AO</a:t>
            </a:r>
            <a:r>
              <a:rPr lang="fr-FR" sz="2000" dirty="0"/>
              <a:t> donc DILUTIF</a:t>
            </a:r>
          </a:p>
          <a:p>
            <a:pPr marL="0" indent="0">
              <a:buNone/>
            </a:pPr>
            <a:endParaRPr lang="fr-FR" sz="2000" dirty="0"/>
          </a:p>
          <a:p>
            <a:pPr marL="0" indent="0">
              <a:buNone/>
            </a:pPr>
            <a:r>
              <a:rPr lang="fr-FR" sz="2000" dirty="0"/>
              <a:t>On intégrera d’abord les options au calcul du RPA dilué, car c’est l’effet le plus dilutif (</a:t>
            </a:r>
            <a:r>
              <a:rPr lang="fr-FR" sz="2000" i="1" dirty="0"/>
              <a:t>le plus petit</a:t>
            </a:r>
            <a:r>
              <a:rPr lang="fr-FR" sz="2000" dirty="0"/>
              <a:t>). </a:t>
            </a:r>
          </a:p>
          <a:p>
            <a:pPr marL="0" indent="0">
              <a:buNone/>
            </a:pPr>
            <a:r>
              <a:rPr lang="fr-FR" sz="2000" dirty="0"/>
              <a:t>Ensuite, il faudra comparer </a:t>
            </a:r>
            <a:r>
              <a:rPr lang="fr-FR" sz="2000" u="sng" dirty="0"/>
              <a:t>le RPA dilué qui prend en compte les options</a:t>
            </a:r>
            <a:r>
              <a:rPr lang="fr-FR" sz="2000" dirty="0"/>
              <a:t> </a:t>
            </a:r>
            <a:r>
              <a:rPr lang="fr-FR" sz="2000" u="sng" dirty="0"/>
              <a:t>avec l’effet de la dette sur le RPA dilué</a:t>
            </a:r>
            <a:r>
              <a:rPr lang="fr-FR" sz="2000" dirty="0"/>
              <a:t> pour déterminer si la dette aura un effet dilutif ou </a:t>
            </a:r>
            <a:r>
              <a:rPr lang="fr-FR" sz="2000" dirty="0" err="1"/>
              <a:t>antidilutif</a:t>
            </a:r>
            <a:r>
              <a:rPr lang="fr-FR" sz="2000" dirty="0"/>
              <a:t>.</a:t>
            </a:r>
          </a:p>
        </p:txBody>
      </p:sp>
    </p:spTree>
    <p:extLst>
      <p:ext uri="{BB962C8B-B14F-4D97-AF65-F5344CB8AC3E}">
        <p14:creationId xmlns:p14="http://schemas.microsoft.com/office/powerpoint/2010/main" val="8929617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673E6-4CCB-7413-0365-B7158F738697}"/>
              </a:ext>
            </a:extLst>
          </p:cNvPr>
          <p:cNvSpPr>
            <a:spLocks noGrp="1"/>
          </p:cNvSpPr>
          <p:nvPr>
            <p:ph type="title"/>
          </p:nvPr>
        </p:nvSpPr>
        <p:spPr/>
        <p:txBody>
          <a:bodyPr/>
          <a:lstStyle/>
          <a:p>
            <a:r>
              <a:rPr lang="fr-CA" dirty="0"/>
              <a:t>Résultat par action dilué – exemple (</a:t>
            </a:r>
            <a:r>
              <a:rPr lang="fr-CA" b="1" dirty="0"/>
              <a:t>analyse</a:t>
            </a:r>
            <a:r>
              <a:rPr lang="fr-CA" dirty="0"/>
              <a:t> et calcul)</a:t>
            </a:r>
          </a:p>
        </p:txBody>
      </p:sp>
      <p:sp>
        <p:nvSpPr>
          <p:cNvPr id="3" name="Espace réservé du contenu 2">
            <a:extLst>
              <a:ext uri="{FF2B5EF4-FFF2-40B4-BE49-F238E27FC236}">
                <a16:creationId xmlns:a16="http://schemas.microsoft.com/office/drawing/2014/main" id="{0AD12E37-093D-B06B-6303-16E6E8866DF2}"/>
              </a:ext>
            </a:extLst>
          </p:cNvPr>
          <p:cNvSpPr>
            <a:spLocks noGrp="1"/>
          </p:cNvSpPr>
          <p:nvPr>
            <p:ph idx="1"/>
          </p:nvPr>
        </p:nvSpPr>
        <p:spPr>
          <a:xfrm>
            <a:off x="372980" y="1869440"/>
            <a:ext cx="11550316" cy="4988560"/>
          </a:xfrm>
        </p:spPr>
        <p:txBody>
          <a:bodyPr>
            <a:normAutofit/>
          </a:bodyPr>
          <a:lstStyle/>
          <a:p>
            <a:pPr marL="0" indent="0">
              <a:buNone/>
            </a:pPr>
            <a:r>
              <a:rPr lang="fr-FR" sz="2000" u="sng" dirty="0"/>
              <a:t>Calcul du RPA dilué</a:t>
            </a:r>
          </a:p>
          <a:p>
            <a:pPr marL="0" indent="0">
              <a:buNone/>
            </a:pPr>
            <a:r>
              <a:rPr lang="fr-FR" sz="2000" dirty="0"/>
              <a:t>RPA dilué intégrant l’effet des options :</a:t>
            </a:r>
          </a:p>
          <a:p>
            <a:pPr marL="0" indent="0">
              <a:buNone/>
            </a:pPr>
            <a:r>
              <a:rPr lang="fr-FR" sz="2000" dirty="0"/>
              <a:t>RPA = (90 000 + 0) / (1 275 + 55) = 67, 67 $</a:t>
            </a:r>
          </a:p>
          <a:p>
            <a:pPr marL="0" indent="0">
              <a:buNone/>
            </a:pPr>
            <a:endParaRPr lang="fr-FR" sz="1050" dirty="0"/>
          </a:p>
          <a:p>
            <a:pPr marL="0" indent="0">
              <a:buNone/>
            </a:pPr>
            <a:r>
              <a:rPr lang="fr-FR" sz="2000" dirty="0"/>
              <a:t>Étant donné que le RPA dilué intégrant les options est inférieur à l’effet de la dette convertible (</a:t>
            </a:r>
            <a:r>
              <a:rPr lang="fr-FR" sz="2000" b="1" dirty="0"/>
              <a:t>67,67 $ &lt; 70,00 $). </a:t>
            </a:r>
            <a:r>
              <a:rPr lang="fr-FR" sz="2000" dirty="0"/>
              <a:t>Il faut </a:t>
            </a:r>
            <a:r>
              <a:rPr lang="fr-FR" sz="2000" u="sng" dirty="0"/>
              <a:t>exclure</a:t>
            </a:r>
            <a:r>
              <a:rPr lang="fr-FR" sz="2000" dirty="0"/>
              <a:t> la dette convertible du calcul du RPA dilué.  Ainsi, le RPA dilué d’ABC </a:t>
            </a:r>
            <a:r>
              <a:rPr lang="fr-FR" sz="2000" dirty="0" err="1"/>
              <a:t>inc.</a:t>
            </a:r>
            <a:r>
              <a:rPr lang="fr-FR" sz="2000" dirty="0"/>
              <a:t> est simplement 67,67 $. Il faut ajouter une note pour les éléments dilutifs exclus du calcul.</a:t>
            </a:r>
          </a:p>
          <a:p>
            <a:pPr marL="0" indent="0">
              <a:buNone/>
            </a:pPr>
            <a:endParaRPr lang="fr-FR" sz="2000" dirty="0"/>
          </a:p>
          <a:p>
            <a:pPr marL="0" indent="0">
              <a:buNone/>
            </a:pPr>
            <a:r>
              <a:rPr lang="fr-FR" sz="2000" i="1" dirty="0"/>
              <a:t>Si nous l’incluions dans le calcul, le RPA dilué </a:t>
            </a:r>
            <a:r>
              <a:rPr lang="fr-FR" sz="2000" i="1" u="sng" dirty="0"/>
              <a:t>augmenterait</a:t>
            </a:r>
            <a:r>
              <a:rPr lang="fr-FR" sz="2000" i="1" dirty="0"/>
              <a:t> par rapport au calcul précédent :</a:t>
            </a:r>
          </a:p>
          <a:p>
            <a:pPr marL="0" indent="0">
              <a:buNone/>
            </a:pPr>
            <a:r>
              <a:rPr lang="fr-FR" sz="2000" i="1" dirty="0"/>
              <a:t>RPA = (90 000 + 0 + 7 000) / (1 275 + 55 + 100) = </a:t>
            </a:r>
            <a:r>
              <a:rPr lang="fr-FR" sz="2000" b="1" i="1" dirty="0"/>
              <a:t>67,83 $</a:t>
            </a:r>
          </a:p>
          <a:p>
            <a:pPr marL="0" indent="0">
              <a:buNone/>
            </a:pPr>
            <a:r>
              <a:rPr lang="fr-FR" sz="2000" i="1" dirty="0"/>
              <a:t>Ainsi, nous voyons bien que le RPA dilué augmente si nous tenons compte de la dette convertible, ce qui est contraire au principe (pire scénario).</a:t>
            </a:r>
          </a:p>
        </p:txBody>
      </p:sp>
    </p:spTree>
    <p:extLst>
      <p:ext uri="{BB962C8B-B14F-4D97-AF65-F5344CB8AC3E}">
        <p14:creationId xmlns:p14="http://schemas.microsoft.com/office/powerpoint/2010/main" val="30097776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41156A-0890-7BB4-4154-1E68CD6E9242}"/>
              </a:ext>
            </a:extLst>
          </p:cNvPr>
          <p:cNvSpPr>
            <a:spLocks noGrp="1"/>
          </p:cNvSpPr>
          <p:nvPr>
            <p:ph type="title"/>
          </p:nvPr>
        </p:nvSpPr>
        <p:spPr/>
        <p:txBody>
          <a:bodyPr/>
          <a:lstStyle/>
          <a:p>
            <a:r>
              <a:rPr lang="fr-CA" b="1" dirty="0"/>
              <a:t>Activités abandonnées</a:t>
            </a:r>
          </a:p>
        </p:txBody>
      </p:sp>
      <p:sp>
        <p:nvSpPr>
          <p:cNvPr id="3" name="Espace réservé du contenu 2">
            <a:extLst>
              <a:ext uri="{FF2B5EF4-FFF2-40B4-BE49-F238E27FC236}">
                <a16:creationId xmlns:a16="http://schemas.microsoft.com/office/drawing/2014/main" id="{7673E712-D05D-2487-40C6-0C165DDF121A}"/>
              </a:ext>
            </a:extLst>
          </p:cNvPr>
          <p:cNvSpPr>
            <a:spLocks noGrp="1"/>
          </p:cNvSpPr>
          <p:nvPr>
            <p:ph idx="1"/>
          </p:nvPr>
        </p:nvSpPr>
        <p:spPr/>
        <p:txBody>
          <a:bodyPr>
            <a:normAutofit/>
          </a:bodyPr>
          <a:lstStyle/>
          <a:p>
            <a:r>
              <a:rPr lang="fr-CA" sz="2400" dirty="0"/>
              <a:t>Impact d’activités abandonnées sur le résultat par action </a:t>
            </a:r>
            <a:r>
              <a:rPr lang="fr-CA" sz="2400" u="sng" dirty="0"/>
              <a:t>de base</a:t>
            </a:r>
            <a:r>
              <a:rPr lang="fr-CA" sz="2400" dirty="0"/>
              <a:t> </a:t>
            </a:r>
            <a:r>
              <a:rPr lang="fr-CA" sz="2400" b="1" dirty="0"/>
              <a:t>et</a:t>
            </a:r>
            <a:r>
              <a:rPr lang="fr-CA" sz="2400" dirty="0"/>
              <a:t> </a:t>
            </a:r>
            <a:r>
              <a:rPr lang="fr-CA" sz="2400" u="sng" dirty="0"/>
              <a:t>dilué</a:t>
            </a:r>
          </a:p>
          <a:p>
            <a:pPr lvl="1"/>
            <a:r>
              <a:rPr lang="fr-CA" sz="2000" dirty="0"/>
              <a:t>À présenter également avant activités abandonnées (« activités poursuivies »)</a:t>
            </a:r>
          </a:p>
          <a:p>
            <a:pPr lvl="1"/>
            <a:r>
              <a:rPr lang="fr-CA" sz="2000" dirty="0"/>
              <a:t>Conserver la présentation au résultat net (en incluant les activités abandonnées)</a:t>
            </a:r>
          </a:p>
          <a:p>
            <a:pPr lvl="1"/>
            <a:r>
              <a:rPr lang="fr-CA" sz="2000" dirty="0"/>
              <a:t>Pour la période comprenant les activités abandonnées et toutes les périodes comparatives</a:t>
            </a:r>
          </a:p>
        </p:txBody>
      </p:sp>
      <p:sp>
        <p:nvSpPr>
          <p:cNvPr id="4" name="Espace réservé du pied de page 3">
            <a:extLst>
              <a:ext uri="{FF2B5EF4-FFF2-40B4-BE49-F238E27FC236}">
                <a16:creationId xmlns:a16="http://schemas.microsoft.com/office/drawing/2014/main" id="{8ABC7360-7823-B142-D60A-51CFB972C93D}"/>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3901618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FR" b="1">
                <a:solidFill>
                  <a:schemeClr val="accent2"/>
                </a:solidFill>
              </a:rPr>
              <a:t>Activités abandonnées</a:t>
            </a:r>
            <a:endParaRPr lang="fr-FR">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203159"/>
            <a:ext cx="11029615" cy="5197640"/>
          </a:xfrm>
        </p:spPr>
        <p:txBody>
          <a:bodyPr>
            <a:normAutofit/>
          </a:bodyPr>
          <a:lstStyle/>
          <a:p>
            <a:pPr marL="0" indent="0">
              <a:lnSpc>
                <a:spcPct val="90000"/>
              </a:lnSpc>
              <a:buNone/>
            </a:pPr>
            <a:r>
              <a:rPr lang="fr-CA" sz="2000" b="1" dirty="0">
                <a:solidFill>
                  <a:schemeClr val="accent2">
                    <a:lumMod val="50000"/>
                  </a:schemeClr>
                </a:solidFill>
              </a:rPr>
              <a:t>66     Une entité doit présenter dans l'état du résultat global le résultat de base et le résultat dilué par action pour le résultat net des activités poursuivies attribuables aux porteurs d'actions ordinaires de l'entité mère et pour le résultat net attribuable aux porteurs d'actions ordinaires de l'entité mère pour la période, pour chaque catégorie d'actions ordinaires assortie d'un droit différent à une quote-part du bénéfice pour la période. Une entité doit présenter les résultats de base par action et dilué par action avec la même importance pour toutes les périodes présentées.</a:t>
            </a:r>
          </a:p>
          <a:p>
            <a:pPr marL="0" indent="0">
              <a:lnSpc>
                <a:spcPct val="90000"/>
              </a:lnSpc>
              <a:buNone/>
            </a:pPr>
            <a:r>
              <a:rPr lang="fr-CA" sz="2000" dirty="0">
                <a:solidFill>
                  <a:schemeClr val="accent2">
                    <a:lumMod val="50000"/>
                  </a:schemeClr>
                </a:solidFill>
              </a:rPr>
              <a:t>67     Le résultat par action est présenté pour chaque période au titre de laquelle un état du résultat global est présenté. Si le résultat dilué par action est présenté pour au moins une période, il doit être présenté pour toutes les périodes présentées, même s'il est égal au résultat de base par action. Si le résultat de base et le résultat dilué par action sont égaux, il est possible de les présenter tous les deux en une seule ligne de l'état du résultat global.</a:t>
            </a:r>
          </a:p>
          <a:p>
            <a:pPr marL="0" indent="0">
              <a:lnSpc>
                <a:spcPct val="90000"/>
              </a:lnSpc>
              <a:buNone/>
            </a:pPr>
            <a:r>
              <a:rPr lang="fr-CA" sz="2000" b="1" dirty="0">
                <a:solidFill>
                  <a:schemeClr val="accent2">
                    <a:lumMod val="50000"/>
                  </a:schemeClr>
                </a:solidFill>
              </a:rPr>
              <a:t>68     Une entité qui présente une activité abandonnée doit indiquer le résultat de base et le résultat dilué par action pour l'activité abandonnée soit dans l'état du résultat global, soit dans les notes.</a:t>
            </a:r>
          </a:p>
          <a:p>
            <a:pPr marL="0" indent="0">
              <a:lnSpc>
                <a:spcPct val="90000"/>
              </a:lnSpc>
              <a:buNone/>
            </a:pPr>
            <a:r>
              <a:rPr lang="fr-CA" sz="2000" b="1" dirty="0">
                <a:solidFill>
                  <a:schemeClr val="accent2">
                    <a:lumMod val="50000"/>
                  </a:schemeClr>
                </a:solidFill>
              </a:rPr>
              <a:t>69     Une entité doit présenter le résultat de base par action et le résultat dilué par action, même si les montants indiqués sont négatifs (c'est-à-dire s'il s'agit d'une perte par action).</a:t>
            </a:r>
            <a:endParaRPr lang="fr-CA" sz="2000"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7B5C826B-95C6-4F3E-B32B-6D925F9DE3A9}"/>
              </a:ext>
            </a:extLst>
          </p:cNvPr>
          <p:cNvSpPr>
            <a:spLocks noGrp="1"/>
          </p:cNvSpPr>
          <p:nvPr>
            <p:ph type="ftr" sz="quarter" idx="11"/>
          </p:nvPr>
        </p:nvSpPr>
        <p:spPr>
          <a:xfrm>
            <a:off x="608931" y="6400799"/>
            <a:ext cx="6917210" cy="365125"/>
          </a:xfrm>
        </p:spPr>
        <p:txBody>
          <a:bodyPr>
            <a:normAutofit/>
          </a:bodyPr>
          <a:lstStyle/>
          <a:p>
            <a:pPr>
              <a:spcAft>
                <a:spcPts val="600"/>
              </a:spcAft>
            </a:pPr>
            <a:r>
              <a:rPr lang="fr-FR" dirty="0"/>
              <a:t>Droits réservés Louise Overbeek</a:t>
            </a:r>
          </a:p>
        </p:txBody>
      </p:sp>
    </p:spTree>
    <p:extLst>
      <p:ext uri="{BB962C8B-B14F-4D97-AF65-F5344CB8AC3E}">
        <p14:creationId xmlns:p14="http://schemas.microsoft.com/office/powerpoint/2010/main" val="16584085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CD0851-FA04-4FFD-A9C2-D5CEB33A04BC}"/>
              </a:ext>
            </a:extLst>
          </p:cNvPr>
          <p:cNvSpPr>
            <a:spLocks noGrp="1"/>
          </p:cNvSpPr>
          <p:nvPr>
            <p:ph type="title"/>
          </p:nvPr>
        </p:nvSpPr>
        <p:spPr>
          <a:xfrm>
            <a:off x="581192" y="641653"/>
            <a:ext cx="11029616" cy="1095560"/>
          </a:xfrm>
        </p:spPr>
        <p:txBody>
          <a:bodyPr anchor="t">
            <a:normAutofit/>
          </a:bodyPr>
          <a:lstStyle/>
          <a:p>
            <a:r>
              <a:rPr lang="fr-FR" b="1" dirty="0">
                <a:solidFill>
                  <a:schemeClr val="accent2"/>
                </a:solidFill>
              </a:rPr>
              <a:t>Activités abandonnées</a:t>
            </a:r>
            <a:endParaRPr lang="fr-FR" dirty="0">
              <a:solidFill>
                <a:schemeClr val="accent2"/>
              </a:solidFill>
            </a:endParaRPr>
          </a:p>
        </p:txBody>
      </p:sp>
      <p:sp>
        <p:nvSpPr>
          <p:cNvPr id="12" name="Rectangle 11">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3" name="Espace réservé du contenu 2">
            <a:extLst>
              <a:ext uri="{FF2B5EF4-FFF2-40B4-BE49-F238E27FC236}">
                <a16:creationId xmlns:a16="http://schemas.microsoft.com/office/drawing/2014/main" id="{2FA89FFE-5FE9-405E-9A04-5B88BCF31E62}"/>
              </a:ext>
            </a:extLst>
          </p:cNvPr>
          <p:cNvSpPr>
            <a:spLocks noGrp="1"/>
          </p:cNvSpPr>
          <p:nvPr>
            <p:ph idx="1"/>
          </p:nvPr>
        </p:nvSpPr>
        <p:spPr>
          <a:xfrm>
            <a:off x="581192" y="1407695"/>
            <a:ext cx="11029615" cy="4808652"/>
          </a:xfrm>
        </p:spPr>
        <p:txBody>
          <a:bodyPr>
            <a:normAutofit lnSpcReduction="10000"/>
          </a:bodyPr>
          <a:lstStyle/>
          <a:p>
            <a:pPr marL="0" indent="0">
              <a:lnSpc>
                <a:spcPct val="90000"/>
              </a:lnSpc>
              <a:buNone/>
            </a:pPr>
            <a:r>
              <a:rPr lang="fr-CA" sz="2000" b="1" dirty="0">
                <a:solidFill>
                  <a:schemeClr val="accent2">
                    <a:lumMod val="50000"/>
                  </a:schemeClr>
                </a:solidFill>
              </a:rPr>
              <a:t>66     Une entité doit présenter dans l'état du résultat global le résultat de base et le résultat dilué par action pour le résultat net des activités poursuivies attribuables aux porteurs d'actions ordinaires de l'entité mère et pour le résultat net attribuable aux porteurs d'actions ordinaires de l'entité mère pour la période, pour chaque catégorie d'actions ordinaires assortie d'un droit différent à une quote-part du bénéfice pour la période. Une entité doit présenter les résultats de base par action et dilué par action avec la même importance pour toutes les périodes présentées.</a:t>
            </a:r>
          </a:p>
          <a:p>
            <a:pPr marL="0" indent="0">
              <a:lnSpc>
                <a:spcPct val="90000"/>
              </a:lnSpc>
              <a:buNone/>
            </a:pPr>
            <a:r>
              <a:rPr lang="fr-CA" sz="2000" dirty="0">
                <a:solidFill>
                  <a:schemeClr val="accent2">
                    <a:lumMod val="50000"/>
                  </a:schemeClr>
                </a:solidFill>
              </a:rPr>
              <a:t>67     Le résultat par action est présenté pour chaque période au titre de laquelle un état du résultat global est présenté. Si le résultat dilué par action est présenté pour au moins une période, il doit être présenté pour toutes les périodes présentées, même s'il est égal au résultat de base par action. Si le résultat de base et le résultat dilué par action sont égaux, il est possible de les présenter tous les deux en une seule ligne de l'état du résultat global.</a:t>
            </a:r>
          </a:p>
          <a:p>
            <a:pPr marL="0" indent="0">
              <a:lnSpc>
                <a:spcPct val="90000"/>
              </a:lnSpc>
              <a:buNone/>
            </a:pPr>
            <a:r>
              <a:rPr lang="fr-CA" sz="2000" b="1" dirty="0">
                <a:solidFill>
                  <a:schemeClr val="accent2">
                    <a:lumMod val="50000"/>
                  </a:schemeClr>
                </a:solidFill>
              </a:rPr>
              <a:t>68     Une entité qui présente une activité abandonnée doit indiquer le résultat de base et le résultat dilué par action pour l'activité abandonnée soit dans l'état du résultat global, soit dans les notes.</a:t>
            </a:r>
          </a:p>
          <a:p>
            <a:pPr marL="0" indent="0">
              <a:lnSpc>
                <a:spcPct val="90000"/>
              </a:lnSpc>
              <a:buNone/>
            </a:pPr>
            <a:r>
              <a:rPr lang="fr-CA" sz="2000" b="1" dirty="0">
                <a:solidFill>
                  <a:schemeClr val="accent2">
                    <a:lumMod val="50000"/>
                  </a:schemeClr>
                </a:solidFill>
              </a:rPr>
              <a:t>69     Une entité doit présenter le résultat de base par action et le résultat dilué par action, même si les montants indiqués sont négatifs (c'est-à-dire s'il s'agit d'une perte par action).</a:t>
            </a:r>
            <a:endParaRPr lang="fr-CA" sz="2000" dirty="0">
              <a:solidFill>
                <a:schemeClr val="accent2">
                  <a:lumMod val="50000"/>
                </a:schemeClr>
              </a:solidFill>
            </a:endParaRPr>
          </a:p>
        </p:txBody>
      </p:sp>
      <p:sp>
        <p:nvSpPr>
          <p:cNvPr id="5" name="Espace réservé du pied de page 4">
            <a:extLst>
              <a:ext uri="{FF2B5EF4-FFF2-40B4-BE49-F238E27FC236}">
                <a16:creationId xmlns:a16="http://schemas.microsoft.com/office/drawing/2014/main" id="{7B5C826B-95C6-4F3E-B32B-6D925F9DE3A9}"/>
              </a:ext>
            </a:extLst>
          </p:cNvPr>
          <p:cNvSpPr>
            <a:spLocks noGrp="1"/>
          </p:cNvSpPr>
          <p:nvPr>
            <p:ph type="ftr" sz="quarter" idx="11"/>
          </p:nvPr>
        </p:nvSpPr>
        <p:spPr>
          <a:xfrm>
            <a:off x="581192" y="6400799"/>
            <a:ext cx="6917210" cy="365125"/>
          </a:xfrm>
        </p:spPr>
        <p:txBody>
          <a:bodyPr>
            <a:normAutofit/>
          </a:bodyPr>
          <a:lstStyle/>
          <a:p>
            <a:pPr>
              <a:spcAft>
                <a:spcPts val="600"/>
              </a:spcAft>
            </a:pPr>
            <a:r>
              <a:rPr lang="fr-FR" dirty="0"/>
              <a:t>Droits réservés Louise Overbeek</a:t>
            </a:r>
          </a:p>
        </p:txBody>
      </p:sp>
    </p:spTree>
    <p:extLst>
      <p:ext uri="{BB962C8B-B14F-4D97-AF65-F5344CB8AC3E}">
        <p14:creationId xmlns:p14="http://schemas.microsoft.com/office/powerpoint/2010/main" val="1968852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886120" y="476250"/>
            <a:ext cx="9229430" cy="1303338"/>
          </a:xfrm>
        </p:spPr>
        <p:txBody>
          <a:bodyPr/>
          <a:lstStyle/>
          <a:p>
            <a:pPr eaLnBrk="1" hangingPunct="1"/>
            <a:r>
              <a:rPr lang="fr-CA" sz="3400" dirty="0">
                <a:ea typeface="MS PGothic" charset="0"/>
                <a:cs typeface="MS PGothic" charset="0"/>
              </a:rPr>
              <a:t>Résultat de base par action</a:t>
            </a:r>
          </a:p>
        </p:txBody>
      </p:sp>
      <p:sp>
        <p:nvSpPr>
          <p:cNvPr id="45057" name="Rectangle 3"/>
          <p:cNvSpPr>
            <a:spLocks noGrp="1" noChangeArrowheads="1"/>
          </p:cNvSpPr>
          <p:nvPr>
            <p:ph idx="1"/>
          </p:nvPr>
        </p:nvSpPr>
        <p:spPr>
          <a:xfrm>
            <a:off x="886120" y="1960563"/>
            <a:ext cx="9459618" cy="4400550"/>
          </a:xfrm>
        </p:spPr>
        <p:txBody>
          <a:bodyPr>
            <a:normAutofit fontScale="92500" lnSpcReduction="20000"/>
          </a:bodyPr>
          <a:lstStyle/>
          <a:p>
            <a:pPr marL="0" indent="0">
              <a:buNone/>
            </a:pPr>
            <a:r>
              <a:rPr lang="fr-CA" dirty="0">
                <a:solidFill>
                  <a:srgbClr val="002060"/>
                </a:solidFill>
                <a:latin typeface="+mj-lt"/>
                <a:ea typeface="MS PGothic" charset="0"/>
                <a:cs typeface="MS PGothic" charset="0"/>
              </a:rPr>
              <a:t>Exemple :</a:t>
            </a:r>
          </a:p>
          <a:p>
            <a:pPr marL="0" indent="0">
              <a:buNone/>
            </a:pPr>
            <a:r>
              <a:rPr lang="fr-CA" dirty="0">
                <a:solidFill>
                  <a:srgbClr val="002060"/>
                </a:solidFill>
                <a:latin typeface="+mj-lt"/>
                <a:ea typeface="MS PGothic" charset="0"/>
                <a:cs typeface="MS PGothic" charset="0"/>
              </a:rPr>
              <a:t>	</a:t>
            </a:r>
            <a:r>
              <a:rPr lang="fr-CA" sz="2400" dirty="0">
                <a:solidFill>
                  <a:srgbClr val="002060"/>
                </a:solidFill>
                <a:latin typeface="+mj-lt"/>
                <a:ea typeface="MS PGothic" charset="0"/>
                <a:cs typeface="MS PGothic" charset="0"/>
              </a:rPr>
              <a:t>Bénéfice activités poursuivies:	2 400 $</a:t>
            </a:r>
          </a:p>
          <a:p>
            <a:pPr marL="0" indent="0">
              <a:buNone/>
            </a:pPr>
            <a:r>
              <a:rPr lang="fr-CA" sz="2400" dirty="0">
                <a:solidFill>
                  <a:srgbClr val="002060"/>
                </a:solidFill>
                <a:latin typeface="+mj-lt"/>
                <a:ea typeface="MS PGothic" charset="0"/>
                <a:cs typeface="MS PGothic" charset="0"/>
              </a:rPr>
              <a:t>	Perte sur </a:t>
            </a:r>
            <a:r>
              <a:rPr lang="fr-CA" sz="2400" dirty="0" err="1">
                <a:solidFill>
                  <a:srgbClr val="002060"/>
                </a:solidFill>
                <a:latin typeface="+mj-lt"/>
                <a:ea typeface="MS PGothic" charset="0"/>
                <a:cs typeface="MS PGothic" charset="0"/>
              </a:rPr>
              <a:t>act</a:t>
            </a:r>
            <a:r>
              <a:rPr lang="fr-CA" sz="2400" dirty="0">
                <a:solidFill>
                  <a:srgbClr val="002060"/>
                </a:solidFill>
                <a:latin typeface="+mj-lt"/>
                <a:ea typeface="MS PGothic" charset="0"/>
                <a:cs typeface="MS PGothic" charset="0"/>
              </a:rPr>
              <a:t> abandonnées :		3 600 $</a:t>
            </a:r>
          </a:p>
          <a:p>
            <a:pPr marL="0" indent="0">
              <a:buNone/>
            </a:pPr>
            <a:r>
              <a:rPr lang="fr-CA" sz="2400" dirty="0">
                <a:solidFill>
                  <a:srgbClr val="002060"/>
                </a:solidFill>
                <a:latin typeface="+mj-lt"/>
                <a:ea typeface="MS PGothic" charset="0"/>
                <a:cs typeface="MS PGothic" charset="0"/>
              </a:rPr>
              <a:t>	Perte nette : 					1 200 $</a:t>
            </a:r>
          </a:p>
          <a:p>
            <a:pPr marL="0" indent="0">
              <a:buNone/>
            </a:pPr>
            <a:r>
              <a:rPr lang="fr-CA" sz="2400" dirty="0">
                <a:solidFill>
                  <a:srgbClr val="002060"/>
                </a:solidFill>
                <a:latin typeface="+mj-lt"/>
                <a:ea typeface="MS PGothic" charset="0"/>
                <a:cs typeface="MS PGothic" charset="0"/>
              </a:rPr>
              <a:t>	1000 actions ordinaires + 200 actions ord. potentielles</a:t>
            </a:r>
          </a:p>
          <a:p>
            <a:pPr marL="0" indent="0">
              <a:buNone/>
            </a:pPr>
            <a:endParaRPr lang="fr-CA" sz="2400" dirty="0">
              <a:solidFill>
                <a:srgbClr val="002060"/>
              </a:solidFill>
              <a:latin typeface="+mj-lt"/>
              <a:ea typeface="MS PGothic" charset="0"/>
              <a:cs typeface="MS PGothic" charset="0"/>
            </a:endParaRPr>
          </a:p>
          <a:p>
            <a:pPr marL="0" indent="0">
              <a:buNone/>
            </a:pPr>
            <a:r>
              <a:rPr lang="fr-CA" sz="2400" dirty="0">
                <a:solidFill>
                  <a:srgbClr val="002060"/>
                </a:solidFill>
                <a:latin typeface="+mj-lt"/>
                <a:ea typeface="MS PGothic" charset="0"/>
                <a:cs typeface="MS PGothic" charset="0"/>
              </a:rPr>
              <a:t>	Résultats de base : </a:t>
            </a:r>
          </a:p>
          <a:p>
            <a:pPr marL="0" indent="0">
              <a:buNone/>
            </a:pPr>
            <a:r>
              <a:rPr lang="fr-CA" sz="2400" dirty="0">
                <a:solidFill>
                  <a:srgbClr val="002060"/>
                </a:solidFill>
                <a:latin typeface="+mj-lt"/>
                <a:ea typeface="MS PGothic" charset="0"/>
                <a:cs typeface="MS PGothic" charset="0"/>
              </a:rPr>
              <a:t>		Bénéfice activités poursuivies :	 2,40 $ / </a:t>
            </a:r>
            <a:r>
              <a:rPr lang="fr-CA" sz="2400" dirty="0" err="1">
                <a:solidFill>
                  <a:srgbClr val="002060"/>
                </a:solidFill>
                <a:latin typeface="+mj-lt"/>
                <a:ea typeface="MS PGothic" charset="0"/>
                <a:cs typeface="MS PGothic" charset="0"/>
              </a:rPr>
              <a:t>act</a:t>
            </a:r>
            <a:r>
              <a:rPr lang="fr-CA" sz="2400" dirty="0">
                <a:solidFill>
                  <a:srgbClr val="002060"/>
                </a:solidFill>
                <a:latin typeface="+mj-lt"/>
                <a:ea typeface="MS PGothic" charset="0"/>
                <a:cs typeface="MS PGothic" charset="0"/>
              </a:rPr>
              <a:t>. </a:t>
            </a:r>
          </a:p>
          <a:p>
            <a:pPr marL="0" indent="0">
              <a:buNone/>
            </a:pPr>
            <a:r>
              <a:rPr lang="fr-CA" sz="2400" dirty="0">
                <a:solidFill>
                  <a:srgbClr val="002060"/>
                </a:solidFill>
                <a:latin typeface="+mj-lt"/>
                <a:ea typeface="MS PGothic" charset="0"/>
                <a:cs typeface="MS PGothic" charset="0"/>
              </a:rPr>
              <a:t>		Perte nette :					 1,20 $ / </a:t>
            </a:r>
            <a:r>
              <a:rPr lang="fr-CA" sz="2400" dirty="0" err="1">
                <a:solidFill>
                  <a:srgbClr val="002060"/>
                </a:solidFill>
                <a:latin typeface="+mj-lt"/>
                <a:ea typeface="MS PGothic" charset="0"/>
                <a:cs typeface="MS PGothic" charset="0"/>
              </a:rPr>
              <a:t>act</a:t>
            </a:r>
            <a:r>
              <a:rPr lang="fr-CA" sz="2400" dirty="0">
                <a:solidFill>
                  <a:srgbClr val="002060"/>
                </a:solidFill>
                <a:latin typeface="+mj-lt"/>
                <a:ea typeface="MS PGothic" charset="0"/>
                <a:cs typeface="MS PGothic" charset="0"/>
              </a:rPr>
              <a:t>.</a:t>
            </a:r>
          </a:p>
          <a:p>
            <a:pPr>
              <a:buFont typeface="Wingdings" panose="05000000000000000000" pitchFamily="2" charset="2"/>
              <a:buChar char="Ø"/>
            </a:pPr>
            <a:r>
              <a:rPr lang="fr-CA" sz="2400" i="1" dirty="0">
                <a:solidFill>
                  <a:srgbClr val="002060"/>
                </a:solidFill>
                <a:latin typeface="+mj-lt"/>
                <a:ea typeface="MS PGothic" charset="0"/>
                <a:cs typeface="MS PGothic" charset="0"/>
              </a:rPr>
              <a:t>Calcul effectué avec les actions en circulation</a:t>
            </a:r>
          </a:p>
          <a:p>
            <a:pPr marL="0" indent="0">
              <a:buNone/>
            </a:pPr>
            <a:endParaRPr lang="fr-CA" dirty="0">
              <a:solidFill>
                <a:srgbClr val="002060"/>
              </a:solidFill>
              <a:latin typeface="+mj-lt"/>
              <a:ea typeface="MS PGothic" charset="0"/>
              <a:cs typeface="MS PGothic" charset="0"/>
            </a:endParaRPr>
          </a:p>
        </p:txBody>
      </p:sp>
      <p:sp>
        <p:nvSpPr>
          <p:cNvPr id="2" name="Espace réservé du pied de page 1">
            <a:extLst>
              <a:ext uri="{FF2B5EF4-FFF2-40B4-BE49-F238E27FC236}">
                <a16:creationId xmlns:a16="http://schemas.microsoft.com/office/drawing/2014/main" id="{E6DEEB97-0D1E-4B51-9BF7-3C7525B9238F}"/>
              </a:ext>
            </a:extLst>
          </p:cNvPr>
          <p:cNvSpPr>
            <a:spLocks noGrp="1"/>
          </p:cNvSpPr>
          <p:nvPr>
            <p:ph type="ftr" sz="quarter" idx="11"/>
          </p:nvPr>
        </p:nvSpPr>
        <p:spPr>
          <a:xfrm>
            <a:off x="886120" y="6359525"/>
            <a:ext cx="6917210" cy="365125"/>
          </a:xfrm>
        </p:spPr>
        <p:txBody>
          <a:bodyPr/>
          <a:lstStyle/>
          <a:p>
            <a:r>
              <a:rPr lang="fr-FR" dirty="0"/>
              <a:t>Droits réservés Louise Overbeek</a:t>
            </a:r>
          </a:p>
        </p:txBody>
      </p:sp>
      <p:sp>
        <p:nvSpPr>
          <p:cNvPr id="45060" name="Text Box 4"/>
          <p:cNvSpPr txBox="1">
            <a:spLocks noChangeArrowheads="1"/>
          </p:cNvSpPr>
          <p:nvPr/>
        </p:nvSpPr>
        <p:spPr bwMode="auto">
          <a:xfrm>
            <a:off x="8763000" y="0"/>
            <a:ext cx="19050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spcBef>
                <a:spcPct val="50000"/>
              </a:spcBef>
            </a:pPr>
            <a:endParaRPr lang="en-CA" sz="1600" b="1">
              <a:latin typeface="Univers" charset="0"/>
              <a:ea typeface="MS PGothic" charset="0"/>
              <a:cs typeface="MS PGothic" charset="0"/>
            </a:endParaRPr>
          </a:p>
        </p:txBody>
      </p:sp>
    </p:spTree>
    <p:extLst>
      <p:ext uri="{BB962C8B-B14F-4D97-AF65-F5344CB8AC3E}">
        <p14:creationId xmlns:p14="http://schemas.microsoft.com/office/powerpoint/2010/main" val="35880037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RPA– problème 1</a:t>
            </a:r>
          </a:p>
        </p:txBody>
      </p:sp>
      <p:sp>
        <p:nvSpPr>
          <p:cNvPr id="3" name="Espace réservé du contenu 2"/>
          <p:cNvSpPr>
            <a:spLocks noGrp="1"/>
          </p:cNvSpPr>
          <p:nvPr>
            <p:ph idx="1"/>
          </p:nvPr>
        </p:nvSpPr>
        <p:spPr/>
        <p:txBody>
          <a:bodyPr>
            <a:normAutofit fontScale="92500" lnSpcReduction="20000"/>
          </a:bodyPr>
          <a:lstStyle/>
          <a:p>
            <a:pPr marL="0" indent="0">
              <a:buNone/>
            </a:pPr>
            <a:r>
              <a:rPr lang="fr-CA" sz="2600" dirty="0">
                <a:solidFill>
                  <a:srgbClr val="002060"/>
                </a:solidFill>
              </a:rPr>
              <a:t>ABC </a:t>
            </a:r>
            <a:r>
              <a:rPr lang="fr-CA" sz="2600" dirty="0" err="1">
                <a:solidFill>
                  <a:srgbClr val="002060"/>
                </a:solidFill>
              </a:rPr>
              <a:t>inc.</a:t>
            </a:r>
            <a:r>
              <a:rPr lang="fr-CA" sz="2600" dirty="0">
                <a:solidFill>
                  <a:srgbClr val="002060"/>
                </a:solidFill>
              </a:rPr>
              <a:t> a présenté un bénéfice net de 210 000 $ pour l’exercice.  Au cours de cet exercice, elle avait 100 000 actions ordinaires en circulation et 25 000 options sur actions qui permettent aux détenteurs d’acquérir 25 000 actions ordinaires à 20 $ l’action. Le cours moyen des actions ordinaires pendant l’exercice était de 25 $ l’action et le cours de l’action à la fin de l’exercice était de 23 $.</a:t>
            </a:r>
          </a:p>
          <a:p>
            <a:pPr marL="0" indent="0">
              <a:buNone/>
            </a:pPr>
            <a:endParaRPr lang="fr-CA" sz="2600" dirty="0">
              <a:solidFill>
                <a:srgbClr val="002060"/>
              </a:solidFill>
            </a:endParaRPr>
          </a:p>
          <a:p>
            <a:pPr marL="0" indent="0">
              <a:buNone/>
            </a:pPr>
            <a:r>
              <a:rPr lang="fr-CA" sz="2600" i="1" dirty="0">
                <a:solidFill>
                  <a:srgbClr val="002060"/>
                </a:solidFill>
              </a:rPr>
              <a:t>Travail à faire :</a:t>
            </a:r>
            <a:endParaRPr lang="fr-CA" sz="2600" dirty="0">
              <a:solidFill>
                <a:srgbClr val="002060"/>
              </a:solidFill>
            </a:endParaRPr>
          </a:p>
          <a:p>
            <a:pPr lvl="0"/>
            <a:r>
              <a:rPr lang="fr-CA" sz="2600" dirty="0">
                <a:solidFill>
                  <a:srgbClr val="002060"/>
                </a:solidFill>
              </a:rPr>
              <a:t>Calculez le résultat de base par action</a:t>
            </a:r>
          </a:p>
          <a:p>
            <a:pPr lvl="0"/>
            <a:r>
              <a:rPr lang="fr-CA" sz="2600" dirty="0">
                <a:solidFill>
                  <a:srgbClr val="002060"/>
                </a:solidFill>
              </a:rPr>
              <a:t>Calculez le résultat dilué par action</a:t>
            </a:r>
          </a:p>
          <a:p>
            <a:endParaRPr lang="fr-CA" dirty="0">
              <a:solidFill>
                <a:srgbClr val="002060"/>
              </a:solidFill>
            </a:endParaRPr>
          </a:p>
        </p:txBody>
      </p:sp>
      <p:sp>
        <p:nvSpPr>
          <p:cNvPr id="5" name="Espace réservé du pied de page 4">
            <a:extLst>
              <a:ext uri="{FF2B5EF4-FFF2-40B4-BE49-F238E27FC236}">
                <a16:creationId xmlns:a16="http://schemas.microsoft.com/office/drawing/2014/main" id="{76F2BF56-E23D-4034-8AE2-ED7826BA0200}"/>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14507959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RPA – problème 1</a:t>
            </a:r>
          </a:p>
        </p:txBody>
      </p:sp>
      <p:sp>
        <p:nvSpPr>
          <p:cNvPr id="5" name="Espace réservé du pied de page 4">
            <a:extLst>
              <a:ext uri="{FF2B5EF4-FFF2-40B4-BE49-F238E27FC236}">
                <a16:creationId xmlns:a16="http://schemas.microsoft.com/office/drawing/2014/main" id="{4CB590FA-F14F-4628-B0E9-515BC0F670B0}"/>
              </a:ext>
            </a:extLst>
          </p:cNvPr>
          <p:cNvSpPr>
            <a:spLocks noGrp="1"/>
          </p:cNvSpPr>
          <p:nvPr>
            <p:ph type="ftr" sz="quarter" idx="11"/>
          </p:nvPr>
        </p:nvSpPr>
        <p:spPr/>
        <p:txBody>
          <a:bodyPr/>
          <a:lstStyle/>
          <a:p>
            <a:r>
              <a:rPr lang="fr-FR"/>
              <a:t>Droits réservés Louise Overbeek</a:t>
            </a:r>
          </a:p>
        </p:txBody>
      </p:sp>
      <p:graphicFrame>
        <p:nvGraphicFramePr>
          <p:cNvPr id="6" name="Objet 5">
            <a:extLst>
              <a:ext uri="{FF2B5EF4-FFF2-40B4-BE49-F238E27FC236}">
                <a16:creationId xmlns:a16="http://schemas.microsoft.com/office/drawing/2014/main" id="{11F82D8B-E7CB-CEB6-DA42-360EAA1610E7}"/>
              </a:ext>
            </a:extLst>
          </p:cNvPr>
          <p:cNvGraphicFramePr>
            <a:graphicFrameLocks noChangeAspect="1"/>
          </p:cNvGraphicFramePr>
          <p:nvPr>
            <p:extLst>
              <p:ext uri="{D42A27DB-BD31-4B8C-83A1-F6EECF244321}">
                <p14:modId xmlns:p14="http://schemas.microsoft.com/office/powerpoint/2010/main" val="1007941899"/>
              </p:ext>
            </p:extLst>
          </p:nvPr>
        </p:nvGraphicFramePr>
        <p:xfrm>
          <a:off x="581025" y="1830388"/>
          <a:ext cx="10477500" cy="4413250"/>
        </p:xfrm>
        <a:graphic>
          <a:graphicData uri="http://schemas.openxmlformats.org/presentationml/2006/ole">
            <mc:AlternateContent xmlns:mc="http://schemas.openxmlformats.org/markup-compatibility/2006">
              <mc:Choice xmlns:v="urn:schemas-microsoft-com:vml" Requires="v">
                <p:oleObj name="Worksheet" r:id="rId2" imgW="10477623" imgH="4413301" progId="Excel.Sheet.12">
                  <p:embed/>
                </p:oleObj>
              </mc:Choice>
              <mc:Fallback>
                <p:oleObj name="Worksheet" r:id="rId2" imgW="10477623" imgH="4413301" progId="Excel.Sheet.12">
                  <p:embed/>
                  <p:pic>
                    <p:nvPicPr>
                      <p:cNvPr id="6" name="Objet 5">
                        <a:extLst>
                          <a:ext uri="{FF2B5EF4-FFF2-40B4-BE49-F238E27FC236}">
                            <a16:creationId xmlns:a16="http://schemas.microsoft.com/office/drawing/2014/main" id="{11F82D8B-E7CB-CEB6-DA42-360EAA1610E7}"/>
                          </a:ext>
                        </a:extLst>
                      </p:cNvPr>
                      <p:cNvPicPr/>
                      <p:nvPr/>
                    </p:nvPicPr>
                    <p:blipFill>
                      <a:blip r:embed="rId3"/>
                      <a:stretch>
                        <a:fillRect/>
                      </a:stretch>
                    </p:blipFill>
                    <p:spPr>
                      <a:xfrm>
                        <a:off x="581025" y="1830388"/>
                        <a:ext cx="10477500" cy="4413250"/>
                      </a:xfrm>
                      <a:prstGeom prst="rect">
                        <a:avLst/>
                      </a:prstGeom>
                    </p:spPr>
                  </p:pic>
                </p:oleObj>
              </mc:Fallback>
            </mc:AlternateContent>
          </a:graphicData>
        </a:graphic>
      </p:graphicFrame>
    </p:spTree>
    <p:extLst>
      <p:ext uri="{BB962C8B-B14F-4D97-AF65-F5344CB8AC3E}">
        <p14:creationId xmlns:p14="http://schemas.microsoft.com/office/powerpoint/2010/main" val="30228539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650449" y="874079"/>
            <a:ext cx="9560351" cy="606503"/>
          </a:xfrm>
        </p:spPr>
        <p:txBody>
          <a:bodyPr>
            <a:normAutofit/>
          </a:bodyPr>
          <a:lstStyle/>
          <a:p>
            <a:r>
              <a:rPr lang="fr-CA" dirty="0"/>
              <a:t>RPA – problème 2</a:t>
            </a:r>
          </a:p>
        </p:txBody>
      </p:sp>
      <p:sp>
        <p:nvSpPr>
          <p:cNvPr id="3" name="Espace réservé du contenu 2"/>
          <p:cNvSpPr>
            <a:spLocks noGrp="1"/>
          </p:cNvSpPr>
          <p:nvPr>
            <p:ph idx="1"/>
          </p:nvPr>
        </p:nvSpPr>
        <p:spPr>
          <a:xfrm>
            <a:off x="650449" y="1828801"/>
            <a:ext cx="11064031" cy="4236720"/>
          </a:xfrm>
        </p:spPr>
        <p:txBody>
          <a:bodyPr numCol="2">
            <a:normAutofit fontScale="55000" lnSpcReduction="20000"/>
          </a:bodyPr>
          <a:lstStyle/>
          <a:p>
            <a:pPr marL="0" indent="0">
              <a:buNone/>
            </a:pPr>
            <a:r>
              <a:rPr lang="fr-CA" sz="4000" dirty="0">
                <a:solidFill>
                  <a:srgbClr val="002060"/>
                </a:solidFill>
              </a:rPr>
              <a:t>Bénéfice activités poursuivies :	10 000 $</a:t>
            </a:r>
          </a:p>
          <a:p>
            <a:pPr marL="0" indent="0">
              <a:buNone/>
            </a:pPr>
            <a:r>
              <a:rPr lang="fr-CA" sz="4000" dirty="0">
                <a:solidFill>
                  <a:srgbClr val="002060"/>
                </a:solidFill>
              </a:rPr>
              <a:t>Activités abandonnées :			</a:t>
            </a:r>
            <a:r>
              <a:rPr lang="fr-CA" sz="4000" u="sng" dirty="0">
                <a:solidFill>
                  <a:srgbClr val="002060"/>
                </a:solidFill>
              </a:rPr>
              <a:t>     500 $</a:t>
            </a:r>
            <a:endParaRPr lang="fr-CA" sz="4000" dirty="0">
              <a:solidFill>
                <a:srgbClr val="002060"/>
              </a:solidFill>
            </a:endParaRPr>
          </a:p>
          <a:p>
            <a:pPr marL="0" indent="0">
              <a:buNone/>
            </a:pPr>
            <a:r>
              <a:rPr lang="fr-CA" sz="4000" dirty="0">
                <a:solidFill>
                  <a:srgbClr val="002060"/>
                </a:solidFill>
              </a:rPr>
              <a:t>Bénéfice net :					  9 500 $</a:t>
            </a:r>
          </a:p>
          <a:p>
            <a:pPr marL="0" indent="0">
              <a:buNone/>
            </a:pPr>
            <a:r>
              <a:rPr lang="fr-CA" dirty="0">
                <a:solidFill>
                  <a:srgbClr val="002060"/>
                </a:solidFill>
              </a:rPr>
              <a:t> </a:t>
            </a:r>
          </a:p>
          <a:p>
            <a:r>
              <a:rPr lang="fr-CA" sz="3500" dirty="0">
                <a:solidFill>
                  <a:srgbClr val="002060"/>
                </a:solidFill>
              </a:rPr>
              <a:t>Au 31 décembre 2022 : 	1100 actions ordinaires en circulation</a:t>
            </a:r>
          </a:p>
          <a:p>
            <a:pPr lvl="1"/>
            <a:r>
              <a:rPr lang="fr-CA" sz="3500" dirty="0">
                <a:solidFill>
                  <a:srgbClr val="002060"/>
                </a:solidFill>
              </a:rPr>
              <a:t>Émission d’actions ordinaires au 30 septembre 2022 : 100 actions</a:t>
            </a:r>
          </a:p>
          <a:p>
            <a:pPr marL="457200" lvl="1" indent="0">
              <a:buNone/>
            </a:pPr>
            <a:endParaRPr lang="fr-CA" sz="1300" dirty="0">
              <a:solidFill>
                <a:srgbClr val="002060"/>
              </a:solidFill>
            </a:endParaRPr>
          </a:p>
          <a:p>
            <a:pPr lvl="0"/>
            <a:r>
              <a:rPr lang="fr-CA" sz="3500" dirty="0">
                <a:solidFill>
                  <a:srgbClr val="002060"/>
                </a:solidFill>
              </a:rPr>
              <a:t>20 000 $ actions préférentielles, dividende cumulatif 5 %, actions classées dans les capitaux propres à l’état de la situation financière</a:t>
            </a:r>
          </a:p>
          <a:p>
            <a:pPr lvl="1"/>
            <a:r>
              <a:rPr lang="fr-CA" sz="3500" dirty="0">
                <a:solidFill>
                  <a:srgbClr val="002060"/>
                </a:solidFill>
              </a:rPr>
              <a:t>Aucun dividende déclaré en 2022 ;  Arrérage dividendes : 2 ans</a:t>
            </a:r>
          </a:p>
          <a:p>
            <a:pPr lvl="0"/>
            <a:r>
              <a:rPr lang="fr-CA" sz="3500" dirty="0">
                <a:solidFill>
                  <a:srgbClr val="002060"/>
                </a:solidFill>
              </a:rPr>
              <a:t>Obligations convertibles : 50 000 $</a:t>
            </a:r>
          </a:p>
          <a:p>
            <a:pPr lvl="1"/>
            <a:r>
              <a:rPr lang="fr-CA" sz="3500" dirty="0">
                <a:solidFill>
                  <a:srgbClr val="002060"/>
                </a:solidFill>
              </a:rPr>
              <a:t>Ratio de conversion : 100 $ obligation = 1 action ordinaire</a:t>
            </a:r>
          </a:p>
          <a:p>
            <a:pPr lvl="1"/>
            <a:r>
              <a:rPr lang="fr-CA" sz="3500" dirty="0">
                <a:solidFill>
                  <a:srgbClr val="002060"/>
                </a:solidFill>
              </a:rPr>
              <a:t>Taux d’intérêts effectif : 10 % ; Taux d’impôts : 30 %</a:t>
            </a:r>
          </a:p>
          <a:p>
            <a:pPr marL="0" indent="0">
              <a:buNone/>
            </a:pPr>
            <a:endParaRPr lang="fr-CA" sz="1300" dirty="0">
              <a:solidFill>
                <a:srgbClr val="002060"/>
              </a:solidFill>
            </a:endParaRPr>
          </a:p>
          <a:p>
            <a:pPr lvl="0"/>
            <a:r>
              <a:rPr lang="fr-CA" sz="3500" dirty="0">
                <a:solidFill>
                  <a:srgbClr val="002060"/>
                </a:solidFill>
              </a:rPr>
              <a:t>100 options en circulation : Prix d’exercice : 8 $</a:t>
            </a:r>
          </a:p>
          <a:p>
            <a:pPr marL="457200" lvl="1" indent="0">
              <a:buNone/>
            </a:pPr>
            <a:endParaRPr lang="fr-CA" sz="1300" dirty="0">
              <a:solidFill>
                <a:srgbClr val="002060"/>
              </a:solidFill>
            </a:endParaRPr>
          </a:p>
          <a:p>
            <a:pPr lvl="0"/>
            <a:r>
              <a:rPr lang="fr-CA" sz="3500" dirty="0">
                <a:solidFill>
                  <a:srgbClr val="002060"/>
                </a:solidFill>
              </a:rPr>
              <a:t>50 options en circulation : Prix d’exercice : 20 $</a:t>
            </a:r>
          </a:p>
          <a:p>
            <a:pPr marL="0" indent="0">
              <a:buNone/>
            </a:pPr>
            <a:endParaRPr lang="fr-CA" sz="2000" dirty="0">
              <a:solidFill>
                <a:srgbClr val="002060"/>
              </a:solidFill>
            </a:endParaRPr>
          </a:p>
          <a:p>
            <a:r>
              <a:rPr lang="fr-CA" sz="3800" dirty="0">
                <a:solidFill>
                  <a:srgbClr val="002060"/>
                </a:solidFill>
              </a:rPr>
              <a:t>Cours moyen 2022 :   			15 $</a:t>
            </a:r>
          </a:p>
          <a:p>
            <a:r>
              <a:rPr lang="fr-CA" sz="3800" dirty="0">
                <a:solidFill>
                  <a:srgbClr val="002060"/>
                </a:solidFill>
              </a:rPr>
              <a:t>Cours au 31 décembre 2022 : 	18 $</a:t>
            </a:r>
          </a:p>
        </p:txBody>
      </p:sp>
      <p:sp>
        <p:nvSpPr>
          <p:cNvPr id="5" name="Espace réservé du pied de page 4">
            <a:extLst>
              <a:ext uri="{FF2B5EF4-FFF2-40B4-BE49-F238E27FC236}">
                <a16:creationId xmlns:a16="http://schemas.microsoft.com/office/drawing/2014/main" id="{BC1DCC4D-B493-42F2-B94E-9900C4A88FFE}"/>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14842362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578178" y="802959"/>
            <a:ext cx="9645192" cy="606503"/>
          </a:xfrm>
        </p:spPr>
        <p:txBody>
          <a:bodyPr>
            <a:normAutofit/>
          </a:bodyPr>
          <a:lstStyle/>
          <a:p>
            <a:r>
              <a:rPr lang="fr-CA" dirty="0"/>
              <a:t>RPA – problème 2</a:t>
            </a:r>
          </a:p>
        </p:txBody>
      </p:sp>
      <p:sp>
        <p:nvSpPr>
          <p:cNvPr id="3" name="Espace réservé du contenu 2"/>
          <p:cNvSpPr>
            <a:spLocks noGrp="1"/>
          </p:cNvSpPr>
          <p:nvPr>
            <p:ph idx="1"/>
          </p:nvPr>
        </p:nvSpPr>
        <p:spPr>
          <a:xfrm>
            <a:off x="565607" y="1920240"/>
            <a:ext cx="11048215" cy="4031571"/>
          </a:xfrm>
        </p:spPr>
        <p:txBody>
          <a:bodyPr numCol="2">
            <a:normAutofit fontScale="92500" lnSpcReduction="20000"/>
          </a:bodyPr>
          <a:lstStyle/>
          <a:p>
            <a:pPr marL="0" indent="0">
              <a:buNone/>
            </a:pPr>
            <a:r>
              <a:rPr lang="fr-CA" sz="2000" dirty="0"/>
              <a:t>Base : 	</a:t>
            </a:r>
            <a:r>
              <a:rPr lang="fr-CA" sz="2000" u="sng" dirty="0"/>
              <a:t>10 000 - 1000</a:t>
            </a:r>
            <a:r>
              <a:rPr lang="fr-CA" sz="2000" dirty="0"/>
              <a:t> = 8,78  </a:t>
            </a:r>
            <a:r>
              <a:rPr lang="fr-CA" sz="2000" i="1" dirty="0"/>
              <a:t>Activités poursuivies</a:t>
            </a:r>
            <a:r>
              <a:rPr lang="fr-CA" sz="2000" dirty="0"/>
              <a:t> </a:t>
            </a:r>
          </a:p>
          <a:p>
            <a:pPr marL="0" indent="0">
              <a:spcBef>
                <a:spcPts val="0"/>
              </a:spcBef>
              <a:buNone/>
            </a:pPr>
            <a:r>
              <a:rPr lang="fr-CA" sz="2000" dirty="0"/>
              <a:t>	  1 025</a:t>
            </a:r>
          </a:p>
          <a:p>
            <a:pPr marL="0" indent="0">
              <a:buNone/>
            </a:pPr>
            <a:r>
              <a:rPr lang="fr-CA" sz="2000" dirty="0"/>
              <a:t>	</a:t>
            </a:r>
            <a:r>
              <a:rPr lang="fr-CA" sz="2000" u="sng" dirty="0"/>
              <a:t>9 500 - 1000</a:t>
            </a:r>
            <a:r>
              <a:rPr lang="fr-CA" sz="2000" dirty="0"/>
              <a:t> = 8,29  </a:t>
            </a:r>
            <a:r>
              <a:rPr lang="fr-CA" sz="2000" i="1" dirty="0"/>
              <a:t>Résultat net</a:t>
            </a:r>
            <a:r>
              <a:rPr lang="fr-CA" sz="2000" dirty="0"/>
              <a:t> </a:t>
            </a:r>
          </a:p>
          <a:p>
            <a:pPr marL="0" indent="0">
              <a:spcBef>
                <a:spcPts val="0"/>
              </a:spcBef>
              <a:buNone/>
            </a:pPr>
            <a:r>
              <a:rPr lang="fr-CA" sz="2000" dirty="0"/>
              <a:t>	  1 025</a:t>
            </a:r>
          </a:p>
          <a:p>
            <a:pPr marL="0" indent="0">
              <a:buNone/>
            </a:pPr>
            <a:endParaRPr lang="fr-CA" sz="1100" dirty="0"/>
          </a:p>
          <a:p>
            <a:pPr marL="0" indent="0">
              <a:buNone/>
            </a:pPr>
            <a:endParaRPr lang="fr-CA" sz="1100" dirty="0"/>
          </a:p>
          <a:p>
            <a:pPr marL="0" indent="0">
              <a:buNone/>
            </a:pPr>
            <a:endParaRPr lang="fr-CA" sz="1100" dirty="0"/>
          </a:p>
          <a:p>
            <a:pPr marL="0" indent="0">
              <a:buNone/>
            </a:pPr>
            <a:endParaRPr lang="fr-CA" sz="1100" dirty="0"/>
          </a:p>
          <a:p>
            <a:pPr marL="0" indent="0">
              <a:buNone/>
            </a:pPr>
            <a:endParaRPr lang="fr-CA" sz="1100" dirty="0"/>
          </a:p>
          <a:p>
            <a:pPr marL="0" indent="0">
              <a:buNone/>
            </a:pPr>
            <a:endParaRPr lang="fr-CA" sz="1100" dirty="0"/>
          </a:p>
          <a:p>
            <a:pPr marL="0" indent="0">
              <a:buNone/>
            </a:pPr>
            <a:endParaRPr lang="fr-CA" sz="1100" dirty="0"/>
          </a:p>
          <a:p>
            <a:pPr marL="0" indent="0">
              <a:buNone/>
            </a:pPr>
            <a:endParaRPr lang="fr-CA" sz="1100" dirty="0"/>
          </a:p>
          <a:p>
            <a:pPr marL="0" indent="0">
              <a:buNone/>
            </a:pPr>
            <a:endParaRPr lang="fr-CA" sz="1100" dirty="0"/>
          </a:p>
          <a:p>
            <a:pPr marL="0" indent="0">
              <a:buNone/>
            </a:pPr>
            <a:endParaRPr lang="fr-CA" sz="1100" dirty="0"/>
          </a:p>
          <a:p>
            <a:pPr marL="0" indent="0">
              <a:buNone/>
            </a:pPr>
            <a:endParaRPr lang="fr-CA" sz="1100" dirty="0"/>
          </a:p>
          <a:p>
            <a:pPr marL="0" indent="0">
              <a:buNone/>
            </a:pPr>
            <a:r>
              <a:rPr lang="fr-CA" sz="2000" dirty="0"/>
              <a:t>Dilué : 	obligations convertibles : </a:t>
            </a:r>
          </a:p>
          <a:p>
            <a:pPr marL="0" indent="0">
              <a:buNone/>
            </a:pPr>
            <a:r>
              <a:rPr lang="fr-CA" sz="2000" dirty="0"/>
              <a:t>	</a:t>
            </a:r>
            <a:r>
              <a:rPr lang="fr-CA" sz="2000" u="sng" dirty="0"/>
              <a:t>50 000 * 10% * (1-30%)</a:t>
            </a:r>
            <a:r>
              <a:rPr lang="fr-CA" sz="2000" dirty="0"/>
              <a:t> = </a:t>
            </a:r>
            <a:r>
              <a:rPr lang="fr-CA" sz="2000" b="1" u="sng" dirty="0">
                <a:solidFill>
                  <a:srgbClr val="0070C0"/>
                </a:solidFill>
              </a:rPr>
              <a:t>3 500</a:t>
            </a:r>
            <a:r>
              <a:rPr lang="fr-CA" sz="2000" b="1" dirty="0">
                <a:solidFill>
                  <a:srgbClr val="0070C0"/>
                </a:solidFill>
              </a:rPr>
              <a:t> </a:t>
            </a:r>
            <a:r>
              <a:rPr lang="fr-CA" sz="2000" dirty="0"/>
              <a:t>= 7,00 </a:t>
            </a:r>
            <a:r>
              <a:rPr lang="fr-CA" sz="2000" i="1" dirty="0">
                <a:solidFill>
                  <a:srgbClr val="FF0000"/>
                </a:solidFill>
              </a:rPr>
              <a:t>dilutif</a:t>
            </a:r>
            <a:endParaRPr lang="fr-CA" sz="2000" dirty="0"/>
          </a:p>
          <a:p>
            <a:pPr marL="0" indent="0">
              <a:buNone/>
            </a:pPr>
            <a:r>
              <a:rPr lang="fr-CA" sz="2000" dirty="0"/>
              <a:t>	50 000 / 100		</a:t>
            </a:r>
            <a:r>
              <a:rPr lang="fr-CA" sz="2000" b="1" dirty="0">
                <a:solidFill>
                  <a:srgbClr val="0070C0"/>
                </a:solidFill>
              </a:rPr>
              <a:t>500</a:t>
            </a:r>
          </a:p>
          <a:p>
            <a:pPr marL="0" indent="0">
              <a:buNone/>
            </a:pPr>
            <a:endParaRPr lang="fr-CA" sz="1200" dirty="0"/>
          </a:p>
          <a:p>
            <a:pPr marL="0" indent="0">
              <a:buNone/>
            </a:pPr>
            <a:r>
              <a:rPr lang="fr-CA" sz="2000" dirty="0"/>
              <a:t>	options :	 100 * 8 = 800   </a:t>
            </a:r>
            <a:r>
              <a:rPr lang="fr-CA" sz="2000" i="1" dirty="0"/>
              <a:t>exercice des options</a:t>
            </a:r>
            <a:endParaRPr lang="fr-CA" sz="2000" dirty="0"/>
          </a:p>
          <a:p>
            <a:pPr marL="0" indent="0">
              <a:buNone/>
            </a:pPr>
            <a:r>
              <a:rPr lang="fr-CA" sz="2000" dirty="0"/>
              <a:t>		800 / 15 = 53    </a:t>
            </a:r>
            <a:r>
              <a:rPr lang="fr-CA" sz="2000" i="1" dirty="0"/>
              <a:t>rachat au cours moyen</a:t>
            </a:r>
            <a:endParaRPr lang="fr-CA" sz="2000" dirty="0"/>
          </a:p>
          <a:p>
            <a:pPr marL="0" indent="0">
              <a:buNone/>
            </a:pPr>
            <a:r>
              <a:rPr lang="fr-CA" sz="2000" dirty="0"/>
              <a:t>		100 - 53 = </a:t>
            </a:r>
            <a:r>
              <a:rPr lang="fr-CA" sz="2000" b="1" dirty="0">
                <a:solidFill>
                  <a:srgbClr val="0070C0"/>
                </a:solidFill>
              </a:rPr>
              <a:t>47</a:t>
            </a:r>
            <a:r>
              <a:rPr lang="fr-CA" sz="2000" dirty="0"/>
              <a:t>   </a:t>
            </a:r>
            <a:r>
              <a:rPr lang="fr-CA" sz="2000" i="1" dirty="0"/>
              <a:t>émission moins rachat    </a:t>
            </a:r>
            <a:r>
              <a:rPr lang="fr-CA" sz="2000" i="1" dirty="0">
                <a:solidFill>
                  <a:srgbClr val="FF0000"/>
                </a:solidFill>
              </a:rPr>
              <a:t>dilutif</a:t>
            </a:r>
            <a:endParaRPr lang="fr-CA" sz="2000" dirty="0"/>
          </a:p>
          <a:p>
            <a:pPr marL="0" indent="0">
              <a:buNone/>
            </a:pPr>
            <a:endParaRPr lang="fr-CA" sz="1000" dirty="0"/>
          </a:p>
          <a:p>
            <a:pPr marL="0" indent="0">
              <a:buNone/>
            </a:pPr>
            <a:r>
              <a:rPr lang="fr-CA" sz="2000" dirty="0"/>
              <a:t>	</a:t>
            </a:r>
            <a:r>
              <a:rPr lang="fr-CA" sz="2000" u="sng" dirty="0"/>
              <a:t>9 000 </a:t>
            </a:r>
            <a:r>
              <a:rPr lang="fr-CA" sz="2000" b="1" u="sng" dirty="0">
                <a:solidFill>
                  <a:srgbClr val="0070C0"/>
                </a:solidFill>
              </a:rPr>
              <a:t>+ 3 500      </a:t>
            </a:r>
            <a:r>
              <a:rPr lang="fr-CA" sz="2000" b="1" dirty="0">
                <a:solidFill>
                  <a:srgbClr val="0070C0"/>
                </a:solidFill>
              </a:rPr>
              <a:t> </a:t>
            </a:r>
            <a:r>
              <a:rPr lang="fr-CA" sz="2000" dirty="0"/>
              <a:t>= 7,95   </a:t>
            </a:r>
            <a:r>
              <a:rPr lang="fr-CA" sz="2000" i="1" dirty="0"/>
              <a:t>Activités poursuivies</a:t>
            </a:r>
            <a:r>
              <a:rPr lang="fr-CA" sz="2000" dirty="0"/>
              <a:t> </a:t>
            </a:r>
          </a:p>
          <a:p>
            <a:pPr marL="0" indent="0">
              <a:spcBef>
                <a:spcPts val="0"/>
              </a:spcBef>
              <a:buNone/>
            </a:pPr>
            <a:r>
              <a:rPr lang="fr-CA" sz="2000" dirty="0"/>
              <a:t>	1 025 </a:t>
            </a:r>
            <a:r>
              <a:rPr lang="fr-CA" sz="2000" b="1" dirty="0">
                <a:solidFill>
                  <a:srgbClr val="0070C0"/>
                </a:solidFill>
              </a:rPr>
              <a:t>+ 47 + 500</a:t>
            </a:r>
          </a:p>
          <a:p>
            <a:pPr marL="0" indent="0">
              <a:buNone/>
            </a:pPr>
            <a:r>
              <a:rPr lang="fr-CA" sz="2000" dirty="0"/>
              <a:t>	</a:t>
            </a:r>
            <a:r>
              <a:rPr lang="fr-CA" sz="2000" u="sng" dirty="0"/>
              <a:t>8 500 + </a:t>
            </a:r>
            <a:r>
              <a:rPr lang="fr-CA" sz="2000" u="sng" dirty="0">
                <a:solidFill>
                  <a:srgbClr val="0070C0"/>
                </a:solidFill>
              </a:rPr>
              <a:t>3 500      </a:t>
            </a:r>
            <a:r>
              <a:rPr lang="fr-CA" sz="2000" dirty="0">
                <a:solidFill>
                  <a:srgbClr val="0070C0"/>
                </a:solidFill>
              </a:rPr>
              <a:t> </a:t>
            </a:r>
            <a:r>
              <a:rPr lang="fr-CA" sz="2000" dirty="0"/>
              <a:t>= 7,63   </a:t>
            </a:r>
            <a:r>
              <a:rPr lang="fr-CA" sz="2000" i="1" dirty="0"/>
              <a:t>Résultat net</a:t>
            </a:r>
            <a:r>
              <a:rPr lang="fr-CA" sz="2000" dirty="0"/>
              <a:t> </a:t>
            </a:r>
          </a:p>
          <a:p>
            <a:pPr marL="0" indent="0">
              <a:spcBef>
                <a:spcPts val="0"/>
              </a:spcBef>
              <a:buNone/>
            </a:pPr>
            <a:r>
              <a:rPr lang="fr-CA" sz="2000" dirty="0"/>
              <a:t>	1 025 + </a:t>
            </a:r>
            <a:r>
              <a:rPr lang="fr-CA" sz="2000" dirty="0">
                <a:solidFill>
                  <a:srgbClr val="0070C0"/>
                </a:solidFill>
              </a:rPr>
              <a:t>47 + 500</a:t>
            </a:r>
            <a:endParaRPr lang="fr-CA" dirty="0">
              <a:solidFill>
                <a:srgbClr val="0070C0"/>
              </a:solidFill>
            </a:endParaRPr>
          </a:p>
        </p:txBody>
      </p:sp>
      <p:sp>
        <p:nvSpPr>
          <p:cNvPr id="5" name="Espace réservé du pied de page 4">
            <a:extLst>
              <a:ext uri="{FF2B5EF4-FFF2-40B4-BE49-F238E27FC236}">
                <a16:creationId xmlns:a16="http://schemas.microsoft.com/office/drawing/2014/main" id="{40FD05D0-62B7-452E-94E5-8A3810EAFC34}"/>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4384554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RPA – problème 3</a:t>
            </a:r>
          </a:p>
        </p:txBody>
      </p:sp>
      <p:sp>
        <p:nvSpPr>
          <p:cNvPr id="3" name="Espace réservé du contenu 2"/>
          <p:cNvSpPr>
            <a:spLocks noGrp="1"/>
          </p:cNvSpPr>
          <p:nvPr>
            <p:ph idx="1"/>
          </p:nvPr>
        </p:nvSpPr>
        <p:spPr>
          <a:xfrm>
            <a:off x="581192" y="1828800"/>
            <a:ext cx="11029615" cy="4029999"/>
          </a:xfrm>
        </p:spPr>
        <p:txBody>
          <a:bodyPr>
            <a:normAutofit/>
          </a:bodyPr>
          <a:lstStyle/>
          <a:p>
            <a:pPr marL="0" indent="0">
              <a:buNone/>
            </a:pPr>
            <a:r>
              <a:rPr lang="fr-CA" dirty="0">
                <a:solidFill>
                  <a:srgbClr val="002060"/>
                </a:solidFill>
              </a:rPr>
              <a:t>Bénéfice activités poursuivies :	  2 400 $</a:t>
            </a:r>
          </a:p>
          <a:p>
            <a:pPr marL="0" indent="0">
              <a:buNone/>
            </a:pPr>
            <a:r>
              <a:rPr lang="fr-CA" dirty="0">
                <a:solidFill>
                  <a:srgbClr val="002060"/>
                </a:solidFill>
              </a:rPr>
              <a:t>Perte sur activités abandonnées :	</a:t>
            </a:r>
            <a:r>
              <a:rPr lang="fr-CA" u="sng" dirty="0">
                <a:solidFill>
                  <a:srgbClr val="002060"/>
                </a:solidFill>
              </a:rPr>
              <a:t>(3 600) $</a:t>
            </a:r>
            <a:endParaRPr lang="fr-CA" dirty="0">
              <a:solidFill>
                <a:srgbClr val="002060"/>
              </a:solidFill>
            </a:endParaRPr>
          </a:p>
          <a:p>
            <a:pPr marL="0" indent="0">
              <a:buNone/>
            </a:pPr>
            <a:r>
              <a:rPr lang="fr-CA" dirty="0">
                <a:solidFill>
                  <a:srgbClr val="002060"/>
                </a:solidFill>
              </a:rPr>
              <a:t>Perte nette :					(1 200) $</a:t>
            </a:r>
          </a:p>
          <a:p>
            <a:pPr marL="0" indent="0">
              <a:buNone/>
            </a:pPr>
            <a:r>
              <a:rPr lang="fr-CA" dirty="0">
                <a:solidFill>
                  <a:srgbClr val="002060"/>
                </a:solidFill>
              </a:rPr>
              <a:t> </a:t>
            </a:r>
          </a:p>
          <a:p>
            <a:r>
              <a:rPr lang="fr-CA" dirty="0">
                <a:solidFill>
                  <a:srgbClr val="002060"/>
                </a:solidFill>
              </a:rPr>
              <a:t>1 000 actions ordinaires</a:t>
            </a:r>
          </a:p>
          <a:p>
            <a:r>
              <a:rPr lang="fr-CA" dirty="0">
                <a:solidFill>
                  <a:srgbClr val="002060"/>
                </a:solidFill>
              </a:rPr>
              <a:t>200 actions ordinaires potentielles en circulation (sans impact sur numérateur)</a:t>
            </a:r>
          </a:p>
          <a:p>
            <a:pPr marL="0" indent="0">
              <a:buNone/>
            </a:pPr>
            <a:endParaRPr lang="fr-CA" dirty="0">
              <a:solidFill>
                <a:srgbClr val="002060"/>
              </a:solidFill>
            </a:endParaRPr>
          </a:p>
          <a:p>
            <a:pPr marL="0" indent="0">
              <a:buNone/>
            </a:pPr>
            <a:r>
              <a:rPr lang="fr-CA" i="1" dirty="0">
                <a:solidFill>
                  <a:srgbClr val="002060"/>
                </a:solidFill>
              </a:rPr>
              <a:t>Travail à faire :</a:t>
            </a:r>
            <a:endParaRPr lang="fr-CA" dirty="0">
              <a:solidFill>
                <a:srgbClr val="002060"/>
              </a:solidFill>
            </a:endParaRPr>
          </a:p>
          <a:p>
            <a:pPr lvl="0"/>
            <a:r>
              <a:rPr lang="fr-CA" i="1" dirty="0">
                <a:solidFill>
                  <a:srgbClr val="002060"/>
                </a:solidFill>
              </a:rPr>
              <a:t>Calculez le résultat de base par action</a:t>
            </a:r>
            <a:endParaRPr lang="fr-CA" dirty="0">
              <a:solidFill>
                <a:srgbClr val="002060"/>
              </a:solidFill>
            </a:endParaRPr>
          </a:p>
          <a:p>
            <a:pPr lvl="0"/>
            <a:r>
              <a:rPr lang="fr-CA" i="1" dirty="0">
                <a:solidFill>
                  <a:srgbClr val="002060"/>
                </a:solidFill>
              </a:rPr>
              <a:t>Calculez le résultat dilué par action</a:t>
            </a:r>
            <a:endParaRPr lang="fr-CA" dirty="0">
              <a:solidFill>
                <a:srgbClr val="002060"/>
              </a:solidFill>
            </a:endParaRPr>
          </a:p>
        </p:txBody>
      </p:sp>
      <p:sp>
        <p:nvSpPr>
          <p:cNvPr id="5" name="Espace réservé du pied de page 4">
            <a:extLst>
              <a:ext uri="{FF2B5EF4-FFF2-40B4-BE49-F238E27FC236}">
                <a16:creationId xmlns:a16="http://schemas.microsoft.com/office/drawing/2014/main" id="{3AF50BC5-D4B1-406A-9185-C0A476A7F793}"/>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31733592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1" name="Titre 1"/>
          <p:cNvSpPr>
            <a:spLocks noGrp="1"/>
          </p:cNvSpPr>
          <p:nvPr>
            <p:ph type="title"/>
          </p:nvPr>
        </p:nvSpPr>
        <p:spPr/>
        <p:txBody>
          <a:bodyPr>
            <a:normAutofit/>
          </a:bodyPr>
          <a:lstStyle/>
          <a:p>
            <a:r>
              <a:rPr lang="fr-CA" dirty="0">
                <a:latin typeface="Calibri" charset="0"/>
                <a:ea typeface="MS PGothic" charset="0"/>
              </a:rPr>
              <a:t>RPA – problème 3</a:t>
            </a:r>
          </a:p>
        </p:txBody>
      </p:sp>
      <p:sp>
        <p:nvSpPr>
          <p:cNvPr id="3" name="Espace réservé du contenu 2"/>
          <p:cNvSpPr>
            <a:spLocks noGrp="1"/>
          </p:cNvSpPr>
          <p:nvPr>
            <p:ph idx="1"/>
          </p:nvPr>
        </p:nvSpPr>
        <p:spPr>
          <a:xfrm>
            <a:off x="581192" y="2180496"/>
            <a:ext cx="11029615" cy="4142843"/>
          </a:xfrm>
        </p:spPr>
        <p:txBody>
          <a:bodyPr>
            <a:normAutofit/>
          </a:bodyPr>
          <a:lstStyle/>
          <a:p>
            <a:pPr marL="0" indent="0">
              <a:buNone/>
              <a:defRPr/>
            </a:pPr>
            <a:r>
              <a:rPr lang="fr-CA" dirty="0"/>
              <a:t>Résultat base</a:t>
            </a:r>
          </a:p>
          <a:p>
            <a:pPr>
              <a:defRPr/>
            </a:pPr>
            <a:r>
              <a:rPr lang="fr-CA" dirty="0"/>
              <a:t>Activités poursuivies : 2400 / 1000 = 2,40 $</a:t>
            </a:r>
          </a:p>
          <a:p>
            <a:pPr>
              <a:defRPr/>
            </a:pPr>
            <a:r>
              <a:rPr lang="fr-CA" dirty="0"/>
              <a:t>Résultat net : (1 200) / 1000 = (1,20 $)</a:t>
            </a:r>
          </a:p>
          <a:p>
            <a:pPr>
              <a:defRPr/>
            </a:pPr>
            <a:endParaRPr lang="fr-CA" dirty="0"/>
          </a:p>
          <a:p>
            <a:pPr marL="0" indent="0">
              <a:buNone/>
              <a:defRPr/>
            </a:pPr>
            <a:r>
              <a:rPr lang="fr-CA" dirty="0"/>
              <a:t>Résultat dilué</a:t>
            </a:r>
          </a:p>
          <a:p>
            <a:pPr>
              <a:defRPr/>
            </a:pPr>
            <a:r>
              <a:rPr lang="fr-CA" dirty="0"/>
              <a:t>Activités poursuivies : 2400 / (1000+200) = 2,00 $</a:t>
            </a:r>
          </a:p>
          <a:p>
            <a:pPr>
              <a:defRPr/>
            </a:pPr>
            <a:r>
              <a:rPr lang="fr-CA" dirty="0"/>
              <a:t>Résultat net : (1 200) / (1000+200) = (1,00 $)</a:t>
            </a:r>
          </a:p>
          <a:p>
            <a:pPr>
              <a:defRPr/>
            </a:pPr>
            <a:endParaRPr lang="fr-CA" dirty="0"/>
          </a:p>
          <a:p>
            <a:pPr>
              <a:buFont typeface="Wingdings" charset="2"/>
              <a:buChar char="Ø"/>
              <a:defRPr/>
            </a:pPr>
            <a:r>
              <a:rPr lang="fr-CA" dirty="0">
                <a:solidFill>
                  <a:srgbClr val="FF0000"/>
                </a:solidFill>
              </a:rPr>
              <a:t>Test dilution au niveau des activités poursuivies </a:t>
            </a:r>
            <a:r>
              <a:rPr lang="fr-CA" i="1" dirty="0">
                <a:solidFill>
                  <a:srgbClr val="FF0000"/>
                </a:solidFill>
              </a:rPr>
              <a:t>(et on reprend les mêmes éléments de dilution au niveau du résultat net, sans retester)</a:t>
            </a:r>
            <a:endParaRPr lang="fr-CA" dirty="0">
              <a:solidFill>
                <a:srgbClr val="FF0000"/>
              </a:solidFill>
            </a:endParaRPr>
          </a:p>
        </p:txBody>
      </p:sp>
      <p:sp>
        <p:nvSpPr>
          <p:cNvPr id="2" name="Espace réservé du pied de page 1">
            <a:extLst>
              <a:ext uri="{FF2B5EF4-FFF2-40B4-BE49-F238E27FC236}">
                <a16:creationId xmlns:a16="http://schemas.microsoft.com/office/drawing/2014/main" id="{399CBE8A-4B47-4044-84CD-76E4ED753ABA}"/>
              </a:ext>
            </a:extLst>
          </p:cNvPr>
          <p:cNvSpPr>
            <a:spLocks noGrp="1"/>
          </p:cNvSpPr>
          <p:nvPr>
            <p:ph type="ftr" sz="quarter" idx="11"/>
          </p:nvPr>
        </p:nvSpPr>
        <p:spPr>
          <a:xfrm>
            <a:off x="581192" y="6323339"/>
            <a:ext cx="6917210" cy="365125"/>
          </a:xfrm>
        </p:spPr>
        <p:txBody>
          <a:bodyPr/>
          <a:lstStyle/>
          <a:p>
            <a:r>
              <a:rPr lang="fr-FR" dirty="0"/>
              <a:t>Droits réservés Louise Overbeek</a:t>
            </a:r>
          </a:p>
        </p:txBody>
      </p:sp>
    </p:spTree>
    <p:extLst>
      <p:ext uri="{BB962C8B-B14F-4D97-AF65-F5344CB8AC3E}">
        <p14:creationId xmlns:p14="http://schemas.microsoft.com/office/powerpoint/2010/main" val="9949542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RPA – problème 4</a:t>
            </a:r>
          </a:p>
        </p:txBody>
      </p:sp>
      <p:sp>
        <p:nvSpPr>
          <p:cNvPr id="3" name="Espace réservé du contenu 2"/>
          <p:cNvSpPr>
            <a:spLocks noGrp="1"/>
          </p:cNvSpPr>
          <p:nvPr>
            <p:ph idx="1"/>
          </p:nvPr>
        </p:nvSpPr>
        <p:spPr>
          <a:xfrm>
            <a:off x="581192" y="1818640"/>
            <a:ext cx="11029615" cy="4678413"/>
          </a:xfrm>
        </p:spPr>
        <p:txBody>
          <a:bodyPr>
            <a:normAutofit/>
          </a:bodyPr>
          <a:lstStyle/>
          <a:p>
            <a:pPr marL="0" indent="0">
              <a:buNone/>
            </a:pPr>
            <a:r>
              <a:rPr lang="fr-CA" dirty="0">
                <a:solidFill>
                  <a:srgbClr val="002060"/>
                </a:solidFill>
              </a:rPr>
              <a:t>Bénéfice activités poursuivies :	    400 000 $</a:t>
            </a:r>
          </a:p>
          <a:p>
            <a:pPr marL="0" indent="0">
              <a:buNone/>
            </a:pPr>
            <a:r>
              <a:rPr lang="fr-CA" dirty="0">
                <a:solidFill>
                  <a:srgbClr val="002060"/>
                </a:solidFill>
              </a:rPr>
              <a:t>Activités abandonnées :			</a:t>
            </a:r>
            <a:r>
              <a:rPr lang="fr-CA" u="sng" dirty="0">
                <a:solidFill>
                  <a:srgbClr val="002060"/>
                </a:solidFill>
              </a:rPr>
              <a:t>1 500 000 $</a:t>
            </a:r>
            <a:endParaRPr lang="fr-CA" dirty="0">
              <a:solidFill>
                <a:srgbClr val="002060"/>
              </a:solidFill>
            </a:endParaRPr>
          </a:p>
          <a:p>
            <a:pPr marL="0" indent="0">
              <a:buNone/>
            </a:pPr>
            <a:r>
              <a:rPr lang="fr-CA" dirty="0">
                <a:solidFill>
                  <a:srgbClr val="002060"/>
                </a:solidFill>
              </a:rPr>
              <a:t>Bénéfice net :					1 900 000 $</a:t>
            </a:r>
          </a:p>
          <a:p>
            <a:pPr marL="0" indent="0">
              <a:buNone/>
            </a:pPr>
            <a:endParaRPr lang="fr-CA" dirty="0">
              <a:solidFill>
                <a:srgbClr val="002060"/>
              </a:solidFill>
            </a:endParaRPr>
          </a:p>
          <a:p>
            <a:r>
              <a:rPr lang="fr-CA" dirty="0">
                <a:solidFill>
                  <a:srgbClr val="002060"/>
                </a:solidFill>
              </a:rPr>
              <a:t>10 000 actions ordinaires</a:t>
            </a:r>
          </a:p>
          <a:p>
            <a:r>
              <a:rPr lang="fr-CA" dirty="0">
                <a:solidFill>
                  <a:srgbClr val="002060"/>
                </a:solidFill>
              </a:rPr>
              <a:t>100 actions préférentielles (classées dans les capitaux propres) – dividende de 500 000 $ déclaré pendant l’exercice</a:t>
            </a:r>
          </a:p>
          <a:p>
            <a:r>
              <a:rPr lang="fr-CA" dirty="0">
                <a:solidFill>
                  <a:srgbClr val="002060"/>
                </a:solidFill>
              </a:rPr>
              <a:t>200 actions ordinaires potentielles en circulation (sans impact sur numérateur) (ex. contrepartie conditionnelle sur transaction antérieure)</a:t>
            </a:r>
          </a:p>
          <a:p>
            <a:pPr marL="0" indent="0">
              <a:buNone/>
            </a:pPr>
            <a:r>
              <a:rPr lang="fr-CA" dirty="0">
                <a:solidFill>
                  <a:srgbClr val="002060"/>
                </a:solidFill>
              </a:rPr>
              <a:t> </a:t>
            </a:r>
          </a:p>
          <a:p>
            <a:pPr marL="0" indent="0">
              <a:buNone/>
            </a:pPr>
            <a:r>
              <a:rPr lang="fr-CA" i="1" dirty="0">
                <a:solidFill>
                  <a:srgbClr val="002060"/>
                </a:solidFill>
              </a:rPr>
              <a:t>Travail à faire :</a:t>
            </a:r>
            <a:endParaRPr lang="fr-CA" dirty="0">
              <a:solidFill>
                <a:srgbClr val="002060"/>
              </a:solidFill>
            </a:endParaRPr>
          </a:p>
          <a:p>
            <a:pPr lvl="0"/>
            <a:r>
              <a:rPr lang="fr-CA" dirty="0">
                <a:solidFill>
                  <a:srgbClr val="002060"/>
                </a:solidFill>
              </a:rPr>
              <a:t>Calculez tous les résultats par action qui doivent être présentés.</a:t>
            </a:r>
          </a:p>
        </p:txBody>
      </p:sp>
      <p:sp>
        <p:nvSpPr>
          <p:cNvPr id="5" name="Espace réservé du pied de page 4">
            <a:extLst>
              <a:ext uri="{FF2B5EF4-FFF2-40B4-BE49-F238E27FC236}">
                <a16:creationId xmlns:a16="http://schemas.microsoft.com/office/drawing/2014/main" id="{1D8CF1EA-274B-4380-86AD-15EDC6B6E606}"/>
              </a:ext>
            </a:extLst>
          </p:cNvPr>
          <p:cNvSpPr>
            <a:spLocks noGrp="1"/>
          </p:cNvSpPr>
          <p:nvPr>
            <p:ph type="ftr" sz="quarter" idx="11"/>
          </p:nvPr>
        </p:nvSpPr>
        <p:spPr>
          <a:xfrm>
            <a:off x="581192" y="6348854"/>
            <a:ext cx="6917210" cy="365125"/>
          </a:xfrm>
        </p:spPr>
        <p:txBody>
          <a:bodyPr/>
          <a:lstStyle/>
          <a:p>
            <a:r>
              <a:rPr lang="fr-FR" dirty="0"/>
              <a:t>Droits réservés Louise Overbeek</a:t>
            </a:r>
          </a:p>
        </p:txBody>
      </p:sp>
    </p:spTree>
    <p:extLst>
      <p:ext uri="{BB962C8B-B14F-4D97-AF65-F5344CB8AC3E}">
        <p14:creationId xmlns:p14="http://schemas.microsoft.com/office/powerpoint/2010/main" val="13868645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5" name="Titre 1"/>
          <p:cNvSpPr>
            <a:spLocks noGrp="1"/>
          </p:cNvSpPr>
          <p:nvPr>
            <p:ph type="title"/>
          </p:nvPr>
        </p:nvSpPr>
        <p:spPr/>
        <p:txBody>
          <a:bodyPr>
            <a:normAutofit/>
          </a:bodyPr>
          <a:lstStyle/>
          <a:p>
            <a:r>
              <a:rPr lang="fr-CA" dirty="0">
                <a:latin typeface="Calibri" charset="0"/>
                <a:ea typeface="MS PGothic" charset="0"/>
              </a:rPr>
              <a:t>RPA – problème 4</a:t>
            </a:r>
          </a:p>
        </p:txBody>
      </p:sp>
      <p:sp>
        <p:nvSpPr>
          <p:cNvPr id="3" name="Espace réservé du contenu 2"/>
          <p:cNvSpPr>
            <a:spLocks noGrp="1"/>
          </p:cNvSpPr>
          <p:nvPr>
            <p:ph idx="1"/>
          </p:nvPr>
        </p:nvSpPr>
        <p:spPr>
          <a:xfrm>
            <a:off x="838200" y="1825624"/>
            <a:ext cx="10515600" cy="4126187"/>
          </a:xfrm>
        </p:spPr>
        <p:txBody>
          <a:bodyPr>
            <a:normAutofit lnSpcReduction="10000"/>
          </a:bodyPr>
          <a:lstStyle/>
          <a:p>
            <a:pPr marL="0" indent="0">
              <a:buNone/>
              <a:defRPr/>
            </a:pPr>
            <a:r>
              <a:rPr lang="fr-CA" dirty="0"/>
              <a:t>Résultat base</a:t>
            </a:r>
          </a:p>
          <a:p>
            <a:pPr>
              <a:defRPr/>
            </a:pPr>
            <a:r>
              <a:rPr lang="fr-CA" dirty="0"/>
              <a:t>Activités poursuivies : (400k-500k) / 10k = (10,00 $)</a:t>
            </a:r>
          </a:p>
          <a:p>
            <a:pPr>
              <a:defRPr/>
            </a:pPr>
            <a:r>
              <a:rPr lang="fr-CA" dirty="0"/>
              <a:t>Résultat net : (1 900k-500k) / 10k = 140,00 $</a:t>
            </a:r>
          </a:p>
          <a:p>
            <a:pPr>
              <a:defRPr/>
            </a:pPr>
            <a:endParaRPr lang="fr-CA" dirty="0"/>
          </a:p>
          <a:p>
            <a:pPr marL="0" indent="0">
              <a:buNone/>
              <a:defRPr/>
            </a:pPr>
            <a:r>
              <a:rPr lang="fr-CA" dirty="0"/>
              <a:t>Résultat dilué</a:t>
            </a:r>
          </a:p>
          <a:p>
            <a:pPr>
              <a:defRPr/>
            </a:pPr>
            <a:r>
              <a:rPr lang="fr-CA" dirty="0"/>
              <a:t>Activités poursuivies : </a:t>
            </a:r>
            <a:r>
              <a:rPr lang="fr-CA" dirty="0" err="1"/>
              <a:t>antidilutif</a:t>
            </a:r>
            <a:r>
              <a:rPr lang="fr-CA" dirty="0"/>
              <a:t> donc idem au résultat de base par action </a:t>
            </a:r>
            <a:r>
              <a:rPr lang="fr-CA" i="1" dirty="0"/>
              <a:t>(divulguer l’élément de dilution en note)</a:t>
            </a:r>
          </a:p>
          <a:p>
            <a:pPr>
              <a:defRPr/>
            </a:pPr>
            <a:r>
              <a:rPr lang="fr-CA" dirty="0"/>
              <a:t>Résultat net : donc idem </a:t>
            </a:r>
            <a:r>
              <a:rPr lang="fr-CA" i="1" dirty="0"/>
              <a:t>(car utilise les mêmes éléments de dilution que déterminés au niveau des activités poursuivies)</a:t>
            </a:r>
          </a:p>
          <a:p>
            <a:pPr>
              <a:defRPr/>
            </a:pPr>
            <a:endParaRPr lang="fr-CA" dirty="0"/>
          </a:p>
          <a:p>
            <a:pPr>
              <a:buFont typeface="Wingdings" charset="2"/>
              <a:buChar char="Ø"/>
              <a:defRPr/>
            </a:pPr>
            <a:r>
              <a:rPr lang="fr-CA" dirty="0">
                <a:solidFill>
                  <a:srgbClr val="FF0000"/>
                </a:solidFill>
              </a:rPr>
              <a:t>Test dilution au niveau des activités poursuivies</a:t>
            </a:r>
          </a:p>
        </p:txBody>
      </p:sp>
      <p:sp>
        <p:nvSpPr>
          <p:cNvPr id="2" name="Espace réservé du pied de page 1">
            <a:extLst>
              <a:ext uri="{FF2B5EF4-FFF2-40B4-BE49-F238E27FC236}">
                <a16:creationId xmlns:a16="http://schemas.microsoft.com/office/drawing/2014/main" id="{37AD7348-0AB6-4CD2-80ED-E1C5D3AF20DA}"/>
              </a:ext>
            </a:extLst>
          </p:cNvPr>
          <p:cNvSpPr>
            <a:spLocks noGrp="1"/>
          </p:cNvSpPr>
          <p:nvPr>
            <p:ph type="ftr" sz="quarter" idx="11"/>
          </p:nvPr>
        </p:nvSpPr>
        <p:spPr/>
        <p:txBody>
          <a:bodyPr/>
          <a:lstStyle/>
          <a:p>
            <a:r>
              <a:rPr lang="fr-FR"/>
              <a:t>Droits réservés Louise Overbeek</a:t>
            </a:r>
          </a:p>
        </p:txBody>
      </p:sp>
    </p:spTree>
    <p:extLst>
      <p:ext uri="{BB962C8B-B14F-4D97-AF65-F5344CB8AC3E}">
        <p14:creationId xmlns:p14="http://schemas.microsoft.com/office/powerpoint/2010/main" val="86339131"/>
      </p:ext>
    </p:extLst>
  </p:cSld>
  <p:clrMapOvr>
    <a:masterClrMapping/>
  </p:clrMapOvr>
</p:sld>
</file>

<file path=ppt/theme/theme1.xml><?xml version="1.0" encoding="utf-8"?>
<a:theme xmlns:a="http://schemas.openxmlformats.org/drawingml/2006/main" name="Dividende">
  <a:themeElements>
    <a:clrScheme name="Dividende">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e">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Dividende</Template>
  <TotalTime>5808</TotalTime>
  <Words>8401</Words>
  <Application>Microsoft Office PowerPoint</Application>
  <PresentationFormat>Grand écran</PresentationFormat>
  <Paragraphs>582</Paragraphs>
  <Slides>65</Slides>
  <Notes>16</Notes>
  <HiddenSlides>0</HiddenSlides>
  <MMClips>0</MMClips>
  <ScaleCrop>false</ScaleCrop>
  <HeadingPairs>
    <vt:vector size="8" baseType="variant">
      <vt:variant>
        <vt:lpstr>Polices utilisées</vt:lpstr>
      </vt:variant>
      <vt:variant>
        <vt:i4>9</vt:i4>
      </vt:variant>
      <vt:variant>
        <vt:lpstr>Thème</vt:lpstr>
      </vt:variant>
      <vt:variant>
        <vt:i4>1</vt:i4>
      </vt:variant>
      <vt:variant>
        <vt:lpstr>Serveurs OLE incorporés</vt:lpstr>
      </vt:variant>
      <vt:variant>
        <vt:i4>1</vt:i4>
      </vt:variant>
      <vt:variant>
        <vt:lpstr>Titres des diapositives</vt:lpstr>
      </vt:variant>
      <vt:variant>
        <vt:i4>65</vt:i4>
      </vt:variant>
    </vt:vector>
  </HeadingPairs>
  <TitlesOfParts>
    <vt:vector size="76" baseType="lpstr">
      <vt:lpstr>MS PGothic</vt:lpstr>
      <vt:lpstr>Arial</vt:lpstr>
      <vt:lpstr>Calibri</vt:lpstr>
      <vt:lpstr>Gill Sans MT</vt:lpstr>
      <vt:lpstr>Gill Sans MT (Corps)</vt:lpstr>
      <vt:lpstr>Times New Roman</vt:lpstr>
      <vt:lpstr>Univers</vt:lpstr>
      <vt:lpstr>Wingdings</vt:lpstr>
      <vt:lpstr>Wingdings 2</vt:lpstr>
      <vt:lpstr>Dividende</vt:lpstr>
      <vt:lpstr>Worksheet</vt:lpstr>
      <vt:lpstr>Résultat par action</vt:lpstr>
      <vt:lpstr>Résultat par action (IAS 33)</vt:lpstr>
      <vt:lpstr>Contexte</vt:lpstr>
      <vt:lpstr>Contexte</vt:lpstr>
      <vt:lpstr>Contexte</vt:lpstr>
      <vt:lpstr>Contexte</vt:lpstr>
      <vt:lpstr>Définitions</vt:lpstr>
      <vt:lpstr>Définitions</vt:lpstr>
      <vt:lpstr>Définitions</vt:lpstr>
      <vt:lpstr>Résultat de base par action – Présentation</vt:lpstr>
      <vt:lpstr>Résultat de base par action – éléments entrant dans le calcul</vt:lpstr>
      <vt:lpstr>Résultat de base par action – éléments entrant dans le calcul</vt:lpstr>
      <vt:lpstr>Résultat de base par action – éléments entrant dans le calcul</vt:lpstr>
      <vt:lpstr>Résultat de base par action – éléments entrant dans le calcul</vt:lpstr>
      <vt:lpstr>Résultat de base par action – éléments entrant dans le calcul</vt:lpstr>
      <vt:lpstr>Définitions</vt:lpstr>
      <vt:lpstr>Résultat de base par action – éléments entrant dans le calcul</vt:lpstr>
      <vt:lpstr>Résultat de base par action – éléments entrant dans le calcul</vt:lpstr>
      <vt:lpstr>Résultat de base par action – exemple (analyse et calcul)</vt:lpstr>
      <vt:lpstr>Résultat de base par action – exemple (analyse et calcul)</vt:lpstr>
      <vt:lpstr>Résultat de base par action – exemple (analyse et calcul)</vt:lpstr>
      <vt:lpstr>Résultat de base par action – exemple (analyse et calcul)</vt:lpstr>
      <vt:lpstr>Résultat de base par action – exemple (analyse et calcul)</vt:lpstr>
      <vt:lpstr>Résultat de base par action – exemple (analyse et calcul)</vt:lpstr>
      <vt:lpstr>Résultat dilué par action – présentation</vt:lpstr>
      <vt:lpstr>Résultat dilué par action – présentation</vt:lpstr>
      <vt:lpstr>Résultat dilué par action – présentation</vt:lpstr>
      <vt:lpstr>Résultat dilué par action – éléments entrant dans le calcul</vt:lpstr>
      <vt:lpstr>Résultat dilué par action – éléments entrant dans le calcul</vt:lpstr>
      <vt:lpstr>Évaluation - Résultat dilué par action</vt:lpstr>
      <vt:lpstr>Évaluation - Résultat dilué par action</vt:lpstr>
      <vt:lpstr>Évaluation - Résultat dilué par action</vt:lpstr>
      <vt:lpstr>Évaluation - Résultat dilué par action</vt:lpstr>
      <vt:lpstr>Évaluation - Résultat dilué par action</vt:lpstr>
      <vt:lpstr>Évaluation - Résultat dilué par action</vt:lpstr>
      <vt:lpstr>Résultat dilué par action – éléments entrant dans le calcul</vt:lpstr>
      <vt:lpstr> Résultat dilué par action – éléments entrant dans le calcul</vt:lpstr>
      <vt:lpstr>Résultat dilué par action – éléments entrant dans le calcul</vt:lpstr>
      <vt:lpstr>Résultat dilué par action – éléments entrant dans le calcul</vt:lpstr>
      <vt:lpstr>Résultat dilué par action – éléments entrant dans le calcul</vt:lpstr>
      <vt:lpstr>Résultat dilué par action – éléments entrant dans le calcul</vt:lpstr>
      <vt:lpstr>Évaluation - Résultat dilué par action</vt:lpstr>
      <vt:lpstr>Évaluation - Résultat dilué par action</vt:lpstr>
      <vt:lpstr>Résultat dilué par action – éléments entrant dans le calcul</vt:lpstr>
      <vt:lpstr>Évaluation - Résultat dilué par action</vt:lpstr>
      <vt:lpstr>Résultat par action dilué – exemple (analyse et calcul)</vt:lpstr>
      <vt:lpstr>Résultat par action dilué – exemple (analyse et calcul)</vt:lpstr>
      <vt:lpstr>Résultat par action dilué – exemple (analyse et calcul)</vt:lpstr>
      <vt:lpstr>Résultat par action dilué – exemple (analyse et calcul)</vt:lpstr>
      <vt:lpstr>Résultat par action dilué – exemple (analyse et calcul)</vt:lpstr>
      <vt:lpstr>Résultat par action dilué – exemple (analyse et calcul)</vt:lpstr>
      <vt:lpstr>Résultat par action dilué – exemple (analyse et calcul)</vt:lpstr>
      <vt:lpstr>Résultat par action dilué – exemple (analyse et calcul)</vt:lpstr>
      <vt:lpstr>Activités abandonnées</vt:lpstr>
      <vt:lpstr>Activités abandonnées</vt:lpstr>
      <vt:lpstr>Activités abandonnées</vt:lpstr>
      <vt:lpstr>Résultat de base par action</vt:lpstr>
      <vt:lpstr>RPA– problème 1</vt:lpstr>
      <vt:lpstr>RPA – problème 1</vt:lpstr>
      <vt:lpstr>RPA – problème 2</vt:lpstr>
      <vt:lpstr>RPA – problème 2</vt:lpstr>
      <vt:lpstr>RPA – problème 3</vt:lpstr>
      <vt:lpstr>RPA – problème 3</vt:lpstr>
      <vt:lpstr>RPA – problème 4</vt:lpstr>
      <vt:lpstr>RPA – problème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SOKRI Marzouk</cp:lastModifiedBy>
  <cp:revision>22</cp:revision>
  <cp:lastPrinted>2020-06-30T15:01:08Z</cp:lastPrinted>
  <dcterms:created xsi:type="dcterms:W3CDTF">2020-06-30T12:45:13Z</dcterms:created>
  <dcterms:modified xsi:type="dcterms:W3CDTF">2025-02-23T14:32:42Z</dcterms:modified>
</cp:coreProperties>
</file>