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9" r:id="rId3"/>
    <p:sldId id="260" r:id="rId4"/>
    <p:sldId id="262" r:id="rId5"/>
    <p:sldId id="263" r:id="rId6"/>
    <p:sldId id="264" r:id="rId7"/>
    <p:sldId id="265" r:id="rId8"/>
    <p:sldId id="266" r:id="rId9"/>
    <p:sldId id="267" r:id="rId10"/>
    <p:sldId id="359" r:id="rId11"/>
    <p:sldId id="268" r:id="rId12"/>
    <p:sldId id="269" r:id="rId13"/>
    <p:sldId id="315" r:id="rId14"/>
    <p:sldId id="270" r:id="rId15"/>
    <p:sldId id="333"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334" r:id="rId42"/>
    <p:sldId id="298" r:id="rId43"/>
    <p:sldId id="299" r:id="rId44"/>
    <p:sldId id="300" r:id="rId45"/>
    <p:sldId id="335" r:id="rId46"/>
    <p:sldId id="336" r:id="rId47"/>
    <p:sldId id="301" r:id="rId48"/>
    <p:sldId id="302" r:id="rId49"/>
    <p:sldId id="337" r:id="rId50"/>
    <p:sldId id="332" r:id="rId51"/>
    <p:sldId id="258" r:id="rId52"/>
    <p:sldId id="338" r:id="rId53"/>
    <p:sldId id="339" r:id="rId54"/>
    <p:sldId id="340" r:id="rId55"/>
    <p:sldId id="261" r:id="rId56"/>
    <p:sldId id="341" r:id="rId57"/>
    <p:sldId id="342" r:id="rId58"/>
    <p:sldId id="343" r:id="rId59"/>
    <p:sldId id="344" r:id="rId60"/>
    <p:sldId id="345" r:id="rId61"/>
    <p:sldId id="346" r:id="rId62"/>
    <p:sldId id="347" r:id="rId63"/>
    <p:sldId id="348" r:id="rId64"/>
    <p:sldId id="349" r:id="rId65"/>
    <p:sldId id="350" r:id="rId66"/>
    <p:sldId id="351" r:id="rId67"/>
    <p:sldId id="352" r:id="rId68"/>
    <p:sldId id="353" r:id="rId69"/>
    <p:sldId id="354" r:id="rId70"/>
    <p:sldId id="355" r:id="rId71"/>
    <p:sldId id="356" r:id="rId72"/>
    <p:sldId id="357" r:id="rId73"/>
    <p:sldId id="358" r:id="rId7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CC875-F818-4575-BB4E-9E4655D02211}" type="datetimeFigureOut">
              <a:rPr lang="fr-CA" smtClean="0"/>
              <a:t>2021-01-18</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B6B11-AC25-4822-A24A-0B09AB6E0F7C}" type="slidenum">
              <a:rPr lang="fr-CA" smtClean="0"/>
              <a:t>‹N°›</a:t>
            </a:fld>
            <a:endParaRPr lang="fr-CA"/>
          </a:p>
        </p:txBody>
      </p:sp>
    </p:spTree>
    <p:extLst>
      <p:ext uri="{BB962C8B-B14F-4D97-AF65-F5344CB8AC3E}">
        <p14:creationId xmlns:p14="http://schemas.microsoft.com/office/powerpoint/2010/main" val="3552917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3385547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131133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26857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CEFE630B-E78D-45D3-BB98-593A5B1A5E7B}" type="datetimeFigureOut">
              <a:rPr lang="fr-CA" smtClean="0"/>
              <a:t>2021-01-18</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1764175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CEFE630B-E78D-45D3-BB98-593A5B1A5E7B}" type="datetimeFigureOut">
              <a:rPr lang="fr-CA" smtClean="0"/>
              <a:t>2021-01-18</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2452379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CEFE630B-E78D-45D3-BB98-593A5B1A5E7B}" type="datetimeFigureOut">
              <a:rPr lang="fr-CA" smtClean="0"/>
              <a:t>2021-01-18</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3778428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EFE630B-E78D-45D3-BB98-593A5B1A5E7B}" type="datetimeFigureOut">
              <a:rPr lang="fr-CA" smtClean="0"/>
              <a:t>2021-01-18</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3995415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EFE630B-E78D-45D3-BB98-593A5B1A5E7B}" type="datetimeFigureOut">
              <a:rPr lang="fr-CA" smtClean="0"/>
              <a:t>2021-01-18</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2743364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EFE630B-E78D-45D3-BB98-593A5B1A5E7B}" type="datetimeFigureOut">
              <a:rPr lang="fr-CA" smtClean="0"/>
              <a:t>2021-01-18</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53437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374042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8513C416-A56F-4865-8186-A9F3AD2092A9}" type="slidenum">
              <a:rPr lang="fr-CA" smtClean="0"/>
              <a:t>‹N°›</a:t>
            </a:fld>
            <a:endParaRPr lang="fr-CA"/>
          </a:p>
        </p:txBody>
      </p:sp>
    </p:spTree>
    <p:extLst>
      <p:ext uri="{BB962C8B-B14F-4D97-AF65-F5344CB8AC3E}">
        <p14:creationId xmlns:p14="http://schemas.microsoft.com/office/powerpoint/2010/main" val="2317209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FE630B-E78D-45D3-BB98-593A5B1A5E7B}" type="datetimeFigureOut">
              <a:rPr lang="fr-CA" smtClean="0"/>
              <a:t>2021-01-18</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13C416-A56F-4865-8186-A9F3AD2092A9}" type="slidenum">
              <a:rPr lang="fr-CA" smtClean="0"/>
              <a:t>‹N°›</a:t>
            </a:fld>
            <a:endParaRPr lang="fr-CA"/>
          </a:p>
        </p:txBody>
      </p:sp>
    </p:spTree>
    <p:extLst>
      <p:ext uri="{BB962C8B-B14F-4D97-AF65-F5344CB8AC3E}">
        <p14:creationId xmlns:p14="http://schemas.microsoft.com/office/powerpoint/2010/main" val="160480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altLang="fr-FR" b="1" dirty="0"/>
              <a:t>Avantages du personnel</a:t>
            </a:r>
            <a:endParaRPr lang="fr-CA" dirty="0"/>
          </a:p>
        </p:txBody>
      </p:sp>
      <p:sp>
        <p:nvSpPr>
          <p:cNvPr id="3" name="Sous-titre 2"/>
          <p:cNvSpPr>
            <a:spLocks noGrp="1"/>
          </p:cNvSpPr>
          <p:nvPr>
            <p:ph type="subTitle" idx="1"/>
          </p:nvPr>
        </p:nvSpPr>
        <p:spPr/>
        <p:txBody>
          <a:bodyPr/>
          <a:lstStyle/>
          <a:p>
            <a:pPr>
              <a:lnSpc>
                <a:spcPct val="80000"/>
              </a:lnSpc>
            </a:pPr>
            <a:endParaRPr lang="fr-FR" altLang="fr-FR" dirty="0">
              <a:solidFill>
                <a:srgbClr val="898989"/>
              </a:solidFill>
            </a:endParaRPr>
          </a:p>
          <a:p>
            <a:pPr>
              <a:lnSpc>
                <a:spcPct val="80000"/>
              </a:lnSpc>
            </a:pPr>
            <a:endParaRPr lang="fr-FR" altLang="fr-FR" dirty="0">
              <a:solidFill>
                <a:srgbClr val="898989"/>
              </a:solidFill>
            </a:endParaRPr>
          </a:p>
          <a:p>
            <a:pPr>
              <a:lnSpc>
                <a:spcPct val="80000"/>
              </a:lnSpc>
            </a:pPr>
            <a:r>
              <a:rPr lang="fr-FR" altLang="fr-FR" dirty="0">
                <a:solidFill>
                  <a:srgbClr val="898989"/>
                </a:solidFill>
              </a:rPr>
              <a:t>Louise Overbeek</a:t>
            </a:r>
          </a:p>
          <a:p>
            <a:pPr>
              <a:lnSpc>
                <a:spcPct val="80000"/>
              </a:lnSpc>
            </a:pPr>
            <a:r>
              <a:rPr lang="fr-FR" altLang="fr-FR" sz="1800">
                <a:solidFill>
                  <a:srgbClr val="898989"/>
                </a:solidFill>
              </a:rPr>
              <a:t>Janvier 2021</a:t>
            </a:r>
            <a:endParaRPr lang="fr-CA" dirty="0"/>
          </a:p>
        </p:txBody>
      </p:sp>
    </p:spTree>
    <p:extLst>
      <p:ext uri="{BB962C8B-B14F-4D97-AF65-F5344CB8AC3E}">
        <p14:creationId xmlns:p14="http://schemas.microsoft.com/office/powerpoint/2010/main" val="4242653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911508"/>
          </a:xfrm>
        </p:spPr>
        <p:txBody>
          <a:bodyPr/>
          <a:lstStyle/>
          <a:p>
            <a:pPr algn="ctr"/>
            <a:r>
              <a:rPr lang="fr-CA" sz="3600" dirty="0"/>
              <a:t>Exemples?</a:t>
            </a:r>
            <a:endParaRPr lang="fr-CA" dirty="0"/>
          </a:p>
        </p:txBody>
      </p:sp>
      <p:sp>
        <p:nvSpPr>
          <p:cNvPr id="3" name="Espace réservé du contenu 2"/>
          <p:cNvSpPr>
            <a:spLocks noGrp="1"/>
          </p:cNvSpPr>
          <p:nvPr>
            <p:ph idx="1"/>
          </p:nvPr>
        </p:nvSpPr>
        <p:spPr>
          <a:xfrm>
            <a:off x="838200" y="1276634"/>
            <a:ext cx="10515600" cy="5205189"/>
          </a:xfrm>
        </p:spPr>
        <p:txBody>
          <a:bodyPr>
            <a:normAutofit fontScale="55000" lnSpcReduction="20000"/>
          </a:bodyPr>
          <a:lstStyle/>
          <a:p>
            <a:pPr marL="0" indent="0">
              <a:spcAft>
                <a:spcPts val="600"/>
              </a:spcAft>
              <a:buNone/>
            </a:pPr>
            <a:r>
              <a:rPr lang="fr-CA" sz="4400" dirty="0"/>
              <a:t>6     Les avantages du personnel </a:t>
            </a:r>
            <a:r>
              <a:rPr lang="fr-CA" sz="4400" i="1" dirty="0"/>
              <a:t>(incluant administrateurs et dirigeants) </a:t>
            </a:r>
            <a:r>
              <a:rPr lang="fr-CA" sz="4400" dirty="0"/>
              <a:t>englobent les prestations servies aux membres du personnel </a:t>
            </a:r>
            <a:r>
              <a:rPr lang="fr-CA" sz="4400" dirty="0">
                <a:solidFill>
                  <a:srgbClr val="0070C0"/>
                </a:solidFill>
              </a:rPr>
              <a:t>ou à leurs personnes à charge ou bénéficiaires</a:t>
            </a:r>
            <a:r>
              <a:rPr lang="fr-CA" sz="4400" dirty="0"/>
              <a:t> ; ils peuvent être réglés par des </a:t>
            </a:r>
            <a:r>
              <a:rPr lang="fr-CA" sz="4400" dirty="0">
                <a:solidFill>
                  <a:srgbClr val="0070C0"/>
                </a:solidFill>
              </a:rPr>
              <a:t>paiements (ou par la fourniture de biens ou de services) </a:t>
            </a:r>
            <a:r>
              <a:rPr lang="fr-CA" sz="4400" dirty="0"/>
              <a:t>effectués directement aux membres du personnel, ou à leurs conjoint, enfants ou autres personnes à charge </a:t>
            </a:r>
            <a:r>
              <a:rPr lang="fr-CA" sz="4400" dirty="0">
                <a:solidFill>
                  <a:srgbClr val="0070C0"/>
                </a:solidFill>
              </a:rPr>
              <a:t>ou encore à des tiers comme des compagnies d'assurance</a:t>
            </a:r>
            <a:r>
              <a:rPr lang="fr-CA" sz="4400" dirty="0"/>
              <a:t>.</a:t>
            </a:r>
          </a:p>
          <a:p>
            <a:pPr marL="0" indent="0">
              <a:buNone/>
            </a:pPr>
            <a:endParaRPr lang="fr-CA" sz="4400" dirty="0"/>
          </a:p>
          <a:p>
            <a:pPr marL="0" indent="0">
              <a:buNone/>
            </a:pPr>
            <a:r>
              <a:rPr lang="fr-CA" sz="4400" dirty="0"/>
              <a:t>Tous les avantages de tout le personnel provenant de</a:t>
            </a:r>
          </a:p>
          <a:p>
            <a:pPr>
              <a:buFontTx/>
              <a:buChar char="-"/>
            </a:pPr>
            <a:r>
              <a:rPr lang="fr-CA" sz="4400" dirty="0"/>
              <a:t>Conventions individuelles ou collectives</a:t>
            </a:r>
          </a:p>
          <a:p>
            <a:pPr>
              <a:buFontTx/>
              <a:buChar char="-"/>
            </a:pPr>
            <a:r>
              <a:rPr lang="fr-CA" sz="4400" dirty="0"/>
              <a:t>Dispositions légales</a:t>
            </a:r>
          </a:p>
          <a:p>
            <a:pPr>
              <a:buFontTx/>
              <a:buChar char="-"/>
            </a:pPr>
            <a:r>
              <a:rPr lang="fr-CA" sz="4400" dirty="0"/>
              <a:t>Obligations implicites – </a:t>
            </a:r>
            <a:r>
              <a:rPr lang="fr-CA" sz="4400" dirty="0">
                <a:solidFill>
                  <a:srgbClr val="FF0000"/>
                </a:solidFill>
              </a:rPr>
              <a:t>exemples?</a:t>
            </a:r>
          </a:p>
          <a:p>
            <a:pPr marL="0" indent="0">
              <a:buNone/>
            </a:pPr>
            <a:endParaRPr lang="fr-CA" sz="2000" dirty="0"/>
          </a:p>
          <a:p>
            <a:pPr marL="0" indent="0">
              <a:buNone/>
            </a:pPr>
            <a:endParaRPr lang="fr-CA" sz="4400" dirty="0"/>
          </a:p>
          <a:p>
            <a:r>
              <a:rPr lang="fr-CA" sz="4400" dirty="0"/>
              <a:t>Champ d’application : </a:t>
            </a:r>
          </a:p>
          <a:p>
            <a:pPr lvl="1"/>
            <a:r>
              <a:rPr lang="fr-CA" sz="3800" dirty="0"/>
              <a:t>exclure les avantages couverts par IFRS 2 </a:t>
            </a:r>
            <a:r>
              <a:rPr lang="fr-CA" sz="3800" i="1" dirty="0"/>
              <a:t>Paiement fondé sur des actions</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a:t>
            </a:fld>
            <a:endParaRPr lang="fr-CA"/>
          </a:p>
        </p:txBody>
      </p:sp>
    </p:spTree>
    <p:extLst>
      <p:ext uri="{BB962C8B-B14F-4D97-AF65-F5344CB8AC3E}">
        <p14:creationId xmlns:p14="http://schemas.microsoft.com/office/powerpoint/2010/main" val="6722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Avantages du personnel</a:t>
            </a:r>
            <a:endParaRPr lang="fr-CA" dirty="0"/>
          </a:p>
        </p:txBody>
      </p:sp>
      <p:sp>
        <p:nvSpPr>
          <p:cNvPr id="3" name="Espace réservé du contenu 2"/>
          <p:cNvSpPr>
            <a:spLocks noGrp="1"/>
          </p:cNvSpPr>
          <p:nvPr>
            <p:ph idx="1"/>
          </p:nvPr>
        </p:nvSpPr>
        <p:spPr>
          <a:xfrm>
            <a:off x="838200" y="1690688"/>
            <a:ext cx="10515600" cy="4486275"/>
          </a:xfrm>
        </p:spPr>
        <p:txBody>
          <a:bodyPr>
            <a:normAutofit fontScale="92500"/>
          </a:bodyPr>
          <a:lstStyle/>
          <a:p>
            <a:r>
              <a:rPr lang="fr-CA" dirty="0"/>
              <a:t>Les avantages à court terme</a:t>
            </a:r>
          </a:p>
          <a:p>
            <a:pPr lvl="1"/>
            <a:r>
              <a:rPr lang="fr-CA" dirty="0"/>
              <a:t>Avantages sociaux, congés payés (vacances, maladie), bonis, avantages non monétaires (auto)</a:t>
            </a:r>
          </a:p>
          <a:p>
            <a:r>
              <a:rPr lang="fr-CA" dirty="0"/>
              <a:t>Les avantages postérieurs à l’emploi</a:t>
            </a:r>
          </a:p>
          <a:p>
            <a:pPr lvl="1"/>
            <a:r>
              <a:rPr lang="fr-CA" dirty="0"/>
              <a:t>Prestations de retraite, autres avantages postérieurs à l’emploi (vie, médicaments)</a:t>
            </a:r>
          </a:p>
          <a:p>
            <a:r>
              <a:rPr lang="fr-CA" dirty="0"/>
              <a:t>Les autres avantages à long terme</a:t>
            </a:r>
          </a:p>
          <a:p>
            <a:pPr lvl="1"/>
            <a:r>
              <a:rPr lang="fr-CA" dirty="0"/>
              <a:t>Absences de longue durée rémunérées (congés sabbatiques), primes d’ancienneté, prestations pour invalidité de longue durée</a:t>
            </a:r>
          </a:p>
          <a:p>
            <a:r>
              <a:rPr lang="fr-CA" dirty="0"/>
              <a:t>Les indemnités de cessation d’emploi</a:t>
            </a:r>
          </a:p>
          <a:p>
            <a:pPr lvl="1"/>
            <a:r>
              <a:rPr lang="fr-CA" dirty="0"/>
              <a:t>Montant (salaire), coût firme relocalisation…</a:t>
            </a:r>
          </a:p>
          <a:p>
            <a:pPr lvl="1"/>
            <a:r>
              <a:rPr lang="fr-CA" dirty="0"/>
              <a:t>Départ volontaire ou forcé</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a:t>
            </a:fld>
            <a:endParaRPr lang="fr-CA"/>
          </a:p>
        </p:txBody>
      </p:sp>
    </p:spTree>
    <p:extLst>
      <p:ext uri="{BB962C8B-B14F-4D97-AF65-F5344CB8AC3E}">
        <p14:creationId xmlns:p14="http://schemas.microsoft.com/office/powerpoint/2010/main" val="3055829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Moment de comptabilisation</a:t>
            </a:r>
            <a:endParaRPr lang="fr-CA" dirty="0"/>
          </a:p>
        </p:txBody>
      </p:sp>
      <p:sp>
        <p:nvSpPr>
          <p:cNvPr id="3" name="Espace réservé du contenu 2"/>
          <p:cNvSpPr>
            <a:spLocks noGrp="1"/>
          </p:cNvSpPr>
          <p:nvPr>
            <p:ph idx="1"/>
          </p:nvPr>
        </p:nvSpPr>
        <p:spPr/>
        <p:txBody>
          <a:bodyPr/>
          <a:lstStyle/>
          <a:p>
            <a:pPr marL="457200" lvl="1" indent="0">
              <a:buNone/>
            </a:pPr>
            <a:r>
              <a:rPr lang="fr-CA" dirty="0"/>
              <a:t>Lorsqu’un membre du personnel a rendu des services en échange d’avantages du personnel qui lui seront versés dans l’avenir</a:t>
            </a:r>
          </a:p>
          <a:p>
            <a:pPr lvl="2"/>
            <a:r>
              <a:rPr lang="fr-CA" dirty="0"/>
              <a:t>Charge</a:t>
            </a:r>
          </a:p>
          <a:p>
            <a:pPr marL="914400" lvl="2" indent="0">
              <a:buNone/>
            </a:pPr>
            <a:r>
              <a:rPr lang="fr-CA" dirty="0"/>
              <a:t>    @  Passif</a:t>
            </a:r>
          </a:p>
          <a:p>
            <a:pPr lvl="1"/>
            <a:endParaRPr lang="fr-CA" dirty="0"/>
          </a:p>
          <a:p>
            <a:pPr lvl="2"/>
            <a:r>
              <a:rPr lang="fr-CA" sz="2400" dirty="0"/>
              <a:t>Mesure?</a:t>
            </a:r>
          </a:p>
          <a:p>
            <a:pPr lvl="3"/>
            <a:r>
              <a:rPr lang="fr-CA" dirty="0"/>
              <a:t>Coût estimatif</a:t>
            </a:r>
          </a:p>
          <a:p>
            <a:pPr marL="457200" lvl="1" indent="0">
              <a:buNone/>
            </a:pPr>
            <a:endParaRPr lang="fr-CA" dirty="0"/>
          </a:p>
          <a:p>
            <a:pPr marL="914400" lvl="2"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a:t>
            </a:fld>
            <a:endParaRPr lang="fr-CA"/>
          </a:p>
        </p:txBody>
      </p:sp>
    </p:spTree>
    <p:extLst>
      <p:ext uri="{BB962C8B-B14F-4D97-AF65-F5344CB8AC3E}">
        <p14:creationId xmlns:p14="http://schemas.microsoft.com/office/powerpoint/2010/main" val="769038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b="1" dirty="0"/>
              <a:t>Avantages à court terme</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9     Sont des avantages à court terme les avantages tels que les suivants si leur règlement intégral est attendu dans les douze mois qui suivent la clôture de l'exercice où les membres du personnel ont rendu les services correspondants :</a:t>
            </a:r>
          </a:p>
          <a:p>
            <a:pPr marL="0" indent="0">
              <a:buNone/>
            </a:pPr>
            <a:r>
              <a:rPr lang="fr-CA" dirty="0"/>
              <a:t>(a)     les salaires et les cotisations de sécurité sociale </a:t>
            </a:r>
            <a:r>
              <a:rPr lang="fr-CA" sz="2400" i="1" dirty="0"/>
              <a:t>(RRQ, </a:t>
            </a:r>
            <a:r>
              <a:rPr lang="fr-CA" sz="2400" i="1" dirty="0" err="1"/>
              <a:t>ass-emploi</a:t>
            </a:r>
            <a:r>
              <a:rPr lang="fr-CA" sz="2400" i="1" dirty="0"/>
              <a:t>, Fonds services de santé…) </a:t>
            </a:r>
            <a:r>
              <a:rPr lang="fr-CA" dirty="0"/>
              <a:t>;</a:t>
            </a:r>
          </a:p>
          <a:p>
            <a:pPr marL="0" indent="0">
              <a:buNone/>
            </a:pPr>
            <a:r>
              <a:rPr lang="fr-CA" dirty="0"/>
              <a:t>(b)     les congés annuels payés et les congés de maladie payés ;</a:t>
            </a:r>
          </a:p>
          <a:p>
            <a:pPr marL="0" indent="0">
              <a:buNone/>
            </a:pPr>
            <a:r>
              <a:rPr lang="fr-CA" dirty="0"/>
              <a:t>(c)     l'intéressement et les primes ;</a:t>
            </a:r>
          </a:p>
          <a:p>
            <a:pPr marL="0" indent="0">
              <a:buNone/>
            </a:pPr>
            <a:r>
              <a:rPr lang="fr-CA" dirty="0"/>
              <a:t>(d)     les avantages non pécuniaires (assistance médicale, logement, voiture et autres biens ou services gratuits ou subventionnés) dont bénéficient les membres du personnel en activité.   </a:t>
            </a:r>
            <a:r>
              <a:rPr lang="fr-CA" sz="2600" i="1" dirty="0"/>
              <a:t>(Avantages imposables?)</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a:t>
            </a:fld>
            <a:endParaRPr lang="fr-CA"/>
          </a:p>
        </p:txBody>
      </p:sp>
    </p:spTree>
    <p:extLst>
      <p:ext uri="{BB962C8B-B14F-4D97-AF65-F5344CB8AC3E}">
        <p14:creationId xmlns:p14="http://schemas.microsoft.com/office/powerpoint/2010/main" val="4164351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Préparez les écritures…</a:t>
            </a:r>
            <a:endParaRPr lang="fr-CA" dirty="0"/>
          </a:p>
        </p:txBody>
      </p:sp>
      <p:sp>
        <p:nvSpPr>
          <p:cNvPr id="3" name="Espace réservé du contenu 2"/>
          <p:cNvSpPr>
            <a:spLocks noGrp="1"/>
          </p:cNvSpPr>
          <p:nvPr>
            <p:ph idx="1"/>
          </p:nvPr>
        </p:nvSpPr>
        <p:spPr/>
        <p:txBody>
          <a:bodyPr/>
          <a:lstStyle/>
          <a:p>
            <a:pPr marL="0" indent="0">
              <a:buNone/>
            </a:pPr>
            <a:r>
              <a:rPr lang="fr-CA" dirty="0"/>
              <a:t>Vous travaillez pour Magasin. L’entreprise offre à ses employés d’acheter des marchandises à un prix inférieur à celui affiché.</a:t>
            </a:r>
          </a:p>
          <a:p>
            <a:pPr marL="0" indent="0">
              <a:buNone/>
            </a:pPr>
            <a:endParaRPr lang="fr-CA" dirty="0"/>
          </a:p>
          <a:p>
            <a:pPr marL="0" indent="0">
              <a:buNone/>
            </a:pPr>
            <a:r>
              <a:rPr lang="fr-CA" dirty="0"/>
              <a:t>Un employé se procure une paire d’espadrilles au prix affiché de 200 $, mais après « rabais employé » le montant payé s’élève à 120 $.</a:t>
            </a:r>
          </a:p>
          <a:p>
            <a:pPr marL="0" indent="0">
              <a:buNone/>
            </a:pPr>
            <a:endParaRPr lang="fr-CA" dirty="0"/>
          </a:p>
          <a:p>
            <a:pPr marL="0" indent="0">
              <a:buNone/>
            </a:pPr>
            <a:r>
              <a:rPr lang="fr-CA" dirty="0"/>
              <a:t>Écriture?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a:t>
            </a:fld>
            <a:endParaRPr lang="fr-CA"/>
          </a:p>
        </p:txBody>
      </p:sp>
    </p:spTree>
    <p:extLst>
      <p:ext uri="{BB962C8B-B14F-4D97-AF65-F5344CB8AC3E}">
        <p14:creationId xmlns:p14="http://schemas.microsoft.com/office/powerpoint/2010/main" val="2501221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lstStyle/>
          <a:p>
            <a:pPr marL="0" indent="0">
              <a:buNone/>
            </a:pPr>
            <a:r>
              <a:rPr lang="fr-CA" dirty="0"/>
              <a:t>Caisse						120</a:t>
            </a:r>
          </a:p>
          <a:p>
            <a:pPr marL="0" indent="0">
              <a:buNone/>
            </a:pPr>
            <a:r>
              <a:rPr lang="fr-CA" dirty="0"/>
              <a:t>Avantages du personnel (charge)	  80</a:t>
            </a:r>
          </a:p>
          <a:p>
            <a:pPr marL="0" indent="0">
              <a:buNone/>
            </a:pPr>
            <a:r>
              <a:rPr lang="fr-CA" dirty="0"/>
              <a:t>@   Ventes						200</a:t>
            </a:r>
          </a:p>
          <a:p>
            <a:pPr marL="0" indent="0">
              <a:buNone/>
            </a:pPr>
            <a:endParaRPr lang="fr-CA" dirty="0"/>
          </a:p>
          <a:p>
            <a:pPr>
              <a:buFont typeface="Wingdings" panose="05000000000000000000" pitchFamily="2" charset="2"/>
              <a:buChar char="Ø"/>
            </a:pPr>
            <a:r>
              <a:rPr lang="fr-CA" dirty="0"/>
              <a:t>Et non réduction du montant de la vente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7</a:t>
            </a:fld>
            <a:endParaRPr lang="fr-CA"/>
          </a:p>
        </p:txBody>
      </p:sp>
    </p:spTree>
    <p:extLst>
      <p:ext uri="{BB962C8B-B14F-4D97-AF65-F5344CB8AC3E}">
        <p14:creationId xmlns:p14="http://schemas.microsoft.com/office/powerpoint/2010/main" val="480862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Avantages à court terme</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b="1" dirty="0"/>
              <a:t>11     Lorsqu'un membre du personnel a rendu des services à l'entité au cours d'une période comptable, l'entité doit comptabiliser le montant </a:t>
            </a:r>
            <a:r>
              <a:rPr lang="fr-CA" b="1" dirty="0">
                <a:solidFill>
                  <a:srgbClr val="0070C0"/>
                </a:solidFill>
              </a:rPr>
              <a:t>non actualisé </a:t>
            </a:r>
            <a:r>
              <a:rPr lang="fr-CA" b="1" dirty="0"/>
              <a:t>des avantages à court terme qu'elle s'attend à lui payer en contrepartie des services :</a:t>
            </a:r>
          </a:p>
          <a:p>
            <a:pPr marL="0" indent="0">
              <a:buNone/>
            </a:pPr>
            <a:r>
              <a:rPr lang="fr-CA" b="1" dirty="0"/>
              <a:t>(a)     au passif (charge à payer), après déduction du montant déjà payé, le cas échéant. Si le montant déjà payé excède la valeur non actualisée des prestations, l'entité doit comptabiliser l'excédent à l'actif (charge payée d'avance) dans la mesure où le paiement anticipé conduira, par exemple, à une diminution des paiements futurs ou à un remboursement en trésorerie ;</a:t>
            </a:r>
          </a:p>
          <a:p>
            <a:pPr marL="0" indent="0">
              <a:buNone/>
            </a:pPr>
            <a:r>
              <a:rPr lang="fr-CA" b="1" dirty="0"/>
              <a:t>(b)     en charges, à moins qu'une autre IFRS n'impose ou n'autorise l'incorporation des prestations dans le coût d'un actif (voir, par exemple, </a:t>
            </a:r>
            <a:r>
              <a:rPr lang="fr-CA" b="1" dirty="0">
                <a:solidFill>
                  <a:srgbClr val="0070C0"/>
                </a:solidFill>
              </a:rPr>
              <a:t>IAS 2 </a:t>
            </a:r>
            <a:r>
              <a:rPr lang="fr-CA" b="1" i="1" dirty="0">
                <a:solidFill>
                  <a:srgbClr val="0070C0"/>
                </a:solidFill>
              </a:rPr>
              <a:t>Stocks</a:t>
            </a:r>
            <a:r>
              <a:rPr lang="fr-CA" b="1" dirty="0">
                <a:solidFill>
                  <a:srgbClr val="0070C0"/>
                </a:solidFill>
              </a:rPr>
              <a:t> et IAS 16 </a:t>
            </a:r>
            <a:r>
              <a:rPr lang="fr-CA" b="1" i="1" dirty="0">
                <a:solidFill>
                  <a:srgbClr val="0070C0"/>
                </a:solidFill>
              </a:rPr>
              <a:t>Immobilisations corporelles</a:t>
            </a:r>
            <a:r>
              <a:rPr lang="fr-CA" b="1" dirty="0"/>
              <a:t>).</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8</a:t>
            </a:fld>
            <a:endParaRPr lang="fr-CA"/>
          </a:p>
        </p:txBody>
      </p:sp>
    </p:spTree>
    <p:extLst>
      <p:ext uri="{BB962C8B-B14F-4D97-AF65-F5344CB8AC3E}">
        <p14:creationId xmlns:p14="http://schemas.microsoft.com/office/powerpoint/2010/main" val="272364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80768"/>
          </a:xfrm>
        </p:spPr>
        <p:txBody>
          <a:bodyPr>
            <a:normAutofit/>
          </a:bodyPr>
          <a:lstStyle/>
          <a:p>
            <a:pPr algn="ctr"/>
            <a:r>
              <a:rPr lang="fr-CA" sz="3600" dirty="0"/>
              <a:t>Avantages à court terme</a:t>
            </a:r>
          </a:p>
        </p:txBody>
      </p:sp>
      <p:sp>
        <p:nvSpPr>
          <p:cNvPr id="3" name="Espace réservé du contenu 2"/>
          <p:cNvSpPr>
            <a:spLocks noGrp="1"/>
          </p:cNvSpPr>
          <p:nvPr>
            <p:ph idx="1"/>
          </p:nvPr>
        </p:nvSpPr>
        <p:spPr>
          <a:xfrm>
            <a:off x="838200" y="1597306"/>
            <a:ext cx="10515600" cy="4579657"/>
          </a:xfrm>
        </p:spPr>
        <p:txBody>
          <a:bodyPr>
            <a:normAutofit fontScale="92500" lnSpcReduction="20000"/>
          </a:bodyPr>
          <a:lstStyle/>
          <a:p>
            <a:pPr marL="0" indent="0">
              <a:buNone/>
            </a:pPr>
            <a:r>
              <a:rPr lang="fr-CA" sz="2600" b="1" dirty="0"/>
              <a:t>Absences de courte durée rémunérées</a:t>
            </a:r>
          </a:p>
          <a:p>
            <a:pPr marL="0" indent="0">
              <a:buNone/>
            </a:pPr>
            <a:r>
              <a:rPr lang="fr-CA" sz="2600" i="1" dirty="0"/>
              <a:t>vacances, maladie ou incapacité de courte durée, maternité ou paternité</a:t>
            </a:r>
          </a:p>
          <a:p>
            <a:pPr marL="0" indent="0">
              <a:buNone/>
            </a:pPr>
            <a:endParaRPr lang="fr-CA" sz="2600" b="1" i="1" dirty="0"/>
          </a:p>
          <a:p>
            <a:pPr marL="0" indent="0">
              <a:buNone/>
            </a:pPr>
            <a:r>
              <a:rPr lang="fr-CA" sz="2600" b="1" dirty="0"/>
              <a:t>13     En application du paragraphe 11, l'entité doit comptabiliser le coût attendu des avantages à court terme prenant la forme d'absences rémunérées :</a:t>
            </a:r>
          </a:p>
          <a:p>
            <a:pPr marL="0" indent="0">
              <a:buNone/>
            </a:pPr>
            <a:r>
              <a:rPr lang="fr-CA" sz="2600" b="1" dirty="0"/>
              <a:t>(a)     dans le cas où les droits à absences rémunérées sont </a:t>
            </a:r>
            <a:r>
              <a:rPr lang="fr-CA" sz="2600" b="1" dirty="0">
                <a:solidFill>
                  <a:srgbClr val="0070C0"/>
                </a:solidFill>
              </a:rPr>
              <a:t>cumulables</a:t>
            </a:r>
            <a:r>
              <a:rPr lang="fr-CA" sz="2600" b="1" dirty="0"/>
              <a:t>, lorsque les membres du personnel rendent les services qui leur donnent droit à de nouvelles absences rémunérées futures ;</a:t>
            </a:r>
          </a:p>
          <a:p>
            <a:pPr marL="890588" indent="-890588">
              <a:buNone/>
            </a:pPr>
            <a:r>
              <a:rPr lang="fr-CA" sz="2600" b="1" dirty="0"/>
              <a:t>	</a:t>
            </a:r>
            <a:r>
              <a:rPr lang="fr-CA" sz="2600" i="1" dirty="0"/>
              <a:t>La possibilité pour les membres du personnel de quitter l'entité avant d'avoir fait usage de leurs droits accumulés non acquis a toutefois une incidence sur l'évaluation de cette obligation. (par 15)</a:t>
            </a:r>
            <a:endParaRPr lang="fr-CA" sz="2600" b="1" i="1" dirty="0"/>
          </a:p>
          <a:p>
            <a:pPr marL="0" indent="0">
              <a:buNone/>
            </a:pPr>
            <a:r>
              <a:rPr lang="fr-CA" sz="2600" b="1" dirty="0"/>
              <a:t>(b)     dans le cas où les droits à absences rémunérées sont </a:t>
            </a:r>
            <a:r>
              <a:rPr lang="fr-CA" sz="2600" b="1" dirty="0">
                <a:solidFill>
                  <a:srgbClr val="0070C0"/>
                </a:solidFill>
              </a:rPr>
              <a:t>non cumulables</a:t>
            </a:r>
            <a:r>
              <a:rPr lang="fr-CA" sz="2600" b="1" dirty="0"/>
              <a:t>, lorsque les absences se produisent.</a:t>
            </a:r>
            <a:endParaRPr lang="fr-CA" b="1" dirty="0"/>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9</a:t>
            </a:fld>
            <a:endParaRPr lang="fr-CA"/>
          </a:p>
        </p:txBody>
      </p:sp>
    </p:spTree>
    <p:extLst>
      <p:ext uri="{BB962C8B-B14F-4D97-AF65-F5344CB8AC3E}">
        <p14:creationId xmlns:p14="http://schemas.microsoft.com/office/powerpoint/2010/main" val="2277706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8F3738-44EF-42FD-873F-8D6BB1BB93D1}"/>
              </a:ext>
            </a:extLst>
          </p:cNvPr>
          <p:cNvSpPr>
            <a:spLocks noGrp="1"/>
          </p:cNvSpPr>
          <p:nvPr>
            <p:ph type="title"/>
          </p:nvPr>
        </p:nvSpPr>
        <p:spPr/>
        <p:txBody>
          <a:bodyPr/>
          <a:lstStyle/>
          <a:p>
            <a:r>
              <a:rPr lang="fr-CA" dirty="0"/>
              <a:t>Absences rémunérées</a:t>
            </a:r>
            <a:endParaRPr lang="fr-FR" dirty="0"/>
          </a:p>
        </p:txBody>
      </p:sp>
      <p:sp>
        <p:nvSpPr>
          <p:cNvPr id="3" name="Espace réservé du contenu 2">
            <a:extLst>
              <a:ext uri="{FF2B5EF4-FFF2-40B4-BE49-F238E27FC236}">
                <a16:creationId xmlns:a16="http://schemas.microsoft.com/office/drawing/2014/main" id="{6F25CC73-04FA-4E40-95F9-36E0F9FCDAB4}"/>
              </a:ext>
            </a:extLst>
          </p:cNvPr>
          <p:cNvSpPr>
            <a:spLocks noGrp="1"/>
          </p:cNvSpPr>
          <p:nvPr>
            <p:ph idx="1"/>
          </p:nvPr>
        </p:nvSpPr>
        <p:spPr>
          <a:xfrm>
            <a:off x="838200" y="1402080"/>
            <a:ext cx="10515600" cy="4774883"/>
          </a:xfrm>
        </p:spPr>
        <p:txBody>
          <a:bodyPr>
            <a:normAutofit fontScale="62500" lnSpcReduction="20000"/>
          </a:bodyPr>
          <a:lstStyle/>
          <a:p>
            <a:pPr marL="0" indent="0">
              <a:buNone/>
            </a:pPr>
            <a:r>
              <a:rPr lang="fr-CA" dirty="0"/>
              <a:t>15      Les droits à absences rémunérées cumulables sont reportables et peuvent être utilisés lors de périodes futures s'ils n'ont pas été intégralement utilisés dans la période considérée. Ces droits peuvent s'acquérir (c'est-à-dire que les membres du personnel peuvent obtenir le règlement de leurs droits non utilisés lorsqu'ils quittent l'entité) ou non (lorsque les membres du personnel ne peuvent pas obtenir, lors de leur départ, le règlement de leurs droits non utilisés). Lorsque les services rendus par les membres du personnel leur donnent droit à de nouvelles absences rémunérées futures, il en résulte une obligation pour l'entité. L'obligation existe et est comptabilisée même si les absences rémunérées ne s'acquièrent pas. La possibilité pour les membres du personnel de quitter l'entité avant d'avoir fait usage de leurs droits accumulés non acquis a toutefois une incidence sur l'évaluation de cette obligation.</a:t>
            </a:r>
          </a:p>
          <a:p>
            <a:pPr marL="0" indent="0">
              <a:buNone/>
            </a:pPr>
            <a:r>
              <a:rPr lang="fr-CA" b="1" dirty="0"/>
              <a:t>16     L'entité doit évaluer le coût attendu des droits à absences rémunérées cumulables comme étant le montant supplémentaire qu'elle s'attend à payer du fait du cumul des droits non utilisés à la date de clôture.</a:t>
            </a:r>
          </a:p>
          <a:p>
            <a:pPr marL="0" indent="0">
              <a:buNone/>
            </a:pPr>
            <a:endParaRPr lang="fr-CA" sz="1600" b="1" dirty="0"/>
          </a:p>
          <a:p>
            <a:pPr>
              <a:buFont typeface="Wingdings" panose="05000000000000000000" pitchFamily="2" charset="2"/>
              <a:buChar char="Ø"/>
            </a:pPr>
            <a:r>
              <a:rPr lang="fr-CA" dirty="0"/>
              <a:t>Provision si droit cumulable. Si non cumulable alors passif seulement lors de l'élément déclencheur (par exemple maladie)</a:t>
            </a:r>
          </a:p>
          <a:p>
            <a:pPr>
              <a:buFont typeface="Wingdings" panose="05000000000000000000" pitchFamily="2" charset="2"/>
              <a:buChar char="Ø"/>
            </a:pPr>
            <a:r>
              <a:rPr lang="fr-CA" dirty="0"/>
              <a:t>Si droit cumulable, doit considérer si certain que sera payé (ou perd au départ). Dans ce dernier cas il faut estimer la portion payable.</a:t>
            </a:r>
          </a:p>
          <a:p>
            <a:pPr lvl="1">
              <a:buFont typeface="Wingdings" panose="05000000000000000000" pitchFamily="2" charset="2"/>
              <a:buChar char="Ø"/>
            </a:pPr>
            <a:r>
              <a:rPr lang="fr-CA" sz="2900" dirty="0"/>
              <a:t>Différents exemples : congé de maternité (seulement si enceinte ! Pas cumulable), journées de maladie non prises et rémunérées peuvent être cumulables ou non, payables ou non au départ. </a:t>
            </a:r>
            <a:endParaRPr lang="fr-CA" b="1" dirty="0"/>
          </a:p>
        </p:txBody>
      </p:sp>
    </p:spTree>
    <p:extLst>
      <p:ext uri="{BB962C8B-B14F-4D97-AF65-F5344CB8AC3E}">
        <p14:creationId xmlns:p14="http://schemas.microsoft.com/office/powerpoint/2010/main" val="3854966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Avantages à court terme</a:t>
            </a:r>
          </a:p>
        </p:txBody>
      </p:sp>
      <p:sp>
        <p:nvSpPr>
          <p:cNvPr id="3" name="Espace réservé du contenu 2"/>
          <p:cNvSpPr>
            <a:spLocks noGrp="1"/>
          </p:cNvSpPr>
          <p:nvPr>
            <p:ph idx="1"/>
          </p:nvPr>
        </p:nvSpPr>
        <p:spPr/>
        <p:txBody>
          <a:bodyPr>
            <a:normAutofit/>
          </a:bodyPr>
          <a:lstStyle/>
          <a:p>
            <a:pPr marL="0" indent="0">
              <a:buNone/>
            </a:pPr>
            <a:r>
              <a:rPr lang="fr-CA" sz="2400" b="1" dirty="0"/>
              <a:t>Plans d'intéressement et programmes de primes</a:t>
            </a:r>
          </a:p>
          <a:p>
            <a:pPr marL="0" indent="0">
              <a:buNone/>
            </a:pPr>
            <a:r>
              <a:rPr lang="fr-CA" sz="2400" b="1" dirty="0"/>
              <a:t>19     L'entité doit comptabiliser le coût attendu des paiements à effectuer au titre de l'intéressement et des primes selon le paragraphe 11 si, et seulement si, les conditions suivantes sont réunies :</a:t>
            </a:r>
          </a:p>
          <a:p>
            <a:pPr marL="0" indent="0">
              <a:buNone/>
            </a:pPr>
            <a:r>
              <a:rPr lang="fr-CA" sz="2400" b="1" dirty="0"/>
              <a:t>(a)     l'entité a une </a:t>
            </a:r>
            <a:r>
              <a:rPr lang="fr-CA" sz="2400" b="1" dirty="0">
                <a:solidFill>
                  <a:srgbClr val="FF0000"/>
                </a:solidFill>
              </a:rPr>
              <a:t>obligation actuelle</a:t>
            </a:r>
            <a:r>
              <a:rPr lang="fr-CA" sz="2400" b="1" dirty="0"/>
              <a:t>, juridique ou </a:t>
            </a:r>
            <a:r>
              <a:rPr lang="fr-CA" sz="2400" b="1" dirty="0">
                <a:solidFill>
                  <a:srgbClr val="0070C0"/>
                </a:solidFill>
              </a:rPr>
              <a:t>implicite</a:t>
            </a:r>
            <a:r>
              <a:rPr lang="fr-CA" sz="2400" b="1" dirty="0"/>
              <a:t>, d'effectuer ces paiements du fait d'événements passés ;</a:t>
            </a:r>
          </a:p>
          <a:p>
            <a:pPr marL="0" indent="0">
              <a:buNone/>
            </a:pPr>
            <a:r>
              <a:rPr lang="fr-CA" sz="2400" b="1" dirty="0"/>
              <a:t>(b)     une </a:t>
            </a:r>
            <a:r>
              <a:rPr lang="fr-CA" sz="2400" b="1" dirty="0">
                <a:solidFill>
                  <a:srgbClr val="FF0000"/>
                </a:solidFill>
              </a:rPr>
              <a:t>estimation fiable</a:t>
            </a:r>
            <a:r>
              <a:rPr lang="fr-CA" sz="2400" b="1" dirty="0"/>
              <a:t> de l'obligation peut être effectuée.</a:t>
            </a:r>
          </a:p>
          <a:p>
            <a:pPr marL="0" indent="0">
              <a:buNone/>
            </a:pPr>
            <a:endParaRPr lang="fr-CA" sz="2400" b="1" dirty="0"/>
          </a:p>
          <a:p>
            <a:pPr>
              <a:buFont typeface="Wingdings" panose="05000000000000000000" pitchFamily="2" charset="2"/>
              <a:buChar char="Ø"/>
            </a:pPr>
            <a:r>
              <a:rPr lang="fr-CA" sz="2400" i="1" dirty="0"/>
              <a:t>  Définition d’un passif</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11</a:t>
            </a:fld>
            <a:endParaRPr lang="fr-CA"/>
          </a:p>
        </p:txBody>
      </p:sp>
    </p:spTree>
    <p:extLst>
      <p:ext uri="{BB962C8B-B14F-4D97-AF65-F5344CB8AC3E}">
        <p14:creationId xmlns:p14="http://schemas.microsoft.com/office/powerpoint/2010/main" val="808711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t>Avantages postérieurs à l’emploi</a:t>
            </a:r>
            <a:endParaRPr lang="fr-CA" b="1" dirty="0"/>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CA" dirty="0"/>
              <a:t> </a:t>
            </a:r>
            <a:r>
              <a:rPr lang="fr-CA" i="1" dirty="0"/>
              <a:t>payables après la cessation de l’emploi</a:t>
            </a:r>
          </a:p>
          <a:p>
            <a:pPr marL="0" indent="0">
              <a:buNone/>
            </a:pPr>
            <a:endParaRPr lang="fr-CA" dirty="0"/>
          </a:p>
          <a:p>
            <a:pPr marL="0" indent="0">
              <a:buNone/>
            </a:pPr>
            <a:r>
              <a:rPr lang="fr-CA" dirty="0"/>
              <a:t>26     Les avantages postérieurs à l'emploi comprennent des avantages tels que les suivants :</a:t>
            </a:r>
          </a:p>
          <a:p>
            <a:pPr marL="0" indent="0">
              <a:buNone/>
            </a:pPr>
            <a:r>
              <a:rPr lang="fr-CA" dirty="0"/>
              <a:t>(a)     les prestations de retraite (par exemple, les pensions et les sommes forfaitaires versées à la retraite) ;</a:t>
            </a:r>
          </a:p>
          <a:p>
            <a:pPr marL="890588" indent="-890588">
              <a:buNone/>
            </a:pPr>
            <a:r>
              <a:rPr lang="fr-CA" dirty="0"/>
              <a:t>	27     Les régimes d'avantages postérieurs à l'emploi sont classés en </a:t>
            </a:r>
            <a:r>
              <a:rPr lang="fr-CA" dirty="0">
                <a:solidFill>
                  <a:srgbClr val="0070C0"/>
                </a:solidFill>
              </a:rPr>
              <a:t>régimes à cotisations définies ou en régimes à prestations définies </a:t>
            </a:r>
            <a:r>
              <a:rPr lang="fr-CA" dirty="0"/>
              <a:t>selon la réalité économique du régime qui ressort de ses principales dispositions.</a:t>
            </a:r>
          </a:p>
          <a:p>
            <a:pPr marL="0" indent="0">
              <a:buNone/>
            </a:pPr>
            <a:r>
              <a:rPr lang="fr-CA" dirty="0"/>
              <a:t>(b)     les autres avantages postérieurs à l'emploi, comme l'assurance vie postérieure à l'emploi et l'assistance médicale postérieure à l'emploi.</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12</a:t>
            </a:fld>
            <a:endParaRPr lang="fr-CA"/>
          </a:p>
        </p:txBody>
      </p:sp>
    </p:spTree>
    <p:extLst>
      <p:ext uri="{BB962C8B-B14F-4D97-AF65-F5344CB8AC3E}">
        <p14:creationId xmlns:p14="http://schemas.microsoft.com/office/powerpoint/2010/main" val="127450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44A1-D9E1-42AB-8FBC-72A7D65395EE}"/>
              </a:ext>
            </a:extLst>
          </p:cNvPr>
          <p:cNvSpPr>
            <a:spLocks noGrp="1"/>
          </p:cNvSpPr>
          <p:nvPr>
            <p:ph type="title"/>
          </p:nvPr>
        </p:nvSpPr>
        <p:spPr/>
        <p:txBody>
          <a:bodyPr/>
          <a:lstStyle/>
          <a:p>
            <a:r>
              <a:rPr lang="fr-CA" dirty="0"/>
              <a:t>Régimes de retraite</a:t>
            </a:r>
            <a:endParaRPr lang="fr-FR" dirty="0"/>
          </a:p>
        </p:txBody>
      </p:sp>
      <p:sp>
        <p:nvSpPr>
          <p:cNvPr id="3" name="Espace réservé du contenu 2">
            <a:extLst>
              <a:ext uri="{FF2B5EF4-FFF2-40B4-BE49-F238E27FC236}">
                <a16:creationId xmlns:a16="http://schemas.microsoft.com/office/drawing/2014/main" id="{3407BA3F-C077-4858-915C-91FE3891CB45}"/>
              </a:ext>
            </a:extLst>
          </p:cNvPr>
          <p:cNvSpPr>
            <a:spLocks noGrp="1"/>
          </p:cNvSpPr>
          <p:nvPr>
            <p:ph idx="1"/>
          </p:nvPr>
        </p:nvSpPr>
        <p:spPr/>
        <p:txBody>
          <a:bodyPr/>
          <a:lstStyle/>
          <a:p>
            <a:r>
              <a:rPr lang="fr-CA" dirty="0"/>
              <a:t>Employeur, et souvent employés, versent $ (</a:t>
            </a:r>
            <a:r>
              <a:rPr lang="fr-CA" i="1" dirty="0"/>
              <a:t>cotisations)</a:t>
            </a:r>
            <a:r>
              <a:rPr lang="fr-CA" dirty="0"/>
              <a:t> à la </a:t>
            </a:r>
            <a:r>
              <a:rPr lang="fr-CA" i="1" dirty="0"/>
              <a:t>Caisse du régime de retraite, </a:t>
            </a:r>
            <a:r>
              <a:rPr lang="fr-CA" dirty="0"/>
              <a:t>distinct de l’entreprise, qui elle verse $ </a:t>
            </a:r>
            <a:r>
              <a:rPr lang="fr-CA" i="1" dirty="0"/>
              <a:t>(prestations) </a:t>
            </a:r>
            <a:r>
              <a:rPr lang="fr-CA" dirty="0"/>
              <a:t>aux retraités</a:t>
            </a:r>
          </a:p>
          <a:p>
            <a:pPr lvl="1"/>
            <a:r>
              <a:rPr lang="fr-CA" dirty="0"/>
              <a:t>Régime contributif ou non (est-ce que les employés contribuent au régime?)</a:t>
            </a:r>
          </a:p>
          <a:p>
            <a:pPr lvl="1"/>
            <a:r>
              <a:rPr lang="fr-CA" dirty="0"/>
              <a:t>Capitalisation : le fait de verser les sommes « dues » à la </a:t>
            </a:r>
            <a:r>
              <a:rPr lang="fr-CA" i="1" dirty="0"/>
              <a:t>Caisse</a:t>
            </a:r>
          </a:p>
          <a:p>
            <a:pPr lvl="1"/>
            <a:r>
              <a:rPr lang="fr-CA" i="1" dirty="0"/>
              <a:t>Caisse </a:t>
            </a:r>
            <a:r>
              <a:rPr lang="fr-CA" dirty="0"/>
              <a:t>est séparée de l’entreprise, on ne retrouvera pas les états financiers de l’entreprise les actifs et les passifs de la </a:t>
            </a:r>
            <a:r>
              <a:rPr lang="fr-CA" i="1" dirty="0"/>
              <a:t>Caisse</a:t>
            </a:r>
            <a:r>
              <a:rPr lang="fr-CA" dirty="0"/>
              <a:t>, plutôt le montant « net » dû.</a:t>
            </a:r>
            <a:endParaRPr lang="fr-FR" dirty="0"/>
          </a:p>
        </p:txBody>
      </p:sp>
      <p:sp>
        <p:nvSpPr>
          <p:cNvPr id="4" name="Espace réservé du numéro de diapositive 3">
            <a:extLst>
              <a:ext uri="{FF2B5EF4-FFF2-40B4-BE49-F238E27FC236}">
                <a16:creationId xmlns:a16="http://schemas.microsoft.com/office/drawing/2014/main" id="{A30E7E89-4318-40E0-8623-84439BFD9E7F}"/>
              </a:ext>
            </a:extLst>
          </p:cNvPr>
          <p:cNvSpPr>
            <a:spLocks noGrp="1"/>
          </p:cNvSpPr>
          <p:nvPr>
            <p:ph type="sldNum" sz="quarter" idx="12"/>
          </p:nvPr>
        </p:nvSpPr>
        <p:spPr/>
        <p:txBody>
          <a:bodyPr/>
          <a:lstStyle/>
          <a:p>
            <a:fld id="{992B40CC-DFA5-47EF-8974-C897708E5DF2}" type="slidenum">
              <a:rPr lang="fr-CA" smtClean="0"/>
              <a:t>13</a:t>
            </a:fld>
            <a:endParaRPr lang="fr-CA"/>
          </a:p>
        </p:txBody>
      </p:sp>
    </p:spTree>
    <p:extLst>
      <p:ext uri="{BB962C8B-B14F-4D97-AF65-F5344CB8AC3E}">
        <p14:creationId xmlns:p14="http://schemas.microsoft.com/office/powerpoint/2010/main" val="292492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fontScale="92500"/>
          </a:bodyPr>
          <a:lstStyle/>
          <a:p>
            <a:pPr marL="0" indent="0">
              <a:buNone/>
            </a:pPr>
            <a:r>
              <a:rPr lang="fr-CA" i="1" dirty="0"/>
              <a:t>Section définitions par 8</a:t>
            </a:r>
          </a:p>
          <a:p>
            <a:pPr marL="0" indent="0">
              <a:buNone/>
            </a:pPr>
            <a:r>
              <a:rPr lang="fr-CA" sz="800" b="1" dirty="0"/>
              <a:t> </a:t>
            </a:r>
          </a:p>
          <a:p>
            <a:pPr marL="0" indent="0">
              <a:buNone/>
            </a:pPr>
            <a:r>
              <a:rPr lang="fr-CA" dirty="0"/>
              <a:t>Un </a:t>
            </a:r>
            <a:r>
              <a:rPr lang="fr-CA" b="1" i="1" dirty="0"/>
              <a:t>régime à cotisations définies</a:t>
            </a:r>
            <a:r>
              <a:rPr lang="fr-CA" dirty="0"/>
              <a:t> est un régime d'avantages postérieurs à l'emploi selon lequel une entité verse des cotisations définies à une entité distincte (le fonds) et n'aura aucune obligation juridique ou implicite de payer des cotisations supplémentaires si le fonds n'a pas suffisamment d'actifs pour servir toutes les prestations correspondant aux services rendus par le personnel pendant la période considérée et les périodes antérieures.</a:t>
            </a:r>
          </a:p>
          <a:p>
            <a:pPr marL="0" indent="0">
              <a:buNone/>
            </a:pPr>
            <a:endParaRPr lang="fr-CA" dirty="0"/>
          </a:p>
          <a:p>
            <a:pPr marL="0" indent="0">
              <a:buNone/>
            </a:pPr>
            <a:r>
              <a:rPr lang="fr-CA" dirty="0"/>
              <a:t>Un </a:t>
            </a:r>
            <a:r>
              <a:rPr lang="fr-CA" b="1" i="1" dirty="0"/>
              <a:t>régime à prestations définies</a:t>
            </a:r>
            <a:r>
              <a:rPr lang="fr-CA" dirty="0"/>
              <a:t> est un régime d'avantages postérieurs à l'emploi autre qu'un régime à cotisations définies.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14</a:t>
            </a:fld>
            <a:endParaRPr lang="fr-CA"/>
          </a:p>
        </p:txBody>
      </p:sp>
    </p:spTree>
    <p:extLst>
      <p:ext uri="{BB962C8B-B14F-4D97-AF65-F5344CB8AC3E}">
        <p14:creationId xmlns:p14="http://schemas.microsoft.com/office/powerpoint/2010/main" val="151654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de retraite</a:t>
            </a:r>
            <a:endParaRPr lang="fr-CA" dirty="0"/>
          </a:p>
        </p:txBody>
      </p:sp>
      <p:graphicFrame>
        <p:nvGraphicFramePr>
          <p:cNvPr id="5" name="Espace réservé du contenu 4"/>
          <p:cNvGraphicFramePr>
            <a:graphicFrameLocks noGrp="1"/>
          </p:cNvGraphicFramePr>
          <p:nvPr>
            <p:ph idx="1"/>
          </p:nvPr>
        </p:nvGraphicFramePr>
        <p:xfrm>
          <a:off x="838200" y="1825625"/>
          <a:ext cx="10515600" cy="33274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endParaRPr lang="fr-CA" dirty="0"/>
                    </a:p>
                  </a:txBody>
                  <a:tcPr/>
                </a:tc>
                <a:tc>
                  <a:txBody>
                    <a:bodyPr/>
                    <a:lstStyle/>
                    <a:p>
                      <a:r>
                        <a:rPr lang="fr-CA" dirty="0"/>
                        <a:t>Régimes à cotisations définies</a:t>
                      </a:r>
                    </a:p>
                  </a:txBody>
                  <a:tcPr/>
                </a:tc>
                <a:tc>
                  <a:txBody>
                    <a:bodyPr/>
                    <a:lstStyle/>
                    <a:p>
                      <a:r>
                        <a:rPr lang="fr-CA" dirty="0"/>
                        <a:t>Régimes à prestations définies</a:t>
                      </a:r>
                    </a:p>
                  </a:txBody>
                  <a:tcPr/>
                </a:tc>
                <a:extLst>
                  <a:ext uri="{0D108BD9-81ED-4DB2-BD59-A6C34878D82A}">
                    <a16:rowId xmlns:a16="http://schemas.microsoft.com/office/drawing/2014/main" val="10000"/>
                  </a:ext>
                </a:extLst>
              </a:tr>
              <a:tr h="370840">
                <a:tc>
                  <a:txBody>
                    <a:bodyPr/>
                    <a:lstStyle/>
                    <a:p>
                      <a:r>
                        <a:rPr lang="fr-CA" dirty="0"/>
                        <a:t>Coût pour l’entreprise</a:t>
                      </a:r>
                    </a:p>
                  </a:txBody>
                  <a:tcPr/>
                </a:tc>
                <a:tc>
                  <a:txBody>
                    <a:bodyPr/>
                    <a:lstStyle/>
                    <a:p>
                      <a:r>
                        <a:rPr lang="fr-CA" dirty="0"/>
                        <a:t>Connu</a:t>
                      </a:r>
                    </a:p>
                    <a:p>
                      <a:r>
                        <a:rPr lang="fr-CA" dirty="0"/>
                        <a:t>(souvent un % du salaire)</a:t>
                      </a:r>
                    </a:p>
                  </a:txBody>
                  <a:tcPr/>
                </a:tc>
                <a:tc>
                  <a:txBody>
                    <a:bodyPr/>
                    <a:lstStyle/>
                    <a:p>
                      <a:r>
                        <a:rPr lang="fr-CA" dirty="0"/>
                        <a:t>Incertain</a:t>
                      </a:r>
                    </a:p>
                    <a:p>
                      <a:r>
                        <a:rPr lang="fr-CA" i="1" dirty="0"/>
                        <a:t>Cotisations employés sont déterminées (% salaires) et l’employeur est responsable du solde</a:t>
                      </a:r>
                    </a:p>
                  </a:txBody>
                  <a:tcPr/>
                </a:tc>
                <a:extLst>
                  <a:ext uri="{0D108BD9-81ED-4DB2-BD59-A6C34878D82A}">
                    <a16:rowId xmlns:a16="http://schemas.microsoft.com/office/drawing/2014/main" val="10001"/>
                  </a:ext>
                </a:extLst>
              </a:tr>
              <a:tr h="370840">
                <a:tc>
                  <a:txBody>
                    <a:bodyPr/>
                    <a:lstStyle/>
                    <a:p>
                      <a:r>
                        <a:rPr lang="fr-CA" dirty="0"/>
                        <a:t>Montant de la rente qui sera reçue à la retraite</a:t>
                      </a:r>
                    </a:p>
                  </a:txBody>
                  <a:tcPr/>
                </a:tc>
                <a:tc>
                  <a:txBody>
                    <a:bodyPr/>
                    <a:lstStyle/>
                    <a:p>
                      <a:r>
                        <a:rPr lang="fr-CA" dirty="0"/>
                        <a:t>Incertain</a:t>
                      </a:r>
                    </a:p>
                    <a:p>
                      <a:r>
                        <a:rPr lang="fr-CA" sz="1600" i="1" dirty="0"/>
                        <a:t>Somme des cotisations + rendement liés à un employé (aucune « garantie »)</a:t>
                      </a:r>
                      <a:endParaRPr lang="fr-CA" i="1" dirty="0"/>
                    </a:p>
                  </a:txBody>
                  <a:tcPr/>
                </a:tc>
                <a:tc>
                  <a:txBody>
                    <a:bodyPr/>
                    <a:lstStyle/>
                    <a:p>
                      <a:r>
                        <a:rPr lang="fr-CA" dirty="0"/>
                        <a:t>Formule</a:t>
                      </a:r>
                    </a:p>
                  </a:txBody>
                  <a:tcPr/>
                </a:tc>
                <a:extLst>
                  <a:ext uri="{0D108BD9-81ED-4DB2-BD59-A6C34878D82A}">
                    <a16:rowId xmlns:a16="http://schemas.microsoft.com/office/drawing/2014/main" val="10002"/>
                  </a:ext>
                </a:extLst>
              </a:tr>
              <a:tr h="370840">
                <a:tc>
                  <a:txBody>
                    <a:bodyPr/>
                    <a:lstStyle/>
                    <a:p>
                      <a:r>
                        <a:rPr lang="fr-CA" dirty="0"/>
                        <a:t>Risque placement (rendement) et risque actuariel (montant</a:t>
                      </a:r>
                      <a:r>
                        <a:rPr lang="fr-CA" baseline="0" dirty="0"/>
                        <a:t> rente)</a:t>
                      </a:r>
                      <a:endParaRPr lang="fr-CA" dirty="0"/>
                    </a:p>
                  </a:txBody>
                  <a:tcPr/>
                </a:tc>
                <a:tc>
                  <a:txBody>
                    <a:bodyPr/>
                    <a:lstStyle/>
                    <a:p>
                      <a:r>
                        <a:rPr lang="fr-CA" dirty="0"/>
                        <a:t>Assumés par l’employé</a:t>
                      </a:r>
                    </a:p>
                  </a:txBody>
                  <a:tcPr/>
                </a:tc>
                <a:tc>
                  <a:txBody>
                    <a:bodyPr/>
                    <a:lstStyle/>
                    <a:p>
                      <a:r>
                        <a:rPr lang="fr-CA" dirty="0"/>
                        <a:t>Assumés par l’entreprise</a:t>
                      </a:r>
                    </a:p>
                  </a:txBody>
                  <a:tcPr/>
                </a:tc>
                <a:extLst>
                  <a:ext uri="{0D108BD9-81ED-4DB2-BD59-A6C34878D82A}">
                    <a16:rowId xmlns:a16="http://schemas.microsoft.com/office/drawing/2014/main" val="10003"/>
                  </a:ext>
                </a:extLst>
              </a:tr>
            </a:tbl>
          </a:graphicData>
        </a:graphic>
      </p:graphicFrame>
      <p:sp>
        <p:nvSpPr>
          <p:cNvPr id="4" name="Espace réservé du numéro de diapositive 3"/>
          <p:cNvSpPr>
            <a:spLocks noGrp="1"/>
          </p:cNvSpPr>
          <p:nvPr>
            <p:ph type="sldNum" sz="quarter" idx="12"/>
          </p:nvPr>
        </p:nvSpPr>
        <p:spPr/>
        <p:txBody>
          <a:bodyPr/>
          <a:lstStyle/>
          <a:p>
            <a:fld id="{992B40CC-DFA5-47EF-8974-C897708E5DF2}" type="slidenum">
              <a:rPr lang="fr-CA" smtClean="0"/>
              <a:t>15</a:t>
            </a:fld>
            <a:endParaRPr lang="fr-CA"/>
          </a:p>
        </p:txBody>
      </p:sp>
    </p:spTree>
    <p:extLst>
      <p:ext uri="{BB962C8B-B14F-4D97-AF65-F5344CB8AC3E}">
        <p14:creationId xmlns:p14="http://schemas.microsoft.com/office/powerpoint/2010/main" val="3011143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 à cotisations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sz="2400" dirty="0"/>
              <a:t>28     Dans les régimes à cotisations définies, </a:t>
            </a:r>
            <a:r>
              <a:rPr lang="fr-CA" sz="2400" dirty="0">
                <a:solidFill>
                  <a:srgbClr val="0070C0"/>
                </a:solidFill>
              </a:rPr>
              <a:t>l'obligation juridique ou implicite de l'entité se limite au montant des cotisations</a:t>
            </a:r>
            <a:r>
              <a:rPr lang="fr-CA" sz="2400" dirty="0"/>
              <a:t> qu'elle s'engage à verser au fonds. Ainsi, le montant des avantages postérieurs à l'emploi reçu par le membre du personnel est déterminé par le montant des cotisations versées par l'entité (et peut-être également par le membre du personnel) au régime d'avantages postérieurs à l'emploi ou à la compagnie d'assurance, et par le rendement des placements effectués grâce aux cotisations. C'est donc le membre du personnel qui supporte, en substance, le risque actuariel (risque que les prestations soient moins importantes que prévu) et le risque de placement (risque que les actifs placés ne soient pas suffisants pour assurer le service des prestations prévues).</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16</a:t>
            </a:fld>
            <a:endParaRPr lang="fr-CA"/>
          </a:p>
        </p:txBody>
      </p:sp>
    </p:spTree>
    <p:extLst>
      <p:ext uri="{BB962C8B-B14F-4D97-AF65-F5344CB8AC3E}">
        <p14:creationId xmlns:p14="http://schemas.microsoft.com/office/powerpoint/2010/main" val="1465489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Régimes à cotisations définies</a:t>
            </a:r>
            <a:endParaRPr lang="fr-CA"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CA" b="1" dirty="0"/>
              <a:t>Comptabilisation et évaluation</a:t>
            </a:r>
          </a:p>
          <a:p>
            <a:pPr marL="0" indent="0">
              <a:buNone/>
            </a:pPr>
            <a:r>
              <a:rPr lang="fr-CA" b="1" dirty="0"/>
              <a:t>51     Lorsqu'un membre du personnel a rendu des services à l'entité au cours de la période, l'entité doit comptabiliser les cotisations à payer à un régime à cotisations définies en échange de ces services :</a:t>
            </a:r>
          </a:p>
          <a:p>
            <a:pPr marL="0" indent="0">
              <a:buNone/>
            </a:pPr>
            <a:r>
              <a:rPr lang="fr-CA" b="1" dirty="0"/>
              <a:t>(a)     au passif (charge à payer), après déduction des cotisations déjà payées, le cas échéant. Si le montant des cotisations déjà payées est supérieur au montant des cotisations exigibles pour les services rendus avant la date de clôture, l'entité doit comptabiliser l'excédent à l'actif (charge payée d'avance) dans la mesure où le paiement anticipé conduira, par exemple, à une diminution des paiements futurs ou à un remboursement en trésorerie ;</a:t>
            </a:r>
          </a:p>
          <a:p>
            <a:pPr marL="0" indent="0">
              <a:buNone/>
            </a:pPr>
            <a:r>
              <a:rPr lang="fr-CA" b="1" dirty="0"/>
              <a:t>(b)     en charges, à moins qu'une autre IFRS n'impose ou n'autorise l'incorporation de ces cotisations dans le coût d'un actif (voir, par exemple, IAS 2 et IAS 16).</a:t>
            </a:r>
          </a:p>
          <a:p>
            <a:pPr marL="0" indent="0">
              <a:buNone/>
            </a:pPr>
            <a:endParaRPr lang="fr-CA" b="1" dirty="0"/>
          </a:p>
          <a:p>
            <a:pPr marL="0" indent="0">
              <a:buNone/>
            </a:pPr>
            <a:r>
              <a:rPr lang="fr-CA" b="1" dirty="0"/>
              <a:t>52     Si le règlement intégral des cotisations au régime à cotisations définies n'est pas attendu dans les douze mois qui suivent la clôture de l'exercice où les membres du personnel ont rendu les services correspondants, les cotisations doivent être actualisées à l'aide du taux d'actualisation défini au paragraphe 83.</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17</a:t>
            </a:fld>
            <a:endParaRPr lang="fr-CA"/>
          </a:p>
        </p:txBody>
      </p:sp>
    </p:spTree>
    <p:extLst>
      <p:ext uri="{BB962C8B-B14F-4D97-AF65-F5344CB8AC3E}">
        <p14:creationId xmlns:p14="http://schemas.microsoft.com/office/powerpoint/2010/main" val="2630922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 à cotisations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Écriture :</a:t>
            </a:r>
          </a:p>
          <a:p>
            <a:pPr marL="0" indent="0">
              <a:buNone/>
            </a:pPr>
            <a:endParaRPr lang="fr-CA" dirty="0"/>
          </a:p>
          <a:p>
            <a:pPr marL="0" indent="0">
              <a:buNone/>
            </a:pPr>
            <a:r>
              <a:rPr lang="fr-CA" dirty="0"/>
              <a:t>Déductions à la source à payer - </a:t>
            </a:r>
            <a:r>
              <a:rPr lang="fr-CA" sz="2400" i="1" dirty="0"/>
              <a:t>(part employé)</a:t>
            </a:r>
            <a:endParaRPr lang="fr-CA" i="1" dirty="0"/>
          </a:p>
          <a:p>
            <a:pPr marL="0" indent="0">
              <a:buNone/>
            </a:pPr>
            <a:r>
              <a:rPr lang="fr-CA" dirty="0"/>
              <a:t>Avantages postérieurs à l’emploi</a:t>
            </a:r>
            <a:r>
              <a:rPr lang="fr-CA" i="1" dirty="0"/>
              <a:t> (charge) - </a:t>
            </a:r>
            <a:r>
              <a:rPr lang="fr-CA" sz="2400" i="1" dirty="0"/>
              <a:t>(part employeur)</a:t>
            </a:r>
            <a:endParaRPr lang="fr-CA" i="1" dirty="0"/>
          </a:p>
          <a:p>
            <a:pPr marL="0" indent="0">
              <a:buNone/>
            </a:pPr>
            <a:r>
              <a:rPr lang="fr-CA" dirty="0"/>
              <a:t>@  Caisse - </a:t>
            </a:r>
            <a:r>
              <a:rPr lang="fr-CA" sz="2400" i="1" dirty="0"/>
              <a:t>(versé à la caisse de retraite)</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18</a:t>
            </a:fld>
            <a:endParaRPr lang="fr-CA"/>
          </a:p>
        </p:txBody>
      </p:sp>
    </p:spTree>
    <p:extLst>
      <p:ext uri="{BB962C8B-B14F-4D97-AF65-F5344CB8AC3E}">
        <p14:creationId xmlns:p14="http://schemas.microsoft.com/office/powerpoint/2010/main" val="1160649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cotisations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50     La comptabilisation des régimes à cotisations définies est simple, car l'obligation de l'entité présentant l'information financière au titre d'une période est déterminée par les cotisations à payer pour la période. Par conséquent, aucune hypothèse actuarielle n'est nécessaire pour évaluer l'obligation ou la dépense, et il ne peut pas y avoir d'écarts actuariels. En outre, l'obligation est évaluée sur une base non actualisée, sauf si son règlement intégral n'est pas attendu dans les douze mois qui suivent la clôture de l'exercice où les membres du personnel ont rendu les services correspondants.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19</a:t>
            </a:fld>
            <a:endParaRPr lang="fr-CA"/>
          </a:p>
        </p:txBody>
      </p:sp>
    </p:spTree>
    <p:extLst>
      <p:ext uri="{BB962C8B-B14F-4D97-AF65-F5344CB8AC3E}">
        <p14:creationId xmlns:p14="http://schemas.microsoft.com/office/powerpoint/2010/main" val="3620607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Prestations assurées</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Prestations assurées</a:t>
            </a:r>
          </a:p>
          <a:p>
            <a:pPr marL="0" indent="0">
              <a:buNone/>
            </a:pPr>
            <a:r>
              <a:rPr lang="fr-CA" dirty="0"/>
              <a:t>46     Il se peut que l'entité paye les primes d'un contrat d'assurance souscrit pour capitaliser un régime d'avantages postérieurs à l'emploi. Elle doit alors </a:t>
            </a:r>
            <a:r>
              <a:rPr lang="fr-CA" dirty="0">
                <a:solidFill>
                  <a:srgbClr val="0070C0"/>
                </a:solidFill>
              </a:rPr>
              <a:t>comptabiliser le régime comme un régime à cotisations définies</a:t>
            </a:r>
            <a:r>
              <a:rPr lang="fr-CA" dirty="0"/>
              <a:t>, à moins qu'elle ait (directement, ou encore indirectement par l'entremise du régime) une obligation juridique ou implicite :</a:t>
            </a:r>
          </a:p>
          <a:p>
            <a:pPr marL="0" indent="0">
              <a:buNone/>
            </a:pPr>
            <a:r>
              <a:rPr lang="fr-CA" dirty="0"/>
              <a:t>(a)     soit de payer directement les prestations aux membres du personnel à leur date d'exigibilité ;</a:t>
            </a:r>
          </a:p>
          <a:p>
            <a:pPr marL="0" indent="0">
              <a:buNone/>
            </a:pPr>
            <a:r>
              <a:rPr lang="fr-CA" dirty="0"/>
              <a:t>(b)     soit d'effectuer des paiements complémentaires si l'assureur ne paye pas toutes les prestations futures liées aux services rendus par les membres du personnel au titre de la période considérée et des périodes antérieures.</a:t>
            </a:r>
          </a:p>
          <a:p>
            <a:pPr marL="0" indent="0">
              <a:buNone/>
            </a:pPr>
            <a:r>
              <a:rPr lang="fr-CA" dirty="0"/>
              <a:t>     Si l'entité a une telle obligation juridique ou implicite, elle doit comptabiliser le régime comme un régime à prestations définies.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20</a:t>
            </a:fld>
            <a:endParaRPr lang="fr-CA"/>
          </a:p>
        </p:txBody>
      </p:sp>
    </p:spTree>
    <p:extLst>
      <p:ext uri="{BB962C8B-B14F-4D97-AF65-F5344CB8AC3E}">
        <p14:creationId xmlns:p14="http://schemas.microsoft.com/office/powerpoint/2010/main" val="104055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55     La comptabilisation des régimes à prestations définies est complexe du fait que des hypothèses actuarielles sont nécessaires pour évaluer l'obligation et la charge et qu'il peut y avoir des écarts actuariels. De plus, les obligations sont évaluées sur une base actualisée, car elles peuvent être réglées de nombreuses années après que les membres du personnel ont rendu les services correspondants.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21</a:t>
            </a:fld>
            <a:endParaRPr lang="fr-CA"/>
          </a:p>
        </p:txBody>
      </p:sp>
    </p:spTree>
    <p:extLst>
      <p:ext uri="{BB962C8B-B14F-4D97-AF65-F5344CB8AC3E}">
        <p14:creationId xmlns:p14="http://schemas.microsoft.com/office/powerpoint/2010/main" val="887927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641872"/>
          </a:xfrm>
        </p:spPr>
        <p:txBody>
          <a:bodyPr/>
          <a:lstStyle/>
          <a:p>
            <a:pPr algn="ctr"/>
            <a:r>
              <a:rPr lang="fr-CA" sz="3600" dirty="0"/>
              <a:t>Régime à prestations définies</a:t>
            </a:r>
            <a:endParaRPr lang="fr-CA" dirty="0"/>
          </a:p>
        </p:txBody>
      </p:sp>
      <p:sp>
        <p:nvSpPr>
          <p:cNvPr id="3" name="Espace réservé du contenu 2"/>
          <p:cNvSpPr>
            <a:spLocks noGrp="1"/>
          </p:cNvSpPr>
          <p:nvPr>
            <p:ph idx="1"/>
          </p:nvPr>
        </p:nvSpPr>
        <p:spPr>
          <a:xfrm>
            <a:off x="838200" y="1006998"/>
            <a:ext cx="10515600" cy="5625296"/>
          </a:xfrm>
        </p:spPr>
        <p:txBody>
          <a:bodyPr>
            <a:normAutofit fontScale="70000" lnSpcReduction="20000"/>
          </a:bodyPr>
          <a:lstStyle/>
          <a:p>
            <a:pPr marL="0" indent="0">
              <a:buNone/>
            </a:pPr>
            <a:r>
              <a:rPr lang="fr-CA" dirty="0"/>
              <a:t>29     On peut citer comme exemples de cas où l'obligation d'une entité n'est pas limitée au montant des cotisations qu'elle s'engage à verser au fonds ceux où l'entité a une obligation juridique ou implicite du fait :</a:t>
            </a:r>
          </a:p>
          <a:p>
            <a:pPr marL="0" indent="0">
              <a:buNone/>
            </a:pPr>
            <a:r>
              <a:rPr lang="fr-CA" dirty="0"/>
              <a:t>(a)     que la formule de calcul des prestations établie par le régime n'est pas liée uniquement au montant des cotisations et </a:t>
            </a:r>
            <a:r>
              <a:rPr lang="fr-CA" dirty="0">
                <a:solidFill>
                  <a:srgbClr val="0070C0"/>
                </a:solidFill>
              </a:rPr>
              <a:t>qu'elle impose à l'entité de verser des cotisations supplémentaires si les actifs du régime s'avèrent insuffisants pour faire assurer le service des prestations calculées selon la formule établie par le régime ;</a:t>
            </a:r>
          </a:p>
          <a:p>
            <a:pPr marL="0" indent="0">
              <a:buNone/>
            </a:pPr>
            <a:r>
              <a:rPr lang="fr-CA" dirty="0"/>
              <a:t>(b)     qu'il existe une garantie, indirecte (par l'entremise d'un régime) ou directe, quant à l'obtention d'un rendement spécifié sur les cotisations ;</a:t>
            </a:r>
          </a:p>
          <a:p>
            <a:pPr marL="0" indent="0">
              <a:buNone/>
            </a:pPr>
            <a:r>
              <a:rPr lang="fr-CA" dirty="0"/>
              <a:t>(c)     que des usages donnent lieu à une obligation implicite. Il peut y avoir obligation implicite lorsque, par exemple, une entité a toujours révisé à la hausse les prestations versées aux anciens membres de son personnel pour tenir compte de l'inflation, alors qu'elle n'était pas légalement tenue de le faire.</a:t>
            </a:r>
          </a:p>
          <a:p>
            <a:pPr marL="0" indent="0">
              <a:buNone/>
            </a:pPr>
            <a:endParaRPr lang="fr-CA" dirty="0"/>
          </a:p>
          <a:p>
            <a:pPr marL="0" indent="0">
              <a:buNone/>
            </a:pPr>
            <a:r>
              <a:rPr lang="fr-CA" dirty="0"/>
              <a:t>30     Dans les régimes à prestations définies :</a:t>
            </a:r>
          </a:p>
          <a:p>
            <a:pPr marL="0" indent="0">
              <a:buNone/>
            </a:pPr>
            <a:r>
              <a:rPr lang="fr-CA" dirty="0"/>
              <a:t>(a)     l'entité a l'obligation de servir les prestations convenues aux membres de son personnel en activité et aux anciens membres de son personnel ;</a:t>
            </a:r>
          </a:p>
          <a:p>
            <a:pPr marL="0" indent="0">
              <a:buNone/>
            </a:pPr>
            <a:r>
              <a:rPr lang="fr-CA" dirty="0"/>
              <a:t>(b)     l'entité supporte, en substance, le risque actuariel (risque que les prestations coûtent plus cher que prévu) et le risque de placement. Si la réalité, du point de vue actuariel ou des placements, est moins bonne que prévu, l'obligation de l'entité peut s'en trouver majorée.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22</a:t>
            </a:fld>
            <a:endParaRPr lang="fr-CA"/>
          </a:p>
        </p:txBody>
      </p:sp>
    </p:spTree>
    <p:extLst>
      <p:ext uri="{BB962C8B-B14F-4D97-AF65-F5344CB8AC3E}">
        <p14:creationId xmlns:p14="http://schemas.microsoft.com/office/powerpoint/2010/main" val="3253491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711321"/>
          </a:xfrm>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a:xfrm>
            <a:off x="838200" y="1203766"/>
            <a:ext cx="10515600" cy="5152583"/>
          </a:xfrm>
        </p:spPr>
        <p:txBody>
          <a:bodyPr>
            <a:normAutofit fontScale="85000" lnSpcReduction="20000"/>
          </a:bodyPr>
          <a:lstStyle/>
          <a:p>
            <a:pPr marL="0" indent="0">
              <a:buNone/>
            </a:pPr>
            <a:r>
              <a:rPr lang="fr-CA" b="1" dirty="0"/>
              <a:t>Comptabilisation et évaluation</a:t>
            </a:r>
          </a:p>
          <a:p>
            <a:pPr marL="0" indent="0">
              <a:buNone/>
            </a:pPr>
            <a:r>
              <a:rPr lang="fr-CA" dirty="0"/>
              <a:t>56     Les régimes à prestations définies peuvent être des régimes non </a:t>
            </a:r>
            <a:r>
              <a:rPr lang="fr-CA" dirty="0">
                <a:solidFill>
                  <a:srgbClr val="0070C0"/>
                </a:solidFill>
              </a:rPr>
              <a:t>capitalisés</a:t>
            </a:r>
            <a:r>
              <a:rPr lang="fr-CA" dirty="0"/>
              <a:t> ou des régimes intégralement ou partiellement capitalisés par les cotisations versées par l'entité présentant l'information financière, et parfois aussi par les membres de son personnel, à une entité ou à un fonds juridiquement distinct qui paie les prestations aux bénéficiaires. Le versement des prestations capitalisées venant à échéance dépend non seulement de la situation financière du fonds et du rendement de ses placements, mais également de la capacité de l'entité (et de son consentement) à combler une insuffisance des actifs du fonds, le cas échéant. C'est donc l'entité qui supporte en substance les risques actuariels et de placement liés au régime. En conséquence, la charge comptabilisée pour un régime à prestations définies ne correspond pas nécessairement au montant de la cotisation exigible pour la période.</a:t>
            </a:r>
          </a:p>
          <a:p>
            <a:pPr marL="0" indent="0">
              <a:buNone/>
            </a:pPr>
            <a:endParaRPr lang="fr-CA" dirty="0"/>
          </a:p>
          <a:p>
            <a:pPr marL="0" indent="0">
              <a:buNone/>
            </a:pPr>
            <a:r>
              <a:rPr lang="fr-CA" dirty="0"/>
              <a:t>Capitalisation : versement $ à la caisse de retraite</a:t>
            </a:r>
          </a:p>
          <a:p>
            <a:pPr marL="0" indent="0">
              <a:buNone/>
            </a:pPr>
            <a:r>
              <a:rPr lang="fr-CA" dirty="0"/>
              <a:t>	</a:t>
            </a:r>
            <a:r>
              <a:rPr lang="fr-CA" sz="2400" i="1" dirty="0"/>
              <a:t>par employeur, et habituellement régime contributif donc par employé aussi</a:t>
            </a:r>
          </a:p>
          <a:p>
            <a:pPr marL="0" indent="0">
              <a:buNone/>
            </a:pPr>
            <a:r>
              <a:rPr lang="fr-CA" sz="2400" i="1" dirty="0"/>
              <a:t>	$   =&gt;  Caisse de retraite (rendement sur placements - frais)  =&gt;  versements des rentes</a:t>
            </a:r>
            <a:endParaRPr lang="fr-CA" i="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23</a:t>
            </a:fld>
            <a:endParaRPr lang="fr-CA"/>
          </a:p>
        </p:txBody>
      </p:sp>
    </p:spTree>
    <p:extLst>
      <p:ext uri="{BB962C8B-B14F-4D97-AF65-F5344CB8AC3E}">
        <p14:creationId xmlns:p14="http://schemas.microsoft.com/office/powerpoint/2010/main" val="445341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746045"/>
          </a:xfrm>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a:xfrm>
            <a:off x="838200" y="1226915"/>
            <a:ext cx="10515600" cy="5393803"/>
          </a:xfrm>
        </p:spPr>
        <p:txBody>
          <a:bodyPr>
            <a:normAutofit fontScale="70000" lnSpcReduction="20000"/>
          </a:bodyPr>
          <a:lstStyle/>
          <a:p>
            <a:pPr marL="0" indent="0">
              <a:buNone/>
            </a:pPr>
            <a:r>
              <a:rPr lang="fr-CA" dirty="0"/>
              <a:t>57     La comptabilisation des régimes à prestations définies implique pour l'entité :</a:t>
            </a:r>
          </a:p>
          <a:p>
            <a:pPr marL="0" indent="0">
              <a:buNone/>
            </a:pPr>
            <a:r>
              <a:rPr lang="fr-CA" dirty="0"/>
              <a:t>(a)    </a:t>
            </a:r>
            <a:r>
              <a:rPr lang="fr-CA" b="1" dirty="0"/>
              <a:t> qu'elle détermine le montant du déficit ou de l'excédent</a:t>
            </a:r>
            <a:r>
              <a:rPr lang="fr-CA" dirty="0"/>
              <a:t>, ce qui exige :</a:t>
            </a:r>
          </a:p>
          <a:p>
            <a:pPr marL="531813" indent="0">
              <a:buNone/>
            </a:pPr>
            <a:r>
              <a:rPr lang="fr-CA" dirty="0"/>
              <a:t>(i)     d'utiliser une méthode actuarielle (la </a:t>
            </a:r>
            <a:r>
              <a:rPr lang="fr-CA" dirty="0">
                <a:solidFill>
                  <a:srgbClr val="0070C0"/>
                </a:solidFill>
              </a:rPr>
              <a:t>méthode des unités de crédit projetées</a:t>
            </a:r>
            <a:r>
              <a:rPr lang="fr-CA" dirty="0"/>
              <a:t>)</a:t>
            </a:r>
            <a:r>
              <a:rPr lang="fr-CA" i="1" dirty="0"/>
              <a:t> (ou autre nom : méthode de répartition des prestations au prorata des services)</a:t>
            </a:r>
            <a:r>
              <a:rPr lang="fr-CA" dirty="0"/>
              <a:t> pour estimer de façon fiable le coût qu'assumera au final l'entité pour les prestations accumulées par les membres de son personnel en contrepartie des services rendus pendant la période considérée et les périodes antérieures (voir paragraphes 67 à 69). Cela suppose qu'elle détermine le montant des prestations imputables à la période considérée et aux périodes antérieures (voir paragraphes 70 à 74) et qu'elle fasse des estimations (hypothèses actuarielles) quant à certaines variables démographiques (telles que la rotation du personnel et le taux de mortalité) et financières (telles que les augmentations futures des salaires et des coûts médicaux) qui influeront sur le coût des prestations (voir paragraphes 75 à 98),</a:t>
            </a:r>
          </a:p>
          <a:p>
            <a:pPr marL="531813" indent="0">
              <a:buNone/>
            </a:pPr>
            <a:r>
              <a:rPr lang="fr-CA" dirty="0"/>
              <a:t>(ii)     d'actualiser ces prestations afin de déterminer la valeur actualisée de l'obligation au titre des prestations définies et le coût des services rendus au cours de la période (voir paragraphes 67 à 69 et 83 à 86),</a:t>
            </a:r>
          </a:p>
          <a:p>
            <a:pPr marL="531813" indent="0">
              <a:buNone/>
            </a:pPr>
            <a:r>
              <a:rPr lang="fr-CA" dirty="0"/>
              <a:t>(iii) de déduire la juste valeur des actifs du régime (voir paragraphes 113 à 115) de la valeur actualisée de l'obligation au titre des prestations définies ;</a:t>
            </a:r>
          </a:p>
          <a:p>
            <a:pPr marL="0" indent="0">
              <a:buNone/>
            </a:pPr>
            <a:r>
              <a:rPr lang="fr-CA" dirty="0"/>
              <a:t>(b)     qu'elle détermine le montant du passif (de l'actif) net au titre des prestations définies à partir du montant du déficit ou de l'excédent déterminé en (a), ajusté pour tenir compte de l'effet, le cas échéant, de limiter au </a:t>
            </a:r>
            <a:r>
              <a:rPr lang="fr-CA" dirty="0">
                <a:solidFill>
                  <a:srgbClr val="0070C0"/>
                </a:solidFill>
              </a:rPr>
              <a:t>plafond de l'actif</a:t>
            </a:r>
            <a:r>
              <a:rPr lang="fr-CA" dirty="0"/>
              <a:t> le montant de l'actif net au titre des prestations définies (voir paragraphe 64) ;</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24</a:t>
            </a:fld>
            <a:endParaRPr lang="fr-CA"/>
          </a:p>
        </p:txBody>
      </p:sp>
    </p:spTree>
    <p:extLst>
      <p:ext uri="{BB962C8B-B14F-4D97-AF65-F5344CB8AC3E}">
        <p14:creationId xmlns:p14="http://schemas.microsoft.com/office/powerpoint/2010/main" val="3503394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18723"/>
          </a:xfrm>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a:xfrm>
            <a:off x="685800" y="983849"/>
            <a:ext cx="10820400" cy="5602146"/>
          </a:xfrm>
        </p:spPr>
        <p:txBody>
          <a:bodyPr>
            <a:normAutofit fontScale="62500" lnSpcReduction="20000"/>
          </a:bodyPr>
          <a:lstStyle/>
          <a:p>
            <a:pPr marL="0" indent="0">
              <a:buNone/>
            </a:pPr>
            <a:r>
              <a:rPr lang="fr-CA" dirty="0"/>
              <a:t>(c)     qu'elle détermine les montants à comptabiliser en </a:t>
            </a:r>
            <a:r>
              <a:rPr lang="fr-CA" dirty="0">
                <a:solidFill>
                  <a:srgbClr val="FF0000"/>
                </a:solidFill>
              </a:rPr>
              <a:t>résultat net</a:t>
            </a:r>
            <a:r>
              <a:rPr lang="fr-CA" dirty="0"/>
              <a:t> pour :</a:t>
            </a:r>
          </a:p>
          <a:p>
            <a:pPr marL="531813" indent="0">
              <a:buNone/>
            </a:pPr>
            <a:r>
              <a:rPr lang="fr-CA" dirty="0"/>
              <a:t>(i)     le </a:t>
            </a:r>
            <a:r>
              <a:rPr lang="fr-CA" dirty="0">
                <a:solidFill>
                  <a:srgbClr val="0070C0"/>
                </a:solidFill>
              </a:rPr>
              <a:t>coût des services rendus au cours de la période</a:t>
            </a:r>
            <a:r>
              <a:rPr lang="fr-CA" dirty="0"/>
              <a:t> (voir paragraphes 70 à 74 et paragraphe 122A),     </a:t>
            </a:r>
            <a:r>
              <a:rPr lang="fr-CA" i="1" dirty="0">
                <a:solidFill>
                  <a:srgbClr val="0070C0"/>
                </a:solidFill>
              </a:rPr>
              <a:t>valeur actualisée des droits à des prestations</a:t>
            </a:r>
            <a:endParaRPr lang="fr-CA" dirty="0">
              <a:solidFill>
                <a:srgbClr val="0070C0"/>
              </a:solidFill>
            </a:endParaRPr>
          </a:p>
          <a:p>
            <a:pPr marL="531813" indent="0">
              <a:buNone/>
            </a:pPr>
            <a:r>
              <a:rPr lang="fr-CA" dirty="0"/>
              <a:t>(ii)     le</a:t>
            </a:r>
            <a:r>
              <a:rPr lang="fr-CA" dirty="0">
                <a:solidFill>
                  <a:srgbClr val="0070C0"/>
                </a:solidFill>
              </a:rPr>
              <a:t> coût des services passés</a:t>
            </a:r>
            <a:r>
              <a:rPr lang="fr-CA" dirty="0"/>
              <a:t> et le profit ou la perte résultant d'une liquidation, le cas échéant (voir paragraphes 99 à 112), </a:t>
            </a:r>
            <a:r>
              <a:rPr lang="fr-CA" i="1" dirty="0">
                <a:solidFill>
                  <a:srgbClr val="0070C0"/>
                </a:solidFill>
              </a:rPr>
              <a:t>ajuster pour variation hypothèses actuarielles, modification au régime</a:t>
            </a:r>
            <a:endParaRPr lang="fr-CA" dirty="0">
              <a:solidFill>
                <a:srgbClr val="0070C0"/>
              </a:solidFill>
            </a:endParaRPr>
          </a:p>
          <a:p>
            <a:pPr marL="531813" indent="0">
              <a:buNone/>
            </a:pPr>
            <a:r>
              <a:rPr lang="fr-CA" dirty="0"/>
              <a:t>(iii) les intérêts nets sur le passif (l'actif) net au titre des prestations définies (voir paragraphes 123 à 126) ; </a:t>
            </a:r>
            <a:r>
              <a:rPr lang="fr-CA" i="1" dirty="0" err="1">
                <a:solidFill>
                  <a:srgbClr val="0070C0"/>
                </a:solidFill>
              </a:rPr>
              <a:t>désactualiser</a:t>
            </a:r>
            <a:r>
              <a:rPr lang="fr-CA" i="1" dirty="0">
                <a:solidFill>
                  <a:srgbClr val="0070C0"/>
                </a:solidFill>
              </a:rPr>
              <a:t> d’un an le passif– intérêts ; calcul du rendement « théorique » sur actif</a:t>
            </a:r>
            <a:endParaRPr lang="fr-CA" dirty="0"/>
          </a:p>
          <a:p>
            <a:pPr marL="0" indent="0">
              <a:buNone/>
            </a:pPr>
            <a:r>
              <a:rPr lang="fr-CA" dirty="0"/>
              <a:t>(d)     qu'elle détermine les réévaluations du passif (de l'actif) net au titre des prestations définies à comptabiliser dans les </a:t>
            </a:r>
            <a:r>
              <a:rPr lang="fr-CA" dirty="0">
                <a:solidFill>
                  <a:srgbClr val="FF0000"/>
                </a:solidFill>
              </a:rPr>
              <a:t>autres éléments du résultat global</a:t>
            </a:r>
            <a:r>
              <a:rPr lang="fr-CA" dirty="0"/>
              <a:t>. Ces réévaluations comprennent :</a:t>
            </a:r>
          </a:p>
          <a:p>
            <a:pPr marL="531813" indent="0">
              <a:buNone/>
            </a:pPr>
            <a:r>
              <a:rPr lang="fr-CA" dirty="0"/>
              <a:t>(i)     les écarts actuariels (voir paragraphes 128 et 129),</a:t>
            </a:r>
          </a:p>
          <a:p>
            <a:pPr marL="531813" indent="0">
              <a:buNone/>
            </a:pPr>
            <a:r>
              <a:rPr lang="fr-CA" dirty="0"/>
              <a:t>(ii)     le rendement des actifs du régime, à l'exclusion des montants pris en compte dans le calcul des intérêts nets sur le passif (l'actif) net au titre des prestations définies (voir paragraphe 130),  </a:t>
            </a:r>
            <a:r>
              <a:rPr lang="fr-CA" i="1" dirty="0">
                <a:solidFill>
                  <a:srgbClr val="0070C0"/>
                </a:solidFill>
              </a:rPr>
              <a:t>écart rendement réel sur actifs</a:t>
            </a:r>
            <a:endParaRPr lang="fr-CA" dirty="0"/>
          </a:p>
          <a:p>
            <a:pPr marL="531813" indent="0">
              <a:buNone/>
            </a:pPr>
            <a:r>
              <a:rPr lang="fr-CA" dirty="0"/>
              <a:t>(iii) la variation, le cas échéant, de l'effet du plafond de l'actif (voir paragraphe 64), à l'exclusion des montants pris en compte dans le calcul des intérêts nets sur le passif (l'actif) net au titre des prestations définies.</a:t>
            </a:r>
          </a:p>
          <a:p>
            <a:pPr marL="0" indent="0">
              <a:buNone/>
            </a:pPr>
            <a:r>
              <a:rPr lang="fr-CA" dirty="0"/>
              <a:t>     Lorsqu'une entité a plusieurs régimes à prestations définies, elle applique ces dispositions séparément à chaque régime significatif.</a:t>
            </a:r>
          </a:p>
          <a:p>
            <a:pPr marL="0" indent="0">
              <a:buNone/>
            </a:pPr>
            <a:endParaRPr lang="fr-CA" sz="1400" dirty="0"/>
          </a:p>
          <a:p>
            <a:pPr>
              <a:buFont typeface="Wingdings" panose="05000000000000000000" pitchFamily="2" charset="2"/>
              <a:buChar char="Ø"/>
            </a:pPr>
            <a:r>
              <a:rPr lang="fr-CA" dirty="0"/>
              <a:t>	</a:t>
            </a:r>
            <a:r>
              <a:rPr lang="fr-CA" dirty="0">
                <a:solidFill>
                  <a:srgbClr val="0070C0"/>
                </a:solidFill>
              </a:rPr>
              <a:t>faire appel à un actuaire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25</a:t>
            </a:fld>
            <a:endParaRPr lang="fr-CA"/>
          </a:p>
        </p:txBody>
      </p:sp>
    </p:spTree>
    <p:extLst>
      <p:ext uri="{BB962C8B-B14F-4D97-AF65-F5344CB8AC3E}">
        <p14:creationId xmlns:p14="http://schemas.microsoft.com/office/powerpoint/2010/main" val="3294038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Composantes du coût des prestations définies</a:t>
            </a:r>
          </a:p>
          <a:p>
            <a:pPr marL="0" indent="0">
              <a:buNone/>
            </a:pPr>
            <a:r>
              <a:rPr lang="fr-CA" dirty="0"/>
              <a:t>120     L'entité doit comptabiliser comme suit les composantes du coût des prestations définies, sauf dans la mesure où une autre IFRS impose ou permet de les incorporer dans le coût d'un actif :</a:t>
            </a:r>
          </a:p>
          <a:p>
            <a:pPr marL="0" indent="0">
              <a:buNone/>
            </a:pPr>
            <a:r>
              <a:rPr lang="fr-CA" dirty="0"/>
              <a:t>(a)     le coût des services (voir paragraphes 66 à 112 et paragraphe 122A), en </a:t>
            </a:r>
            <a:r>
              <a:rPr lang="fr-CA" dirty="0">
                <a:solidFill>
                  <a:srgbClr val="0070C0"/>
                </a:solidFill>
              </a:rPr>
              <a:t>résultat net </a:t>
            </a:r>
            <a:r>
              <a:rPr lang="fr-CA" dirty="0"/>
              <a:t>;</a:t>
            </a:r>
          </a:p>
          <a:p>
            <a:pPr marL="0" indent="0">
              <a:buNone/>
            </a:pPr>
            <a:r>
              <a:rPr lang="fr-CA" dirty="0"/>
              <a:t>(b)     les intérêts nets sur le passif (l'actif) net au titre des prestations définies (voir paragraphes 123 à 126), </a:t>
            </a:r>
            <a:r>
              <a:rPr lang="fr-CA" dirty="0">
                <a:solidFill>
                  <a:srgbClr val="0070C0"/>
                </a:solidFill>
              </a:rPr>
              <a:t>en résultat net</a:t>
            </a:r>
            <a:r>
              <a:rPr lang="fr-CA" dirty="0"/>
              <a:t> ;</a:t>
            </a:r>
          </a:p>
          <a:p>
            <a:pPr marL="0" indent="0">
              <a:buNone/>
            </a:pPr>
            <a:r>
              <a:rPr lang="fr-CA" dirty="0"/>
              <a:t>	</a:t>
            </a:r>
            <a:r>
              <a:rPr lang="fr-CA" sz="2600" i="1" dirty="0"/>
              <a:t>utiliser le taux d’actualisation déterminé au début de l’exercice (par 123A)</a:t>
            </a:r>
            <a:endParaRPr lang="fr-CA" sz="2600" dirty="0"/>
          </a:p>
          <a:p>
            <a:pPr marL="0" indent="0">
              <a:buNone/>
            </a:pPr>
            <a:r>
              <a:rPr lang="fr-CA" dirty="0"/>
              <a:t>(c)     les réévaluations du passif (de l'actif) net au titre des prestations définies (voir paragraphes 127 à 130), dans les </a:t>
            </a:r>
            <a:r>
              <a:rPr lang="fr-CA" dirty="0">
                <a:solidFill>
                  <a:srgbClr val="0070C0"/>
                </a:solidFill>
              </a:rPr>
              <a:t>autres éléments du résultat global</a:t>
            </a:r>
            <a:r>
              <a:rPr lang="fr-CA" dirty="0"/>
              <a:t>.</a:t>
            </a:r>
          </a:p>
          <a:p>
            <a:pPr marL="892175" indent="-892175">
              <a:buNone/>
            </a:pPr>
            <a:r>
              <a:rPr lang="fr-CA" dirty="0"/>
              <a:t>	</a:t>
            </a:r>
            <a:r>
              <a:rPr lang="fr-CA" i="1" dirty="0"/>
              <a:t>écarts actuariels ; écart entre rendement réel et calcul au taux d’actualisation</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26</a:t>
            </a:fld>
            <a:endParaRPr lang="fr-CA"/>
          </a:p>
        </p:txBody>
      </p:sp>
    </p:spTree>
    <p:extLst>
      <p:ext uri="{BB962C8B-B14F-4D97-AF65-F5344CB8AC3E}">
        <p14:creationId xmlns:p14="http://schemas.microsoft.com/office/powerpoint/2010/main" val="1056511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i="1" dirty="0"/>
              <a:t>Section définitions par 8</a:t>
            </a:r>
          </a:p>
          <a:p>
            <a:pPr marL="0" indent="0">
              <a:buNone/>
            </a:pPr>
            <a:endParaRPr lang="fr-CA" b="1" dirty="0"/>
          </a:p>
          <a:p>
            <a:pPr marL="0" indent="0">
              <a:buNone/>
            </a:pPr>
            <a:r>
              <a:rPr lang="fr-CA" b="1" dirty="0"/>
              <a:t>Le </a:t>
            </a:r>
            <a:r>
              <a:rPr lang="fr-CA" b="1" i="1" dirty="0"/>
              <a:t>coût des services</a:t>
            </a:r>
            <a:r>
              <a:rPr lang="fr-CA" b="1" dirty="0"/>
              <a:t> comprend :</a:t>
            </a:r>
          </a:p>
          <a:p>
            <a:pPr marL="0" indent="0">
              <a:buNone/>
            </a:pPr>
            <a:r>
              <a:rPr lang="fr-CA" dirty="0"/>
              <a:t>(a)     le </a:t>
            </a:r>
            <a:r>
              <a:rPr lang="fr-CA" i="1" dirty="0"/>
              <a:t>coût des services rendus au cours de la période</a:t>
            </a:r>
            <a:r>
              <a:rPr lang="fr-CA" dirty="0"/>
              <a:t>, soit l'accroissement de la valeur actualisée de l'obligation au titre des prestations définies résultant des services rendus par les membres du personnel pendant la période considérée ;</a:t>
            </a:r>
          </a:p>
          <a:p>
            <a:pPr marL="0" indent="0">
              <a:buNone/>
            </a:pPr>
            <a:r>
              <a:rPr lang="fr-CA" dirty="0"/>
              <a:t>(b)     le </a:t>
            </a:r>
            <a:r>
              <a:rPr lang="fr-CA" i="1" dirty="0"/>
              <a:t>coût des services passés</a:t>
            </a:r>
            <a:r>
              <a:rPr lang="fr-CA" dirty="0"/>
              <a:t>, soit la variation de la valeur actualisée de l'obligation au titre des prestations définies pour les services rendus par les membres du personnel au cours de périodes antérieures qui résulte de la modification d'un régime (instauration ou cessation d'un régime à prestations définies ou encore apport de changements au régime) ou de la réduction d'un régime (diminution importante, décidée par l'entité, du nombre de membres du personnel couverts par le régime) ;</a:t>
            </a:r>
          </a:p>
          <a:p>
            <a:pPr marL="0" indent="0">
              <a:buNone/>
            </a:pPr>
            <a:r>
              <a:rPr lang="fr-CA" dirty="0"/>
              <a:t>(c)     le profit ou la perte résultant de la liquidation, le cas échéant.</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27</a:t>
            </a:fld>
            <a:endParaRPr lang="fr-CA"/>
          </a:p>
        </p:txBody>
      </p:sp>
    </p:spTree>
    <p:extLst>
      <p:ext uri="{BB962C8B-B14F-4D97-AF65-F5344CB8AC3E}">
        <p14:creationId xmlns:p14="http://schemas.microsoft.com/office/powerpoint/2010/main" val="1936373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i="1" dirty="0"/>
              <a:t>Section définitions par 8</a:t>
            </a:r>
          </a:p>
          <a:p>
            <a:pPr marL="0" indent="0">
              <a:buNone/>
            </a:pPr>
            <a:endParaRPr lang="fr-CA" b="1" dirty="0"/>
          </a:p>
          <a:p>
            <a:pPr marL="0" indent="0">
              <a:buNone/>
            </a:pPr>
            <a:r>
              <a:rPr lang="fr-CA" sz="2400" dirty="0"/>
              <a:t>La</a:t>
            </a:r>
            <a:r>
              <a:rPr lang="fr-CA" sz="2400" b="1" dirty="0"/>
              <a:t> </a:t>
            </a:r>
            <a:r>
              <a:rPr lang="fr-CA" sz="2400" b="1" i="1" dirty="0"/>
              <a:t>valeur actualisée de l'obligation au titre de prestations définies</a:t>
            </a:r>
            <a:r>
              <a:rPr lang="fr-CA" sz="2400" b="1" dirty="0"/>
              <a:t> </a:t>
            </a:r>
            <a:r>
              <a:rPr lang="fr-CA" sz="2400" dirty="0"/>
              <a:t>est la valeur actualisée, sans déduction des actifs du régime, des paiements futurs qui devraient être nécessaires pour régler l'obligation résultant des services rendus par les membres du personnel pendant la période considérée et les périodes antérieures.</a:t>
            </a:r>
            <a:endParaRPr lang="fr-CA" dirty="0"/>
          </a:p>
          <a:p>
            <a:pPr marL="0" indent="0">
              <a:buNone/>
            </a:pPr>
            <a:endParaRPr lang="fr-CA" b="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28</a:t>
            </a:fld>
            <a:endParaRPr lang="fr-CA"/>
          </a:p>
        </p:txBody>
      </p:sp>
    </p:spTree>
    <p:extLst>
      <p:ext uri="{BB962C8B-B14F-4D97-AF65-F5344CB8AC3E}">
        <p14:creationId xmlns:p14="http://schemas.microsoft.com/office/powerpoint/2010/main" val="1548585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77500" lnSpcReduction="20000"/>
          </a:bodyPr>
          <a:lstStyle/>
          <a:p>
            <a:pPr marL="0" indent="0">
              <a:buNone/>
            </a:pPr>
            <a:r>
              <a:rPr lang="fr-CA" i="1" dirty="0"/>
              <a:t>Section définitions par 8</a:t>
            </a:r>
          </a:p>
          <a:p>
            <a:pPr marL="0" indent="0">
              <a:buNone/>
            </a:pPr>
            <a:endParaRPr lang="fr-CA" b="1" dirty="0"/>
          </a:p>
          <a:p>
            <a:pPr marL="0" indent="0">
              <a:buNone/>
            </a:pPr>
            <a:r>
              <a:rPr lang="fr-CA" dirty="0"/>
              <a:t>Les</a:t>
            </a:r>
            <a:r>
              <a:rPr lang="fr-CA" b="1" dirty="0"/>
              <a:t> </a:t>
            </a:r>
            <a:r>
              <a:rPr lang="fr-CA" b="1" i="1" dirty="0"/>
              <a:t>intérêts nets sur le passif (l'actif) net au titre des prestations définies</a:t>
            </a:r>
            <a:r>
              <a:rPr lang="fr-CA" b="1" dirty="0"/>
              <a:t> </a:t>
            </a:r>
            <a:r>
              <a:rPr lang="fr-CA" dirty="0"/>
              <a:t>correspondent à la variation pour la période du passif (de l'actif) net au titre des prestations définies attribuable au passage du temps.</a:t>
            </a:r>
          </a:p>
          <a:p>
            <a:pPr marL="0" indent="0">
              <a:buNone/>
            </a:pPr>
            <a:endParaRPr lang="fr-CA" b="1" dirty="0"/>
          </a:p>
          <a:p>
            <a:pPr marL="0" indent="0">
              <a:buNone/>
            </a:pPr>
            <a:r>
              <a:rPr lang="fr-CA" dirty="0"/>
              <a:t>Les</a:t>
            </a:r>
            <a:r>
              <a:rPr lang="fr-CA" b="1" dirty="0"/>
              <a:t> </a:t>
            </a:r>
            <a:r>
              <a:rPr lang="fr-CA" b="1" i="1" dirty="0"/>
              <a:t>réévaluations du passif (de l'actif) net au titre des prestations définies</a:t>
            </a:r>
            <a:r>
              <a:rPr lang="fr-CA" b="1" dirty="0"/>
              <a:t> </a:t>
            </a:r>
            <a:r>
              <a:rPr lang="fr-CA" dirty="0"/>
              <a:t>comprennent :</a:t>
            </a:r>
          </a:p>
          <a:p>
            <a:pPr marL="0" indent="0">
              <a:buNone/>
            </a:pPr>
            <a:r>
              <a:rPr lang="fr-CA" dirty="0"/>
              <a:t>(a)     les écarts actuariels ;</a:t>
            </a:r>
          </a:p>
          <a:p>
            <a:pPr marL="0" indent="0">
              <a:buNone/>
            </a:pPr>
            <a:r>
              <a:rPr lang="fr-CA" dirty="0"/>
              <a:t>(b)     le rendement des actifs du régime, à l'exclusion des montants pris en compte dans le calcul des intérêts nets sur le passif (l'actif) net au titre des prestations définies ;</a:t>
            </a:r>
          </a:p>
          <a:p>
            <a:pPr marL="0" indent="0">
              <a:buNone/>
            </a:pPr>
            <a:r>
              <a:rPr lang="fr-CA" dirty="0"/>
              <a:t>(c)     la variation, le cas échéant, de l'effet du plafond de l'actif, à l'exclusion des montants pris en compte dans le calcul des intérêts nets sur le passif (l'actif) net au titre des prestations définies.</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29</a:t>
            </a:fld>
            <a:endParaRPr lang="fr-CA"/>
          </a:p>
        </p:txBody>
      </p:sp>
    </p:spTree>
    <p:extLst>
      <p:ext uri="{BB962C8B-B14F-4D97-AF65-F5344CB8AC3E}">
        <p14:creationId xmlns:p14="http://schemas.microsoft.com/office/powerpoint/2010/main" val="1536626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CA" i="1" dirty="0"/>
              <a:t>Section définitions par 8</a:t>
            </a:r>
          </a:p>
          <a:p>
            <a:pPr marL="0" indent="0">
              <a:buNone/>
            </a:pPr>
            <a:endParaRPr lang="fr-CA" b="1" dirty="0"/>
          </a:p>
          <a:p>
            <a:pPr marL="0" indent="0">
              <a:buNone/>
            </a:pPr>
            <a:r>
              <a:rPr lang="fr-CA" dirty="0"/>
              <a:t>Les</a:t>
            </a:r>
            <a:r>
              <a:rPr lang="fr-CA" b="1" dirty="0"/>
              <a:t> </a:t>
            </a:r>
            <a:r>
              <a:rPr lang="fr-CA" b="1" i="1" dirty="0"/>
              <a:t>écarts actuariels</a:t>
            </a:r>
            <a:r>
              <a:rPr lang="fr-CA" b="1" dirty="0"/>
              <a:t> </a:t>
            </a:r>
            <a:r>
              <a:rPr lang="fr-CA" dirty="0"/>
              <a:t>sont les variations de la valeur actualisée de l'obligation au titre des prestations définies qui résultent :</a:t>
            </a:r>
          </a:p>
          <a:p>
            <a:pPr marL="0" indent="0">
              <a:buNone/>
            </a:pPr>
            <a:r>
              <a:rPr lang="fr-CA" dirty="0"/>
              <a:t>(a)     des ajustements liés à l'expérience (l'effet des écarts entre les hypothèses actuarielles antérieures et ce qui s'est effectivement produit) ;</a:t>
            </a:r>
          </a:p>
          <a:p>
            <a:pPr marL="0" indent="0">
              <a:buNone/>
            </a:pPr>
            <a:r>
              <a:rPr lang="fr-CA" dirty="0"/>
              <a:t>(b)     de l'effet des changements apportés aux hypothèses actuarielles.</a:t>
            </a:r>
          </a:p>
          <a:p>
            <a:pPr marL="0" indent="0">
              <a:buNone/>
            </a:pPr>
            <a:endParaRPr lang="fr-CA" b="1" dirty="0"/>
          </a:p>
          <a:p>
            <a:pPr marL="0" indent="0">
              <a:buNone/>
            </a:pPr>
            <a:r>
              <a:rPr lang="fr-CA" dirty="0"/>
              <a:t>Le</a:t>
            </a:r>
            <a:r>
              <a:rPr lang="fr-CA" b="1" dirty="0"/>
              <a:t> </a:t>
            </a:r>
            <a:r>
              <a:rPr lang="fr-CA" b="1" i="1" dirty="0"/>
              <a:t>rendement des actifs du régime</a:t>
            </a:r>
            <a:r>
              <a:rPr lang="fr-CA" b="1" dirty="0"/>
              <a:t> </a:t>
            </a:r>
            <a:r>
              <a:rPr lang="fr-CA" dirty="0"/>
              <a:t>comprend les intérêts, dividendes et autres produits tirés desdits actifs ainsi que les profits ou pertes réalisés ou latents sur ces actifs, déduction faite :</a:t>
            </a:r>
          </a:p>
          <a:p>
            <a:pPr marL="0" indent="0">
              <a:buNone/>
            </a:pPr>
            <a:r>
              <a:rPr lang="fr-CA" dirty="0"/>
              <a:t>(a)     des coûts de gestion desdits actifs ;</a:t>
            </a:r>
          </a:p>
          <a:p>
            <a:pPr marL="0" indent="0">
              <a:buNone/>
            </a:pPr>
            <a:r>
              <a:rPr lang="fr-CA" dirty="0"/>
              <a:t>(b)     des impôts à payer par le régime, à l'exception des impôts pris en compte dans les hypothèses actuarielles utilisées pour évaluer la valeur actualisée de l'obligation au titre des prestations définies.</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30</a:t>
            </a:fld>
            <a:endParaRPr lang="fr-CA"/>
          </a:p>
        </p:txBody>
      </p:sp>
    </p:spTree>
    <p:extLst>
      <p:ext uri="{BB962C8B-B14F-4D97-AF65-F5344CB8AC3E}">
        <p14:creationId xmlns:p14="http://schemas.microsoft.com/office/powerpoint/2010/main" val="1784142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lnSpcReduction="10000"/>
          </a:bodyPr>
          <a:lstStyle/>
          <a:p>
            <a:pPr marL="0" indent="0">
              <a:buNone/>
            </a:pPr>
            <a:r>
              <a:rPr lang="fr-CA" b="1" dirty="0"/>
              <a:t>Méthode d'évaluation actuarielle</a:t>
            </a:r>
          </a:p>
          <a:p>
            <a:pPr marL="0" indent="0">
              <a:buNone/>
            </a:pPr>
            <a:r>
              <a:rPr lang="fr-CA" b="1" dirty="0"/>
              <a:t>67     L'entité doit utiliser la méthode des unités de crédit projetées pour déterminer la valeur actualisée de ses obligations au titre des prestations définies, le coût correspondant des services rendus au cours de la période et, le cas échéant, le coût des services passés.</a:t>
            </a:r>
          </a:p>
          <a:p>
            <a:pPr marL="0" indent="0">
              <a:buNone/>
            </a:pPr>
            <a:r>
              <a:rPr lang="fr-CA" dirty="0"/>
              <a:t>68     Selon la méthode des unités de crédit projetées (parfois appelée méthode de répartition des prestations au prorata des services ou méthode des prestations par année de service), </a:t>
            </a:r>
            <a:r>
              <a:rPr lang="fr-CA" dirty="0">
                <a:solidFill>
                  <a:srgbClr val="0070C0"/>
                </a:solidFill>
              </a:rPr>
              <a:t>chaque période de service donne lieu à une unité de droits à prestations additionnelle </a:t>
            </a:r>
            <a:r>
              <a:rPr lang="fr-CA" dirty="0"/>
              <a:t>(voir paragraphes 70 à 74) et chacune de ces unités est évaluée séparément pour obtenir l'obligation finale (voir paragraphes 75 à 98).</a:t>
            </a:r>
          </a:p>
          <a:p>
            <a:pPr marL="0" indent="0">
              <a:buNone/>
            </a:pPr>
            <a:endParaRPr lang="fr-CA" dirty="0"/>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31</a:t>
            </a:fld>
            <a:endParaRPr lang="fr-CA"/>
          </a:p>
        </p:txBody>
      </p:sp>
    </p:spTree>
    <p:extLst>
      <p:ext uri="{BB962C8B-B14F-4D97-AF65-F5344CB8AC3E}">
        <p14:creationId xmlns:p14="http://schemas.microsoft.com/office/powerpoint/2010/main" val="3312657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76597"/>
          </a:xfrm>
        </p:spPr>
        <p:txBody>
          <a:bodyPr/>
          <a:lstStyle/>
          <a:p>
            <a:pPr algn="ctr"/>
            <a:r>
              <a:rPr lang="fr-CA" sz="3600" dirty="0"/>
              <a:t>Hypothèses actuarielles</a:t>
            </a:r>
            <a:endParaRPr lang="fr-CA" dirty="0"/>
          </a:p>
        </p:txBody>
      </p:sp>
      <p:sp>
        <p:nvSpPr>
          <p:cNvPr id="3" name="Espace réservé du contenu 2"/>
          <p:cNvSpPr>
            <a:spLocks noGrp="1"/>
          </p:cNvSpPr>
          <p:nvPr>
            <p:ph idx="1"/>
          </p:nvPr>
        </p:nvSpPr>
        <p:spPr>
          <a:xfrm>
            <a:off x="838200" y="1041722"/>
            <a:ext cx="10515600" cy="5474825"/>
          </a:xfrm>
        </p:spPr>
        <p:txBody>
          <a:bodyPr>
            <a:normAutofit fontScale="77500" lnSpcReduction="20000"/>
          </a:bodyPr>
          <a:lstStyle/>
          <a:p>
            <a:pPr marL="0" indent="0">
              <a:buNone/>
            </a:pPr>
            <a:r>
              <a:rPr lang="fr-CA" b="1" dirty="0"/>
              <a:t>75     Les hypothèses actuarielles doivent être exemptes de parti pris et mutuellement compatibles.</a:t>
            </a:r>
          </a:p>
          <a:p>
            <a:pPr marL="0" indent="0">
              <a:buNone/>
            </a:pPr>
            <a:endParaRPr lang="fr-CA" b="1" dirty="0"/>
          </a:p>
          <a:p>
            <a:pPr marL="0" indent="0">
              <a:buNone/>
            </a:pPr>
            <a:r>
              <a:rPr lang="fr-CA" dirty="0"/>
              <a:t>76     Les hypothèses actuarielles sont les meilleures estimations faites par l'entité des variables qui détermineront le coût final des avantages postérieurs à l'emploi. Elles comprennent :</a:t>
            </a:r>
          </a:p>
          <a:p>
            <a:pPr marL="0" indent="0">
              <a:buNone/>
            </a:pPr>
            <a:r>
              <a:rPr lang="fr-CA" dirty="0"/>
              <a:t>(a)     </a:t>
            </a:r>
            <a:r>
              <a:rPr lang="fr-CA" dirty="0">
                <a:solidFill>
                  <a:srgbClr val="0070C0"/>
                </a:solidFill>
              </a:rPr>
              <a:t>des hypothèses démographiques </a:t>
            </a:r>
            <a:r>
              <a:rPr lang="fr-CA" dirty="0"/>
              <a:t>relatives aux caractéristiques futures des membres du personnel en activité et des anciens membres du personnel (et des personnes à leur charge) réunissant les conditions requises pour bénéficier des avantages. Ces hypothèses démographiques portent sur des éléments tels que les suivants :</a:t>
            </a:r>
          </a:p>
          <a:p>
            <a:pPr marL="358775" indent="0">
              <a:buNone/>
            </a:pPr>
            <a:r>
              <a:rPr lang="fr-CA" dirty="0"/>
              <a:t>(i)     la mortalité (voir paragraphes 81 et 82),</a:t>
            </a:r>
          </a:p>
          <a:p>
            <a:pPr marL="358775" indent="0">
              <a:buNone/>
            </a:pPr>
            <a:r>
              <a:rPr lang="fr-CA" dirty="0"/>
              <a:t>(ii)     les taux de rotation du personnel, d'invalidité et de retraite anticipée,</a:t>
            </a:r>
          </a:p>
          <a:p>
            <a:pPr marL="358775" indent="0">
              <a:buNone/>
            </a:pPr>
            <a:r>
              <a:rPr lang="fr-CA" dirty="0"/>
              <a:t>(iii) la proportion des participants au régime ayant des personnes à charge qui auront droit aux prestations,</a:t>
            </a:r>
          </a:p>
          <a:p>
            <a:pPr marL="358775" indent="0">
              <a:buNone/>
            </a:pPr>
            <a:r>
              <a:rPr lang="fr-CA" dirty="0"/>
              <a:t>(iv) la proportion des participants au régime qui choisiront chacune des options de paiement offertes en vertu des dispositions du régime,</a:t>
            </a:r>
          </a:p>
          <a:p>
            <a:pPr marL="358775" indent="0">
              <a:buNone/>
            </a:pPr>
            <a:r>
              <a:rPr lang="fr-CA" dirty="0"/>
              <a:t>(v)     les taux de demandes d'indemnisation en vertu de régimes d'assistance médicale ;</a:t>
            </a:r>
          </a:p>
          <a:p>
            <a:pPr marL="0" indent="0">
              <a:buNone/>
            </a:pPr>
            <a:r>
              <a:rPr lang="fr-CA" dirty="0"/>
              <a:t>… </a:t>
            </a:r>
            <a:r>
              <a:rPr lang="fr-CA" i="1" dirty="0"/>
              <a:t>page suivante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32</a:t>
            </a:fld>
            <a:endParaRPr lang="fr-CA"/>
          </a:p>
        </p:txBody>
      </p:sp>
    </p:spTree>
    <p:extLst>
      <p:ext uri="{BB962C8B-B14F-4D97-AF65-F5344CB8AC3E}">
        <p14:creationId xmlns:p14="http://schemas.microsoft.com/office/powerpoint/2010/main" val="35944254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76597"/>
          </a:xfrm>
        </p:spPr>
        <p:txBody>
          <a:bodyPr/>
          <a:lstStyle/>
          <a:p>
            <a:pPr algn="ctr"/>
            <a:r>
              <a:rPr lang="fr-CA" sz="3600" dirty="0"/>
              <a:t>Hypothèses actuarielles</a:t>
            </a:r>
            <a:endParaRPr lang="fr-CA" dirty="0"/>
          </a:p>
        </p:txBody>
      </p:sp>
      <p:sp>
        <p:nvSpPr>
          <p:cNvPr id="3" name="Espace réservé du contenu 2"/>
          <p:cNvSpPr>
            <a:spLocks noGrp="1"/>
          </p:cNvSpPr>
          <p:nvPr>
            <p:ph idx="1"/>
          </p:nvPr>
        </p:nvSpPr>
        <p:spPr>
          <a:xfrm>
            <a:off x="838200" y="1041722"/>
            <a:ext cx="10515600" cy="5474825"/>
          </a:xfrm>
        </p:spPr>
        <p:txBody>
          <a:bodyPr>
            <a:normAutofit fontScale="92500" lnSpcReduction="20000"/>
          </a:bodyPr>
          <a:lstStyle/>
          <a:p>
            <a:pPr marL="0" indent="0">
              <a:buNone/>
            </a:pPr>
            <a:r>
              <a:rPr lang="fr-CA" sz="2000" dirty="0"/>
              <a:t>(b)    </a:t>
            </a:r>
            <a:r>
              <a:rPr lang="fr-CA" sz="2000" dirty="0">
                <a:solidFill>
                  <a:srgbClr val="0070C0"/>
                </a:solidFill>
              </a:rPr>
              <a:t> des hypothèses financières</a:t>
            </a:r>
            <a:r>
              <a:rPr lang="fr-CA" sz="2000" dirty="0"/>
              <a:t>, qui portent sur des éléments tels que les suivants :</a:t>
            </a:r>
          </a:p>
          <a:p>
            <a:pPr marL="358775" indent="0">
              <a:buNone/>
            </a:pPr>
            <a:r>
              <a:rPr lang="fr-CA" sz="2000" dirty="0"/>
              <a:t>(i)     le taux d'actualisation (voir paragraphes 83 à 86),</a:t>
            </a:r>
          </a:p>
          <a:p>
            <a:pPr marL="890588" indent="-531813">
              <a:buNone/>
            </a:pPr>
            <a:r>
              <a:rPr lang="fr-CA" sz="2000" dirty="0"/>
              <a:t>	</a:t>
            </a:r>
            <a:r>
              <a:rPr lang="fr-CA" sz="2000" b="1" dirty="0"/>
              <a:t>doit être déterminé par référence aux taux de rendement, à la fin de la période de présentation de l'information financière, du marché des obligations d'entreprise de haute qualité (par 83)</a:t>
            </a:r>
            <a:endParaRPr lang="fr-CA" sz="2000" dirty="0"/>
          </a:p>
          <a:p>
            <a:pPr marL="358775" indent="0">
              <a:buNone/>
            </a:pPr>
            <a:r>
              <a:rPr lang="fr-CA" sz="2000" dirty="0"/>
              <a:t>(ii)     les niveaux de prestations (à l'exclusion des coûts des prestations assumés par les membres du personnel) et les salaires futurs (voir paragraphes 87 à 95),</a:t>
            </a:r>
          </a:p>
          <a:p>
            <a:pPr marL="358775" indent="0">
              <a:buNone/>
            </a:pPr>
            <a:r>
              <a:rPr lang="fr-CA" sz="2000" dirty="0"/>
              <a:t>(iii) dans le cas de l'assistance médicale, les coûts médicaux futurs, y compris les coûts d'administration des demandes (c'est-à-dire les coûts qui seront engagés lors du traitement et du règlement des demandes, y compris les honoraires juridiques et les honoraires d'experts) (voir paragraphes 96 à 98),</a:t>
            </a:r>
          </a:p>
          <a:p>
            <a:pPr marL="358775" indent="0">
              <a:buNone/>
            </a:pPr>
            <a:r>
              <a:rPr lang="fr-CA" sz="2000" dirty="0"/>
              <a:t>(iv) les impôts à payer par le régime sur les cotisations relatives aux services rendus avant la date de clôture ou sur les prestations qui en résultent.</a:t>
            </a:r>
          </a:p>
          <a:p>
            <a:pPr marL="358775" indent="0">
              <a:buNone/>
            </a:pPr>
            <a:endParaRPr lang="fr-CA" sz="2000" dirty="0"/>
          </a:p>
          <a:p>
            <a:pPr marL="815975" indent="-457200">
              <a:buFont typeface="Wingdings" panose="05000000000000000000" pitchFamily="2" charset="2"/>
              <a:buChar char="Ø"/>
            </a:pPr>
            <a:r>
              <a:rPr lang="fr-CA" sz="2000" dirty="0"/>
              <a:t>Actuaire calcule les prestations qui devront être payées</a:t>
            </a:r>
          </a:p>
          <a:p>
            <a:pPr marL="2187575" lvl="3" indent="-457200">
              <a:buFont typeface="Wingdings" panose="05000000000000000000" pitchFamily="2" charset="2"/>
              <a:buChar char="Ø"/>
            </a:pPr>
            <a:r>
              <a:rPr lang="fr-CA" dirty="0"/>
              <a:t>Plusieurs hypothèse : retraite anticipée?, conjoint?...</a:t>
            </a:r>
          </a:p>
          <a:p>
            <a:pPr marL="2187575" lvl="3" indent="-457200">
              <a:buFont typeface="Wingdings" panose="05000000000000000000" pitchFamily="2" charset="2"/>
              <a:buChar char="Ø"/>
            </a:pPr>
            <a:r>
              <a:rPr lang="fr-CA" dirty="0"/>
              <a:t>Parfois un complément des régimes gouvernementaux (complément RRQ)</a:t>
            </a:r>
            <a:endParaRPr lang="fr-CA" sz="1000" dirty="0"/>
          </a:p>
          <a:p>
            <a:pPr marL="358775" indent="0">
              <a:buNone/>
            </a:pPr>
            <a:r>
              <a:rPr lang="fr-CA" sz="2000" dirty="0"/>
              <a:t>                         	actualise les sommes</a:t>
            </a:r>
          </a:p>
          <a:p>
            <a:pPr marL="358775" indent="0">
              <a:buNone/>
            </a:pPr>
            <a:r>
              <a:rPr lang="fr-CA" sz="2000" dirty="0"/>
              <a:t>		déduit portion payée par employé</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33</a:t>
            </a:fld>
            <a:endParaRPr lang="fr-CA"/>
          </a:p>
        </p:txBody>
      </p:sp>
    </p:spTree>
    <p:extLst>
      <p:ext uri="{BB962C8B-B14F-4D97-AF65-F5344CB8AC3E}">
        <p14:creationId xmlns:p14="http://schemas.microsoft.com/office/powerpoint/2010/main" val="2116926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Comptabilisation et évaluation : valeur actualisée des obligations au titre des prestations définies et coût des services rendus au cours de la période</a:t>
            </a:r>
          </a:p>
          <a:p>
            <a:pPr marL="0" indent="0">
              <a:buNone/>
            </a:pPr>
            <a:r>
              <a:rPr lang="fr-CA" dirty="0"/>
              <a:t>66     De</a:t>
            </a:r>
            <a:r>
              <a:rPr lang="fr-CA" dirty="0">
                <a:solidFill>
                  <a:srgbClr val="0070C0"/>
                </a:solidFill>
              </a:rPr>
              <a:t> nombreuses variables</a:t>
            </a:r>
            <a:r>
              <a:rPr lang="fr-CA" dirty="0"/>
              <a:t>, comme les salaires de fin de carrière, la rotation du personnel, la mortalité, les cotisations versées par les membres du personnel et l'évolution des coûts médicaux, peuvent influer sur le coût final d'un régime à prestations définies. Ce coût final est incertain et l'incertitude est susceptible de durer longtemps. Pour pouvoir évaluer la valeur actualisée des obligations au titre des avantages postérieurs à l'emploi et le coût correspondant des services rendus au cours de la période, il faut :</a:t>
            </a:r>
          </a:p>
          <a:p>
            <a:pPr marL="0" indent="0">
              <a:buNone/>
            </a:pPr>
            <a:r>
              <a:rPr lang="fr-CA" dirty="0"/>
              <a:t>(a)     appliquer une méthode d'évaluation actuarielle (voir paragraphes 67 à 69) ;</a:t>
            </a:r>
          </a:p>
          <a:p>
            <a:pPr marL="0" indent="0">
              <a:buNone/>
            </a:pPr>
            <a:r>
              <a:rPr lang="fr-CA" dirty="0"/>
              <a:t>(b)     rattacher les droits à prestations aux périodes de service (voir paragraphes 70 à 74) ;</a:t>
            </a:r>
          </a:p>
          <a:p>
            <a:pPr marL="0" indent="0">
              <a:buNone/>
            </a:pPr>
            <a:r>
              <a:rPr lang="fr-CA" dirty="0"/>
              <a:t>(c)     faire des hypothèses actuarielles (voir paragraphes 75 à 98).</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34</a:t>
            </a:fld>
            <a:endParaRPr lang="fr-CA"/>
          </a:p>
        </p:txBody>
      </p:sp>
    </p:spTree>
    <p:extLst>
      <p:ext uri="{BB962C8B-B14F-4D97-AF65-F5344CB8AC3E}">
        <p14:creationId xmlns:p14="http://schemas.microsoft.com/office/powerpoint/2010/main" val="3599246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a:xfrm>
            <a:off x="838200" y="1611086"/>
            <a:ext cx="10515600" cy="4565877"/>
          </a:xfrm>
        </p:spPr>
        <p:txBody>
          <a:bodyPr>
            <a:normAutofit fontScale="70000" lnSpcReduction="20000"/>
          </a:bodyPr>
          <a:lstStyle/>
          <a:p>
            <a:pPr marL="0" indent="0">
              <a:buNone/>
            </a:pPr>
            <a:r>
              <a:rPr lang="fr-CA" b="1" dirty="0"/>
              <a:t>Coût des services passés et profits et pertes sur liquidation</a:t>
            </a:r>
          </a:p>
          <a:p>
            <a:pPr marL="0" indent="0">
              <a:buNone/>
            </a:pPr>
            <a:endParaRPr lang="fr-CA" b="1" dirty="0"/>
          </a:p>
          <a:p>
            <a:pPr marL="0" indent="0">
              <a:buNone/>
            </a:pPr>
            <a:r>
              <a:rPr lang="fr-CA" dirty="0"/>
              <a:t>99     Pour déterminer le coût des services passés, ou le profit ou la perte résultant d'une liquidation, l'entité doit réévaluer le passif (l'actif) net au titre des prestations définies sur la base de la juste valeur actuelle des actifs du régime et d'hypothèses actuarielles actuelles, y compris les taux d'intérêt actuels du marché et autres prix de marché actuels, reflétant :</a:t>
            </a:r>
          </a:p>
          <a:p>
            <a:pPr marL="0" indent="0">
              <a:buNone/>
            </a:pPr>
            <a:r>
              <a:rPr lang="fr-CA" dirty="0"/>
              <a:t>(a)     les prestations accordées selon le régime et les actifs du régime avant sa modification, réduction ou liquidation ;</a:t>
            </a:r>
          </a:p>
          <a:p>
            <a:pPr marL="0" indent="0">
              <a:buNone/>
            </a:pPr>
            <a:r>
              <a:rPr lang="fr-CA" dirty="0"/>
              <a:t>(b)     les prestations accordées selon le régime et les actifs du régime après sa modification, réduction ou liquidation.</a:t>
            </a:r>
          </a:p>
          <a:p>
            <a:pPr marL="0" indent="0">
              <a:buNone/>
            </a:pPr>
            <a:endParaRPr lang="fr-CA" dirty="0"/>
          </a:p>
          <a:p>
            <a:pPr marL="0" indent="0">
              <a:buNone/>
            </a:pPr>
            <a:r>
              <a:rPr lang="fr-CA" dirty="0"/>
              <a:t>103     L'entité doit comptabiliser en charges le coût des services passés à la première des deux dates suivantes :</a:t>
            </a:r>
          </a:p>
          <a:p>
            <a:pPr marL="0" indent="0">
              <a:buNone/>
            </a:pPr>
            <a:r>
              <a:rPr lang="fr-CA" dirty="0"/>
              <a:t>(a)     la date de modification ou de réduction du régime ;</a:t>
            </a:r>
          </a:p>
          <a:p>
            <a:pPr marL="0" indent="0">
              <a:buNone/>
            </a:pPr>
            <a:r>
              <a:rPr lang="fr-CA" dirty="0"/>
              <a:t>(b)     la date à laquelle l'entité comptabilise les coûts de restructuration correspondants (voir IAS 37) ou les indemnités de cessation d'emploi correspondantes (voir paragraphe 165).</a:t>
            </a:r>
          </a:p>
          <a:p>
            <a:pPr marL="0" indent="0">
              <a:buNone/>
            </a:pPr>
            <a:endParaRPr lang="fr-CA" b="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35</a:t>
            </a:fld>
            <a:endParaRPr lang="fr-CA"/>
          </a:p>
        </p:txBody>
      </p:sp>
    </p:spTree>
    <p:extLst>
      <p:ext uri="{BB962C8B-B14F-4D97-AF65-F5344CB8AC3E}">
        <p14:creationId xmlns:p14="http://schemas.microsoft.com/office/powerpoint/2010/main" val="353112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sz="2400" b="1" dirty="0"/>
              <a:t>Profits et pertes sur liquidation</a:t>
            </a:r>
          </a:p>
          <a:p>
            <a:pPr marL="0" indent="0">
              <a:buNone/>
            </a:pPr>
            <a:r>
              <a:rPr lang="fr-CA" sz="2400" dirty="0"/>
              <a:t>109     Le profit ou la perte résultant d'une liquidation est égal à la différence entre :</a:t>
            </a:r>
          </a:p>
          <a:p>
            <a:pPr marL="0" indent="0">
              <a:buNone/>
            </a:pPr>
            <a:r>
              <a:rPr lang="fr-CA" sz="2400" dirty="0"/>
              <a:t>(a)     la valeur actualisée de l'obligation au titre des prestations définies qui est réglée, déterminée à la date de liquidation ; et</a:t>
            </a:r>
          </a:p>
          <a:p>
            <a:pPr marL="0" indent="0">
              <a:buNone/>
            </a:pPr>
            <a:r>
              <a:rPr lang="fr-CA" sz="2400" dirty="0"/>
              <a:t>(b)     la contrepartie de la liquidation, y compris, le cas échéant, le montant des actifs du régime transférés et des paiements effectués directement par l'entité dans le cadre de la liquidation.</a:t>
            </a:r>
          </a:p>
          <a:p>
            <a:pPr marL="0" indent="0">
              <a:buNone/>
            </a:pPr>
            <a:endParaRPr lang="fr-CA" sz="2400" dirty="0"/>
          </a:p>
          <a:p>
            <a:pPr marL="0" indent="0">
              <a:buNone/>
            </a:pPr>
            <a:r>
              <a:rPr lang="fr-CA" sz="2400" b="1" dirty="0"/>
              <a:t>110     L'entité doit comptabiliser le profit ou la perte résultant de la liquidation d'un régime à prestations définies lorsque la liquidation a lieu.</a:t>
            </a:r>
            <a:endParaRPr lang="fr-CA" b="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36</a:t>
            </a:fld>
            <a:endParaRPr lang="fr-CA"/>
          </a:p>
        </p:txBody>
      </p:sp>
    </p:spTree>
    <p:extLst>
      <p:ext uri="{BB962C8B-B14F-4D97-AF65-F5344CB8AC3E}">
        <p14:creationId xmlns:p14="http://schemas.microsoft.com/office/powerpoint/2010/main" val="2298999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lstStyle/>
          <a:p>
            <a:pPr marL="0" indent="0">
              <a:buNone/>
            </a:pPr>
            <a:r>
              <a:rPr lang="fr-CA" b="1" dirty="0"/>
              <a:t>Comptabilisation et évaluation : actifs du régime</a:t>
            </a:r>
          </a:p>
          <a:p>
            <a:r>
              <a:rPr lang="fr-CA" b="1" dirty="0"/>
              <a:t>Juste valeur des actifs du régime</a:t>
            </a:r>
          </a:p>
          <a:p>
            <a:pPr marL="0" indent="0">
              <a:buNone/>
            </a:pPr>
            <a:endParaRPr lang="fr-CA" dirty="0"/>
          </a:p>
          <a:p>
            <a:pPr marL="0" indent="0">
              <a:buNone/>
            </a:pPr>
            <a:r>
              <a:rPr lang="fr-CA" i="1" dirty="0"/>
              <a:t>Section définitions par 8</a:t>
            </a:r>
          </a:p>
          <a:p>
            <a:pPr marL="0" indent="0">
              <a:buNone/>
            </a:pPr>
            <a:r>
              <a:rPr lang="fr-CA" b="1" dirty="0"/>
              <a:t>Les </a:t>
            </a:r>
            <a:r>
              <a:rPr lang="fr-CA" b="1" i="1" dirty="0"/>
              <a:t>actifs du régime</a:t>
            </a:r>
            <a:r>
              <a:rPr lang="fr-CA" b="1" dirty="0"/>
              <a:t> comprennent :</a:t>
            </a:r>
          </a:p>
          <a:p>
            <a:pPr marL="0" indent="0">
              <a:buNone/>
            </a:pPr>
            <a:r>
              <a:rPr lang="fr-CA" b="1" dirty="0"/>
              <a:t>(a)     les actifs détenus par un fonds d'avantages à long terme ;</a:t>
            </a:r>
          </a:p>
          <a:p>
            <a:pPr marL="0" indent="0">
              <a:buNone/>
            </a:pPr>
            <a:r>
              <a:rPr lang="fr-CA" b="1" dirty="0"/>
              <a:t>(b)     les contrats d'assurance éligibles.</a:t>
            </a:r>
          </a:p>
          <a:p>
            <a:pPr marL="0" indent="0">
              <a:buNone/>
            </a:pPr>
            <a:r>
              <a:rPr lang="fr-CA" b="1" dirty="0"/>
              <a:t>	</a:t>
            </a:r>
            <a:r>
              <a:rPr lang="fr-CA" sz="2600" i="1" dirty="0"/>
              <a:t>pour payer les avantages d’un régime à prestations définies</a:t>
            </a:r>
            <a:endParaRPr lang="fr-CA" b="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37</a:t>
            </a:fld>
            <a:endParaRPr lang="fr-CA"/>
          </a:p>
        </p:txBody>
      </p:sp>
    </p:spTree>
    <p:extLst>
      <p:ext uri="{BB962C8B-B14F-4D97-AF65-F5344CB8AC3E}">
        <p14:creationId xmlns:p14="http://schemas.microsoft.com/office/powerpoint/2010/main" val="2101761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CA" b="1" dirty="0"/>
              <a:t>État de la situation financière</a:t>
            </a:r>
          </a:p>
          <a:p>
            <a:pPr marL="0" indent="0">
              <a:buNone/>
            </a:pPr>
            <a:r>
              <a:rPr lang="fr-CA" dirty="0"/>
              <a:t>63     L'entité doit comptabiliser dans l'état de la situation financière le passif (l'actif) net au titre des prestations définies.</a:t>
            </a:r>
          </a:p>
          <a:p>
            <a:pPr marL="0" indent="0">
              <a:buNone/>
            </a:pPr>
            <a:endParaRPr lang="fr-CA" i="1" dirty="0"/>
          </a:p>
          <a:p>
            <a:pPr marL="0" indent="0">
              <a:buNone/>
            </a:pPr>
            <a:endParaRPr lang="fr-CA" i="1" dirty="0"/>
          </a:p>
          <a:p>
            <a:pPr marL="0" indent="0">
              <a:buNone/>
            </a:pPr>
            <a:r>
              <a:rPr lang="fr-CA" i="1" dirty="0"/>
              <a:t>Section définitions par 8</a:t>
            </a:r>
          </a:p>
          <a:p>
            <a:pPr marL="0" indent="0">
              <a:buNone/>
            </a:pPr>
            <a:endParaRPr lang="fr-CA" b="1" dirty="0"/>
          </a:p>
          <a:p>
            <a:pPr marL="0" indent="0">
              <a:buNone/>
            </a:pPr>
            <a:r>
              <a:rPr lang="fr-CA" b="1" dirty="0"/>
              <a:t>Le </a:t>
            </a:r>
            <a:r>
              <a:rPr lang="fr-CA" b="1" i="1" dirty="0"/>
              <a:t>déficit ou l'excédent</a:t>
            </a:r>
            <a:r>
              <a:rPr lang="fr-CA" b="1" dirty="0"/>
              <a:t> est égal à la différence entre :</a:t>
            </a:r>
          </a:p>
          <a:p>
            <a:r>
              <a:rPr lang="fr-CA" b="1" dirty="0"/>
              <a:t>(a)     la valeur actualisée de l'obligation au titre des prestations définies ; et</a:t>
            </a:r>
          </a:p>
          <a:p>
            <a:r>
              <a:rPr lang="fr-CA" b="1" dirty="0"/>
              <a:t>(b)     la juste valeur des actifs du régime (s'il en existe).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38</a:t>
            </a:fld>
            <a:endParaRPr lang="fr-CA"/>
          </a:p>
        </p:txBody>
      </p:sp>
    </p:spTree>
    <p:extLst>
      <p:ext uri="{BB962C8B-B14F-4D97-AF65-F5344CB8AC3E}">
        <p14:creationId xmlns:p14="http://schemas.microsoft.com/office/powerpoint/2010/main" val="206761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a:bodyPr>
          <a:lstStyle/>
          <a:p>
            <a:pPr marL="0" indent="0">
              <a:buNone/>
            </a:pPr>
            <a:r>
              <a:rPr lang="fr-CA" b="1" dirty="0"/>
              <a:t>Présentation</a:t>
            </a:r>
          </a:p>
          <a:p>
            <a:pPr marL="0" indent="0">
              <a:buNone/>
            </a:pPr>
            <a:r>
              <a:rPr lang="fr-CA" b="1" dirty="0"/>
              <a:t>Compensation</a:t>
            </a:r>
          </a:p>
          <a:p>
            <a:pPr marL="0" indent="0">
              <a:buNone/>
            </a:pPr>
            <a:r>
              <a:rPr lang="fr-CA" sz="2400" dirty="0"/>
              <a:t>131     L'entité doit compenser un actif lié à un régime et un passif lié à un autre régime si, et seulement si :</a:t>
            </a:r>
          </a:p>
          <a:p>
            <a:pPr marL="0" indent="0">
              <a:buNone/>
            </a:pPr>
            <a:r>
              <a:rPr lang="fr-CA" sz="2400" dirty="0"/>
              <a:t>(a)     elle détient un droit juridiquement exécutoire d'utiliser l'excédent d'un régime pour régler les obligations d'un autre régime ; et</a:t>
            </a:r>
          </a:p>
          <a:p>
            <a:pPr marL="0" indent="0">
              <a:buNone/>
            </a:pPr>
            <a:r>
              <a:rPr lang="fr-CA" sz="2400" dirty="0"/>
              <a:t>(b)     elle a l'intention soit de régler les obligations sur une base nette, soit de réaliser l'excédent dégagé sur un régime et de régler simultanément son obligation au titre de l'autre régime.</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39</a:t>
            </a:fld>
            <a:endParaRPr lang="fr-CA"/>
          </a:p>
        </p:txBody>
      </p:sp>
    </p:spTree>
    <p:extLst>
      <p:ext uri="{BB962C8B-B14F-4D97-AF65-F5344CB8AC3E}">
        <p14:creationId xmlns:p14="http://schemas.microsoft.com/office/powerpoint/2010/main" val="2695516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Régimes à prestations définies</a:t>
            </a:r>
            <a:endParaRPr lang="fr-CA" dirty="0"/>
          </a:p>
        </p:txBody>
      </p:sp>
      <p:sp>
        <p:nvSpPr>
          <p:cNvPr id="3" name="Espace réservé du contenu 2"/>
          <p:cNvSpPr>
            <a:spLocks noGrp="1"/>
          </p:cNvSpPr>
          <p:nvPr>
            <p:ph idx="1"/>
          </p:nvPr>
        </p:nvSpPr>
        <p:spPr/>
        <p:txBody>
          <a:bodyPr>
            <a:normAutofit lnSpcReduction="10000"/>
          </a:bodyPr>
          <a:lstStyle/>
          <a:p>
            <a:pPr marL="0" indent="0">
              <a:buNone/>
            </a:pPr>
            <a:r>
              <a:rPr lang="fr-CA" b="1" dirty="0"/>
              <a:t>Informations à fournir</a:t>
            </a:r>
          </a:p>
          <a:p>
            <a:pPr marL="0" indent="0">
              <a:buNone/>
            </a:pPr>
            <a:r>
              <a:rPr lang="fr-CA" dirty="0"/>
              <a:t>135     L'entité doit fournir des informations :</a:t>
            </a:r>
          </a:p>
          <a:p>
            <a:pPr marL="0" indent="0">
              <a:buNone/>
            </a:pPr>
            <a:r>
              <a:rPr lang="fr-CA" dirty="0"/>
              <a:t>(a)     expliquant les caractéristiques de ses régimes à prestations définies (voir paragraphe 139) ;</a:t>
            </a:r>
          </a:p>
          <a:p>
            <a:pPr marL="0" indent="0">
              <a:buNone/>
            </a:pPr>
            <a:r>
              <a:rPr lang="fr-CA" dirty="0"/>
              <a:t>(b)     indiquant et expliquant les montants comptabilisés dans ses états financiers relativement à ses régimes à prestations définies (voir paragraphes 140 à 144) ;</a:t>
            </a:r>
          </a:p>
          <a:p>
            <a:pPr marL="0" indent="0">
              <a:buNone/>
            </a:pPr>
            <a:r>
              <a:rPr lang="fr-CA" dirty="0"/>
              <a:t>(c)     décrivant l'incidence potentielle de ses régimes à prestations définies sur le montant, l'échéancier et le degré d'incertitude de ses flux de trésorerie futurs (voir paragraphes 145 à 147).</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40</a:t>
            </a:fld>
            <a:endParaRPr lang="fr-CA"/>
          </a:p>
        </p:txBody>
      </p:sp>
    </p:spTree>
    <p:extLst>
      <p:ext uri="{BB962C8B-B14F-4D97-AF65-F5344CB8AC3E}">
        <p14:creationId xmlns:p14="http://schemas.microsoft.com/office/powerpoint/2010/main" val="1725144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97583"/>
          </a:xfrm>
        </p:spPr>
        <p:txBody>
          <a:bodyPr>
            <a:normAutofit fontScale="90000"/>
          </a:bodyPr>
          <a:lstStyle/>
          <a:p>
            <a:pPr algn="ctr"/>
            <a:r>
              <a:rPr lang="fr-CA" sz="3600" dirty="0"/>
              <a:t>Tableau p. 17.33 - MGBDL</a:t>
            </a:r>
            <a:endParaRPr lang="fr-CA" dirty="0"/>
          </a:p>
        </p:txBody>
      </p:sp>
      <p:graphicFrame>
        <p:nvGraphicFramePr>
          <p:cNvPr id="5" name="Espace réservé du contenu 4"/>
          <p:cNvGraphicFramePr>
            <a:graphicFrameLocks noGrp="1"/>
          </p:cNvGraphicFramePr>
          <p:nvPr>
            <p:ph idx="1"/>
          </p:nvPr>
        </p:nvGraphicFramePr>
        <p:xfrm>
          <a:off x="255816" y="666432"/>
          <a:ext cx="11680368" cy="5872480"/>
        </p:xfrm>
        <a:graphic>
          <a:graphicData uri="http://schemas.openxmlformats.org/drawingml/2006/table">
            <a:tbl>
              <a:tblPr firstRow="1" bandRow="1">
                <a:tableStyleId>{5C22544A-7EE6-4342-B048-85BDC9FD1C3A}</a:tableStyleId>
              </a:tblPr>
              <a:tblGrid>
                <a:gridCol w="2216625">
                  <a:extLst>
                    <a:ext uri="{9D8B030D-6E8A-4147-A177-3AD203B41FA5}">
                      <a16:colId xmlns:a16="http://schemas.microsoft.com/office/drawing/2014/main" val="20000"/>
                    </a:ext>
                  </a:extLst>
                </a:gridCol>
                <a:gridCol w="994657">
                  <a:extLst>
                    <a:ext uri="{9D8B030D-6E8A-4147-A177-3AD203B41FA5}">
                      <a16:colId xmlns:a16="http://schemas.microsoft.com/office/drawing/2014/main" val="20001"/>
                    </a:ext>
                  </a:extLst>
                </a:gridCol>
                <a:gridCol w="1168856">
                  <a:extLst>
                    <a:ext uri="{9D8B030D-6E8A-4147-A177-3AD203B41FA5}">
                      <a16:colId xmlns:a16="http://schemas.microsoft.com/office/drawing/2014/main" val="20002"/>
                    </a:ext>
                  </a:extLst>
                </a:gridCol>
                <a:gridCol w="1460046">
                  <a:extLst>
                    <a:ext uri="{9D8B030D-6E8A-4147-A177-3AD203B41FA5}">
                      <a16:colId xmlns:a16="http://schemas.microsoft.com/office/drawing/2014/main" val="20003"/>
                    </a:ext>
                  </a:extLst>
                </a:gridCol>
                <a:gridCol w="1460046">
                  <a:extLst>
                    <a:ext uri="{9D8B030D-6E8A-4147-A177-3AD203B41FA5}">
                      <a16:colId xmlns:a16="http://schemas.microsoft.com/office/drawing/2014/main" val="20004"/>
                    </a:ext>
                  </a:extLst>
                </a:gridCol>
                <a:gridCol w="1460046">
                  <a:extLst>
                    <a:ext uri="{9D8B030D-6E8A-4147-A177-3AD203B41FA5}">
                      <a16:colId xmlns:a16="http://schemas.microsoft.com/office/drawing/2014/main" val="20005"/>
                    </a:ext>
                  </a:extLst>
                </a:gridCol>
                <a:gridCol w="1460046">
                  <a:extLst>
                    <a:ext uri="{9D8B030D-6E8A-4147-A177-3AD203B41FA5}">
                      <a16:colId xmlns:a16="http://schemas.microsoft.com/office/drawing/2014/main" val="20006"/>
                    </a:ext>
                  </a:extLst>
                </a:gridCol>
                <a:gridCol w="1460046">
                  <a:extLst>
                    <a:ext uri="{9D8B030D-6E8A-4147-A177-3AD203B41FA5}">
                      <a16:colId xmlns:a16="http://schemas.microsoft.com/office/drawing/2014/main" val="20007"/>
                    </a:ext>
                  </a:extLst>
                </a:gridCol>
              </a:tblGrid>
              <a:tr h="185420">
                <a:tc>
                  <a:txBody>
                    <a:bodyPr/>
                    <a:lstStyle/>
                    <a:p>
                      <a:endParaRPr lang="fr-CA" dirty="0"/>
                    </a:p>
                  </a:txBody>
                  <a:tcPr/>
                </a:tc>
                <a:tc gridSpan="5">
                  <a:txBody>
                    <a:bodyPr/>
                    <a:lstStyle/>
                    <a:p>
                      <a:pPr algn="ctr"/>
                      <a:r>
                        <a:rPr lang="fr-CA" dirty="0"/>
                        <a:t>Montants à comptabiliser dans les états financiers</a:t>
                      </a:r>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dirty="0"/>
                    </a:p>
                  </a:txBody>
                  <a:tcPr/>
                </a:tc>
                <a:tc gridSpan="2">
                  <a:txBody>
                    <a:bodyPr/>
                    <a:lstStyle/>
                    <a:p>
                      <a:pPr algn="ctr"/>
                      <a:r>
                        <a:rPr lang="fr-CA" dirty="0"/>
                        <a:t>Informations en</a:t>
                      </a:r>
                      <a:r>
                        <a:rPr lang="fr-CA" baseline="0" dirty="0"/>
                        <a:t> notes</a:t>
                      </a:r>
                      <a:endParaRPr lang="fr-CA" dirty="0"/>
                    </a:p>
                  </a:txBody>
                  <a:tcPr/>
                </a:tc>
                <a:tc hMerge="1">
                  <a:txBody>
                    <a:bodyPr/>
                    <a:lstStyle/>
                    <a:p>
                      <a:endParaRPr lang="fr-CA" dirty="0"/>
                    </a:p>
                  </a:txBody>
                  <a:tcPr/>
                </a:tc>
                <a:extLst>
                  <a:ext uri="{0D108BD9-81ED-4DB2-BD59-A6C34878D82A}">
                    <a16:rowId xmlns:a16="http://schemas.microsoft.com/office/drawing/2014/main" val="10000"/>
                  </a:ext>
                </a:extLst>
              </a:tr>
              <a:tr h="185420">
                <a:tc>
                  <a:txBody>
                    <a:bodyPr/>
                    <a:lstStyle/>
                    <a:p>
                      <a:endParaRPr lang="fr-CA" dirty="0"/>
                    </a:p>
                  </a:txBody>
                  <a:tcPr/>
                </a:tc>
                <a:tc>
                  <a:txBody>
                    <a:bodyPr/>
                    <a:lstStyle/>
                    <a:p>
                      <a:r>
                        <a:rPr lang="fr-CA" b="1" dirty="0"/>
                        <a:t>Résultat net</a:t>
                      </a:r>
                    </a:p>
                  </a:txBody>
                  <a:tcPr/>
                </a:tc>
                <a:tc>
                  <a:txBody>
                    <a:bodyPr/>
                    <a:lstStyle/>
                    <a:p>
                      <a:r>
                        <a:rPr lang="fr-CA" b="1" dirty="0"/>
                        <a:t>Encaisse</a:t>
                      </a:r>
                    </a:p>
                  </a:txBody>
                  <a:tcPr/>
                </a:tc>
                <a:tc>
                  <a:txBody>
                    <a:bodyPr/>
                    <a:lstStyle/>
                    <a:p>
                      <a:r>
                        <a:rPr lang="fr-CA" b="1" dirty="0"/>
                        <a:t>AERG</a:t>
                      </a:r>
                    </a:p>
                  </a:txBody>
                  <a:tcPr/>
                </a:tc>
                <a:tc>
                  <a:txBody>
                    <a:bodyPr/>
                    <a:lstStyle/>
                    <a:p>
                      <a:r>
                        <a:rPr lang="fr-CA" b="1" dirty="0"/>
                        <a:t>DAS à payer</a:t>
                      </a:r>
                    </a:p>
                  </a:txBody>
                  <a:tcPr/>
                </a:tc>
                <a:tc>
                  <a:txBody>
                    <a:bodyPr/>
                    <a:lstStyle/>
                    <a:p>
                      <a:r>
                        <a:rPr lang="fr-CA" b="1" dirty="0"/>
                        <a:t>Passif au titre des prestations définies</a:t>
                      </a:r>
                    </a:p>
                  </a:txBody>
                  <a:tcPr/>
                </a:tc>
                <a:tc>
                  <a:txBody>
                    <a:bodyPr/>
                    <a:lstStyle/>
                    <a:p>
                      <a:r>
                        <a:rPr lang="fr-CA" b="1" dirty="0"/>
                        <a:t>Obligation au</a:t>
                      </a:r>
                      <a:r>
                        <a:rPr lang="fr-CA" b="1" baseline="0" dirty="0"/>
                        <a:t> titre des prestations définies</a:t>
                      </a:r>
                      <a:endParaRPr lang="fr-CA" b="1" dirty="0"/>
                    </a:p>
                  </a:txBody>
                  <a:tcPr/>
                </a:tc>
                <a:tc>
                  <a:txBody>
                    <a:bodyPr/>
                    <a:lstStyle/>
                    <a:p>
                      <a:r>
                        <a:rPr lang="fr-CA" b="1" dirty="0"/>
                        <a:t>Actifs du régime</a:t>
                      </a:r>
                    </a:p>
                  </a:txBody>
                  <a:tcPr/>
                </a:tc>
                <a:extLst>
                  <a:ext uri="{0D108BD9-81ED-4DB2-BD59-A6C34878D82A}">
                    <a16:rowId xmlns:a16="http://schemas.microsoft.com/office/drawing/2014/main" val="10001"/>
                  </a:ext>
                </a:extLst>
              </a:tr>
              <a:tr h="370840">
                <a:tc>
                  <a:txBody>
                    <a:bodyPr/>
                    <a:lstStyle/>
                    <a:p>
                      <a:r>
                        <a:rPr lang="fr-CA" b="1" dirty="0"/>
                        <a:t>Coûts des services rendus dans l’exercice (moins portion</a:t>
                      </a:r>
                      <a:r>
                        <a:rPr lang="fr-CA" b="1" baseline="0" dirty="0"/>
                        <a:t> payée par employés)</a:t>
                      </a:r>
                      <a:endParaRPr lang="fr-CA" b="1" dirty="0"/>
                    </a:p>
                  </a:txBody>
                  <a:tcPr/>
                </a:tc>
                <a:tc>
                  <a:txBody>
                    <a:bodyPr/>
                    <a:lstStyle/>
                    <a:p>
                      <a:r>
                        <a:rPr lang="fr-CA" dirty="0"/>
                        <a:t>charge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r>
                        <a:rPr lang="fr-CA" dirty="0"/>
                        <a:t>augmente</a:t>
                      </a:r>
                    </a:p>
                  </a:txBody>
                  <a:tcPr/>
                </a:tc>
                <a:tc>
                  <a:txBody>
                    <a:bodyPr/>
                    <a:lstStyle/>
                    <a:p>
                      <a:r>
                        <a:rPr lang="fr-CA" dirty="0"/>
                        <a:t>augmente</a:t>
                      </a:r>
                    </a:p>
                  </a:txBody>
                  <a:tcPr/>
                </a:tc>
                <a:tc>
                  <a:txBody>
                    <a:bodyPr/>
                    <a:lstStyle/>
                    <a:p>
                      <a:endParaRPr lang="fr-CA"/>
                    </a:p>
                  </a:txBody>
                  <a:tcPr/>
                </a:tc>
                <a:extLst>
                  <a:ext uri="{0D108BD9-81ED-4DB2-BD59-A6C34878D82A}">
                    <a16:rowId xmlns:a16="http://schemas.microsoft.com/office/drawing/2014/main" val="10002"/>
                  </a:ext>
                </a:extLst>
              </a:tr>
              <a:tr h="370840">
                <a:tc>
                  <a:txBody>
                    <a:bodyPr/>
                    <a:lstStyle/>
                    <a:p>
                      <a:r>
                        <a:rPr lang="fr-CA" b="1" dirty="0"/>
                        <a:t>Coût services</a:t>
                      </a:r>
                      <a:r>
                        <a:rPr lang="fr-CA" b="1" baseline="0" dirty="0"/>
                        <a:t> passés</a:t>
                      </a:r>
                      <a:endParaRPr lang="fr-CA" b="1" dirty="0"/>
                    </a:p>
                  </a:txBody>
                  <a:tcPr/>
                </a:tc>
                <a:tc>
                  <a:txBody>
                    <a:bodyPr/>
                    <a:lstStyle/>
                    <a:p>
                      <a:r>
                        <a:rPr lang="fr-CA" dirty="0"/>
                        <a:t>charge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r>
                        <a:rPr lang="fr-CA" dirty="0"/>
                        <a:t>augmente</a:t>
                      </a:r>
                    </a:p>
                  </a:txBody>
                  <a:tcPr/>
                </a:tc>
                <a:tc>
                  <a:txBody>
                    <a:bodyPr/>
                    <a:lstStyle/>
                    <a:p>
                      <a:r>
                        <a:rPr lang="fr-CA" dirty="0"/>
                        <a:t>augmente</a:t>
                      </a:r>
                    </a:p>
                  </a:txBody>
                  <a:tcPr/>
                </a:tc>
                <a:tc>
                  <a:txBody>
                    <a:bodyPr/>
                    <a:lstStyle/>
                    <a:p>
                      <a:endParaRPr lang="fr-CA"/>
                    </a:p>
                  </a:txBody>
                  <a:tcPr/>
                </a:tc>
                <a:extLst>
                  <a:ext uri="{0D108BD9-81ED-4DB2-BD59-A6C34878D82A}">
                    <a16:rowId xmlns:a16="http://schemas.microsoft.com/office/drawing/2014/main" val="10003"/>
                  </a:ext>
                </a:extLst>
              </a:tr>
              <a:tr h="370840">
                <a:tc>
                  <a:txBody>
                    <a:bodyPr/>
                    <a:lstStyle/>
                    <a:p>
                      <a:r>
                        <a:rPr lang="fr-CA" b="1" dirty="0"/>
                        <a:t>Coût financier</a:t>
                      </a:r>
                    </a:p>
                  </a:txBody>
                  <a:tcPr/>
                </a:tc>
                <a:tc>
                  <a:txBody>
                    <a:bodyPr/>
                    <a:lstStyle/>
                    <a:p>
                      <a:r>
                        <a:rPr lang="fr-CA" dirty="0"/>
                        <a:t>charge</a:t>
                      </a:r>
                    </a:p>
                  </a:txBody>
                  <a:tcPr/>
                </a:tc>
                <a:tc>
                  <a:txBody>
                    <a:bodyPr/>
                    <a:lstStyle/>
                    <a:p>
                      <a:endParaRPr lang="fr-CA"/>
                    </a:p>
                  </a:txBody>
                  <a:tcPr/>
                </a:tc>
                <a:tc>
                  <a:txBody>
                    <a:bodyPr/>
                    <a:lstStyle/>
                    <a:p>
                      <a:endParaRPr lang="fr-CA" dirty="0"/>
                    </a:p>
                  </a:txBody>
                  <a:tcPr/>
                </a:tc>
                <a:tc>
                  <a:txBody>
                    <a:bodyPr/>
                    <a:lstStyle/>
                    <a:p>
                      <a:endParaRPr lang="fr-CA"/>
                    </a:p>
                  </a:txBody>
                  <a:tcPr/>
                </a:tc>
                <a:tc>
                  <a:txBody>
                    <a:bodyPr/>
                    <a:lstStyle/>
                    <a:p>
                      <a:r>
                        <a:rPr lang="fr-CA" dirty="0"/>
                        <a:t>augmente</a:t>
                      </a:r>
                    </a:p>
                  </a:txBody>
                  <a:tcPr/>
                </a:tc>
                <a:tc>
                  <a:txBody>
                    <a:bodyPr/>
                    <a:lstStyle/>
                    <a:p>
                      <a:r>
                        <a:rPr lang="fr-CA" dirty="0"/>
                        <a:t>augmente</a:t>
                      </a:r>
                    </a:p>
                  </a:txBody>
                  <a:tcPr/>
                </a:tc>
                <a:tc>
                  <a:txBody>
                    <a:bodyPr/>
                    <a:lstStyle/>
                    <a:p>
                      <a:endParaRPr lang="fr-CA"/>
                    </a:p>
                  </a:txBody>
                  <a:tcPr/>
                </a:tc>
                <a:extLst>
                  <a:ext uri="{0D108BD9-81ED-4DB2-BD59-A6C34878D82A}">
                    <a16:rowId xmlns:a16="http://schemas.microsoft.com/office/drawing/2014/main" val="10004"/>
                  </a:ext>
                </a:extLst>
              </a:tr>
              <a:tr h="370840">
                <a:tc>
                  <a:txBody>
                    <a:bodyPr/>
                    <a:lstStyle/>
                    <a:p>
                      <a:r>
                        <a:rPr lang="fr-CA" b="1" dirty="0"/>
                        <a:t>Produit d’intérêt généré par les actifs</a:t>
                      </a:r>
                    </a:p>
                  </a:txBody>
                  <a:tcPr/>
                </a:tc>
                <a:tc>
                  <a:txBody>
                    <a:bodyPr/>
                    <a:lstStyle/>
                    <a:p>
                      <a:r>
                        <a:rPr lang="fr-CA" dirty="0"/>
                        <a:t>diminue charge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r>
                        <a:rPr lang="fr-CA" dirty="0"/>
                        <a:t>diminue</a:t>
                      </a:r>
                    </a:p>
                  </a:txBody>
                  <a:tcPr/>
                </a:tc>
                <a:tc>
                  <a:txBody>
                    <a:bodyPr/>
                    <a:lstStyle/>
                    <a:p>
                      <a:endParaRPr lang="fr-CA"/>
                    </a:p>
                  </a:txBody>
                  <a:tcPr/>
                </a:tc>
                <a:tc>
                  <a:txBody>
                    <a:bodyPr/>
                    <a:lstStyle/>
                    <a:p>
                      <a:r>
                        <a:rPr lang="fr-CA" dirty="0"/>
                        <a:t>augmente</a:t>
                      </a:r>
                    </a:p>
                  </a:txBody>
                  <a:tcPr/>
                </a:tc>
                <a:extLst>
                  <a:ext uri="{0D108BD9-81ED-4DB2-BD59-A6C34878D82A}">
                    <a16:rowId xmlns:a16="http://schemas.microsoft.com/office/drawing/2014/main" val="10005"/>
                  </a:ext>
                </a:extLst>
              </a:tr>
              <a:tr h="370840">
                <a:tc>
                  <a:txBody>
                    <a:bodyPr/>
                    <a:lstStyle/>
                    <a:p>
                      <a:r>
                        <a:rPr lang="fr-CA" b="1" dirty="0"/>
                        <a:t>Écart rendement</a:t>
                      </a:r>
                    </a:p>
                  </a:txBody>
                  <a:tcPr/>
                </a:tc>
                <a:tc>
                  <a:txBody>
                    <a:bodyPr/>
                    <a:lstStyle/>
                    <a:p>
                      <a:endParaRPr lang="fr-CA"/>
                    </a:p>
                  </a:txBody>
                  <a:tcPr/>
                </a:tc>
                <a:tc>
                  <a:txBody>
                    <a:bodyPr/>
                    <a:lstStyle/>
                    <a:p>
                      <a:endParaRPr lang="fr-CA"/>
                    </a:p>
                  </a:txBody>
                  <a:tcPr/>
                </a:tc>
                <a:tc>
                  <a:txBody>
                    <a:bodyPr/>
                    <a:lstStyle/>
                    <a:p>
                      <a:r>
                        <a:rPr lang="fr-CA" dirty="0"/>
                        <a:t>écart</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r>
                        <a:rPr lang="fr-CA" dirty="0"/>
                        <a:t>écart</a:t>
                      </a:r>
                    </a:p>
                  </a:txBody>
                  <a:tcPr/>
                </a:tc>
                <a:extLst>
                  <a:ext uri="{0D108BD9-81ED-4DB2-BD59-A6C34878D82A}">
                    <a16:rowId xmlns:a16="http://schemas.microsoft.com/office/drawing/2014/main" val="10006"/>
                  </a:ext>
                </a:extLst>
              </a:tr>
              <a:tr h="370840">
                <a:tc>
                  <a:txBody>
                    <a:bodyPr/>
                    <a:lstStyle/>
                    <a:p>
                      <a:r>
                        <a:rPr lang="fr-CA" b="1" dirty="0"/>
                        <a:t>Écart</a:t>
                      </a:r>
                      <a:r>
                        <a:rPr lang="fr-CA" b="1" baseline="0" dirty="0"/>
                        <a:t>s actuariels</a:t>
                      </a:r>
                      <a:endParaRPr lang="fr-CA" b="1" dirty="0"/>
                    </a:p>
                  </a:txBody>
                  <a:tcPr/>
                </a:tc>
                <a:tc>
                  <a:txBody>
                    <a:bodyPr/>
                    <a:lstStyle/>
                    <a:p>
                      <a:endParaRPr lang="fr-CA"/>
                    </a:p>
                  </a:txBody>
                  <a:tcPr/>
                </a:tc>
                <a:tc>
                  <a:txBody>
                    <a:bodyPr/>
                    <a:lstStyle/>
                    <a:p>
                      <a:endParaRPr lang="fr-CA"/>
                    </a:p>
                  </a:txBody>
                  <a:tcPr/>
                </a:tc>
                <a:tc>
                  <a:txBody>
                    <a:bodyPr/>
                    <a:lstStyle/>
                    <a:p>
                      <a:r>
                        <a:rPr lang="fr-CA" dirty="0"/>
                        <a:t>écart</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dirty="0"/>
                    </a:p>
                  </a:txBody>
                  <a:tcPr/>
                </a:tc>
                <a:extLst>
                  <a:ext uri="{0D108BD9-81ED-4DB2-BD59-A6C34878D82A}">
                    <a16:rowId xmlns:a16="http://schemas.microsoft.com/office/drawing/2014/main" val="10007"/>
                  </a:ext>
                </a:extLst>
              </a:tr>
              <a:tr h="185420">
                <a:tc>
                  <a:txBody>
                    <a:bodyPr/>
                    <a:lstStyle/>
                    <a:p>
                      <a:r>
                        <a:rPr lang="fr-CA" b="1" dirty="0"/>
                        <a:t>Cotisations versées</a:t>
                      </a:r>
                    </a:p>
                  </a:txBody>
                  <a:tcPr/>
                </a:tc>
                <a:tc>
                  <a:txBody>
                    <a:bodyPr/>
                    <a:lstStyle/>
                    <a:p>
                      <a:endParaRPr lang="fr-CA"/>
                    </a:p>
                  </a:txBody>
                  <a:tcPr/>
                </a:tc>
                <a:tc>
                  <a:txBody>
                    <a:bodyPr/>
                    <a:lstStyle/>
                    <a:p>
                      <a:r>
                        <a:rPr lang="fr-CA" dirty="0"/>
                        <a:t>diminue</a:t>
                      </a:r>
                    </a:p>
                  </a:txBody>
                  <a:tcPr/>
                </a:tc>
                <a:tc>
                  <a:txBody>
                    <a:bodyPr/>
                    <a:lstStyle/>
                    <a:p>
                      <a:endParaRPr lang="fr-CA"/>
                    </a:p>
                  </a:txBody>
                  <a:tcPr/>
                </a:tc>
                <a:tc>
                  <a:txBody>
                    <a:bodyPr/>
                    <a:lstStyle/>
                    <a:p>
                      <a:endParaRPr lang="fr-CA"/>
                    </a:p>
                  </a:txBody>
                  <a:tcPr/>
                </a:tc>
                <a:tc>
                  <a:txBody>
                    <a:bodyPr/>
                    <a:lstStyle/>
                    <a:p>
                      <a:r>
                        <a:rPr lang="fr-CA" dirty="0"/>
                        <a:t>diminue</a:t>
                      </a:r>
                    </a:p>
                  </a:txBody>
                  <a:tcPr/>
                </a:tc>
                <a:tc>
                  <a:txBody>
                    <a:bodyPr/>
                    <a:lstStyle/>
                    <a:p>
                      <a:endParaRPr lang="fr-CA" dirty="0"/>
                    </a:p>
                  </a:txBody>
                  <a:tcPr/>
                </a:tc>
                <a:tc>
                  <a:txBody>
                    <a:bodyPr/>
                    <a:lstStyle/>
                    <a:p>
                      <a:r>
                        <a:rPr lang="fr-CA" dirty="0"/>
                        <a:t>augmente</a:t>
                      </a:r>
                    </a:p>
                  </a:txBody>
                  <a:tcPr/>
                </a:tc>
                <a:extLst>
                  <a:ext uri="{0D108BD9-81ED-4DB2-BD59-A6C34878D82A}">
                    <a16:rowId xmlns:a16="http://schemas.microsoft.com/office/drawing/2014/main" val="10008"/>
                  </a:ext>
                </a:extLst>
              </a:tr>
              <a:tr h="185420">
                <a:tc>
                  <a:txBody>
                    <a:bodyPr/>
                    <a:lstStyle/>
                    <a:p>
                      <a:r>
                        <a:rPr lang="fr-CA" b="1" dirty="0"/>
                        <a:t>Prestations versées</a:t>
                      </a:r>
                    </a:p>
                  </a:txBody>
                  <a:tcPr/>
                </a:tc>
                <a:tc>
                  <a:txBody>
                    <a:bodyPr/>
                    <a:lstStyle/>
                    <a:p>
                      <a:endParaRPr lang="fr-CA"/>
                    </a:p>
                  </a:txBody>
                  <a:tcPr/>
                </a:tc>
                <a:tc>
                  <a:txBody>
                    <a:bodyPr/>
                    <a:lstStyle/>
                    <a:p>
                      <a:endParaRPr lang="fr-CA" dirty="0"/>
                    </a:p>
                  </a:txBody>
                  <a:tcPr/>
                </a:tc>
                <a:tc>
                  <a:txBody>
                    <a:bodyPr/>
                    <a:lstStyle/>
                    <a:p>
                      <a:endParaRPr lang="fr-CA"/>
                    </a:p>
                  </a:txBody>
                  <a:tcPr/>
                </a:tc>
                <a:tc>
                  <a:txBody>
                    <a:bodyPr/>
                    <a:lstStyle/>
                    <a:p>
                      <a:endParaRPr lang="fr-CA"/>
                    </a:p>
                  </a:txBody>
                  <a:tcPr/>
                </a:tc>
                <a:tc>
                  <a:txBody>
                    <a:bodyPr/>
                    <a:lstStyle/>
                    <a:p>
                      <a:endParaRPr lang="fr-CA" dirty="0"/>
                    </a:p>
                  </a:txBody>
                  <a:tcPr/>
                </a:tc>
                <a:tc>
                  <a:txBody>
                    <a:bodyPr/>
                    <a:lstStyle/>
                    <a:p>
                      <a:r>
                        <a:rPr lang="fr-CA" dirty="0"/>
                        <a:t>diminue</a:t>
                      </a:r>
                    </a:p>
                  </a:txBody>
                  <a:tcPr/>
                </a:tc>
                <a:tc>
                  <a:txBody>
                    <a:bodyPr/>
                    <a:lstStyle/>
                    <a:p>
                      <a:r>
                        <a:rPr lang="fr-CA" dirty="0"/>
                        <a:t>diminue</a:t>
                      </a:r>
                    </a:p>
                  </a:txBody>
                  <a:tcPr/>
                </a:tc>
                <a:extLst>
                  <a:ext uri="{0D108BD9-81ED-4DB2-BD59-A6C34878D82A}">
                    <a16:rowId xmlns:a16="http://schemas.microsoft.com/office/drawing/2014/main" val="10009"/>
                  </a:ext>
                </a:extLst>
              </a:tr>
            </a:tbl>
          </a:graphicData>
        </a:graphic>
      </p:graphicFrame>
      <p:sp>
        <p:nvSpPr>
          <p:cNvPr id="4" name="Espace réservé du numéro de diapositive 3"/>
          <p:cNvSpPr>
            <a:spLocks noGrp="1"/>
          </p:cNvSpPr>
          <p:nvPr>
            <p:ph type="sldNum" sz="quarter" idx="12"/>
          </p:nvPr>
        </p:nvSpPr>
        <p:spPr/>
        <p:txBody>
          <a:bodyPr/>
          <a:lstStyle/>
          <a:p>
            <a:fld id="{992B40CC-DFA5-47EF-8974-C897708E5DF2}" type="slidenum">
              <a:rPr lang="fr-CA" smtClean="0"/>
              <a:t>41</a:t>
            </a:fld>
            <a:endParaRPr lang="fr-CA" dirty="0"/>
          </a:p>
        </p:txBody>
      </p:sp>
    </p:spTree>
    <p:extLst>
      <p:ext uri="{BB962C8B-B14F-4D97-AF65-F5344CB8AC3E}">
        <p14:creationId xmlns:p14="http://schemas.microsoft.com/office/powerpoint/2010/main" val="2249286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Autres avantages postérieurs à l’emploi</a:t>
            </a:r>
            <a:endParaRPr lang="fr-CA" dirty="0"/>
          </a:p>
        </p:txBody>
      </p:sp>
      <p:sp>
        <p:nvSpPr>
          <p:cNvPr id="3" name="Espace réservé du contenu 2"/>
          <p:cNvSpPr>
            <a:spLocks noGrp="1"/>
          </p:cNvSpPr>
          <p:nvPr>
            <p:ph idx="1"/>
          </p:nvPr>
        </p:nvSpPr>
        <p:spPr/>
        <p:txBody>
          <a:bodyPr/>
          <a:lstStyle/>
          <a:p>
            <a:r>
              <a:rPr lang="fr-CA" dirty="0"/>
              <a:t>Régimes d’assurance-vie et d’assistance médicale</a:t>
            </a:r>
          </a:p>
          <a:p>
            <a:pPr lvl="1"/>
            <a:r>
              <a:rPr lang="fr-CA" dirty="0"/>
              <a:t>Utiliser approche régime à prestation définies</a:t>
            </a:r>
          </a:p>
          <a:p>
            <a:endParaRPr lang="fr-CA" dirty="0"/>
          </a:p>
          <a:p>
            <a:r>
              <a:rPr lang="fr-CA" dirty="0"/>
              <a:t>Habituellement régime non capitalisé</a:t>
            </a:r>
          </a:p>
          <a:p>
            <a:endParaRPr lang="fr-CA" dirty="0"/>
          </a:p>
          <a:p>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42</a:t>
            </a:fld>
            <a:endParaRPr lang="fr-CA"/>
          </a:p>
        </p:txBody>
      </p:sp>
    </p:spTree>
    <p:extLst>
      <p:ext uri="{BB962C8B-B14F-4D97-AF65-F5344CB8AC3E}">
        <p14:creationId xmlns:p14="http://schemas.microsoft.com/office/powerpoint/2010/main" val="4110932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t>Autres avantages à long terme</a:t>
            </a:r>
            <a:endParaRPr lang="fr-CA" b="1" dirty="0"/>
          </a:p>
        </p:txBody>
      </p:sp>
      <p:sp>
        <p:nvSpPr>
          <p:cNvPr id="3" name="Espace réservé du contenu 2"/>
          <p:cNvSpPr>
            <a:spLocks noGrp="1"/>
          </p:cNvSpPr>
          <p:nvPr>
            <p:ph idx="1"/>
          </p:nvPr>
        </p:nvSpPr>
        <p:spPr/>
        <p:txBody>
          <a:bodyPr>
            <a:normAutofit lnSpcReduction="10000"/>
          </a:bodyPr>
          <a:lstStyle/>
          <a:p>
            <a:pPr marL="0" indent="0">
              <a:buNone/>
            </a:pPr>
            <a:r>
              <a:rPr lang="fr-CA" dirty="0"/>
              <a:t>153     Les autres avantages à long terme comprennent des avantages tels que les suivants, à condition que leur règlement intégral ne soit pas attendu dans les douze mois qui suivent la clôture de l'exercice où les membres du personnel ont rendu les services correspondants :</a:t>
            </a:r>
          </a:p>
          <a:p>
            <a:pPr marL="0" indent="0">
              <a:buNone/>
            </a:pPr>
            <a:r>
              <a:rPr lang="fr-CA" dirty="0"/>
              <a:t>(a)     les absences de longue durée rémunérées, comme les congés liés à l'ancienneté ou les congés sabbatiques ;</a:t>
            </a:r>
          </a:p>
          <a:p>
            <a:pPr marL="0" indent="0">
              <a:buNone/>
            </a:pPr>
            <a:r>
              <a:rPr lang="fr-CA" dirty="0"/>
              <a:t>(b)     les primes d'ancienneté et autres avantages liés à l'ancienneté ;</a:t>
            </a:r>
          </a:p>
          <a:p>
            <a:pPr marL="0" indent="0">
              <a:buNone/>
            </a:pPr>
            <a:r>
              <a:rPr lang="fr-CA" dirty="0"/>
              <a:t>(c)     les prestations pour invalidité de longue durée ;</a:t>
            </a:r>
          </a:p>
          <a:p>
            <a:pPr marL="0" indent="0">
              <a:buNone/>
            </a:pPr>
            <a:r>
              <a:rPr lang="fr-CA" dirty="0"/>
              <a:t>(d)     l'intéressement et les primes ;</a:t>
            </a:r>
          </a:p>
          <a:p>
            <a:pPr marL="0" indent="0">
              <a:buNone/>
            </a:pPr>
            <a:r>
              <a:rPr lang="fr-CA" dirty="0"/>
              <a:t>(e)     la rémunération différée.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43</a:t>
            </a:fld>
            <a:endParaRPr lang="fr-CA"/>
          </a:p>
        </p:txBody>
      </p:sp>
    </p:spTree>
    <p:extLst>
      <p:ext uri="{BB962C8B-B14F-4D97-AF65-F5344CB8AC3E}">
        <p14:creationId xmlns:p14="http://schemas.microsoft.com/office/powerpoint/2010/main" val="3422656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Comptabilisation et évaluation</a:t>
            </a:r>
          </a:p>
          <a:p>
            <a:pPr marL="0" indent="0">
              <a:buNone/>
            </a:pPr>
            <a:endParaRPr lang="fr-CA" b="1" dirty="0"/>
          </a:p>
          <a:p>
            <a:pPr marL="0" indent="0">
              <a:buNone/>
            </a:pPr>
            <a:r>
              <a:rPr lang="fr-CA" b="1" dirty="0"/>
              <a:t>156     Sauf si une autre IFRS impose ou autorise leur incorporation dans le coût d'un actif, l'entité doit, pour les autres avantages à long terme, comptabiliser le total net des montants suivants en résultat net :</a:t>
            </a:r>
          </a:p>
          <a:p>
            <a:pPr marL="0" indent="0">
              <a:buNone/>
            </a:pPr>
            <a:r>
              <a:rPr lang="fr-CA" b="1" dirty="0"/>
              <a:t>(a)     le coût des services (voir paragraphes 66 à 112 et paragraphe 122A) ;</a:t>
            </a:r>
          </a:p>
          <a:p>
            <a:pPr marL="0" indent="0">
              <a:buNone/>
            </a:pPr>
            <a:r>
              <a:rPr lang="fr-CA" b="1" dirty="0"/>
              <a:t>(b)     les intérêts nets sur le passif (l'actif) net au titre des prestations définies (voir paragraphes 123 à 126) ;</a:t>
            </a:r>
          </a:p>
          <a:p>
            <a:pPr marL="0" indent="0">
              <a:buNone/>
            </a:pPr>
            <a:r>
              <a:rPr lang="fr-CA" b="1" dirty="0"/>
              <a:t>(c)     les réévaluations du passif (de l'actif) net au titre des prestations définies (voir paragraphes 127 à 130).</a:t>
            </a:r>
          </a:p>
          <a:p>
            <a:pPr marL="0" indent="0">
              <a:buNone/>
            </a:pPr>
            <a:endParaRPr lang="fr-CA" b="1" dirty="0"/>
          </a:p>
          <a:p>
            <a:pPr marL="0" indent="0">
              <a:buNone/>
            </a:pPr>
            <a:r>
              <a:rPr lang="fr-CA" dirty="0"/>
              <a:t>157     Les prestations pour invalidité de longue durée sont une forme particulière d'autres avantages à long terme.</a:t>
            </a:r>
            <a:endParaRPr lang="fr-CA" b="1"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44</a:t>
            </a:fld>
            <a:endParaRPr lang="fr-CA"/>
          </a:p>
        </p:txBody>
      </p:sp>
    </p:spTree>
    <p:extLst>
      <p:ext uri="{BB962C8B-B14F-4D97-AF65-F5344CB8AC3E}">
        <p14:creationId xmlns:p14="http://schemas.microsoft.com/office/powerpoint/2010/main" val="3454994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Autres avantages à long terme</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Exemple : congé sabbatique rémunéré 95 % du salaire, autorisé à tous les 7 ans</a:t>
            </a:r>
          </a:p>
          <a:p>
            <a:r>
              <a:rPr lang="fr-CA" dirty="0"/>
              <a:t>Il faut estimer le montant : probabilité employé sera encore à l’emploi dans 7 ans, sa rémunération, qu’il prendra effectivement un congé sabbatique, et si effectivement dans 7 ans (ou dans 8, 9…)</a:t>
            </a:r>
          </a:p>
          <a:p>
            <a:r>
              <a:rPr lang="fr-CA" dirty="0"/>
              <a:t>Comptabiliser charge et actif sur la période où gagne cet avantage</a:t>
            </a:r>
          </a:p>
          <a:p>
            <a:pPr lvl="1"/>
            <a:r>
              <a:rPr lang="fr-CA" dirty="0"/>
              <a:t>Estimation!!!</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45</a:t>
            </a:fld>
            <a:endParaRPr lang="fr-CA"/>
          </a:p>
        </p:txBody>
      </p:sp>
    </p:spTree>
    <p:extLst>
      <p:ext uri="{BB962C8B-B14F-4D97-AF65-F5344CB8AC3E}">
        <p14:creationId xmlns:p14="http://schemas.microsoft.com/office/powerpoint/2010/main" val="2999314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Autres avantages à long terme</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Exemple : prestation d’invalidité</a:t>
            </a:r>
          </a:p>
          <a:p>
            <a:r>
              <a:rPr lang="fr-CA" dirty="0"/>
              <a:t>Il ne s’agit pas d’un avantage « qui se gagne », l’employé n’y aura pas nécessairement droit</a:t>
            </a:r>
          </a:p>
          <a:p>
            <a:r>
              <a:rPr lang="fr-CA" dirty="0"/>
              <a:t>Élément déclencheur : l’incident</a:t>
            </a:r>
          </a:p>
          <a:p>
            <a:pPr lvl="1"/>
            <a:r>
              <a:rPr lang="fr-CA" dirty="0"/>
              <a:t>C’est à ce moment que le passif est comptabilisé  </a:t>
            </a:r>
            <a:r>
              <a:rPr lang="fr-CA" i="1" dirty="0"/>
              <a:t>(revoir critères comptabilisation d’un passif)</a:t>
            </a:r>
            <a:endParaRPr lang="fr-CA" dirty="0"/>
          </a:p>
          <a:p>
            <a:pPr lvl="1"/>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46</a:t>
            </a:fld>
            <a:endParaRPr lang="fr-CA"/>
          </a:p>
        </p:txBody>
      </p:sp>
    </p:spTree>
    <p:extLst>
      <p:ext uri="{BB962C8B-B14F-4D97-AF65-F5344CB8AC3E}">
        <p14:creationId xmlns:p14="http://schemas.microsoft.com/office/powerpoint/2010/main" val="3243058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t>Indemnités de cessation d’emploi</a:t>
            </a:r>
            <a:endParaRPr lang="fr-CA" b="1" dirty="0"/>
          </a:p>
        </p:txBody>
      </p:sp>
      <p:sp>
        <p:nvSpPr>
          <p:cNvPr id="3" name="Espace réservé du contenu 2"/>
          <p:cNvSpPr>
            <a:spLocks noGrp="1"/>
          </p:cNvSpPr>
          <p:nvPr>
            <p:ph idx="1"/>
          </p:nvPr>
        </p:nvSpPr>
        <p:spPr/>
        <p:txBody>
          <a:bodyPr>
            <a:normAutofit lnSpcReduction="10000"/>
          </a:bodyPr>
          <a:lstStyle/>
          <a:p>
            <a:pPr marL="0" indent="0">
              <a:buNone/>
            </a:pPr>
            <a:r>
              <a:rPr lang="fr-CA" b="1" dirty="0"/>
              <a:t>Indemnités de cessation d'emploi</a:t>
            </a:r>
          </a:p>
          <a:p>
            <a:pPr marL="0" indent="0">
              <a:buNone/>
            </a:pPr>
            <a:r>
              <a:rPr lang="fr-CA" dirty="0"/>
              <a:t>159     Dans le cas des indemnités de cessation d'emploi, ce ne sont pas les services rendus par le membre du personnel qui constituent l'événement qui génère l'obligation, mais la cessation d'emploi. C'est pourquoi la présente norme traite de ces indemnités séparément des autres avantages du personnel. Les indemnités de cessation d'emploi résultent, en effet, </a:t>
            </a:r>
            <a:r>
              <a:rPr lang="fr-CA" dirty="0">
                <a:solidFill>
                  <a:srgbClr val="0070C0"/>
                </a:solidFill>
              </a:rPr>
              <a:t>soit de la décision de l'entité de mettre fin à l'emploi du membre du personnel, soit de la décision de ce dernier d'accepter les indemnités offertes par l'entité</a:t>
            </a:r>
            <a:r>
              <a:rPr lang="fr-CA" dirty="0"/>
              <a:t> en échange de la cessation de son emploi.</a:t>
            </a:r>
          </a:p>
          <a:p>
            <a:pPr marL="0" indent="0">
              <a:buNone/>
            </a:pPr>
            <a:r>
              <a:rPr lang="fr-CA" dirty="0"/>
              <a:t>	</a:t>
            </a:r>
            <a:r>
              <a:rPr lang="fr-CA" i="1" dirty="0"/>
              <a:t>départ forcé, départ volontaire</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47</a:t>
            </a:fld>
            <a:endParaRPr lang="fr-CA"/>
          </a:p>
        </p:txBody>
      </p:sp>
    </p:spTree>
    <p:extLst>
      <p:ext uri="{BB962C8B-B14F-4D97-AF65-F5344CB8AC3E}">
        <p14:creationId xmlns:p14="http://schemas.microsoft.com/office/powerpoint/2010/main" val="22911801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lstStyle/>
          <a:p>
            <a:pPr marL="0" indent="0">
              <a:buNone/>
            </a:pPr>
            <a:r>
              <a:rPr lang="fr-CA" b="1" dirty="0"/>
              <a:t>Comptabilisation</a:t>
            </a:r>
          </a:p>
          <a:p>
            <a:pPr marL="0" indent="0">
              <a:buNone/>
            </a:pPr>
            <a:r>
              <a:rPr lang="fr-CA" b="1" dirty="0"/>
              <a:t>165     L'entité doit comptabiliser un passif et une charge au titre des indemnités de cessation d'emploi à la première des dates suivantes :</a:t>
            </a:r>
          </a:p>
          <a:p>
            <a:pPr marL="0" indent="0">
              <a:buNone/>
            </a:pPr>
            <a:r>
              <a:rPr lang="fr-CA" b="1" dirty="0"/>
              <a:t>(a)     la date où elle ne peut plus retirer son offre d'indemnités ;</a:t>
            </a:r>
          </a:p>
          <a:p>
            <a:pPr marL="0" indent="0">
              <a:buNone/>
            </a:pPr>
            <a:r>
              <a:rPr lang="fr-CA" b="1" dirty="0"/>
              <a:t>(b)     la date où elle comptabilise les coûts d'une restructuration entrant dans le champ d'application d'IAS 37 et prévoyant le paiement de telles indemnités.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48</a:t>
            </a:fld>
            <a:endParaRPr lang="fr-CA"/>
          </a:p>
        </p:txBody>
      </p:sp>
    </p:spTree>
    <p:extLst>
      <p:ext uri="{BB962C8B-B14F-4D97-AF65-F5344CB8AC3E}">
        <p14:creationId xmlns:p14="http://schemas.microsoft.com/office/powerpoint/2010/main" val="4691037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817E3-C265-4C30-A1D2-DE9E2355D8A7}"/>
              </a:ext>
            </a:extLst>
          </p:cNvPr>
          <p:cNvSpPr>
            <a:spLocks noGrp="1"/>
          </p:cNvSpPr>
          <p:nvPr>
            <p:ph type="title"/>
          </p:nvPr>
        </p:nvSpPr>
        <p:spPr/>
        <p:txBody>
          <a:bodyPr/>
          <a:lstStyle/>
          <a:p>
            <a:r>
              <a:rPr lang="fr-CA" sz="3600" dirty="0"/>
              <a:t>Indemnités de cessation d’emploi</a:t>
            </a:r>
            <a:endParaRPr lang="fr-FR" dirty="0"/>
          </a:p>
        </p:txBody>
      </p:sp>
      <p:sp>
        <p:nvSpPr>
          <p:cNvPr id="3" name="Espace réservé du contenu 2">
            <a:extLst>
              <a:ext uri="{FF2B5EF4-FFF2-40B4-BE49-F238E27FC236}">
                <a16:creationId xmlns:a16="http://schemas.microsoft.com/office/drawing/2014/main" id="{780F0051-8544-4913-84D8-9417365016F7}"/>
              </a:ext>
            </a:extLst>
          </p:cNvPr>
          <p:cNvSpPr>
            <a:spLocks noGrp="1"/>
          </p:cNvSpPr>
          <p:nvPr>
            <p:ph idx="1"/>
          </p:nvPr>
        </p:nvSpPr>
        <p:spPr/>
        <p:txBody>
          <a:bodyPr/>
          <a:lstStyle/>
          <a:p>
            <a:pPr marL="0" indent="0">
              <a:buNone/>
            </a:pPr>
            <a:r>
              <a:rPr lang="fr-CA" dirty="0"/>
              <a:t>Moment :</a:t>
            </a:r>
          </a:p>
          <a:p>
            <a:r>
              <a:rPr lang="fr-CA" dirty="0"/>
              <a:t>Départ volontaire : quand l’employé accepte l’offre</a:t>
            </a:r>
          </a:p>
          <a:p>
            <a:r>
              <a:rPr lang="fr-CA" dirty="0"/>
              <a:t>Départ forcé : quand le plan est communiqué (engagement)</a:t>
            </a:r>
            <a:endParaRPr lang="fr-FR" dirty="0"/>
          </a:p>
        </p:txBody>
      </p:sp>
      <p:sp>
        <p:nvSpPr>
          <p:cNvPr id="4" name="Espace réservé du numéro de diapositive 3">
            <a:extLst>
              <a:ext uri="{FF2B5EF4-FFF2-40B4-BE49-F238E27FC236}">
                <a16:creationId xmlns:a16="http://schemas.microsoft.com/office/drawing/2014/main" id="{57F98217-54F7-48B5-8D7E-6B6FF631E968}"/>
              </a:ext>
            </a:extLst>
          </p:cNvPr>
          <p:cNvSpPr>
            <a:spLocks noGrp="1"/>
          </p:cNvSpPr>
          <p:nvPr>
            <p:ph type="sldNum" sz="quarter" idx="12"/>
          </p:nvPr>
        </p:nvSpPr>
        <p:spPr/>
        <p:txBody>
          <a:bodyPr/>
          <a:lstStyle/>
          <a:p>
            <a:fld id="{992B40CC-DFA5-47EF-8974-C897708E5DF2}" type="slidenum">
              <a:rPr lang="fr-CA" smtClean="0"/>
              <a:t>49</a:t>
            </a:fld>
            <a:endParaRPr lang="fr-CA"/>
          </a:p>
        </p:txBody>
      </p:sp>
    </p:spTree>
    <p:extLst>
      <p:ext uri="{BB962C8B-B14F-4D97-AF65-F5344CB8AC3E}">
        <p14:creationId xmlns:p14="http://schemas.microsoft.com/office/powerpoint/2010/main" val="73758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Exercices</a:t>
            </a:r>
          </a:p>
        </p:txBody>
      </p:sp>
      <p:sp>
        <p:nvSpPr>
          <p:cNvPr id="3" name="Espace réservé du contenu 2"/>
          <p:cNvSpPr>
            <a:spLocks noGrp="1"/>
          </p:cNvSpPr>
          <p:nvPr>
            <p:ph idx="1"/>
          </p:nvPr>
        </p:nvSpPr>
        <p:spPr/>
        <p:txBody>
          <a:bodyPr/>
          <a:lstStyle/>
          <a:p>
            <a:endParaRPr lang="fr-CA"/>
          </a:p>
        </p:txBody>
      </p:sp>
    </p:spTree>
    <p:extLst>
      <p:ext uri="{BB962C8B-B14F-4D97-AF65-F5344CB8AC3E}">
        <p14:creationId xmlns:p14="http://schemas.microsoft.com/office/powerpoint/2010/main" val="38453791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Congés de maladie - 1</a:t>
            </a:r>
          </a:p>
        </p:txBody>
      </p:sp>
      <p:sp>
        <p:nvSpPr>
          <p:cNvPr id="3" name="Espace réservé du contenu 2"/>
          <p:cNvSpPr>
            <a:spLocks noGrp="1"/>
          </p:cNvSpPr>
          <p:nvPr>
            <p:ph idx="1"/>
          </p:nvPr>
        </p:nvSpPr>
        <p:spPr/>
        <p:txBody>
          <a:bodyPr/>
          <a:lstStyle/>
          <a:p>
            <a:pPr marL="0" indent="0">
              <a:buNone/>
            </a:pPr>
            <a:r>
              <a:rPr lang="fr-CA" dirty="0"/>
              <a:t>ABC offre à ses employés une rémunération incluant jusqu’à cinq journées de maladie payées par année. Salaire moyen : 50 000 $.</a:t>
            </a:r>
          </a:p>
          <a:p>
            <a:pPr marL="0" indent="0">
              <a:buNone/>
            </a:pPr>
            <a:r>
              <a:rPr lang="fr-CA" dirty="0"/>
              <a:t>Au 31 décembre 2019, elle compte 200 employés actifs et prévoit, pour 2020, basé sur son historique, que 80 % des employés prendront 5 jours de maladie, 15 % en prendront 3 et 5 % nécessiteront 6 jours.</a:t>
            </a:r>
          </a:p>
          <a:p>
            <a:pPr marL="0" indent="0">
              <a:buNone/>
            </a:pPr>
            <a:endParaRPr lang="fr-CA" dirty="0"/>
          </a:p>
          <a:p>
            <a:pPr marL="0" indent="0">
              <a:buNone/>
            </a:pPr>
            <a:r>
              <a:rPr lang="fr-CA" dirty="0"/>
              <a:t>Traitement comptable si les droits ne sont pas cumulables?</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51</a:t>
            </a:fld>
            <a:endParaRPr lang="fr-CA"/>
          </a:p>
        </p:txBody>
      </p:sp>
    </p:spTree>
    <p:extLst>
      <p:ext uri="{BB962C8B-B14F-4D97-AF65-F5344CB8AC3E}">
        <p14:creationId xmlns:p14="http://schemas.microsoft.com/office/powerpoint/2010/main" val="4052263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Congés de maladie – 1 </a:t>
            </a:r>
            <a:r>
              <a:rPr lang="fr-CA" sz="3600" b="1" dirty="0"/>
              <a:t>- solution</a:t>
            </a:r>
          </a:p>
        </p:txBody>
      </p:sp>
      <p:sp>
        <p:nvSpPr>
          <p:cNvPr id="3" name="Espace réservé du contenu 2"/>
          <p:cNvSpPr>
            <a:spLocks noGrp="1"/>
          </p:cNvSpPr>
          <p:nvPr>
            <p:ph idx="1"/>
          </p:nvPr>
        </p:nvSpPr>
        <p:spPr/>
        <p:txBody>
          <a:bodyPr/>
          <a:lstStyle/>
          <a:p>
            <a:pPr marL="0" indent="0">
              <a:buNone/>
            </a:pPr>
            <a:r>
              <a:rPr lang="fr-CA" dirty="0"/>
              <a:t>Traitement comptable si les droits ne sont pas cumulables?</a:t>
            </a:r>
          </a:p>
          <a:p>
            <a:pPr marL="0" indent="0">
              <a:buNone/>
            </a:pPr>
            <a:endParaRPr lang="fr-CA" dirty="0"/>
          </a:p>
          <a:p>
            <a:pPr marL="0" indent="0">
              <a:buNone/>
            </a:pPr>
            <a:r>
              <a:rPr lang="fr-CA" dirty="0"/>
              <a:t>	Aucune provision car non cumulables</a:t>
            </a:r>
          </a:p>
          <a:p>
            <a:pPr marL="0" indent="0">
              <a:buNone/>
            </a:pPr>
            <a:r>
              <a:rPr lang="fr-CA" dirty="0"/>
              <a:t>	Charge comptabilisée lors de l’absence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52</a:t>
            </a:fld>
            <a:endParaRPr lang="fr-CA"/>
          </a:p>
        </p:txBody>
      </p:sp>
    </p:spTree>
    <p:extLst>
      <p:ext uri="{BB962C8B-B14F-4D97-AF65-F5344CB8AC3E}">
        <p14:creationId xmlns:p14="http://schemas.microsoft.com/office/powerpoint/2010/main" val="41723580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Congés de maladie - 2</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ABC offre à ses employés une rémunération incluant jusqu’à cinq journées de maladie payées par année. Salaire moyen : 50 000 $.</a:t>
            </a:r>
          </a:p>
          <a:p>
            <a:pPr marL="0" indent="0">
              <a:buNone/>
            </a:pPr>
            <a:r>
              <a:rPr lang="fr-CA" dirty="0"/>
              <a:t>Au 31 décembre 2019, elle compte 200 employés actifs et prévoit, pour 2020, basé sur son historique, que 80 % des employés prendront 5 jours de maladie, 15 % en prendront 3 et 5 % nécessiteront 6 jours.</a:t>
            </a:r>
          </a:p>
          <a:p>
            <a:pPr marL="0" indent="0">
              <a:buNone/>
            </a:pPr>
            <a:r>
              <a:rPr lang="fr-CA" dirty="0"/>
              <a:t>En moyenne, les employés ont cumulé 0,3 jour de maladie au 31 décembre 2019.</a:t>
            </a:r>
          </a:p>
          <a:p>
            <a:pPr marL="0" indent="0">
              <a:buNone/>
            </a:pPr>
            <a:endParaRPr lang="fr-CA" dirty="0"/>
          </a:p>
          <a:p>
            <a:pPr marL="0" indent="0">
              <a:buNone/>
            </a:pPr>
            <a:r>
              <a:rPr lang="fr-CA" dirty="0"/>
              <a:t>Traitement comptable si les droits sont cumulables pour un an, mais que les employés doivent utilisés les droits de l’année en cours avant d’utiliser leur banque?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53</a:t>
            </a:fld>
            <a:endParaRPr lang="fr-CA"/>
          </a:p>
        </p:txBody>
      </p:sp>
    </p:spTree>
    <p:extLst>
      <p:ext uri="{BB962C8B-B14F-4D97-AF65-F5344CB8AC3E}">
        <p14:creationId xmlns:p14="http://schemas.microsoft.com/office/powerpoint/2010/main" val="952756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Congés de maladie – 2 </a:t>
            </a:r>
            <a:r>
              <a:rPr lang="fr-CA" sz="3600" b="1" dirty="0"/>
              <a:t>- solution</a:t>
            </a:r>
            <a:endParaRPr lang="fr-CA" sz="3600" dirty="0"/>
          </a:p>
        </p:txBody>
      </p:sp>
      <p:sp>
        <p:nvSpPr>
          <p:cNvPr id="3" name="Espace réservé du contenu 2"/>
          <p:cNvSpPr>
            <a:spLocks noGrp="1"/>
          </p:cNvSpPr>
          <p:nvPr>
            <p:ph idx="1"/>
          </p:nvPr>
        </p:nvSpPr>
        <p:spPr/>
        <p:txBody>
          <a:bodyPr>
            <a:normAutofit/>
          </a:bodyPr>
          <a:lstStyle/>
          <a:p>
            <a:pPr marL="0" indent="0">
              <a:buNone/>
            </a:pPr>
            <a:r>
              <a:rPr lang="fr-CA" sz="2400" dirty="0"/>
              <a:t>Traitement comptable si les droits sont cumulables pour un an, mais que les employés doivent utilisés les droits de l’année en cours avant d’utiliser leur banque?</a:t>
            </a:r>
          </a:p>
          <a:p>
            <a:pPr marL="0" indent="0">
              <a:buNone/>
            </a:pPr>
            <a:endParaRPr lang="fr-CA" sz="2400" dirty="0"/>
          </a:p>
          <a:p>
            <a:pPr marL="0" indent="0">
              <a:buNone/>
            </a:pPr>
            <a:r>
              <a:rPr lang="fr-CA" sz="2400" dirty="0"/>
              <a:t>	Maximum : 5 % (10 employés) pourraient utiliser 1 jour reporté de 2019</a:t>
            </a:r>
          </a:p>
          <a:p>
            <a:pPr marL="0" indent="0">
              <a:buNone/>
            </a:pPr>
            <a:r>
              <a:rPr lang="fr-CA" sz="2400" dirty="0"/>
              <a:t>	Ils ont cumulé 0,3 jour en moyenne</a:t>
            </a:r>
          </a:p>
          <a:p>
            <a:pPr marL="0" indent="0">
              <a:buNone/>
            </a:pPr>
            <a:r>
              <a:rPr lang="fr-CA" sz="2400" dirty="0"/>
              <a:t>	Ces employés ont-ils cumulé 1 journée? </a:t>
            </a:r>
          </a:p>
          <a:p>
            <a:pPr marL="0" indent="0">
              <a:buNone/>
            </a:pPr>
            <a:r>
              <a:rPr lang="fr-CA" sz="2400" dirty="0"/>
              <a:t>		ou ceux présents ont cumulé, les mêmes qui s’absentent</a:t>
            </a:r>
          </a:p>
          <a:p>
            <a:pPr marL="0" indent="0">
              <a:buNone/>
            </a:pPr>
            <a:r>
              <a:rPr lang="fr-CA" sz="2400" dirty="0"/>
              <a:t>	</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54</a:t>
            </a:fld>
            <a:endParaRPr lang="fr-CA"/>
          </a:p>
        </p:txBody>
      </p:sp>
    </p:spTree>
    <p:extLst>
      <p:ext uri="{BB962C8B-B14F-4D97-AF65-F5344CB8AC3E}">
        <p14:creationId xmlns:p14="http://schemas.microsoft.com/office/powerpoint/2010/main" val="26579623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Boni</a:t>
            </a:r>
          </a:p>
        </p:txBody>
      </p:sp>
      <p:sp>
        <p:nvSpPr>
          <p:cNvPr id="3" name="Espace réservé du contenu 2"/>
          <p:cNvSpPr>
            <a:spLocks noGrp="1"/>
          </p:cNvSpPr>
          <p:nvPr>
            <p:ph idx="1"/>
          </p:nvPr>
        </p:nvSpPr>
        <p:spPr/>
        <p:txBody>
          <a:bodyPr>
            <a:normAutofit fontScale="85000" lnSpcReduction="10000"/>
          </a:bodyPr>
          <a:lstStyle/>
          <a:p>
            <a:pPr marL="0" indent="0">
              <a:buNone/>
            </a:pPr>
            <a:r>
              <a:rPr lang="fr-CA" dirty="0"/>
              <a:t>ABC offre à ses employés une rémunération incluant un boni jusqu’à 15 % du salaire de base. Salaire moyen : 50 000 $.</a:t>
            </a:r>
          </a:p>
          <a:p>
            <a:pPr marL="0" indent="0">
              <a:buNone/>
            </a:pPr>
            <a:r>
              <a:rPr lang="fr-CA" dirty="0"/>
              <a:t>Au 31 décembre 2019, elle compte 200 employés actifs, et prévoit pour 2020 un certain roulement de personnel : 32 personnes devraient quitter et seront toutes remplacées. Les nouveaux employés qui devraient se joindre à l’organisation devraient être répartis uniformément tout au long de 2020. Les employés embauchés au dernier trimestre n’ont pas droit au boni, alors que les employés qui se sont joints en cours d’année ont droit à un boni « </a:t>
            </a:r>
            <a:r>
              <a:rPr lang="fr-CA" dirty="0" err="1"/>
              <a:t>proraté</a:t>
            </a:r>
            <a:r>
              <a:rPr lang="fr-CA" dirty="0"/>
              <a:t> ».</a:t>
            </a:r>
          </a:p>
          <a:p>
            <a:pPr marL="0" indent="0">
              <a:buNone/>
            </a:pPr>
            <a:r>
              <a:rPr lang="fr-CA" dirty="0"/>
              <a:t>ABC prévoit pour 2020, basé sur son historique, que 70 % des employés auront droit à la totalité du boni admissible, 20 % à la moitié et 10 % à aucun boni.</a:t>
            </a:r>
          </a:p>
          <a:p>
            <a:pPr marL="0" indent="0">
              <a:buNone/>
            </a:pPr>
            <a:endParaRPr lang="fr-CA" dirty="0"/>
          </a:p>
          <a:p>
            <a:pPr marL="0" indent="0">
              <a:buNone/>
            </a:pPr>
            <a:r>
              <a:rPr lang="fr-CA" dirty="0"/>
              <a:t>Traitement comptable en janvier 2020, et par la suite?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55</a:t>
            </a:fld>
            <a:endParaRPr lang="fr-CA"/>
          </a:p>
        </p:txBody>
      </p:sp>
    </p:spTree>
    <p:extLst>
      <p:ext uri="{BB962C8B-B14F-4D97-AF65-F5344CB8AC3E}">
        <p14:creationId xmlns:p14="http://schemas.microsoft.com/office/powerpoint/2010/main" val="10410962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Boni</a:t>
            </a:r>
          </a:p>
        </p:txBody>
      </p:sp>
      <p:sp>
        <p:nvSpPr>
          <p:cNvPr id="3" name="Espace réservé du contenu 2"/>
          <p:cNvSpPr>
            <a:spLocks noGrp="1"/>
          </p:cNvSpPr>
          <p:nvPr>
            <p:ph idx="1"/>
          </p:nvPr>
        </p:nvSpPr>
        <p:spPr/>
        <p:txBody>
          <a:bodyPr>
            <a:normAutofit fontScale="55000" lnSpcReduction="20000"/>
          </a:bodyPr>
          <a:lstStyle/>
          <a:p>
            <a:pPr marL="0" indent="0">
              <a:buNone/>
            </a:pPr>
            <a:r>
              <a:rPr lang="fr-CA" dirty="0"/>
              <a:t>Traitement comptable en janvier 2020, et par la suite?</a:t>
            </a:r>
          </a:p>
          <a:p>
            <a:pPr marL="0" indent="0">
              <a:buNone/>
            </a:pPr>
            <a:endParaRPr lang="fr-CA" dirty="0"/>
          </a:p>
          <a:p>
            <a:pPr marL="0" indent="0">
              <a:buNone/>
            </a:pPr>
            <a:r>
              <a:rPr lang="fr-CA" dirty="0"/>
              <a:t>	50 000 * 15 % = 7 500 $ boni potentiel par employé</a:t>
            </a:r>
          </a:p>
          <a:p>
            <a:pPr marL="0" indent="0">
              <a:buNone/>
            </a:pPr>
            <a:r>
              <a:rPr lang="fr-CA" dirty="0"/>
              <a:t>	200 employés – 32 remplacés = 168 peuvent espérer boni total</a:t>
            </a:r>
          </a:p>
          <a:p>
            <a:pPr marL="0" indent="0">
              <a:buNone/>
            </a:pPr>
            <a:r>
              <a:rPr lang="fr-CA" dirty="0"/>
              <a:t>	32 : 8 aucun, 8 : 75 %, 8 : 50 %, 8 : 25 %   </a:t>
            </a:r>
            <a:r>
              <a:rPr lang="fr-CA" i="1" dirty="0"/>
              <a:t>(ou autre hypothèse)</a:t>
            </a:r>
            <a:r>
              <a:rPr lang="fr-CA" dirty="0"/>
              <a:t> </a:t>
            </a:r>
          </a:p>
          <a:p>
            <a:pPr marL="0" indent="0">
              <a:buNone/>
            </a:pPr>
            <a:endParaRPr lang="fr-CA" dirty="0"/>
          </a:p>
          <a:p>
            <a:pPr marL="0" indent="0">
              <a:buNone/>
            </a:pPr>
            <a:r>
              <a:rPr lang="fr-CA" dirty="0"/>
              <a:t>168 : 	70 % * 168 * 7 500 = 882 000 $</a:t>
            </a:r>
          </a:p>
          <a:p>
            <a:pPr marL="0" indent="0">
              <a:buNone/>
            </a:pPr>
            <a:r>
              <a:rPr lang="fr-CA" dirty="0"/>
              <a:t>	20 % * 168 * (7 500 * 50 %) = 126 000</a:t>
            </a:r>
          </a:p>
          <a:p>
            <a:pPr marL="0" indent="0">
              <a:buNone/>
            </a:pPr>
            <a:r>
              <a:rPr lang="fr-CA" dirty="0"/>
              <a:t>8 : 	70 % * 8 * 7 500 * 75 % = 31 500 $</a:t>
            </a:r>
          </a:p>
          <a:p>
            <a:pPr marL="0" indent="0">
              <a:buNone/>
            </a:pPr>
            <a:r>
              <a:rPr lang="fr-CA" dirty="0"/>
              <a:t>	20 % * 8 * (7 500 * 50 %) * 75 % = 4 500</a:t>
            </a:r>
          </a:p>
          <a:p>
            <a:pPr marL="0" indent="0">
              <a:buNone/>
            </a:pPr>
            <a:r>
              <a:rPr lang="fr-CA" dirty="0"/>
              <a:t>8 : 	70 % * 8 * 7 500 * 50 % = 21 000 $</a:t>
            </a:r>
          </a:p>
          <a:p>
            <a:pPr marL="0" indent="0">
              <a:buNone/>
            </a:pPr>
            <a:r>
              <a:rPr lang="fr-CA" dirty="0"/>
              <a:t>	20 % * 8 * (7 500 * 50 %) * 50 % = 3 000</a:t>
            </a:r>
          </a:p>
          <a:p>
            <a:pPr marL="0" indent="0">
              <a:buNone/>
            </a:pPr>
            <a:r>
              <a:rPr lang="fr-CA" dirty="0"/>
              <a:t>8 : 	70 % * 8 * 7 500 * 25 % = 10 500 $</a:t>
            </a:r>
          </a:p>
          <a:p>
            <a:pPr marL="0" indent="0">
              <a:buNone/>
            </a:pPr>
            <a:r>
              <a:rPr lang="fr-CA" dirty="0"/>
              <a:t>	20 % * 8 * (7 500 * 50 %) * 25 % = 1 500  		total : 1 080 000 $</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56</a:t>
            </a:fld>
            <a:endParaRPr lang="fr-CA"/>
          </a:p>
        </p:txBody>
      </p:sp>
    </p:spTree>
    <p:extLst>
      <p:ext uri="{BB962C8B-B14F-4D97-AF65-F5344CB8AC3E}">
        <p14:creationId xmlns:p14="http://schemas.microsoft.com/office/powerpoint/2010/main" val="5094647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Calcul – régime prestations définies</a:t>
            </a:r>
          </a:p>
        </p:txBody>
      </p:sp>
      <p:sp>
        <p:nvSpPr>
          <p:cNvPr id="3" name="Espace réservé du contenu 2"/>
          <p:cNvSpPr>
            <a:spLocks noGrp="1"/>
          </p:cNvSpPr>
          <p:nvPr>
            <p:ph idx="1"/>
          </p:nvPr>
        </p:nvSpPr>
        <p:spPr/>
        <p:txBody>
          <a:bodyPr>
            <a:normAutofit/>
          </a:bodyPr>
          <a:lstStyle/>
          <a:p>
            <a:pPr marL="0" indent="0">
              <a:buNone/>
            </a:pPr>
            <a:r>
              <a:rPr lang="fr-CA" dirty="0"/>
              <a:t>Le 1</a:t>
            </a:r>
            <a:r>
              <a:rPr lang="fr-CA" baseline="30000" dirty="0"/>
              <a:t>er</a:t>
            </a:r>
            <a:r>
              <a:rPr lang="fr-CA" dirty="0"/>
              <a:t> janvier 2020, ABC embauche un employé âgé de 25 ans, pour un salaire annuel de 40 000 $. Elle offre également un régime à prestations définies, aucune contribution par les employés. La prestation est calculée selon la formule suivante : 1,5 % par année de service, moyenne des salaires des 3 meilleures années.</a:t>
            </a:r>
          </a:p>
          <a:p>
            <a:pPr marL="0" indent="0">
              <a:buNone/>
            </a:pPr>
            <a:r>
              <a:rPr lang="fr-CA" dirty="0"/>
              <a:t>Hypothèses : restera à l’emploi jusqu’à la retraite à 65 ans (!!!), espérance de vie 15 ans à la retraite, moyenne des salaires des 3 meilleures années : 100 000 $, taux d’actualisation 6 %</a:t>
            </a:r>
          </a:p>
          <a:p>
            <a:pPr marL="0" indent="0">
              <a:buNone/>
            </a:pPr>
            <a:endParaRPr lang="fr-CA" dirty="0"/>
          </a:p>
          <a:p>
            <a:pPr marL="0" indent="0">
              <a:buNone/>
            </a:pPr>
            <a:r>
              <a:rPr lang="fr-CA" dirty="0"/>
              <a:t>Quel est le montant de la charge pour 2020?</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57</a:t>
            </a:fld>
            <a:endParaRPr lang="fr-CA"/>
          </a:p>
        </p:txBody>
      </p:sp>
    </p:spTree>
    <p:extLst>
      <p:ext uri="{BB962C8B-B14F-4D97-AF65-F5344CB8AC3E}">
        <p14:creationId xmlns:p14="http://schemas.microsoft.com/office/powerpoint/2010/main" val="3187575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Calcul – régime prestations définies</a:t>
            </a:r>
          </a:p>
        </p:txBody>
      </p:sp>
      <p:sp>
        <p:nvSpPr>
          <p:cNvPr id="3" name="Espace réservé du contenu 2"/>
          <p:cNvSpPr>
            <a:spLocks noGrp="1"/>
          </p:cNvSpPr>
          <p:nvPr>
            <p:ph idx="1"/>
          </p:nvPr>
        </p:nvSpPr>
        <p:spPr/>
        <p:txBody>
          <a:bodyPr>
            <a:normAutofit/>
          </a:bodyPr>
          <a:lstStyle/>
          <a:p>
            <a:pPr marL="0" indent="0">
              <a:buNone/>
            </a:pPr>
            <a:r>
              <a:rPr lang="fr-CA" i="1" dirty="0"/>
              <a:t>Quel est le montant de la charge pour 2020?</a:t>
            </a:r>
          </a:p>
          <a:p>
            <a:r>
              <a:rPr lang="fr-CA" dirty="0"/>
              <a:t>Il faut calculer la « rente » gagnée pendant la période (1,5% * 100 000)</a:t>
            </a:r>
          </a:p>
          <a:p>
            <a:r>
              <a:rPr lang="fr-CA" dirty="0"/>
              <a:t>aura droit à cette rente pendant toute la période de la retraite (15 ans)</a:t>
            </a:r>
          </a:p>
          <a:p>
            <a:r>
              <a:rPr lang="fr-CA" dirty="0"/>
              <a:t>Et il faut actualiser ce montant à la date de l’état de la situation financière (40 ans)</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58</a:t>
            </a:fld>
            <a:endParaRPr lang="fr-CA"/>
          </a:p>
        </p:txBody>
      </p:sp>
    </p:spTree>
    <p:extLst>
      <p:ext uri="{BB962C8B-B14F-4D97-AF65-F5344CB8AC3E}">
        <p14:creationId xmlns:p14="http://schemas.microsoft.com/office/powerpoint/2010/main" val="4921390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Calcul – régime prestations définies</a:t>
            </a:r>
          </a:p>
        </p:txBody>
      </p:sp>
      <p:sp>
        <p:nvSpPr>
          <p:cNvPr id="3" name="Espace réservé du contenu 2"/>
          <p:cNvSpPr>
            <a:spLocks noGrp="1"/>
          </p:cNvSpPr>
          <p:nvPr>
            <p:ph idx="1"/>
          </p:nvPr>
        </p:nvSpPr>
        <p:spPr/>
        <p:txBody>
          <a:bodyPr>
            <a:normAutofit/>
          </a:bodyPr>
          <a:lstStyle/>
          <a:p>
            <a:pPr marL="0" indent="0">
              <a:buNone/>
            </a:pPr>
            <a:r>
              <a:rPr lang="fr-CA" dirty="0"/>
              <a:t>Quel est le montant de la charge pour 2020?</a:t>
            </a:r>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59</a:t>
            </a:fld>
            <a:endParaRPr lang="fr-CA"/>
          </a:p>
        </p:txBody>
      </p:sp>
      <p:graphicFrame>
        <p:nvGraphicFramePr>
          <p:cNvPr id="5" name="Objet 4"/>
          <p:cNvGraphicFramePr>
            <a:graphicFrameLocks noChangeAspect="1"/>
          </p:cNvGraphicFramePr>
          <p:nvPr/>
        </p:nvGraphicFramePr>
        <p:xfrm>
          <a:off x="2225354" y="2891179"/>
          <a:ext cx="5828096" cy="2247980"/>
        </p:xfrm>
        <a:graphic>
          <a:graphicData uri="http://schemas.openxmlformats.org/presentationml/2006/ole">
            <mc:AlternateContent xmlns:mc="http://schemas.openxmlformats.org/markup-compatibility/2006">
              <mc:Choice xmlns:v="urn:schemas-microsoft-com:vml" Requires="v">
                <p:oleObj spid="_x0000_s5124" name="Feuille de calcul" r:id="rId3" imgW="2000435" imgH="771525" progId="Excel.Sheet.12">
                  <p:embed/>
                </p:oleObj>
              </mc:Choice>
              <mc:Fallback>
                <p:oleObj name="Feuille de calcul" r:id="rId3" imgW="2000435" imgH="771525" progId="Excel.Sheet.12">
                  <p:embed/>
                  <p:pic>
                    <p:nvPicPr>
                      <p:cNvPr id="5" name="Objet 4"/>
                      <p:cNvPicPr/>
                      <p:nvPr/>
                    </p:nvPicPr>
                    <p:blipFill>
                      <a:blip r:embed="rId4"/>
                      <a:stretch>
                        <a:fillRect/>
                      </a:stretch>
                    </p:blipFill>
                    <p:spPr>
                      <a:xfrm>
                        <a:off x="2225354" y="2891179"/>
                        <a:ext cx="5828096" cy="2247980"/>
                      </a:xfrm>
                      <a:prstGeom prst="rect">
                        <a:avLst/>
                      </a:prstGeom>
                    </p:spPr>
                  </p:pic>
                </p:oleObj>
              </mc:Fallback>
            </mc:AlternateContent>
          </a:graphicData>
        </a:graphic>
      </p:graphicFrame>
    </p:spTree>
    <p:extLst>
      <p:ext uri="{BB962C8B-B14F-4D97-AF65-F5344CB8AC3E}">
        <p14:creationId xmlns:p14="http://schemas.microsoft.com/office/powerpoint/2010/main" val="15421458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Assurance-vie post emploi</a:t>
            </a:r>
          </a:p>
        </p:txBody>
      </p:sp>
      <p:sp>
        <p:nvSpPr>
          <p:cNvPr id="3" name="Espace réservé du contenu 2"/>
          <p:cNvSpPr>
            <a:spLocks noGrp="1"/>
          </p:cNvSpPr>
          <p:nvPr>
            <p:ph idx="1"/>
          </p:nvPr>
        </p:nvSpPr>
        <p:spPr/>
        <p:txBody>
          <a:bodyPr>
            <a:normAutofit/>
          </a:bodyPr>
          <a:lstStyle/>
          <a:p>
            <a:pPr marL="0" indent="0">
              <a:buNone/>
            </a:pPr>
            <a:r>
              <a:rPr lang="fr-CA" dirty="0"/>
              <a:t>Le 31 décembre 2019, un fidèle employé d’ABC quitte pour la retraite.</a:t>
            </a:r>
          </a:p>
          <a:p>
            <a:pPr marL="0" indent="0">
              <a:buNone/>
            </a:pPr>
            <a:r>
              <a:rPr lang="fr-CA" dirty="0"/>
              <a:t>Tout au long de sa carrière, ABC payait les primes liées à une assurance-vie. À la rencontre de départ, ABC informe l’employé que s’il le souhaite il peut continuer la couverture d’assurance-vie, aux frais de l’employé. L’employé accepte car cela lui évite de se requalifier (au niveau santé), ce qu’il devrait faire avec un nouveau contrat d’assurance.</a:t>
            </a:r>
          </a:p>
          <a:p>
            <a:pPr marL="0" indent="0">
              <a:buNone/>
            </a:pPr>
            <a:endParaRPr lang="fr-CA" dirty="0"/>
          </a:p>
          <a:p>
            <a:pPr marL="0" indent="0">
              <a:buNone/>
            </a:pPr>
            <a:r>
              <a:rPr lang="fr-CA" dirty="0"/>
              <a:t>Quel est le traitement comptable pour ABC?</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60</a:t>
            </a:fld>
            <a:endParaRPr lang="fr-CA"/>
          </a:p>
        </p:txBody>
      </p:sp>
    </p:spTree>
    <p:extLst>
      <p:ext uri="{BB962C8B-B14F-4D97-AF65-F5344CB8AC3E}">
        <p14:creationId xmlns:p14="http://schemas.microsoft.com/office/powerpoint/2010/main" val="1366251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Assurance-vie post emploi</a:t>
            </a:r>
          </a:p>
        </p:txBody>
      </p:sp>
      <p:sp>
        <p:nvSpPr>
          <p:cNvPr id="3" name="Espace réservé du contenu 2"/>
          <p:cNvSpPr>
            <a:spLocks noGrp="1"/>
          </p:cNvSpPr>
          <p:nvPr>
            <p:ph idx="1"/>
          </p:nvPr>
        </p:nvSpPr>
        <p:spPr/>
        <p:txBody>
          <a:bodyPr>
            <a:normAutofit/>
          </a:bodyPr>
          <a:lstStyle/>
          <a:p>
            <a:pPr marL="0" indent="0">
              <a:buNone/>
            </a:pPr>
            <a:r>
              <a:rPr lang="fr-CA" dirty="0"/>
              <a:t>Quel est le traitement comptable pour ABC?</a:t>
            </a:r>
          </a:p>
          <a:p>
            <a:pPr marL="0" indent="0">
              <a:buNone/>
            </a:pPr>
            <a:endParaRPr lang="fr-CA" dirty="0"/>
          </a:p>
          <a:p>
            <a:pPr marL="0" indent="0">
              <a:buNone/>
            </a:pPr>
            <a:r>
              <a:rPr lang="fr-CA" dirty="0"/>
              <a:t>	Aucun coût pour l’employeur</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61</a:t>
            </a:fld>
            <a:endParaRPr lang="fr-CA"/>
          </a:p>
        </p:txBody>
      </p:sp>
    </p:spTree>
    <p:extLst>
      <p:ext uri="{BB962C8B-B14F-4D97-AF65-F5344CB8AC3E}">
        <p14:creationId xmlns:p14="http://schemas.microsoft.com/office/powerpoint/2010/main" val="31941907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a:t>
            </a:r>
            <a:r>
              <a:rPr lang="fr-CA" sz="3600" dirty="0">
                <a:solidFill>
                  <a:srgbClr val="FF0000"/>
                </a:solidFill>
              </a:rPr>
              <a:t>cotisations</a:t>
            </a:r>
            <a:r>
              <a:rPr lang="fr-CA" sz="3600" dirty="0"/>
              <a:t> définies – rendement sur actif</a:t>
            </a:r>
          </a:p>
        </p:txBody>
      </p:sp>
      <p:sp>
        <p:nvSpPr>
          <p:cNvPr id="3" name="Espace réservé du contenu 2"/>
          <p:cNvSpPr>
            <a:spLocks noGrp="1"/>
          </p:cNvSpPr>
          <p:nvPr>
            <p:ph idx="1"/>
          </p:nvPr>
        </p:nvSpPr>
        <p:spPr/>
        <p:txBody>
          <a:bodyPr>
            <a:normAutofit lnSpcReduction="10000"/>
          </a:bodyPr>
          <a:lstStyle/>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r>
              <a:rPr lang="fr-CA" dirty="0"/>
              <a:t>Quel est le traitement comptable pour ABC?</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62</a:t>
            </a:fld>
            <a:endParaRPr lang="fr-CA"/>
          </a:p>
        </p:txBody>
      </p:sp>
      <p:graphicFrame>
        <p:nvGraphicFramePr>
          <p:cNvPr id="5" name="Tableau 4"/>
          <p:cNvGraphicFramePr>
            <a:graphicFrameLocks noGrp="1"/>
          </p:cNvGraphicFramePr>
          <p:nvPr/>
        </p:nvGraphicFramePr>
        <p:xfrm>
          <a:off x="995422" y="1405414"/>
          <a:ext cx="10358378" cy="2958242"/>
        </p:xfrm>
        <a:graphic>
          <a:graphicData uri="http://schemas.openxmlformats.org/drawingml/2006/table">
            <a:tbl>
              <a:tblPr firstRow="1" bandRow="1">
                <a:tableStyleId>{5C22544A-7EE6-4342-B048-85BDC9FD1C3A}</a:tableStyleId>
              </a:tblPr>
              <a:tblGrid>
                <a:gridCol w="9028254">
                  <a:extLst>
                    <a:ext uri="{9D8B030D-6E8A-4147-A177-3AD203B41FA5}">
                      <a16:colId xmlns:a16="http://schemas.microsoft.com/office/drawing/2014/main" val="20000"/>
                    </a:ext>
                  </a:extLst>
                </a:gridCol>
                <a:gridCol w="1330124">
                  <a:extLst>
                    <a:ext uri="{9D8B030D-6E8A-4147-A177-3AD203B41FA5}">
                      <a16:colId xmlns:a16="http://schemas.microsoft.com/office/drawing/2014/main" val="20001"/>
                    </a:ext>
                  </a:extLst>
                </a:gridCol>
              </a:tblGrid>
              <a:tr h="422606">
                <a:tc>
                  <a:txBody>
                    <a:bodyPr/>
                    <a:lstStyle/>
                    <a:p>
                      <a:r>
                        <a:rPr lang="fr-CA" dirty="0"/>
                        <a:t>Actifs d’un régime de retraite</a:t>
                      </a:r>
                    </a:p>
                  </a:txBody>
                  <a:tcPr/>
                </a:tc>
                <a:tc>
                  <a:txBody>
                    <a:bodyPr/>
                    <a:lstStyle/>
                    <a:p>
                      <a:endParaRPr lang="fr-CA"/>
                    </a:p>
                  </a:txBody>
                  <a:tcPr/>
                </a:tc>
                <a:extLst>
                  <a:ext uri="{0D108BD9-81ED-4DB2-BD59-A6C34878D82A}">
                    <a16:rowId xmlns:a16="http://schemas.microsoft.com/office/drawing/2014/main" val="10000"/>
                  </a:ext>
                </a:extLst>
              </a:tr>
              <a:tr h="422606">
                <a:tc>
                  <a:txBody>
                    <a:bodyPr/>
                    <a:lstStyle/>
                    <a:p>
                      <a:r>
                        <a:rPr lang="fr-CA" dirty="0"/>
                        <a:t>Juste valeur, au 1</a:t>
                      </a:r>
                      <a:r>
                        <a:rPr lang="fr-CA" baseline="30000" dirty="0"/>
                        <a:t>er</a:t>
                      </a:r>
                      <a:r>
                        <a:rPr lang="fr-CA" dirty="0"/>
                        <a:t> janvier 2019</a:t>
                      </a:r>
                    </a:p>
                  </a:txBody>
                  <a:tcPr/>
                </a:tc>
                <a:tc>
                  <a:txBody>
                    <a:bodyPr/>
                    <a:lstStyle/>
                    <a:p>
                      <a:pPr algn="r"/>
                      <a:r>
                        <a:rPr lang="fr-CA" dirty="0"/>
                        <a:t>500 000</a:t>
                      </a:r>
                    </a:p>
                  </a:txBody>
                  <a:tcPr/>
                </a:tc>
                <a:extLst>
                  <a:ext uri="{0D108BD9-81ED-4DB2-BD59-A6C34878D82A}">
                    <a16:rowId xmlns:a16="http://schemas.microsoft.com/office/drawing/2014/main" val="10001"/>
                  </a:ext>
                </a:extLst>
              </a:tr>
              <a:tr h="422606">
                <a:tc>
                  <a:txBody>
                    <a:bodyPr/>
                    <a:lstStyle/>
                    <a:p>
                      <a:r>
                        <a:rPr lang="fr-CA" dirty="0"/>
                        <a:t>Intérêts,</a:t>
                      </a:r>
                      <a:r>
                        <a:rPr lang="fr-CA" baseline="0" dirty="0"/>
                        <a:t> dividendes, plus value en 2019 (rendement réel)</a:t>
                      </a:r>
                      <a:endParaRPr lang="fr-CA" dirty="0"/>
                    </a:p>
                  </a:txBody>
                  <a:tcPr/>
                </a:tc>
                <a:tc>
                  <a:txBody>
                    <a:bodyPr/>
                    <a:lstStyle/>
                    <a:p>
                      <a:pPr algn="r"/>
                      <a:r>
                        <a:rPr lang="fr-CA" dirty="0"/>
                        <a:t>50 000</a:t>
                      </a:r>
                    </a:p>
                  </a:txBody>
                  <a:tcPr/>
                </a:tc>
                <a:extLst>
                  <a:ext uri="{0D108BD9-81ED-4DB2-BD59-A6C34878D82A}">
                    <a16:rowId xmlns:a16="http://schemas.microsoft.com/office/drawing/2014/main" val="10002"/>
                  </a:ext>
                </a:extLst>
              </a:tr>
              <a:tr h="422606">
                <a:tc>
                  <a:txBody>
                    <a:bodyPr/>
                    <a:lstStyle/>
                    <a:p>
                      <a:r>
                        <a:rPr lang="fr-CA" dirty="0"/>
                        <a:t>Rendement</a:t>
                      </a:r>
                      <a:r>
                        <a:rPr lang="fr-CA" baseline="0" dirty="0"/>
                        <a:t> « espéré »</a:t>
                      </a:r>
                      <a:endParaRPr lang="fr-CA" dirty="0"/>
                    </a:p>
                  </a:txBody>
                  <a:tcPr/>
                </a:tc>
                <a:tc>
                  <a:txBody>
                    <a:bodyPr/>
                    <a:lstStyle/>
                    <a:p>
                      <a:pPr algn="r"/>
                      <a:r>
                        <a:rPr lang="fr-CA" dirty="0"/>
                        <a:t>8</a:t>
                      </a:r>
                      <a:r>
                        <a:rPr lang="fr-CA" baseline="0" dirty="0"/>
                        <a:t> %</a:t>
                      </a:r>
                      <a:endParaRPr lang="fr-CA" dirty="0"/>
                    </a:p>
                  </a:txBody>
                  <a:tcPr/>
                </a:tc>
                <a:extLst>
                  <a:ext uri="{0D108BD9-81ED-4DB2-BD59-A6C34878D82A}">
                    <a16:rowId xmlns:a16="http://schemas.microsoft.com/office/drawing/2014/main" val="10003"/>
                  </a:ext>
                </a:extLst>
              </a:tr>
              <a:tr h="422606">
                <a:tc>
                  <a:txBody>
                    <a:bodyPr/>
                    <a:lstStyle/>
                    <a:p>
                      <a:r>
                        <a:rPr lang="fr-CA" dirty="0"/>
                        <a:t>Cotisations</a:t>
                      </a:r>
                      <a:r>
                        <a:rPr lang="fr-CA" baseline="0" dirty="0"/>
                        <a:t> de l’entreprise – échelonnées sur l’année</a:t>
                      </a:r>
                      <a:endParaRPr lang="fr-CA" dirty="0"/>
                    </a:p>
                  </a:txBody>
                  <a:tcPr/>
                </a:tc>
                <a:tc>
                  <a:txBody>
                    <a:bodyPr/>
                    <a:lstStyle/>
                    <a:p>
                      <a:pPr algn="r"/>
                      <a:r>
                        <a:rPr lang="fr-CA" dirty="0"/>
                        <a:t>25 000</a:t>
                      </a:r>
                    </a:p>
                  </a:txBody>
                  <a:tcPr/>
                </a:tc>
                <a:extLst>
                  <a:ext uri="{0D108BD9-81ED-4DB2-BD59-A6C34878D82A}">
                    <a16:rowId xmlns:a16="http://schemas.microsoft.com/office/drawing/2014/main" val="10004"/>
                  </a:ext>
                </a:extLst>
              </a:tr>
              <a:tr h="422606">
                <a:tc>
                  <a:txBody>
                    <a:bodyPr/>
                    <a:lstStyle/>
                    <a:p>
                      <a:r>
                        <a:rPr lang="fr-CA" dirty="0"/>
                        <a:t>Prestations versées – échelonnées sur l’année</a:t>
                      </a:r>
                    </a:p>
                  </a:txBody>
                  <a:tcPr/>
                </a:tc>
                <a:tc>
                  <a:txBody>
                    <a:bodyPr/>
                    <a:lstStyle/>
                    <a:p>
                      <a:pPr algn="r"/>
                      <a:r>
                        <a:rPr lang="fr-CA" dirty="0"/>
                        <a:t>20 000</a:t>
                      </a:r>
                    </a:p>
                  </a:txBody>
                  <a:tcPr/>
                </a:tc>
                <a:extLst>
                  <a:ext uri="{0D108BD9-81ED-4DB2-BD59-A6C34878D82A}">
                    <a16:rowId xmlns:a16="http://schemas.microsoft.com/office/drawing/2014/main" val="10005"/>
                  </a:ext>
                </a:extLst>
              </a:tr>
              <a:tr h="422606">
                <a:tc>
                  <a:txBody>
                    <a:bodyPr/>
                    <a:lstStyle/>
                    <a:p>
                      <a:r>
                        <a:rPr lang="fr-CA" dirty="0"/>
                        <a:t>Juste valeur,</a:t>
                      </a:r>
                      <a:r>
                        <a:rPr lang="fr-CA" baseline="0" dirty="0"/>
                        <a:t> au 31 décembre 2019</a:t>
                      </a:r>
                      <a:endParaRPr lang="fr-CA" dirty="0"/>
                    </a:p>
                  </a:txBody>
                  <a:tcPr/>
                </a:tc>
                <a:tc>
                  <a:txBody>
                    <a:bodyPr/>
                    <a:lstStyle/>
                    <a:p>
                      <a:pPr algn="r"/>
                      <a:r>
                        <a:rPr lang="fr-CA" dirty="0"/>
                        <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851170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a:t>
            </a:r>
            <a:r>
              <a:rPr lang="fr-CA" sz="3600" dirty="0">
                <a:solidFill>
                  <a:srgbClr val="FF0000"/>
                </a:solidFill>
              </a:rPr>
              <a:t>cotisations</a:t>
            </a:r>
            <a:r>
              <a:rPr lang="fr-CA" sz="3600" dirty="0"/>
              <a:t> définies – rendement sur actif</a:t>
            </a:r>
          </a:p>
        </p:txBody>
      </p:sp>
      <p:sp>
        <p:nvSpPr>
          <p:cNvPr id="3" name="Espace réservé du contenu 2"/>
          <p:cNvSpPr>
            <a:spLocks noGrp="1"/>
          </p:cNvSpPr>
          <p:nvPr>
            <p:ph idx="1"/>
          </p:nvPr>
        </p:nvSpPr>
        <p:spPr/>
        <p:txBody>
          <a:bodyPr>
            <a:normAutofit lnSpcReduction="10000"/>
          </a:bodyPr>
          <a:lstStyle/>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r>
              <a:rPr lang="fr-CA" dirty="0"/>
              <a:t>Quel est le traitement comptable pour ABC?</a:t>
            </a:r>
          </a:p>
          <a:p>
            <a:pPr marL="890588" indent="-890588">
              <a:buNone/>
            </a:pPr>
            <a:r>
              <a:rPr lang="fr-CA" dirty="0"/>
              <a:t>	uniquement montant de la cotisation en charge (si pleinement capitalisé)</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63</a:t>
            </a:fld>
            <a:endParaRPr lang="fr-CA"/>
          </a:p>
        </p:txBody>
      </p:sp>
      <p:graphicFrame>
        <p:nvGraphicFramePr>
          <p:cNvPr id="5" name="Tableau 4"/>
          <p:cNvGraphicFramePr>
            <a:graphicFrameLocks noGrp="1"/>
          </p:cNvGraphicFramePr>
          <p:nvPr/>
        </p:nvGraphicFramePr>
        <p:xfrm>
          <a:off x="995422" y="1405414"/>
          <a:ext cx="10358378" cy="2958242"/>
        </p:xfrm>
        <a:graphic>
          <a:graphicData uri="http://schemas.openxmlformats.org/drawingml/2006/table">
            <a:tbl>
              <a:tblPr firstRow="1" bandRow="1">
                <a:tableStyleId>{5C22544A-7EE6-4342-B048-85BDC9FD1C3A}</a:tableStyleId>
              </a:tblPr>
              <a:tblGrid>
                <a:gridCol w="9028254">
                  <a:extLst>
                    <a:ext uri="{9D8B030D-6E8A-4147-A177-3AD203B41FA5}">
                      <a16:colId xmlns:a16="http://schemas.microsoft.com/office/drawing/2014/main" val="20000"/>
                    </a:ext>
                  </a:extLst>
                </a:gridCol>
                <a:gridCol w="1330124">
                  <a:extLst>
                    <a:ext uri="{9D8B030D-6E8A-4147-A177-3AD203B41FA5}">
                      <a16:colId xmlns:a16="http://schemas.microsoft.com/office/drawing/2014/main" val="20001"/>
                    </a:ext>
                  </a:extLst>
                </a:gridCol>
              </a:tblGrid>
              <a:tr h="422606">
                <a:tc>
                  <a:txBody>
                    <a:bodyPr/>
                    <a:lstStyle/>
                    <a:p>
                      <a:r>
                        <a:rPr lang="fr-CA" dirty="0"/>
                        <a:t>Actifs d’un régime de retraite</a:t>
                      </a:r>
                    </a:p>
                  </a:txBody>
                  <a:tcPr/>
                </a:tc>
                <a:tc>
                  <a:txBody>
                    <a:bodyPr/>
                    <a:lstStyle/>
                    <a:p>
                      <a:endParaRPr lang="fr-CA"/>
                    </a:p>
                  </a:txBody>
                  <a:tcPr/>
                </a:tc>
                <a:extLst>
                  <a:ext uri="{0D108BD9-81ED-4DB2-BD59-A6C34878D82A}">
                    <a16:rowId xmlns:a16="http://schemas.microsoft.com/office/drawing/2014/main" val="10000"/>
                  </a:ext>
                </a:extLst>
              </a:tr>
              <a:tr h="422606">
                <a:tc>
                  <a:txBody>
                    <a:bodyPr/>
                    <a:lstStyle/>
                    <a:p>
                      <a:r>
                        <a:rPr lang="fr-CA" dirty="0"/>
                        <a:t>Juste valeur, au 1</a:t>
                      </a:r>
                      <a:r>
                        <a:rPr lang="fr-CA" baseline="30000" dirty="0"/>
                        <a:t>er</a:t>
                      </a:r>
                      <a:r>
                        <a:rPr lang="fr-CA" dirty="0"/>
                        <a:t> janvier 2019</a:t>
                      </a:r>
                    </a:p>
                  </a:txBody>
                  <a:tcPr/>
                </a:tc>
                <a:tc>
                  <a:txBody>
                    <a:bodyPr/>
                    <a:lstStyle/>
                    <a:p>
                      <a:pPr algn="r"/>
                      <a:r>
                        <a:rPr lang="fr-CA" dirty="0"/>
                        <a:t>500 000</a:t>
                      </a:r>
                    </a:p>
                  </a:txBody>
                  <a:tcPr/>
                </a:tc>
                <a:extLst>
                  <a:ext uri="{0D108BD9-81ED-4DB2-BD59-A6C34878D82A}">
                    <a16:rowId xmlns:a16="http://schemas.microsoft.com/office/drawing/2014/main" val="10001"/>
                  </a:ext>
                </a:extLst>
              </a:tr>
              <a:tr h="422606">
                <a:tc>
                  <a:txBody>
                    <a:bodyPr/>
                    <a:lstStyle/>
                    <a:p>
                      <a:r>
                        <a:rPr lang="fr-CA" dirty="0"/>
                        <a:t>Intérêts,</a:t>
                      </a:r>
                      <a:r>
                        <a:rPr lang="fr-CA" baseline="0" dirty="0"/>
                        <a:t> dividendes, plus value en 2019 (rendement réel)</a:t>
                      </a:r>
                      <a:endParaRPr lang="fr-CA" dirty="0"/>
                    </a:p>
                  </a:txBody>
                  <a:tcPr/>
                </a:tc>
                <a:tc>
                  <a:txBody>
                    <a:bodyPr/>
                    <a:lstStyle/>
                    <a:p>
                      <a:pPr algn="r"/>
                      <a:r>
                        <a:rPr lang="fr-CA" dirty="0"/>
                        <a:t>50 000</a:t>
                      </a:r>
                    </a:p>
                  </a:txBody>
                  <a:tcPr/>
                </a:tc>
                <a:extLst>
                  <a:ext uri="{0D108BD9-81ED-4DB2-BD59-A6C34878D82A}">
                    <a16:rowId xmlns:a16="http://schemas.microsoft.com/office/drawing/2014/main" val="10002"/>
                  </a:ext>
                </a:extLst>
              </a:tr>
              <a:tr h="422606">
                <a:tc>
                  <a:txBody>
                    <a:bodyPr/>
                    <a:lstStyle/>
                    <a:p>
                      <a:r>
                        <a:rPr lang="fr-CA" dirty="0"/>
                        <a:t>Rendement</a:t>
                      </a:r>
                      <a:r>
                        <a:rPr lang="fr-CA" baseline="0" dirty="0"/>
                        <a:t> « espéré »</a:t>
                      </a:r>
                      <a:endParaRPr lang="fr-CA" dirty="0"/>
                    </a:p>
                  </a:txBody>
                  <a:tcPr/>
                </a:tc>
                <a:tc>
                  <a:txBody>
                    <a:bodyPr/>
                    <a:lstStyle/>
                    <a:p>
                      <a:pPr algn="r"/>
                      <a:r>
                        <a:rPr lang="fr-CA" dirty="0"/>
                        <a:t>8</a:t>
                      </a:r>
                      <a:r>
                        <a:rPr lang="fr-CA" baseline="0" dirty="0"/>
                        <a:t> %</a:t>
                      </a:r>
                      <a:endParaRPr lang="fr-CA" dirty="0"/>
                    </a:p>
                  </a:txBody>
                  <a:tcPr/>
                </a:tc>
                <a:extLst>
                  <a:ext uri="{0D108BD9-81ED-4DB2-BD59-A6C34878D82A}">
                    <a16:rowId xmlns:a16="http://schemas.microsoft.com/office/drawing/2014/main" val="10003"/>
                  </a:ext>
                </a:extLst>
              </a:tr>
              <a:tr h="422606">
                <a:tc>
                  <a:txBody>
                    <a:bodyPr/>
                    <a:lstStyle/>
                    <a:p>
                      <a:r>
                        <a:rPr lang="fr-CA" dirty="0"/>
                        <a:t>Cotisations</a:t>
                      </a:r>
                      <a:r>
                        <a:rPr lang="fr-CA" baseline="0" dirty="0"/>
                        <a:t> de l’entreprise – échelonnées sur l’année</a:t>
                      </a:r>
                      <a:endParaRPr lang="fr-CA" dirty="0"/>
                    </a:p>
                  </a:txBody>
                  <a:tcPr/>
                </a:tc>
                <a:tc>
                  <a:txBody>
                    <a:bodyPr/>
                    <a:lstStyle/>
                    <a:p>
                      <a:pPr algn="r"/>
                      <a:r>
                        <a:rPr lang="fr-CA" dirty="0"/>
                        <a:t>25 000</a:t>
                      </a:r>
                    </a:p>
                  </a:txBody>
                  <a:tcPr/>
                </a:tc>
                <a:extLst>
                  <a:ext uri="{0D108BD9-81ED-4DB2-BD59-A6C34878D82A}">
                    <a16:rowId xmlns:a16="http://schemas.microsoft.com/office/drawing/2014/main" val="10004"/>
                  </a:ext>
                </a:extLst>
              </a:tr>
              <a:tr h="422606">
                <a:tc>
                  <a:txBody>
                    <a:bodyPr/>
                    <a:lstStyle/>
                    <a:p>
                      <a:r>
                        <a:rPr lang="fr-CA" dirty="0"/>
                        <a:t>Prestations versées – échelonnées sur l’année</a:t>
                      </a:r>
                    </a:p>
                  </a:txBody>
                  <a:tcPr/>
                </a:tc>
                <a:tc>
                  <a:txBody>
                    <a:bodyPr/>
                    <a:lstStyle/>
                    <a:p>
                      <a:pPr algn="r"/>
                      <a:r>
                        <a:rPr lang="fr-CA" dirty="0"/>
                        <a:t>20 000</a:t>
                      </a:r>
                    </a:p>
                  </a:txBody>
                  <a:tcPr/>
                </a:tc>
                <a:extLst>
                  <a:ext uri="{0D108BD9-81ED-4DB2-BD59-A6C34878D82A}">
                    <a16:rowId xmlns:a16="http://schemas.microsoft.com/office/drawing/2014/main" val="10005"/>
                  </a:ext>
                </a:extLst>
              </a:tr>
              <a:tr h="422606">
                <a:tc>
                  <a:txBody>
                    <a:bodyPr/>
                    <a:lstStyle/>
                    <a:p>
                      <a:r>
                        <a:rPr lang="fr-CA" dirty="0"/>
                        <a:t>Juste valeur,</a:t>
                      </a:r>
                      <a:r>
                        <a:rPr lang="fr-CA" baseline="0" dirty="0"/>
                        <a:t> au 31 décembre 2019</a:t>
                      </a:r>
                      <a:endParaRPr lang="fr-CA" dirty="0"/>
                    </a:p>
                  </a:txBody>
                  <a:tcPr/>
                </a:tc>
                <a:tc>
                  <a:txBody>
                    <a:bodyPr/>
                    <a:lstStyle/>
                    <a:p>
                      <a:pPr algn="r"/>
                      <a:r>
                        <a:rPr lang="fr-CA" dirty="0"/>
                        <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02074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a:t>
            </a:r>
            <a:r>
              <a:rPr lang="fr-CA" sz="3600" dirty="0">
                <a:solidFill>
                  <a:srgbClr val="FF0000"/>
                </a:solidFill>
              </a:rPr>
              <a:t>prestations</a:t>
            </a:r>
            <a:r>
              <a:rPr lang="fr-CA" sz="3600" dirty="0"/>
              <a:t> définies – rendement sur actif</a:t>
            </a:r>
          </a:p>
        </p:txBody>
      </p:sp>
      <p:sp>
        <p:nvSpPr>
          <p:cNvPr id="3" name="Espace réservé du contenu 2"/>
          <p:cNvSpPr>
            <a:spLocks noGrp="1"/>
          </p:cNvSpPr>
          <p:nvPr>
            <p:ph idx="1"/>
          </p:nvPr>
        </p:nvSpPr>
        <p:spPr/>
        <p:txBody>
          <a:bodyPr>
            <a:normAutofit fontScale="92500" lnSpcReduction="20000"/>
          </a:bodyPr>
          <a:lstStyle/>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r>
              <a:rPr lang="fr-CA" dirty="0"/>
              <a:t>Quel est le traitement comptable pour ABC?</a:t>
            </a:r>
          </a:p>
          <a:p>
            <a:pPr marL="0" indent="0">
              <a:buNone/>
            </a:pPr>
            <a:r>
              <a:rPr lang="fr-CA" dirty="0"/>
              <a:t>	(RN, AERG)</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64</a:t>
            </a:fld>
            <a:endParaRPr lang="fr-CA"/>
          </a:p>
        </p:txBody>
      </p:sp>
      <p:graphicFrame>
        <p:nvGraphicFramePr>
          <p:cNvPr id="5" name="Tableau 4"/>
          <p:cNvGraphicFramePr>
            <a:graphicFrameLocks noGrp="1"/>
          </p:cNvGraphicFramePr>
          <p:nvPr/>
        </p:nvGraphicFramePr>
        <p:xfrm>
          <a:off x="995422" y="1405414"/>
          <a:ext cx="10358378" cy="2958242"/>
        </p:xfrm>
        <a:graphic>
          <a:graphicData uri="http://schemas.openxmlformats.org/drawingml/2006/table">
            <a:tbl>
              <a:tblPr firstRow="1" bandRow="1">
                <a:tableStyleId>{5C22544A-7EE6-4342-B048-85BDC9FD1C3A}</a:tableStyleId>
              </a:tblPr>
              <a:tblGrid>
                <a:gridCol w="9028254">
                  <a:extLst>
                    <a:ext uri="{9D8B030D-6E8A-4147-A177-3AD203B41FA5}">
                      <a16:colId xmlns:a16="http://schemas.microsoft.com/office/drawing/2014/main" val="20000"/>
                    </a:ext>
                  </a:extLst>
                </a:gridCol>
                <a:gridCol w="1330124">
                  <a:extLst>
                    <a:ext uri="{9D8B030D-6E8A-4147-A177-3AD203B41FA5}">
                      <a16:colId xmlns:a16="http://schemas.microsoft.com/office/drawing/2014/main" val="20001"/>
                    </a:ext>
                  </a:extLst>
                </a:gridCol>
              </a:tblGrid>
              <a:tr h="422606">
                <a:tc>
                  <a:txBody>
                    <a:bodyPr/>
                    <a:lstStyle/>
                    <a:p>
                      <a:r>
                        <a:rPr lang="fr-CA" dirty="0"/>
                        <a:t>Actifs d’un régime de retraite</a:t>
                      </a:r>
                    </a:p>
                  </a:txBody>
                  <a:tcPr/>
                </a:tc>
                <a:tc>
                  <a:txBody>
                    <a:bodyPr/>
                    <a:lstStyle/>
                    <a:p>
                      <a:endParaRPr lang="fr-CA"/>
                    </a:p>
                  </a:txBody>
                  <a:tcPr/>
                </a:tc>
                <a:extLst>
                  <a:ext uri="{0D108BD9-81ED-4DB2-BD59-A6C34878D82A}">
                    <a16:rowId xmlns:a16="http://schemas.microsoft.com/office/drawing/2014/main" val="10000"/>
                  </a:ext>
                </a:extLst>
              </a:tr>
              <a:tr h="422606">
                <a:tc>
                  <a:txBody>
                    <a:bodyPr/>
                    <a:lstStyle/>
                    <a:p>
                      <a:r>
                        <a:rPr lang="fr-CA" dirty="0"/>
                        <a:t>Juste valeur, au 1</a:t>
                      </a:r>
                      <a:r>
                        <a:rPr lang="fr-CA" baseline="30000" dirty="0"/>
                        <a:t>er</a:t>
                      </a:r>
                      <a:r>
                        <a:rPr lang="fr-CA" dirty="0"/>
                        <a:t> janvier 2019</a:t>
                      </a:r>
                    </a:p>
                  </a:txBody>
                  <a:tcPr/>
                </a:tc>
                <a:tc>
                  <a:txBody>
                    <a:bodyPr/>
                    <a:lstStyle/>
                    <a:p>
                      <a:pPr algn="r"/>
                      <a:r>
                        <a:rPr lang="fr-CA" dirty="0"/>
                        <a:t>500 000</a:t>
                      </a:r>
                    </a:p>
                  </a:txBody>
                  <a:tcPr/>
                </a:tc>
                <a:extLst>
                  <a:ext uri="{0D108BD9-81ED-4DB2-BD59-A6C34878D82A}">
                    <a16:rowId xmlns:a16="http://schemas.microsoft.com/office/drawing/2014/main" val="10001"/>
                  </a:ext>
                </a:extLst>
              </a:tr>
              <a:tr h="422606">
                <a:tc>
                  <a:txBody>
                    <a:bodyPr/>
                    <a:lstStyle/>
                    <a:p>
                      <a:r>
                        <a:rPr lang="fr-CA" dirty="0"/>
                        <a:t>Intérêts,</a:t>
                      </a:r>
                      <a:r>
                        <a:rPr lang="fr-CA" baseline="0" dirty="0"/>
                        <a:t> dividendes, plus value en 2019 (rendement réel)</a:t>
                      </a:r>
                      <a:endParaRPr lang="fr-CA" dirty="0"/>
                    </a:p>
                  </a:txBody>
                  <a:tcPr/>
                </a:tc>
                <a:tc>
                  <a:txBody>
                    <a:bodyPr/>
                    <a:lstStyle/>
                    <a:p>
                      <a:pPr algn="r"/>
                      <a:r>
                        <a:rPr lang="fr-CA" dirty="0"/>
                        <a:t>50 000</a:t>
                      </a:r>
                    </a:p>
                  </a:txBody>
                  <a:tcPr/>
                </a:tc>
                <a:extLst>
                  <a:ext uri="{0D108BD9-81ED-4DB2-BD59-A6C34878D82A}">
                    <a16:rowId xmlns:a16="http://schemas.microsoft.com/office/drawing/2014/main" val="10002"/>
                  </a:ext>
                </a:extLst>
              </a:tr>
              <a:tr h="422606">
                <a:tc>
                  <a:txBody>
                    <a:bodyPr/>
                    <a:lstStyle/>
                    <a:p>
                      <a:r>
                        <a:rPr lang="fr-CA" dirty="0"/>
                        <a:t>Rendement</a:t>
                      </a:r>
                      <a:r>
                        <a:rPr lang="fr-CA" baseline="0" dirty="0"/>
                        <a:t> selon l’hypothèse actuarielle</a:t>
                      </a:r>
                      <a:endParaRPr lang="fr-CA" dirty="0"/>
                    </a:p>
                  </a:txBody>
                  <a:tcPr/>
                </a:tc>
                <a:tc>
                  <a:txBody>
                    <a:bodyPr/>
                    <a:lstStyle/>
                    <a:p>
                      <a:pPr algn="r"/>
                      <a:r>
                        <a:rPr lang="fr-CA" dirty="0"/>
                        <a:t>8</a:t>
                      </a:r>
                      <a:r>
                        <a:rPr lang="fr-CA" baseline="0" dirty="0"/>
                        <a:t> %</a:t>
                      </a:r>
                      <a:endParaRPr lang="fr-CA" dirty="0"/>
                    </a:p>
                  </a:txBody>
                  <a:tcPr/>
                </a:tc>
                <a:extLst>
                  <a:ext uri="{0D108BD9-81ED-4DB2-BD59-A6C34878D82A}">
                    <a16:rowId xmlns:a16="http://schemas.microsoft.com/office/drawing/2014/main" val="10003"/>
                  </a:ext>
                </a:extLst>
              </a:tr>
              <a:tr h="422606">
                <a:tc>
                  <a:txBody>
                    <a:bodyPr/>
                    <a:lstStyle/>
                    <a:p>
                      <a:r>
                        <a:rPr lang="fr-CA" dirty="0"/>
                        <a:t>Cotisations</a:t>
                      </a:r>
                      <a:r>
                        <a:rPr lang="fr-CA" baseline="0" dirty="0"/>
                        <a:t> de l’entreprise</a:t>
                      </a:r>
                      <a:r>
                        <a:rPr lang="fr-CA" dirty="0"/>
                        <a:t> – échelonnées sur l’année</a:t>
                      </a:r>
                    </a:p>
                  </a:txBody>
                  <a:tcPr/>
                </a:tc>
                <a:tc>
                  <a:txBody>
                    <a:bodyPr/>
                    <a:lstStyle/>
                    <a:p>
                      <a:pPr algn="r"/>
                      <a:r>
                        <a:rPr lang="fr-CA" dirty="0"/>
                        <a:t>25 000</a:t>
                      </a:r>
                    </a:p>
                  </a:txBody>
                  <a:tcPr/>
                </a:tc>
                <a:extLst>
                  <a:ext uri="{0D108BD9-81ED-4DB2-BD59-A6C34878D82A}">
                    <a16:rowId xmlns:a16="http://schemas.microsoft.com/office/drawing/2014/main" val="10004"/>
                  </a:ext>
                </a:extLst>
              </a:tr>
              <a:tr h="422606">
                <a:tc>
                  <a:txBody>
                    <a:bodyPr/>
                    <a:lstStyle/>
                    <a:p>
                      <a:r>
                        <a:rPr lang="fr-CA" dirty="0"/>
                        <a:t>Prestations versées – échelonnées sur l’année</a:t>
                      </a:r>
                    </a:p>
                  </a:txBody>
                  <a:tcPr/>
                </a:tc>
                <a:tc>
                  <a:txBody>
                    <a:bodyPr/>
                    <a:lstStyle/>
                    <a:p>
                      <a:pPr algn="r"/>
                      <a:r>
                        <a:rPr lang="fr-CA" dirty="0"/>
                        <a:t>20 000</a:t>
                      </a:r>
                    </a:p>
                  </a:txBody>
                  <a:tcPr/>
                </a:tc>
                <a:extLst>
                  <a:ext uri="{0D108BD9-81ED-4DB2-BD59-A6C34878D82A}">
                    <a16:rowId xmlns:a16="http://schemas.microsoft.com/office/drawing/2014/main" val="10005"/>
                  </a:ext>
                </a:extLst>
              </a:tr>
              <a:tr h="422606">
                <a:tc>
                  <a:txBody>
                    <a:bodyPr/>
                    <a:lstStyle/>
                    <a:p>
                      <a:r>
                        <a:rPr lang="fr-CA" dirty="0"/>
                        <a:t>Juste valeur,</a:t>
                      </a:r>
                      <a:r>
                        <a:rPr lang="fr-CA" baseline="0" dirty="0"/>
                        <a:t> au 31 décembre 2019</a:t>
                      </a:r>
                      <a:endParaRPr lang="fr-CA" dirty="0"/>
                    </a:p>
                  </a:txBody>
                  <a:tcPr/>
                </a:tc>
                <a:tc>
                  <a:txBody>
                    <a:bodyPr/>
                    <a:lstStyle/>
                    <a:p>
                      <a:pPr algn="r"/>
                      <a:r>
                        <a:rPr lang="fr-CA" dirty="0"/>
                        <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047657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a:t>
            </a:r>
            <a:r>
              <a:rPr lang="fr-CA" sz="3600" dirty="0">
                <a:solidFill>
                  <a:srgbClr val="FF0000"/>
                </a:solidFill>
              </a:rPr>
              <a:t>prestations</a:t>
            </a:r>
            <a:r>
              <a:rPr lang="fr-CA" sz="3600" dirty="0"/>
              <a:t> définies – rendement sur actif</a:t>
            </a:r>
          </a:p>
        </p:txBody>
      </p:sp>
      <p:sp>
        <p:nvSpPr>
          <p:cNvPr id="3" name="Espace réservé du contenu 2"/>
          <p:cNvSpPr>
            <a:spLocks noGrp="1"/>
          </p:cNvSpPr>
          <p:nvPr>
            <p:ph idx="1"/>
          </p:nvPr>
        </p:nvSpPr>
        <p:spPr/>
        <p:txBody>
          <a:bodyPr>
            <a:normAutofit/>
          </a:bodyPr>
          <a:lstStyle/>
          <a:p>
            <a:pPr marL="0" indent="0">
              <a:buNone/>
            </a:pPr>
            <a:r>
              <a:rPr lang="fr-CA" dirty="0"/>
              <a:t>Quel est le traitement comptable pour ABC?</a:t>
            </a:r>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65</a:t>
            </a:fld>
            <a:endParaRPr lang="fr-CA"/>
          </a:p>
        </p:txBody>
      </p:sp>
      <p:graphicFrame>
        <p:nvGraphicFramePr>
          <p:cNvPr id="6" name="Objet 5"/>
          <p:cNvGraphicFramePr>
            <a:graphicFrameLocks noChangeAspect="1"/>
          </p:cNvGraphicFramePr>
          <p:nvPr/>
        </p:nvGraphicFramePr>
        <p:xfrm>
          <a:off x="1095375" y="2457250"/>
          <a:ext cx="8372716" cy="3365034"/>
        </p:xfrm>
        <a:graphic>
          <a:graphicData uri="http://schemas.openxmlformats.org/presentationml/2006/ole">
            <mc:AlternateContent xmlns:mc="http://schemas.openxmlformats.org/markup-compatibility/2006">
              <mc:Choice xmlns:v="urn:schemas-microsoft-com:vml" Requires="v">
                <p:oleObj spid="_x0000_s6148" name="Feuille de calcul" r:id="rId3" imgW="5000594" imgH="2009611" progId="Excel.Sheet.12">
                  <p:embed/>
                </p:oleObj>
              </mc:Choice>
              <mc:Fallback>
                <p:oleObj name="Feuille de calcul" r:id="rId3" imgW="5000594" imgH="2009611" progId="Excel.Sheet.12">
                  <p:embed/>
                  <p:pic>
                    <p:nvPicPr>
                      <p:cNvPr id="6" name="Objet 5"/>
                      <p:cNvPicPr/>
                      <p:nvPr/>
                    </p:nvPicPr>
                    <p:blipFill>
                      <a:blip r:embed="rId4"/>
                      <a:stretch>
                        <a:fillRect/>
                      </a:stretch>
                    </p:blipFill>
                    <p:spPr>
                      <a:xfrm>
                        <a:off x="1095375" y="2457250"/>
                        <a:ext cx="8372716" cy="3365034"/>
                      </a:xfrm>
                      <a:prstGeom prst="rect">
                        <a:avLst/>
                      </a:prstGeom>
                    </p:spPr>
                  </p:pic>
                </p:oleObj>
              </mc:Fallback>
            </mc:AlternateContent>
          </a:graphicData>
        </a:graphic>
      </p:graphicFrame>
      <p:sp>
        <p:nvSpPr>
          <p:cNvPr id="5" name="ZoneTexte 4">
            <a:extLst>
              <a:ext uri="{FF2B5EF4-FFF2-40B4-BE49-F238E27FC236}">
                <a16:creationId xmlns:a16="http://schemas.microsoft.com/office/drawing/2014/main" id="{BED216DA-58F8-4DC5-B1A2-D55BF65A4729}"/>
              </a:ext>
            </a:extLst>
          </p:cNvPr>
          <p:cNvSpPr txBox="1"/>
          <p:nvPr/>
        </p:nvSpPr>
        <p:spPr>
          <a:xfrm>
            <a:off x="9596846" y="2481943"/>
            <a:ext cx="2211977" cy="369332"/>
          </a:xfrm>
          <a:prstGeom prst="rect">
            <a:avLst/>
          </a:prstGeom>
          <a:noFill/>
        </p:spPr>
        <p:txBody>
          <a:bodyPr wrap="square" rtlCol="0">
            <a:spAutoFit/>
          </a:bodyPr>
          <a:lstStyle/>
          <a:p>
            <a:r>
              <a:rPr lang="fr-CA" dirty="0"/>
              <a:t>500 000 * 8%</a:t>
            </a:r>
            <a:endParaRPr lang="fr-FR" dirty="0"/>
          </a:p>
        </p:txBody>
      </p:sp>
      <p:sp>
        <p:nvSpPr>
          <p:cNvPr id="10" name="ZoneTexte 9">
            <a:extLst>
              <a:ext uri="{FF2B5EF4-FFF2-40B4-BE49-F238E27FC236}">
                <a16:creationId xmlns:a16="http://schemas.microsoft.com/office/drawing/2014/main" id="{4B0583EA-3E56-4D20-90A6-974E6B2753C2}"/>
              </a:ext>
            </a:extLst>
          </p:cNvPr>
          <p:cNvSpPr txBox="1"/>
          <p:nvPr/>
        </p:nvSpPr>
        <p:spPr>
          <a:xfrm>
            <a:off x="9725025" y="2851275"/>
            <a:ext cx="2083797" cy="369332"/>
          </a:xfrm>
          <a:prstGeom prst="rect">
            <a:avLst/>
          </a:prstGeom>
          <a:noFill/>
        </p:spPr>
        <p:txBody>
          <a:bodyPr wrap="square" rtlCol="0">
            <a:spAutoFit/>
          </a:bodyPr>
          <a:lstStyle/>
          <a:p>
            <a:r>
              <a:rPr lang="fr-CA" dirty="0"/>
              <a:t>25 000 * 50% * 8%</a:t>
            </a:r>
            <a:endParaRPr lang="fr-FR" dirty="0"/>
          </a:p>
        </p:txBody>
      </p:sp>
      <p:sp>
        <p:nvSpPr>
          <p:cNvPr id="11" name="ZoneTexte 10">
            <a:extLst>
              <a:ext uri="{FF2B5EF4-FFF2-40B4-BE49-F238E27FC236}">
                <a16:creationId xmlns:a16="http://schemas.microsoft.com/office/drawing/2014/main" id="{3D40598E-F705-4396-BAB3-137B2C7CE12F}"/>
              </a:ext>
            </a:extLst>
          </p:cNvPr>
          <p:cNvSpPr txBox="1"/>
          <p:nvPr/>
        </p:nvSpPr>
        <p:spPr>
          <a:xfrm>
            <a:off x="9725025" y="3458007"/>
            <a:ext cx="2083798" cy="369332"/>
          </a:xfrm>
          <a:prstGeom prst="rect">
            <a:avLst/>
          </a:prstGeom>
          <a:noFill/>
        </p:spPr>
        <p:txBody>
          <a:bodyPr wrap="square" rtlCol="0">
            <a:spAutoFit/>
          </a:bodyPr>
          <a:lstStyle/>
          <a:p>
            <a:r>
              <a:rPr lang="fr-CA" dirty="0"/>
              <a:t>-20 000 * 50% * 8%</a:t>
            </a:r>
            <a:endParaRPr lang="fr-FR" dirty="0"/>
          </a:p>
        </p:txBody>
      </p:sp>
    </p:spTree>
    <p:extLst>
      <p:ext uri="{BB962C8B-B14F-4D97-AF65-F5344CB8AC3E}">
        <p14:creationId xmlns:p14="http://schemas.microsoft.com/office/powerpoint/2010/main" val="3262678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prestations définies – solde de l’obligation</a:t>
            </a:r>
          </a:p>
        </p:txBody>
      </p:sp>
      <p:sp>
        <p:nvSpPr>
          <p:cNvPr id="3" name="Espace réservé du contenu 2"/>
          <p:cNvSpPr>
            <a:spLocks noGrp="1"/>
          </p:cNvSpPr>
          <p:nvPr>
            <p:ph idx="1"/>
          </p:nvPr>
        </p:nvSpPr>
        <p:spPr/>
        <p:txBody>
          <a:bodyPr>
            <a:normAutofit/>
          </a:bodyPr>
          <a:lstStyle/>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r>
              <a:rPr lang="fr-CA" dirty="0"/>
              <a:t>Quel est le solde de l’obligation au 31 décembre 2019?</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66</a:t>
            </a:fld>
            <a:endParaRPr lang="fr-CA"/>
          </a:p>
        </p:txBody>
      </p:sp>
      <p:graphicFrame>
        <p:nvGraphicFramePr>
          <p:cNvPr id="5" name="Tableau 4"/>
          <p:cNvGraphicFramePr>
            <a:graphicFrameLocks noGrp="1"/>
          </p:cNvGraphicFramePr>
          <p:nvPr/>
        </p:nvGraphicFramePr>
        <p:xfrm>
          <a:off x="995422" y="1405414"/>
          <a:ext cx="10358378" cy="2844550"/>
        </p:xfrm>
        <a:graphic>
          <a:graphicData uri="http://schemas.openxmlformats.org/drawingml/2006/table">
            <a:tbl>
              <a:tblPr firstRow="1" bandRow="1">
                <a:tableStyleId>{5C22544A-7EE6-4342-B048-85BDC9FD1C3A}</a:tableStyleId>
              </a:tblPr>
              <a:tblGrid>
                <a:gridCol w="9028254">
                  <a:extLst>
                    <a:ext uri="{9D8B030D-6E8A-4147-A177-3AD203B41FA5}">
                      <a16:colId xmlns:a16="http://schemas.microsoft.com/office/drawing/2014/main" val="20000"/>
                    </a:ext>
                  </a:extLst>
                </a:gridCol>
                <a:gridCol w="1330124">
                  <a:extLst>
                    <a:ext uri="{9D8B030D-6E8A-4147-A177-3AD203B41FA5}">
                      <a16:colId xmlns:a16="http://schemas.microsoft.com/office/drawing/2014/main" val="20001"/>
                    </a:ext>
                  </a:extLst>
                </a:gridCol>
              </a:tblGrid>
              <a:tr h="422606">
                <a:tc>
                  <a:txBody>
                    <a:bodyPr/>
                    <a:lstStyle/>
                    <a:p>
                      <a:r>
                        <a:rPr lang="fr-CA" dirty="0"/>
                        <a:t>Obligation</a:t>
                      </a:r>
                    </a:p>
                  </a:txBody>
                  <a:tcPr/>
                </a:tc>
                <a:tc>
                  <a:txBody>
                    <a:bodyPr/>
                    <a:lstStyle/>
                    <a:p>
                      <a:endParaRPr lang="fr-CA"/>
                    </a:p>
                  </a:txBody>
                  <a:tcPr/>
                </a:tc>
                <a:extLst>
                  <a:ext uri="{0D108BD9-81ED-4DB2-BD59-A6C34878D82A}">
                    <a16:rowId xmlns:a16="http://schemas.microsoft.com/office/drawing/2014/main" val="10000"/>
                  </a:ext>
                </a:extLst>
              </a:tr>
              <a:tr h="422606">
                <a:tc>
                  <a:txBody>
                    <a:bodyPr/>
                    <a:lstStyle/>
                    <a:p>
                      <a:r>
                        <a:rPr lang="fr-CA" dirty="0"/>
                        <a:t>Solde de l’obligation, au 1</a:t>
                      </a:r>
                      <a:r>
                        <a:rPr lang="fr-CA" baseline="30000" dirty="0"/>
                        <a:t>er</a:t>
                      </a:r>
                      <a:r>
                        <a:rPr lang="fr-CA" dirty="0"/>
                        <a:t> janvier 2019</a:t>
                      </a:r>
                    </a:p>
                  </a:txBody>
                  <a:tcPr/>
                </a:tc>
                <a:tc>
                  <a:txBody>
                    <a:bodyPr/>
                    <a:lstStyle/>
                    <a:p>
                      <a:pPr algn="r"/>
                      <a:r>
                        <a:rPr lang="fr-CA" dirty="0"/>
                        <a:t>500 000</a:t>
                      </a:r>
                    </a:p>
                  </a:txBody>
                  <a:tcPr/>
                </a:tc>
                <a:extLst>
                  <a:ext uri="{0D108BD9-81ED-4DB2-BD59-A6C34878D82A}">
                    <a16:rowId xmlns:a16="http://schemas.microsoft.com/office/drawing/2014/main" val="10001"/>
                  </a:ext>
                </a:extLst>
              </a:tr>
              <a:tr h="422606">
                <a:tc>
                  <a:txBody>
                    <a:bodyPr/>
                    <a:lstStyle/>
                    <a:p>
                      <a:r>
                        <a:rPr lang="fr-CA" dirty="0"/>
                        <a:t>Coût</a:t>
                      </a:r>
                      <a:r>
                        <a:rPr lang="fr-CA" baseline="0" dirty="0"/>
                        <a:t> des services rendus en 2019</a:t>
                      </a:r>
                      <a:endParaRPr lang="fr-CA" dirty="0"/>
                    </a:p>
                  </a:txBody>
                  <a:tcPr/>
                </a:tc>
                <a:tc>
                  <a:txBody>
                    <a:bodyPr/>
                    <a:lstStyle/>
                    <a:p>
                      <a:pPr algn="r"/>
                      <a:r>
                        <a:rPr lang="fr-CA" dirty="0"/>
                        <a:t>50 000</a:t>
                      </a:r>
                    </a:p>
                  </a:txBody>
                  <a:tcPr/>
                </a:tc>
                <a:extLst>
                  <a:ext uri="{0D108BD9-81ED-4DB2-BD59-A6C34878D82A}">
                    <a16:rowId xmlns:a16="http://schemas.microsoft.com/office/drawing/2014/main" val="10002"/>
                  </a:ext>
                </a:extLst>
              </a:tr>
              <a:tr h="422606">
                <a:tc>
                  <a:txBody>
                    <a:bodyPr/>
                    <a:lstStyle/>
                    <a:p>
                      <a:r>
                        <a:rPr lang="fr-CA" dirty="0"/>
                        <a:t>Cotisations</a:t>
                      </a:r>
                      <a:r>
                        <a:rPr lang="fr-CA" baseline="0" dirty="0"/>
                        <a:t> de l’entreprise</a:t>
                      </a:r>
                      <a:r>
                        <a:rPr lang="fr-CA" dirty="0"/>
                        <a:t> – échelonnées sur l’année (régime non contributif par les employés)</a:t>
                      </a:r>
                    </a:p>
                  </a:txBody>
                  <a:tcPr/>
                </a:tc>
                <a:tc>
                  <a:txBody>
                    <a:bodyPr/>
                    <a:lstStyle/>
                    <a:p>
                      <a:pPr algn="r"/>
                      <a:r>
                        <a:rPr lang="fr-CA" dirty="0"/>
                        <a:t>25 000</a:t>
                      </a:r>
                    </a:p>
                  </a:txBody>
                  <a:tcPr/>
                </a:tc>
                <a:extLst>
                  <a:ext uri="{0D108BD9-81ED-4DB2-BD59-A6C34878D82A}">
                    <a16:rowId xmlns:a16="http://schemas.microsoft.com/office/drawing/2014/main" val="10003"/>
                  </a:ext>
                </a:extLst>
              </a:tr>
              <a:tr h="422606">
                <a:tc>
                  <a:txBody>
                    <a:bodyPr/>
                    <a:lstStyle/>
                    <a:p>
                      <a:r>
                        <a:rPr lang="fr-CA" dirty="0"/>
                        <a:t>Prestations versées – échelonnées sur l’année</a:t>
                      </a:r>
                    </a:p>
                  </a:txBody>
                  <a:tcPr/>
                </a:tc>
                <a:tc>
                  <a:txBody>
                    <a:bodyPr/>
                    <a:lstStyle/>
                    <a:p>
                      <a:pPr algn="r"/>
                      <a:r>
                        <a:rPr lang="fr-CA" dirty="0"/>
                        <a:t>20 000</a:t>
                      </a:r>
                    </a:p>
                  </a:txBody>
                  <a:tcPr/>
                </a:tc>
                <a:extLst>
                  <a:ext uri="{0D108BD9-81ED-4DB2-BD59-A6C34878D82A}">
                    <a16:rowId xmlns:a16="http://schemas.microsoft.com/office/drawing/2014/main" val="10004"/>
                  </a:ext>
                </a:extLst>
              </a:tr>
              <a:tr h="211303">
                <a:tc>
                  <a:txBody>
                    <a:bodyPr/>
                    <a:lstStyle/>
                    <a:p>
                      <a:r>
                        <a:rPr lang="fr-CA" dirty="0"/>
                        <a:t>Taux d’actualisation</a:t>
                      </a:r>
                    </a:p>
                  </a:txBody>
                  <a:tcPr/>
                </a:tc>
                <a:tc>
                  <a:txBody>
                    <a:bodyPr/>
                    <a:lstStyle/>
                    <a:p>
                      <a:pPr algn="r"/>
                      <a:r>
                        <a:rPr lang="fr-CA" dirty="0"/>
                        <a:t>8</a:t>
                      </a:r>
                      <a:r>
                        <a:rPr lang="fr-CA" baseline="0" dirty="0"/>
                        <a:t> %</a:t>
                      </a:r>
                      <a:endParaRPr lang="fr-CA" dirty="0"/>
                    </a:p>
                  </a:txBody>
                  <a:tcPr/>
                </a:tc>
                <a:extLst>
                  <a:ext uri="{0D108BD9-81ED-4DB2-BD59-A6C34878D82A}">
                    <a16:rowId xmlns:a16="http://schemas.microsoft.com/office/drawing/2014/main" val="10005"/>
                  </a:ext>
                </a:extLst>
              </a:tr>
              <a:tr h="211303">
                <a:tc>
                  <a:txBody>
                    <a:bodyPr/>
                    <a:lstStyle/>
                    <a:p>
                      <a:r>
                        <a:rPr lang="fr-CA" dirty="0"/>
                        <a:t>Juste valeur,</a:t>
                      </a:r>
                      <a:r>
                        <a:rPr lang="fr-CA" baseline="0" dirty="0"/>
                        <a:t> au 31 décembre 2019</a:t>
                      </a:r>
                      <a:endParaRPr lang="fr-CA" dirty="0"/>
                    </a:p>
                  </a:txBody>
                  <a:tcPr/>
                </a:tc>
                <a:tc>
                  <a:txBody>
                    <a:bodyPr/>
                    <a:lstStyle/>
                    <a:p>
                      <a:pPr algn="r"/>
                      <a:r>
                        <a:rPr lang="fr-CA" dirty="0"/>
                        <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486284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Régime à prestations définies – solde de l’obligation</a:t>
            </a:r>
          </a:p>
        </p:txBody>
      </p:sp>
      <p:sp>
        <p:nvSpPr>
          <p:cNvPr id="3" name="Espace réservé du contenu 2"/>
          <p:cNvSpPr>
            <a:spLocks noGrp="1"/>
          </p:cNvSpPr>
          <p:nvPr>
            <p:ph idx="1"/>
          </p:nvPr>
        </p:nvSpPr>
        <p:spPr/>
        <p:txBody>
          <a:bodyPr>
            <a:normAutofit/>
          </a:bodyPr>
          <a:lstStyle/>
          <a:p>
            <a:pPr marL="0" indent="0">
              <a:buNone/>
            </a:pPr>
            <a:r>
              <a:rPr lang="fr-CA" dirty="0"/>
              <a:t>Quel est le solde de l’obligation?</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67</a:t>
            </a:fld>
            <a:endParaRPr lang="fr-CA"/>
          </a:p>
        </p:txBody>
      </p:sp>
      <p:graphicFrame>
        <p:nvGraphicFramePr>
          <p:cNvPr id="6" name="Objet 5"/>
          <p:cNvGraphicFramePr>
            <a:graphicFrameLocks noChangeAspect="1"/>
          </p:cNvGraphicFramePr>
          <p:nvPr/>
        </p:nvGraphicFramePr>
        <p:xfrm>
          <a:off x="954088" y="2595563"/>
          <a:ext cx="7905750" cy="3384550"/>
        </p:xfrm>
        <a:graphic>
          <a:graphicData uri="http://schemas.openxmlformats.org/presentationml/2006/ole">
            <mc:AlternateContent xmlns:mc="http://schemas.openxmlformats.org/markup-compatibility/2006">
              <mc:Choice xmlns:v="urn:schemas-microsoft-com:vml" Requires="v">
                <p:oleObj spid="_x0000_s7172" name="Worksheet" r:id="rId3" imgW="4794336" imgH="2051057" progId="Excel.Sheet.12">
                  <p:embed/>
                </p:oleObj>
              </mc:Choice>
              <mc:Fallback>
                <p:oleObj name="Worksheet" r:id="rId3" imgW="4794336" imgH="2051057" progId="Excel.Sheet.12">
                  <p:embed/>
                  <p:pic>
                    <p:nvPicPr>
                      <p:cNvPr id="6" name="Objet 5"/>
                      <p:cNvPicPr/>
                      <p:nvPr/>
                    </p:nvPicPr>
                    <p:blipFill>
                      <a:blip r:embed="rId4"/>
                      <a:stretch>
                        <a:fillRect/>
                      </a:stretch>
                    </p:blipFill>
                    <p:spPr>
                      <a:xfrm>
                        <a:off x="954088" y="2595563"/>
                        <a:ext cx="7905750" cy="3384550"/>
                      </a:xfrm>
                      <a:prstGeom prst="rect">
                        <a:avLst/>
                      </a:prstGeom>
                    </p:spPr>
                  </p:pic>
                </p:oleObj>
              </mc:Fallback>
            </mc:AlternateContent>
          </a:graphicData>
        </a:graphic>
      </p:graphicFrame>
    </p:spTree>
    <p:extLst>
      <p:ext uri="{BB962C8B-B14F-4D97-AF65-F5344CB8AC3E}">
        <p14:creationId xmlns:p14="http://schemas.microsoft.com/office/powerpoint/2010/main" val="35022558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Indemnités de cessation d’emploi - 1</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Le 31 décembre 2019, ABC annonce à un groupe ciblé d’employés qu’elle leur offre un programme de départ volontaire, mais limité aux 10 premiers employés qui signeront l’entente, salaire moyen annuel de ce groupe est 50 000 $. Elle leur présente ce qu’elle leur offre : </a:t>
            </a:r>
          </a:p>
          <a:p>
            <a:pPr>
              <a:buFontTx/>
              <a:buChar char="-"/>
            </a:pPr>
            <a:r>
              <a:rPr lang="fr-CA" dirty="0"/>
              <a:t>3 mois de salaires</a:t>
            </a:r>
          </a:p>
          <a:p>
            <a:pPr>
              <a:buFontTx/>
              <a:buChar char="-"/>
            </a:pPr>
            <a:r>
              <a:rPr lang="fr-CA" dirty="0"/>
              <a:t>Services d’une firme d’aide à la relocalisation dont elle assumera les coûts (1 000 $ par employé)</a:t>
            </a:r>
          </a:p>
          <a:p>
            <a:pPr marL="0" indent="0">
              <a:buNone/>
            </a:pPr>
            <a:r>
              <a:rPr lang="fr-CA" dirty="0"/>
              <a:t>Basé sur l’historique, ABC estime qu’un employé ne se prévaudra pas des services de la firme d’aide à la relocalisation.</a:t>
            </a:r>
          </a:p>
          <a:p>
            <a:pPr marL="0" indent="0">
              <a:buNone/>
            </a:pPr>
            <a:endParaRPr lang="fr-CA" dirty="0"/>
          </a:p>
          <a:p>
            <a:pPr marL="0" indent="0">
              <a:buNone/>
            </a:pPr>
            <a:r>
              <a:rPr lang="fr-CA" dirty="0"/>
              <a:t>Quel est le traitement comptable pour ABC au 31 décembre 2019?</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68</a:t>
            </a:fld>
            <a:endParaRPr lang="fr-CA"/>
          </a:p>
        </p:txBody>
      </p:sp>
    </p:spTree>
    <p:extLst>
      <p:ext uri="{BB962C8B-B14F-4D97-AF65-F5344CB8AC3E}">
        <p14:creationId xmlns:p14="http://schemas.microsoft.com/office/powerpoint/2010/main" val="1899158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Indemnités de cessation d’emploi - 1</a:t>
            </a:r>
          </a:p>
        </p:txBody>
      </p:sp>
      <p:sp>
        <p:nvSpPr>
          <p:cNvPr id="3" name="Espace réservé du contenu 2"/>
          <p:cNvSpPr>
            <a:spLocks noGrp="1"/>
          </p:cNvSpPr>
          <p:nvPr>
            <p:ph idx="1"/>
          </p:nvPr>
        </p:nvSpPr>
        <p:spPr/>
        <p:txBody>
          <a:bodyPr>
            <a:normAutofit/>
          </a:bodyPr>
          <a:lstStyle/>
          <a:p>
            <a:pPr marL="0" indent="0">
              <a:buNone/>
            </a:pPr>
            <a:endParaRPr lang="fr-CA" dirty="0"/>
          </a:p>
          <a:p>
            <a:pPr marL="0" indent="0">
              <a:buNone/>
            </a:pPr>
            <a:endParaRPr lang="fr-CA" dirty="0"/>
          </a:p>
          <a:p>
            <a:pPr marL="0" indent="0">
              <a:buNone/>
            </a:pPr>
            <a:r>
              <a:rPr lang="fr-CA" dirty="0"/>
              <a:t>Quel est le traitement comptable pour ABC au 31 décembre 2019?</a:t>
            </a:r>
          </a:p>
          <a:p>
            <a:pPr marL="896938" indent="-896938">
              <a:buNone/>
            </a:pPr>
            <a:r>
              <a:rPr lang="fr-CA" dirty="0"/>
              <a:t>	Aucun car départ volontaire, il faut attendre que des employés acceptent l’offre.</a:t>
            </a:r>
          </a:p>
          <a:p>
            <a:pPr marL="0" indent="0">
              <a:buNone/>
            </a:pPr>
            <a:r>
              <a:rPr lang="fr-CA" dirty="0"/>
              <a:t>	Note?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69</a:t>
            </a:fld>
            <a:endParaRPr lang="fr-CA"/>
          </a:p>
        </p:txBody>
      </p:sp>
    </p:spTree>
    <p:extLst>
      <p:ext uri="{BB962C8B-B14F-4D97-AF65-F5344CB8AC3E}">
        <p14:creationId xmlns:p14="http://schemas.microsoft.com/office/powerpoint/2010/main" val="14708940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Indemnités de cessation d’emploi - 2</a:t>
            </a:r>
          </a:p>
        </p:txBody>
      </p:sp>
      <p:sp>
        <p:nvSpPr>
          <p:cNvPr id="3" name="Espace réservé du contenu 2"/>
          <p:cNvSpPr>
            <a:spLocks noGrp="1"/>
          </p:cNvSpPr>
          <p:nvPr>
            <p:ph idx="1"/>
          </p:nvPr>
        </p:nvSpPr>
        <p:spPr/>
        <p:txBody>
          <a:bodyPr>
            <a:normAutofit/>
          </a:bodyPr>
          <a:lstStyle/>
          <a:p>
            <a:pPr marL="0" indent="0">
              <a:buNone/>
            </a:pPr>
            <a:r>
              <a:rPr lang="fr-CA" dirty="0"/>
              <a:t>Le 31 décembre 2019, ABC congédie 10 employés, salaire moyen annuel 50 000 $. Elle leur présente ce qu’elle leur offre : </a:t>
            </a:r>
          </a:p>
          <a:p>
            <a:pPr>
              <a:buFontTx/>
              <a:buChar char="-"/>
            </a:pPr>
            <a:r>
              <a:rPr lang="fr-CA" dirty="0"/>
              <a:t>3 mois de salaires</a:t>
            </a:r>
          </a:p>
          <a:p>
            <a:pPr>
              <a:buFontTx/>
              <a:buChar char="-"/>
            </a:pPr>
            <a:r>
              <a:rPr lang="fr-CA" dirty="0"/>
              <a:t>Services d’une firme d’aide à la relocalisation dont elle assumera les coûts (1 000 $ par employé)</a:t>
            </a:r>
          </a:p>
          <a:p>
            <a:pPr marL="0" indent="0">
              <a:buNone/>
            </a:pPr>
            <a:r>
              <a:rPr lang="fr-CA" dirty="0"/>
              <a:t>Basé sur l’historique, ABC estime qu’un employé ne se prévaudra pas des services de la firme d’aide à la relocalisation.</a:t>
            </a:r>
          </a:p>
          <a:p>
            <a:pPr marL="0" indent="0">
              <a:buNone/>
            </a:pPr>
            <a:endParaRPr lang="fr-CA" dirty="0"/>
          </a:p>
          <a:p>
            <a:pPr marL="0" indent="0">
              <a:buNone/>
            </a:pPr>
            <a:r>
              <a:rPr lang="fr-CA" dirty="0"/>
              <a:t>Quel est le traitement comptable pour ABC au 31 décembre 2019?</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70</a:t>
            </a:fld>
            <a:endParaRPr lang="fr-CA"/>
          </a:p>
        </p:txBody>
      </p:sp>
    </p:spTree>
    <p:extLst>
      <p:ext uri="{BB962C8B-B14F-4D97-AF65-F5344CB8AC3E}">
        <p14:creationId xmlns:p14="http://schemas.microsoft.com/office/powerpoint/2010/main" val="35601353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Indemnités de cessation d’emploi - 2</a:t>
            </a:r>
          </a:p>
        </p:txBody>
      </p:sp>
      <p:sp>
        <p:nvSpPr>
          <p:cNvPr id="3" name="Espace réservé du contenu 2"/>
          <p:cNvSpPr>
            <a:spLocks noGrp="1"/>
          </p:cNvSpPr>
          <p:nvPr>
            <p:ph idx="1"/>
          </p:nvPr>
        </p:nvSpPr>
        <p:spPr/>
        <p:txBody>
          <a:bodyPr>
            <a:normAutofit/>
          </a:bodyPr>
          <a:lstStyle/>
          <a:p>
            <a:pPr marL="0" indent="0">
              <a:buNone/>
            </a:pPr>
            <a:r>
              <a:rPr lang="fr-CA" dirty="0"/>
              <a:t>Quel est le traitement comptable pour ABC au 31 décembre 2019?</a:t>
            </a:r>
          </a:p>
          <a:p>
            <a:pPr marL="0" indent="0">
              <a:buNone/>
            </a:pPr>
            <a:endParaRPr lang="fr-CA" dirty="0"/>
          </a:p>
          <a:p>
            <a:pPr marL="0" indent="0">
              <a:buNone/>
            </a:pPr>
            <a:r>
              <a:rPr lang="fr-CA" dirty="0"/>
              <a:t>Provision : 	10 * 50 000 * 3/12 = 125 000</a:t>
            </a:r>
          </a:p>
          <a:p>
            <a:pPr marL="0" indent="0">
              <a:buNone/>
            </a:pPr>
            <a:r>
              <a:rPr lang="fr-CA" dirty="0"/>
              <a:t>		9 * 1000 = 9 000   (montant estimé)</a:t>
            </a:r>
          </a:p>
          <a:p>
            <a:pPr marL="0" indent="0">
              <a:buNone/>
            </a:pPr>
            <a:endParaRPr lang="fr-CA" dirty="0"/>
          </a:p>
          <a:p>
            <a:pPr marL="0" indent="0">
              <a:buNone/>
            </a:pPr>
            <a:r>
              <a:rPr lang="fr-CA" dirty="0"/>
              <a:t>		</a:t>
            </a:r>
            <a:r>
              <a:rPr lang="fr-CA" b="1" dirty="0"/>
              <a:t>134 000 $</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71</a:t>
            </a:fld>
            <a:endParaRPr lang="fr-CA"/>
          </a:p>
        </p:txBody>
      </p:sp>
    </p:spTree>
    <p:extLst>
      <p:ext uri="{BB962C8B-B14F-4D97-AF65-F5344CB8AC3E}">
        <p14:creationId xmlns:p14="http://schemas.microsoft.com/office/powerpoint/2010/main" val="42069953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Problème P1 - MGBDL</a:t>
            </a:r>
          </a:p>
        </p:txBody>
      </p:sp>
      <p:sp>
        <p:nvSpPr>
          <p:cNvPr id="3" name="Espace réservé du contenu 2"/>
          <p:cNvSpPr>
            <a:spLocks noGrp="1"/>
          </p:cNvSpPr>
          <p:nvPr>
            <p:ph idx="1"/>
          </p:nvPr>
        </p:nvSpPr>
        <p:spPr/>
        <p:txBody>
          <a:bodyPr>
            <a:normAutofit fontScale="85000" lnSpcReduction="20000"/>
          </a:bodyPr>
          <a:lstStyle/>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r>
              <a:rPr lang="fr-CA" dirty="0"/>
              <a:t>Quel est le traitement comptable au 31 décembre 2019?</a:t>
            </a:r>
          </a:p>
          <a:p>
            <a:pPr marL="0" indent="0">
              <a:buNone/>
            </a:pPr>
            <a:r>
              <a:rPr lang="fr-CA" dirty="0"/>
              <a:t>Solde du passif net au titre des prestations définies au 31 décembre 2019?</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72</a:t>
            </a:fld>
            <a:endParaRPr lang="fr-CA"/>
          </a:p>
        </p:txBody>
      </p:sp>
      <p:graphicFrame>
        <p:nvGraphicFramePr>
          <p:cNvPr id="5" name="Tableau 4"/>
          <p:cNvGraphicFramePr>
            <a:graphicFrameLocks noGrp="1"/>
          </p:cNvGraphicFramePr>
          <p:nvPr/>
        </p:nvGraphicFramePr>
        <p:xfrm>
          <a:off x="659757" y="1367848"/>
          <a:ext cx="11192718" cy="3443713"/>
        </p:xfrm>
        <a:graphic>
          <a:graphicData uri="http://schemas.openxmlformats.org/drawingml/2006/table">
            <a:tbl>
              <a:tblPr firstRow="1" bandRow="1">
                <a:tableStyleId>{5C22544A-7EE6-4342-B048-85BDC9FD1C3A}</a:tableStyleId>
              </a:tblPr>
              <a:tblGrid>
                <a:gridCol w="10089397">
                  <a:extLst>
                    <a:ext uri="{9D8B030D-6E8A-4147-A177-3AD203B41FA5}">
                      <a16:colId xmlns:a16="http://schemas.microsoft.com/office/drawing/2014/main" val="20000"/>
                    </a:ext>
                  </a:extLst>
                </a:gridCol>
                <a:gridCol w="1103321">
                  <a:extLst>
                    <a:ext uri="{9D8B030D-6E8A-4147-A177-3AD203B41FA5}">
                      <a16:colId xmlns:a16="http://schemas.microsoft.com/office/drawing/2014/main" val="20001"/>
                    </a:ext>
                  </a:extLst>
                </a:gridCol>
              </a:tblGrid>
              <a:tr h="400519">
                <a:tc>
                  <a:txBody>
                    <a:bodyPr/>
                    <a:lstStyle/>
                    <a:p>
                      <a:r>
                        <a:rPr lang="fr-CA" dirty="0"/>
                        <a:t>Régime</a:t>
                      </a:r>
                      <a:r>
                        <a:rPr lang="fr-CA" baseline="0" dirty="0"/>
                        <a:t> à prestations définies</a:t>
                      </a:r>
                      <a:endParaRPr lang="fr-CA" dirty="0"/>
                    </a:p>
                  </a:txBody>
                  <a:tcPr/>
                </a:tc>
                <a:tc>
                  <a:txBody>
                    <a:bodyPr/>
                    <a:lstStyle/>
                    <a:p>
                      <a:endParaRPr lang="fr-CA"/>
                    </a:p>
                  </a:txBody>
                  <a:tcPr/>
                </a:tc>
                <a:extLst>
                  <a:ext uri="{0D108BD9-81ED-4DB2-BD59-A6C34878D82A}">
                    <a16:rowId xmlns:a16="http://schemas.microsoft.com/office/drawing/2014/main" val="10000"/>
                  </a:ext>
                </a:extLst>
              </a:tr>
              <a:tr h="400519">
                <a:tc>
                  <a:txBody>
                    <a:bodyPr/>
                    <a:lstStyle/>
                    <a:p>
                      <a:r>
                        <a:rPr lang="fr-CA" dirty="0"/>
                        <a:t>Solde des actifs du régime, au 1</a:t>
                      </a:r>
                      <a:r>
                        <a:rPr lang="fr-CA" baseline="30000" dirty="0"/>
                        <a:t>er</a:t>
                      </a:r>
                      <a:r>
                        <a:rPr lang="fr-CA" dirty="0"/>
                        <a:t> janvier 2019</a:t>
                      </a:r>
                    </a:p>
                  </a:txBody>
                  <a:tcPr/>
                </a:tc>
                <a:tc>
                  <a:txBody>
                    <a:bodyPr/>
                    <a:lstStyle/>
                    <a:p>
                      <a:pPr algn="r"/>
                      <a:r>
                        <a:rPr lang="fr-CA" dirty="0"/>
                        <a:t>500 000</a:t>
                      </a:r>
                    </a:p>
                  </a:txBody>
                  <a:tcPr/>
                </a:tc>
                <a:extLst>
                  <a:ext uri="{0D108BD9-81ED-4DB2-BD59-A6C34878D82A}">
                    <a16:rowId xmlns:a16="http://schemas.microsoft.com/office/drawing/2014/main" val="10001"/>
                  </a:ext>
                </a:extLst>
              </a:tr>
              <a:tr h="400519">
                <a:tc>
                  <a:txBody>
                    <a:bodyPr/>
                    <a:lstStyle/>
                    <a:p>
                      <a:r>
                        <a:rPr lang="fr-CA" dirty="0"/>
                        <a:t>Solde de l’obligation au titre des prestations définies,</a:t>
                      </a:r>
                      <a:r>
                        <a:rPr lang="fr-CA" baseline="0" dirty="0"/>
                        <a:t> au 1</a:t>
                      </a:r>
                      <a:r>
                        <a:rPr lang="fr-CA" baseline="30000" dirty="0"/>
                        <a:t>er</a:t>
                      </a:r>
                      <a:r>
                        <a:rPr lang="fr-CA" baseline="0" dirty="0"/>
                        <a:t> janvier 2019</a:t>
                      </a:r>
                      <a:endParaRPr lang="fr-CA" dirty="0"/>
                    </a:p>
                  </a:txBody>
                  <a:tcPr/>
                </a:tc>
                <a:tc>
                  <a:txBody>
                    <a:bodyPr/>
                    <a:lstStyle/>
                    <a:p>
                      <a:pPr algn="r"/>
                      <a:r>
                        <a:rPr lang="fr-CA" dirty="0"/>
                        <a:t>600 000</a:t>
                      </a:r>
                    </a:p>
                  </a:txBody>
                  <a:tcPr/>
                </a:tc>
                <a:extLst>
                  <a:ext uri="{0D108BD9-81ED-4DB2-BD59-A6C34878D82A}">
                    <a16:rowId xmlns:a16="http://schemas.microsoft.com/office/drawing/2014/main" val="10002"/>
                  </a:ext>
                </a:extLst>
              </a:tr>
              <a:tr h="400519">
                <a:tc>
                  <a:txBody>
                    <a:bodyPr/>
                    <a:lstStyle/>
                    <a:p>
                      <a:r>
                        <a:rPr lang="fr-CA" dirty="0"/>
                        <a:t>Coût des services rendus en 2019</a:t>
                      </a:r>
                    </a:p>
                    <a:p>
                      <a:r>
                        <a:rPr lang="fr-CA" dirty="0"/>
                        <a:t>-</a:t>
                      </a:r>
                      <a:r>
                        <a:rPr lang="fr-CA" baseline="0" dirty="0"/>
                        <a:t> Portion de ce montant représentée par les cotisations des membres du personnel</a:t>
                      </a:r>
                      <a:endParaRPr lang="fr-CA" dirty="0"/>
                    </a:p>
                  </a:txBody>
                  <a:tcPr/>
                </a:tc>
                <a:tc>
                  <a:txBody>
                    <a:bodyPr/>
                    <a:lstStyle/>
                    <a:p>
                      <a:pPr algn="r"/>
                      <a:r>
                        <a:rPr lang="fr-CA" dirty="0"/>
                        <a:t>100 000</a:t>
                      </a:r>
                    </a:p>
                    <a:p>
                      <a:pPr algn="r"/>
                      <a:r>
                        <a:rPr lang="fr-CA" dirty="0"/>
                        <a:t>30 000</a:t>
                      </a:r>
                    </a:p>
                  </a:txBody>
                  <a:tcPr/>
                </a:tc>
                <a:extLst>
                  <a:ext uri="{0D108BD9-81ED-4DB2-BD59-A6C34878D82A}">
                    <a16:rowId xmlns:a16="http://schemas.microsoft.com/office/drawing/2014/main" val="10003"/>
                  </a:ext>
                </a:extLst>
              </a:tr>
              <a:tr h="400519">
                <a:tc>
                  <a:txBody>
                    <a:bodyPr/>
                    <a:lstStyle/>
                    <a:p>
                      <a:r>
                        <a:rPr lang="fr-CA" dirty="0"/>
                        <a:t>Prestations versées – en fin d’exercice</a:t>
                      </a:r>
                    </a:p>
                  </a:txBody>
                  <a:tcPr/>
                </a:tc>
                <a:tc>
                  <a:txBody>
                    <a:bodyPr/>
                    <a:lstStyle/>
                    <a:p>
                      <a:pPr algn="r"/>
                      <a:r>
                        <a:rPr lang="fr-CA" dirty="0"/>
                        <a:t>5 000</a:t>
                      </a:r>
                    </a:p>
                  </a:txBody>
                  <a:tcPr/>
                </a:tc>
                <a:extLst>
                  <a:ext uri="{0D108BD9-81ED-4DB2-BD59-A6C34878D82A}">
                    <a16:rowId xmlns:a16="http://schemas.microsoft.com/office/drawing/2014/main" val="10004"/>
                  </a:ext>
                </a:extLst>
              </a:tr>
              <a:tr h="400519">
                <a:tc>
                  <a:txBody>
                    <a:bodyPr/>
                    <a:lstStyle/>
                    <a:p>
                      <a:r>
                        <a:rPr lang="fr-CA" dirty="0"/>
                        <a:t>Cotisations versées</a:t>
                      </a:r>
                      <a:r>
                        <a:rPr lang="fr-CA" baseline="0" dirty="0"/>
                        <a:t> à la caisse (employeur 50 000 $, membres du personnel 30 000 $) – en fin d’exercice</a:t>
                      </a:r>
                      <a:endParaRPr lang="fr-CA" dirty="0"/>
                    </a:p>
                  </a:txBody>
                  <a:tcPr/>
                </a:tc>
                <a:tc>
                  <a:txBody>
                    <a:bodyPr/>
                    <a:lstStyle/>
                    <a:p>
                      <a:pPr algn="r"/>
                      <a:r>
                        <a:rPr lang="fr-CA" dirty="0"/>
                        <a:t>80 000</a:t>
                      </a:r>
                    </a:p>
                  </a:txBody>
                  <a:tcPr/>
                </a:tc>
                <a:extLst>
                  <a:ext uri="{0D108BD9-81ED-4DB2-BD59-A6C34878D82A}">
                    <a16:rowId xmlns:a16="http://schemas.microsoft.com/office/drawing/2014/main" val="10005"/>
                  </a:ext>
                </a:extLst>
              </a:tr>
              <a:tr h="400519">
                <a:tc>
                  <a:txBody>
                    <a:bodyPr/>
                    <a:lstStyle/>
                    <a:p>
                      <a:r>
                        <a:rPr lang="fr-CA" dirty="0"/>
                        <a:t>Taux d’actualisation</a:t>
                      </a:r>
                    </a:p>
                  </a:txBody>
                  <a:tcPr/>
                </a:tc>
                <a:tc>
                  <a:txBody>
                    <a:bodyPr/>
                    <a:lstStyle/>
                    <a:p>
                      <a:pPr algn="r"/>
                      <a:r>
                        <a:rPr lang="fr-CA" dirty="0"/>
                        <a:t>12 %</a:t>
                      </a:r>
                    </a:p>
                  </a:txBody>
                  <a:tcPr/>
                </a:tc>
                <a:extLst>
                  <a:ext uri="{0D108BD9-81ED-4DB2-BD59-A6C34878D82A}">
                    <a16:rowId xmlns:a16="http://schemas.microsoft.com/office/drawing/2014/main" val="10006"/>
                  </a:ext>
                </a:extLst>
              </a:tr>
              <a:tr h="400519">
                <a:tc>
                  <a:txBody>
                    <a:bodyPr/>
                    <a:lstStyle/>
                    <a:p>
                      <a:r>
                        <a:rPr lang="fr-CA" i="1" dirty="0"/>
                        <a:t>Pas d’évaluation actuarielle au</a:t>
                      </a:r>
                      <a:r>
                        <a:rPr lang="fr-CA" i="1" baseline="0" dirty="0"/>
                        <a:t> 31 décembre 2019, rendement du régime = produits d’intérêts</a:t>
                      </a:r>
                      <a:endParaRPr lang="fr-CA" i="1" dirty="0"/>
                    </a:p>
                  </a:txBody>
                  <a:tcPr/>
                </a:tc>
                <a:tc>
                  <a:txBody>
                    <a:bodyPr/>
                    <a:lstStyle/>
                    <a:p>
                      <a:pPr algn="r"/>
                      <a:endParaRPr lang="fr-CA"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109256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Problème P1</a:t>
            </a:r>
          </a:p>
        </p:txBody>
      </p:sp>
      <p:sp>
        <p:nvSpPr>
          <p:cNvPr id="3" name="Espace réservé du contenu 2"/>
          <p:cNvSpPr>
            <a:spLocks noGrp="1"/>
          </p:cNvSpPr>
          <p:nvPr>
            <p:ph idx="1"/>
          </p:nvPr>
        </p:nvSpPr>
        <p:spPr/>
        <p:txBody>
          <a:bodyPr>
            <a:normAutofit/>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73</a:t>
            </a:fld>
            <a:endParaRPr lang="fr-CA" dirty="0"/>
          </a:p>
        </p:txBody>
      </p:sp>
      <p:graphicFrame>
        <p:nvGraphicFramePr>
          <p:cNvPr id="6" name="Objet 5"/>
          <p:cNvGraphicFramePr>
            <a:graphicFrameLocks noChangeAspect="1"/>
          </p:cNvGraphicFramePr>
          <p:nvPr/>
        </p:nvGraphicFramePr>
        <p:xfrm>
          <a:off x="2102613" y="1477500"/>
          <a:ext cx="6381630" cy="4836671"/>
        </p:xfrm>
        <a:graphic>
          <a:graphicData uri="http://schemas.openxmlformats.org/presentationml/2006/ole">
            <mc:AlternateContent xmlns:mc="http://schemas.openxmlformats.org/markup-compatibility/2006">
              <mc:Choice xmlns:v="urn:schemas-microsoft-com:vml" Requires="v">
                <p:oleObj spid="_x0000_s8196" name="Feuille de calcul" r:id="rId3" imgW="3819371" imgH="2895436" progId="Excel.Sheet.12">
                  <p:embed/>
                </p:oleObj>
              </mc:Choice>
              <mc:Fallback>
                <p:oleObj name="Feuille de calcul" r:id="rId3" imgW="3819371" imgH="2895436" progId="Excel.Sheet.12">
                  <p:embed/>
                  <p:pic>
                    <p:nvPicPr>
                      <p:cNvPr id="6" name="Objet 5"/>
                      <p:cNvPicPr/>
                      <p:nvPr/>
                    </p:nvPicPr>
                    <p:blipFill>
                      <a:blip r:embed="rId4"/>
                      <a:stretch>
                        <a:fillRect/>
                      </a:stretch>
                    </p:blipFill>
                    <p:spPr>
                      <a:xfrm>
                        <a:off x="2102613" y="1477500"/>
                        <a:ext cx="6381630" cy="4836671"/>
                      </a:xfrm>
                      <a:prstGeom prst="rect">
                        <a:avLst/>
                      </a:prstGeom>
                    </p:spPr>
                  </p:pic>
                </p:oleObj>
              </mc:Fallback>
            </mc:AlternateContent>
          </a:graphicData>
        </a:graphic>
      </p:graphicFrame>
      <p:sp>
        <p:nvSpPr>
          <p:cNvPr id="5" name="ZoneTexte 4">
            <a:extLst>
              <a:ext uri="{FF2B5EF4-FFF2-40B4-BE49-F238E27FC236}">
                <a16:creationId xmlns:a16="http://schemas.microsoft.com/office/drawing/2014/main" id="{FE046680-D9E4-438B-A256-80B0C3DDC1CE}"/>
              </a:ext>
            </a:extLst>
          </p:cNvPr>
          <p:cNvSpPr txBox="1"/>
          <p:nvPr/>
        </p:nvSpPr>
        <p:spPr>
          <a:xfrm>
            <a:off x="8610600" y="5161280"/>
            <a:ext cx="3103880" cy="646331"/>
          </a:xfrm>
          <a:prstGeom prst="rect">
            <a:avLst/>
          </a:prstGeom>
          <a:noFill/>
        </p:spPr>
        <p:txBody>
          <a:bodyPr wrap="square" rtlCol="0">
            <a:spAutoFit/>
          </a:bodyPr>
          <a:lstStyle/>
          <a:p>
            <a:r>
              <a:rPr lang="fr-CA" dirty="0"/>
              <a:t>Solde début (72k) + coût exercice (100K * 12% * 6/12)</a:t>
            </a:r>
            <a:endParaRPr lang="fr-FR" dirty="0"/>
          </a:p>
        </p:txBody>
      </p:sp>
    </p:spTree>
    <p:extLst>
      <p:ext uri="{BB962C8B-B14F-4D97-AF65-F5344CB8AC3E}">
        <p14:creationId xmlns:p14="http://schemas.microsoft.com/office/powerpoint/2010/main" val="2991376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7722</Words>
  <Application>Microsoft Office PowerPoint</Application>
  <PresentationFormat>Grand écran</PresentationFormat>
  <Paragraphs>663</Paragraphs>
  <Slides>73</Slides>
  <Notes>0</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2</vt:i4>
      </vt:variant>
      <vt:variant>
        <vt:lpstr>Titres des diapositives</vt:lpstr>
      </vt:variant>
      <vt:variant>
        <vt:i4>73</vt:i4>
      </vt:variant>
    </vt:vector>
  </HeadingPairs>
  <TitlesOfParts>
    <vt:vector size="80" baseType="lpstr">
      <vt:lpstr>Arial</vt:lpstr>
      <vt:lpstr>Calibri</vt:lpstr>
      <vt:lpstr>Calibri Light</vt:lpstr>
      <vt:lpstr>Wingdings</vt:lpstr>
      <vt:lpstr>Thème Office</vt:lpstr>
      <vt:lpstr>Feuille de calcul</vt:lpstr>
      <vt:lpstr>Worksheet</vt:lpstr>
      <vt:lpstr>Avantages du personnel</vt:lpstr>
      <vt:lpstr>Exemples?</vt:lpstr>
      <vt:lpstr>Avantages du personnel</vt:lpstr>
      <vt:lpstr>Moment de comptabilisation</vt:lpstr>
      <vt:lpstr>Avantages à court terme</vt:lpstr>
      <vt:lpstr>Préparez les écritures…</vt:lpstr>
      <vt:lpstr>Présentation PowerPoint</vt:lpstr>
      <vt:lpstr>Avantages à court terme</vt:lpstr>
      <vt:lpstr>Avantages à court terme</vt:lpstr>
      <vt:lpstr>Absences rémunérées</vt:lpstr>
      <vt:lpstr>Avantages à court terme</vt:lpstr>
      <vt:lpstr>Avantages postérieurs à l’emploi</vt:lpstr>
      <vt:lpstr>Régimes de retraite</vt:lpstr>
      <vt:lpstr>Présentation PowerPoint</vt:lpstr>
      <vt:lpstr>Régimes de retraite</vt:lpstr>
      <vt:lpstr>Régime à cotisations définies</vt:lpstr>
      <vt:lpstr>Régimes à cotisations définies</vt:lpstr>
      <vt:lpstr>Régime à cotisations définies</vt:lpstr>
      <vt:lpstr>Régimes à cotisations définies</vt:lpstr>
      <vt:lpstr>Prestations assurées</vt:lpstr>
      <vt:lpstr>Régimes à prestations définies</vt:lpstr>
      <vt:lpstr>Régime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Hypothèses actuarielles</vt:lpstr>
      <vt:lpstr>Hypothèses actuarielles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Régimes à prestations définies</vt:lpstr>
      <vt:lpstr>Tableau p. 17.33 - MGBDL</vt:lpstr>
      <vt:lpstr>Autres avantages postérieurs à l’emploi</vt:lpstr>
      <vt:lpstr>Autres avantages à long terme</vt:lpstr>
      <vt:lpstr>Présentation PowerPoint</vt:lpstr>
      <vt:lpstr>Autres avantages à long terme</vt:lpstr>
      <vt:lpstr>Autres avantages à long terme</vt:lpstr>
      <vt:lpstr>Indemnités de cessation d’emploi</vt:lpstr>
      <vt:lpstr>Présentation PowerPoint</vt:lpstr>
      <vt:lpstr>Indemnités de cessation d’emploi</vt:lpstr>
      <vt:lpstr>Exercices</vt:lpstr>
      <vt:lpstr>Congés de maladie - 1</vt:lpstr>
      <vt:lpstr>Congés de maladie – 1 - solution</vt:lpstr>
      <vt:lpstr>Congés de maladie - 2</vt:lpstr>
      <vt:lpstr>Congés de maladie – 2 - solution</vt:lpstr>
      <vt:lpstr>Boni</vt:lpstr>
      <vt:lpstr>Boni</vt:lpstr>
      <vt:lpstr>Calcul – régime prestations définies</vt:lpstr>
      <vt:lpstr>Calcul – régime prestations définies</vt:lpstr>
      <vt:lpstr>Calcul – régime prestations définies</vt:lpstr>
      <vt:lpstr>Assurance-vie post emploi</vt:lpstr>
      <vt:lpstr>Assurance-vie post emploi</vt:lpstr>
      <vt:lpstr>Régime à cotisations définies – rendement sur actif</vt:lpstr>
      <vt:lpstr>Régime à cotisations définies – rendement sur actif</vt:lpstr>
      <vt:lpstr>Régime à prestations définies – rendement sur actif</vt:lpstr>
      <vt:lpstr>Régime à prestations définies – rendement sur actif</vt:lpstr>
      <vt:lpstr>Régime à prestations définies – solde de l’obligation</vt:lpstr>
      <vt:lpstr>Régime à prestations définies – solde de l’obligation</vt:lpstr>
      <vt:lpstr>Indemnités de cessation d’emploi - 1</vt:lpstr>
      <vt:lpstr>Indemnités de cessation d’emploi - 1</vt:lpstr>
      <vt:lpstr>Indemnités de cessation d’emploi - 2</vt:lpstr>
      <vt:lpstr>Indemnités de cessation d’emploi - 2</vt:lpstr>
      <vt:lpstr>Problème P1 - MGBDL</vt:lpstr>
      <vt:lpstr>Problème P1</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Avantages du personnel</dc:title>
  <dc:creator>louise overbeek</dc:creator>
  <cp:lastModifiedBy>louise overbeek</cp:lastModifiedBy>
  <cp:revision>8</cp:revision>
  <dcterms:created xsi:type="dcterms:W3CDTF">2019-09-26T12:40:08Z</dcterms:created>
  <dcterms:modified xsi:type="dcterms:W3CDTF">2021-01-18T14:28:17Z</dcterms:modified>
</cp:coreProperties>
</file>