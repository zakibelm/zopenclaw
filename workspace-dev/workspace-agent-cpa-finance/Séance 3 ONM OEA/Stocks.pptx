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3" r:id="rId3"/>
    <p:sldId id="274" r:id="rId4"/>
    <p:sldId id="275" r:id="rId5"/>
    <p:sldId id="312" r:id="rId6"/>
    <p:sldId id="276" r:id="rId7"/>
    <p:sldId id="277" r:id="rId8"/>
    <p:sldId id="278" r:id="rId9"/>
    <p:sldId id="310" r:id="rId10"/>
    <p:sldId id="279" r:id="rId11"/>
    <p:sldId id="311" r:id="rId12"/>
    <p:sldId id="280" r:id="rId13"/>
    <p:sldId id="31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4FA82-AC67-48BE-8530-F38845B787A1}" v="3" dt="2024-09-09T16:09:29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2F947-CC65-4CBE-AA7E-4BF1A2E13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C3653A-61EA-4AAA-B7CA-94E34884D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000F1D-55A9-4CE4-9FE2-DDFF5FA3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E324C5-247F-4395-99AA-6EE68A9F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D38077-C73B-46C3-9852-FCF462E1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42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84A44-A75A-4D8E-AD0F-E87DE775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77B8BF-1DD6-435F-A17B-5C71AD79D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33EBDB-9B22-4B11-A49D-63CDAEE17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0B489D-589C-4FFE-A269-BE65E5D3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7AA286-8167-4A48-B4E6-EC730C20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95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F028-03F6-4ED1-AE34-664CCBB5E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45ED2E-1A12-4FCC-B6BB-4AF45BFE5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CAA296-F55D-4B4C-AEC0-8AB5B276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9287FE-22A9-4A5A-A298-E912DE3F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219A49-C080-46D6-9C80-BF198903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24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2512B5-950B-42D6-BCDF-F7838420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D9465B-5D0B-4BA3-9937-8430EC890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11BDF4-9089-4F67-8FCB-71A7234C9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D93797-2C3B-42ED-A456-0708EB05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9CFC92-A9AB-407F-8E2E-04652654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52FD39-2471-4000-B549-894B1361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09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3F6FB-DA54-4947-9CCC-E681B3EB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9252F0-BD94-44B8-9E17-805BE6B1B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89E10E-0B76-46C2-9DB8-8F465CF5E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F7B90CD-A306-4C52-8CC4-091152C60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C8C05A-B35A-46EF-A3DF-7943886DC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A100B64-BFE8-4B7A-AE0B-B609F6AB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90802AB-B119-4130-8CF2-80DCD9D5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1B8202-CB0C-4315-92E4-AAA6A23C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82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AE349-4556-4139-992B-DACD4DEE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AFC185-618E-4BA0-A020-94DE5877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40418F-CBAA-43C7-A90D-3FFD4818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B25B0D-C3A0-4149-ADCC-EE30DD26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47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8F2C841-2EE6-4CA3-8E9A-16951E8D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229EB2-767C-4A83-BC57-7C5D8674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A78EBF-82C5-478C-9FC1-4E0474C3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48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46D60-D4D7-48DD-86C6-8C6ABFBE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3BB58B-3A26-4628-BD65-014ECE63D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B1A947-3404-498B-9F58-CB88DCDC4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ECC0DB-56B3-400B-8ECC-C15DBDCC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036BC6-D016-400E-A0A5-57BD3A6B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4BFE4-CCE3-4965-9E6C-147F1F5D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778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1818F-3819-4144-8A70-5A43ECFF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60A5C3-2068-497E-973E-285B65768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A1C35F-E630-4368-9AA3-9D4CA1A47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FD344A-6F39-4BE4-9021-DA4409DF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71AAA7-1D7A-42DD-B834-3EEBCB37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091D7C-424A-4A76-896B-8918104B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90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A21FA-1A80-47B4-AB7A-3F558FD0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2A5518-D2ED-41A4-8303-0E3561E75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917F15-FE84-4FC8-9244-A4D16B1D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19F9E1-755C-406D-BBF5-5B138026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D1A706-FE90-4602-9F0F-DB1622D4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207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EDA7A1B-75C1-4FE8-BD67-370A60E63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7C5065-FB81-4B89-9A5F-8F74738C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3B601C-DCCF-466F-B84A-E224C548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3BD850-D6C8-4220-837B-7ACA1786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3D7C24-F467-4C59-A035-AEF09748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9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74D8E5-0F0C-4539-81D7-ECDB11AC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3E5299-5A1E-4F1F-9380-CA7ECB35B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4CFA84-DEF3-4620-9C1E-FAF1E662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A3382-7AB5-4D6F-9385-01707A0D6A0B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F0D0E8-0E3F-43F0-BFD4-634D2CA3C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4B5B76-F3FE-4CEE-8D31-B2D462450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BEFB3-530F-4126-8D0E-A7FD5E492E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933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612923"/>
          </a:xfrm>
        </p:spPr>
        <p:txBody>
          <a:bodyPr>
            <a:normAutofit/>
          </a:bodyPr>
          <a:lstStyle/>
          <a:p>
            <a:r>
              <a:rPr lang="fr-FR" b="1" dirty="0"/>
              <a:t>Stocks</a:t>
            </a:r>
            <a:br>
              <a:rPr lang="fr-FR" b="1" dirty="0"/>
            </a:br>
            <a:br>
              <a:rPr lang="fr-FR" b="1" dirty="0"/>
            </a:br>
            <a:endParaRPr lang="fr-FR" sz="36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95600" y="5266481"/>
            <a:ext cx="6400800" cy="775504"/>
          </a:xfrm>
        </p:spPr>
        <p:txBody>
          <a:bodyPr>
            <a:normAutofit fontScale="92500" lnSpcReduction="10000"/>
          </a:bodyPr>
          <a:lstStyle/>
          <a:p>
            <a:r>
              <a:rPr lang="fr-FR" sz="2600" dirty="0">
                <a:solidFill>
                  <a:schemeClr val="tx1"/>
                </a:solidFill>
              </a:rPr>
              <a:t>Louise Overbeek</a:t>
            </a:r>
          </a:p>
          <a:p>
            <a:r>
              <a:rPr lang="fr-FR" sz="2200" dirty="0"/>
              <a:t>Septembre 2024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582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Stocks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  <a:p>
            <a:endParaRPr lang="fr-CA" dirty="0"/>
          </a:p>
          <a:p>
            <a:r>
              <a:rPr lang="fr-CA" dirty="0"/>
              <a:t>IAS 2  Stocks</a:t>
            </a:r>
          </a:p>
          <a:p>
            <a:endParaRPr lang="fr-CA" dirty="0"/>
          </a:p>
          <a:p>
            <a:r>
              <a:rPr lang="fr-CA" dirty="0"/>
              <a:t>Chap. 3031  Stocks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386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Stocks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957716"/>
              </p:ext>
            </p:extLst>
          </p:nvPr>
        </p:nvGraphicFramePr>
        <p:xfrm>
          <a:off x="985421" y="1600200"/>
          <a:ext cx="10368379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4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IFRS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NCECF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1" dirty="0"/>
                        <a:t>Champ d’application</a:t>
                      </a:r>
                    </a:p>
                    <a:p>
                      <a:r>
                        <a:rPr lang="fr-CA" dirty="0"/>
                        <a:t>Tous les stocks </a:t>
                      </a:r>
                      <a:r>
                        <a:rPr lang="fr-CA" dirty="0">
                          <a:solidFill>
                            <a:srgbClr val="0070C0"/>
                          </a:solidFill>
                        </a:rPr>
                        <a:t>sauf instruments financiers et actifs biologiques</a:t>
                      </a:r>
                      <a:r>
                        <a:rPr lang="fr-CA" dirty="0">
                          <a:solidFill>
                            <a:schemeClr val="tx1"/>
                          </a:solidFill>
                        </a:rPr>
                        <a:t> (IAS 41)</a:t>
                      </a:r>
                      <a:endParaRPr lang="fr-CA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fr-CA" dirty="0"/>
                        <a:t>La</a:t>
                      </a:r>
                      <a:r>
                        <a:rPr lang="fr-CA" baseline="0" dirty="0"/>
                        <a:t> norme ne s’applique pas à </a:t>
                      </a:r>
                      <a:r>
                        <a:rPr lang="fr-CA" baseline="0" dirty="0">
                          <a:solidFill>
                            <a:srgbClr val="0070C0"/>
                          </a:solidFill>
                        </a:rPr>
                        <a:t>l’évaluation</a:t>
                      </a:r>
                      <a:r>
                        <a:rPr lang="fr-CA" baseline="0" dirty="0"/>
                        <a:t> des stocks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/>
                        <a:t>pour certains produits agricoles (évalués à la valeur nette de réalisation)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/>
                        <a:t>des courtiers négociants en marchandises évalués à la juste valeur diminuée des coûts de vente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b="1" dirty="0"/>
                        <a:t>Champ d’application</a:t>
                      </a:r>
                    </a:p>
                    <a:p>
                      <a:r>
                        <a:rPr lang="fr-CA" dirty="0"/>
                        <a:t>Tous les stocks </a:t>
                      </a:r>
                      <a:r>
                        <a:rPr lang="fr-CA" dirty="0">
                          <a:solidFill>
                            <a:srgbClr val="0070C0"/>
                          </a:solidFill>
                        </a:rPr>
                        <a:t>sauf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dirty="0">
                          <a:solidFill>
                            <a:schemeClr val="tx1"/>
                          </a:solidFill>
                        </a:rPr>
                        <a:t>Selon la</a:t>
                      </a:r>
                      <a:r>
                        <a:rPr lang="fr-CA" baseline="0" dirty="0">
                          <a:solidFill>
                            <a:schemeClr val="tx1"/>
                          </a:solidFill>
                        </a:rPr>
                        <a:t> méthode de l’avancement des travaux (</a:t>
                      </a:r>
                      <a:r>
                        <a:rPr lang="fr-CA" baseline="0" dirty="0" err="1">
                          <a:solidFill>
                            <a:schemeClr val="tx1"/>
                          </a:solidFill>
                        </a:rPr>
                        <a:t>chap</a:t>
                      </a:r>
                      <a:r>
                        <a:rPr lang="fr-CA" baseline="0" dirty="0">
                          <a:solidFill>
                            <a:schemeClr val="tx1"/>
                          </a:solidFill>
                        </a:rPr>
                        <a:t> 3400)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>
                          <a:solidFill>
                            <a:schemeClr val="tx1"/>
                          </a:solidFill>
                        </a:rPr>
                        <a:t>Les instruments financiers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 stocks agricoles détenus par les producteurs agricoles (chap. </a:t>
                      </a:r>
                      <a:r>
                        <a:rPr lang="fr-CA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3041</a:t>
                      </a:r>
                      <a:r>
                        <a:rPr lang="fr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CA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CA" dirty="0"/>
                        <a:t>La</a:t>
                      </a:r>
                      <a:r>
                        <a:rPr lang="fr-CA" baseline="0" dirty="0"/>
                        <a:t> norme ne s’applique pas à </a:t>
                      </a:r>
                      <a:r>
                        <a:rPr lang="fr-CA" baseline="0" dirty="0">
                          <a:solidFill>
                            <a:srgbClr val="0070C0"/>
                          </a:solidFill>
                        </a:rPr>
                        <a:t>l’évaluation</a:t>
                      </a:r>
                      <a:r>
                        <a:rPr lang="fr-CA" baseline="0" dirty="0"/>
                        <a:t> des stocks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/>
                        <a:t>pour certains produits agricoles (évalués à la valeur nette de réalisation)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A" baseline="0" dirty="0"/>
                        <a:t>des courtiers négociants en marchandises évalués à la juste valeur diminuée des coûts de vente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197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Stocks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Actifs</a:t>
            </a:r>
          </a:p>
          <a:p>
            <a:r>
              <a:rPr lang="fr-CA" dirty="0"/>
              <a:t>Détenus en vue de la vente dans le cours normal de l’activité</a:t>
            </a:r>
          </a:p>
          <a:p>
            <a:r>
              <a:rPr lang="fr-CA" dirty="0"/>
              <a:t>En cours de production pour une telle vente ; OU</a:t>
            </a:r>
          </a:p>
          <a:p>
            <a:r>
              <a:rPr lang="fr-CA" dirty="0"/>
              <a:t>Sous forme de matières premières ou de fournitures devant être consommées dans le processus de production ou de prestation de services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77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Stocks – enjeux potentiels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>
                <a:solidFill>
                  <a:srgbClr val="0070C0"/>
                </a:solidFill>
              </a:rPr>
              <a:t>FAB</a:t>
            </a:r>
            <a:r>
              <a:rPr lang="fr-CA" dirty="0"/>
              <a:t> (usine, port…) : à partir de quand détient le stock, quand </a:t>
            </a:r>
            <a:r>
              <a:rPr lang="fr-CA" dirty="0" err="1"/>
              <a:t>décomptabiliser</a:t>
            </a:r>
            <a:r>
              <a:rPr lang="fr-CA" dirty="0"/>
              <a:t> en lien avec une vente de marchandises</a:t>
            </a:r>
          </a:p>
          <a:p>
            <a:r>
              <a:rPr lang="fr-CA" dirty="0">
                <a:solidFill>
                  <a:srgbClr val="0070C0"/>
                </a:solidFill>
              </a:rPr>
              <a:t>Marchandises en consignation</a:t>
            </a:r>
            <a:r>
              <a:rPr lang="fr-CA" dirty="0"/>
              <a:t> : demeure dans nos actifs même si physiquement chez le « client » (et inversement doit exclure les stocks en consignation détenus mais qui appartiennent au fournisseur)</a:t>
            </a:r>
          </a:p>
          <a:p>
            <a:r>
              <a:rPr lang="fr-CA" dirty="0">
                <a:solidFill>
                  <a:srgbClr val="0070C0"/>
                </a:solidFill>
              </a:rPr>
              <a:t>Marchandises vendues avec entente de rachat</a:t>
            </a:r>
            <a:r>
              <a:rPr lang="fr-CA" dirty="0"/>
              <a:t> : pas considéré une vente, donc conserver dans les stocks </a:t>
            </a:r>
          </a:p>
          <a:p>
            <a:r>
              <a:rPr lang="fr-CA" dirty="0">
                <a:solidFill>
                  <a:srgbClr val="0070C0"/>
                </a:solidFill>
              </a:rPr>
              <a:t>Vente avec droit de retour</a:t>
            </a:r>
            <a:r>
              <a:rPr lang="fr-CA" dirty="0"/>
              <a:t> : si ne peut estimer le nombre qui sera retourné (voir norme sur les produits), doit conserver dans les stocks, ou encore conserver dans les stocks la portion estimée des retours – qui est considérée non vendue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19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Valeur nette de réalisation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b="1" dirty="0"/>
              <a:t>Valeur nette de réalisation</a:t>
            </a:r>
          </a:p>
          <a:p>
            <a:pPr marL="0" indent="0">
              <a:buNone/>
            </a:pPr>
            <a:r>
              <a:rPr lang="fr-CA" dirty="0"/>
              <a:t>Prix de vente estimé dans le cours normal de l’activité, diminué des coûts estimés pour l’achèvement et des coûts estimés nécessaires pour réaliser la vente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b="1" dirty="0"/>
              <a:t>Juste valeur</a:t>
            </a:r>
          </a:p>
          <a:p>
            <a:pPr marL="0" indent="0">
              <a:buNone/>
            </a:pPr>
            <a:r>
              <a:rPr lang="fr-CA" dirty="0"/>
              <a:t>Prix qui serait reçu pour la vente d’un actif ou payé pour le transfert d’un passif lors d’une transaction normale entre des intervenants du marché à la date d’évaluation (IFRS 13)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90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Évaluation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Coût des stocks</a:t>
            </a:r>
          </a:p>
          <a:p>
            <a:pPr lvl="1"/>
            <a:r>
              <a:rPr lang="fr-CA" dirty="0"/>
              <a:t>Coûts d’acquisition, coûts de transformation et autres coûts engagés pour amener les stocks à l’endroit et dans l’état où ils se trouvent</a:t>
            </a:r>
          </a:p>
          <a:p>
            <a:pPr lvl="1"/>
            <a:endParaRPr lang="fr-CA" dirty="0"/>
          </a:p>
          <a:p>
            <a:r>
              <a:rPr lang="fr-CA" dirty="0"/>
              <a:t>Moindre du coût et de la valeur nette de réalisation</a:t>
            </a:r>
          </a:p>
          <a:p>
            <a:pPr lvl="1"/>
            <a:r>
              <a:rPr lang="fr-CA" dirty="0"/>
              <a:t>Dépréciation</a:t>
            </a:r>
          </a:p>
          <a:p>
            <a:pPr lvl="2"/>
            <a:r>
              <a:rPr lang="fr-CA" dirty="0"/>
              <a:t>Marchandises endommagées, désuètes, baisse du prix de vente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CA" dirty="0"/>
              <a:t>Reprise de dépréciation autorisée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575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Inclure dans le coût des stocks?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Les droits de douane?</a:t>
            </a:r>
          </a:p>
          <a:p>
            <a:r>
              <a:rPr lang="fr-CA" dirty="0"/>
              <a:t>Les taxes de vente (TPS, TVQ) payées?</a:t>
            </a:r>
          </a:p>
          <a:p>
            <a:r>
              <a:rPr lang="fr-CA" dirty="0"/>
              <a:t>Les frais de transport</a:t>
            </a:r>
          </a:p>
          <a:p>
            <a:pPr lvl="1"/>
            <a:r>
              <a:rPr lang="fr-CA" dirty="0"/>
              <a:t>À l’usine?</a:t>
            </a:r>
          </a:p>
          <a:p>
            <a:pPr lvl="1"/>
            <a:r>
              <a:rPr lang="fr-CA" dirty="0"/>
              <a:t>Chez le client?</a:t>
            </a:r>
          </a:p>
          <a:p>
            <a:r>
              <a:rPr lang="fr-CA" dirty="0"/>
              <a:t>Les remises des fournisseurs?</a:t>
            </a:r>
          </a:p>
          <a:p>
            <a:r>
              <a:rPr lang="fr-CA" dirty="0"/>
              <a:t>Les frais d’assurance de la bâtisse à l’intérieur de laquelle se trouve les unités de production?</a:t>
            </a:r>
          </a:p>
          <a:p>
            <a:r>
              <a:rPr lang="fr-CA" dirty="0"/>
              <a:t>Les frais d’entreposage?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02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Inclure dans le coût des stocks?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CA" dirty="0"/>
              <a:t>Les droits de douane? </a:t>
            </a:r>
            <a:r>
              <a:rPr lang="fr-CA" dirty="0">
                <a:solidFill>
                  <a:srgbClr val="00B0F0"/>
                </a:solidFill>
              </a:rPr>
              <a:t>Oui</a:t>
            </a:r>
            <a:endParaRPr lang="fr-CA" dirty="0"/>
          </a:p>
          <a:p>
            <a:r>
              <a:rPr lang="fr-CA" dirty="0"/>
              <a:t>Les taxes de vente (TPS, TVQ) payées? </a:t>
            </a:r>
            <a:r>
              <a:rPr lang="fr-CA" dirty="0">
                <a:solidFill>
                  <a:srgbClr val="00B0F0"/>
                </a:solidFill>
              </a:rPr>
              <a:t>Seulement si non remboursables</a:t>
            </a:r>
            <a:endParaRPr lang="fr-CA" dirty="0"/>
          </a:p>
          <a:p>
            <a:r>
              <a:rPr lang="fr-CA" dirty="0"/>
              <a:t>Les frais de transport</a:t>
            </a:r>
          </a:p>
          <a:p>
            <a:pPr lvl="1"/>
            <a:r>
              <a:rPr lang="fr-CA" dirty="0"/>
              <a:t>À l’usine? </a:t>
            </a:r>
            <a:r>
              <a:rPr lang="fr-CA" dirty="0">
                <a:solidFill>
                  <a:srgbClr val="00B0F0"/>
                </a:solidFill>
              </a:rPr>
              <a:t>Oui</a:t>
            </a:r>
            <a:endParaRPr lang="fr-CA" dirty="0"/>
          </a:p>
          <a:p>
            <a:pPr lvl="1"/>
            <a:r>
              <a:rPr lang="fr-CA" dirty="0"/>
              <a:t>Chez le client? </a:t>
            </a:r>
            <a:r>
              <a:rPr lang="fr-CA" dirty="0">
                <a:solidFill>
                  <a:srgbClr val="00B0F0"/>
                </a:solidFill>
              </a:rPr>
              <a:t>Non, les frais de livraison sont présentés avec les frais de vente</a:t>
            </a:r>
            <a:endParaRPr lang="fr-CA" dirty="0"/>
          </a:p>
          <a:p>
            <a:r>
              <a:rPr lang="fr-CA" dirty="0"/>
              <a:t>Les remises des fournisseurs? </a:t>
            </a:r>
            <a:r>
              <a:rPr lang="fr-CA" dirty="0">
                <a:solidFill>
                  <a:srgbClr val="00B0F0"/>
                </a:solidFill>
              </a:rPr>
              <a:t>Non, plutôt en réduction du coût d’achat – dans les stocks à l’actif si non vendus, réduction du coût des ventes pour la portion vendue</a:t>
            </a:r>
            <a:endParaRPr lang="fr-CA" dirty="0"/>
          </a:p>
          <a:p>
            <a:r>
              <a:rPr lang="fr-CA" dirty="0"/>
              <a:t>Les frais d’assurance de la bâtisse à l’intérieur de laquelle se trouve les unités de production? </a:t>
            </a:r>
            <a:r>
              <a:rPr lang="fr-CA" dirty="0">
                <a:solidFill>
                  <a:srgbClr val="00B0F0"/>
                </a:solidFill>
              </a:rPr>
              <a:t>Rappel des notions de frais généraux fixes et variables, liés à la production</a:t>
            </a:r>
          </a:p>
          <a:p>
            <a:r>
              <a:rPr lang="fr-CA" dirty="0">
                <a:solidFill>
                  <a:srgbClr val="00B0F0"/>
                </a:solidFill>
              </a:rPr>
              <a:t>Base capacité normale de production (si production moindre, l’excédent des coûts doivent être passés en charge)</a:t>
            </a:r>
            <a:endParaRPr lang="fr-CA" dirty="0"/>
          </a:p>
          <a:p>
            <a:r>
              <a:rPr lang="fr-CA" dirty="0"/>
              <a:t>Les frais d’entreposage? </a:t>
            </a:r>
            <a:r>
              <a:rPr lang="fr-CA" dirty="0">
                <a:solidFill>
                  <a:srgbClr val="00B0F0"/>
                </a:solidFill>
              </a:rPr>
              <a:t>Non, sauf si pendant le processus de produit en cours (par exemple formage vieilli, vin)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3009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Inclure dans le coût des stocks?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La valeur nette de réalisation des sous-produits?</a:t>
            </a:r>
          </a:p>
          <a:p>
            <a:pPr lvl="1"/>
            <a:r>
              <a:rPr lang="fr-CA" dirty="0"/>
              <a:t>Ou au chiffre d’affaires?</a:t>
            </a:r>
          </a:p>
          <a:p>
            <a:pPr marL="457200" lvl="1" indent="0">
              <a:buNone/>
            </a:pPr>
            <a:endParaRPr lang="fr-CA" dirty="0"/>
          </a:p>
          <a:p>
            <a:r>
              <a:rPr lang="fr-CA" dirty="0"/>
              <a:t>Les pertes de production</a:t>
            </a:r>
          </a:p>
          <a:p>
            <a:pPr lvl="1"/>
            <a:r>
              <a:rPr lang="fr-CA" dirty="0"/>
              <a:t>Normales et anormales?</a:t>
            </a:r>
          </a:p>
          <a:p>
            <a:pPr lvl="1"/>
            <a:endParaRPr lang="fr-CA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Coûts d’emprunt si longue période de préparation : se référer à la norme (IAS 23, Chap. 3850)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39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Inclure dans le coût des stocks?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555531"/>
            <a:ext cx="10515600" cy="4621432"/>
          </a:xfrm>
        </p:spPr>
        <p:txBody>
          <a:bodyPr>
            <a:normAutofit fontScale="92500" lnSpcReduction="20000"/>
          </a:bodyPr>
          <a:lstStyle/>
          <a:p>
            <a:r>
              <a:rPr lang="fr-CA" dirty="0"/>
              <a:t>La valeur nette de réalisation des sous-produits?</a:t>
            </a:r>
          </a:p>
          <a:p>
            <a:pPr lvl="1"/>
            <a:r>
              <a:rPr lang="fr-CA" dirty="0"/>
              <a:t>Ou au chiffre d’affaires?</a:t>
            </a:r>
          </a:p>
          <a:p>
            <a:pPr lvl="2"/>
            <a:r>
              <a:rPr lang="fr-CA" dirty="0">
                <a:solidFill>
                  <a:srgbClr val="00B0F0"/>
                </a:solidFill>
              </a:rPr>
              <a:t>Selon l’importance des sous-produits et de la présentation de cet apport : en réduction du coût des ventes (si non matériel) et devient une autre ligne d’affaires (si matériel). Pensez à l’impact sur le ratio de la marge brute</a:t>
            </a:r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r>
              <a:rPr lang="fr-CA" dirty="0"/>
              <a:t>Les pertes de production</a:t>
            </a:r>
          </a:p>
          <a:p>
            <a:pPr lvl="1"/>
            <a:r>
              <a:rPr lang="fr-CA" dirty="0"/>
              <a:t>Normales et anormales?</a:t>
            </a:r>
          </a:p>
          <a:p>
            <a:pPr lvl="2"/>
            <a:r>
              <a:rPr lang="fr-CA" dirty="0">
                <a:solidFill>
                  <a:srgbClr val="00B0F0"/>
                </a:solidFill>
              </a:rPr>
              <a:t>Uniquement les pertes normes peuvent être incluses dans le coût des stocks</a:t>
            </a:r>
            <a:endParaRPr lang="fr-CA" dirty="0"/>
          </a:p>
          <a:p>
            <a:pPr lvl="1"/>
            <a:endParaRPr lang="fr-CA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Coûts d’emprunt si longue période de préparation : se référer à la norme (IAS 23, Chap. 3850)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CA" dirty="0">
                <a:solidFill>
                  <a:srgbClr val="00B0F0"/>
                </a:solidFill>
              </a:rPr>
              <a:t>Différences entre IFRS et NCECF 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CA" dirty="0">
                <a:solidFill>
                  <a:srgbClr val="00B0F0"/>
                </a:solidFill>
              </a:rPr>
              <a:t>Choix de méthode comptable de capitaliser les intérêts en NCECF, mais critères à rencontrer – les intérêts doivent être « rattachés » au financement des stocks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CA" dirty="0">
                <a:solidFill>
                  <a:srgbClr val="00B0F0"/>
                </a:solidFill>
              </a:rPr>
              <a:t>Obligatoire de capitaliser les intérêts en IFRS – critère « longue période »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961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Techniques d’évaluation du 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PEPS, coût moyen pondéré et coût spécifique</a:t>
            </a:r>
          </a:p>
          <a:p>
            <a:pPr lvl="1"/>
            <a:r>
              <a:rPr lang="fr-CA" dirty="0"/>
              <a:t>Coût spécifique quand peu d’unités, diffèrent et à coût unitaire élevé</a:t>
            </a:r>
          </a:p>
          <a:p>
            <a:endParaRPr lang="fr-CA" dirty="0"/>
          </a:p>
          <a:p>
            <a:r>
              <a:rPr lang="fr-CA" dirty="0"/>
              <a:t>Méthode du coût standard et méthode du prix de détail</a:t>
            </a:r>
          </a:p>
          <a:p>
            <a:pPr lvl="1"/>
            <a:r>
              <a:rPr lang="fr-CA" dirty="0"/>
              <a:t>Si ces méthodes donnent des résultats proches du coût</a:t>
            </a:r>
          </a:p>
          <a:p>
            <a:pPr lvl="2"/>
            <a:r>
              <a:rPr lang="fr-CA" dirty="0"/>
              <a:t>Pour des raisons pratiques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32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30F1-CE63-AE13-17C4-A05BB4C9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Systèmes d’inventaire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7A7C6-3586-D5E3-112B-4E0394872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2157"/>
            <a:ext cx="10515600" cy="4351338"/>
          </a:xfrm>
        </p:spPr>
        <p:txBody>
          <a:bodyPr/>
          <a:lstStyle/>
          <a:p>
            <a:r>
              <a:rPr lang="fr-CA" dirty="0"/>
              <a:t>Système d’inventaire permanent : </a:t>
            </a:r>
          </a:p>
          <a:p>
            <a:pPr lvl="1"/>
            <a:r>
              <a:rPr lang="fr-CA" dirty="0"/>
              <a:t>Mis à jour constamment</a:t>
            </a:r>
          </a:p>
          <a:p>
            <a:pPr lvl="1"/>
            <a:r>
              <a:rPr lang="fr-CA" dirty="0"/>
              <a:t>Souvent utilisé avec un « lecteur » pour les marchandises à l’entrée / à la sortie de l’entrepôt</a:t>
            </a:r>
          </a:p>
          <a:p>
            <a:pPr lvl="2"/>
            <a:r>
              <a:rPr lang="fr-CA" dirty="0"/>
              <a:t>Permet une meilleure gestion des quantités en inventaire</a:t>
            </a:r>
          </a:p>
          <a:p>
            <a:pPr marL="914400" lvl="2" indent="0">
              <a:buNone/>
            </a:pPr>
            <a:endParaRPr lang="fr-CA" dirty="0"/>
          </a:p>
          <a:p>
            <a:r>
              <a:rPr lang="fr-CA" dirty="0"/>
              <a:t>Système d’inventaire périodique :</a:t>
            </a:r>
          </a:p>
          <a:p>
            <a:pPr lvl="1"/>
            <a:r>
              <a:rPr lang="fr-CA" dirty="0"/>
              <a:t>Correction des livres lors des décomptes</a:t>
            </a:r>
          </a:p>
          <a:p>
            <a:pPr lvl="2"/>
            <a:r>
              <a:rPr lang="fr-CA" dirty="0"/>
              <a:t>Très peu utilisé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48358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953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Thème Office</vt:lpstr>
      <vt:lpstr>Stocks  </vt:lpstr>
      <vt:lpstr>Stocks</vt:lpstr>
      <vt:lpstr>Stocks</vt:lpstr>
      <vt:lpstr>Stocks</vt:lpstr>
      <vt:lpstr>Stocks – enjeux potentiels</vt:lpstr>
      <vt:lpstr>Valeur nette de réalisation</vt:lpstr>
      <vt:lpstr>Évaluation</vt:lpstr>
      <vt:lpstr>Inclure dans le coût des stocks?</vt:lpstr>
      <vt:lpstr>Inclure dans le coût des stocks?</vt:lpstr>
      <vt:lpstr>Inclure dans le coût des stocks?</vt:lpstr>
      <vt:lpstr>Inclure dans le coût des stocks?</vt:lpstr>
      <vt:lpstr>Techniques d’évaluation du coût</vt:lpstr>
      <vt:lpstr>Systèmes d’inventaire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  </dc:title>
  <dc:creator>louise overbeek</dc:creator>
  <cp:lastModifiedBy>Louise Overbeek</cp:lastModifiedBy>
  <cp:revision>3</cp:revision>
  <dcterms:created xsi:type="dcterms:W3CDTF">2020-09-01T00:10:27Z</dcterms:created>
  <dcterms:modified xsi:type="dcterms:W3CDTF">2024-09-09T16:14:23Z</dcterms:modified>
</cp:coreProperties>
</file>