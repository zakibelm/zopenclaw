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bookmarkIdSeed="2">
  <p:sldMasterIdLst>
    <p:sldMasterId id="2147483648" r:id="rId1"/>
  </p:sldMasterIdLst>
  <p:notesMasterIdLst>
    <p:notesMasterId r:id="rId31"/>
  </p:notesMasterIdLst>
  <p:handoutMasterIdLst>
    <p:handoutMasterId r:id="rId32"/>
  </p:handoutMasterIdLst>
  <p:sldIdLst>
    <p:sldId id="256" r:id="rId2"/>
    <p:sldId id="1111" r:id="rId3"/>
    <p:sldId id="1113" r:id="rId4"/>
    <p:sldId id="1114" r:id="rId5"/>
    <p:sldId id="1115" r:id="rId6"/>
    <p:sldId id="1116" r:id="rId7"/>
    <p:sldId id="1117" r:id="rId8"/>
    <p:sldId id="1099" r:id="rId9"/>
    <p:sldId id="1091" r:id="rId10"/>
    <p:sldId id="258" r:id="rId11"/>
    <p:sldId id="257" r:id="rId12"/>
    <p:sldId id="1118" r:id="rId13"/>
    <p:sldId id="1119" r:id="rId14"/>
    <p:sldId id="259" r:id="rId15"/>
    <p:sldId id="260" r:id="rId16"/>
    <p:sldId id="261" r:id="rId17"/>
    <p:sldId id="262" r:id="rId18"/>
    <p:sldId id="264" r:id="rId19"/>
    <p:sldId id="1100" r:id="rId20"/>
    <p:sldId id="1107" r:id="rId21"/>
    <p:sldId id="1104" r:id="rId22"/>
    <p:sldId id="1105" r:id="rId23"/>
    <p:sldId id="263" r:id="rId24"/>
    <p:sldId id="1093" r:id="rId25"/>
    <p:sldId id="1094" r:id="rId26"/>
    <p:sldId id="1095" r:id="rId27"/>
    <p:sldId id="1096" r:id="rId28"/>
    <p:sldId id="1097" r:id="rId29"/>
    <p:sldId id="1098" r:id="rId30"/>
  </p:sldIdLst>
  <p:sldSz cx="12192000" cy="6858000"/>
  <p:notesSz cx="7010400" cy="92964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4" autoAdjust="0"/>
    <p:restoredTop sz="91751" autoAdjust="0"/>
  </p:normalViewPr>
  <p:slideViewPr>
    <p:cSldViewPr snapToGrid="0">
      <p:cViewPr varScale="1">
        <p:scale>
          <a:sx n="87" d="100"/>
          <a:sy n="87" d="100"/>
        </p:scale>
        <p:origin x="528"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fr-CA"/>
          </a:p>
        </p:txBody>
      </p:sp>
      <p:sp>
        <p:nvSpPr>
          <p:cNvPr id="3" name="Espace réservé de la date 2"/>
          <p:cNvSpPr>
            <a:spLocks noGrp="1"/>
          </p:cNvSpPr>
          <p:nvPr>
            <p:ph type="dt" sz="quarter" idx="1"/>
          </p:nvPr>
        </p:nvSpPr>
        <p:spPr>
          <a:xfrm>
            <a:off x="3970938" y="0"/>
            <a:ext cx="3037840" cy="466434"/>
          </a:xfrm>
          <a:prstGeom prst="rect">
            <a:avLst/>
          </a:prstGeom>
        </p:spPr>
        <p:txBody>
          <a:bodyPr vert="horz" lIns="93177" tIns="46589" rIns="93177" bIns="46589" rtlCol="0"/>
          <a:lstStyle>
            <a:lvl1pPr algn="r">
              <a:defRPr sz="1200"/>
            </a:lvl1pPr>
          </a:lstStyle>
          <a:p>
            <a:fld id="{D77C3C12-9C54-444F-B5E4-37468A57A59E}" type="datetimeFigureOut">
              <a:rPr lang="fr-CA" smtClean="0"/>
              <a:t>2025-01-21</a:t>
            </a:fld>
            <a:endParaRPr lang="fr-CA"/>
          </a:p>
        </p:txBody>
      </p:sp>
      <p:sp>
        <p:nvSpPr>
          <p:cNvPr id="4" name="Espace réservé du pied de page 3"/>
          <p:cNvSpPr>
            <a:spLocks noGrp="1"/>
          </p:cNvSpPr>
          <p:nvPr>
            <p:ph type="ftr" sz="quarter" idx="2"/>
          </p:nvPr>
        </p:nvSpPr>
        <p:spPr>
          <a:xfrm>
            <a:off x="0" y="8829967"/>
            <a:ext cx="3037840" cy="466433"/>
          </a:xfrm>
          <a:prstGeom prst="rect">
            <a:avLst/>
          </a:prstGeom>
        </p:spPr>
        <p:txBody>
          <a:bodyPr vert="horz" lIns="93177" tIns="46589" rIns="93177" bIns="46589" rtlCol="0" anchor="b"/>
          <a:lstStyle>
            <a:lvl1pPr algn="l">
              <a:defRPr sz="1200"/>
            </a:lvl1pPr>
          </a:lstStyle>
          <a:p>
            <a:endParaRPr lang="fr-CA"/>
          </a:p>
        </p:txBody>
      </p:sp>
      <p:sp>
        <p:nvSpPr>
          <p:cNvPr id="5" name="Espace réservé du numéro de diapositive 4"/>
          <p:cNvSpPr>
            <a:spLocks noGrp="1"/>
          </p:cNvSpPr>
          <p:nvPr>
            <p:ph type="sldNum" sz="quarter" idx="3"/>
          </p:nvPr>
        </p:nvSpPr>
        <p:spPr>
          <a:xfrm>
            <a:off x="3970938" y="8829967"/>
            <a:ext cx="3037840" cy="466433"/>
          </a:xfrm>
          <a:prstGeom prst="rect">
            <a:avLst/>
          </a:prstGeom>
        </p:spPr>
        <p:txBody>
          <a:bodyPr vert="horz" lIns="93177" tIns="46589" rIns="93177" bIns="46589" rtlCol="0" anchor="b"/>
          <a:lstStyle>
            <a:lvl1pPr algn="r">
              <a:defRPr sz="1200"/>
            </a:lvl1pPr>
          </a:lstStyle>
          <a:p>
            <a:fld id="{21225DBB-4AEF-4F12-A1AD-50F0E34AB018}" type="slidenum">
              <a:rPr lang="fr-CA" smtClean="0"/>
              <a:t>‹N°›</a:t>
            </a:fld>
            <a:endParaRPr lang="fr-CA"/>
          </a:p>
        </p:txBody>
      </p:sp>
    </p:spTree>
    <p:extLst>
      <p:ext uri="{BB962C8B-B14F-4D97-AF65-F5344CB8AC3E}">
        <p14:creationId xmlns:p14="http://schemas.microsoft.com/office/powerpoint/2010/main" val="129939793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fr-CA"/>
          </a:p>
        </p:txBody>
      </p:sp>
      <p:sp>
        <p:nvSpPr>
          <p:cNvPr id="3" name="Espace réservé de la date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9F6B695E-DA8C-4C9A-9726-454FD24B8372}" type="datetimeFigureOut">
              <a:rPr lang="fr-CA" smtClean="0"/>
              <a:t>2025-01-21</a:t>
            </a:fld>
            <a:endParaRPr lang="fr-CA"/>
          </a:p>
        </p:txBody>
      </p:sp>
      <p:sp>
        <p:nvSpPr>
          <p:cNvPr id="4" name="Espace réservé de l'image des diapositives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fr-CA"/>
          </a:p>
        </p:txBody>
      </p:sp>
      <p:sp>
        <p:nvSpPr>
          <p:cNvPr id="5" name="Espace réservé des commentaires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6" name="Espace réservé du pied de page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fr-CA"/>
          </a:p>
        </p:txBody>
      </p:sp>
      <p:sp>
        <p:nvSpPr>
          <p:cNvPr id="7" name="Espace réservé du numéro de diapositive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DC77BC78-35F9-4197-9233-59C56D47DAE9}" type="slidenum">
              <a:rPr lang="fr-CA" smtClean="0"/>
              <a:t>‹N°›</a:t>
            </a:fld>
            <a:endParaRPr lang="fr-CA"/>
          </a:p>
        </p:txBody>
      </p:sp>
    </p:spTree>
    <p:extLst>
      <p:ext uri="{BB962C8B-B14F-4D97-AF65-F5344CB8AC3E}">
        <p14:creationId xmlns:p14="http://schemas.microsoft.com/office/powerpoint/2010/main" val="16499064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Pose la question a la prof concernant les opérations entre apparenté et aussi sur le cours rôle et mandat (comment la réponse) </a:t>
            </a:r>
          </a:p>
        </p:txBody>
      </p:sp>
      <p:sp>
        <p:nvSpPr>
          <p:cNvPr id="4" name="Espace réservé du numéro de diapositive 3"/>
          <p:cNvSpPr>
            <a:spLocks noGrp="1"/>
          </p:cNvSpPr>
          <p:nvPr>
            <p:ph type="sldNum" sz="quarter" idx="5"/>
          </p:nvPr>
        </p:nvSpPr>
        <p:spPr/>
        <p:txBody>
          <a:bodyPr/>
          <a:lstStyle/>
          <a:p>
            <a:fld id="{DC77BC78-35F9-4197-9233-59C56D47DAE9}" type="slidenum">
              <a:rPr lang="fr-CA" smtClean="0"/>
              <a:t>2</a:t>
            </a:fld>
            <a:endParaRPr lang="fr-CA"/>
          </a:p>
        </p:txBody>
      </p:sp>
    </p:spTree>
    <p:extLst>
      <p:ext uri="{BB962C8B-B14F-4D97-AF65-F5344CB8AC3E}">
        <p14:creationId xmlns:p14="http://schemas.microsoft.com/office/powerpoint/2010/main" val="26278514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Dans la vie quotidienne attention a l’alcool au voulant donc l’éthique et l’intégrité sont primordiale même dans ta vie privée attention </a:t>
            </a:r>
          </a:p>
        </p:txBody>
      </p:sp>
      <p:sp>
        <p:nvSpPr>
          <p:cNvPr id="4" name="Espace réservé du numéro de diapositive 3"/>
          <p:cNvSpPr>
            <a:spLocks noGrp="1"/>
          </p:cNvSpPr>
          <p:nvPr>
            <p:ph type="sldNum" sz="quarter" idx="5"/>
          </p:nvPr>
        </p:nvSpPr>
        <p:spPr/>
        <p:txBody>
          <a:bodyPr/>
          <a:lstStyle/>
          <a:p>
            <a:fld id="{DC77BC78-35F9-4197-9233-59C56D47DAE9}" type="slidenum">
              <a:rPr lang="fr-CA" smtClean="0"/>
              <a:t>3</a:t>
            </a:fld>
            <a:endParaRPr lang="fr-CA"/>
          </a:p>
        </p:txBody>
      </p:sp>
    </p:spTree>
    <p:extLst>
      <p:ext uri="{BB962C8B-B14F-4D97-AF65-F5344CB8AC3E}">
        <p14:creationId xmlns:p14="http://schemas.microsoft.com/office/powerpoint/2010/main" val="9212602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fr-CA"/>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CA"/>
          </a:p>
        </p:txBody>
      </p:sp>
      <p:sp>
        <p:nvSpPr>
          <p:cNvPr id="4" name="Espace réservé de la date 3"/>
          <p:cNvSpPr>
            <a:spLocks noGrp="1"/>
          </p:cNvSpPr>
          <p:nvPr>
            <p:ph type="dt" sz="half" idx="10"/>
          </p:nvPr>
        </p:nvSpPr>
        <p:spPr/>
        <p:txBody>
          <a:bodyPr/>
          <a:lstStyle/>
          <a:p>
            <a:fld id="{CC993D6B-C879-4D8C-B455-5F873A23EFBB}" type="datetime1">
              <a:rPr lang="fr-CA" smtClean="0"/>
              <a:t>2025-01-21</a:t>
            </a:fld>
            <a:endParaRPr lang="fr-CA"/>
          </a:p>
        </p:txBody>
      </p:sp>
      <p:sp>
        <p:nvSpPr>
          <p:cNvPr id="5" name="Espace réservé du pied de page 4"/>
          <p:cNvSpPr>
            <a:spLocks noGrp="1"/>
          </p:cNvSpPr>
          <p:nvPr>
            <p:ph type="ftr" sz="quarter" idx="11"/>
          </p:nvPr>
        </p:nvSpPr>
        <p:spPr/>
        <p:txBody>
          <a:bodyPr/>
          <a:lstStyle/>
          <a:p>
            <a:r>
              <a:rPr lang="fr-CA"/>
              <a:t>Droits réservés - Louise Overbeek</a:t>
            </a:r>
          </a:p>
        </p:txBody>
      </p:sp>
      <p:sp>
        <p:nvSpPr>
          <p:cNvPr id="6" name="Espace réservé du numéro de diapositive 5"/>
          <p:cNvSpPr>
            <a:spLocks noGrp="1"/>
          </p:cNvSpPr>
          <p:nvPr>
            <p:ph type="sldNum" sz="quarter" idx="12"/>
          </p:nvPr>
        </p:nvSpPr>
        <p:spPr/>
        <p:txBody>
          <a:bodyPr/>
          <a:lstStyle/>
          <a:p>
            <a:fld id="{9CC8B0BC-FFD9-4597-847C-758F96E3D24E}" type="slidenum">
              <a:rPr lang="fr-CA" smtClean="0"/>
              <a:t>‹N°›</a:t>
            </a:fld>
            <a:endParaRPr lang="fr-CA"/>
          </a:p>
        </p:txBody>
      </p:sp>
    </p:spTree>
    <p:extLst>
      <p:ext uri="{BB962C8B-B14F-4D97-AF65-F5344CB8AC3E}">
        <p14:creationId xmlns:p14="http://schemas.microsoft.com/office/powerpoint/2010/main" val="1073284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CA"/>
          </a:p>
        </p:txBody>
      </p:sp>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p:cNvSpPr>
            <a:spLocks noGrp="1"/>
          </p:cNvSpPr>
          <p:nvPr>
            <p:ph type="dt" sz="half" idx="10"/>
          </p:nvPr>
        </p:nvSpPr>
        <p:spPr/>
        <p:txBody>
          <a:bodyPr/>
          <a:lstStyle/>
          <a:p>
            <a:fld id="{79D607F5-E95B-482F-A22F-1FDC86CED04E}" type="datetime1">
              <a:rPr lang="fr-CA" smtClean="0"/>
              <a:t>2025-01-21</a:t>
            </a:fld>
            <a:endParaRPr lang="fr-CA"/>
          </a:p>
        </p:txBody>
      </p:sp>
      <p:sp>
        <p:nvSpPr>
          <p:cNvPr id="5" name="Espace réservé du pied de page 4"/>
          <p:cNvSpPr>
            <a:spLocks noGrp="1"/>
          </p:cNvSpPr>
          <p:nvPr>
            <p:ph type="ftr" sz="quarter" idx="11"/>
          </p:nvPr>
        </p:nvSpPr>
        <p:spPr/>
        <p:txBody>
          <a:bodyPr/>
          <a:lstStyle/>
          <a:p>
            <a:r>
              <a:rPr lang="fr-CA"/>
              <a:t>Droits réservés - Louise Overbeek</a:t>
            </a:r>
          </a:p>
        </p:txBody>
      </p:sp>
      <p:sp>
        <p:nvSpPr>
          <p:cNvPr id="6" name="Espace réservé du numéro de diapositive 5"/>
          <p:cNvSpPr>
            <a:spLocks noGrp="1"/>
          </p:cNvSpPr>
          <p:nvPr>
            <p:ph type="sldNum" sz="quarter" idx="12"/>
          </p:nvPr>
        </p:nvSpPr>
        <p:spPr/>
        <p:txBody>
          <a:bodyPr/>
          <a:lstStyle/>
          <a:p>
            <a:fld id="{9CC8B0BC-FFD9-4597-847C-758F96E3D24E}" type="slidenum">
              <a:rPr lang="fr-CA" smtClean="0"/>
              <a:t>‹N°›</a:t>
            </a:fld>
            <a:endParaRPr lang="fr-CA"/>
          </a:p>
        </p:txBody>
      </p:sp>
    </p:spTree>
    <p:extLst>
      <p:ext uri="{BB962C8B-B14F-4D97-AF65-F5344CB8AC3E}">
        <p14:creationId xmlns:p14="http://schemas.microsoft.com/office/powerpoint/2010/main" val="4272666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fr-CA"/>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Modifiez les styles du texte du masque</a:t>
            </a:r>
          </a:p>
        </p:txBody>
      </p:sp>
      <p:sp>
        <p:nvSpPr>
          <p:cNvPr id="4" name="Espace réservé de la date 3"/>
          <p:cNvSpPr>
            <a:spLocks noGrp="1"/>
          </p:cNvSpPr>
          <p:nvPr>
            <p:ph type="dt" sz="half" idx="10"/>
          </p:nvPr>
        </p:nvSpPr>
        <p:spPr/>
        <p:txBody>
          <a:bodyPr/>
          <a:lstStyle/>
          <a:p>
            <a:fld id="{510064A2-F74F-41F4-9B58-0ED5FD944B93}" type="datetime1">
              <a:rPr lang="fr-CA" smtClean="0"/>
              <a:t>2025-01-21</a:t>
            </a:fld>
            <a:endParaRPr lang="fr-CA"/>
          </a:p>
        </p:txBody>
      </p:sp>
      <p:sp>
        <p:nvSpPr>
          <p:cNvPr id="5" name="Espace réservé du pied de page 4"/>
          <p:cNvSpPr>
            <a:spLocks noGrp="1"/>
          </p:cNvSpPr>
          <p:nvPr>
            <p:ph type="ftr" sz="quarter" idx="11"/>
          </p:nvPr>
        </p:nvSpPr>
        <p:spPr/>
        <p:txBody>
          <a:bodyPr/>
          <a:lstStyle/>
          <a:p>
            <a:r>
              <a:rPr lang="fr-CA"/>
              <a:t>Droits réservés - Louise Overbeek</a:t>
            </a:r>
          </a:p>
        </p:txBody>
      </p:sp>
      <p:sp>
        <p:nvSpPr>
          <p:cNvPr id="6" name="Espace réservé du numéro de diapositive 5"/>
          <p:cNvSpPr>
            <a:spLocks noGrp="1"/>
          </p:cNvSpPr>
          <p:nvPr>
            <p:ph type="sldNum" sz="quarter" idx="12"/>
          </p:nvPr>
        </p:nvSpPr>
        <p:spPr/>
        <p:txBody>
          <a:bodyPr/>
          <a:lstStyle/>
          <a:p>
            <a:fld id="{9CC8B0BC-FFD9-4597-847C-758F96E3D24E}" type="slidenum">
              <a:rPr lang="fr-CA" smtClean="0"/>
              <a:t>‹N°›</a:t>
            </a:fld>
            <a:endParaRPr lang="fr-CA"/>
          </a:p>
        </p:txBody>
      </p:sp>
    </p:spTree>
    <p:extLst>
      <p:ext uri="{BB962C8B-B14F-4D97-AF65-F5344CB8AC3E}">
        <p14:creationId xmlns:p14="http://schemas.microsoft.com/office/powerpoint/2010/main" val="36361696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CA"/>
          </a:p>
        </p:txBody>
      </p:sp>
      <p:sp>
        <p:nvSpPr>
          <p:cNvPr id="3" name="Espace réservé du contenu 2"/>
          <p:cNvSpPr>
            <a:spLocks noGrp="1"/>
          </p:cNvSpPr>
          <p:nvPr>
            <p:ph sz="half" idx="1"/>
          </p:nvPr>
        </p:nvSpPr>
        <p:spPr>
          <a:xfrm>
            <a:off x="838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5" name="Espace réservé de la date 4"/>
          <p:cNvSpPr>
            <a:spLocks noGrp="1"/>
          </p:cNvSpPr>
          <p:nvPr>
            <p:ph type="dt" sz="half" idx="10"/>
          </p:nvPr>
        </p:nvSpPr>
        <p:spPr/>
        <p:txBody>
          <a:bodyPr/>
          <a:lstStyle/>
          <a:p>
            <a:fld id="{6CE2D26A-D6D3-4623-AB23-402DF0E70A32}" type="datetime1">
              <a:rPr lang="fr-CA" smtClean="0"/>
              <a:t>2025-01-21</a:t>
            </a:fld>
            <a:endParaRPr lang="fr-CA"/>
          </a:p>
        </p:txBody>
      </p:sp>
      <p:sp>
        <p:nvSpPr>
          <p:cNvPr id="6" name="Espace réservé du pied de page 5"/>
          <p:cNvSpPr>
            <a:spLocks noGrp="1"/>
          </p:cNvSpPr>
          <p:nvPr>
            <p:ph type="ftr" sz="quarter" idx="11"/>
          </p:nvPr>
        </p:nvSpPr>
        <p:spPr/>
        <p:txBody>
          <a:bodyPr/>
          <a:lstStyle/>
          <a:p>
            <a:r>
              <a:rPr lang="fr-CA"/>
              <a:t>Droits réservés - Louise Overbeek</a:t>
            </a:r>
          </a:p>
        </p:txBody>
      </p:sp>
      <p:sp>
        <p:nvSpPr>
          <p:cNvPr id="7" name="Espace réservé du numéro de diapositive 6"/>
          <p:cNvSpPr>
            <a:spLocks noGrp="1"/>
          </p:cNvSpPr>
          <p:nvPr>
            <p:ph type="sldNum" sz="quarter" idx="12"/>
          </p:nvPr>
        </p:nvSpPr>
        <p:spPr/>
        <p:txBody>
          <a:bodyPr/>
          <a:lstStyle/>
          <a:p>
            <a:fld id="{9CC8B0BC-FFD9-4597-847C-758F96E3D24E}" type="slidenum">
              <a:rPr lang="fr-CA" smtClean="0"/>
              <a:t>‹N°›</a:t>
            </a:fld>
            <a:endParaRPr lang="fr-CA"/>
          </a:p>
        </p:txBody>
      </p:sp>
    </p:spTree>
    <p:extLst>
      <p:ext uri="{BB962C8B-B14F-4D97-AF65-F5344CB8AC3E}">
        <p14:creationId xmlns:p14="http://schemas.microsoft.com/office/powerpoint/2010/main" val="41520988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endParaRPr lang="fr-CA"/>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7" name="Espace réservé de la date 6"/>
          <p:cNvSpPr>
            <a:spLocks noGrp="1"/>
          </p:cNvSpPr>
          <p:nvPr>
            <p:ph type="dt" sz="half" idx="10"/>
          </p:nvPr>
        </p:nvSpPr>
        <p:spPr/>
        <p:txBody>
          <a:bodyPr/>
          <a:lstStyle/>
          <a:p>
            <a:fld id="{E7E5D883-916E-4709-8560-CB408DDB8003}" type="datetime1">
              <a:rPr lang="fr-CA" smtClean="0"/>
              <a:t>2025-01-21</a:t>
            </a:fld>
            <a:endParaRPr lang="fr-CA"/>
          </a:p>
        </p:txBody>
      </p:sp>
      <p:sp>
        <p:nvSpPr>
          <p:cNvPr id="8" name="Espace réservé du pied de page 7"/>
          <p:cNvSpPr>
            <a:spLocks noGrp="1"/>
          </p:cNvSpPr>
          <p:nvPr>
            <p:ph type="ftr" sz="quarter" idx="11"/>
          </p:nvPr>
        </p:nvSpPr>
        <p:spPr/>
        <p:txBody>
          <a:bodyPr/>
          <a:lstStyle/>
          <a:p>
            <a:r>
              <a:rPr lang="fr-CA"/>
              <a:t>Droits réservés - Louise Overbeek</a:t>
            </a:r>
          </a:p>
        </p:txBody>
      </p:sp>
      <p:sp>
        <p:nvSpPr>
          <p:cNvPr id="9" name="Espace réservé du numéro de diapositive 8"/>
          <p:cNvSpPr>
            <a:spLocks noGrp="1"/>
          </p:cNvSpPr>
          <p:nvPr>
            <p:ph type="sldNum" sz="quarter" idx="12"/>
          </p:nvPr>
        </p:nvSpPr>
        <p:spPr/>
        <p:txBody>
          <a:bodyPr/>
          <a:lstStyle/>
          <a:p>
            <a:fld id="{9CC8B0BC-FFD9-4597-847C-758F96E3D24E}" type="slidenum">
              <a:rPr lang="fr-CA" smtClean="0"/>
              <a:t>‹N°›</a:t>
            </a:fld>
            <a:endParaRPr lang="fr-CA"/>
          </a:p>
        </p:txBody>
      </p:sp>
    </p:spTree>
    <p:extLst>
      <p:ext uri="{BB962C8B-B14F-4D97-AF65-F5344CB8AC3E}">
        <p14:creationId xmlns:p14="http://schemas.microsoft.com/office/powerpoint/2010/main" val="19495778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CA"/>
          </a:p>
        </p:txBody>
      </p:sp>
      <p:sp>
        <p:nvSpPr>
          <p:cNvPr id="3" name="Espace réservé de la date 2"/>
          <p:cNvSpPr>
            <a:spLocks noGrp="1"/>
          </p:cNvSpPr>
          <p:nvPr>
            <p:ph type="dt" sz="half" idx="10"/>
          </p:nvPr>
        </p:nvSpPr>
        <p:spPr/>
        <p:txBody>
          <a:bodyPr/>
          <a:lstStyle/>
          <a:p>
            <a:fld id="{85920554-C7A0-43C0-B8A5-60D903740F5F}" type="datetime1">
              <a:rPr lang="fr-CA" smtClean="0"/>
              <a:t>2025-01-21</a:t>
            </a:fld>
            <a:endParaRPr lang="fr-CA"/>
          </a:p>
        </p:txBody>
      </p:sp>
      <p:sp>
        <p:nvSpPr>
          <p:cNvPr id="4" name="Espace réservé du pied de page 3"/>
          <p:cNvSpPr>
            <a:spLocks noGrp="1"/>
          </p:cNvSpPr>
          <p:nvPr>
            <p:ph type="ftr" sz="quarter" idx="11"/>
          </p:nvPr>
        </p:nvSpPr>
        <p:spPr/>
        <p:txBody>
          <a:bodyPr/>
          <a:lstStyle/>
          <a:p>
            <a:r>
              <a:rPr lang="fr-CA"/>
              <a:t>Droits réservés - Louise Overbeek</a:t>
            </a:r>
          </a:p>
        </p:txBody>
      </p:sp>
      <p:sp>
        <p:nvSpPr>
          <p:cNvPr id="5" name="Espace réservé du numéro de diapositive 4"/>
          <p:cNvSpPr>
            <a:spLocks noGrp="1"/>
          </p:cNvSpPr>
          <p:nvPr>
            <p:ph type="sldNum" sz="quarter" idx="12"/>
          </p:nvPr>
        </p:nvSpPr>
        <p:spPr/>
        <p:txBody>
          <a:bodyPr/>
          <a:lstStyle/>
          <a:p>
            <a:fld id="{9CC8B0BC-FFD9-4597-847C-758F96E3D24E}" type="slidenum">
              <a:rPr lang="fr-CA" smtClean="0"/>
              <a:t>‹N°›</a:t>
            </a:fld>
            <a:endParaRPr lang="fr-CA"/>
          </a:p>
        </p:txBody>
      </p:sp>
    </p:spTree>
    <p:extLst>
      <p:ext uri="{BB962C8B-B14F-4D97-AF65-F5344CB8AC3E}">
        <p14:creationId xmlns:p14="http://schemas.microsoft.com/office/powerpoint/2010/main" val="9015503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74187012-74FD-4D38-9DFD-5725006D9631}" type="datetime1">
              <a:rPr lang="fr-CA" smtClean="0"/>
              <a:t>2025-01-21</a:t>
            </a:fld>
            <a:endParaRPr lang="fr-CA"/>
          </a:p>
        </p:txBody>
      </p:sp>
      <p:sp>
        <p:nvSpPr>
          <p:cNvPr id="3" name="Espace réservé du pied de page 2"/>
          <p:cNvSpPr>
            <a:spLocks noGrp="1"/>
          </p:cNvSpPr>
          <p:nvPr>
            <p:ph type="ftr" sz="quarter" idx="11"/>
          </p:nvPr>
        </p:nvSpPr>
        <p:spPr/>
        <p:txBody>
          <a:bodyPr/>
          <a:lstStyle/>
          <a:p>
            <a:r>
              <a:rPr lang="fr-CA"/>
              <a:t>Droits réservés - Louise Overbeek</a:t>
            </a:r>
          </a:p>
        </p:txBody>
      </p:sp>
      <p:sp>
        <p:nvSpPr>
          <p:cNvPr id="4" name="Espace réservé du numéro de diapositive 3"/>
          <p:cNvSpPr>
            <a:spLocks noGrp="1"/>
          </p:cNvSpPr>
          <p:nvPr>
            <p:ph type="sldNum" sz="quarter" idx="12"/>
          </p:nvPr>
        </p:nvSpPr>
        <p:spPr/>
        <p:txBody>
          <a:bodyPr/>
          <a:lstStyle/>
          <a:p>
            <a:fld id="{9CC8B0BC-FFD9-4597-847C-758F96E3D24E}" type="slidenum">
              <a:rPr lang="fr-CA" smtClean="0"/>
              <a:t>‹N°›</a:t>
            </a:fld>
            <a:endParaRPr lang="fr-CA"/>
          </a:p>
        </p:txBody>
      </p:sp>
    </p:spTree>
    <p:extLst>
      <p:ext uri="{BB962C8B-B14F-4D97-AF65-F5344CB8AC3E}">
        <p14:creationId xmlns:p14="http://schemas.microsoft.com/office/powerpoint/2010/main" val="23758239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CA"/>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E0126252-7B06-4083-B0FA-3B4829BC1E42}" type="datetime1">
              <a:rPr lang="fr-CA" smtClean="0"/>
              <a:t>2025-01-21</a:t>
            </a:fld>
            <a:endParaRPr lang="fr-CA"/>
          </a:p>
        </p:txBody>
      </p:sp>
      <p:sp>
        <p:nvSpPr>
          <p:cNvPr id="6" name="Espace réservé du pied de page 5"/>
          <p:cNvSpPr>
            <a:spLocks noGrp="1"/>
          </p:cNvSpPr>
          <p:nvPr>
            <p:ph type="ftr" sz="quarter" idx="11"/>
          </p:nvPr>
        </p:nvSpPr>
        <p:spPr/>
        <p:txBody>
          <a:bodyPr/>
          <a:lstStyle/>
          <a:p>
            <a:r>
              <a:rPr lang="fr-CA"/>
              <a:t>Droits réservés - Louise Overbeek</a:t>
            </a:r>
          </a:p>
        </p:txBody>
      </p:sp>
      <p:sp>
        <p:nvSpPr>
          <p:cNvPr id="7" name="Espace réservé du numéro de diapositive 6"/>
          <p:cNvSpPr>
            <a:spLocks noGrp="1"/>
          </p:cNvSpPr>
          <p:nvPr>
            <p:ph type="sldNum" sz="quarter" idx="12"/>
          </p:nvPr>
        </p:nvSpPr>
        <p:spPr/>
        <p:txBody>
          <a:bodyPr/>
          <a:lstStyle/>
          <a:p>
            <a:fld id="{9CC8B0BC-FFD9-4597-847C-758F96E3D24E}" type="slidenum">
              <a:rPr lang="fr-CA" smtClean="0"/>
              <a:t>‹N°›</a:t>
            </a:fld>
            <a:endParaRPr lang="fr-CA"/>
          </a:p>
        </p:txBody>
      </p:sp>
    </p:spTree>
    <p:extLst>
      <p:ext uri="{BB962C8B-B14F-4D97-AF65-F5344CB8AC3E}">
        <p14:creationId xmlns:p14="http://schemas.microsoft.com/office/powerpoint/2010/main" val="13685537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CA"/>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CA"/>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E4451A14-3477-41B9-A57B-8E43DDF5E6AD}" type="datetime1">
              <a:rPr lang="fr-CA" smtClean="0"/>
              <a:t>2025-01-21</a:t>
            </a:fld>
            <a:endParaRPr lang="fr-CA"/>
          </a:p>
        </p:txBody>
      </p:sp>
      <p:sp>
        <p:nvSpPr>
          <p:cNvPr id="6" name="Espace réservé du pied de page 5"/>
          <p:cNvSpPr>
            <a:spLocks noGrp="1"/>
          </p:cNvSpPr>
          <p:nvPr>
            <p:ph type="ftr" sz="quarter" idx="11"/>
          </p:nvPr>
        </p:nvSpPr>
        <p:spPr/>
        <p:txBody>
          <a:bodyPr/>
          <a:lstStyle/>
          <a:p>
            <a:r>
              <a:rPr lang="fr-CA"/>
              <a:t>Droits réservés - Louise Overbeek</a:t>
            </a:r>
          </a:p>
        </p:txBody>
      </p:sp>
      <p:sp>
        <p:nvSpPr>
          <p:cNvPr id="7" name="Espace réservé du numéro de diapositive 6"/>
          <p:cNvSpPr>
            <a:spLocks noGrp="1"/>
          </p:cNvSpPr>
          <p:nvPr>
            <p:ph type="sldNum" sz="quarter" idx="12"/>
          </p:nvPr>
        </p:nvSpPr>
        <p:spPr/>
        <p:txBody>
          <a:bodyPr/>
          <a:lstStyle/>
          <a:p>
            <a:fld id="{9CC8B0BC-FFD9-4597-847C-758F96E3D24E}" type="slidenum">
              <a:rPr lang="fr-CA" smtClean="0"/>
              <a:t>‹N°›</a:t>
            </a:fld>
            <a:endParaRPr lang="fr-CA"/>
          </a:p>
        </p:txBody>
      </p:sp>
    </p:spTree>
    <p:extLst>
      <p:ext uri="{BB962C8B-B14F-4D97-AF65-F5344CB8AC3E}">
        <p14:creationId xmlns:p14="http://schemas.microsoft.com/office/powerpoint/2010/main" val="40497839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CA"/>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p:cNvSpPr>
            <a:spLocks noGrp="1"/>
          </p:cNvSpPr>
          <p:nvPr>
            <p:ph type="dt" sz="half" idx="10"/>
          </p:nvPr>
        </p:nvSpPr>
        <p:spPr/>
        <p:txBody>
          <a:bodyPr/>
          <a:lstStyle/>
          <a:p>
            <a:fld id="{A48AD5DE-4CF1-41F3-9516-D963FAD1691A}" type="datetime1">
              <a:rPr lang="fr-CA" smtClean="0"/>
              <a:t>2025-01-21</a:t>
            </a:fld>
            <a:endParaRPr lang="fr-CA"/>
          </a:p>
        </p:txBody>
      </p:sp>
      <p:sp>
        <p:nvSpPr>
          <p:cNvPr id="5" name="Espace réservé du pied de page 4"/>
          <p:cNvSpPr>
            <a:spLocks noGrp="1"/>
          </p:cNvSpPr>
          <p:nvPr>
            <p:ph type="ftr" sz="quarter" idx="11"/>
          </p:nvPr>
        </p:nvSpPr>
        <p:spPr/>
        <p:txBody>
          <a:bodyPr/>
          <a:lstStyle/>
          <a:p>
            <a:r>
              <a:rPr lang="fr-CA"/>
              <a:t>Droits réservés - Louise Overbeek</a:t>
            </a:r>
          </a:p>
        </p:txBody>
      </p:sp>
      <p:sp>
        <p:nvSpPr>
          <p:cNvPr id="6" name="Espace réservé du numéro de diapositive 5"/>
          <p:cNvSpPr>
            <a:spLocks noGrp="1"/>
          </p:cNvSpPr>
          <p:nvPr>
            <p:ph type="sldNum" sz="quarter" idx="12"/>
          </p:nvPr>
        </p:nvSpPr>
        <p:spPr/>
        <p:txBody>
          <a:bodyPr/>
          <a:lstStyle/>
          <a:p>
            <a:fld id="{9CC8B0BC-FFD9-4597-847C-758F96E3D24E}" type="slidenum">
              <a:rPr lang="fr-CA" smtClean="0"/>
              <a:t>‹N°›</a:t>
            </a:fld>
            <a:endParaRPr lang="fr-CA"/>
          </a:p>
        </p:txBody>
      </p:sp>
    </p:spTree>
    <p:extLst>
      <p:ext uri="{BB962C8B-B14F-4D97-AF65-F5344CB8AC3E}">
        <p14:creationId xmlns:p14="http://schemas.microsoft.com/office/powerpoint/2010/main" val="25942958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endParaRPr lang="fr-CA"/>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p:cNvSpPr>
            <a:spLocks noGrp="1"/>
          </p:cNvSpPr>
          <p:nvPr>
            <p:ph type="dt" sz="half" idx="10"/>
          </p:nvPr>
        </p:nvSpPr>
        <p:spPr/>
        <p:txBody>
          <a:bodyPr/>
          <a:lstStyle/>
          <a:p>
            <a:fld id="{B7771311-A3C1-4CCC-A995-F4DA986D5283}" type="datetime1">
              <a:rPr lang="fr-CA" smtClean="0"/>
              <a:t>2025-01-21</a:t>
            </a:fld>
            <a:endParaRPr lang="fr-CA"/>
          </a:p>
        </p:txBody>
      </p:sp>
      <p:sp>
        <p:nvSpPr>
          <p:cNvPr id="5" name="Espace réservé du pied de page 4"/>
          <p:cNvSpPr>
            <a:spLocks noGrp="1"/>
          </p:cNvSpPr>
          <p:nvPr>
            <p:ph type="ftr" sz="quarter" idx="11"/>
          </p:nvPr>
        </p:nvSpPr>
        <p:spPr/>
        <p:txBody>
          <a:bodyPr/>
          <a:lstStyle/>
          <a:p>
            <a:r>
              <a:rPr lang="fr-CA"/>
              <a:t>Droits réservés - Louise Overbeek</a:t>
            </a:r>
          </a:p>
        </p:txBody>
      </p:sp>
      <p:sp>
        <p:nvSpPr>
          <p:cNvPr id="6" name="Espace réservé du numéro de diapositive 5"/>
          <p:cNvSpPr>
            <a:spLocks noGrp="1"/>
          </p:cNvSpPr>
          <p:nvPr>
            <p:ph type="sldNum" sz="quarter" idx="12"/>
          </p:nvPr>
        </p:nvSpPr>
        <p:spPr/>
        <p:txBody>
          <a:bodyPr/>
          <a:lstStyle/>
          <a:p>
            <a:fld id="{9CC8B0BC-FFD9-4597-847C-758F96E3D24E}" type="slidenum">
              <a:rPr lang="fr-CA" smtClean="0"/>
              <a:t>‹N°›</a:t>
            </a:fld>
            <a:endParaRPr lang="fr-CA"/>
          </a:p>
        </p:txBody>
      </p:sp>
    </p:spTree>
    <p:extLst>
      <p:ext uri="{BB962C8B-B14F-4D97-AF65-F5344CB8AC3E}">
        <p14:creationId xmlns:p14="http://schemas.microsoft.com/office/powerpoint/2010/main" val="41369324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fr-CA"/>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5FBC04-7718-4A70-98E3-176DF11EB0EA}" type="datetime1">
              <a:rPr lang="fr-CA" smtClean="0"/>
              <a:t>2025-01-21</a:t>
            </a:fld>
            <a:endParaRPr lang="fr-CA"/>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fr-CA"/>
              <a:t>Droits réservés - Louise Overbeek</a:t>
            </a: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CC8B0BC-FFD9-4597-847C-758F96E3D24E}" type="slidenum">
              <a:rPr lang="fr-CA" smtClean="0"/>
              <a:t>‹N°›</a:t>
            </a:fld>
            <a:endParaRPr lang="fr-CA"/>
          </a:p>
        </p:txBody>
      </p:sp>
    </p:spTree>
    <p:extLst>
      <p:ext uri="{BB962C8B-B14F-4D97-AF65-F5344CB8AC3E}">
        <p14:creationId xmlns:p14="http://schemas.microsoft.com/office/powerpoint/2010/main" val="26716181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lumMod val="60000"/>
            <a:lumOff val="40000"/>
          </a:schemeClr>
        </a:solidFill>
        <a:effectLst/>
      </p:bgPr>
    </p:bg>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r>
              <a:rPr lang="fr-CA" dirty="0"/>
              <a:t>Éthique et gestion des résultats</a:t>
            </a:r>
          </a:p>
        </p:txBody>
      </p:sp>
      <p:sp>
        <p:nvSpPr>
          <p:cNvPr id="3" name="Sous-titre 2"/>
          <p:cNvSpPr>
            <a:spLocks noGrp="1"/>
          </p:cNvSpPr>
          <p:nvPr>
            <p:ph type="subTitle" idx="1"/>
          </p:nvPr>
        </p:nvSpPr>
        <p:spPr/>
        <p:txBody>
          <a:bodyPr>
            <a:normAutofit lnSpcReduction="10000"/>
          </a:bodyPr>
          <a:lstStyle/>
          <a:p>
            <a:endParaRPr lang="fr-CA" dirty="0"/>
          </a:p>
          <a:p>
            <a:endParaRPr lang="fr-CA" dirty="0"/>
          </a:p>
          <a:p>
            <a:r>
              <a:rPr lang="fr-CA" dirty="0"/>
              <a:t>Louise Overbeek</a:t>
            </a:r>
          </a:p>
          <a:p>
            <a:r>
              <a:rPr lang="fr-CA" sz="2000" dirty="0"/>
              <a:t>Janvier 2023</a:t>
            </a:r>
            <a:endParaRPr lang="fr-CA" dirty="0"/>
          </a:p>
        </p:txBody>
      </p:sp>
    </p:spTree>
    <p:extLst>
      <p:ext uri="{BB962C8B-B14F-4D97-AF65-F5344CB8AC3E}">
        <p14:creationId xmlns:p14="http://schemas.microsoft.com/office/powerpoint/2010/main" val="10011581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BD4E80-6F50-4988-8BAE-E0B2AB9E5C69}"/>
              </a:ext>
            </a:extLst>
          </p:cNvPr>
          <p:cNvSpPr>
            <a:spLocks noGrp="1"/>
          </p:cNvSpPr>
          <p:nvPr>
            <p:ph type="title"/>
          </p:nvPr>
        </p:nvSpPr>
        <p:spPr/>
        <p:txBody>
          <a:bodyPr/>
          <a:lstStyle/>
          <a:p>
            <a:r>
              <a:rPr lang="fr-CA" dirty="0"/>
              <a:t>Qu’est ce que l’éthique?</a:t>
            </a:r>
            <a:endParaRPr lang="fr-FR" dirty="0"/>
          </a:p>
        </p:txBody>
      </p:sp>
      <p:sp>
        <p:nvSpPr>
          <p:cNvPr id="3" name="Espace réservé du contenu 2">
            <a:extLst>
              <a:ext uri="{FF2B5EF4-FFF2-40B4-BE49-F238E27FC236}">
                <a16:creationId xmlns:a16="http://schemas.microsoft.com/office/drawing/2014/main" id="{BB0331AF-67D5-4C0D-8192-10AAC49C6F3E}"/>
              </a:ext>
            </a:extLst>
          </p:cNvPr>
          <p:cNvSpPr>
            <a:spLocks noGrp="1"/>
          </p:cNvSpPr>
          <p:nvPr>
            <p:ph idx="1"/>
          </p:nvPr>
        </p:nvSpPr>
        <p:spPr/>
        <p:txBody>
          <a:bodyPr>
            <a:normAutofit lnSpcReduction="10000"/>
          </a:bodyPr>
          <a:lstStyle/>
          <a:p>
            <a:r>
              <a:rPr lang="fr-CA" dirty="0"/>
              <a:t>Des principes?</a:t>
            </a:r>
          </a:p>
          <a:p>
            <a:r>
              <a:rPr lang="fr-CA" dirty="0"/>
              <a:t>Des valeurs?</a:t>
            </a:r>
          </a:p>
          <a:p>
            <a:r>
              <a:rPr lang="fr-CA" dirty="0"/>
              <a:t>Des règles de conduite?</a:t>
            </a:r>
          </a:p>
          <a:p>
            <a:endParaRPr lang="fr-CA" dirty="0"/>
          </a:p>
          <a:p>
            <a:pPr>
              <a:buFont typeface="Wingdings" panose="05000000000000000000" pitchFamily="2" charset="2"/>
              <a:buChar char="Ø"/>
            </a:pPr>
            <a:r>
              <a:rPr lang="fr-CA" dirty="0"/>
              <a:t>Il faut distinguer le « correct » de « l’incorrect »</a:t>
            </a:r>
          </a:p>
          <a:p>
            <a:pPr lvl="1">
              <a:buFont typeface="Wingdings" panose="05000000000000000000" pitchFamily="2" charset="2"/>
              <a:buChar char="Ø"/>
            </a:pPr>
            <a:r>
              <a:rPr lang="fr-CA" dirty="0"/>
              <a:t>Dans la pratique du comptable, dans ses actions quotidiennes lorsqu’il fait son travail</a:t>
            </a:r>
          </a:p>
          <a:p>
            <a:pPr lvl="1">
              <a:buFont typeface="Wingdings" panose="05000000000000000000" pitchFamily="2" charset="2"/>
              <a:buChar char="Ø"/>
            </a:pPr>
            <a:endParaRPr lang="fr-CA" dirty="0"/>
          </a:p>
          <a:p>
            <a:pPr lvl="1">
              <a:buFont typeface="Wingdings" panose="05000000000000000000" pitchFamily="2" charset="2"/>
              <a:buChar char="Ø"/>
            </a:pPr>
            <a:r>
              <a:rPr lang="fr-CA" dirty="0"/>
              <a:t>Mais cette distinction est une ligne qui peut varier d’une personne à l’autre selon ses perceptions, ses valeurs, ses croyances morales mais aussi selon le code d’éthique de l’employeur </a:t>
            </a:r>
            <a:r>
              <a:rPr lang="fr-CA" i="1" dirty="0"/>
              <a:t>(et son application).</a:t>
            </a:r>
            <a:endParaRPr lang="fr-FR" i="1" dirty="0"/>
          </a:p>
        </p:txBody>
      </p:sp>
      <p:sp>
        <p:nvSpPr>
          <p:cNvPr id="4" name="Espace réservé du pied de page 3">
            <a:extLst>
              <a:ext uri="{FF2B5EF4-FFF2-40B4-BE49-F238E27FC236}">
                <a16:creationId xmlns:a16="http://schemas.microsoft.com/office/drawing/2014/main" id="{9F090960-5B74-4E07-9612-745E09D2D06F}"/>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D71E8A89-E465-42D7-A517-2E8A37128C18}"/>
              </a:ext>
            </a:extLst>
          </p:cNvPr>
          <p:cNvSpPr>
            <a:spLocks noGrp="1"/>
          </p:cNvSpPr>
          <p:nvPr>
            <p:ph type="sldNum" sz="quarter" idx="12"/>
          </p:nvPr>
        </p:nvSpPr>
        <p:spPr/>
        <p:txBody>
          <a:bodyPr/>
          <a:lstStyle/>
          <a:p>
            <a:fld id="{D239AA84-4A13-4838-A335-C0AC790302DD}" type="slidenum">
              <a:rPr lang="fr-FR" smtClean="0"/>
              <a:t>2</a:t>
            </a:fld>
            <a:endParaRPr lang="fr-FR"/>
          </a:p>
        </p:txBody>
      </p:sp>
    </p:spTree>
    <p:extLst>
      <p:ext uri="{BB962C8B-B14F-4D97-AF65-F5344CB8AC3E}">
        <p14:creationId xmlns:p14="http://schemas.microsoft.com/office/powerpoint/2010/main" val="17773794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BD4E80-6F50-4988-8BAE-E0B2AB9E5C69}"/>
              </a:ext>
            </a:extLst>
          </p:cNvPr>
          <p:cNvSpPr>
            <a:spLocks noGrp="1"/>
          </p:cNvSpPr>
          <p:nvPr>
            <p:ph type="title"/>
          </p:nvPr>
        </p:nvSpPr>
        <p:spPr/>
        <p:txBody>
          <a:bodyPr>
            <a:normAutofit/>
          </a:bodyPr>
          <a:lstStyle/>
          <a:p>
            <a:r>
              <a:rPr lang="fr-CA" sz="3600" dirty="0"/>
              <a:t>Qu’est ce que l’éthique?</a:t>
            </a:r>
            <a:endParaRPr lang="fr-FR" sz="3600" dirty="0"/>
          </a:p>
        </p:txBody>
      </p:sp>
      <p:sp>
        <p:nvSpPr>
          <p:cNvPr id="3" name="Espace réservé du contenu 2">
            <a:extLst>
              <a:ext uri="{FF2B5EF4-FFF2-40B4-BE49-F238E27FC236}">
                <a16:creationId xmlns:a16="http://schemas.microsoft.com/office/drawing/2014/main" id="{BB0331AF-67D5-4C0D-8192-10AAC49C6F3E}"/>
              </a:ext>
            </a:extLst>
          </p:cNvPr>
          <p:cNvSpPr>
            <a:spLocks noGrp="1"/>
          </p:cNvSpPr>
          <p:nvPr>
            <p:ph idx="1"/>
          </p:nvPr>
        </p:nvSpPr>
        <p:spPr/>
        <p:txBody>
          <a:bodyPr>
            <a:normAutofit/>
          </a:bodyPr>
          <a:lstStyle/>
          <a:p>
            <a:r>
              <a:rPr lang="fr-CA" dirty="0"/>
              <a:t>L’éthique c’est essentiellement agir avec intégrité</a:t>
            </a:r>
          </a:p>
          <a:p>
            <a:pPr lvl="1"/>
            <a:r>
              <a:rPr lang="fr-CA" dirty="0"/>
              <a:t>Et pour les CPA c’est un engagement qu’ils doivent respecter</a:t>
            </a:r>
          </a:p>
          <a:p>
            <a:pPr lvl="2"/>
            <a:r>
              <a:rPr lang="fr-CA" sz="2400" dirty="0"/>
              <a:t>Code de déontologie des comptables professionnels agréés</a:t>
            </a:r>
          </a:p>
          <a:p>
            <a:pPr lvl="3"/>
            <a:r>
              <a:rPr lang="fr-CA" sz="2000" dirty="0"/>
              <a:t>Règles d’indépendance de l’auditeur</a:t>
            </a:r>
          </a:p>
        </p:txBody>
      </p:sp>
      <p:sp>
        <p:nvSpPr>
          <p:cNvPr id="4" name="Espace réservé du pied de page 3">
            <a:extLst>
              <a:ext uri="{FF2B5EF4-FFF2-40B4-BE49-F238E27FC236}">
                <a16:creationId xmlns:a16="http://schemas.microsoft.com/office/drawing/2014/main" id="{18191703-7205-40A6-9E83-60DD7EA9FE39}"/>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B498F624-D8D1-459E-B443-03684B34D0ED}"/>
              </a:ext>
            </a:extLst>
          </p:cNvPr>
          <p:cNvSpPr>
            <a:spLocks noGrp="1"/>
          </p:cNvSpPr>
          <p:nvPr>
            <p:ph type="sldNum" sz="quarter" idx="12"/>
          </p:nvPr>
        </p:nvSpPr>
        <p:spPr/>
        <p:txBody>
          <a:bodyPr/>
          <a:lstStyle/>
          <a:p>
            <a:fld id="{D239AA84-4A13-4838-A335-C0AC790302DD}" type="slidenum">
              <a:rPr lang="fr-FR" smtClean="0"/>
              <a:t>3</a:t>
            </a:fld>
            <a:endParaRPr lang="fr-FR"/>
          </a:p>
        </p:txBody>
      </p:sp>
    </p:spTree>
    <p:extLst>
      <p:ext uri="{BB962C8B-B14F-4D97-AF65-F5344CB8AC3E}">
        <p14:creationId xmlns:p14="http://schemas.microsoft.com/office/powerpoint/2010/main" val="30141668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380F2B6-26D8-416E-966A-6FFC21944BE3}"/>
              </a:ext>
            </a:extLst>
          </p:cNvPr>
          <p:cNvSpPr>
            <a:spLocks noGrp="1"/>
          </p:cNvSpPr>
          <p:nvPr>
            <p:ph type="title"/>
          </p:nvPr>
        </p:nvSpPr>
        <p:spPr/>
        <p:txBody>
          <a:bodyPr/>
          <a:lstStyle/>
          <a:p>
            <a:r>
              <a:rPr lang="fr-CA" sz="3600" dirty="0"/>
              <a:t>Code de déontologie des comptables professionnels agréés </a:t>
            </a:r>
            <a:r>
              <a:rPr lang="fr-CA" sz="3600" i="1" dirty="0"/>
              <a:t>– </a:t>
            </a:r>
            <a:r>
              <a:rPr lang="fr-CA" sz="2800" i="1" dirty="0"/>
              <a:t>extraits choisis</a:t>
            </a:r>
            <a:endParaRPr lang="fr-FR" i="1" dirty="0"/>
          </a:p>
        </p:txBody>
      </p:sp>
      <p:sp>
        <p:nvSpPr>
          <p:cNvPr id="3" name="Espace réservé du contenu 2">
            <a:extLst>
              <a:ext uri="{FF2B5EF4-FFF2-40B4-BE49-F238E27FC236}">
                <a16:creationId xmlns:a16="http://schemas.microsoft.com/office/drawing/2014/main" id="{E5C19A86-E8FB-4922-9893-CCF6919B046D}"/>
              </a:ext>
            </a:extLst>
          </p:cNvPr>
          <p:cNvSpPr>
            <a:spLocks noGrp="1"/>
          </p:cNvSpPr>
          <p:nvPr>
            <p:ph idx="1"/>
          </p:nvPr>
        </p:nvSpPr>
        <p:spPr/>
        <p:txBody>
          <a:bodyPr>
            <a:normAutofit/>
          </a:bodyPr>
          <a:lstStyle/>
          <a:p>
            <a:r>
              <a:rPr lang="fr-CA" sz="2400" b="0" i="0" dirty="0">
                <a:solidFill>
                  <a:srgbClr val="333333"/>
                </a:solidFill>
                <a:effectLst/>
                <a:latin typeface="Arial" panose="020B0604020202020204" pitchFamily="34" charset="0"/>
              </a:rPr>
              <a:t>Dans toutes les circonstances, que ce soit envers le public, un client ou un employeur, le membre doit, avant de convenir d’un contrat résultant de l’exercice de la profession, </a:t>
            </a:r>
            <a:r>
              <a:rPr lang="fr-CA" sz="2400" b="0" i="0" dirty="0">
                <a:solidFill>
                  <a:srgbClr val="0070C0"/>
                </a:solidFill>
                <a:effectLst/>
                <a:latin typeface="Arial" panose="020B0604020202020204" pitchFamily="34" charset="0"/>
              </a:rPr>
              <a:t>tenir compte des limites de ses aptitudes, de ses connaissances ainsi que des moyens dont il dispose</a:t>
            </a:r>
            <a:r>
              <a:rPr lang="fr-CA" sz="2400" b="0" i="0" dirty="0">
                <a:solidFill>
                  <a:srgbClr val="333333"/>
                </a:solidFill>
                <a:effectLst/>
                <a:latin typeface="Arial" panose="020B0604020202020204" pitchFamily="34" charset="0"/>
              </a:rPr>
              <a:t>. Il ne doit pas, notamment, entreprendre des travaux pour lesquels il n’est pas suffisamment préparé ou n’a pas les aptitudes ou les connaissances requises sans obtenir l’assistance nécessaire.</a:t>
            </a:r>
          </a:p>
          <a:p>
            <a:endParaRPr lang="fr-CA" sz="2400" b="0" i="0" dirty="0">
              <a:solidFill>
                <a:srgbClr val="333333"/>
              </a:solidFill>
              <a:effectLst/>
              <a:latin typeface="Arial" panose="020B0604020202020204" pitchFamily="34" charset="0"/>
            </a:endParaRPr>
          </a:p>
          <a:p>
            <a:r>
              <a:rPr lang="fr-CA" sz="2400" b="0" i="0" dirty="0">
                <a:solidFill>
                  <a:srgbClr val="333333"/>
                </a:solidFill>
                <a:effectLst/>
                <a:latin typeface="Arial" panose="020B0604020202020204" pitchFamily="34" charset="0"/>
              </a:rPr>
              <a:t>Le membre doit remplir ses obligations professionnelles </a:t>
            </a:r>
            <a:r>
              <a:rPr lang="fr-CA" sz="2400" b="0" i="0" dirty="0">
                <a:solidFill>
                  <a:srgbClr val="0070C0"/>
                </a:solidFill>
                <a:effectLst/>
                <a:latin typeface="Arial" panose="020B0604020202020204" pitchFamily="34" charset="0"/>
              </a:rPr>
              <a:t>avec intégrité et objectivité</a:t>
            </a:r>
            <a:r>
              <a:rPr lang="fr-CA" sz="2400" dirty="0">
                <a:solidFill>
                  <a:srgbClr val="333333"/>
                </a:solidFill>
                <a:latin typeface="Arial" panose="020B0604020202020204" pitchFamily="34" charset="0"/>
              </a:rPr>
              <a:t>.</a:t>
            </a:r>
            <a:endParaRPr lang="fr-CA" sz="2400" dirty="0"/>
          </a:p>
          <a:p>
            <a:endParaRPr lang="fr-FR" dirty="0"/>
          </a:p>
        </p:txBody>
      </p:sp>
      <p:sp>
        <p:nvSpPr>
          <p:cNvPr id="4" name="Espace réservé du pied de page 3">
            <a:extLst>
              <a:ext uri="{FF2B5EF4-FFF2-40B4-BE49-F238E27FC236}">
                <a16:creationId xmlns:a16="http://schemas.microsoft.com/office/drawing/2014/main" id="{190E7AE2-E438-4E17-AF3F-A1587B27A497}"/>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9E76E9CB-5F35-4965-87F5-B2723F8735B7}"/>
              </a:ext>
            </a:extLst>
          </p:cNvPr>
          <p:cNvSpPr>
            <a:spLocks noGrp="1"/>
          </p:cNvSpPr>
          <p:nvPr>
            <p:ph type="sldNum" sz="quarter" idx="12"/>
          </p:nvPr>
        </p:nvSpPr>
        <p:spPr/>
        <p:txBody>
          <a:bodyPr/>
          <a:lstStyle/>
          <a:p>
            <a:fld id="{D239AA84-4A13-4838-A335-C0AC790302DD}" type="slidenum">
              <a:rPr lang="fr-FR" smtClean="0"/>
              <a:t>4</a:t>
            </a:fld>
            <a:endParaRPr lang="fr-FR"/>
          </a:p>
        </p:txBody>
      </p:sp>
    </p:spTree>
    <p:extLst>
      <p:ext uri="{BB962C8B-B14F-4D97-AF65-F5344CB8AC3E}">
        <p14:creationId xmlns:p14="http://schemas.microsoft.com/office/powerpoint/2010/main" val="17247792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380F2B6-26D8-416E-966A-6FFC21944BE3}"/>
              </a:ext>
            </a:extLst>
          </p:cNvPr>
          <p:cNvSpPr>
            <a:spLocks noGrp="1"/>
          </p:cNvSpPr>
          <p:nvPr>
            <p:ph type="title"/>
          </p:nvPr>
        </p:nvSpPr>
        <p:spPr/>
        <p:txBody>
          <a:bodyPr/>
          <a:lstStyle/>
          <a:p>
            <a:r>
              <a:rPr lang="fr-CA" sz="3600" dirty="0"/>
              <a:t>Code de déontologie des comptables professionnels agréés </a:t>
            </a:r>
            <a:r>
              <a:rPr lang="fr-CA" sz="3600" i="1" dirty="0"/>
              <a:t>– </a:t>
            </a:r>
            <a:r>
              <a:rPr lang="fr-CA" sz="2800" i="1" dirty="0"/>
              <a:t>extraits choisis</a:t>
            </a:r>
            <a:endParaRPr lang="fr-FR" i="1" dirty="0"/>
          </a:p>
        </p:txBody>
      </p:sp>
      <p:sp>
        <p:nvSpPr>
          <p:cNvPr id="3" name="Espace réservé du contenu 2">
            <a:extLst>
              <a:ext uri="{FF2B5EF4-FFF2-40B4-BE49-F238E27FC236}">
                <a16:creationId xmlns:a16="http://schemas.microsoft.com/office/drawing/2014/main" id="{E5C19A86-E8FB-4922-9893-CCF6919B046D}"/>
              </a:ext>
            </a:extLst>
          </p:cNvPr>
          <p:cNvSpPr>
            <a:spLocks noGrp="1"/>
          </p:cNvSpPr>
          <p:nvPr>
            <p:ph idx="1"/>
          </p:nvPr>
        </p:nvSpPr>
        <p:spPr>
          <a:xfrm>
            <a:off x="838200" y="1825625"/>
            <a:ext cx="10515600" cy="4594840"/>
          </a:xfrm>
        </p:spPr>
        <p:txBody>
          <a:bodyPr>
            <a:normAutofit fontScale="85000" lnSpcReduction="20000"/>
          </a:bodyPr>
          <a:lstStyle/>
          <a:p>
            <a:r>
              <a:rPr lang="fr-CA" b="0" i="0" dirty="0">
                <a:solidFill>
                  <a:srgbClr val="333333"/>
                </a:solidFill>
                <a:effectLst/>
                <a:latin typeface="Arial" panose="020B0604020202020204" pitchFamily="34" charset="0"/>
              </a:rPr>
              <a:t> Le membre ne doit pas signer, préparer, produire ou même associer son nom à des lettres, attestations, opinions, rapports, déclarations, exposés, états financiers ou tout autre document, </a:t>
            </a:r>
            <a:r>
              <a:rPr lang="fr-CA" b="0" i="0" dirty="0">
                <a:solidFill>
                  <a:srgbClr val="0070C0"/>
                </a:solidFill>
                <a:effectLst/>
                <a:latin typeface="Arial" panose="020B0604020202020204" pitchFamily="34" charset="0"/>
              </a:rPr>
              <a:t>alors qu’il sait ou devrait savoir qu’ils contiennent des données erronées ou fallacieuses, par complaisance ou sans s’être assuré qu’ils sont conformes</a:t>
            </a:r>
            <a:r>
              <a:rPr lang="fr-CA" b="0" i="0" dirty="0">
                <a:solidFill>
                  <a:srgbClr val="333333"/>
                </a:solidFill>
                <a:effectLst/>
                <a:latin typeface="Arial" panose="020B0604020202020204" pitchFamily="34" charset="0"/>
              </a:rPr>
              <a:t> aux règles de l’art ou aux données de la science.</a:t>
            </a:r>
          </a:p>
          <a:p>
            <a:endParaRPr lang="fr-CA" b="0" i="0" dirty="0">
              <a:solidFill>
                <a:srgbClr val="333333"/>
              </a:solidFill>
              <a:effectLst/>
              <a:latin typeface="Arial" panose="020B0604020202020204" pitchFamily="34" charset="0"/>
            </a:endParaRPr>
          </a:p>
          <a:p>
            <a:pPr algn="just">
              <a:spcBef>
                <a:spcPts val="1094"/>
              </a:spcBef>
            </a:pPr>
            <a:r>
              <a:rPr lang="fr-CA" b="0" i="0" dirty="0">
                <a:solidFill>
                  <a:srgbClr val="333333"/>
                </a:solidFill>
                <a:effectLst/>
                <a:latin typeface="Arial" panose="020B0604020202020204" pitchFamily="34" charset="0"/>
              </a:rPr>
              <a:t>Un membre qui exécute une mission de certification ou une mission d’application de procédés de vérification spécifiés ou participe à une telle mission doit :</a:t>
            </a:r>
          </a:p>
          <a:p>
            <a:pPr marL="266700" indent="0" algn="just">
              <a:spcBef>
                <a:spcPts val="1094"/>
              </a:spcBef>
              <a:buNone/>
            </a:pPr>
            <a:r>
              <a:rPr lang="fr-CA" b="0" i="0" dirty="0">
                <a:solidFill>
                  <a:srgbClr val="333333"/>
                </a:solidFill>
                <a:effectLst/>
                <a:latin typeface="Arial" panose="020B0604020202020204" pitchFamily="34" charset="0"/>
              </a:rPr>
              <a:t>1°  </a:t>
            </a:r>
            <a:r>
              <a:rPr lang="fr-CA" b="0" i="0" dirty="0">
                <a:solidFill>
                  <a:srgbClr val="0070C0"/>
                </a:solidFill>
                <a:effectLst/>
                <a:latin typeface="Arial" panose="020B0604020202020204" pitchFamily="34" charset="0"/>
              </a:rPr>
              <a:t>révéler</a:t>
            </a:r>
            <a:r>
              <a:rPr lang="fr-CA" b="0" i="0" dirty="0">
                <a:solidFill>
                  <a:srgbClr val="333333"/>
                </a:solidFill>
                <a:effectLst/>
                <a:latin typeface="Arial" panose="020B0604020202020204" pitchFamily="34" charset="0"/>
              </a:rPr>
              <a:t> tout fait important dont il a connaissance, que les états financiers ou tout autre élément sur lequel porte sa mission ne révèlent pas ou dont l’omission rendrait ces derniers fallacieux;</a:t>
            </a:r>
          </a:p>
          <a:p>
            <a:pPr marL="266700" indent="0" algn="just">
              <a:spcBef>
                <a:spcPts val="1094"/>
              </a:spcBef>
              <a:buNone/>
            </a:pPr>
            <a:r>
              <a:rPr lang="fr-CA" b="0" i="0" dirty="0">
                <a:solidFill>
                  <a:srgbClr val="333333"/>
                </a:solidFill>
                <a:effectLst/>
                <a:latin typeface="Arial" panose="020B0604020202020204" pitchFamily="34" charset="0"/>
              </a:rPr>
              <a:t>2°  </a:t>
            </a:r>
            <a:r>
              <a:rPr lang="fr-CA" b="0" i="0" dirty="0">
                <a:solidFill>
                  <a:srgbClr val="0070C0"/>
                </a:solidFill>
                <a:effectLst/>
                <a:latin typeface="Arial" panose="020B0604020202020204" pitchFamily="34" charset="0"/>
              </a:rPr>
              <a:t>signaler</a:t>
            </a:r>
            <a:r>
              <a:rPr lang="fr-CA" b="0" i="0" dirty="0">
                <a:solidFill>
                  <a:srgbClr val="333333"/>
                </a:solidFill>
                <a:effectLst/>
                <a:latin typeface="Arial" panose="020B0604020202020204" pitchFamily="34" charset="0"/>
              </a:rPr>
              <a:t> toute erreur grave qui, à sa connaissance, est contenue dans tout état financier ou autre élément sur lequel porte sa mission</a:t>
            </a:r>
            <a:r>
              <a:rPr lang="fr-CA" dirty="0">
                <a:solidFill>
                  <a:srgbClr val="333333"/>
                </a:solidFill>
                <a:latin typeface="Arial" panose="020B0604020202020204" pitchFamily="34" charset="0"/>
              </a:rPr>
              <a:t>.</a:t>
            </a:r>
            <a:endParaRPr lang="fr-CA" dirty="0"/>
          </a:p>
          <a:p>
            <a:endParaRPr lang="fr-FR" dirty="0"/>
          </a:p>
        </p:txBody>
      </p:sp>
      <p:sp>
        <p:nvSpPr>
          <p:cNvPr id="4" name="Espace réservé du pied de page 3">
            <a:extLst>
              <a:ext uri="{FF2B5EF4-FFF2-40B4-BE49-F238E27FC236}">
                <a16:creationId xmlns:a16="http://schemas.microsoft.com/office/drawing/2014/main" id="{D4E75E4C-EDEA-47D5-8653-E3CD8E4CF7D0}"/>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D0F2C16C-CE9D-4EFB-A9F1-9C487A7B4975}"/>
              </a:ext>
            </a:extLst>
          </p:cNvPr>
          <p:cNvSpPr>
            <a:spLocks noGrp="1"/>
          </p:cNvSpPr>
          <p:nvPr>
            <p:ph type="sldNum" sz="quarter" idx="12"/>
          </p:nvPr>
        </p:nvSpPr>
        <p:spPr/>
        <p:txBody>
          <a:bodyPr/>
          <a:lstStyle/>
          <a:p>
            <a:fld id="{D239AA84-4A13-4838-A335-C0AC790302DD}" type="slidenum">
              <a:rPr lang="fr-FR" smtClean="0"/>
              <a:t>5</a:t>
            </a:fld>
            <a:endParaRPr lang="fr-FR"/>
          </a:p>
        </p:txBody>
      </p:sp>
    </p:spTree>
    <p:extLst>
      <p:ext uri="{BB962C8B-B14F-4D97-AF65-F5344CB8AC3E}">
        <p14:creationId xmlns:p14="http://schemas.microsoft.com/office/powerpoint/2010/main" val="39501328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380F2B6-26D8-416E-966A-6FFC21944BE3}"/>
              </a:ext>
            </a:extLst>
          </p:cNvPr>
          <p:cNvSpPr>
            <a:spLocks noGrp="1"/>
          </p:cNvSpPr>
          <p:nvPr>
            <p:ph type="title"/>
          </p:nvPr>
        </p:nvSpPr>
        <p:spPr/>
        <p:txBody>
          <a:bodyPr/>
          <a:lstStyle/>
          <a:p>
            <a:r>
              <a:rPr lang="fr-CA" sz="3600" dirty="0"/>
              <a:t>Code de déontologie des comptables professionnels agréés </a:t>
            </a:r>
            <a:r>
              <a:rPr lang="fr-CA" sz="3600" i="1" dirty="0"/>
              <a:t>– </a:t>
            </a:r>
            <a:r>
              <a:rPr lang="fr-CA" sz="2800" i="1" dirty="0"/>
              <a:t>extraits choisis</a:t>
            </a:r>
            <a:endParaRPr lang="fr-FR" i="1" dirty="0"/>
          </a:p>
        </p:txBody>
      </p:sp>
      <p:sp>
        <p:nvSpPr>
          <p:cNvPr id="3" name="Espace réservé du contenu 2">
            <a:extLst>
              <a:ext uri="{FF2B5EF4-FFF2-40B4-BE49-F238E27FC236}">
                <a16:creationId xmlns:a16="http://schemas.microsoft.com/office/drawing/2014/main" id="{E5C19A86-E8FB-4922-9893-CCF6919B046D}"/>
              </a:ext>
            </a:extLst>
          </p:cNvPr>
          <p:cNvSpPr>
            <a:spLocks noGrp="1"/>
          </p:cNvSpPr>
          <p:nvPr>
            <p:ph idx="1"/>
          </p:nvPr>
        </p:nvSpPr>
        <p:spPr>
          <a:xfrm>
            <a:off x="838200" y="1858297"/>
            <a:ext cx="10515600" cy="4876800"/>
          </a:xfrm>
        </p:spPr>
        <p:txBody>
          <a:bodyPr>
            <a:normAutofit fontScale="77500" lnSpcReduction="20000"/>
          </a:bodyPr>
          <a:lstStyle/>
          <a:p>
            <a:pPr algn="just">
              <a:spcBef>
                <a:spcPts val="1094"/>
              </a:spcBef>
            </a:pPr>
            <a:r>
              <a:rPr lang="fr-CA" b="0" i="0" dirty="0">
                <a:solidFill>
                  <a:srgbClr val="333333"/>
                </a:solidFill>
                <a:effectLst/>
                <a:latin typeface="Arial" panose="020B0604020202020204" pitchFamily="34" charset="0"/>
              </a:rPr>
              <a:t>Le membre qui exécute ou qui participe à une mission de certification ou une mission d’application de procédés de vérification spécifiés doit demeurer libre de toute influence, de tout intérêt ou de toute relation qui, eu égard à cette mission, </a:t>
            </a:r>
            <a:r>
              <a:rPr lang="fr-CA" b="0" i="0" dirty="0">
                <a:solidFill>
                  <a:srgbClr val="0070C0"/>
                </a:solidFill>
                <a:effectLst/>
                <a:latin typeface="Arial" panose="020B0604020202020204" pitchFamily="34" charset="0"/>
              </a:rPr>
              <a:t>peut porter atteinte à son jugement professionnel ou à son objectivité ou en donner l’apparence</a:t>
            </a:r>
            <a:r>
              <a:rPr lang="fr-CA" b="0" i="0" dirty="0">
                <a:solidFill>
                  <a:srgbClr val="333333"/>
                </a:solidFill>
                <a:effectLst/>
                <a:latin typeface="Arial" panose="020B0604020202020204" pitchFamily="34" charset="0"/>
              </a:rPr>
              <a:t>.</a:t>
            </a:r>
          </a:p>
          <a:p>
            <a:pPr marL="180975" indent="0" algn="just">
              <a:spcBef>
                <a:spcPts val="1300"/>
              </a:spcBef>
              <a:spcAft>
                <a:spcPts val="1200"/>
              </a:spcAft>
              <a:buNone/>
            </a:pPr>
            <a:r>
              <a:rPr lang="fr-CA" b="0" i="0" dirty="0">
                <a:solidFill>
                  <a:srgbClr val="333333"/>
                </a:solidFill>
                <a:effectLst/>
                <a:latin typeface="Arial" panose="020B0604020202020204" pitchFamily="34" charset="0"/>
              </a:rPr>
              <a:t>Il doit se conformer aux </a:t>
            </a:r>
            <a:r>
              <a:rPr lang="fr-CA" b="0" i="0" dirty="0">
                <a:solidFill>
                  <a:srgbClr val="0070C0"/>
                </a:solidFill>
                <a:effectLst/>
                <a:latin typeface="Arial" panose="020B0604020202020204" pitchFamily="34" charset="0"/>
              </a:rPr>
              <a:t>normes d’indépendance </a:t>
            </a:r>
            <a:r>
              <a:rPr lang="fr-CA" b="0" i="0" dirty="0">
                <a:solidFill>
                  <a:srgbClr val="333333"/>
                </a:solidFill>
                <a:effectLst/>
                <a:latin typeface="Arial" panose="020B0604020202020204" pitchFamily="34" charset="0"/>
              </a:rPr>
              <a:t>prévues à la Règle 204 du Code de déontologie des CPA adoptée le 20 juin 2016 par le Comité sur la confiance du public de CPA Canada et leurs modifications ultérieures. Ces normes sont diffusées dans une publication que l’Ordre adresse à tous ses membres et en version électronique accessible à tous sur le site Internet de l’Ordre.</a:t>
            </a:r>
          </a:p>
          <a:p>
            <a:pPr algn="just">
              <a:spcBef>
                <a:spcPts val="1094"/>
              </a:spcBef>
            </a:pPr>
            <a:r>
              <a:rPr lang="fr-CA" b="0" i="0" dirty="0">
                <a:solidFill>
                  <a:srgbClr val="333333"/>
                </a:solidFill>
                <a:effectLst/>
                <a:latin typeface="Arial" panose="020B0604020202020204" pitchFamily="34" charset="0"/>
              </a:rPr>
              <a:t>Le membre doit, si les services professionnels qu’il fournit engendrent un conflit d’intérêts ou en donne l’apparence ou, dès qu’il constate qu’il se trouve en situation de conflit d’intérêts ou donne l’apparence de l’être, refuser d’agir ou renoncer à fournir ces services, </a:t>
            </a:r>
            <a:r>
              <a:rPr lang="fr-CA" b="0" i="0" dirty="0">
                <a:solidFill>
                  <a:srgbClr val="0070C0"/>
                </a:solidFill>
                <a:effectLst/>
                <a:latin typeface="Arial" panose="020B0604020202020204" pitchFamily="34" charset="0"/>
              </a:rPr>
              <a:t>sauf si les clients concernés sont informés de l’existence du conflit d’intérêts et qu’ils y consentent ou si le membre a recours à des techniques de gestion de conflits et qu’il obtient le consentement de tous les clients concernés avant de les fournir</a:t>
            </a:r>
            <a:r>
              <a:rPr lang="fr-CA" dirty="0">
                <a:solidFill>
                  <a:srgbClr val="333333"/>
                </a:solidFill>
                <a:latin typeface="Arial" panose="020B0604020202020204" pitchFamily="34" charset="0"/>
              </a:rPr>
              <a:t>.</a:t>
            </a:r>
            <a:endParaRPr lang="fr-CA" dirty="0"/>
          </a:p>
        </p:txBody>
      </p:sp>
      <p:sp>
        <p:nvSpPr>
          <p:cNvPr id="4" name="Espace réservé du pied de page 3">
            <a:extLst>
              <a:ext uri="{FF2B5EF4-FFF2-40B4-BE49-F238E27FC236}">
                <a16:creationId xmlns:a16="http://schemas.microsoft.com/office/drawing/2014/main" id="{39FF2960-22E4-461A-AB16-C7735DAF72FA}"/>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2F2BD1B1-9188-4A23-A676-7FCC92A4B662}"/>
              </a:ext>
            </a:extLst>
          </p:cNvPr>
          <p:cNvSpPr>
            <a:spLocks noGrp="1"/>
          </p:cNvSpPr>
          <p:nvPr>
            <p:ph type="sldNum" sz="quarter" idx="12"/>
          </p:nvPr>
        </p:nvSpPr>
        <p:spPr/>
        <p:txBody>
          <a:bodyPr/>
          <a:lstStyle/>
          <a:p>
            <a:fld id="{D239AA84-4A13-4838-A335-C0AC790302DD}" type="slidenum">
              <a:rPr lang="fr-FR" smtClean="0"/>
              <a:t>6</a:t>
            </a:fld>
            <a:endParaRPr lang="fr-FR"/>
          </a:p>
        </p:txBody>
      </p:sp>
    </p:spTree>
    <p:extLst>
      <p:ext uri="{BB962C8B-B14F-4D97-AF65-F5344CB8AC3E}">
        <p14:creationId xmlns:p14="http://schemas.microsoft.com/office/powerpoint/2010/main" val="12450945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380F2B6-26D8-416E-966A-6FFC21944BE3}"/>
              </a:ext>
            </a:extLst>
          </p:cNvPr>
          <p:cNvSpPr>
            <a:spLocks noGrp="1"/>
          </p:cNvSpPr>
          <p:nvPr>
            <p:ph type="title"/>
          </p:nvPr>
        </p:nvSpPr>
        <p:spPr/>
        <p:txBody>
          <a:bodyPr/>
          <a:lstStyle/>
          <a:p>
            <a:r>
              <a:rPr lang="fr-CA" sz="3600" dirty="0"/>
              <a:t>Code de déontologie des comptables professionnels agréés </a:t>
            </a:r>
            <a:r>
              <a:rPr lang="fr-CA" sz="3600" i="1" dirty="0"/>
              <a:t>– </a:t>
            </a:r>
            <a:r>
              <a:rPr lang="fr-CA" sz="2800" i="1" dirty="0"/>
              <a:t>critique?</a:t>
            </a:r>
            <a:endParaRPr lang="fr-FR" i="1" dirty="0"/>
          </a:p>
        </p:txBody>
      </p:sp>
      <p:sp>
        <p:nvSpPr>
          <p:cNvPr id="3" name="Espace réservé du contenu 2">
            <a:extLst>
              <a:ext uri="{FF2B5EF4-FFF2-40B4-BE49-F238E27FC236}">
                <a16:creationId xmlns:a16="http://schemas.microsoft.com/office/drawing/2014/main" id="{E5C19A86-E8FB-4922-9893-CCF6919B046D}"/>
              </a:ext>
            </a:extLst>
          </p:cNvPr>
          <p:cNvSpPr>
            <a:spLocks noGrp="1"/>
          </p:cNvSpPr>
          <p:nvPr>
            <p:ph idx="1"/>
          </p:nvPr>
        </p:nvSpPr>
        <p:spPr/>
        <p:txBody>
          <a:bodyPr>
            <a:normAutofit/>
          </a:bodyPr>
          <a:lstStyle/>
          <a:p>
            <a:r>
              <a:rPr lang="fr-FR" dirty="0">
                <a:effectLst/>
                <a:latin typeface="Segoe UI Web (West European)"/>
              </a:rPr>
              <a:t>Les principes du code, pris dans leur ensemble, établissent le cadre de l’approche éthique d’un CPA à l’égard de la profession comptable. Les critiques reprochent toutefois : </a:t>
            </a:r>
          </a:p>
          <a:p>
            <a:pPr marL="1431925" indent="-538163">
              <a:buNone/>
              <a:tabLst>
                <a:tab pos="985838" algn="l"/>
              </a:tabLst>
            </a:pPr>
            <a:r>
              <a:rPr lang="fr-FR" dirty="0">
                <a:latin typeface="Segoe UI Web (West European)"/>
              </a:rPr>
              <a:t>	</a:t>
            </a:r>
            <a:r>
              <a:rPr lang="fr-FR" dirty="0">
                <a:effectLst/>
                <a:latin typeface="Segoe UI Web (West European)"/>
              </a:rPr>
              <a:t>(1) les principes couvrent un éventail trop large et sont imprécis ; et </a:t>
            </a:r>
          </a:p>
          <a:p>
            <a:pPr marL="0" indent="0">
              <a:buNone/>
            </a:pPr>
            <a:r>
              <a:rPr lang="fr-FR" dirty="0">
                <a:latin typeface="Segoe UI Web (West European)"/>
              </a:rPr>
              <a:t>	</a:t>
            </a:r>
            <a:r>
              <a:rPr lang="fr-FR" dirty="0">
                <a:effectLst/>
                <a:latin typeface="Segoe UI Web (West European)"/>
              </a:rPr>
              <a:t>(2) il y a peu / pas de sanctions</a:t>
            </a:r>
          </a:p>
          <a:p>
            <a:pPr marL="0" indent="0">
              <a:buNone/>
            </a:pPr>
            <a:endParaRPr lang="fr-FR" dirty="0">
              <a:latin typeface="Segoe UI Web (West European)"/>
            </a:endParaRPr>
          </a:p>
          <a:p>
            <a:pPr marL="355600" indent="-355600">
              <a:buFont typeface="Wingdings" panose="05000000000000000000" pitchFamily="2" charset="2"/>
              <a:buChar char="Ø"/>
            </a:pPr>
            <a:r>
              <a:rPr lang="fr-FR" dirty="0">
                <a:effectLst/>
                <a:latin typeface="Segoe UI Web (West European)"/>
              </a:rPr>
              <a:t>mais les principes sont des lignes directrices des comportements à adopter</a:t>
            </a:r>
          </a:p>
        </p:txBody>
      </p:sp>
      <p:sp>
        <p:nvSpPr>
          <p:cNvPr id="4" name="Espace réservé du pied de page 3">
            <a:extLst>
              <a:ext uri="{FF2B5EF4-FFF2-40B4-BE49-F238E27FC236}">
                <a16:creationId xmlns:a16="http://schemas.microsoft.com/office/drawing/2014/main" id="{94E02F19-A7F0-4C2D-A9DC-A959498DEBFB}"/>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EB9D52B5-E886-4A36-B082-0EE32FF89506}"/>
              </a:ext>
            </a:extLst>
          </p:cNvPr>
          <p:cNvSpPr>
            <a:spLocks noGrp="1"/>
          </p:cNvSpPr>
          <p:nvPr>
            <p:ph type="sldNum" sz="quarter" idx="12"/>
          </p:nvPr>
        </p:nvSpPr>
        <p:spPr/>
        <p:txBody>
          <a:bodyPr/>
          <a:lstStyle/>
          <a:p>
            <a:fld id="{D239AA84-4A13-4838-A335-C0AC790302DD}" type="slidenum">
              <a:rPr lang="fr-FR" smtClean="0"/>
              <a:t>7</a:t>
            </a:fld>
            <a:endParaRPr lang="fr-FR"/>
          </a:p>
        </p:txBody>
      </p:sp>
    </p:spTree>
    <p:extLst>
      <p:ext uri="{BB962C8B-B14F-4D97-AF65-F5344CB8AC3E}">
        <p14:creationId xmlns:p14="http://schemas.microsoft.com/office/powerpoint/2010/main" val="35118575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5F8568E-E7E0-4943-957D-ADFA1CAE0961}"/>
              </a:ext>
            </a:extLst>
          </p:cNvPr>
          <p:cNvSpPr>
            <a:spLocks noGrp="1"/>
          </p:cNvSpPr>
          <p:nvPr>
            <p:ph type="title"/>
          </p:nvPr>
        </p:nvSpPr>
        <p:spPr/>
        <p:txBody>
          <a:bodyPr/>
          <a:lstStyle/>
          <a:p>
            <a:r>
              <a:rPr lang="fr-CA" dirty="0"/>
              <a:t>   </a:t>
            </a:r>
            <a:endParaRPr lang="fr-FR" dirty="0"/>
          </a:p>
        </p:txBody>
      </p:sp>
      <p:sp>
        <p:nvSpPr>
          <p:cNvPr id="3" name="Espace réservé du contenu 2">
            <a:extLst>
              <a:ext uri="{FF2B5EF4-FFF2-40B4-BE49-F238E27FC236}">
                <a16:creationId xmlns:a16="http://schemas.microsoft.com/office/drawing/2014/main" id="{2F8BBE6E-060C-4C75-BAA9-B6CFE352CB73}"/>
              </a:ext>
            </a:extLst>
          </p:cNvPr>
          <p:cNvSpPr>
            <a:spLocks noGrp="1"/>
          </p:cNvSpPr>
          <p:nvPr>
            <p:ph idx="1"/>
          </p:nvPr>
        </p:nvSpPr>
        <p:spPr/>
        <p:txBody>
          <a:bodyPr/>
          <a:lstStyle/>
          <a:p>
            <a:pPr marL="0" indent="0">
              <a:buNone/>
            </a:pPr>
            <a:r>
              <a:rPr lang="en-US" dirty="0"/>
              <a:t>“ To preserve the integrity of his reports, the accountant must insist upon absolute independence of judgment and action. The necessity of preserving this position of independence indicates certain standards of conduct. </a:t>
            </a:r>
            <a:r>
              <a:rPr lang="en-US" dirty="0">
                <a:solidFill>
                  <a:srgbClr val="0070C0"/>
                </a:solidFill>
              </a:rPr>
              <a:t>If the confidence of the public in the integrity of accountants ’ reports is shaken, their value is gone</a:t>
            </a:r>
            <a:r>
              <a:rPr lang="en-US" dirty="0"/>
              <a:t>. ” (Arthur Andersen in a </a:t>
            </a:r>
            <a:r>
              <a:rPr lang="en-US" dirty="0">
                <a:solidFill>
                  <a:srgbClr val="0070C0"/>
                </a:solidFill>
              </a:rPr>
              <a:t>1932</a:t>
            </a:r>
            <a:r>
              <a:rPr lang="en-US" dirty="0"/>
              <a:t> Lecture on Business Ethics.)</a:t>
            </a:r>
            <a:endParaRPr lang="fr-FR" dirty="0"/>
          </a:p>
        </p:txBody>
      </p:sp>
      <p:sp>
        <p:nvSpPr>
          <p:cNvPr id="4" name="Espace réservé du pied de page 3">
            <a:extLst>
              <a:ext uri="{FF2B5EF4-FFF2-40B4-BE49-F238E27FC236}">
                <a16:creationId xmlns:a16="http://schemas.microsoft.com/office/drawing/2014/main" id="{2177E314-87A1-4E6E-8670-ADCC90AB025E}"/>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D58DC35D-6061-40EC-99CE-F1FA2B1C9F5C}"/>
              </a:ext>
            </a:extLst>
          </p:cNvPr>
          <p:cNvSpPr>
            <a:spLocks noGrp="1"/>
          </p:cNvSpPr>
          <p:nvPr>
            <p:ph type="sldNum" sz="quarter" idx="12"/>
          </p:nvPr>
        </p:nvSpPr>
        <p:spPr/>
        <p:txBody>
          <a:bodyPr/>
          <a:lstStyle/>
          <a:p>
            <a:fld id="{D239AA84-4A13-4838-A335-C0AC790302DD}" type="slidenum">
              <a:rPr lang="fr-FR" smtClean="0"/>
              <a:t>8</a:t>
            </a:fld>
            <a:endParaRPr lang="fr-FR"/>
          </a:p>
        </p:txBody>
      </p:sp>
    </p:spTree>
    <p:extLst>
      <p:ext uri="{BB962C8B-B14F-4D97-AF65-F5344CB8AC3E}">
        <p14:creationId xmlns:p14="http://schemas.microsoft.com/office/powerpoint/2010/main" val="7046493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30F694C-E2AC-4CB5-B712-1396EF114C20}"/>
              </a:ext>
            </a:extLst>
          </p:cNvPr>
          <p:cNvSpPr>
            <a:spLocks noGrp="1"/>
          </p:cNvSpPr>
          <p:nvPr>
            <p:ph type="title"/>
          </p:nvPr>
        </p:nvSpPr>
        <p:spPr/>
        <p:txBody>
          <a:bodyPr>
            <a:normAutofit/>
          </a:bodyPr>
          <a:lstStyle/>
          <a:p>
            <a:r>
              <a:rPr lang="fr-FR" sz="3600" dirty="0"/>
              <a:t>DILEMMES ÉTHIQUES</a:t>
            </a:r>
          </a:p>
        </p:txBody>
      </p:sp>
      <p:sp>
        <p:nvSpPr>
          <p:cNvPr id="3" name="Espace réservé du contenu 2">
            <a:extLst>
              <a:ext uri="{FF2B5EF4-FFF2-40B4-BE49-F238E27FC236}">
                <a16:creationId xmlns:a16="http://schemas.microsoft.com/office/drawing/2014/main" id="{722EB642-E7E1-44EF-BE5A-C782A9B08306}"/>
              </a:ext>
            </a:extLst>
          </p:cNvPr>
          <p:cNvSpPr>
            <a:spLocks noGrp="1"/>
          </p:cNvSpPr>
          <p:nvPr>
            <p:ph idx="1"/>
          </p:nvPr>
        </p:nvSpPr>
        <p:spPr/>
        <p:txBody>
          <a:bodyPr/>
          <a:lstStyle/>
          <a:p>
            <a:r>
              <a:rPr lang="fr-CA" dirty="0"/>
              <a:t>Les CPA sont souvent des parties prenantes des rapports financiers</a:t>
            </a:r>
          </a:p>
          <a:p>
            <a:pPr lvl="1"/>
            <a:r>
              <a:rPr lang="fr-CA" dirty="0"/>
              <a:t>Préparateurs : dilemmes éthiques quant au choix de méthodes comptables</a:t>
            </a:r>
          </a:p>
          <a:p>
            <a:pPr lvl="2"/>
            <a:r>
              <a:rPr lang="fr-CA" dirty="0"/>
              <a:t>Pour les zones « grises », pour les problèmes non normalisés</a:t>
            </a:r>
          </a:p>
          <a:p>
            <a:pPr lvl="1"/>
            <a:r>
              <a:rPr lang="fr-CA" dirty="0"/>
              <a:t>Auditeurs : dilemmes éthiques quant aux traitements et présentation conformes au référentiel</a:t>
            </a:r>
          </a:p>
          <a:p>
            <a:pPr lvl="1"/>
            <a:endParaRPr lang="fr-CA" dirty="0"/>
          </a:p>
        </p:txBody>
      </p:sp>
      <p:sp>
        <p:nvSpPr>
          <p:cNvPr id="4" name="Espace réservé du pied de page 3">
            <a:extLst>
              <a:ext uri="{FF2B5EF4-FFF2-40B4-BE49-F238E27FC236}">
                <a16:creationId xmlns:a16="http://schemas.microsoft.com/office/drawing/2014/main" id="{E1F2C5B4-DC04-4C02-AF47-7B3475683DB7}"/>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66891334-E047-4943-8427-7C43DE13F7E7}"/>
              </a:ext>
            </a:extLst>
          </p:cNvPr>
          <p:cNvSpPr>
            <a:spLocks noGrp="1"/>
          </p:cNvSpPr>
          <p:nvPr>
            <p:ph type="sldNum" sz="quarter" idx="12"/>
          </p:nvPr>
        </p:nvSpPr>
        <p:spPr/>
        <p:txBody>
          <a:bodyPr/>
          <a:lstStyle/>
          <a:p>
            <a:fld id="{D239AA84-4A13-4838-A335-C0AC790302DD}" type="slidenum">
              <a:rPr lang="fr-FR" smtClean="0"/>
              <a:t>9</a:t>
            </a:fld>
            <a:endParaRPr lang="fr-FR"/>
          </a:p>
        </p:txBody>
      </p:sp>
    </p:spTree>
    <p:extLst>
      <p:ext uri="{BB962C8B-B14F-4D97-AF65-F5344CB8AC3E}">
        <p14:creationId xmlns:p14="http://schemas.microsoft.com/office/powerpoint/2010/main" val="28121462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Fraude comptable</a:t>
            </a:r>
          </a:p>
        </p:txBody>
      </p:sp>
      <p:sp>
        <p:nvSpPr>
          <p:cNvPr id="3" name="Espace réservé du contenu 2"/>
          <p:cNvSpPr>
            <a:spLocks noGrp="1"/>
          </p:cNvSpPr>
          <p:nvPr>
            <p:ph idx="1"/>
          </p:nvPr>
        </p:nvSpPr>
        <p:spPr/>
        <p:txBody>
          <a:bodyPr>
            <a:normAutofit/>
          </a:bodyPr>
          <a:lstStyle/>
          <a:p>
            <a:r>
              <a:rPr lang="fr-CA" dirty="0"/>
              <a:t>« </a:t>
            </a:r>
            <a:r>
              <a:rPr lang="fr-CA" b="1" i="1" dirty="0"/>
              <a:t>Déclaration trompeuse délibérée</a:t>
            </a:r>
            <a:r>
              <a:rPr lang="fr-CA" dirty="0"/>
              <a:t> sur la situation financière d’une entreprise par la </a:t>
            </a:r>
            <a:r>
              <a:rPr lang="fr-CA" b="1" i="1" dirty="0"/>
              <a:t>présentation erronée ou l’omission intentionnelles</a:t>
            </a:r>
            <a:r>
              <a:rPr lang="fr-CA" dirty="0"/>
              <a:t>  de montants ou d’autres informations dans les états financiers en vue de </a:t>
            </a:r>
            <a:r>
              <a:rPr lang="fr-CA" b="1" i="1" dirty="0"/>
              <a:t>tromper</a:t>
            </a:r>
            <a:r>
              <a:rPr lang="fr-CA" dirty="0"/>
              <a:t> les utilisateurs de ces états financiers. »</a:t>
            </a:r>
          </a:p>
          <a:p>
            <a:pPr lvl="1"/>
            <a:endParaRPr lang="fr-CA" dirty="0"/>
          </a:p>
          <a:p>
            <a:pPr lvl="1"/>
            <a:r>
              <a:rPr lang="fr-CA" dirty="0"/>
              <a:t>Pour cacher un vol d’actifs</a:t>
            </a:r>
          </a:p>
          <a:p>
            <a:pPr lvl="1"/>
            <a:r>
              <a:rPr lang="fr-CA" dirty="0"/>
              <a:t>Pour « gérer » les résultats</a:t>
            </a:r>
          </a:p>
          <a:p>
            <a:pPr lvl="1"/>
            <a:endParaRPr lang="fr-CA" dirty="0"/>
          </a:p>
          <a:p>
            <a:pPr lvl="1"/>
            <a:r>
              <a:rPr lang="fr-CA" dirty="0"/>
              <a:t>C. choix comptables « avantageux » mais respectant le référentiel</a:t>
            </a:r>
          </a:p>
        </p:txBody>
      </p:sp>
      <p:sp>
        <p:nvSpPr>
          <p:cNvPr id="4" name="Espace réservé du numéro de diapositive 3"/>
          <p:cNvSpPr>
            <a:spLocks noGrp="1"/>
          </p:cNvSpPr>
          <p:nvPr>
            <p:ph type="sldNum" sz="quarter" idx="12"/>
          </p:nvPr>
        </p:nvSpPr>
        <p:spPr/>
        <p:txBody>
          <a:bodyPr/>
          <a:lstStyle/>
          <a:p>
            <a:fld id="{9CC8B0BC-FFD9-4597-847C-758F96E3D24E}" type="slidenum">
              <a:rPr lang="fr-CA" smtClean="0"/>
              <a:t>10</a:t>
            </a:fld>
            <a:endParaRPr lang="fr-CA"/>
          </a:p>
        </p:txBody>
      </p:sp>
      <p:sp>
        <p:nvSpPr>
          <p:cNvPr id="5" name="Espace réservé du pied de page 4">
            <a:extLst>
              <a:ext uri="{FF2B5EF4-FFF2-40B4-BE49-F238E27FC236}">
                <a16:creationId xmlns:a16="http://schemas.microsoft.com/office/drawing/2014/main" id="{A57A74DE-548C-4E4B-8482-0D6855F367C1}"/>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42006781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Fraudes comptables</a:t>
            </a:r>
          </a:p>
        </p:txBody>
      </p:sp>
      <p:sp>
        <p:nvSpPr>
          <p:cNvPr id="3" name="Espace réservé du contenu 2"/>
          <p:cNvSpPr>
            <a:spLocks noGrp="1"/>
          </p:cNvSpPr>
          <p:nvPr>
            <p:ph idx="1"/>
          </p:nvPr>
        </p:nvSpPr>
        <p:spPr/>
        <p:txBody>
          <a:bodyPr>
            <a:normAutofit fontScale="92500" lnSpcReduction="20000"/>
          </a:bodyPr>
          <a:lstStyle/>
          <a:p>
            <a:pPr marL="0" indent="0">
              <a:buNone/>
            </a:pPr>
            <a:r>
              <a:rPr lang="fr-CA" dirty="0"/>
              <a:t>Qui fait des fraudes?</a:t>
            </a:r>
          </a:p>
          <a:p>
            <a:r>
              <a:rPr lang="fr-CA" dirty="0"/>
              <a:t>Propriétaires, direction, employés</a:t>
            </a:r>
          </a:p>
          <a:p>
            <a:pPr lvl="1"/>
            <a:r>
              <a:rPr lang="fr-CA" dirty="0"/>
              <a:t>Plus fréquemment les employés et la direction</a:t>
            </a:r>
          </a:p>
          <a:p>
            <a:pPr lvl="2"/>
            <a:r>
              <a:rPr lang="fr-CA" dirty="0"/>
              <a:t>Plus fréquemment provenant du département comptable</a:t>
            </a:r>
          </a:p>
          <a:p>
            <a:pPr lvl="2"/>
            <a:r>
              <a:rPr lang="fr-CA" dirty="0"/>
              <a:t>Moins fréquemment par de « nouveaux » employés, et pour de plus petites sommes</a:t>
            </a:r>
          </a:p>
          <a:p>
            <a:pPr lvl="1"/>
            <a:r>
              <a:rPr lang="fr-CA" dirty="0"/>
              <a:t>La direction font des fraudes pour des sommes plus élevées</a:t>
            </a:r>
          </a:p>
          <a:p>
            <a:r>
              <a:rPr lang="fr-CA" dirty="0"/>
              <a:t>Hommes, femmes </a:t>
            </a:r>
          </a:p>
          <a:p>
            <a:pPr lvl="1"/>
            <a:r>
              <a:rPr lang="fr-CA" dirty="0"/>
              <a:t>Plus fréquemment des hommes, et pour des sommes plus élevées</a:t>
            </a:r>
          </a:p>
          <a:p>
            <a:r>
              <a:rPr lang="fr-CA" dirty="0"/>
              <a:t>Toutes scolarités</a:t>
            </a:r>
          </a:p>
          <a:p>
            <a:r>
              <a:rPr lang="fr-CA" dirty="0"/>
              <a:t>Tous âges</a:t>
            </a:r>
          </a:p>
          <a:p>
            <a:pPr lvl="1"/>
            <a:r>
              <a:rPr lang="fr-CA" dirty="0"/>
              <a:t>Plus fréquemment la tranche 30-45 ans mais les personnes plus âgées font des fraudes pour des sommes plus élevées</a:t>
            </a:r>
          </a:p>
        </p:txBody>
      </p:sp>
      <p:sp>
        <p:nvSpPr>
          <p:cNvPr id="4" name="Espace réservé du numéro de diapositive 3"/>
          <p:cNvSpPr>
            <a:spLocks noGrp="1"/>
          </p:cNvSpPr>
          <p:nvPr>
            <p:ph type="sldNum" sz="quarter" idx="12"/>
          </p:nvPr>
        </p:nvSpPr>
        <p:spPr/>
        <p:txBody>
          <a:bodyPr/>
          <a:lstStyle/>
          <a:p>
            <a:fld id="{9CC8B0BC-FFD9-4597-847C-758F96E3D24E}" type="slidenum">
              <a:rPr lang="fr-CA" smtClean="0"/>
              <a:t>11</a:t>
            </a:fld>
            <a:endParaRPr lang="fr-CA"/>
          </a:p>
        </p:txBody>
      </p:sp>
      <p:sp>
        <p:nvSpPr>
          <p:cNvPr id="5" name="Espace réservé du pied de page 4">
            <a:extLst>
              <a:ext uri="{FF2B5EF4-FFF2-40B4-BE49-F238E27FC236}">
                <a16:creationId xmlns:a16="http://schemas.microsoft.com/office/drawing/2014/main" id="{8621A0BF-AC71-4385-AFBF-2D6D3E10EB38}"/>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9661268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D1F58C0-79EB-C796-04FD-8DB6931E9315}"/>
              </a:ext>
            </a:extLst>
          </p:cNvPr>
          <p:cNvSpPr>
            <a:spLocks noGrp="1"/>
          </p:cNvSpPr>
          <p:nvPr>
            <p:ph type="title"/>
          </p:nvPr>
        </p:nvSpPr>
        <p:spPr/>
        <p:txBody>
          <a:bodyPr/>
          <a:lstStyle/>
          <a:p>
            <a:r>
              <a:rPr lang="fr-CA" sz="4000" dirty="0"/>
              <a:t>Plusieurs fraudes possibles </a:t>
            </a:r>
            <a:endParaRPr lang="fr-FR" dirty="0"/>
          </a:p>
        </p:txBody>
      </p:sp>
      <p:sp>
        <p:nvSpPr>
          <p:cNvPr id="3" name="Espace réservé du contenu 2">
            <a:extLst>
              <a:ext uri="{FF2B5EF4-FFF2-40B4-BE49-F238E27FC236}">
                <a16:creationId xmlns:a16="http://schemas.microsoft.com/office/drawing/2014/main" id="{2E2BFA5B-7670-E2E5-81E7-B1B1E40197AB}"/>
              </a:ext>
            </a:extLst>
          </p:cNvPr>
          <p:cNvSpPr>
            <a:spLocks noGrp="1"/>
          </p:cNvSpPr>
          <p:nvPr>
            <p:ph idx="1"/>
          </p:nvPr>
        </p:nvSpPr>
        <p:spPr/>
        <p:txBody>
          <a:bodyPr>
            <a:normAutofit lnSpcReduction="10000"/>
          </a:bodyPr>
          <a:lstStyle/>
          <a:p>
            <a:r>
              <a:rPr lang="fr-CA" dirty="0"/>
              <a:t>Vol d’actifs de la société (trésorerie, stocks, immobilisations…)</a:t>
            </a:r>
          </a:p>
          <a:p>
            <a:r>
              <a:rPr lang="fr-CA" dirty="0"/>
              <a:t>Fraude comptable (information financière communiquée via les états financiers, pourrait être mesure incorrecte d’une juste valeur, moment incorrect de comptabilisation des produits, pourrait être contenu incomplet d’une note par exemple sur les éventualités…</a:t>
            </a:r>
          </a:p>
          <a:p>
            <a:r>
              <a:rPr lang="fr-CA" dirty="0"/>
              <a:t>Fraude au niveau des rapports d’impôts, de la déclaration des avantages imposables…</a:t>
            </a:r>
          </a:p>
          <a:p>
            <a:r>
              <a:rPr lang="fr-CA" dirty="0"/>
              <a:t>Favoriser des ententes avec des parties liées à l’employé, à des conditions potentiellement désavantageuses pour la société…</a:t>
            </a:r>
          </a:p>
          <a:p>
            <a:r>
              <a:rPr lang="fr-CA" dirty="0"/>
              <a:t>Etc.</a:t>
            </a:r>
          </a:p>
        </p:txBody>
      </p:sp>
      <p:sp>
        <p:nvSpPr>
          <p:cNvPr id="4" name="Espace réservé du pied de page 3">
            <a:extLst>
              <a:ext uri="{FF2B5EF4-FFF2-40B4-BE49-F238E27FC236}">
                <a16:creationId xmlns:a16="http://schemas.microsoft.com/office/drawing/2014/main" id="{1B89033D-CBB9-EF93-627E-83986B28957B}"/>
              </a:ext>
            </a:extLst>
          </p:cNvPr>
          <p:cNvSpPr>
            <a:spLocks noGrp="1"/>
          </p:cNvSpPr>
          <p:nvPr>
            <p:ph type="ftr" sz="quarter" idx="11"/>
          </p:nvPr>
        </p:nvSpPr>
        <p:spPr/>
        <p:txBody>
          <a:bodyPr/>
          <a:lstStyle/>
          <a:p>
            <a:r>
              <a:rPr lang="fr-CA"/>
              <a:t>Droits réservés - Louise Overbeek</a:t>
            </a:r>
          </a:p>
        </p:txBody>
      </p:sp>
      <p:sp>
        <p:nvSpPr>
          <p:cNvPr id="5" name="Espace réservé du numéro de diapositive 4">
            <a:extLst>
              <a:ext uri="{FF2B5EF4-FFF2-40B4-BE49-F238E27FC236}">
                <a16:creationId xmlns:a16="http://schemas.microsoft.com/office/drawing/2014/main" id="{86BB33DB-2EF0-FF30-3E1E-F21ECB3160C2}"/>
              </a:ext>
            </a:extLst>
          </p:cNvPr>
          <p:cNvSpPr>
            <a:spLocks noGrp="1"/>
          </p:cNvSpPr>
          <p:nvPr>
            <p:ph type="sldNum" sz="quarter" idx="12"/>
          </p:nvPr>
        </p:nvSpPr>
        <p:spPr/>
        <p:txBody>
          <a:bodyPr/>
          <a:lstStyle/>
          <a:p>
            <a:fld id="{9CC8B0BC-FFD9-4597-847C-758F96E3D24E}" type="slidenum">
              <a:rPr lang="fr-CA" smtClean="0"/>
              <a:t>12</a:t>
            </a:fld>
            <a:endParaRPr lang="fr-CA"/>
          </a:p>
        </p:txBody>
      </p:sp>
    </p:spTree>
    <p:extLst>
      <p:ext uri="{BB962C8B-B14F-4D97-AF65-F5344CB8AC3E}">
        <p14:creationId xmlns:p14="http://schemas.microsoft.com/office/powerpoint/2010/main" val="1174917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A7E9607-21BB-294A-A909-732B2E83C257}"/>
              </a:ext>
            </a:extLst>
          </p:cNvPr>
          <p:cNvSpPr>
            <a:spLocks noGrp="1"/>
          </p:cNvSpPr>
          <p:nvPr>
            <p:ph type="title"/>
          </p:nvPr>
        </p:nvSpPr>
        <p:spPr/>
        <p:txBody>
          <a:bodyPr/>
          <a:lstStyle/>
          <a:p>
            <a:r>
              <a:rPr lang="fr-CA" sz="4000" dirty="0"/>
              <a:t>Gestion du risque de fraude</a:t>
            </a:r>
            <a:endParaRPr lang="fr-FR" dirty="0"/>
          </a:p>
        </p:txBody>
      </p:sp>
      <p:sp>
        <p:nvSpPr>
          <p:cNvPr id="3" name="Espace réservé du contenu 2">
            <a:extLst>
              <a:ext uri="{FF2B5EF4-FFF2-40B4-BE49-F238E27FC236}">
                <a16:creationId xmlns:a16="http://schemas.microsoft.com/office/drawing/2014/main" id="{53D3575C-87BE-203E-613B-8A575D3BEAEB}"/>
              </a:ext>
            </a:extLst>
          </p:cNvPr>
          <p:cNvSpPr>
            <a:spLocks noGrp="1"/>
          </p:cNvSpPr>
          <p:nvPr>
            <p:ph idx="1"/>
          </p:nvPr>
        </p:nvSpPr>
        <p:spPr/>
        <p:txBody>
          <a:bodyPr/>
          <a:lstStyle/>
          <a:p>
            <a:r>
              <a:rPr lang="fr-CA" dirty="0"/>
              <a:t>Prévention : environnement de contrôles, culture d’entreprise, code d’éthique, …</a:t>
            </a:r>
          </a:p>
          <a:p>
            <a:r>
              <a:rPr lang="fr-CA" dirty="0"/>
              <a:t>Détection : application rigoureuse des processus de contrôle (par exemple valider le contenu du rapport de dépenses avant d’approuver), processus de surveillance mis en place – audit interne et externe, ligne de dénonciation</a:t>
            </a:r>
          </a:p>
          <a:p>
            <a:r>
              <a:rPr lang="fr-CA" dirty="0"/>
              <a:t>Réponse : correction des processus et du message, sanctions en cas d’infraction…</a:t>
            </a:r>
            <a:endParaRPr lang="fr-FR" dirty="0"/>
          </a:p>
        </p:txBody>
      </p:sp>
      <p:sp>
        <p:nvSpPr>
          <p:cNvPr id="4" name="Espace réservé du pied de page 3">
            <a:extLst>
              <a:ext uri="{FF2B5EF4-FFF2-40B4-BE49-F238E27FC236}">
                <a16:creationId xmlns:a16="http://schemas.microsoft.com/office/drawing/2014/main" id="{7E9F0D91-2869-DFF4-F3EE-43C726928800}"/>
              </a:ext>
            </a:extLst>
          </p:cNvPr>
          <p:cNvSpPr>
            <a:spLocks noGrp="1"/>
          </p:cNvSpPr>
          <p:nvPr>
            <p:ph type="ftr" sz="quarter" idx="11"/>
          </p:nvPr>
        </p:nvSpPr>
        <p:spPr/>
        <p:txBody>
          <a:bodyPr/>
          <a:lstStyle/>
          <a:p>
            <a:r>
              <a:rPr lang="fr-CA"/>
              <a:t>Droits réservés - Louise Overbeek</a:t>
            </a:r>
          </a:p>
        </p:txBody>
      </p:sp>
      <p:sp>
        <p:nvSpPr>
          <p:cNvPr id="5" name="Espace réservé du numéro de diapositive 4">
            <a:extLst>
              <a:ext uri="{FF2B5EF4-FFF2-40B4-BE49-F238E27FC236}">
                <a16:creationId xmlns:a16="http://schemas.microsoft.com/office/drawing/2014/main" id="{AE2C591D-9699-97DD-2DBC-42E8EC0A0620}"/>
              </a:ext>
            </a:extLst>
          </p:cNvPr>
          <p:cNvSpPr>
            <a:spLocks noGrp="1"/>
          </p:cNvSpPr>
          <p:nvPr>
            <p:ph type="sldNum" sz="quarter" idx="12"/>
          </p:nvPr>
        </p:nvSpPr>
        <p:spPr/>
        <p:txBody>
          <a:bodyPr/>
          <a:lstStyle/>
          <a:p>
            <a:fld id="{9CC8B0BC-FFD9-4597-847C-758F96E3D24E}" type="slidenum">
              <a:rPr lang="fr-CA" smtClean="0"/>
              <a:t>13</a:t>
            </a:fld>
            <a:endParaRPr lang="fr-CA"/>
          </a:p>
        </p:txBody>
      </p:sp>
    </p:spTree>
    <p:extLst>
      <p:ext uri="{BB962C8B-B14F-4D97-AF65-F5344CB8AC3E}">
        <p14:creationId xmlns:p14="http://schemas.microsoft.com/office/powerpoint/2010/main" val="41917950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Fraude comptable</a:t>
            </a:r>
            <a:br>
              <a:rPr lang="fr-CA" dirty="0"/>
            </a:br>
            <a:r>
              <a:rPr lang="fr-CA" dirty="0"/>
              <a:t>Pourquoi « gérer » les résultats?</a:t>
            </a:r>
          </a:p>
        </p:txBody>
      </p:sp>
      <p:sp>
        <p:nvSpPr>
          <p:cNvPr id="3" name="Espace réservé du contenu 2"/>
          <p:cNvSpPr>
            <a:spLocks noGrp="1"/>
          </p:cNvSpPr>
          <p:nvPr>
            <p:ph idx="1"/>
          </p:nvPr>
        </p:nvSpPr>
        <p:spPr/>
        <p:txBody>
          <a:bodyPr>
            <a:normAutofit fontScale="85000" lnSpcReduction="20000"/>
          </a:bodyPr>
          <a:lstStyle/>
          <a:p>
            <a:r>
              <a:rPr lang="fr-CA" dirty="0"/>
              <a:t>Pressions des actionnaires (analystes pour titres cotés) : </a:t>
            </a:r>
          </a:p>
          <a:p>
            <a:pPr lvl="1"/>
            <a:r>
              <a:rPr lang="fr-CA" dirty="0"/>
              <a:t>Attentes connues : « tout faire pour les atteindre »</a:t>
            </a:r>
          </a:p>
          <a:p>
            <a:pPr lvl="2"/>
            <a:r>
              <a:rPr lang="fr-CA" dirty="0"/>
              <a:t>Impact sur la valeur de l’action / de l’entreprise</a:t>
            </a:r>
          </a:p>
          <a:p>
            <a:pPr lvl="1"/>
            <a:r>
              <a:rPr lang="fr-CA" dirty="0"/>
              <a:t>Pour les PME : réduction du bénéfice imposable</a:t>
            </a:r>
          </a:p>
          <a:p>
            <a:r>
              <a:rPr lang="fr-CA" dirty="0"/>
              <a:t>Pressions des prêteurs : ratios à respecter</a:t>
            </a:r>
          </a:p>
          <a:p>
            <a:pPr lvl="1"/>
            <a:r>
              <a:rPr lang="fr-CA" dirty="0"/>
              <a:t>Risque défaut, obtention de nouveaux capitaux</a:t>
            </a:r>
          </a:p>
          <a:p>
            <a:r>
              <a:rPr lang="fr-CA" dirty="0"/>
              <a:t>Bonification basée sur les résultats, régime d’options pour la direction</a:t>
            </a:r>
          </a:p>
          <a:p>
            <a:endParaRPr lang="fr-CA" dirty="0"/>
          </a:p>
          <a:p>
            <a:pPr>
              <a:buFont typeface="Wingdings" panose="05000000000000000000" pitchFamily="2" charset="2"/>
              <a:buChar char="Ø"/>
            </a:pPr>
            <a:r>
              <a:rPr lang="fr-CA" dirty="0"/>
              <a:t>Pressions</a:t>
            </a:r>
          </a:p>
          <a:p>
            <a:pPr>
              <a:buFont typeface="Wingdings" panose="05000000000000000000" pitchFamily="2" charset="2"/>
              <a:buChar char="Ø"/>
            </a:pPr>
            <a:r>
              <a:rPr lang="fr-CA" dirty="0"/>
              <a:t>Occasions : faiblesse des contrôles</a:t>
            </a:r>
          </a:p>
          <a:p>
            <a:pPr>
              <a:buFont typeface="Wingdings" panose="05000000000000000000" pitchFamily="2" charset="2"/>
              <a:buChar char="Ø"/>
            </a:pPr>
            <a:r>
              <a:rPr lang="fr-CA" dirty="0"/>
              <a:t>Rationalisation, « valeurs sociales  »</a:t>
            </a:r>
          </a:p>
          <a:p>
            <a:pPr lvl="1">
              <a:buFont typeface="Wingdings" panose="05000000000000000000" pitchFamily="2" charset="2"/>
              <a:buChar char="Ø"/>
            </a:pPr>
            <a:r>
              <a:rPr lang="fr-CA" dirty="0"/>
              <a:t>Conséquences « limitées » au niveau individuel, perte de crédibilité au niveau corporatif</a:t>
            </a:r>
          </a:p>
        </p:txBody>
      </p:sp>
      <p:sp>
        <p:nvSpPr>
          <p:cNvPr id="4" name="Espace réservé du numéro de diapositive 3"/>
          <p:cNvSpPr>
            <a:spLocks noGrp="1"/>
          </p:cNvSpPr>
          <p:nvPr>
            <p:ph type="sldNum" sz="quarter" idx="12"/>
          </p:nvPr>
        </p:nvSpPr>
        <p:spPr/>
        <p:txBody>
          <a:bodyPr/>
          <a:lstStyle/>
          <a:p>
            <a:fld id="{9CC8B0BC-FFD9-4597-847C-758F96E3D24E}" type="slidenum">
              <a:rPr lang="fr-CA" smtClean="0"/>
              <a:t>14</a:t>
            </a:fld>
            <a:endParaRPr lang="fr-CA"/>
          </a:p>
        </p:txBody>
      </p:sp>
      <p:sp>
        <p:nvSpPr>
          <p:cNvPr id="5" name="Espace réservé du pied de page 4">
            <a:extLst>
              <a:ext uri="{FF2B5EF4-FFF2-40B4-BE49-F238E27FC236}">
                <a16:creationId xmlns:a16="http://schemas.microsoft.com/office/drawing/2014/main" id="{3E14D9F0-930D-44B8-886C-9FF97C8E666E}"/>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29002896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Comment?</a:t>
            </a:r>
          </a:p>
        </p:txBody>
      </p:sp>
      <p:sp>
        <p:nvSpPr>
          <p:cNvPr id="3" name="Espace réservé du contenu 2"/>
          <p:cNvSpPr>
            <a:spLocks noGrp="1"/>
          </p:cNvSpPr>
          <p:nvPr>
            <p:ph idx="1"/>
          </p:nvPr>
        </p:nvSpPr>
        <p:spPr/>
        <p:txBody>
          <a:bodyPr/>
          <a:lstStyle/>
          <a:p>
            <a:r>
              <a:rPr lang="fr-CA" dirty="0"/>
              <a:t>Estimations comptables : provisions (créances, stocks, garantie, litiges), durée/taux amortissement</a:t>
            </a:r>
          </a:p>
          <a:p>
            <a:r>
              <a:rPr lang="fr-CA" dirty="0"/>
              <a:t>Capitalisation c. charges (actifs incorporels)</a:t>
            </a:r>
          </a:p>
          <a:p>
            <a:r>
              <a:rPr lang="fr-CA" dirty="0"/>
              <a:t>Démarcation : comptabilisation inadéquate des « courus » de fin de période, comptabilisation prématurée des produits (services non livrés, droits de retour)</a:t>
            </a:r>
          </a:p>
          <a:p>
            <a:r>
              <a:rPr lang="fr-CA" dirty="0"/>
              <a:t>Image « trompeuse » : ne pas présenter distinctement les éléments non récurrents (gain sur cession immobilisations), information incomplète (poursuites, opérations personnes liées)</a:t>
            </a:r>
          </a:p>
        </p:txBody>
      </p:sp>
      <p:sp>
        <p:nvSpPr>
          <p:cNvPr id="4" name="Espace réservé du numéro de diapositive 3"/>
          <p:cNvSpPr>
            <a:spLocks noGrp="1"/>
          </p:cNvSpPr>
          <p:nvPr>
            <p:ph type="sldNum" sz="quarter" idx="12"/>
          </p:nvPr>
        </p:nvSpPr>
        <p:spPr/>
        <p:txBody>
          <a:bodyPr/>
          <a:lstStyle/>
          <a:p>
            <a:fld id="{9CC8B0BC-FFD9-4597-847C-758F96E3D24E}" type="slidenum">
              <a:rPr lang="fr-CA" smtClean="0"/>
              <a:t>15</a:t>
            </a:fld>
            <a:endParaRPr lang="fr-CA"/>
          </a:p>
        </p:txBody>
      </p:sp>
      <p:sp>
        <p:nvSpPr>
          <p:cNvPr id="5" name="Espace réservé du pied de page 4">
            <a:extLst>
              <a:ext uri="{FF2B5EF4-FFF2-40B4-BE49-F238E27FC236}">
                <a16:creationId xmlns:a16="http://schemas.microsoft.com/office/drawing/2014/main" id="{94535965-392E-4284-8B9F-D751CF799125}"/>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23956007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Fraude / comptabilité trop créative…</a:t>
            </a:r>
          </a:p>
        </p:txBody>
      </p:sp>
      <p:sp>
        <p:nvSpPr>
          <p:cNvPr id="3" name="Espace réservé du contenu 2"/>
          <p:cNvSpPr>
            <a:spLocks noGrp="1"/>
          </p:cNvSpPr>
          <p:nvPr>
            <p:ph idx="1"/>
          </p:nvPr>
        </p:nvSpPr>
        <p:spPr/>
        <p:txBody>
          <a:bodyPr/>
          <a:lstStyle/>
          <a:p>
            <a:r>
              <a:rPr lang="fr-CA" dirty="0"/>
              <a:t>« Lissage » / nivellement des résultats</a:t>
            </a:r>
          </a:p>
          <a:p>
            <a:pPr lvl="1"/>
            <a:r>
              <a:rPr lang="fr-CA" dirty="0"/>
              <a:t>Croissance stable des résultats permet de réduire le risque perçu : impact positif sur la valeur</a:t>
            </a:r>
          </a:p>
          <a:p>
            <a:pPr marL="457200" lvl="1" indent="0">
              <a:buNone/>
            </a:pPr>
            <a:endParaRPr lang="fr-CA" dirty="0"/>
          </a:p>
          <a:p>
            <a:r>
              <a:rPr lang="fr-CA" dirty="0"/>
              <a:t>« </a:t>
            </a:r>
            <a:r>
              <a:rPr lang="fr-CA" dirty="0" err="1"/>
              <a:t>Big</a:t>
            </a:r>
            <a:r>
              <a:rPr lang="fr-CA" dirty="0"/>
              <a:t> bath » / nettoyage des comptes</a:t>
            </a:r>
          </a:p>
          <a:p>
            <a:pPr lvl="1"/>
            <a:r>
              <a:rPr lang="fr-CA" dirty="0"/>
              <a:t>Amplifier une perte courante pour améliorer les résultats futurs (société en réorganisation, en pertes importantes : dépréciation excessive)</a:t>
            </a:r>
          </a:p>
          <a:p>
            <a:pPr marL="0" indent="0">
              <a:buNone/>
            </a:pPr>
            <a:endParaRPr lang="fr-CA" dirty="0"/>
          </a:p>
        </p:txBody>
      </p:sp>
      <p:sp>
        <p:nvSpPr>
          <p:cNvPr id="4" name="Espace réservé du numéro de diapositive 3"/>
          <p:cNvSpPr>
            <a:spLocks noGrp="1"/>
          </p:cNvSpPr>
          <p:nvPr>
            <p:ph type="sldNum" sz="quarter" idx="12"/>
          </p:nvPr>
        </p:nvSpPr>
        <p:spPr/>
        <p:txBody>
          <a:bodyPr/>
          <a:lstStyle/>
          <a:p>
            <a:fld id="{9CC8B0BC-FFD9-4597-847C-758F96E3D24E}" type="slidenum">
              <a:rPr lang="fr-CA" smtClean="0"/>
              <a:t>16</a:t>
            </a:fld>
            <a:endParaRPr lang="fr-CA"/>
          </a:p>
        </p:txBody>
      </p:sp>
      <p:sp>
        <p:nvSpPr>
          <p:cNvPr id="5" name="Espace réservé du pied de page 4">
            <a:extLst>
              <a:ext uri="{FF2B5EF4-FFF2-40B4-BE49-F238E27FC236}">
                <a16:creationId xmlns:a16="http://schemas.microsoft.com/office/drawing/2014/main" id="{61B4D352-367E-474E-A053-6C022BE66C0C}"/>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25909232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Analyse des états financiers</a:t>
            </a:r>
          </a:p>
        </p:txBody>
      </p:sp>
      <p:sp>
        <p:nvSpPr>
          <p:cNvPr id="3" name="Espace réservé du contenu 2"/>
          <p:cNvSpPr>
            <a:spLocks noGrp="1"/>
          </p:cNvSpPr>
          <p:nvPr>
            <p:ph idx="1"/>
          </p:nvPr>
        </p:nvSpPr>
        <p:spPr/>
        <p:txBody>
          <a:bodyPr/>
          <a:lstStyle/>
          <a:p>
            <a:r>
              <a:rPr lang="fr-CA" dirty="0"/>
              <a:t>Analyse horizontale (exercices précédents) et verticale (% total actif ou produits), ratios</a:t>
            </a:r>
          </a:p>
          <a:p>
            <a:r>
              <a:rPr lang="fr-CA" dirty="0"/>
              <a:t>Comparaison avec le secteur (les ratios du secteur)</a:t>
            </a:r>
          </a:p>
          <a:p>
            <a:r>
              <a:rPr lang="fr-CA" dirty="0"/>
              <a:t>Liens entre l’évolution de divers comptes</a:t>
            </a:r>
          </a:p>
          <a:p>
            <a:pPr lvl="1"/>
            <a:r>
              <a:rPr lang="fr-CA" dirty="0"/>
              <a:t>Produits / créances / stocks</a:t>
            </a:r>
          </a:p>
          <a:p>
            <a:pPr lvl="1"/>
            <a:r>
              <a:rPr lang="fr-CA" dirty="0"/>
              <a:t>Stocks / comptes fournisseurs</a:t>
            </a:r>
          </a:p>
          <a:p>
            <a:pPr lvl="1"/>
            <a:r>
              <a:rPr lang="fr-CA" dirty="0"/>
              <a:t>Résultat net / section exploitation flux de trésorerie</a:t>
            </a:r>
          </a:p>
          <a:p>
            <a:pPr marL="0" indent="0">
              <a:buNone/>
            </a:pPr>
            <a:endParaRPr lang="fr-CA" dirty="0"/>
          </a:p>
        </p:txBody>
      </p:sp>
      <p:sp>
        <p:nvSpPr>
          <p:cNvPr id="4" name="Espace réservé du numéro de diapositive 3"/>
          <p:cNvSpPr>
            <a:spLocks noGrp="1"/>
          </p:cNvSpPr>
          <p:nvPr>
            <p:ph type="sldNum" sz="quarter" idx="12"/>
          </p:nvPr>
        </p:nvSpPr>
        <p:spPr/>
        <p:txBody>
          <a:bodyPr/>
          <a:lstStyle/>
          <a:p>
            <a:fld id="{9CC8B0BC-FFD9-4597-847C-758F96E3D24E}" type="slidenum">
              <a:rPr lang="fr-CA" smtClean="0"/>
              <a:t>17</a:t>
            </a:fld>
            <a:endParaRPr lang="fr-CA"/>
          </a:p>
        </p:txBody>
      </p:sp>
      <p:sp>
        <p:nvSpPr>
          <p:cNvPr id="5" name="Espace réservé du pied de page 4">
            <a:extLst>
              <a:ext uri="{FF2B5EF4-FFF2-40B4-BE49-F238E27FC236}">
                <a16:creationId xmlns:a16="http://schemas.microsoft.com/office/drawing/2014/main" id="{03DEABB7-C347-4DA7-AE98-422BF08DB0B2}"/>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30251439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Gestion des résultats</a:t>
            </a:r>
          </a:p>
        </p:txBody>
      </p:sp>
      <p:sp>
        <p:nvSpPr>
          <p:cNvPr id="3" name="Espace réservé du contenu 2"/>
          <p:cNvSpPr>
            <a:spLocks noGrp="1"/>
          </p:cNvSpPr>
          <p:nvPr>
            <p:ph idx="1"/>
          </p:nvPr>
        </p:nvSpPr>
        <p:spPr/>
        <p:txBody>
          <a:bodyPr/>
          <a:lstStyle/>
          <a:p>
            <a:r>
              <a:rPr lang="fr-CA" dirty="0"/>
              <a:t>Jugement inadéquat dans l’application des normes comptables</a:t>
            </a:r>
          </a:p>
          <a:p>
            <a:pPr lvl="1"/>
            <a:r>
              <a:rPr lang="fr-CA" dirty="0"/>
              <a:t>Notion d’</a:t>
            </a:r>
            <a:r>
              <a:rPr lang="fr-CA" dirty="0">
                <a:solidFill>
                  <a:srgbClr val="FF0000"/>
                </a:solidFill>
              </a:rPr>
              <a:t>éthique</a:t>
            </a:r>
          </a:p>
          <a:p>
            <a:pPr lvl="2"/>
            <a:r>
              <a:rPr lang="fr-CA" dirty="0"/>
              <a:t>Fraude provient de l’intention de tromper c. choix permis par les normes</a:t>
            </a:r>
          </a:p>
          <a:p>
            <a:endParaRPr lang="fr-CA" dirty="0"/>
          </a:p>
          <a:p>
            <a:r>
              <a:rPr lang="fr-CA" dirty="0"/>
              <a:t>Encadrement : </a:t>
            </a:r>
          </a:p>
          <a:p>
            <a:pPr lvl="1"/>
            <a:r>
              <a:rPr lang="fr-CA" dirty="0"/>
              <a:t>Gouvernance : conseil d’administration / comité d’audit</a:t>
            </a:r>
          </a:p>
          <a:p>
            <a:pPr lvl="1"/>
            <a:r>
              <a:rPr lang="fr-CA" dirty="0"/>
              <a:t>Auditeur externe</a:t>
            </a:r>
          </a:p>
          <a:p>
            <a:pPr lvl="1"/>
            <a:endParaRPr lang="fr-CA" dirty="0"/>
          </a:p>
          <a:p>
            <a:pPr lvl="2"/>
            <a:endParaRPr lang="fr-CA" dirty="0"/>
          </a:p>
          <a:p>
            <a:pPr lvl="2"/>
            <a:endParaRPr lang="fr-CA" dirty="0"/>
          </a:p>
        </p:txBody>
      </p:sp>
      <p:sp>
        <p:nvSpPr>
          <p:cNvPr id="4" name="Espace réservé du numéro de diapositive 3"/>
          <p:cNvSpPr>
            <a:spLocks noGrp="1"/>
          </p:cNvSpPr>
          <p:nvPr>
            <p:ph type="sldNum" sz="quarter" idx="12"/>
          </p:nvPr>
        </p:nvSpPr>
        <p:spPr/>
        <p:txBody>
          <a:bodyPr/>
          <a:lstStyle/>
          <a:p>
            <a:fld id="{9CC8B0BC-FFD9-4597-847C-758F96E3D24E}" type="slidenum">
              <a:rPr lang="fr-CA" smtClean="0"/>
              <a:t>18</a:t>
            </a:fld>
            <a:endParaRPr lang="fr-CA"/>
          </a:p>
        </p:txBody>
      </p:sp>
      <p:sp>
        <p:nvSpPr>
          <p:cNvPr id="5" name="Espace réservé du pied de page 4">
            <a:extLst>
              <a:ext uri="{FF2B5EF4-FFF2-40B4-BE49-F238E27FC236}">
                <a16:creationId xmlns:a16="http://schemas.microsoft.com/office/drawing/2014/main" id="{80E56CF8-71E1-4454-A217-52B3004D0E0F}"/>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31161431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BCBF851-9233-41DA-A8F7-EFF1504C22EA}"/>
              </a:ext>
            </a:extLst>
          </p:cNvPr>
          <p:cNvSpPr>
            <a:spLocks noGrp="1"/>
          </p:cNvSpPr>
          <p:nvPr>
            <p:ph type="title"/>
          </p:nvPr>
        </p:nvSpPr>
        <p:spPr/>
        <p:txBody>
          <a:bodyPr>
            <a:normAutofit/>
          </a:bodyPr>
          <a:lstStyle/>
          <a:p>
            <a:r>
              <a:rPr lang="fr-CA" sz="3600" dirty="0"/>
              <a:t>Mise en situation </a:t>
            </a:r>
            <a:endParaRPr lang="fr-FR" sz="3600" dirty="0"/>
          </a:p>
        </p:txBody>
      </p:sp>
      <p:sp>
        <p:nvSpPr>
          <p:cNvPr id="3" name="Espace réservé du contenu 2">
            <a:extLst>
              <a:ext uri="{FF2B5EF4-FFF2-40B4-BE49-F238E27FC236}">
                <a16:creationId xmlns:a16="http://schemas.microsoft.com/office/drawing/2014/main" id="{62C0C095-82E8-4715-A6A0-A2B0DDA6B9A4}"/>
              </a:ext>
            </a:extLst>
          </p:cNvPr>
          <p:cNvSpPr>
            <a:spLocks noGrp="1"/>
          </p:cNvSpPr>
          <p:nvPr>
            <p:ph idx="1"/>
          </p:nvPr>
        </p:nvSpPr>
        <p:spPr>
          <a:xfrm>
            <a:off x="838200" y="1402080"/>
            <a:ext cx="10515600" cy="4774883"/>
          </a:xfrm>
        </p:spPr>
        <p:txBody>
          <a:bodyPr>
            <a:noAutofit/>
          </a:bodyPr>
          <a:lstStyle/>
          <a:p>
            <a:pPr marL="0" indent="0">
              <a:buNone/>
            </a:pPr>
            <a:r>
              <a:rPr lang="fr-FR" sz="2400" dirty="0">
                <a:effectLst/>
              </a:rPr>
              <a:t>Mélanie est la </a:t>
            </a:r>
            <a:r>
              <a:rPr lang="fr-FR" sz="2400" dirty="0" err="1">
                <a:effectLst/>
              </a:rPr>
              <a:t>contrôleure</a:t>
            </a:r>
            <a:r>
              <a:rPr lang="fr-FR" sz="2400" dirty="0">
                <a:effectLst/>
              </a:rPr>
              <a:t> d’une petite entreprise de construction, Acmé. Elle est nouvelle au travail et reconnaissante au PDG, Peter, de lui avoir permis de travailler avec </a:t>
            </a:r>
            <a:r>
              <a:rPr lang="fr-FR" sz="2400" dirty="0"/>
              <a:t>un horaire flexible </a:t>
            </a:r>
            <a:r>
              <a:rPr lang="fr-FR" sz="2400" dirty="0">
                <a:effectLst/>
              </a:rPr>
              <a:t>afin qu’elle puisse prendre soin de sa jeune fille, qui est à la garderie. </a:t>
            </a:r>
          </a:p>
          <a:p>
            <a:pPr marL="0" indent="0">
              <a:buNone/>
            </a:pPr>
            <a:r>
              <a:rPr lang="fr-FR" sz="2400" dirty="0">
                <a:effectLst/>
              </a:rPr>
              <a:t>Mélanie s’inquiète de la </a:t>
            </a:r>
            <a:r>
              <a:rPr lang="fr-FR" sz="2400" dirty="0" err="1">
                <a:effectLst/>
              </a:rPr>
              <a:t>recouvrabilité</a:t>
            </a:r>
            <a:r>
              <a:rPr lang="fr-FR" sz="2400" dirty="0">
                <a:effectLst/>
              </a:rPr>
              <a:t> des créances à recevoir de Client, pour lequel Acmé a effectué un travail considérable. Mélanie estime que la provision pour ces créances devrait être ajustée. Lorsqu’elle exprime son inquiétude à Peter, elle apprend que l’ajustement pour tenir compte des créances pourrait mettre en péril l’approbation d’un prêt dont l’entreprise a tant besoin. Il semble clair pour Mélanie que lorsque Peter a dit : « Eh bien, faites ce que vous pensez être juste », il ne le pensait pa</a:t>
            </a:r>
            <a:r>
              <a:rPr lang="fr-FR" sz="2400" dirty="0"/>
              <a:t>s vraiment</a:t>
            </a:r>
            <a:r>
              <a:rPr lang="fr-FR" sz="2400" dirty="0">
                <a:effectLst/>
              </a:rPr>
              <a:t>. Devrait-elle être une joueuse d’équipe et suivre ce que Peter veut clairement, mais n’a pas spécifiquement demandé?</a:t>
            </a:r>
          </a:p>
        </p:txBody>
      </p:sp>
      <p:sp>
        <p:nvSpPr>
          <p:cNvPr id="4" name="Espace réservé du pied de page 3">
            <a:extLst>
              <a:ext uri="{FF2B5EF4-FFF2-40B4-BE49-F238E27FC236}">
                <a16:creationId xmlns:a16="http://schemas.microsoft.com/office/drawing/2014/main" id="{67E8CE7F-027F-424D-BF6A-E9B4FA977555}"/>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E5C77483-81FC-411A-BF1A-C75D1D9A1D82}"/>
              </a:ext>
            </a:extLst>
          </p:cNvPr>
          <p:cNvSpPr>
            <a:spLocks noGrp="1"/>
          </p:cNvSpPr>
          <p:nvPr>
            <p:ph type="sldNum" sz="quarter" idx="12"/>
          </p:nvPr>
        </p:nvSpPr>
        <p:spPr/>
        <p:txBody>
          <a:bodyPr/>
          <a:lstStyle/>
          <a:p>
            <a:fld id="{D239AA84-4A13-4838-A335-C0AC790302DD}" type="slidenum">
              <a:rPr lang="fr-FR" smtClean="0"/>
              <a:t>19</a:t>
            </a:fld>
            <a:endParaRPr lang="fr-FR"/>
          </a:p>
        </p:txBody>
      </p:sp>
    </p:spTree>
    <p:extLst>
      <p:ext uri="{BB962C8B-B14F-4D97-AF65-F5344CB8AC3E}">
        <p14:creationId xmlns:p14="http://schemas.microsoft.com/office/powerpoint/2010/main" val="30879111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C35E8F1-57E5-4886-B4F3-67F8B0B11942}"/>
              </a:ext>
            </a:extLst>
          </p:cNvPr>
          <p:cNvSpPr>
            <a:spLocks noGrp="1"/>
          </p:cNvSpPr>
          <p:nvPr>
            <p:ph type="title"/>
          </p:nvPr>
        </p:nvSpPr>
        <p:spPr/>
        <p:txBody>
          <a:bodyPr/>
          <a:lstStyle/>
          <a:p>
            <a:r>
              <a:rPr lang="fr-CA" sz="3600" dirty="0"/>
              <a:t>Différents rôles d’un CPA</a:t>
            </a:r>
            <a:endParaRPr lang="fr-FR" dirty="0"/>
          </a:p>
        </p:txBody>
      </p:sp>
      <p:sp>
        <p:nvSpPr>
          <p:cNvPr id="3" name="Espace réservé du contenu 2">
            <a:extLst>
              <a:ext uri="{FF2B5EF4-FFF2-40B4-BE49-F238E27FC236}">
                <a16:creationId xmlns:a16="http://schemas.microsoft.com/office/drawing/2014/main" id="{2E96299D-EAFE-45C9-9545-584BE9212F7B}"/>
              </a:ext>
            </a:extLst>
          </p:cNvPr>
          <p:cNvSpPr>
            <a:spLocks noGrp="1"/>
          </p:cNvSpPr>
          <p:nvPr>
            <p:ph idx="1"/>
          </p:nvPr>
        </p:nvSpPr>
        <p:spPr/>
        <p:txBody>
          <a:bodyPr>
            <a:normAutofit/>
          </a:bodyPr>
          <a:lstStyle/>
          <a:p>
            <a:r>
              <a:rPr lang="fr-FR" i="1" dirty="0">
                <a:solidFill>
                  <a:srgbClr val="0070C0"/>
                </a:solidFill>
                <a:latin typeface="Segoe UI Web (West European)"/>
              </a:rPr>
              <a:t>Comptable en entreprise</a:t>
            </a:r>
            <a:r>
              <a:rPr lang="fr-FR" dirty="0">
                <a:effectLst/>
                <a:latin typeface="Segoe UI Web (West European)"/>
              </a:rPr>
              <a:t>. Les entreprises ont besoin de contrôleurs et d’auditeurs internes. Par exemple, ils ont besoin de comptables internes dont le rôle est de donner l’image la plus précise de la situation économique de l’organisation afin que l’entreprise puisse se développer. La responsabilité principale du comptable incombe à l’entreprise, mais si le conseil d’administration, les dirigeants et les actionnaires de la société ont des objectifs précis et créent un environnement où l’éthique n’est pas valorisée, le comptable pourrait se retrouver face à des enjeux éthiques face à sa vision de la préparation d’information « correcte ».</a:t>
            </a:r>
          </a:p>
        </p:txBody>
      </p:sp>
      <p:sp>
        <p:nvSpPr>
          <p:cNvPr id="4" name="Espace réservé du pied de page 3">
            <a:extLst>
              <a:ext uri="{FF2B5EF4-FFF2-40B4-BE49-F238E27FC236}">
                <a16:creationId xmlns:a16="http://schemas.microsoft.com/office/drawing/2014/main" id="{FF96DDA1-225D-4D1D-B086-65B077F3562E}"/>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A2F43500-6B09-415C-9DC5-684AC84EB1D1}"/>
              </a:ext>
            </a:extLst>
          </p:cNvPr>
          <p:cNvSpPr>
            <a:spLocks noGrp="1"/>
          </p:cNvSpPr>
          <p:nvPr>
            <p:ph type="sldNum" sz="quarter" idx="12"/>
          </p:nvPr>
        </p:nvSpPr>
        <p:spPr/>
        <p:txBody>
          <a:bodyPr/>
          <a:lstStyle/>
          <a:p>
            <a:fld id="{D239AA84-4A13-4838-A335-C0AC790302DD}" type="slidenum">
              <a:rPr lang="fr-FR" smtClean="0"/>
              <a:t>20</a:t>
            </a:fld>
            <a:endParaRPr lang="fr-FR"/>
          </a:p>
        </p:txBody>
      </p:sp>
    </p:spTree>
    <p:extLst>
      <p:ext uri="{BB962C8B-B14F-4D97-AF65-F5344CB8AC3E}">
        <p14:creationId xmlns:p14="http://schemas.microsoft.com/office/powerpoint/2010/main" val="962786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200A832-7D07-49DB-BB42-9A22510FA8E2}"/>
              </a:ext>
            </a:extLst>
          </p:cNvPr>
          <p:cNvSpPr>
            <a:spLocks noGrp="1"/>
          </p:cNvSpPr>
          <p:nvPr>
            <p:ph type="title"/>
          </p:nvPr>
        </p:nvSpPr>
        <p:spPr/>
        <p:txBody>
          <a:bodyPr>
            <a:normAutofit/>
          </a:bodyPr>
          <a:lstStyle/>
          <a:p>
            <a:r>
              <a:rPr lang="fr-CA" sz="3600" dirty="0"/>
              <a:t>Présentation conforme</a:t>
            </a:r>
            <a:endParaRPr lang="fr-FR" sz="3600" dirty="0"/>
          </a:p>
        </p:txBody>
      </p:sp>
      <p:sp>
        <p:nvSpPr>
          <p:cNvPr id="3" name="Espace réservé du contenu 2">
            <a:extLst>
              <a:ext uri="{FF2B5EF4-FFF2-40B4-BE49-F238E27FC236}">
                <a16:creationId xmlns:a16="http://schemas.microsoft.com/office/drawing/2014/main" id="{AEB04322-401B-4804-BB79-7730D742A786}"/>
              </a:ext>
            </a:extLst>
          </p:cNvPr>
          <p:cNvSpPr>
            <a:spLocks noGrp="1"/>
          </p:cNvSpPr>
          <p:nvPr>
            <p:ph idx="1"/>
          </p:nvPr>
        </p:nvSpPr>
        <p:spPr/>
        <p:txBody>
          <a:bodyPr>
            <a:normAutofit/>
          </a:bodyPr>
          <a:lstStyle/>
          <a:p>
            <a:pPr marL="0" indent="0">
              <a:buNone/>
            </a:pPr>
            <a:r>
              <a:rPr lang="fr-FR" dirty="0">
                <a:effectLst/>
                <a:latin typeface="Segoe UI Web (West European)"/>
              </a:rPr>
              <a:t>L’éthique liée à la présentation conforme est une question complexe pour le CPA. </a:t>
            </a:r>
          </a:p>
          <a:p>
            <a:pPr marL="0" indent="0">
              <a:buNone/>
            </a:pPr>
            <a:r>
              <a:rPr lang="fr-FR" dirty="0">
                <a:effectLst/>
                <a:latin typeface="Segoe UI Web (West European)"/>
              </a:rPr>
              <a:t>Pourquoi et dans quelle mesure le CPA est-il éthiquement tenu de présenter une image fidèle de la santé et de la performance financière d’une entreprise? </a:t>
            </a:r>
          </a:p>
          <a:p>
            <a:pPr marL="0" indent="0">
              <a:buNone/>
            </a:pPr>
            <a:r>
              <a:rPr lang="fr-FR" dirty="0">
                <a:effectLst/>
                <a:latin typeface="Segoe UI Web (West European)"/>
              </a:rPr>
              <a:t>Y a-t-il une image « vraie »? </a:t>
            </a:r>
          </a:p>
          <a:p>
            <a:pPr marL="0" indent="0">
              <a:buNone/>
            </a:pPr>
            <a:r>
              <a:rPr lang="fr-FR" dirty="0">
                <a:latin typeface="Segoe UI Web (West European)"/>
              </a:rPr>
              <a:t>Quand l’information devient-elle trompeuse?</a:t>
            </a:r>
          </a:p>
        </p:txBody>
      </p:sp>
      <p:sp>
        <p:nvSpPr>
          <p:cNvPr id="4" name="Espace réservé du pied de page 3">
            <a:extLst>
              <a:ext uri="{FF2B5EF4-FFF2-40B4-BE49-F238E27FC236}">
                <a16:creationId xmlns:a16="http://schemas.microsoft.com/office/drawing/2014/main" id="{0081DE50-F28F-4A32-82DA-63C323E6C4A1}"/>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B74CC0FB-0F6E-4454-9F3F-A8364D1C6414}"/>
              </a:ext>
            </a:extLst>
          </p:cNvPr>
          <p:cNvSpPr>
            <a:spLocks noGrp="1"/>
          </p:cNvSpPr>
          <p:nvPr>
            <p:ph type="sldNum" sz="quarter" idx="12"/>
          </p:nvPr>
        </p:nvSpPr>
        <p:spPr/>
        <p:txBody>
          <a:bodyPr/>
          <a:lstStyle/>
          <a:p>
            <a:fld id="{D239AA84-4A13-4838-A335-C0AC790302DD}" type="slidenum">
              <a:rPr lang="fr-FR" smtClean="0"/>
              <a:t>21</a:t>
            </a:fld>
            <a:endParaRPr lang="fr-FR"/>
          </a:p>
        </p:txBody>
      </p:sp>
    </p:spTree>
    <p:extLst>
      <p:ext uri="{BB962C8B-B14F-4D97-AF65-F5344CB8AC3E}">
        <p14:creationId xmlns:p14="http://schemas.microsoft.com/office/powerpoint/2010/main" val="37252779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21BA9D1-3B1E-4C84-ADE8-6DE67FD37A2B}"/>
              </a:ext>
            </a:extLst>
          </p:cNvPr>
          <p:cNvSpPr>
            <a:spLocks noGrp="1"/>
          </p:cNvSpPr>
          <p:nvPr>
            <p:ph type="title"/>
          </p:nvPr>
        </p:nvSpPr>
        <p:spPr/>
        <p:txBody>
          <a:bodyPr/>
          <a:lstStyle/>
          <a:p>
            <a:r>
              <a:rPr lang="fr-CA" sz="3600" dirty="0"/>
              <a:t>Présentation conforme</a:t>
            </a:r>
            <a:endParaRPr lang="fr-FR" dirty="0"/>
          </a:p>
        </p:txBody>
      </p:sp>
      <p:sp>
        <p:nvSpPr>
          <p:cNvPr id="3" name="Espace réservé du contenu 2">
            <a:extLst>
              <a:ext uri="{FF2B5EF4-FFF2-40B4-BE49-F238E27FC236}">
                <a16:creationId xmlns:a16="http://schemas.microsoft.com/office/drawing/2014/main" id="{436AD239-B9A4-4F0C-9115-57A81F1A14E2}"/>
              </a:ext>
            </a:extLst>
          </p:cNvPr>
          <p:cNvSpPr>
            <a:spLocks noGrp="1"/>
          </p:cNvSpPr>
          <p:nvPr>
            <p:ph idx="1"/>
          </p:nvPr>
        </p:nvSpPr>
        <p:spPr/>
        <p:txBody>
          <a:bodyPr>
            <a:normAutofit lnSpcReduction="10000"/>
          </a:bodyPr>
          <a:lstStyle/>
          <a:p>
            <a:pPr marL="0" indent="0">
              <a:buNone/>
            </a:pPr>
            <a:r>
              <a:rPr lang="fr-CA" dirty="0"/>
              <a:t>Faisons le parallèle avec la vente de votre maison : devez-vous mentionner tous les petits défauts que vous connaissez? </a:t>
            </a:r>
          </a:p>
          <a:p>
            <a:pPr marL="0" indent="0">
              <a:buNone/>
            </a:pPr>
            <a:r>
              <a:rPr lang="fr-CA" dirty="0"/>
              <a:t>Devez-vous aller au-delà de ce qui est requis par la loi? Afin d’être éthique bien sur! </a:t>
            </a:r>
          </a:p>
          <a:p>
            <a:pPr marL="0" indent="0">
              <a:buNone/>
            </a:pPr>
            <a:r>
              <a:rPr lang="fr-CA" dirty="0"/>
              <a:t>La transparence « totale » aura un impact sur le prix / sur la vente. </a:t>
            </a:r>
          </a:p>
          <a:p>
            <a:pPr marL="0" indent="0">
              <a:buNone/>
            </a:pPr>
            <a:endParaRPr lang="fr-CA" dirty="0"/>
          </a:p>
          <a:p>
            <a:pPr marL="0" indent="0">
              <a:buNone/>
            </a:pPr>
            <a:r>
              <a:rPr lang="fr-CA" dirty="0"/>
              <a:t>Faisons un autre parallèle avec une entrevue d’embauche. À quel point mentionnerez-vous vos faiblesses? L’objectif est d’obtenir l’emploi!</a:t>
            </a:r>
          </a:p>
          <a:p>
            <a:pPr marL="0" indent="0">
              <a:buNone/>
            </a:pPr>
            <a:endParaRPr lang="fr-CA" dirty="0"/>
          </a:p>
          <a:p>
            <a:pPr marL="0" indent="0">
              <a:buNone/>
            </a:pPr>
            <a:r>
              <a:rPr lang="fr-CA" dirty="0"/>
              <a:t>Pas facile, l’éthique! Beaucoup de jugement… et pas de réponse claire!</a:t>
            </a:r>
            <a:endParaRPr lang="fr-FR" dirty="0"/>
          </a:p>
        </p:txBody>
      </p:sp>
      <p:sp>
        <p:nvSpPr>
          <p:cNvPr id="4" name="Espace réservé du pied de page 3">
            <a:extLst>
              <a:ext uri="{FF2B5EF4-FFF2-40B4-BE49-F238E27FC236}">
                <a16:creationId xmlns:a16="http://schemas.microsoft.com/office/drawing/2014/main" id="{DD2657F7-02D9-4F9C-B73F-77E0A9A6C134}"/>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74E139C2-AE84-43C1-AE68-DAE3A1197057}"/>
              </a:ext>
            </a:extLst>
          </p:cNvPr>
          <p:cNvSpPr>
            <a:spLocks noGrp="1"/>
          </p:cNvSpPr>
          <p:nvPr>
            <p:ph type="sldNum" sz="quarter" idx="12"/>
          </p:nvPr>
        </p:nvSpPr>
        <p:spPr/>
        <p:txBody>
          <a:bodyPr/>
          <a:lstStyle/>
          <a:p>
            <a:fld id="{D239AA84-4A13-4838-A335-C0AC790302DD}" type="slidenum">
              <a:rPr lang="fr-FR" smtClean="0"/>
              <a:t>22</a:t>
            </a:fld>
            <a:endParaRPr lang="fr-FR"/>
          </a:p>
        </p:txBody>
      </p:sp>
    </p:spTree>
    <p:extLst>
      <p:ext uri="{BB962C8B-B14F-4D97-AF65-F5344CB8AC3E}">
        <p14:creationId xmlns:p14="http://schemas.microsoft.com/office/powerpoint/2010/main" val="22615118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À l’EFC</a:t>
            </a:r>
          </a:p>
        </p:txBody>
      </p:sp>
      <p:sp>
        <p:nvSpPr>
          <p:cNvPr id="3" name="Espace réservé du contenu 2"/>
          <p:cNvSpPr>
            <a:spLocks noGrp="1"/>
          </p:cNvSpPr>
          <p:nvPr>
            <p:ph idx="1"/>
          </p:nvPr>
        </p:nvSpPr>
        <p:spPr/>
        <p:txBody>
          <a:bodyPr>
            <a:normAutofit fontScale="92500"/>
          </a:bodyPr>
          <a:lstStyle/>
          <a:p>
            <a:r>
              <a:rPr lang="fr-CA" dirty="0"/>
              <a:t>Compétence technique : information financière </a:t>
            </a:r>
          </a:p>
          <a:p>
            <a:r>
              <a:rPr lang="fr-CA" dirty="0"/>
              <a:t>Compétence habilitante : comportement professionnel et éthique, résolution de problèmes et prise de décisions</a:t>
            </a:r>
          </a:p>
          <a:p>
            <a:pPr lvl="1"/>
            <a:r>
              <a:rPr lang="fr-CA" dirty="0"/>
              <a:t>Intégrer les « parties prenantes » dans l’analyse des enjeux en information financière</a:t>
            </a:r>
          </a:p>
          <a:p>
            <a:pPr lvl="2"/>
            <a:r>
              <a:rPr lang="fr-CA" dirty="0"/>
              <a:t>Les identifier, besoins / attentes / biais</a:t>
            </a:r>
          </a:p>
          <a:p>
            <a:pPr lvl="2"/>
            <a:r>
              <a:rPr lang="fr-CA" dirty="0"/>
              <a:t>Actionnaires (valeur), prêteurs (ratios), direction (bonification)…</a:t>
            </a:r>
          </a:p>
          <a:p>
            <a:pPr lvl="3"/>
            <a:r>
              <a:rPr lang="fr-CA" dirty="0"/>
              <a:t>Actuels et potentiels</a:t>
            </a:r>
          </a:p>
          <a:p>
            <a:pPr lvl="3"/>
            <a:r>
              <a:rPr lang="fr-CA" dirty="0"/>
              <a:t>Conflit?</a:t>
            </a:r>
          </a:p>
          <a:p>
            <a:pPr lvl="1"/>
            <a:endParaRPr lang="fr-CA" dirty="0"/>
          </a:p>
          <a:p>
            <a:pPr lvl="1"/>
            <a:r>
              <a:rPr lang="fr-CA" dirty="0"/>
              <a:t>Recommandation référentiel comptable</a:t>
            </a:r>
          </a:p>
          <a:p>
            <a:pPr lvl="1"/>
            <a:r>
              <a:rPr lang="fr-CA" dirty="0"/>
              <a:t>Recommandation méthodes comptable, changement méthode comptable</a:t>
            </a:r>
          </a:p>
          <a:p>
            <a:pPr lvl="2">
              <a:buFont typeface="Wingdings" panose="05000000000000000000" pitchFamily="2" charset="2"/>
              <a:buChar char="Ø"/>
            </a:pPr>
            <a:r>
              <a:rPr lang="fr-CA" dirty="0"/>
              <a:t>Intégrer dans analyses / recommandations ; impact sur parties prenantes</a:t>
            </a:r>
          </a:p>
          <a:p>
            <a:endParaRPr lang="fr-CA" dirty="0"/>
          </a:p>
        </p:txBody>
      </p:sp>
      <p:sp>
        <p:nvSpPr>
          <p:cNvPr id="4" name="Espace réservé du numéro de diapositive 3"/>
          <p:cNvSpPr>
            <a:spLocks noGrp="1"/>
          </p:cNvSpPr>
          <p:nvPr>
            <p:ph type="sldNum" sz="quarter" idx="12"/>
          </p:nvPr>
        </p:nvSpPr>
        <p:spPr/>
        <p:txBody>
          <a:bodyPr/>
          <a:lstStyle/>
          <a:p>
            <a:fld id="{9CC8B0BC-FFD9-4597-847C-758F96E3D24E}" type="slidenum">
              <a:rPr lang="fr-CA" smtClean="0"/>
              <a:t>23</a:t>
            </a:fld>
            <a:endParaRPr lang="fr-CA"/>
          </a:p>
        </p:txBody>
      </p:sp>
      <p:sp>
        <p:nvSpPr>
          <p:cNvPr id="5" name="Espace réservé du pied de page 4">
            <a:extLst>
              <a:ext uri="{FF2B5EF4-FFF2-40B4-BE49-F238E27FC236}">
                <a16:creationId xmlns:a16="http://schemas.microsoft.com/office/drawing/2014/main" id="{6076F23C-ACCE-40A1-9959-DE840D154F54}"/>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42537919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F57118B-893F-4A7B-AC65-F2066EF6C370}"/>
              </a:ext>
            </a:extLst>
          </p:cNvPr>
          <p:cNvSpPr>
            <a:spLocks noGrp="1"/>
          </p:cNvSpPr>
          <p:nvPr>
            <p:ph type="title"/>
          </p:nvPr>
        </p:nvSpPr>
        <p:spPr>
          <a:xfrm>
            <a:off x="838200" y="365125"/>
            <a:ext cx="10515600" cy="815975"/>
          </a:xfrm>
        </p:spPr>
        <p:txBody>
          <a:bodyPr>
            <a:normAutofit/>
          </a:bodyPr>
          <a:lstStyle/>
          <a:p>
            <a:r>
              <a:rPr lang="fr-FR" sz="3600" dirty="0"/>
              <a:t>MINI CAS – </a:t>
            </a:r>
            <a:r>
              <a:rPr lang="fr-FR" sz="2400" i="1" dirty="0"/>
              <a:t>à compléter après la séance</a:t>
            </a:r>
            <a:endParaRPr lang="fr-FR" sz="3600" dirty="0"/>
          </a:p>
        </p:txBody>
      </p:sp>
      <p:sp>
        <p:nvSpPr>
          <p:cNvPr id="3" name="Espace réservé du contenu 2">
            <a:extLst>
              <a:ext uri="{FF2B5EF4-FFF2-40B4-BE49-F238E27FC236}">
                <a16:creationId xmlns:a16="http://schemas.microsoft.com/office/drawing/2014/main" id="{1949DC8C-AE98-41F5-9BAD-78060C5A6E77}"/>
              </a:ext>
            </a:extLst>
          </p:cNvPr>
          <p:cNvSpPr>
            <a:spLocks noGrp="1"/>
          </p:cNvSpPr>
          <p:nvPr>
            <p:ph idx="1"/>
          </p:nvPr>
        </p:nvSpPr>
        <p:spPr>
          <a:xfrm>
            <a:off x="838200" y="1452880"/>
            <a:ext cx="10515600" cy="5039994"/>
          </a:xfrm>
        </p:spPr>
        <p:txBody>
          <a:bodyPr>
            <a:normAutofit lnSpcReduction="10000"/>
          </a:bodyPr>
          <a:lstStyle/>
          <a:p>
            <a:pPr marL="0" indent="0" algn="just">
              <a:buNone/>
            </a:pPr>
            <a:r>
              <a:rPr lang="fr-CA" sz="2400" dirty="0"/>
              <a:t>Lucien travaille pour Auto-Pierre Fabrication Ltée (APFL) depuis 23 ans. Récemment, il a été nommé directeur des services informatiques. Depuis sa nomination, Lucien a pris des mesures pour réduire de 60 % la quantité d’information fournie aux gestionnaires en charge de la fabrication. Il soutient que l’excès d’information est distrayant, sans pertinence et coûteux. </a:t>
            </a:r>
            <a:endParaRPr lang="fr-CA" sz="100" dirty="0"/>
          </a:p>
          <a:p>
            <a:pPr marL="0" indent="0" algn="just">
              <a:buNone/>
            </a:pPr>
            <a:r>
              <a:rPr lang="fr-CA" sz="2400" dirty="0"/>
              <a:t>Amine est le directeur de la production et travaille pour APFL depuis 12 ans. Pendant une pause-café avec certains de ses superviseurs de production, Amine, qui est assez vocal au sujet du changement, s’est exclamé « Qui est ce Lucien pour nous dire de quelles données nous avons besoin? Il a obtenu ce poste il y a quelques semaines et croit déjà savoir l’information dont nous avons besoin. Gardez ça entre vous, mais j’ai un contact (Alain) dans les services informatiques qui va me procurer toutes les analyses de données que je veux pour 20 $ chaque mois. C’est une bonne affaire, et Lucien ne le saura jamais. Comment pouvons-nous prendre de bonnes décisions concernant les écarts entre les montants budgétés et les résultats réels? Alain peut vous fournir toutes les données si vous en avez besoin ». </a:t>
            </a:r>
            <a:endParaRPr lang="fr-FR" sz="2400" dirty="0"/>
          </a:p>
        </p:txBody>
      </p:sp>
      <p:sp>
        <p:nvSpPr>
          <p:cNvPr id="4" name="Espace réservé du pied de page 3">
            <a:extLst>
              <a:ext uri="{FF2B5EF4-FFF2-40B4-BE49-F238E27FC236}">
                <a16:creationId xmlns:a16="http://schemas.microsoft.com/office/drawing/2014/main" id="{43203E42-1A01-4B12-8973-8A2B9EC31A8C}"/>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3ED1CC04-5B42-4F02-A84A-511926FAC67B}"/>
              </a:ext>
            </a:extLst>
          </p:cNvPr>
          <p:cNvSpPr>
            <a:spLocks noGrp="1"/>
          </p:cNvSpPr>
          <p:nvPr>
            <p:ph type="sldNum" sz="quarter" idx="12"/>
          </p:nvPr>
        </p:nvSpPr>
        <p:spPr/>
        <p:txBody>
          <a:bodyPr/>
          <a:lstStyle/>
          <a:p>
            <a:fld id="{D239AA84-4A13-4838-A335-C0AC790302DD}" type="slidenum">
              <a:rPr lang="fr-FR" smtClean="0"/>
              <a:t>24</a:t>
            </a:fld>
            <a:endParaRPr lang="fr-FR"/>
          </a:p>
        </p:txBody>
      </p:sp>
    </p:spTree>
    <p:extLst>
      <p:ext uri="{BB962C8B-B14F-4D97-AF65-F5344CB8AC3E}">
        <p14:creationId xmlns:p14="http://schemas.microsoft.com/office/powerpoint/2010/main" val="27857662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F57118B-893F-4A7B-AC65-F2066EF6C370}"/>
              </a:ext>
            </a:extLst>
          </p:cNvPr>
          <p:cNvSpPr>
            <a:spLocks noGrp="1"/>
          </p:cNvSpPr>
          <p:nvPr>
            <p:ph type="title"/>
          </p:nvPr>
        </p:nvSpPr>
        <p:spPr>
          <a:xfrm>
            <a:off x="838200" y="365125"/>
            <a:ext cx="10515600" cy="777875"/>
          </a:xfrm>
        </p:spPr>
        <p:txBody>
          <a:bodyPr>
            <a:normAutofit/>
          </a:bodyPr>
          <a:lstStyle/>
          <a:p>
            <a:r>
              <a:rPr lang="fr-FR" sz="3600" dirty="0"/>
              <a:t>MINI CAS</a:t>
            </a:r>
          </a:p>
        </p:txBody>
      </p:sp>
      <p:sp>
        <p:nvSpPr>
          <p:cNvPr id="3" name="Espace réservé du contenu 2">
            <a:extLst>
              <a:ext uri="{FF2B5EF4-FFF2-40B4-BE49-F238E27FC236}">
                <a16:creationId xmlns:a16="http://schemas.microsoft.com/office/drawing/2014/main" id="{1949DC8C-AE98-41F5-9BAD-78060C5A6E77}"/>
              </a:ext>
            </a:extLst>
          </p:cNvPr>
          <p:cNvSpPr>
            <a:spLocks noGrp="1"/>
          </p:cNvSpPr>
          <p:nvPr>
            <p:ph idx="1"/>
          </p:nvPr>
        </p:nvSpPr>
        <p:spPr>
          <a:xfrm>
            <a:off x="838200" y="1513840"/>
            <a:ext cx="10515600" cy="4839336"/>
          </a:xfrm>
        </p:spPr>
        <p:txBody>
          <a:bodyPr>
            <a:noAutofit/>
          </a:bodyPr>
          <a:lstStyle/>
          <a:p>
            <a:pPr marL="0" indent="0" algn="just">
              <a:buNone/>
            </a:pPr>
            <a:r>
              <a:rPr lang="fr-CA" sz="2400" dirty="0"/>
              <a:t>Pauline, qui était présente à la pause-café, est choquée et s’est écriée « est-ce éthique, Amine? As-tu vraiment besoin de ces données supplémentaires? Tu ne peux pas avoir l’information sans le consentement de Lucien. Je ne veux certainement pas payer pour des données que Lucien ne veut pas que j’aie ». </a:t>
            </a:r>
          </a:p>
          <a:p>
            <a:pPr marL="0" indent="0" algn="just">
              <a:buNone/>
            </a:pPr>
            <a:r>
              <a:rPr lang="fr-CA" sz="2400" dirty="0"/>
              <a:t>« Pauline, tu n’es superviseure que depuis six mois », répond Amine. « C’est comme ça que l’entreprise fonctionne. Profite de l’offre d’Alain, et tu réaliseras que l’information qu’il te fournira vaut 20 $. Tu ne peux pas prendre de bonnes décisions avec l’information limitée que Lucien nous fournit maintenant. » </a:t>
            </a:r>
          </a:p>
          <a:p>
            <a:pPr marL="0" indent="0" algn="just">
              <a:buNone/>
            </a:pPr>
            <a:r>
              <a:rPr lang="fr-CA" sz="2400" dirty="0"/>
              <a:t>Pauline ne répond pas, et la pause-café se termine. Toutes les personnes présentes retournent à leur travail. Plus tard dans la soirée, Pauline commence à réfléchir à ce qu’Amine a dit. Elle sait qu’il est un bon gestionnaire, mais elle ne veut pas avoir à acheter de l’information pour faire son travail correctement. Demain, elle doit rencontrer Lucien. Elle ne sait pas quoi faire ou dire, le cas échéant.</a:t>
            </a:r>
            <a:endParaRPr lang="fr-FR" sz="2400" dirty="0"/>
          </a:p>
        </p:txBody>
      </p:sp>
      <p:sp>
        <p:nvSpPr>
          <p:cNvPr id="4" name="Espace réservé du pied de page 3">
            <a:extLst>
              <a:ext uri="{FF2B5EF4-FFF2-40B4-BE49-F238E27FC236}">
                <a16:creationId xmlns:a16="http://schemas.microsoft.com/office/drawing/2014/main" id="{186D5590-A629-40C9-8216-E3C6562CD37F}"/>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EEAF43CD-CC7B-4C4A-A1BD-A461095FB6A0}"/>
              </a:ext>
            </a:extLst>
          </p:cNvPr>
          <p:cNvSpPr>
            <a:spLocks noGrp="1"/>
          </p:cNvSpPr>
          <p:nvPr>
            <p:ph type="sldNum" sz="quarter" idx="12"/>
          </p:nvPr>
        </p:nvSpPr>
        <p:spPr/>
        <p:txBody>
          <a:bodyPr/>
          <a:lstStyle/>
          <a:p>
            <a:fld id="{D239AA84-4A13-4838-A335-C0AC790302DD}" type="slidenum">
              <a:rPr lang="fr-FR" smtClean="0"/>
              <a:t>25</a:t>
            </a:fld>
            <a:endParaRPr lang="fr-FR"/>
          </a:p>
        </p:txBody>
      </p:sp>
    </p:spTree>
    <p:extLst>
      <p:ext uri="{BB962C8B-B14F-4D97-AF65-F5344CB8AC3E}">
        <p14:creationId xmlns:p14="http://schemas.microsoft.com/office/powerpoint/2010/main" val="18485572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04067C9-FD03-4D66-810B-9E98F74D0D82}"/>
              </a:ext>
            </a:extLst>
          </p:cNvPr>
          <p:cNvSpPr>
            <a:spLocks noGrp="1"/>
          </p:cNvSpPr>
          <p:nvPr>
            <p:ph type="title"/>
          </p:nvPr>
        </p:nvSpPr>
        <p:spPr/>
        <p:txBody>
          <a:bodyPr>
            <a:normAutofit/>
          </a:bodyPr>
          <a:lstStyle/>
          <a:p>
            <a:r>
              <a:rPr lang="fr-FR" sz="3600" dirty="0"/>
              <a:t>Résolution proposée</a:t>
            </a:r>
          </a:p>
        </p:txBody>
      </p:sp>
      <p:sp>
        <p:nvSpPr>
          <p:cNvPr id="3" name="Espace réservé du contenu 2">
            <a:extLst>
              <a:ext uri="{FF2B5EF4-FFF2-40B4-BE49-F238E27FC236}">
                <a16:creationId xmlns:a16="http://schemas.microsoft.com/office/drawing/2014/main" id="{E54C73F3-59EB-4B6D-ABBF-F113BB9E3BC4}"/>
              </a:ext>
            </a:extLst>
          </p:cNvPr>
          <p:cNvSpPr>
            <a:spLocks noGrp="1"/>
          </p:cNvSpPr>
          <p:nvPr>
            <p:ph idx="1"/>
          </p:nvPr>
        </p:nvSpPr>
        <p:spPr/>
        <p:txBody>
          <a:bodyPr>
            <a:normAutofit fontScale="77500" lnSpcReduction="20000"/>
          </a:bodyPr>
          <a:lstStyle/>
          <a:p>
            <a:pPr marL="0" indent="0">
              <a:buNone/>
            </a:pPr>
            <a:r>
              <a:rPr lang="fr-CA" dirty="0"/>
              <a:t>Faits pertinents </a:t>
            </a:r>
          </a:p>
          <a:p>
            <a:pPr marL="514350" indent="-514350">
              <a:buAutoNum type="arabicPeriod"/>
            </a:pPr>
            <a:r>
              <a:rPr lang="fr-CA" dirty="0"/>
              <a:t>Lucien a réduit la quantité de données sur les rapports envoyés aux gestionnaires en charge de la fabrication. </a:t>
            </a:r>
          </a:p>
          <a:p>
            <a:pPr marL="514350" indent="-514350">
              <a:buAutoNum type="arabicPeriod"/>
            </a:pPr>
            <a:r>
              <a:rPr lang="fr-CA" dirty="0"/>
              <a:t>Amine achète secrètement des données d’Alain qui travaille auprès du service informatique pour compléter les rapports portant sur les écarts qu’il reçoit. </a:t>
            </a:r>
          </a:p>
          <a:p>
            <a:pPr marL="514350" indent="-514350">
              <a:buAutoNum type="arabicPeriod"/>
            </a:pPr>
            <a:r>
              <a:rPr lang="fr-CA" dirty="0"/>
              <a:t>Pauline connaît la pratique d’Amine concernant l’achat de données, pense que cette pratique est contraire à l’éthique, mais elle ne sait pas que faire à ce sujet. </a:t>
            </a:r>
          </a:p>
          <a:p>
            <a:pPr marL="514350" indent="-514350">
              <a:buAutoNum type="arabicPeriod"/>
            </a:pPr>
            <a:endParaRPr lang="fr-CA" dirty="0"/>
          </a:p>
          <a:p>
            <a:pPr marL="0" indent="0">
              <a:buNone/>
            </a:pPr>
            <a:r>
              <a:rPr lang="fr-CA" dirty="0"/>
              <a:t>Considérations éthiques </a:t>
            </a:r>
          </a:p>
          <a:p>
            <a:pPr marL="514350" indent="-514350">
              <a:buAutoNum type="arabicPeriod"/>
            </a:pPr>
            <a:r>
              <a:rPr lang="fr-CA" dirty="0"/>
              <a:t>Amine devrait-il acheter des données pour son utilisation dans la gestion de son département ? </a:t>
            </a:r>
          </a:p>
          <a:p>
            <a:pPr marL="514350" indent="-514350">
              <a:buAutoNum type="arabicPeriod"/>
            </a:pPr>
            <a:r>
              <a:rPr lang="fr-CA" dirty="0"/>
              <a:t>Pauline doit-elle dire à Lucien (ou à quelqu’un d’autre) ce qu’Amine fait ? </a:t>
            </a:r>
          </a:p>
          <a:p>
            <a:pPr marL="514350" indent="-514350">
              <a:buAutoNum type="arabicPeriod"/>
            </a:pPr>
            <a:r>
              <a:rPr lang="fr-CA" dirty="0"/>
              <a:t>Pauline devrait-elle utiliser la source de données du service informatique ?</a:t>
            </a:r>
            <a:endParaRPr lang="fr-FR" dirty="0"/>
          </a:p>
        </p:txBody>
      </p:sp>
      <p:sp>
        <p:nvSpPr>
          <p:cNvPr id="4" name="Espace réservé du pied de page 3">
            <a:extLst>
              <a:ext uri="{FF2B5EF4-FFF2-40B4-BE49-F238E27FC236}">
                <a16:creationId xmlns:a16="http://schemas.microsoft.com/office/drawing/2014/main" id="{A07BB893-5607-46A5-9683-66A0AB178384}"/>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C15BD9C6-9091-47B0-8732-947DC227FB62}"/>
              </a:ext>
            </a:extLst>
          </p:cNvPr>
          <p:cNvSpPr>
            <a:spLocks noGrp="1"/>
          </p:cNvSpPr>
          <p:nvPr>
            <p:ph type="sldNum" sz="quarter" idx="12"/>
          </p:nvPr>
        </p:nvSpPr>
        <p:spPr/>
        <p:txBody>
          <a:bodyPr/>
          <a:lstStyle/>
          <a:p>
            <a:fld id="{D239AA84-4A13-4838-A335-C0AC790302DD}" type="slidenum">
              <a:rPr lang="fr-FR" smtClean="0"/>
              <a:t>26</a:t>
            </a:fld>
            <a:endParaRPr lang="fr-FR"/>
          </a:p>
        </p:txBody>
      </p:sp>
    </p:spTree>
    <p:extLst>
      <p:ext uri="{BB962C8B-B14F-4D97-AF65-F5344CB8AC3E}">
        <p14:creationId xmlns:p14="http://schemas.microsoft.com/office/powerpoint/2010/main" val="40462397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04067C9-FD03-4D66-810B-9E98F74D0D82}"/>
              </a:ext>
            </a:extLst>
          </p:cNvPr>
          <p:cNvSpPr>
            <a:spLocks noGrp="1"/>
          </p:cNvSpPr>
          <p:nvPr>
            <p:ph type="title"/>
          </p:nvPr>
        </p:nvSpPr>
        <p:spPr/>
        <p:txBody>
          <a:bodyPr>
            <a:normAutofit/>
          </a:bodyPr>
          <a:lstStyle/>
          <a:p>
            <a:r>
              <a:rPr lang="fr-FR" sz="3600" dirty="0"/>
              <a:t>Résolution proposée</a:t>
            </a:r>
          </a:p>
        </p:txBody>
      </p:sp>
      <p:sp>
        <p:nvSpPr>
          <p:cNvPr id="3" name="Espace réservé du contenu 2">
            <a:extLst>
              <a:ext uri="{FF2B5EF4-FFF2-40B4-BE49-F238E27FC236}">
                <a16:creationId xmlns:a16="http://schemas.microsoft.com/office/drawing/2014/main" id="{E54C73F3-59EB-4B6D-ABBF-F113BB9E3BC4}"/>
              </a:ext>
            </a:extLst>
          </p:cNvPr>
          <p:cNvSpPr>
            <a:spLocks noGrp="1"/>
          </p:cNvSpPr>
          <p:nvPr>
            <p:ph idx="1"/>
          </p:nvPr>
        </p:nvSpPr>
        <p:spPr>
          <a:xfrm>
            <a:off x="838200" y="1690688"/>
            <a:ext cx="10515600" cy="4881562"/>
          </a:xfrm>
        </p:spPr>
        <p:txBody>
          <a:bodyPr>
            <a:normAutofit/>
          </a:bodyPr>
          <a:lstStyle/>
          <a:p>
            <a:pPr marL="0" indent="0">
              <a:buNone/>
            </a:pPr>
            <a:r>
              <a:rPr lang="fr-CA" sz="2400" dirty="0"/>
              <a:t>• Quels sont les choix ? </a:t>
            </a:r>
          </a:p>
          <a:p>
            <a:pPr marL="0" indent="0">
              <a:buNone/>
            </a:pPr>
            <a:r>
              <a:rPr lang="fr-CA" sz="2400" dirty="0"/>
              <a:t>    Pauline pourrait : </a:t>
            </a:r>
          </a:p>
          <a:p>
            <a:pPr marL="514350" indent="-247650">
              <a:buAutoNum type="arabicPeriod"/>
            </a:pPr>
            <a:r>
              <a:rPr lang="fr-CA" sz="2400" dirty="0"/>
              <a:t>Informer Lucien de la situation lorsqu’elle le rencontre. </a:t>
            </a:r>
          </a:p>
          <a:p>
            <a:pPr marL="514350" indent="-247650">
              <a:buAutoNum type="arabicPeriod"/>
            </a:pPr>
            <a:r>
              <a:rPr lang="fr-CA" sz="2400" dirty="0"/>
              <a:t>Demander à Amine de cesser d’acheter des données. </a:t>
            </a:r>
          </a:p>
          <a:p>
            <a:pPr marL="514350" indent="-247650">
              <a:buAutoNum type="arabicPeriod"/>
            </a:pPr>
            <a:r>
              <a:rPr lang="fr-CA" sz="2400" dirty="0"/>
              <a:t>Dénoncer anonymement les agissements d’Amine à Lucien. </a:t>
            </a:r>
          </a:p>
          <a:p>
            <a:pPr marL="514350" indent="-247650">
              <a:buAutoNum type="arabicPeriod"/>
            </a:pPr>
            <a:r>
              <a:rPr lang="fr-CA" sz="2400" dirty="0"/>
              <a:t>Acheter des informations pour elle-même si et quand elle en a besoin </a:t>
            </a:r>
          </a:p>
          <a:p>
            <a:pPr marL="514350" indent="-247650">
              <a:buAutoNum type="arabicPeriod"/>
            </a:pPr>
            <a:r>
              <a:rPr lang="fr-CA" sz="2400" dirty="0"/>
              <a:t>Ne rien faire</a:t>
            </a:r>
            <a:endParaRPr lang="fr-FR" sz="2400" dirty="0"/>
          </a:p>
        </p:txBody>
      </p:sp>
      <p:sp>
        <p:nvSpPr>
          <p:cNvPr id="4" name="Espace réservé du pied de page 3">
            <a:extLst>
              <a:ext uri="{FF2B5EF4-FFF2-40B4-BE49-F238E27FC236}">
                <a16:creationId xmlns:a16="http://schemas.microsoft.com/office/drawing/2014/main" id="{311029EF-2C63-4A10-A534-C8673E091FC1}"/>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90857642-6CC4-4BAD-BC1E-27BCC8AF47AB}"/>
              </a:ext>
            </a:extLst>
          </p:cNvPr>
          <p:cNvSpPr>
            <a:spLocks noGrp="1"/>
          </p:cNvSpPr>
          <p:nvPr>
            <p:ph type="sldNum" sz="quarter" idx="12"/>
          </p:nvPr>
        </p:nvSpPr>
        <p:spPr/>
        <p:txBody>
          <a:bodyPr/>
          <a:lstStyle/>
          <a:p>
            <a:fld id="{D239AA84-4A13-4838-A335-C0AC790302DD}" type="slidenum">
              <a:rPr lang="fr-FR" smtClean="0"/>
              <a:t>27</a:t>
            </a:fld>
            <a:endParaRPr lang="fr-FR"/>
          </a:p>
        </p:txBody>
      </p:sp>
    </p:spTree>
    <p:extLst>
      <p:ext uri="{BB962C8B-B14F-4D97-AF65-F5344CB8AC3E}">
        <p14:creationId xmlns:p14="http://schemas.microsoft.com/office/powerpoint/2010/main" val="22464469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04067C9-FD03-4D66-810B-9E98F74D0D82}"/>
              </a:ext>
            </a:extLst>
          </p:cNvPr>
          <p:cNvSpPr>
            <a:spLocks noGrp="1"/>
          </p:cNvSpPr>
          <p:nvPr>
            <p:ph type="title"/>
          </p:nvPr>
        </p:nvSpPr>
        <p:spPr>
          <a:xfrm>
            <a:off x="838200" y="365125"/>
            <a:ext cx="10515600" cy="589915"/>
          </a:xfrm>
        </p:spPr>
        <p:txBody>
          <a:bodyPr>
            <a:normAutofit/>
          </a:bodyPr>
          <a:lstStyle/>
          <a:p>
            <a:r>
              <a:rPr lang="fr-FR" sz="3600" dirty="0"/>
              <a:t>Résolution proposée</a:t>
            </a:r>
          </a:p>
        </p:txBody>
      </p:sp>
      <p:sp>
        <p:nvSpPr>
          <p:cNvPr id="3" name="Espace réservé du contenu 2">
            <a:extLst>
              <a:ext uri="{FF2B5EF4-FFF2-40B4-BE49-F238E27FC236}">
                <a16:creationId xmlns:a16="http://schemas.microsoft.com/office/drawing/2014/main" id="{E54C73F3-59EB-4B6D-ABBF-F113BB9E3BC4}"/>
              </a:ext>
            </a:extLst>
          </p:cNvPr>
          <p:cNvSpPr>
            <a:spLocks noGrp="1"/>
          </p:cNvSpPr>
          <p:nvPr>
            <p:ph idx="1"/>
          </p:nvPr>
        </p:nvSpPr>
        <p:spPr>
          <a:xfrm>
            <a:off x="838200" y="1097280"/>
            <a:ext cx="10515600" cy="5474970"/>
          </a:xfrm>
        </p:spPr>
        <p:txBody>
          <a:bodyPr>
            <a:normAutofit fontScale="55000" lnSpcReduction="20000"/>
          </a:bodyPr>
          <a:lstStyle/>
          <a:p>
            <a:pPr marL="0" indent="0">
              <a:buNone/>
            </a:pPr>
            <a:r>
              <a:rPr lang="fr-CA" sz="2900" dirty="0"/>
              <a:t>•</a:t>
            </a:r>
            <a:r>
              <a:rPr lang="fr-CA" sz="3300" dirty="0"/>
              <a:t> </a:t>
            </a:r>
            <a:r>
              <a:rPr lang="fr-CA" sz="4400" dirty="0"/>
              <a:t>Quelles sont les considérations éthiques de chacune des solutions de rechange ? </a:t>
            </a:r>
          </a:p>
          <a:p>
            <a:pPr marL="514350" indent="-514350">
              <a:buAutoNum type="arabicPeriod"/>
            </a:pPr>
            <a:r>
              <a:rPr lang="fr-CA" sz="3600" dirty="0"/>
              <a:t>Perspective : coûts/avantages. Quel choix offrirait le plus grand avantage à long terme au plus grand nombre de parties prenantes ? </a:t>
            </a:r>
          </a:p>
          <a:p>
            <a:pPr marL="514350" indent="-514350">
              <a:buAutoNum type="arabicPeriod"/>
            </a:pPr>
            <a:r>
              <a:rPr lang="fr-CA" sz="3600" dirty="0"/>
              <a:t>Comment mesurer les coûts ? Comment établir le choix d’utilisation des données par rapport à celui de ne pas permettre l’utilisation des données ? Quels sont les coûts et les avantages, les considérations qui vont au-delà de l’entreprise elle-même? </a:t>
            </a:r>
          </a:p>
          <a:p>
            <a:pPr marL="514350" indent="-514350">
              <a:buAutoNum type="arabicPeriod"/>
            </a:pPr>
            <a:r>
              <a:rPr lang="fr-CA" sz="3600" dirty="0"/>
              <a:t>Se poser des questions fondées sur une perspective de « droits ». Pour exemple : </a:t>
            </a:r>
          </a:p>
          <a:p>
            <a:pPr marL="809625" indent="-266700">
              <a:buAutoNum type="alphaLcPeriod"/>
            </a:pPr>
            <a:r>
              <a:rPr lang="fr-CA" sz="3600" dirty="0"/>
              <a:t>Quel est le droit de chaque partie prenante ? </a:t>
            </a:r>
          </a:p>
          <a:p>
            <a:pPr marL="809625" indent="-266700">
              <a:buAutoNum type="alphaLcPeriod"/>
            </a:pPr>
            <a:r>
              <a:rPr lang="fr-CA" sz="3600" dirty="0"/>
              <a:t>Quel choix est le moins souhaitable pour chacune des parties prenantes ? </a:t>
            </a:r>
          </a:p>
          <a:p>
            <a:pPr marL="809625" indent="-266700">
              <a:buAutoNum type="alphaLcPeriod"/>
            </a:pPr>
            <a:r>
              <a:rPr lang="fr-CA" sz="3600" dirty="0"/>
              <a:t>Y a-t-il des choix qui seraient clairement conflictuels entre les parties prenantes ? </a:t>
            </a:r>
          </a:p>
          <a:p>
            <a:pPr marL="809625" indent="-266700">
              <a:buAutoNum type="alphaLcPeriod"/>
            </a:pPr>
            <a:r>
              <a:rPr lang="fr-CA" sz="3600" dirty="0"/>
              <a:t>Lucien peut-il s’attendre à ce que les employés suivent sa directive ? </a:t>
            </a:r>
          </a:p>
          <a:p>
            <a:pPr marL="542925" indent="-542925">
              <a:buNone/>
            </a:pPr>
            <a:r>
              <a:rPr lang="fr-CA" sz="3600" dirty="0"/>
              <a:t>4. 	Se poser des questions fondées sur une perspective de « justice ». Par exemple </a:t>
            </a:r>
          </a:p>
          <a:p>
            <a:pPr marL="809625" indent="-266700">
              <a:buAutoNum type="alphaLcPeriod"/>
            </a:pPr>
            <a:r>
              <a:rPr lang="fr-CA" sz="3600" dirty="0"/>
              <a:t>Est-il équitable que Lucien ait accès à des données indisponibles à d’autres gestionnaires ou superviseurs de département ? </a:t>
            </a:r>
          </a:p>
          <a:p>
            <a:pPr marL="809625" indent="-266700">
              <a:buAutoNum type="alphaLcPeriod"/>
            </a:pPr>
            <a:r>
              <a:rPr lang="fr-CA" sz="3600" dirty="0"/>
              <a:t>Est-ce que Pauline aurait travaillé plus efficacement si elle avait eu accès aux données rendues non disponibles en raison de la décision de Lucien ? </a:t>
            </a:r>
          </a:p>
          <a:p>
            <a:pPr marL="809625" indent="-266700">
              <a:buAutoNum type="alphaLcPeriod"/>
            </a:pPr>
            <a:r>
              <a:rPr lang="fr-CA" sz="3600" dirty="0"/>
              <a:t>Est-il acceptable qu’Alain puisse s’enrichir personnellement pour donner suite à la décision de Lucien ?</a:t>
            </a:r>
            <a:endParaRPr lang="fr-FR" sz="3300" dirty="0"/>
          </a:p>
        </p:txBody>
      </p:sp>
      <p:sp>
        <p:nvSpPr>
          <p:cNvPr id="4" name="Espace réservé du pied de page 3">
            <a:extLst>
              <a:ext uri="{FF2B5EF4-FFF2-40B4-BE49-F238E27FC236}">
                <a16:creationId xmlns:a16="http://schemas.microsoft.com/office/drawing/2014/main" id="{C6D1419F-EEA7-4D27-B271-AC78B0430A12}"/>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CD6D098A-6252-4358-8C62-95844CDB780E}"/>
              </a:ext>
            </a:extLst>
          </p:cNvPr>
          <p:cNvSpPr>
            <a:spLocks noGrp="1"/>
          </p:cNvSpPr>
          <p:nvPr>
            <p:ph type="sldNum" sz="quarter" idx="12"/>
          </p:nvPr>
        </p:nvSpPr>
        <p:spPr/>
        <p:txBody>
          <a:bodyPr/>
          <a:lstStyle/>
          <a:p>
            <a:fld id="{D239AA84-4A13-4838-A335-C0AC790302DD}" type="slidenum">
              <a:rPr lang="fr-FR" smtClean="0"/>
              <a:t>28</a:t>
            </a:fld>
            <a:endParaRPr lang="fr-FR"/>
          </a:p>
        </p:txBody>
      </p:sp>
    </p:spTree>
    <p:extLst>
      <p:ext uri="{BB962C8B-B14F-4D97-AF65-F5344CB8AC3E}">
        <p14:creationId xmlns:p14="http://schemas.microsoft.com/office/powerpoint/2010/main" val="39202369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04067C9-FD03-4D66-810B-9E98F74D0D82}"/>
              </a:ext>
            </a:extLst>
          </p:cNvPr>
          <p:cNvSpPr>
            <a:spLocks noGrp="1"/>
          </p:cNvSpPr>
          <p:nvPr>
            <p:ph type="title"/>
          </p:nvPr>
        </p:nvSpPr>
        <p:spPr/>
        <p:txBody>
          <a:bodyPr>
            <a:normAutofit/>
          </a:bodyPr>
          <a:lstStyle/>
          <a:p>
            <a:r>
              <a:rPr lang="fr-FR" sz="3600" dirty="0"/>
              <a:t>Résolution proposée</a:t>
            </a:r>
          </a:p>
        </p:txBody>
      </p:sp>
      <p:sp>
        <p:nvSpPr>
          <p:cNvPr id="3" name="Espace réservé du contenu 2">
            <a:extLst>
              <a:ext uri="{FF2B5EF4-FFF2-40B4-BE49-F238E27FC236}">
                <a16:creationId xmlns:a16="http://schemas.microsoft.com/office/drawing/2014/main" id="{E54C73F3-59EB-4B6D-ABBF-F113BB9E3BC4}"/>
              </a:ext>
            </a:extLst>
          </p:cNvPr>
          <p:cNvSpPr>
            <a:spLocks noGrp="1"/>
          </p:cNvSpPr>
          <p:nvPr>
            <p:ph idx="1"/>
          </p:nvPr>
        </p:nvSpPr>
        <p:spPr>
          <a:xfrm>
            <a:off x="838200" y="1847850"/>
            <a:ext cx="10515600" cy="4724400"/>
          </a:xfrm>
        </p:spPr>
        <p:txBody>
          <a:bodyPr>
            <a:normAutofit/>
          </a:bodyPr>
          <a:lstStyle/>
          <a:p>
            <a:pPr marL="0" indent="0">
              <a:buNone/>
            </a:pPr>
            <a:r>
              <a:rPr lang="fr-CA" sz="2400" dirty="0"/>
              <a:t>• Quelles sont les contraintes pratiques ? </a:t>
            </a:r>
          </a:p>
          <a:p>
            <a:pPr marL="514350" indent="-514350">
              <a:buAutoNum type="arabicPeriod"/>
            </a:pPr>
            <a:r>
              <a:rPr lang="fr-CA" sz="2400" dirty="0"/>
              <a:t>La pratique de l’achat d’informations peut-elle être éliminée ou réduite ? </a:t>
            </a:r>
          </a:p>
          <a:p>
            <a:pPr marL="514350" indent="-514350">
              <a:buAutoNum type="arabicPeriod"/>
            </a:pPr>
            <a:r>
              <a:rPr lang="fr-CA" sz="2400" dirty="0"/>
              <a:t>L’entreprise peut-elle se permettre de ne pas fournir les données aux superviseurs tel que décidé par Lucien ? </a:t>
            </a:r>
          </a:p>
          <a:p>
            <a:pPr marL="514350" indent="-514350">
              <a:buAutoNum type="arabicPeriod"/>
            </a:pPr>
            <a:r>
              <a:rPr lang="fr-CA" sz="2400" dirty="0"/>
              <a:t>Le manque d’information entrave-t-il la fonction de gestion des gestionnaires sous Amine ?</a:t>
            </a:r>
            <a:endParaRPr lang="fr-FR" sz="3200" dirty="0"/>
          </a:p>
        </p:txBody>
      </p:sp>
      <p:sp>
        <p:nvSpPr>
          <p:cNvPr id="4" name="Espace réservé du pied de page 3">
            <a:extLst>
              <a:ext uri="{FF2B5EF4-FFF2-40B4-BE49-F238E27FC236}">
                <a16:creationId xmlns:a16="http://schemas.microsoft.com/office/drawing/2014/main" id="{F360C87C-6E44-435B-9ED4-C4A4ACDE56EF}"/>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5A0D9960-F326-4850-BF53-88C0F0AE3E2C}"/>
              </a:ext>
            </a:extLst>
          </p:cNvPr>
          <p:cNvSpPr>
            <a:spLocks noGrp="1"/>
          </p:cNvSpPr>
          <p:nvPr>
            <p:ph type="sldNum" sz="quarter" idx="12"/>
          </p:nvPr>
        </p:nvSpPr>
        <p:spPr/>
        <p:txBody>
          <a:bodyPr/>
          <a:lstStyle/>
          <a:p>
            <a:fld id="{D239AA84-4A13-4838-A335-C0AC790302DD}" type="slidenum">
              <a:rPr lang="fr-FR" smtClean="0"/>
              <a:t>29</a:t>
            </a:fld>
            <a:endParaRPr lang="fr-FR"/>
          </a:p>
        </p:txBody>
      </p:sp>
    </p:spTree>
    <p:extLst>
      <p:ext uri="{BB962C8B-B14F-4D97-AF65-F5344CB8AC3E}">
        <p14:creationId xmlns:p14="http://schemas.microsoft.com/office/powerpoint/2010/main" val="2373214362"/>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2774</TotalTime>
  <Words>3010</Words>
  <Application>Microsoft Office PowerPoint</Application>
  <PresentationFormat>Grand écran</PresentationFormat>
  <Paragraphs>248</Paragraphs>
  <Slides>29</Slides>
  <Notes>2</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29</vt:i4>
      </vt:variant>
    </vt:vector>
  </HeadingPairs>
  <TitlesOfParts>
    <vt:vector size="35" baseType="lpstr">
      <vt:lpstr>Arial</vt:lpstr>
      <vt:lpstr>Calibri</vt:lpstr>
      <vt:lpstr>Calibri Light</vt:lpstr>
      <vt:lpstr>Segoe UI Web (West European)</vt:lpstr>
      <vt:lpstr>Wingdings</vt:lpstr>
      <vt:lpstr>Thème Office</vt:lpstr>
      <vt:lpstr>Éthique et gestion des résultats</vt:lpstr>
      <vt:lpstr>Qu’est ce que l’éthique?</vt:lpstr>
      <vt:lpstr>Qu’est ce que l’éthique?</vt:lpstr>
      <vt:lpstr>Code de déontologie des comptables professionnels agréés – extraits choisis</vt:lpstr>
      <vt:lpstr>Code de déontologie des comptables professionnels agréés – extraits choisis</vt:lpstr>
      <vt:lpstr>Code de déontologie des comptables professionnels agréés – extraits choisis</vt:lpstr>
      <vt:lpstr>Code de déontologie des comptables professionnels agréés – critique?</vt:lpstr>
      <vt:lpstr>   </vt:lpstr>
      <vt:lpstr>DILEMMES ÉTHIQUES</vt:lpstr>
      <vt:lpstr>Fraude comptable</vt:lpstr>
      <vt:lpstr>Fraudes comptables</vt:lpstr>
      <vt:lpstr>Plusieurs fraudes possibles </vt:lpstr>
      <vt:lpstr>Gestion du risque de fraude</vt:lpstr>
      <vt:lpstr>Fraude comptable Pourquoi « gérer » les résultats?</vt:lpstr>
      <vt:lpstr>Comment?</vt:lpstr>
      <vt:lpstr>Fraude / comptabilité trop créative…</vt:lpstr>
      <vt:lpstr>Analyse des états financiers</vt:lpstr>
      <vt:lpstr>Gestion des résultats</vt:lpstr>
      <vt:lpstr>Mise en situation </vt:lpstr>
      <vt:lpstr>Différents rôles d’un CPA</vt:lpstr>
      <vt:lpstr>Présentation conforme</vt:lpstr>
      <vt:lpstr>Présentation conforme</vt:lpstr>
      <vt:lpstr>À l’EFC</vt:lpstr>
      <vt:lpstr>MINI CAS – à compléter après la séance</vt:lpstr>
      <vt:lpstr>MINI CAS</vt:lpstr>
      <vt:lpstr>Résolution proposée</vt:lpstr>
      <vt:lpstr>Résolution proposée</vt:lpstr>
      <vt:lpstr>Résolution proposée</vt:lpstr>
      <vt:lpstr>Résolution proposée</vt:lpstr>
    </vt:vector>
  </TitlesOfParts>
  <Company>HEC Montréal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louise overbeek</dc:creator>
  <cp:lastModifiedBy>SOKRI Marzouk</cp:lastModifiedBy>
  <cp:revision>47</cp:revision>
  <cp:lastPrinted>2019-09-10T15:11:40Z</cp:lastPrinted>
  <dcterms:created xsi:type="dcterms:W3CDTF">2019-09-09T15:33:59Z</dcterms:created>
  <dcterms:modified xsi:type="dcterms:W3CDTF">2025-01-21T21:38:05Z</dcterms:modified>
</cp:coreProperties>
</file>