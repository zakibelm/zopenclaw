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2F_5EF01A27.xml" ContentType="application/vnd.ms-powerpoint.comments+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308" r:id="rId17"/>
    <p:sldId id="272" r:id="rId18"/>
    <p:sldId id="281" r:id="rId19"/>
    <p:sldId id="282" r:id="rId20"/>
    <p:sldId id="283" r:id="rId21"/>
    <p:sldId id="319" r:id="rId22"/>
    <p:sldId id="284" r:id="rId23"/>
    <p:sldId id="285" r:id="rId24"/>
    <p:sldId id="286" r:id="rId25"/>
    <p:sldId id="287" r:id="rId26"/>
    <p:sldId id="310" r:id="rId27"/>
    <p:sldId id="311" r:id="rId28"/>
    <p:sldId id="312" r:id="rId29"/>
    <p:sldId id="288" r:id="rId30"/>
    <p:sldId id="289" r:id="rId31"/>
    <p:sldId id="296" r:id="rId32"/>
    <p:sldId id="314" r:id="rId33"/>
    <p:sldId id="290" r:id="rId34"/>
    <p:sldId id="313" r:id="rId35"/>
    <p:sldId id="291" r:id="rId36"/>
    <p:sldId id="292" r:id="rId37"/>
    <p:sldId id="293" r:id="rId38"/>
    <p:sldId id="294" r:id="rId39"/>
    <p:sldId id="295" r:id="rId40"/>
    <p:sldId id="297" r:id="rId41"/>
    <p:sldId id="298" r:id="rId42"/>
    <p:sldId id="299" r:id="rId43"/>
    <p:sldId id="300" r:id="rId44"/>
    <p:sldId id="315" r:id="rId45"/>
    <p:sldId id="301" r:id="rId46"/>
    <p:sldId id="316" r:id="rId47"/>
    <p:sldId id="302" r:id="rId48"/>
    <p:sldId id="303" r:id="rId49"/>
    <p:sldId id="320" r:id="rId50"/>
    <p:sldId id="321" r:id="rId51"/>
    <p:sldId id="309" r:id="rId52"/>
    <p:sldId id="317" r:id="rId53"/>
    <p:sldId id="318" r:id="rId54"/>
    <p:sldId id="304" r:id="rId55"/>
    <p:sldId id="305" r:id="rId56"/>
    <p:sldId id="306" r:id="rId57"/>
    <p:sldId id="307" r:id="rId58"/>
  </p:sldIdLst>
  <p:sldSz cx="12192000" cy="6858000"/>
  <p:notesSz cx="7010400" cy="9296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8FB975C-4C1D-EA33-8340-77B3D970F02F}" name="SOKRI Marzouk" initials="SM" userId="bca8937e5be247a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3785" autoAdjust="0"/>
  </p:normalViewPr>
  <p:slideViewPr>
    <p:cSldViewPr snapToGrid="0">
      <p:cViewPr varScale="1">
        <p:scale>
          <a:sx n="89" d="100"/>
          <a:sy n="89" d="100"/>
        </p:scale>
        <p:origin x="466"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8/10/relationships/authors" Targe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omments/modernComment_12F_5EF01A27.xml><?xml version="1.0" encoding="utf-8"?>
<p188:cmLst xmlns:a="http://schemas.openxmlformats.org/drawingml/2006/main" xmlns:r="http://schemas.openxmlformats.org/officeDocument/2006/relationships" xmlns:p188="http://schemas.microsoft.com/office/powerpoint/2018/8/main">
  <p188:cm id="{016B1B02-70D1-48B5-BE66-E98BECA92263}" authorId="{28FB975C-4C1D-EA33-8340-77B3D970F02F}" created="2025-01-21T15:43:10.976">
    <ac:deMkLst xmlns:ac="http://schemas.microsoft.com/office/drawing/2013/main/command">
      <pc:docMk xmlns:pc="http://schemas.microsoft.com/office/powerpoint/2013/main/command"/>
      <pc:sldMk xmlns:pc="http://schemas.microsoft.com/office/powerpoint/2013/main/command" cId="1592793639" sldId="303"/>
      <ac:spMk id="3" creationId="{00000000-0000-0000-0000-000000000000}"/>
    </ac:deMkLst>
    <p188:txBody>
      <a:bodyPr/>
      <a:lstStyle/>
      <a:p>
        <a:r>
          <a:rPr lang="fr-CA"/>
          <a:t>Attribuable  </a:t>
        </a:r>
      </a:p>
    </p188:txBody>
  </p188:cm>
  <p188:cm id="{A9882816-3E54-4892-B135-54E969C5BCD3}" authorId="{28FB975C-4C1D-EA33-8340-77B3D970F02F}" created="2025-01-21T15:43:59.149">
    <ac:deMkLst xmlns:ac="http://schemas.microsoft.com/office/drawing/2013/main/command">
      <pc:docMk xmlns:pc="http://schemas.microsoft.com/office/powerpoint/2013/main/command"/>
      <pc:sldMk xmlns:pc="http://schemas.microsoft.com/office/powerpoint/2013/main/command" cId="1592793639" sldId="303"/>
      <ac:spMk id="3" creationId="{00000000-0000-0000-0000-000000000000}"/>
    </ac:deMkLst>
    <p188:txBody>
      <a:bodyPr/>
      <a:lstStyle/>
      <a:p>
        <a:r>
          <a:rPr lang="fr-CA"/>
          <a:t>C’est le cout des dividende préférentielle qui sont classée comme capitaux propres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AE21D302-3D30-45E5-895B-8C1C3E2879DB}" type="datetimeFigureOut">
              <a:rPr lang="fr-CA" smtClean="0"/>
              <a:t>2025-02-17</a:t>
            </a:fld>
            <a:endParaRPr lang="fr-CA"/>
          </a:p>
        </p:txBody>
      </p:sp>
      <p:sp>
        <p:nvSpPr>
          <p:cNvPr id="4" name="Espace réservé de l'image des diapositives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74BBBC6B-51FD-4123-B77A-F8640E22F9EC}" type="slidenum">
              <a:rPr lang="fr-CA" smtClean="0"/>
              <a:t>‹N°›</a:t>
            </a:fld>
            <a:endParaRPr lang="fr-CA"/>
          </a:p>
        </p:txBody>
      </p:sp>
    </p:spTree>
    <p:extLst>
      <p:ext uri="{BB962C8B-B14F-4D97-AF65-F5344CB8AC3E}">
        <p14:creationId xmlns:p14="http://schemas.microsoft.com/office/powerpoint/2010/main" val="4231457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Enjeu c’est mon solde d’ouverture lorsque on change les manuels de l’un a l’autre soit IFRS a NCECF ou bien le contraire donc y’a des ajustement a faire rétrospectif donc le solde d’</a:t>
            </a:r>
            <a:r>
              <a:rPr lang="fr-CA" dirty="0" err="1"/>
              <a:t>ouveture</a:t>
            </a:r>
            <a:r>
              <a:rPr lang="fr-CA" dirty="0"/>
              <a:t> soit compatible avec les soldes de fin (avec des manuels différents) </a:t>
            </a:r>
          </a:p>
        </p:txBody>
      </p:sp>
      <p:sp>
        <p:nvSpPr>
          <p:cNvPr id="4" name="Espace réservé du numéro de diapositive 3"/>
          <p:cNvSpPr>
            <a:spLocks noGrp="1"/>
          </p:cNvSpPr>
          <p:nvPr>
            <p:ph type="sldNum" sz="quarter" idx="5"/>
          </p:nvPr>
        </p:nvSpPr>
        <p:spPr/>
        <p:txBody>
          <a:bodyPr/>
          <a:lstStyle/>
          <a:p>
            <a:fld id="{74BBBC6B-51FD-4123-B77A-F8640E22F9EC}" type="slidenum">
              <a:rPr lang="fr-CA" smtClean="0"/>
              <a:t>2</a:t>
            </a:fld>
            <a:endParaRPr lang="fr-CA"/>
          </a:p>
        </p:txBody>
      </p:sp>
    </p:spTree>
    <p:extLst>
      <p:ext uri="{BB962C8B-B14F-4D97-AF65-F5344CB8AC3E}">
        <p14:creationId xmlns:p14="http://schemas.microsoft.com/office/powerpoint/2010/main" val="4652581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Méthode de réévaluation pour les immobilisations on joue sur les amortissements n’oublie pas ca </a:t>
            </a:r>
          </a:p>
        </p:txBody>
      </p:sp>
      <p:sp>
        <p:nvSpPr>
          <p:cNvPr id="4" name="Espace réservé du numéro de diapositive 3"/>
          <p:cNvSpPr>
            <a:spLocks noGrp="1"/>
          </p:cNvSpPr>
          <p:nvPr>
            <p:ph type="sldNum" sz="quarter" idx="5"/>
          </p:nvPr>
        </p:nvSpPr>
        <p:spPr/>
        <p:txBody>
          <a:bodyPr/>
          <a:lstStyle/>
          <a:p>
            <a:fld id="{74BBBC6B-51FD-4123-B77A-F8640E22F9EC}" type="slidenum">
              <a:rPr lang="fr-CA" smtClean="0"/>
              <a:t>13</a:t>
            </a:fld>
            <a:endParaRPr lang="fr-CA"/>
          </a:p>
        </p:txBody>
      </p:sp>
    </p:spTree>
    <p:extLst>
      <p:ext uri="{BB962C8B-B14F-4D97-AF65-F5344CB8AC3E}">
        <p14:creationId xmlns:p14="http://schemas.microsoft.com/office/powerpoint/2010/main" val="1514241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Prêt subvention doit être comptabiliser comme une subvention ici on parle de l’Enjeu nature, Moment </a:t>
            </a:r>
          </a:p>
          <a:p>
            <a:r>
              <a:rPr lang="fr-CA" dirty="0"/>
              <a:t>Les critères de comptabilisation de la subvention selon les NCECF sont du paragraphe 17 </a:t>
            </a:r>
          </a:p>
          <a:p>
            <a:r>
              <a:rPr lang="fr-CA" dirty="0"/>
              <a:t> tu a toujours une réduction de charge ou bien réduction de l’actif ou bien de passer en autre produit </a:t>
            </a:r>
          </a:p>
          <a:p>
            <a:r>
              <a:rPr lang="fr-CA" dirty="0"/>
              <a:t>Le </a:t>
            </a:r>
            <a:r>
              <a:rPr lang="fr-CA" dirty="0" err="1"/>
              <a:t>momemt</a:t>
            </a:r>
            <a:r>
              <a:rPr lang="fr-CA" dirty="0"/>
              <a:t> de comptabilisation de compte a payer au </a:t>
            </a:r>
            <a:r>
              <a:rPr lang="fr-CA" dirty="0" err="1"/>
              <a:t>gauvernement</a:t>
            </a:r>
            <a:r>
              <a:rPr lang="fr-CA" dirty="0"/>
              <a:t> pour les deux référentiel regarde le fichier de l’ordre </a:t>
            </a:r>
          </a:p>
          <a:p>
            <a:r>
              <a:rPr lang="fr-CA" dirty="0"/>
              <a:t>Donc le principe de rattachement des charges ou produits sera appliquer dans le cas de la </a:t>
            </a:r>
            <a:r>
              <a:rPr lang="fr-CA" dirty="0" err="1"/>
              <a:t>subvnetion</a:t>
            </a:r>
            <a:r>
              <a:rPr lang="fr-CA" dirty="0"/>
              <a:t> qui s’</a:t>
            </a:r>
            <a:r>
              <a:rPr lang="fr-CA" dirty="0" err="1"/>
              <a:t>étalle</a:t>
            </a:r>
            <a:r>
              <a:rPr lang="fr-CA" dirty="0"/>
              <a:t> a plus d’une année </a:t>
            </a:r>
          </a:p>
        </p:txBody>
      </p:sp>
      <p:sp>
        <p:nvSpPr>
          <p:cNvPr id="4" name="Espace réservé du numéro de diapositive 3"/>
          <p:cNvSpPr>
            <a:spLocks noGrp="1"/>
          </p:cNvSpPr>
          <p:nvPr>
            <p:ph type="sldNum" sz="quarter" idx="5"/>
          </p:nvPr>
        </p:nvSpPr>
        <p:spPr/>
        <p:txBody>
          <a:bodyPr/>
          <a:lstStyle/>
          <a:p>
            <a:fld id="{74BBBC6B-51FD-4123-B77A-F8640E22F9EC}" type="slidenum">
              <a:rPr lang="fr-CA" smtClean="0"/>
              <a:t>18</a:t>
            </a:fld>
            <a:endParaRPr lang="fr-CA"/>
          </a:p>
        </p:txBody>
      </p:sp>
    </p:spTree>
    <p:extLst>
      <p:ext uri="{BB962C8B-B14F-4D97-AF65-F5344CB8AC3E}">
        <p14:creationId xmlns:p14="http://schemas.microsoft.com/office/powerpoint/2010/main" val="15027971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Méthode de l’</a:t>
            </a:r>
            <a:r>
              <a:rPr lang="fr-CA" dirty="0" err="1"/>
              <a:t>impot</a:t>
            </a:r>
            <a:r>
              <a:rPr lang="fr-CA" dirty="0"/>
              <a:t> future et non pas de la méthode exigible va voir ca avec la norme s’il te plait </a:t>
            </a:r>
          </a:p>
        </p:txBody>
      </p:sp>
      <p:sp>
        <p:nvSpPr>
          <p:cNvPr id="4" name="Espace réservé du numéro de diapositive 3"/>
          <p:cNvSpPr>
            <a:spLocks noGrp="1"/>
          </p:cNvSpPr>
          <p:nvPr>
            <p:ph type="sldNum" sz="quarter" idx="5"/>
          </p:nvPr>
        </p:nvSpPr>
        <p:spPr/>
        <p:txBody>
          <a:bodyPr/>
          <a:lstStyle/>
          <a:p>
            <a:fld id="{74BBBC6B-51FD-4123-B77A-F8640E22F9EC}" type="slidenum">
              <a:rPr lang="fr-CA" smtClean="0"/>
              <a:t>31</a:t>
            </a:fld>
            <a:endParaRPr lang="fr-CA"/>
          </a:p>
        </p:txBody>
      </p:sp>
    </p:spTree>
    <p:extLst>
      <p:ext uri="{BB962C8B-B14F-4D97-AF65-F5344CB8AC3E}">
        <p14:creationId xmlns:p14="http://schemas.microsoft.com/office/powerpoint/2010/main" val="3620153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err="1"/>
              <a:t>Jete</a:t>
            </a:r>
            <a:r>
              <a:rPr lang="fr-CA" dirty="0"/>
              <a:t> un coup d’œil sur le cours enjeux sociaux et </a:t>
            </a:r>
            <a:r>
              <a:rPr lang="fr-CA" dirty="0" err="1"/>
              <a:t>envrinementle</a:t>
            </a:r>
            <a:r>
              <a:rPr lang="fr-CA" dirty="0"/>
              <a:t> </a:t>
            </a:r>
          </a:p>
        </p:txBody>
      </p:sp>
      <p:sp>
        <p:nvSpPr>
          <p:cNvPr id="4" name="Espace réservé du numéro de diapositive 3"/>
          <p:cNvSpPr>
            <a:spLocks noGrp="1"/>
          </p:cNvSpPr>
          <p:nvPr>
            <p:ph type="sldNum" sz="quarter" idx="5"/>
          </p:nvPr>
        </p:nvSpPr>
        <p:spPr/>
        <p:txBody>
          <a:bodyPr/>
          <a:lstStyle/>
          <a:p>
            <a:fld id="{74BBBC6B-51FD-4123-B77A-F8640E22F9EC}" type="slidenum">
              <a:rPr lang="fr-CA" smtClean="0"/>
              <a:t>43</a:t>
            </a:fld>
            <a:endParaRPr lang="fr-CA"/>
          </a:p>
        </p:txBody>
      </p:sp>
    </p:spTree>
    <p:extLst>
      <p:ext uri="{BB962C8B-B14F-4D97-AF65-F5344CB8AC3E}">
        <p14:creationId xmlns:p14="http://schemas.microsoft.com/office/powerpoint/2010/main" val="26241799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Qu’est que rentre dans l'avantage au personnel </a:t>
            </a:r>
          </a:p>
        </p:txBody>
      </p:sp>
      <p:sp>
        <p:nvSpPr>
          <p:cNvPr id="4" name="Espace réservé du numéro de diapositive 3"/>
          <p:cNvSpPr>
            <a:spLocks noGrp="1"/>
          </p:cNvSpPr>
          <p:nvPr>
            <p:ph type="sldNum" sz="quarter" idx="5"/>
          </p:nvPr>
        </p:nvSpPr>
        <p:spPr/>
        <p:txBody>
          <a:bodyPr/>
          <a:lstStyle/>
          <a:p>
            <a:fld id="{74BBBC6B-51FD-4123-B77A-F8640E22F9EC}" type="slidenum">
              <a:rPr lang="fr-CA" smtClean="0"/>
              <a:t>45</a:t>
            </a:fld>
            <a:endParaRPr lang="fr-CA"/>
          </a:p>
        </p:txBody>
      </p:sp>
    </p:spTree>
    <p:extLst>
      <p:ext uri="{BB962C8B-B14F-4D97-AF65-F5344CB8AC3E}">
        <p14:creationId xmlns:p14="http://schemas.microsoft.com/office/powerpoint/2010/main" val="3215232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A revoir ca avec les résumés de Khaled attention ca été questionner une fois a l’EFC </a:t>
            </a:r>
          </a:p>
        </p:txBody>
      </p:sp>
      <p:sp>
        <p:nvSpPr>
          <p:cNvPr id="4" name="Espace réservé du numéro de diapositive 3"/>
          <p:cNvSpPr>
            <a:spLocks noGrp="1"/>
          </p:cNvSpPr>
          <p:nvPr>
            <p:ph type="sldNum" sz="quarter" idx="5"/>
          </p:nvPr>
        </p:nvSpPr>
        <p:spPr/>
        <p:txBody>
          <a:bodyPr/>
          <a:lstStyle/>
          <a:p>
            <a:fld id="{74BBBC6B-51FD-4123-B77A-F8640E22F9EC}" type="slidenum">
              <a:rPr lang="fr-CA" smtClean="0"/>
              <a:t>48</a:t>
            </a:fld>
            <a:endParaRPr lang="fr-CA"/>
          </a:p>
        </p:txBody>
      </p:sp>
    </p:spTree>
    <p:extLst>
      <p:ext uri="{BB962C8B-B14F-4D97-AF65-F5344CB8AC3E}">
        <p14:creationId xmlns:p14="http://schemas.microsoft.com/office/powerpoint/2010/main" val="834358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Revient sur la norme </a:t>
            </a:r>
          </a:p>
        </p:txBody>
      </p:sp>
      <p:sp>
        <p:nvSpPr>
          <p:cNvPr id="4" name="Espace réservé du numéro de diapositive 3"/>
          <p:cNvSpPr>
            <a:spLocks noGrp="1"/>
          </p:cNvSpPr>
          <p:nvPr>
            <p:ph type="sldNum" sz="quarter" idx="5"/>
          </p:nvPr>
        </p:nvSpPr>
        <p:spPr/>
        <p:txBody>
          <a:bodyPr/>
          <a:lstStyle/>
          <a:p>
            <a:fld id="{74BBBC6B-51FD-4123-B77A-F8640E22F9EC}" type="slidenum">
              <a:rPr lang="fr-CA" smtClean="0"/>
              <a:t>55</a:t>
            </a:fld>
            <a:endParaRPr lang="fr-CA"/>
          </a:p>
        </p:txBody>
      </p:sp>
    </p:spTree>
    <p:extLst>
      <p:ext uri="{BB962C8B-B14F-4D97-AF65-F5344CB8AC3E}">
        <p14:creationId xmlns:p14="http://schemas.microsoft.com/office/powerpoint/2010/main" val="1855953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1CAEED84-6BC6-423B-9296-5311D0F16CA6}" type="datetimeFigureOut">
              <a:rPr lang="fr-CA" smtClean="0"/>
              <a:t>2025-02-17</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5DEC43D5-0F93-4FBE-8AD1-560CAEE599E3}" type="slidenum">
              <a:rPr lang="fr-CA" smtClean="0"/>
              <a:t>‹N°›</a:t>
            </a:fld>
            <a:endParaRPr lang="fr-CA"/>
          </a:p>
        </p:txBody>
      </p:sp>
    </p:spTree>
    <p:extLst>
      <p:ext uri="{BB962C8B-B14F-4D97-AF65-F5344CB8AC3E}">
        <p14:creationId xmlns:p14="http://schemas.microsoft.com/office/powerpoint/2010/main" val="2832556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1CAEED84-6BC6-423B-9296-5311D0F16CA6}" type="datetimeFigureOut">
              <a:rPr lang="fr-CA" smtClean="0"/>
              <a:t>2025-02-17</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5DEC43D5-0F93-4FBE-8AD1-560CAEE599E3}" type="slidenum">
              <a:rPr lang="fr-CA" smtClean="0"/>
              <a:t>‹N°›</a:t>
            </a:fld>
            <a:endParaRPr lang="fr-CA"/>
          </a:p>
        </p:txBody>
      </p:sp>
    </p:spTree>
    <p:extLst>
      <p:ext uri="{BB962C8B-B14F-4D97-AF65-F5344CB8AC3E}">
        <p14:creationId xmlns:p14="http://schemas.microsoft.com/office/powerpoint/2010/main" val="1833547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1CAEED84-6BC6-423B-9296-5311D0F16CA6}" type="datetimeFigureOut">
              <a:rPr lang="fr-CA" smtClean="0"/>
              <a:t>2025-02-17</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5DEC43D5-0F93-4FBE-8AD1-560CAEE599E3}" type="slidenum">
              <a:rPr lang="fr-CA" smtClean="0"/>
              <a:t>‹N°›</a:t>
            </a:fld>
            <a:endParaRPr lang="fr-CA"/>
          </a:p>
        </p:txBody>
      </p:sp>
    </p:spTree>
    <p:extLst>
      <p:ext uri="{BB962C8B-B14F-4D97-AF65-F5344CB8AC3E}">
        <p14:creationId xmlns:p14="http://schemas.microsoft.com/office/powerpoint/2010/main" val="1342556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1CAEED84-6BC6-423B-9296-5311D0F16CA6}" type="datetimeFigureOut">
              <a:rPr lang="fr-CA" smtClean="0"/>
              <a:t>2025-02-17</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5DEC43D5-0F93-4FBE-8AD1-560CAEE599E3}" type="slidenum">
              <a:rPr lang="fr-CA" smtClean="0"/>
              <a:t>‹N°›</a:t>
            </a:fld>
            <a:endParaRPr lang="fr-CA"/>
          </a:p>
        </p:txBody>
      </p:sp>
    </p:spTree>
    <p:extLst>
      <p:ext uri="{BB962C8B-B14F-4D97-AF65-F5344CB8AC3E}">
        <p14:creationId xmlns:p14="http://schemas.microsoft.com/office/powerpoint/2010/main" val="328695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1CAEED84-6BC6-423B-9296-5311D0F16CA6}" type="datetimeFigureOut">
              <a:rPr lang="fr-CA" smtClean="0"/>
              <a:t>2025-02-17</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5DEC43D5-0F93-4FBE-8AD1-560CAEE599E3}" type="slidenum">
              <a:rPr lang="fr-CA" smtClean="0"/>
              <a:t>‹N°›</a:t>
            </a:fld>
            <a:endParaRPr lang="fr-CA"/>
          </a:p>
        </p:txBody>
      </p:sp>
    </p:spTree>
    <p:extLst>
      <p:ext uri="{BB962C8B-B14F-4D97-AF65-F5344CB8AC3E}">
        <p14:creationId xmlns:p14="http://schemas.microsoft.com/office/powerpoint/2010/main" val="2768855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1CAEED84-6BC6-423B-9296-5311D0F16CA6}" type="datetimeFigureOut">
              <a:rPr lang="fr-CA" smtClean="0"/>
              <a:t>2025-02-17</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5DEC43D5-0F93-4FBE-8AD1-560CAEE599E3}" type="slidenum">
              <a:rPr lang="fr-CA" smtClean="0"/>
              <a:t>‹N°›</a:t>
            </a:fld>
            <a:endParaRPr lang="fr-CA"/>
          </a:p>
        </p:txBody>
      </p:sp>
    </p:spTree>
    <p:extLst>
      <p:ext uri="{BB962C8B-B14F-4D97-AF65-F5344CB8AC3E}">
        <p14:creationId xmlns:p14="http://schemas.microsoft.com/office/powerpoint/2010/main" val="1494982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1CAEED84-6BC6-423B-9296-5311D0F16CA6}" type="datetimeFigureOut">
              <a:rPr lang="fr-CA" smtClean="0"/>
              <a:t>2025-02-17</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5DEC43D5-0F93-4FBE-8AD1-560CAEE599E3}" type="slidenum">
              <a:rPr lang="fr-CA" smtClean="0"/>
              <a:t>‹N°›</a:t>
            </a:fld>
            <a:endParaRPr lang="fr-CA"/>
          </a:p>
        </p:txBody>
      </p:sp>
    </p:spTree>
    <p:extLst>
      <p:ext uri="{BB962C8B-B14F-4D97-AF65-F5344CB8AC3E}">
        <p14:creationId xmlns:p14="http://schemas.microsoft.com/office/powerpoint/2010/main" val="1820661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1CAEED84-6BC6-423B-9296-5311D0F16CA6}" type="datetimeFigureOut">
              <a:rPr lang="fr-CA" smtClean="0"/>
              <a:t>2025-02-17</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5DEC43D5-0F93-4FBE-8AD1-560CAEE599E3}" type="slidenum">
              <a:rPr lang="fr-CA" smtClean="0"/>
              <a:t>‹N°›</a:t>
            </a:fld>
            <a:endParaRPr lang="fr-CA"/>
          </a:p>
        </p:txBody>
      </p:sp>
    </p:spTree>
    <p:extLst>
      <p:ext uri="{BB962C8B-B14F-4D97-AF65-F5344CB8AC3E}">
        <p14:creationId xmlns:p14="http://schemas.microsoft.com/office/powerpoint/2010/main" val="2243377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1CAEED84-6BC6-423B-9296-5311D0F16CA6}" type="datetimeFigureOut">
              <a:rPr lang="fr-CA" smtClean="0"/>
              <a:t>2025-02-17</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5DEC43D5-0F93-4FBE-8AD1-560CAEE599E3}" type="slidenum">
              <a:rPr lang="fr-CA" smtClean="0"/>
              <a:t>‹N°›</a:t>
            </a:fld>
            <a:endParaRPr lang="fr-CA"/>
          </a:p>
        </p:txBody>
      </p:sp>
    </p:spTree>
    <p:extLst>
      <p:ext uri="{BB962C8B-B14F-4D97-AF65-F5344CB8AC3E}">
        <p14:creationId xmlns:p14="http://schemas.microsoft.com/office/powerpoint/2010/main" val="588270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1CAEED84-6BC6-423B-9296-5311D0F16CA6}" type="datetimeFigureOut">
              <a:rPr lang="fr-CA" smtClean="0"/>
              <a:t>2025-02-17</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5DEC43D5-0F93-4FBE-8AD1-560CAEE599E3}" type="slidenum">
              <a:rPr lang="fr-CA" smtClean="0"/>
              <a:t>‹N°›</a:t>
            </a:fld>
            <a:endParaRPr lang="fr-CA"/>
          </a:p>
        </p:txBody>
      </p:sp>
    </p:spTree>
    <p:extLst>
      <p:ext uri="{BB962C8B-B14F-4D97-AF65-F5344CB8AC3E}">
        <p14:creationId xmlns:p14="http://schemas.microsoft.com/office/powerpoint/2010/main" val="2116950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1CAEED84-6BC6-423B-9296-5311D0F16CA6}" type="datetimeFigureOut">
              <a:rPr lang="fr-CA" smtClean="0"/>
              <a:t>2025-02-17</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5DEC43D5-0F93-4FBE-8AD1-560CAEE599E3}" type="slidenum">
              <a:rPr lang="fr-CA" smtClean="0"/>
              <a:t>‹N°›</a:t>
            </a:fld>
            <a:endParaRPr lang="fr-CA"/>
          </a:p>
        </p:txBody>
      </p:sp>
    </p:spTree>
    <p:extLst>
      <p:ext uri="{BB962C8B-B14F-4D97-AF65-F5344CB8AC3E}">
        <p14:creationId xmlns:p14="http://schemas.microsoft.com/office/powerpoint/2010/main" val="3187350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AEED84-6BC6-423B-9296-5311D0F16CA6}" type="datetimeFigureOut">
              <a:rPr lang="fr-CA" smtClean="0"/>
              <a:t>2025-02-17</a:t>
            </a:fld>
            <a:endParaRPr lang="fr-CA"/>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EC43D5-0F93-4FBE-8AD1-560CAEE599E3}" type="slidenum">
              <a:rPr lang="fr-CA" smtClean="0"/>
              <a:t>‹N°›</a:t>
            </a:fld>
            <a:endParaRPr lang="fr-CA"/>
          </a:p>
        </p:txBody>
      </p:sp>
    </p:spTree>
    <p:extLst>
      <p:ext uri="{BB962C8B-B14F-4D97-AF65-F5344CB8AC3E}">
        <p14:creationId xmlns:p14="http://schemas.microsoft.com/office/powerpoint/2010/main" val="21551062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microsoft.com/office/2018/10/relationships/comments" Target="../comments/modernComment_12F_5EF01A27.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2"/>
            <a:ext cx="9144000" cy="3612923"/>
          </a:xfrm>
        </p:spPr>
        <p:txBody>
          <a:bodyPr>
            <a:normAutofit fontScale="90000"/>
          </a:bodyPr>
          <a:lstStyle/>
          <a:p>
            <a:r>
              <a:rPr lang="fr-FR" sz="3600" b="1" dirty="0"/>
              <a:t>40938</a:t>
            </a:r>
            <a:br>
              <a:rPr lang="fr-FR" b="1" dirty="0"/>
            </a:br>
            <a:r>
              <a:rPr lang="fr-FR" b="1" dirty="0"/>
              <a:t>Revue de certaines normes</a:t>
            </a:r>
            <a:br>
              <a:rPr lang="fr-FR" b="1" dirty="0"/>
            </a:br>
            <a:r>
              <a:rPr lang="fr-FR" sz="2700" b="1" dirty="0"/>
              <a:t>Première application du nouveau référentiel</a:t>
            </a:r>
            <a:br>
              <a:rPr lang="fr-FR" sz="2700" b="1" dirty="0"/>
            </a:br>
            <a:r>
              <a:rPr lang="fr-FR" sz="2700" b="1" dirty="0"/>
              <a:t>Aide gouvernementale</a:t>
            </a:r>
            <a:br>
              <a:rPr lang="fr-FR" sz="2700" b="1" dirty="0"/>
            </a:br>
            <a:r>
              <a:rPr lang="fr-FR" sz="2700" b="1" dirty="0"/>
              <a:t>Impôts sur le résultat (+ doc distinct)</a:t>
            </a:r>
            <a:br>
              <a:rPr lang="fr-FR" sz="2700" b="1" dirty="0"/>
            </a:br>
            <a:r>
              <a:rPr lang="fr-FR" sz="2700" b="1" dirty="0"/>
              <a:t>Avantages du personnel (+ doc distinct)</a:t>
            </a:r>
            <a:br>
              <a:rPr lang="fr-FR" sz="2700" b="1" dirty="0"/>
            </a:br>
            <a:r>
              <a:rPr lang="fr-FR" sz="2700" b="1" dirty="0"/>
              <a:t>Résultat par action (+ doc distinct)</a:t>
            </a:r>
            <a:br>
              <a:rPr lang="fr-FR" sz="2700" b="1" dirty="0"/>
            </a:br>
            <a:r>
              <a:rPr lang="fr-FR" sz="2700" b="1" dirty="0"/>
              <a:t>Économies </a:t>
            </a:r>
            <a:r>
              <a:rPr lang="fr-FR" sz="2700" b="1" dirty="0" err="1"/>
              <a:t>hyperinflationnistes</a:t>
            </a:r>
            <a:br>
              <a:rPr lang="fr-FR" sz="3100" b="1" dirty="0"/>
            </a:br>
            <a:r>
              <a:rPr lang="fr-FR" sz="3600" b="1" dirty="0"/>
              <a:t>séance 3</a:t>
            </a:r>
          </a:p>
        </p:txBody>
      </p:sp>
      <p:sp>
        <p:nvSpPr>
          <p:cNvPr id="3" name="Sous-titre 2"/>
          <p:cNvSpPr>
            <a:spLocks noGrp="1"/>
          </p:cNvSpPr>
          <p:nvPr>
            <p:ph type="subTitle" idx="1"/>
          </p:nvPr>
        </p:nvSpPr>
        <p:spPr>
          <a:xfrm>
            <a:off x="2895600" y="5266481"/>
            <a:ext cx="6400800" cy="775504"/>
          </a:xfrm>
        </p:spPr>
        <p:txBody>
          <a:bodyPr>
            <a:normAutofit fontScale="92500" lnSpcReduction="10000"/>
          </a:bodyPr>
          <a:lstStyle/>
          <a:p>
            <a:r>
              <a:rPr lang="fr-FR" sz="2600" dirty="0">
                <a:solidFill>
                  <a:schemeClr val="tx1"/>
                </a:solidFill>
              </a:rPr>
              <a:t>Louise Overbeek</a:t>
            </a:r>
          </a:p>
          <a:p>
            <a:r>
              <a:rPr lang="fr-FR" sz="2200" dirty="0"/>
              <a:t>Janvier 2025</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a:t>
            </a:fld>
            <a:endParaRPr lang="fr-FR"/>
          </a:p>
        </p:txBody>
      </p:sp>
    </p:spTree>
    <p:extLst>
      <p:ext uri="{BB962C8B-B14F-4D97-AF65-F5344CB8AC3E}">
        <p14:creationId xmlns:p14="http://schemas.microsoft.com/office/powerpoint/2010/main" val="3945827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b="1" dirty="0">
                <a:solidFill>
                  <a:srgbClr val="FF0000"/>
                </a:solidFill>
              </a:rPr>
              <a:t>Première application du nouveau référentiel</a:t>
            </a:r>
          </a:p>
        </p:txBody>
      </p:sp>
      <p:sp>
        <p:nvSpPr>
          <p:cNvPr id="3" name="Espace réservé du contenu 2"/>
          <p:cNvSpPr>
            <a:spLocks noGrp="1"/>
          </p:cNvSpPr>
          <p:nvPr>
            <p:ph idx="1"/>
          </p:nvPr>
        </p:nvSpPr>
        <p:spPr/>
        <p:txBody>
          <a:bodyPr/>
          <a:lstStyle/>
          <a:p>
            <a:endParaRPr lang="fr-CA" dirty="0"/>
          </a:p>
          <a:p>
            <a:endParaRPr lang="fr-CA" dirty="0"/>
          </a:p>
          <a:p>
            <a:r>
              <a:rPr lang="fr-CA" dirty="0"/>
              <a:t>IFRS 1  Première application des Normes internationales d’information financière</a:t>
            </a:r>
          </a:p>
          <a:p>
            <a:endParaRPr lang="fr-CA" dirty="0"/>
          </a:p>
          <a:p>
            <a:r>
              <a:rPr lang="fr-CA" dirty="0"/>
              <a:t>Chap. 1500  Application initiale des normes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2</a:t>
            </a:fld>
            <a:endParaRPr lang="fr-FR"/>
          </a:p>
        </p:txBody>
      </p:sp>
    </p:spTree>
    <p:extLst>
      <p:ext uri="{BB962C8B-B14F-4D97-AF65-F5344CB8AC3E}">
        <p14:creationId xmlns:p14="http://schemas.microsoft.com/office/powerpoint/2010/main" val="3460152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Choix d’un référentiel comptable</a:t>
            </a:r>
            <a:br>
              <a:rPr lang="fr-CA" dirty="0"/>
            </a:br>
            <a:r>
              <a:rPr lang="fr-CA" sz="3600" dirty="0"/>
              <a:t>Adoption d’un référentiel ou changement de référentiel?</a:t>
            </a:r>
            <a:endParaRPr lang="fr-CA" dirty="0"/>
          </a:p>
        </p:txBody>
      </p:sp>
      <p:sp>
        <p:nvSpPr>
          <p:cNvPr id="3" name="Espace réservé du contenu 2"/>
          <p:cNvSpPr>
            <a:spLocks noGrp="1"/>
          </p:cNvSpPr>
          <p:nvPr>
            <p:ph idx="1"/>
          </p:nvPr>
        </p:nvSpPr>
        <p:spPr>
          <a:xfrm>
            <a:off x="924560" y="2001520"/>
            <a:ext cx="10312400" cy="4124644"/>
          </a:xfrm>
        </p:spPr>
        <p:txBody>
          <a:bodyPr>
            <a:normAutofit fontScale="92500" lnSpcReduction="10000"/>
          </a:bodyPr>
          <a:lstStyle/>
          <a:p>
            <a:r>
              <a:rPr lang="fr-CA" dirty="0"/>
              <a:t>Pour les entreprises à capital fermé</a:t>
            </a:r>
          </a:p>
          <a:p>
            <a:pPr lvl="1"/>
            <a:r>
              <a:rPr lang="fr-CA" dirty="0"/>
              <a:t>Choix NCECF ou IFRS</a:t>
            </a:r>
          </a:p>
          <a:p>
            <a:pPr lvl="2"/>
            <a:r>
              <a:rPr lang="fr-CA" i="1" dirty="0"/>
              <a:t>En pratique, plusieurs petites entreprises préparent des états financiers pour les prêteurs, pour les déclarations fiscales, sans se conformer à un référentiel (contiennent possiblement des « erreurs »)</a:t>
            </a:r>
          </a:p>
          <a:p>
            <a:pPr marL="457200" lvl="1" indent="0">
              <a:buNone/>
            </a:pPr>
            <a:endParaRPr lang="fr-CA" sz="2000" dirty="0"/>
          </a:p>
          <a:p>
            <a:r>
              <a:rPr lang="fr-CA" dirty="0"/>
              <a:t>Dans un cas :</a:t>
            </a:r>
          </a:p>
          <a:p>
            <a:pPr lvl="1"/>
            <a:r>
              <a:rPr lang="fr-CA" dirty="0"/>
              <a:t>Analyse des besoins des utilisateurs</a:t>
            </a:r>
          </a:p>
          <a:p>
            <a:pPr lvl="2"/>
            <a:r>
              <a:rPr lang="fr-CA" dirty="0"/>
              <a:t>Fournisseurs de capitaux : prêteurs et actionnaires</a:t>
            </a:r>
          </a:p>
          <a:p>
            <a:pPr lvl="1"/>
            <a:r>
              <a:rPr lang="fr-CA" dirty="0"/>
              <a:t>Analyse des problématiques comptables en ressortant les différences entre les deux référentiels</a:t>
            </a:r>
          </a:p>
          <a:p>
            <a:pPr lvl="1"/>
            <a:r>
              <a:rPr lang="fr-CA" dirty="0"/>
              <a:t>Recommandation avec justification</a:t>
            </a:r>
          </a:p>
          <a:p>
            <a:pPr lvl="2"/>
            <a:r>
              <a:rPr lang="fr-CA" dirty="0"/>
              <a:t>En lien avec les besoins des utilisateurs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3</a:t>
            </a:fld>
            <a:endParaRPr lang="fr-FR"/>
          </a:p>
        </p:txBody>
      </p:sp>
    </p:spTree>
    <p:extLst>
      <p:ext uri="{BB962C8B-B14F-4D97-AF65-F5344CB8AC3E}">
        <p14:creationId xmlns:p14="http://schemas.microsoft.com/office/powerpoint/2010/main" val="2887928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Contexte</a:t>
            </a:r>
            <a:br>
              <a:rPr lang="fr-CA" dirty="0"/>
            </a:br>
            <a:r>
              <a:rPr lang="fr-CA" sz="3600" dirty="0"/>
              <a:t>IFRS 1 / Chap. 1500 : changement de référentiel</a:t>
            </a:r>
            <a:endParaRPr lang="fr-CA" dirty="0"/>
          </a:p>
        </p:txBody>
      </p:sp>
      <p:sp>
        <p:nvSpPr>
          <p:cNvPr id="3" name="Espace réservé du contenu 2"/>
          <p:cNvSpPr>
            <a:spLocks noGrp="1"/>
          </p:cNvSpPr>
          <p:nvPr>
            <p:ph idx="1"/>
          </p:nvPr>
        </p:nvSpPr>
        <p:spPr>
          <a:xfrm>
            <a:off x="838200" y="2153919"/>
            <a:ext cx="10515600" cy="4023043"/>
          </a:xfrm>
        </p:spPr>
        <p:txBody>
          <a:bodyPr>
            <a:normAutofit/>
          </a:bodyPr>
          <a:lstStyle/>
          <a:p>
            <a:r>
              <a:rPr lang="fr-CA" dirty="0"/>
              <a:t>Transition d’un autre référentiel, ou d’aucun référentiel</a:t>
            </a:r>
          </a:p>
          <a:p>
            <a:pPr lvl="1"/>
            <a:r>
              <a:rPr lang="fr-CA" dirty="0"/>
              <a:t>Règles à suivre pour le traitement des ajustements aux soldes d’ouverture</a:t>
            </a:r>
          </a:p>
          <a:p>
            <a:endParaRPr lang="fr-CA" dirty="0"/>
          </a:p>
          <a:p>
            <a:r>
              <a:rPr lang="fr-CA" dirty="0"/>
              <a:t>Cas portant sur la recommandation d’un référentiel</a:t>
            </a:r>
          </a:p>
          <a:p>
            <a:pPr lvl="1"/>
            <a:r>
              <a:rPr lang="fr-CA" dirty="0"/>
              <a:t>Les règles de transition peuvent influer l’analyse</a:t>
            </a:r>
          </a:p>
          <a:p>
            <a:pPr lvl="2"/>
            <a:r>
              <a:rPr lang="fr-CA" dirty="0"/>
              <a:t>Par exemple pour les immobilisations, choix juste valeur à la transition</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4</a:t>
            </a:fld>
            <a:endParaRPr lang="fr-FR"/>
          </a:p>
        </p:txBody>
      </p:sp>
    </p:spTree>
    <p:extLst>
      <p:ext uri="{BB962C8B-B14F-4D97-AF65-F5344CB8AC3E}">
        <p14:creationId xmlns:p14="http://schemas.microsoft.com/office/powerpoint/2010/main" val="476991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Objectif</a:t>
            </a:r>
            <a:endParaRPr lang="fr-CA" dirty="0"/>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Normes relativement à la transition vers un nouveau référentiel</a:t>
            </a:r>
          </a:p>
          <a:p>
            <a:r>
              <a:rPr lang="fr-CA" dirty="0"/>
              <a:t>Informations transparentes pour les utilisateurs et comparables pour toutes les périodes présentées</a:t>
            </a:r>
          </a:p>
          <a:p>
            <a:pPr lvl="1"/>
            <a:r>
              <a:rPr lang="fr-CA" dirty="0"/>
              <a:t>Conciliation avec l’information déjà présentée</a:t>
            </a:r>
          </a:p>
          <a:p>
            <a:pPr lvl="2"/>
            <a:r>
              <a:rPr lang="fr-CA" dirty="0"/>
              <a:t>Ajustement aux RND/BNR d’ouverture du comparatif</a:t>
            </a:r>
          </a:p>
          <a:p>
            <a:pPr lvl="1"/>
            <a:r>
              <a:rPr lang="fr-CA" dirty="0"/>
              <a:t>Comparatif selon le nouveau référentiel</a:t>
            </a:r>
          </a:p>
          <a:p>
            <a:r>
              <a:rPr lang="fr-CA" dirty="0"/>
              <a:t>Fournissent un point de départ approprié pour une comptabilité conforme au nouveau référentiel</a:t>
            </a:r>
          </a:p>
          <a:p>
            <a:pPr lvl="1"/>
            <a:r>
              <a:rPr lang="fr-CA" dirty="0"/>
              <a:t>Conformité des soldes d’ouverture</a:t>
            </a:r>
          </a:p>
          <a:p>
            <a:r>
              <a:rPr lang="fr-CA" dirty="0"/>
              <a:t>Peuvent être produites à un coût qui ne dépasse pas les avantages attendus</a:t>
            </a:r>
          </a:p>
          <a:p>
            <a:pPr lvl="1"/>
            <a:r>
              <a:rPr lang="fr-CA" dirty="0"/>
              <a:t>Certains choix possibles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5</a:t>
            </a:fld>
            <a:endParaRPr lang="fr-FR"/>
          </a:p>
        </p:txBody>
      </p:sp>
    </p:spTree>
    <p:extLst>
      <p:ext uri="{BB962C8B-B14F-4D97-AF65-F5344CB8AC3E}">
        <p14:creationId xmlns:p14="http://schemas.microsoft.com/office/powerpoint/2010/main" val="1416669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Transparence</a:t>
            </a:r>
            <a:endParaRPr lang="fr-CA" dirty="0"/>
          </a:p>
        </p:txBody>
      </p:sp>
      <p:sp>
        <p:nvSpPr>
          <p:cNvPr id="3" name="Espace réservé du contenu 2"/>
          <p:cNvSpPr>
            <a:spLocks noGrp="1"/>
          </p:cNvSpPr>
          <p:nvPr>
            <p:ph idx="1"/>
          </p:nvPr>
        </p:nvSpPr>
        <p:spPr/>
        <p:txBody>
          <a:bodyPr/>
          <a:lstStyle/>
          <a:p>
            <a:r>
              <a:rPr lang="fr-CA" dirty="0"/>
              <a:t>L’entité doit expliquer l’incidence de la transition du référentiel comptable antérieur aux IFRS sur sa situation financière, sa performance financière et ses flux de trésorerie présentés  </a:t>
            </a:r>
            <a:r>
              <a:rPr lang="fr-CA" sz="2400" dirty="0"/>
              <a:t>(IFRS 1 – 23)</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6</a:t>
            </a:fld>
            <a:endParaRPr lang="fr-FR"/>
          </a:p>
        </p:txBody>
      </p:sp>
    </p:spTree>
    <p:extLst>
      <p:ext uri="{BB962C8B-B14F-4D97-AF65-F5344CB8AC3E}">
        <p14:creationId xmlns:p14="http://schemas.microsoft.com/office/powerpoint/2010/main" val="2905711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Défin</a:t>
            </a:r>
            <a:r>
              <a:rPr lang="fr-CA" sz="4000" dirty="0"/>
              <a:t>i</a:t>
            </a:r>
            <a:r>
              <a:rPr lang="fr-CA" dirty="0"/>
              <a:t>tions</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4069575293"/>
              </p:ext>
            </p:extLst>
          </p:nvPr>
        </p:nvGraphicFramePr>
        <p:xfrm>
          <a:off x="1003738" y="1936532"/>
          <a:ext cx="10184524" cy="3791606"/>
        </p:xfrm>
        <a:graphic>
          <a:graphicData uri="http://schemas.openxmlformats.org/drawingml/2006/table">
            <a:tbl>
              <a:tblPr firstRow="1" bandRow="1">
                <a:tableStyleId>{5C22544A-7EE6-4342-B048-85BDC9FD1C3A}</a:tableStyleId>
              </a:tblPr>
              <a:tblGrid>
                <a:gridCol w="5092262">
                  <a:extLst>
                    <a:ext uri="{9D8B030D-6E8A-4147-A177-3AD203B41FA5}">
                      <a16:colId xmlns:a16="http://schemas.microsoft.com/office/drawing/2014/main" val="20000"/>
                    </a:ext>
                  </a:extLst>
                </a:gridCol>
                <a:gridCol w="5092262">
                  <a:extLst>
                    <a:ext uri="{9D8B030D-6E8A-4147-A177-3AD203B41FA5}">
                      <a16:colId xmlns:a16="http://schemas.microsoft.com/office/drawing/2014/main" val="20001"/>
                    </a:ext>
                  </a:extLst>
                </a:gridCol>
              </a:tblGrid>
              <a:tr h="370840">
                <a:tc>
                  <a:txBody>
                    <a:bodyPr/>
                    <a:lstStyle/>
                    <a:p>
                      <a:pPr algn="ctr"/>
                      <a:r>
                        <a:rPr lang="fr-CA" dirty="0"/>
                        <a:t>IFRS</a:t>
                      </a:r>
                    </a:p>
                  </a:txBody>
                  <a:tcPr/>
                </a:tc>
                <a:tc>
                  <a:txBody>
                    <a:bodyPr/>
                    <a:lstStyle/>
                    <a:p>
                      <a:pPr algn="ctr"/>
                      <a:r>
                        <a:rPr lang="fr-CA" dirty="0"/>
                        <a:t>NCECF</a:t>
                      </a:r>
                    </a:p>
                  </a:txBody>
                  <a:tcPr/>
                </a:tc>
                <a:extLst>
                  <a:ext uri="{0D108BD9-81ED-4DB2-BD59-A6C34878D82A}">
                    <a16:rowId xmlns:a16="http://schemas.microsoft.com/office/drawing/2014/main" val="10000"/>
                  </a:ext>
                </a:extLst>
              </a:tr>
              <a:tr h="370840">
                <a:tc>
                  <a:txBody>
                    <a:bodyPr/>
                    <a:lstStyle/>
                    <a:p>
                      <a:r>
                        <a:rPr lang="fr-CA" b="1" dirty="0"/>
                        <a:t>Juste</a:t>
                      </a:r>
                      <a:r>
                        <a:rPr lang="fr-CA" b="1" baseline="0" dirty="0"/>
                        <a:t> valeur</a:t>
                      </a:r>
                      <a:endParaRPr lang="fr-CA" b="0" baseline="0" dirty="0"/>
                    </a:p>
                    <a:p>
                      <a:r>
                        <a:rPr lang="fr-CA" b="0" baseline="0" dirty="0"/>
                        <a:t>Prix qui serait reçu pour la vente d’un actif ou payé pour le transfert d’un passif lors d’une transaction normale entre des intervenants du marché à la date d’évaluation</a:t>
                      </a:r>
                      <a:endParaRPr lang="fr-CA" b="1" dirty="0"/>
                    </a:p>
                  </a:txBody>
                  <a:tcPr/>
                </a:tc>
                <a:tc>
                  <a:txBody>
                    <a:bodyPr/>
                    <a:lstStyle/>
                    <a:p>
                      <a:r>
                        <a:rPr lang="fr-CA" dirty="0"/>
                        <a:t>idem</a:t>
                      </a:r>
                    </a:p>
                  </a:txBody>
                  <a:tcPr/>
                </a:tc>
                <a:extLst>
                  <a:ext uri="{0D108BD9-81ED-4DB2-BD59-A6C34878D82A}">
                    <a16:rowId xmlns:a16="http://schemas.microsoft.com/office/drawing/2014/main" val="10001"/>
                  </a:ext>
                </a:extLst>
              </a:tr>
              <a:tr h="1957726">
                <a:tc>
                  <a:txBody>
                    <a:bodyPr/>
                    <a:lstStyle/>
                    <a:p>
                      <a:r>
                        <a:rPr lang="fr-CA" b="1" dirty="0"/>
                        <a:t>Coût présumé</a:t>
                      </a:r>
                    </a:p>
                    <a:p>
                      <a:r>
                        <a:rPr lang="fr-CA" dirty="0"/>
                        <a:t>Montant utilisé comme substitut du coût ou du coût amorti</a:t>
                      </a:r>
                      <a:r>
                        <a:rPr lang="fr-CA" baseline="0" dirty="0"/>
                        <a:t> à une date donnée. L’amortissement ultérieur suppose que l’entité avait initialement comptabilisé l’actif ou le passif à la date donnée et que son coût était égal au coût présumé</a:t>
                      </a:r>
                      <a:endParaRPr lang="fr-CA" dirty="0"/>
                    </a:p>
                  </a:txBody>
                  <a:tcPr/>
                </a:tc>
                <a:tc>
                  <a:txBody>
                    <a:bodyPr/>
                    <a:lstStyle/>
                    <a:p>
                      <a:r>
                        <a:rPr lang="fr-CA" b="1" dirty="0"/>
                        <a:t>Coût réputé</a:t>
                      </a:r>
                    </a:p>
                    <a:p>
                      <a:r>
                        <a:rPr lang="fr-CA" b="0" dirty="0"/>
                        <a:t>idem</a:t>
                      </a:r>
                    </a:p>
                  </a:txBody>
                  <a:tcPr/>
                </a:tc>
                <a:extLst>
                  <a:ext uri="{0D108BD9-81ED-4DB2-BD59-A6C34878D82A}">
                    <a16:rowId xmlns:a16="http://schemas.microsoft.com/office/drawing/2014/main" val="10002"/>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7</a:t>
            </a:fld>
            <a:endParaRPr lang="fr-FR"/>
          </a:p>
        </p:txBody>
      </p:sp>
    </p:spTree>
    <p:extLst>
      <p:ext uri="{BB962C8B-B14F-4D97-AF65-F5344CB8AC3E}">
        <p14:creationId xmlns:p14="http://schemas.microsoft.com/office/powerpoint/2010/main" val="1529182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Exceptions à l’application rétrospective des normes du nouveau référentiel</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959639888"/>
              </p:ext>
            </p:extLst>
          </p:nvPr>
        </p:nvGraphicFramePr>
        <p:xfrm>
          <a:off x="966952" y="2073166"/>
          <a:ext cx="10386848" cy="3571240"/>
        </p:xfrm>
        <a:graphic>
          <a:graphicData uri="http://schemas.openxmlformats.org/drawingml/2006/table">
            <a:tbl>
              <a:tblPr firstRow="1" bandRow="1">
                <a:tableStyleId>{5C22544A-7EE6-4342-B048-85BDC9FD1C3A}</a:tableStyleId>
              </a:tblPr>
              <a:tblGrid>
                <a:gridCol w="5801710">
                  <a:extLst>
                    <a:ext uri="{9D8B030D-6E8A-4147-A177-3AD203B41FA5}">
                      <a16:colId xmlns:a16="http://schemas.microsoft.com/office/drawing/2014/main" val="20000"/>
                    </a:ext>
                  </a:extLst>
                </a:gridCol>
                <a:gridCol w="4585138">
                  <a:extLst>
                    <a:ext uri="{9D8B030D-6E8A-4147-A177-3AD203B41FA5}">
                      <a16:colId xmlns:a16="http://schemas.microsoft.com/office/drawing/2014/main" val="20001"/>
                    </a:ext>
                  </a:extLst>
                </a:gridCol>
              </a:tblGrid>
              <a:tr h="370840">
                <a:tc>
                  <a:txBody>
                    <a:bodyPr/>
                    <a:lstStyle/>
                    <a:p>
                      <a:pPr algn="ctr"/>
                      <a:r>
                        <a:rPr lang="fr-CA" dirty="0"/>
                        <a:t>IFRS</a:t>
                      </a:r>
                    </a:p>
                  </a:txBody>
                  <a:tcPr/>
                </a:tc>
                <a:tc>
                  <a:txBody>
                    <a:bodyPr/>
                    <a:lstStyle/>
                    <a:p>
                      <a:pPr algn="ctr"/>
                      <a:r>
                        <a:rPr lang="fr-CA" dirty="0"/>
                        <a:t>NCECF</a:t>
                      </a:r>
                    </a:p>
                  </a:txBody>
                  <a:tcPr/>
                </a:tc>
                <a:extLst>
                  <a:ext uri="{0D108BD9-81ED-4DB2-BD59-A6C34878D82A}">
                    <a16:rowId xmlns:a16="http://schemas.microsoft.com/office/drawing/2014/main" val="10000"/>
                  </a:ext>
                </a:extLst>
              </a:tr>
              <a:tr h="370840">
                <a:tc>
                  <a:txBody>
                    <a:bodyPr/>
                    <a:lstStyle/>
                    <a:p>
                      <a:r>
                        <a:rPr lang="fr-CA" b="1" dirty="0" err="1"/>
                        <a:t>Décomptabilisation</a:t>
                      </a:r>
                      <a:r>
                        <a:rPr lang="fr-CA" b="1" dirty="0"/>
                        <a:t> d’actifs financiers et de passifs financiers</a:t>
                      </a:r>
                      <a:endParaRPr lang="fr-CA" b="0" baseline="0" dirty="0"/>
                    </a:p>
                    <a:p>
                      <a:r>
                        <a:rPr lang="fr-CA" b="0" baseline="0" dirty="0"/>
                        <a:t>Application prospective des dispositions de </a:t>
                      </a:r>
                      <a:r>
                        <a:rPr lang="fr-CA" b="0" baseline="0" dirty="0" err="1"/>
                        <a:t>décomptabilisation</a:t>
                      </a:r>
                      <a:r>
                        <a:rPr lang="fr-CA" b="0" baseline="0" dirty="0"/>
                        <a:t> d’IFRS 9 aux transactions réalisées à compter de la date de transition aux IFRS</a:t>
                      </a:r>
                    </a:p>
                    <a:p>
                      <a:pPr marL="285750" indent="-285750">
                        <a:buFont typeface="Wingdings" panose="05000000000000000000" pitchFamily="2" charset="2"/>
                        <a:buChar char="§"/>
                      </a:pPr>
                      <a:r>
                        <a:rPr lang="fr-CA" b="0" baseline="0" dirty="0"/>
                        <a:t>Ne pas comptabiliser des actifs et passifs financiers </a:t>
                      </a:r>
                      <a:r>
                        <a:rPr lang="fr-CA" b="0" baseline="0" dirty="0" err="1"/>
                        <a:t>décomptabilisés</a:t>
                      </a:r>
                      <a:r>
                        <a:rPr lang="fr-CA" b="0" baseline="0" dirty="0"/>
                        <a:t> selon l’ancien référentiel</a:t>
                      </a:r>
                      <a:endParaRPr lang="fr-CA" b="1" dirty="0"/>
                    </a:p>
                  </a:txBody>
                  <a:tcPr/>
                </a:tc>
                <a:tc>
                  <a:txBody>
                    <a:bodyPr/>
                    <a:lstStyle/>
                    <a:p>
                      <a:r>
                        <a:rPr lang="fr-CA" dirty="0"/>
                        <a:t>Idem</a:t>
                      </a:r>
                    </a:p>
                  </a:txBody>
                  <a:tcPr/>
                </a:tc>
                <a:extLst>
                  <a:ext uri="{0D108BD9-81ED-4DB2-BD59-A6C34878D82A}">
                    <a16:rowId xmlns:a16="http://schemas.microsoft.com/office/drawing/2014/main" val="10001"/>
                  </a:ext>
                </a:extLst>
              </a:tr>
              <a:tr h="370840">
                <a:tc>
                  <a:txBody>
                    <a:bodyPr/>
                    <a:lstStyle/>
                    <a:p>
                      <a:r>
                        <a:rPr lang="fr-CA" b="1" dirty="0"/>
                        <a:t>Comptabilité</a:t>
                      </a:r>
                      <a:r>
                        <a:rPr lang="fr-CA" b="1" baseline="0" dirty="0"/>
                        <a:t> de couverture</a:t>
                      </a:r>
                      <a:endParaRPr lang="fr-CA" b="1" dirty="0"/>
                    </a:p>
                    <a:p>
                      <a:r>
                        <a:rPr lang="fr-CA" dirty="0"/>
                        <a:t>Uniquement si satisfait</a:t>
                      </a:r>
                      <a:r>
                        <a:rPr lang="fr-CA" baseline="0" dirty="0"/>
                        <a:t> aux conditions requises par IFRS 9 et qu’était désigné comme élément couvert selon l’ancien référentiel </a:t>
                      </a:r>
                      <a:endParaRPr lang="fr-CA" dirty="0"/>
                    </a:p>
                  </a:txBody>
                  <a:tcPr/>
                </a:tc>
                <a:tc>
                  <a:txBody>
                    <a:bodyPr/>
                    <a:lstStyle/>
                    <a:p>
                      <a:r>
                        <a:rPr lang="fr-CA" dirty="0"/>
                        <a:t>Idem</a:t>
                      </a:r>
                    </a:p>
                  </a:txBody>
                  <a:tcPr/>
                </a:tc>
                <a:extLst>
                  <a:ext uri="{0D108BD9-81ED-4DB2-BD59-A6C34878D82A}">
                    <a16:rowId xmlns:a16="http://schemas.microsoft.com/office/drawing/2014/main" val="10002"/>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8</a:t>
            </a:fld>
            <a:endParaRPr lang="fr-FR"/>
          </a:p>
        </p:txBody>
      </p:sp>
    </p:spTree>
    <p:extLst>
      <p:ext uri="{BB962C8B-B14F-4D97-AF65-F5344CB8AC3E}">
        <p14:creationId xmlns:p14="http://schemas.microsoft.com/office/powerpoint/2010/main" val="1371183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Exceptions à l’application rétrospective des normes du nouveau référentiel</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962239158"/>
              </p:ext>
            </p:extLst>
          </p:nvPr>
        </p:nvGraphicFramePr>
        <p:xfrm>
          <a:off x="987972" y="2123961"/>
          <a:ext cx="10604938" cy="3754120"/>
        </p:xfrm>
        <a:graphic>
          <a:graphicData uri="http://schemas.openxmlformats.org/drawingml/2006/table">
            <a:tbl>
              <a:tblPr firstRow="1" bandRow="1">
                <a:tableStyleId>{5C22544A-7EE6-4342-B048-85BDC9FD1C3A}</a:tableStyleId>
              </a:tblPr>
              <a:tblGrid>
                <a:gridCol w="6212316">
                  <a:extLst>
                    <a:ext uri="{9D8B030D-6E8A-4147-A177-3AD203B41FA5}">
                      <a16:colId xmlns:a16="http://schemas.microsoft.com/office/drawing/2014/main" val="20000"/>
                    </a:ext>
                  </a:extLst>
                </a:gridCol>
                <a:gridCol w="4392622">
                  <a:extLst>
                    <a:ext uri="{9D8B030D-6E8A-4147-A177-3AD203B41FA5}">
                      <a16:colId xmlns:a16="http://schemas.microsoft.com/office/drawing/2014/main" val="20001"/>
                    </a:ext>
                  </a:extLst>
                </a:gridCol>
              </a:tblGrid>
              <a:tr h="370840">
                <a:tc>
                  <a:txBody>
                    <a:bodyPr/>
                    <a:lstStyle/>
                    <a:p>
                      <a:pPr algn="ctr"/>
                      <a:r>
                        <a:rPr lang="fr-CA" dirty="0"/>
                        <a:t>IFRS</a:t>
                      </a:r>
                    </a:p>
                  </a:txBody>
                  <a:tcPr/>
                </a:tc>
                <a:tc>
                  <a:txBody>
                    <a:bodyPr/>
                    <a:lstStyle/>
                    <a:p>
                      <a:pPr algn="ctr"/>
                      <a:r>
                        <a:rPr lang="fr-CA" dirty="0"/>
                        <a:t>NCECF</a:t>
                      </a:r>
                    </a:p>
                  </a:txBody>
                  <a:tcPr/>
                </a:tc>
                <a:extLst>
                  <a:ext uri="{0D108BD9-81ED-4DB2-BD59-A6C34878D82A}">
                    <a16:rowId xmlns:a16="http://schemas.microsoft.com/office/drawing/2014/main" val="10000"/>
                  </a:ext>
                </a:extLst>
              </a:tr>
              <a:tr h="370840">
                <a:tc>
                  <a:txBody>
                    <a:bodyPr/>
                    <a:lstStyle/>
                    <a:p>
                      <a:r>
                        <a:rPr lang="fr-CA" b="1" dirty="0"/>
                        <a:t>Participation</a:t>
                      </a:r>
                      <a:r>
                        <a:rPr lang="fr-CA" b="1" baseline="0" dirty="0"/>
                        <a:t> ne donnant pas le contrôle</a:t>
                      </a:r>
                      <a:endParaRPr lang="fr-CA" b="0" baseline="0" dirty="0"/>
                    </a:p>
                    <a:p>
                      <a:r>
                        <a:rPr lang="fr-CA" b="0" baseline="0" dirty="0"/>
                        <a:t>Adoption prospective de certaines dispositions d’IFRS 10 à compter de la date de transition aux IFRS (sauf si adopte à titre rétrospectif IFRS 3 à des regroupements d’entreprises passés) : </a:t>
                      </a:r>
                    </a:p>
                    <a:p>
                      <a:pPr marL="285750" indent="-285750">
                        <a:buFont typeface="Arial" panose="020B0604020202020204" pitchFamily="34" charset="0"/>
                        <a:buChar char="•"/>
                      </a:pPr>
                      <a:r>
                        <a:rPr lang="fr-CA" b="0" baseline="0" dirty="0"/>
                        <a:t>Attribution du résultat global entre les propriétaires de la société mère et aux détenteurs de participations ne donnant pas le contrôle</a:t>
                      </a:r>
                    </a:p>
                    <a:p>
                      <a:pPr marL="285750" indent="-285750">
                        <a:buFont typeface="Arial" panose="020B0604020202020204" pitchFamily="34" charset="0"/>
                        <a:buChar char="•"/>
                      </a:pPr>
                      <a:r>
                        <a:rPr lang="fr-CA" b="0" baseline="0" dirty="0"/>
                        <a:t>Comptabilisation des modifications du % de détention qui ne se traduisent pas par la perte du contrôle</a:t>
                      </a:r>
                    </a:p>
                    <a:p>
                      <a:pPr marL="285750" indent="-285750">
                        <a:buFont typeface="Arial" panose="020B0604020202020204" pitchFamily="34" charset="0"/>
                        <a:buChar char="•"/>
                      </a:pPr>
                      <a:r>
                        <a:rPr lang="fr-CA" b="0" dirty="0"/>
                        <a:t>Comptabilisation de la perte du contrôle d’une filiale</a:t>
                      </a:r>
                      <a:r>
                        <a:rPr lang="fr-CA" b="0" baseline="0" dirty="0"/>
                        <a:t> et dispositions liées de IFRS 5 Actifs non courants détenus en vue de la vente et activités abandonnées</a:t>
                      </a:r>
                      <a:endParaRPr lang="fr-CA" b="0" dirty="0"/>
                    </a:p>
                  </a:txBody>
                  <a:tcPr/>
                </a:tc>
                <a:tc>
                  <a:txBody>
                    <a:bodyPr/>
                    <a:lstStyle/>
                    <a:p>
                      <a:r>
                        <a:rPr lang="fr-CA" dirty="0"/>
                        <a:t>idem</a:t>
                      </a:r>
                    </a:p>
                  </a:txBody>
                  <a:tcPr/>
                </a:tc>
                <a:extLst>
                  <a:ext uri="{0D108BD9-81ED-4DB2-BD59-A6C34878D82A}">
                    <a16:rowId xmlns:a16="http://schemas.microsoft.com/office/drawing/2014/main" val="10001"/>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9</a:t>
            </a:fld>
            <a:endParaRPr lang="fr-FR"/>
          </a:p>
        </p:txBody>
      </p:sp>
    </p:spTree>
    <p:extLst>
      <p:ext uri="{BB962C8B-B14F-4D97-AF65-F5344CB8AC3E}">
        <p14:creationId xmlns:p14="http://schemas.microsoft.com/office/powerpoint/2010/main" val="3475964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Exceptions à l’application rétrospective des normes du nouveau référentiel</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2519808675"/>
              </p:ext>
            </p:extLst>
          </p:nvPr>
        </p:nvGraphicFramePr>
        <p:xfrm>
          <a:off x="945930" y="2067730"/>
          <a:ext cx="10407870" cy="3845560"/>
        </p:xfrm>
        <a:graphic>
          <a:graphicData uri="http://schemas.openxmlformats.org/drawingml/2006/table">
            <a:tbl>
              <a:tblPr firstRow="1" bandRow="1">
                <a:tableStyleId>{5C22544A-7EE6-4342-B048-85BDC9FD1C3A}</a:tableStyleId>
              </a:tblPr>
              <a:tblGrid>
                <a:gridCol w="5203935">
                  <a:extLst>
                    <a:ext uri="{9D8B030D-6E8A-4147-A177-3AD203B41FA5}">
                      <a16:colId xmlns:a16="http://schemas.microsoft.com/office/drawing/2014/main" val="20000"/>
                    </a:ext>
                  </a:extLst>
                </a:gridCol>
                <a:gridCol w="5203935">
                  <a:extLst>
                    <a:ext uri="{9D8B030D-6E8A-4147-A177-3AD203B41FA5}">
                      <a16:colId xmlns:a16="http://schemas.microsoft.com/office/drawing/2014/main" val="20001"/>
                    </a:ext>
                  </a:extLst>
                </a:gridCol>
              </a:tblGrid>
              <a:tr h="370840">
                <a:tc>
                  <a:txBody>
                    <a:bodyPr/>
                    <a:lstStyle/>
                    <a:p>
                      <a:pPr algn="ctr"/>
                      <a:r>
                        <a:rPr lang="fr-CA" dirty="0"/>
                        <a:t>IFRS</a:t>
                      </a:r>
                    </a:p>
                  </a:txBody>
                  <a:tcPr/>
                </a:tc>
                <a:tc>
                  <a:txBody>
                    <a:bodyPr/>
                    <a:lstStyle/>
                    <a:p>
                      <a:pPr algn="ctr"/>
                      <a:r>
                        <a:rPr lang="fr-CA" dirty="0"/>
                        <a:t>NCECF</a:t>
                      </a:r>
                    </a:p>
                  </a:txBody>
                  <a:tcPr/>
                </a:tc>
                <a:extLst>
                  <a:ext uri="{0D108BD9-81ED-4DB2-BD59-A6C34878D82A}">
                    <a16:rowId xmlns:a16="http://schemas.microsoft.com/office/drawing/2014/main" val="10000"/>
                  </a:ext>
                </a:extLst>
              </a:tr>
              <a:tr h="370840">
                <a:tc>
                  <a:txBody>
                    <a:bodyPr/>
                    <a:lstStyle/>
                    <a:p>
                      <a:r>
                        <a:rPr lang="fr-CA" b="1" baseline="0" dirty="0"/>
                        <a:t>Classement et évaluation des instruments financiers</a:t>
                      </a:r>
                    </a:p>
                    <a:p>
                      <a:r>
                        <a:rPr lang="fr-CA" b="0" baseline="0" dirty="0"/>
                        <a:t>Une entité doit apprécier si un actif financier remplit les conditions d’IFRS 9 en fonction des faits et des circonstances qui existent à la date de transition aux IFRS.</a:t>
                      </a:r>
                    </a:p>
                    <a:p>
                      <a:pPr marL="285750" indent="-285750">
                        <a:buFont typeface="Arial" panose="020B0604020202020204" pitchFamily="34" charset="0"/>
                        <a:buChar char="•"/>
                      </a:pPr>
                      <a:r>
                        <a:rPr lang="fr-CA" b="0" baseline="0" dirty="0"/>
                        <a:t>Quelques allègements si l’information n’est pas disponible. </a:t>
                      </a:r>
                    </a:p>
                  </a:txBody>
                  <a:tcPr/>
                </a:tc>
                <a:tc>
                  <a:txBody>
                    <a:bodyPr/>
                    <a:lstStyle/>
                    <a:p>
                      <a:endParaRPr lang="fr-CA" dirty="0"/>
                    </a:p>
                  </a:txBody>
                  <a:tcPr/>
                </a:tc>
                <a:extLst>
                  <a:ext uri="{0D108BD9-81ED-4DB2-BD59-A6C34878D82A}">
                    <a16:rowId xmlns:a16="http://schemas.microsoft.com/office/drawing/2014/main" val="10001"/>
                  </a:ext>
                </a:extLst>
              </a:tr>
              <a:tr h="370840">
                <a:tc>
                  <a:txBody>
                    <a:bodyPr/>
                    <a:lstStyle/>
                    <a:p>
                      <a:r>
                        <a:rPr lang="fr-CA" b="1" dirty="0"/>
                        <a:t>Dépréciation</a:t>
                      </a:r>
                      <a:r>
                        <a:rPr lang="fr-CA" b="1" baseline="0" dirty="0"/>
                        <a:t> d’actifs financiers</a:t>
                      </a:r>
                      <a:endParaRPr lang="fr-CA" b="1" dirty="0"/>
                    </a:p>
                    <a:p>
                      <a:r>
                        <a:rPr lang="fr-CA" dirty="0"/>
                        <a:t>Application rétrospective des dispositions en matière de dépréciation d’IFRS 9</a:t>
                      </a:r>
                    </a:p>
                    <a:p>
                      <a:pPr marL="285750" indent="-285750">
                        <a:buFont typeface="Wingdings" panose="05000000000000000000" pitchFamily="2" charset="2"/>
                        <a:buChar char="Ø"/>
                      </a:pPr>
                      <a:r>
                        <a:rPr lang="fr-CA" dirty="0"/>
                        <a:t>Sauf si les coût ou</a:t>
                      </a:r>
                      <a:r>
                        <a:rPr lang="fr-CA" baseline="0" dirty="0"/>
                        <a:t> les efforts requis sont déraisonnables</a:t>
                      </a:r>
                      <a:endParaRPr lang="fr-CA" dirty="0"/>
                    </a:p>
                  </a:txBody>
                  <a:tcPr/>
                </a:tc>
                <a:tc>
                  <a:txBody>
                    <a:bodyPr/>
                    <a:lstStyle/>
                    <a:p>
                      <a:endParaRPr lang="fr-CA" dirty="0"/>
                    </a:p>
                  </a:txBody>
                  <a:tcPr/>
                </a:tc>
                <a:extLst>
                  <a:ext uri="{0D108BD9-81ED-4DB2-BD59-A6C34878D82A}">
                    <a16:rowId xmlns:a16="http://schemas.microsoft.com/office/drawing/2014/main" val="10002"/>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10</a:t>
            </a:fld>
            <a:endParaRPr lang="fr-FR"/>
          </a:p>
        </p:txBody>
      </p:sp>
    </p:spTree>
    <p:extLst>
      <p:ext uri="{BB962C8B-B14F-4D97-AF65-F5344CB8AC3E}">
        <p14:creationId xmlns:p14="http://schemas.microsoft.com/office/powerpoint/2010/main" val="3339054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07325" y="530334"/>
            <a:ext cx="10577349" cy="743934"/>
          </a:xfrm>
        </p:spPr>
        <p:txBody>
          <a:bodyPr>
            <a:normAutofit fontScale="90000"/>
          </a:bodyPr>
          <a:lstStyle/>
          <a:p>
            <a:r>
              <a:rPr lang="fr-CA" dirty="0"/>
              <a:t>Exceptions à l’application rétrospective des normes du nouveau référentiel</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3358864956"/>
              </p:ext>
            </p:extLst>
          </p:nvPr>
        </p:nvGraphicFramePr>
        <p:xfrm>
          <a:off x="776451" y="1625567"/>
          <a:ext cx="10639098" cy="4730783"/>
        </p:xfrm>
        <a:graphic>
          <a:graphicData uri="http://schemas.openxmlformats.org/drawingml/2006/table">
            <a:tbl>
              <a:tblPr firstRow="1" bandRow="1">
                <a:tableStyleId>{5C22544A-7EE6-4342-B048-85BDC9FD1C3A}</a:tableStyleId>
              </a:tblPr>
              <a:tblGrid>
                <a:gridCol w="5814849">
                  <a:extLst>
                    <a:ext uri="{9D8B030D-6E8A-4147-A177-3AD203B41FA5}">
                      <a16:colId xmlns:a16="http://schemas.microsoft.com/office/drawing/2014/main" val="20000"/>
                    </a:ext>
                  </a:extLst>
                </a:gridCol>
                <a:gridCol w="4824249">
                  <a:extLst>
                    <a:ext uri="{9D8B030D-6E8A-4147-A177-3AD203B41FA5}">
                      <a16:colId xmlns:a16="http://schemas.microsoft.com/office/drawing/2014/main" val="20001"/>
                    </a:ext>
                  </a:extLst>
                </a:gridCol>
              </a:tblGrid>
              <a:tr h="350303">
                <a:tc>
                  <a:txBody>
                    <a:bodyPr/>
                    <a:lstStyle/>
                    <a:p>
                      <a:pPr algn="ctr"/>
                      <a:r>
                        <a:rPr lang="fr-CA" dirty="0"/>
                        <a:t>IFRS</a:t>
                      </a:r>
                    </a:p>
                  </a:txBody>
                  <a:tcPr/>
                </a:tc>
                <a:tc>
                  <a:txBody>
                    <a:bodyPr/>
                    <a:lstStyle/>
                    <a:p>
                      <a:pPr algn="ctr"/>
                      <a:r>
                        <a:rPr lang="fr-CA" dirty="0"/>
                        <a:t>NCECF</a:t>
                      </a:r>
                    </a:p>
                  </a:txBody>
                  <a:tcPr/>
                </a:tc>
                <a:extLst>
                  <a:ext uri="{0D108BD9-81ED-4DB2-BD59-A6C34878D82A}">
                    <a16:rowId xmlns:a16="http://schemas.microsoft.com/office/drawing/2014/main" val="10000"/>
                  </a:ext>
                </a:extLst>
              </a:tr>
              <a:tr h="2159400">
                <a:tc>
                  <a:txBody>
                    <a:bodyPr/>
                    <a:lstStyle/>
                    <a:p>
                      <a:r>
                        <a:rPr lang="fr-CA" b="1" baseline="0" dirty="0"/>
                        <a:t>Dérivés incorporés</a:t>
                      </a:r>
                    </a:p>
                    <a:p>
                      <a:r>
                        <a:rPr lang="fr-CA" b="0" baseline="0" dirty="0"/>
                        <a:t>Séparer un dérivé du contrat hôte et comptabiliser en tant que dérivé en fonction des conditions qui existaient à la date à laquelle il est devenu partie au contrat ou à la date à laquelle un réexamen est requis par IFRS 9 si celle-ci est postérieure</a:t>
                      </a:r>
                    </a:p>
                  </a:txBody>
                  <a:tcPr/>
                </a:tc>
                <a:tc>
                  <a:txBody>
                    <a:bodyPr/>
                    <a:lstStyle/>
                    <a:p>
                      <a:endParaRPr lang="fr-CA" dirty="0"/>
                    </a:p>
                  </a:txBody>
                  <a:tcPr/>
                </a:tc>
                <a:extLst>
                  <a:ext uri="{0D108BD9-81ED-4DB2-BD59-A6C34878D82A}">
                    <a16:rowId xmlns:a16="http://schemas.microsoft.com/office/drawing/2014/main" val="10001"/>
                  </a:ext>
                </a:extLst>
              </a:tr>
              <a:tr h="2205623">
                <a:tc>
                  <a:txBody>
                    <a:bodyPr/>
                    <a:lstStyle/>
                    <a:p>
                      <a:r>
                        <a:rPr lang="fr-CA" b="1" dirty="0"/>
                        <a:t>Prêts publics</a:t>
                      </a:r>
                    </a:p>
                    <a:p>
                      <a:r>
                        <a:rPr lang="fr-CA" b="0" dirty="0"/>
                        <a:t>Classement des prêts publics reçus</a:t>
                      </a:r>
                      <a:r>
                        <a:rPr lang="fr-CA" b="0" baseline="0" dirty="0"/>
                        <a:t> soit en tant que passif financier ou en tant qu’instrument de capitaux propres selon IAS 32</a:t>
                      </a:r>
                    </a:p>
                    <a:p>
                      <a:r>
                        <a:rPr lang="fr-CA" b="0" baseline="0" dirty="0"/>
                        <a:t>Toutefois, application prospective des subventions publiques – avantage tiré d’un prêt public assorti d’un taux d’intérêt inférieur au marché. Évaluation subséquente selon IFRS 9</a:t>
                      </a:r>
                      <a:endParaRPr lang="fr-CA" b="0" dirty="0"/>
                    </a:p>
                  </a:txBody>
                  <a:tcPr/>
                </a:tc>
                <a:tc>
                  <a:txBody>
                    <a:bodyPr/>
                    <a:lstStyle/>
                    <a:p>
                      <a:endParaRPr lang="fr-CA" dirty="0"/>
                    </a:p>
                  </a:txBody>
                  <a:tcPr/>
                </a:tc>
                <a:extLst>
                  <a:ext uri="{0D108BD9-81ED-4DB2-BD59-A6C34878D82A}">
                    <a16:rowId xmlns:a16="http://schemas.microsoft.com/office/drawing/2014/main" val="10002"/>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11</a:t>
            </a:fld>
            <a:endParaRPr lang="fr-FR"/>
          </a:p>
        </p:txBody>
      </p:sp>
    </p:spTree>
    <p:extLst>
      <p:ext uri="{BB962C8B-B14F-4D97-AF65-F5344CB8AC3E}">
        <p14:creationId xmlns:p14="http://schemas.microsoft.com/office/powerpoint/2010/main" val="324937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Exceptions pour les regroupements d’entreprises</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2082975442"/>
              </p:ext>
            </p:extLst>
          </p:nvPr>
        </p:nvGraphicFramePr>
        <p:xfrm>
          <a:off x="825059" y="2209800"/>
          <a:ext cx="10515598" cy="2931160"/>
        </p:xfrm>
        <a:graphic>
          <a:graphicData uri="http://schemas.openxmlformats.org/drawingml/2006/table">
            <a:tbl>
              <a:tblPr firstRow="1" bandRow="1">
                <a:tableStyleId>{5C22544A-7EE6-4342-B048-85BDC9FD1C3A}</a:tableStyleId>
              </a:tblPr>
              <a:tblGrid>
                <a:gridCol w="5257799">
                  <a:extLst>
                    <a:ext uri="{9D8B030D-6E8A-4147-A177-3AD203B41FA5}">
                      <a16:colId xmlns:a16="http://schemas.microsoft.com/office/drawing/2014/main" val="20000"/>
                    </a:ext>
                  </a:extLst>
                </a:gridCol>
                <a:gridCol w="5257799">
                  <a:extLst>
                    <a:ext uri="{9D8B030D-6E8A-4147-A177-3AD203B41FA5}">
                      <a16:colId xmlns:a16="http://schemas.microsoft.com/office/drawing/2014/main" val="20001"/>
                    </a:ext>
                  </a:extLst>
                </a:gridCol>
              </a:tblGrid>
              <a:tr h="370840">
                <a:tc>
                  <a:txBody>
                    <a:bodyPr/>
                    <a:lstStyle/>
                    <a:p>
                      <a:pPr algn="ctr"/>
                      <a:r>
                        <a:rPr lang="fr-CA" dirty="0"/>
                        <a:t>IFRS</a:t>
                      </a:r>
                    </a:p>
                  </a:txBody>
                  <a:tcPr/>
                </a:tc>
                <a:tc>
                  <a:txBody>
                    <a:bodyPr/>
                    <a:lstStyle/>
                    <a:p>
                      <a:pPr algn="ctr"/>
                      <a:r>
                        <a:rPr lang="fr-CA" dirty="0"/>
                        <a:t>NCECF</a:t>
                      </a:r>
                    </a:p>
                  </a:txBody>
                  <a:tcPr/>
                </a:tc>
                <a:extLst>
                  <a:ext uri="{0D108BD9-81ED-4DB2-BD59-A6C34878D82A}">
                    <a16:rowId xmlns:a16="http://schemas.microsoft.com/office/drawing/2014/main" val="10000"/>
                  </a:ext>
                </a:extLst>
              </a:tr>
              <a:tr h="370840">
                <a:tc>
                  <a:txBody>
                    <a:bodyPr/>
                    <a:lstStyle/>
                    <a:p>
                      <a:r>
                        <a:rPr lang="fr-CA" b="0" baseline="0" dirty="0"/>
                        <a:t>Choix de ne pas appliquer rétrospectivement IFRS 3 à des regroupements d’entreprises produits avant la date de transition aux IFRS.</a:t>
                      </a:r>
                    </a:p>
                    <a:p>
                      <a:pPr marL="285750" indent="-285750">
                        <a:buFont typeface="Arial" panose="020B0604020202020204" pitchFamily="34" charset="0"/>
                        <a:buChar char="•"/>
                      </a:pPr>
                      <a:r>
                        <a:rPr lang="fr-CA" b="0" baseline="0" dirty="0"/>
                        <a:t>Évaluation à la date de transition (ajustement aux RND)</a:t>
                      </a:r>
                    </a:p>
                    <a:p>
                      <a:pPr marL="285750" indent="-285750">
                        <a:buFont typeface="Arial" panose="020B0604020202020204" pitchFamily="34" charset="0"/>
                        <a:buChar char="•"/>
                      </a:pPr>
                      <a:r>
                        <a:rPr lang="fr-CA" b="0" baseline="0" dirty="0"/>
                        <a:t>Goodwill : valeur comptable de l’ancien référentiel, ajustée pour les actifs incorporels si reclassement, mais application du test de dépréciation du goodwill à la date de transition aux IFRS</a:t>
                      </a:r>
                    </a:p>
                  </a:txBody>
                  <a:tcPr/>
                </a:tc>
                <a:tc>
                  <a:txBody>
                    <a:bodyPr/>
                    <a:lstStyle/>
                    <a:p>
                      <a:r>
                        <a:rPr lang="fr-CA" dirty="0"/>
                        <a:t>Idem</a:t>
                      </a:r>
                      <a:r>
                        <a:rPr lang="fr-CA" baseline="0" dirty="0"/>
                        <a:t> – Chap. 1582</a:t>
                      </a:r>
                      <a:endParaRPr lang="fr-CA" dirty="0"/>
                    </a:p>
                  </a:txBody>
                  <a:tcPr/>
                </a:tc>
                <a:extLst>
                  <a:ext uri="{0D108BD9-81ED-4DB2-BD59-A6C34878D82A}">
                    <a16:rowId xmlns:a16="http://schemas.microsoft.com/office/drawing/2014/main" val="10001"/>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12</a:t>
            </a:fld>
            <a:endParaRPr lang="fr-FR"/>
          </a:p>
        </p:txBody>
      </p:sp>
    </p:spTree>
    <p:extLst>
      <p:ext uri="{BB962C8B-B14F-4D97-AF65-F5344CB8AC3E}">
        <p14:creationId xmlns:p14="http://schemas.microsoft.com/office/powerpoint/2010/main" val="1362282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Autres exceptions</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3953266476"/>
              </p:ext>
            </p:extLst>
          </p:nvPr>
        </p:nvGraphicFramePr>
        <p:xfrm>
          <a:off x="935420" y="1935300"/>
          <a:ext cx="10418380" cy="4089400"/>
        </p:xfrm>
        <a:graphic>
          <a:graphicData uri="http://schemas.openxmlformats.org/drawingml/2006/table">
            <a:tbl>
              <a:tblPr firstRow="1" bandRow="1">
                <a:tableStyleId>{5C22544A-7EE6-4342-B048-85BDC9FD1C3A}</a:tableStyleId>
              </a:tblPr>
              <a:tblGrid>
                <a:gridCol w="5209190">
                  <a:extLst>
                    <a:ext uri="{9D8B030D-6E8A-4147-A177-3AD203B41FA5}">
                      <a16:colId xmlns:a16="http://schemas.microsoft.com/office/drawing/2014/main" val="20000"/>
                    </a:ext>
                  </a:extLst>
                </a:gridCol>
                <a:gridCol w="5209190">
                  <a:extLst>
                    <a:ext uri="{9D8B030D-6E8A-4147-A177-3AD203B41FA5}">
                      <a16:colId xmlns:a16="http://schemas.microsoft.com/office/drawing/2014/main" val="20001"/>
                    </a:ext>
                  </a:extLst>
                </a:gridCol>
              </a:tblGrid>
              <a:tr h="370840">
                <a:tc>
                  <a:txBody>
                    <a:bodyPr/>
                    <a:lstStyle/>
                    <a:p>
                      <a:pPr algn="ctr"/>
                      <a:r>
                        <a:rPr lang="fr-CA" dirty="0"/>
                        <a:t>IFRS</a:t>
                      </a:r>
                    </a:p>
                  </a:txBody>
                  <a:tcPr/>
                </a:tc>
                <a:tc>
                  <a:txBody>
                    <a:bodyPr/>
                    <a:lstStyle/>
                    <a:p>
                      <a:pPr algn="ctr"/>
                      <a:r>
                        <a:rPr lang="fr-CA" dirty="0"/>
                        <a:t>NCECF</a:t>
                      </a:r>
                    </a:p>
                  </a:txBody>
                  <a:tcPr/>
                </a:tc>
                <a:extLst>
                  <a:ext uri="{0D108BD9-81ED-4DB2-BD59-A6C34878D82A}">
                    <a16:rowId xmlns:a16="http://schemas.microsoft.com/office/drawing/2014/main" val="10000"/>
                  </a:ext>
                </a:extLst>
              </a:tr>
              <a:tr h="670560">
                <a:tc>
                  <a:txBody>
                    <a:bodyPr/>
                    <a:lstStyle/>
                    <a:p>
                      <a:r>
                        <a:rPr lang="fr-CA" b="1" baseline="0" dirty="0"/>
                        <a:t>Immobilisation corporelle, incluant immeubles de placement, et immobilisations incorporelles</a:t>
                      </a:r>
                      <a:r>
                        <a:rPr lang="fr-CA" b="0" baseline="0" dirty="0"/>
                        <a:t> </a:t>
                      </a:r>
                    </a:p>
                    <a:p>
                      <a:r>
                        <a:rPr lang="fr-CA" b="0" baseline="0" dirty="0"/>
                        <a:t>Choix d’évaluer à sa juste valeur à la date de transition et d’utiliser cette juste valeur en tant que coût présumé à cette date</a:t>
                      </a:r>
                    </a:p>
                  </a:txBody>
                  <a:tcPr/>
                </a:tc>
                <a:tc>
                  <a:txBody>
                    <a:bodyPr/>
                    <a:lstStyle/>
                    <a:p>
                      <a:r>
                        <a:rPr lang="fr-CA" b="1" dirty="0"/>
                        <a:t>Immobilisations corporelles</a:t>
                      </a:r>
                    </a:p>
                    <a:p>
                      <a:r>
                        <a:rPr lang="fr-CA" b="0" dirty="0"/>
                        <a:t>Idem</a:t>
                      </a:r>
                    </a:p>
                  </a:txBody>
                  <a:tcPr/>
                </a:tc>
                <a:extLst>
                  <a:ext uri="{0D108BD9-81ED-4DB2-BD59-A6C34878D82A}">
                    <a16:rowId xmlns:a16="http://schemas.microsoft.com/office/drawing/2014/main" val="10001"/>
                  </a:ext>
                </a:extLst>
              </a:tr>
              <a:tr h="1341120">
                <a:tc>
                  <a:txBody>
                    <a:bodyPr/>
                    <a:lstStyle/>
                    <a:p>
                      <a:r>
                        <a:rPr lang="fr-CA" b="1" baseline="0" dirty="0"/>
                        <a:t>Montant cumulé des écarts de conversion</a:t>
                      </a:r>
                    </a:p>
                    <a:p>
                      <a:r>
                        <a:rPr lang="fr-CA" b="0" baseline="0" dirty="0"/>
                        <a:t>Choix de mettre à 0 pour tous les établissements à l’étranger</a:t>
                      </a:r>
                    </a:p>
                  </a:txBody>
                  <a:tcPr/>
                </a:tc>
                <a:tc>
                  <a:txBody>
                    <a:bodyPr/>
                    <a:lstStyle/>
                    <a:p>
                      <a:r>
                        <a:rPr lang="fr-CA" dirty="0"/>
                        <a:t>Idem</a:t>
                      </a:r>
                    </a:p>
                  </a:txBody>
                  <a:tcPr/>
                </a:tc>
                <a:extLst>
                  <a:ext uri="{0D108BD9-81ED-4DB2-BD59-A6C34878D82A}">
                    <a16:rowId xmlns:a16="http://schemas.microsoft.com/office/drawing/2014/main" val="10002"/>
                  </a:ext>
                </a:extLst>
              </a:tr>
              <a:tr h="670560">
                <a:tc>
                  <a:txBody>
                    <a:bodyPr/>
                    <a:lstStyle/>
                    <a:p>
                      <a:r>
                        <a:rPr lang="fr-CA" b="1" baseline="0" dirty="0"/>
                        <a:t>Passifs relatifs au démantèlement inclus dans le coût d’une immobilisation corporelle</a:t>
                      </a:r>
                    </a:p>
                    <a:p>
                      <a:r>
                        <a:rPr lang="fr-CA" b="0" baseline="0" dirty="0"/>
                        <a:t>Choix d’évaluer le passif à la date de transition</a:t>
                      </a:r>
                    </a:p>
                  </a:txBody>
                  <a:tcPr/>
                </a:tc>
                <a:tc>
                  <a:txBody>
                    <a:bodyPr/>
                    <a:lstStyle/>
                    <a:p>
                      <a:r>
                        <a:rPr lang="fr-CA" dirty="0"/>
                        <a:t>Idem</a:t>
                      </a:r>
                    </a:p>
                  </a:txBody>
                  <a:tcPr/>
                </a:tc>
                <a:extLst>
                  <a:ext uri="{0D108BD9-81ED-4DB2-BD59-A6C34878D82A}">
                    <a16:rowId xmlns:a16="http://schemas.microsoft.com/office/drawing/2014/main" val="10003"/>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13</a:t>
            </a:fld>
            <a:endParaRPr lang="fr-FR"/>
          </a:p>
        </p:txBody>
      </p:sp>
    </p:spTree>
    <p:extLst>
      <p:ext uri="{BB962C8B-B14F-4D97-AF65-F5344CB8AC3E}">
        <p14:creationId xmlns:p14="http://schemas.microsoft.com/office/powerpoint/2010/main" val="535373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Enjeux</a:t>
            </a:r>
            <a:endParaRPr lang="fr-CA" dirty="0"/>
          </a:p>
        </p:txBody>
      </p:sp>
      <p:sp>
        <p:nvSpPr>
          <p:cNvPr id="3" name="Espace réservé du contenu 2"/>
          <p:cNvSpPr>
            <a:spLocks noGrp="1"/>
          </p:cNvSpPr>
          <p:nvPr>
            <p:ph idx="1"/>
          </p:nvPr>
        </p:nvSpPr>
        <p:spPr/>
        <p:txBody>
          <a:bodyPr/>
          <a:lstStyle/>
          <a:p>
            <a:r>
              <a:rPr lang="fr-CA" dirty="0"/>
              <a:t>Estimations</a:t>
            </a:r>
          </a:p>
          <a:p>
            <a:pPr lvl="1"/>
            <a:r>
              <a:rPr lang="fr-CA" dirty="0"/>
              <a:t>Ne pas corriger les estimations établis à la date de production des EF antérieurs </a:t>
            </a:r>
          </a:p>
          <a:p>
            <a:pPr lvl="2"/>
            <a:r>
              <a:rPr lang="fr-CA" dirty="0"/>
              <a:t>après ajustements destinés à refléter toute différence entre les méthodes comptables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14</a:t>
            </a:fld>
            <a:endParaRPr lang="fr-FR"/>
          </a:p>
        </p:txBody>
      </p:sp>
    </p:spTree>
    <p:extLst>
      <p:ext uri="{BB962C8B-B14F-4D97-AF65-F5344CB8AC3E}">
        <p14:creationId xmlns:p14="http://schemas.microsoft.com/office/powerpoint/2010/main" val="2144424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Choix NCECF qui n’existent pas en IFRS</a:t>
            </a:r>
          </a:p>
        </p:txBody>
      </p:sp>
      <p:sp>
        <p:nvSpPr>
          <p:cNvPr id="3" name="Espace réservé du contenu 2"/>
          <p:cNvSpPr>
            <a:spLocks noGrp="1"/>
          </p:cNvSpPr>
          <p:nvPr>
            <p:ph idx="1"/>
          </p:nvPr>
        </p:nvSpPr>
        <p:spPr/>
        <p:txBody>
          <a:bodyPr/>
          <a:lstStyle/>
          <a:p>
            <a:pPr marL="0" indent="0">
              <a:buNone/>
            </a:pPr>
            <a:r>
              <a:rPr lang="fr-CA" dirty="0"/>
              <a:t>Exemples ?</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15</a:t>
            </a:fld>
            <a:endParaRPr lang="fr-FR"/>
          </a:p>
        </p:txBody>
      </p:sp>
    </p:spTree>
    <p:extLst>
      <p:ext uri="{BB962C8B-B14F-4D97-AF65-F5344CB8AC3E}">
        <p14:creationId xmlns:p14="http://schemas.microsoft.com/office/powerpoint/2010/main" val="2860124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Choix NCECF qui n’existent pas en IFRS</a:t>
            </a:r>
          </a:p>
        </p:txBody>
      </p:sp>
      <p:sp>
        <p:nvSpPr>
          <p:cNvPr id="3" name="Espace réservé du contenu 2"/>
          <p:cNvSpPr>
            <a:spLocks noGrp="1"/>
          </p:cNvSpPr>
          <p:nvPr>
            <p:ph idx="1"/>
          </p:nvPr>
        </p:nvSpPr>
        <p:spPr/>
        <p:txBody>
          <a:bodyPr/>
          <a:lstStyle/>
          <a:p>
            <a:pPr marL="0" indent="0">
              <a:buNone/>
            </a:pPr>
            <a:r>
              <a:rPr lang="fr-CA" dirty="0"/>
              <a:t>Exemples : </a:t>
            </a:r>
          </a:p>
          <a:p>
            <a:r>
              <a:rPr lang="fr-CA" dirty="0"/>
              <a:t>Ne pas comptabiliser à l’actif les frais de développement</a:t>
            </a:r>
          </a:p>
          <a:p>
            <a:r>
              <a:rPr lang="fr-CA" dirty="0"/>
              <a:t>Méthode des impôts exigibles</a:t>
            </a:r>
          </a:p>
          <a:p>
            <a:r>
              <a:rPr lang="fr-CA" dirty="0"/>
              <a:t>Choix allégés au niveau des instruments financiers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16</a:t>
            </a:fld>
            <a:endParaRPr lang="fr-FR"/>
          </a:p>
        </p:txBody>
      </p:sp>
    </p:spTree>
    <p:extLst>
      <p:ext uri="{BB962C8B-B14F-4D97-AF65-F5344CB8AC3E}">
        <p14:creationId xmlns:p14="http://schemas.microsoft.com/office/powerpoint/2010/main" val="3922346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Nouvelles mesures IFRS c. NCECF</a:t>
            </a:r>
          </a:p>
        </p:txBody>
      </p:sp>
      <p:sp>
        <p:nvSpPr>
          <p:cNvPr id="3" name="Espace réservé du contenu 2"/>
          <p:cNvSpPr>
            <a:spLocks noGrp="1"/>
          </p:cNvSpPr>
          <p:nvPr>
            <p:ph idx="1"/>
          </p:nvPr>
        </p:nvSpPr>
        <p:spPr/>
        <p:txBody>
          <a:bodyPr/>
          <a:lstStyle/>
          <a:p>
            <a:pPr marL="0" indent="0">
              <a:buNone/>
            </a:pPr>
            <a:r>
              <a:rPr lang="fr-CA" dirty="0"/>
              <a:t>Exemples :</a:t>
            </a:r>
          </a:p>
          <a:p>
            <a:r>
              <a:rPr lang="fr-CA" dirty="0"/>
              <a:t>Immobilisations corporelles : choix du modèle de réévaluation ; Immeubles de placement : choix juste  valeur</a:t>
            </a:r>
          </a:p>
          <a:p>
            <a:r>
              <a:rPr lang="fr-CA" dirty="0"/>
              <a:t>Pas de choix allégés au niveau des placements stratégiques, des instruments financiers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17</a:t>
            </a:fld>
            <a:endParaRPr lang="fr-FR"/>
          </a:p>
        </p:txBody>
      </p:sp>
    </p:spTree>
    <p:extLst>
      <p:ext uri="{BB962C8B-B14F-4D97-AF65-F5344CB8AC3E}">
        <p14:creationId xmlns:p14="http://schemas.microsoft.com/office/powerpoint/2010/main" val="291597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b="1" dirty="0">
                <a:solidFill>
                  <a:srgbClr val="FF0000"/>
                </a:solidFill>
              </a:rPr>
              <a:t>Aide gouvernementale</a:t>
            </a:r>
          </a:p>
        </p:txBody>
      </p:sp>
      <p:sp>
        <p:nvSpPr>
          <p:cNvPr id="3" name="Espace réservé du contenu 2"/>
          <p:cNvSpPr>
            <a:spLocks noGrp="1"/>
          </p:cNvSpPr>
          <p:nvPr>
            <p:ph idx="1"/>
          </p:nvPr>
        </p:nvSpPr>
        <p:spPr/>
        <p:txBody>
          <a:bodyPr>
            <a:normAutofit/>
          </a:bodyPr>
          <a:lstStyle/>
          <a:p>
            <a:r>
              <a:rPr lang="fr-CA" dirty="0"/>
              <a:t>IAS 20  Comptabilisation des subventions publiques et informations à fournir sur l’aide publique</a:t>
            </a:r>
          </a:p>
          <a:p>
            <a:r>
              <a:rPr lang="fr-CA" dirty="0"/>
              <a:t>SIC-10  Aide publique – absence de relation spécifique avec des activités d’exploitation</a:t>
            </a:r>
          </a:p>
          <a:p>
            <a:endParaRPr lang="fr-CA" dirty="0"/>
          </a:p>
          <a:p>
            <a:r>
              <a:rPr lang="fr-CA" dirty="0"/>
              <a:t>Chap. 3800  Aide gouvernementale</a:t>
            </a:r>
          </a:p>
          <a:p>
            <a:r>
              <a:rPr lang="fr-CA" dirty="0"/>
              <a:t>Chap. 3805  Crédits d’impôts à l’investissement</a:t>
            </a:r>
          </a:p>
          <a:p>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18</a:t>
            </a:fld>
            <a:endParaRPr lang="fr-FR"/>
          </a:p>
        </p:txBody>
      </p:sp>
    </p:spTree>
    <p:extLst>
      <p:ext uri="{BB962C8B-B14F-4D97-AF65-F5344CB8AC3E}">
        <p14:creationId xmlns:p14="http://schemas.microsoft.com/office/powerpoint/2010/main" val="33628972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Aide gouvernementale</a:t>
            </a:r>
          </a:p>
        </p:txBody>
      </p:sp>
      <p:sp>
        <p:nvSpPr>
          <p:cNvPr id="3" name="Espace réservé du contenu 2"/>
          <p:cNvSpPr>
            <a:spLocks noGrp="1"/>
          </p:cNvSpPr>
          <p:nvPr>
            <p:ph idx="1"/>
          </p:nvPr>
        </p:nvSpPr>
        <p:spPr/>
        <p:txBody>
          <a:bodyPr>
            <a:normAutofit lnSpcReduction="10000"/>
          </a:bodyPr>
          <a:lstStyle/>
          <a:p>
            <a:pPr marL="0" indent="0">
              <a:buNone/>
            </a:pPr>
            <a:r>
              <a:rPr lang="fr-CA" dirty="0"/>
              <a:t>Ensemble des actions entreprises par les pouvoirs publics pour fournir une aide particulière à des entreprises données dans le but d’influer sur les décisions qu’elles prennent dans des domaines tels que les investissements, l’embauche, le choix d’un futur emplacement, etc.</a:t>
            </a:r>
          </a:p>
          <a:p>
            <a:pPr marL="0" indent="0">
              <a:buNone/>
            </a:pPr>
            <a:endParaRPr lang="fr-CA" dirty="0"/>
          </a:p>
          <a:p>
            <a:r>
              <a:rPr lang="fr-CA" dirty="0"/>
              <a:t>Champs d’application : aide publique</a:t>
            </a:r>
          </a:p>
          <a:p>
            <a:endParaRPr lang="fr-CA" dirty="0"/>
          </a:p>
          <a:p>
            <a:r>
              <a:rPr lang="fr-CA" dirty="0"/>
              <a:t>Prêt subvention : quand il y a des conditions à respecter pour ne pas rembourser la somme</a:t>
            </a:r>
          </a:p>
          <a:p>
            <a:pPr lvl="1"/>
            <a:r>
              <a:rPr lang="fr-CA" dirty="0"/>
              <a:t>comptabilisé comme une subvention</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19</a:t>
            </a:fld>
            <a:endParaRPr lang="fr-FR"/>
          </a:p>
        </p:txBody>
      </p:sp>
    </p:spTree>
    <p:extLst>
      <p:ext uri="{BB962C8B-B14F-4D97-AF65-F5344CB8AC3E}">
        <p14:creationId xmlns:p14="http://schemas.microsoft.com/office/powerpoint/2010/main" val="13213121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Comptabilisation</a:t>
            </a:r>
            <a:endParaRPr lang="fr-CA" dirty="0"/>
          </a:p>
        </p:txBody>
      </p:sp>
      <p:sp>
        <p:nvSpPr>
          <p:cNvPr id="3" name="Espace réservé du contenu 2"/>
          <p:cNvSpPr>
            <a:spLocks noGrp="1"/>
          </p:cNvSpPr>
          <p:nvPr>
            <p:ph idx="1"/>
          </p:nvPr>
        </p:nvSpPr>
        <p:spPr/>
        <p:txBody>
          <a:bodyPr>
            <a:normAutofit/>
          </a:bodyPr>
          <a:lstStyle/>
          <a:p>
            <a:pPr marL="0" indent="0">
              <a:buNone/>
            </a:pPr>
            <a:r>
              <a:rPr lang="fr-CA" dirty="0"/>
              <a:t>Lorsqu’il y a une assurance raisonnable que</a:t>
            </a:r>
          </a:p>
          <a:p>
            <a:r>
              <a:rPr lang="fr-CA" dirty="0"/>
              <a:t>L’entité se conformera aux conditions attachées aux subventions ; et</a:t>
            </a:r>
          </a:p>
          <a:p>
            <a:r>
              <a:rPr lang="fr-CA" dirty="0"/>
              <a:t>Les subventions seront reçues</a:t>
            </a:r>
          </a:p>
          <a:p>
            <a:endParaRPr lang="fr-CA" dirty="0"/>
          </a:p>
          <a:p>
            <a:pPr marL="0" indent="0">
              <a:buNone/>
            </a:pPr>
            <a:r>
              <a:rPr lang="fr-CA" dirty="0"/>
              <a:t>Les subventions publiques doivent être comptabilisées en résultat net sur une base systématique sur les périodes au titre desquelles l’entité comptabilise en charges les coûts liés que les subventions sont censées compenser.</a:t>
            </a:r>
          </a:p>
          <a:p>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20</a:t>
            </a:fld>
            <a:endParaRPr lang="fr-FR"/>
          </a:p>
        </p:txBody>
      </p:sp>
    </p:spTree>
    <p:extLst>
      <p:ext uri="{BB962C8B-B14F-4D97-AF65-F5344CB8AC3E}">
        <p14:creationId xmlns:p14="http://schemas.microsoft.com/office/powerpoint/2010/main" val="911833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8A5DBA-76AD-42B6-A7E4-7E4295011FD6}"/>
              </a:ext>
            </a:extLst>
          </p:cNvPr>
          <p:cNvSpPr>
            <a:spLocks noGrp="1"/>
          </p:cNvSpPr>
          <p:nvPr>
            <p:ph type="title"/>
          </p:nvPr>
        </p:nvSpPr>
        <p:spPr/>
        <p:txBody>
          <a:bodyPr/>
          <a:lstStyle/>
          <a:p>
            <a:r>
              <a:rPr lang="fr-CA" dirty="0"/>
              <a:t>Extraits normes</a:t>
            </a:r>
            <a:endParaRPr lang="fr-FR" dirty="0"/>
          </a:p>
        </p:txBody>
      </p:sp>
      <p:sp>
        <p:nvSpPr>
          <p:cNvPr id="3" name="Espace réservé du contenu 2">
            <a:extLst>
              <a:ext uri="{FF2B5EF4-FFF2-40B4-BE49-F238E27FC236}">
                <a16:creationId xmlns:a16="http://schemas.microsoft.com/office/drawing/2014/main" id="{2837564C-571F-425E-9B41-9D0EE669D3F4}"/>
              </a:ext>
            </a:extLst>
          </p:cNvPr>
          <p:cNvSpPr>
            <a:spLocks noGrp="1"/>
          </p:cNvSpPr>
          <p:nvPr>
            <p:ph idx="1"/>
          </p:nvPr>
        </p:nvSpPr>
        <p:spPr/>
        <p:txBody>
          <a:bodyPr>
            <a:normAutofit fontScale="77500" lnSpcReduction="20000"/>
          </a:bodyPr>
          <a:lstStyle/>
          <a:p>
            <a:pPr marL="0" indent="0">
              <a:buNone/>
            </a:pPr>
            <a:r>
              <a:rPr lang="fr-CA" dirty="0"/>
              <a:t>IAS 20</a:t>
            </a:r>
          </a:p>
          <a:p>
            <a:pPr marL="0" indent="0">
              <a:buNone/>
            </a:pPr>
            <a:r>
              <a:rPr lang="fr-CA" i="1" dirty="0"/>
              <a:t>7     Les subventions publiques, y compris les subventions non monétaires évaluées à la juste valeur, ne doivent pas être comptabilisées tant qu'il n'existe pas une assurance raisonnable que :</a:t>
            </a:r>
            <a:endParaRPr lang="fr-CA" dirty="0"/>
          </a:p>
          <a:p>
            <a:pPr marL="0" indent="0">
              <a:buNone/>
            </a:pPr>
            <a:r>
              <a:rPr lang="fr-CA" dirty="0"/>
              <a:t>(</a:t>
            </a:r>
            <a:r>
              <a:rPr lang="fr-CA" i="1" dirty="0"/>
              <a:t>a)     l'entité se conformera aux conditions attachées aux subventions ; et</a:t>
            </a:r>
            <a:endParaRPr lang="fr-CA" dirty="0"/>
          </a:p>
          <a:p>
            <a:pPr marL="0" indent="0">
              <a:buNone/>
            </a:pPr>
            <a:r>
              <a:rPr lang="fr-CA" i="1" dirty="0"/>
              <a:t>(b)     les subventions seront reçu</a:t>
            </a:r>
            <a:r>
              <a:rPr lang="fr-CA" dirty="0"/>
              <a:t>es.</a:t>
            </a:r>
          </a:p>
          <a:p>
            <a:pPr marL="0" indent="0">
              <a:buNone/>
            </a:pPr>
            <a:endParaRPr lang="fr-CA" dirty="0"/>
          </a:p>
          <a:p>
            <a:pPr marL="0" indent="0">
              <a:buNone/>
            </a:pPr>
            <a:r>
              <a:rPr lang="fr-CA" dirty="0"/>
              <a:t>Chap. 3800</a:t>
            </a:r>
          </a:p>
          <a:p>
            <a:r>
              <a:rPr lang="fr-CA" dirty="0"/>
              <a:t>.27     </a:t>
            </a:r>
            <a:r>
              <a:rPr lang="fr-CA" i="1" dirty="0"/>
              <a:t>Pour un exercice donné, on doit comptabiliser la portion appropriée du total estimatif de l'aide gouvernementale que l'on compte recevoir, à condition que l'on soit raisonnablement certain que l'entreprise s'est conformée et continuera de se conformer à toutes les conditions se rattachant à l'octroi de cette aide.</a:t>
            </a:r>
            <a:endParaRPr lang="fr-CA" dirty="0"/>
          </a:p>
          <a:p>
            <a:r>
              <a:rPr lang="fr-CA" dirty="0"/>
              <a:t>Il faut ici ressortir les deux conditions qui sont à l'intérieur du paragraphe : compte recevoir, conformer aux conditions</a:t>
            </a:r>
          </a:p>
          <a:p>
            <a:pPr marL="0" indent="0">
              <a:buNone/>
            </a:pPr>
            <a:endParaRPr lang="fr-CA" dirty="0"/>
          </a:p>
          <a:p>
            <a:pPr marL="0" indent="0">
              <a:buNone/>
            </a:pPr>
            <a:endParaRPr lang="fr-CA" dirty="0"/>
          </a:p>
          <a:p>
            <a:endParaRPr lang="fr-FR" dirty="0"/>
          </a:p>
        </p:txBody>
      </p:sp>
    </p:spTree>
    <p:extLst>
      <p:ext uri="{BB962C8B-B14F-4D97-AF65-F5344CB8AC3E}">
        <p14:creationId xmlns:p14="http://schemas.microsoft.com/office/powerpoint/2010/main" val="13619184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Comptabilisation</a:t>
            </a:r>
            <a:endParaRPr lang="fr-CA" dirty="0"/>
          </a:p>
        </p:txBody>
      </p:sp>
      <p:sp>
        <p:nvSpPr>
          <p:cNvPr id="3" name="Espace réservé du contenu 2"/>
          <p:cNvSpPr>
            <a:spLocks noGrp="1"/>
          </p:cNvSpPr>
          <p:nvPr>
            <p:ph idx="1"/>
          </p:nvPr>
        </p:nvSpPr>
        <p:spPr>
          <a:xfrm>
            <a:off x="838199" y="1600200"/>
            <a:ext cx="10397359" cy="4927922"/>
          </a:xfrm>
        </p:spPr>
        <p:txBody>
          <a:bodyPr>
            <a:normAutofit lnSpcReduction="10000"/>
          </a:bodyPr>
          <a:lstStyle/>
          <a:p>
            <a:r>
              <a:rPr lang="fr-CA" dirty="0"/>
              <a:t>Subventions liées à des actifs </a:t>
            </a:r>
            <a:r>
              <a:rPr lang="fr-CA" sz="2400" dirty="0"/>
              <a:t>(incluant les crédits d’impôts à l’investissement)</a:t>
            </a:r>
            <a:endParaRPr lang="fr-CA" dirty="0"/>
          </a:p>
          <a:p>
            <a:pPr lvl="1"/>
            <a:r>
              <a:rPr lang="fr-CA" dirty="0"/>
              <a:t>Présentation :</a:t>
            </a:r>
          </a:p>
          <a:p>
            <a:pPr lvl="2"/>
            <a:r>
              <a:rPr lang="fr-CA" dirty="0"/>
              <a:t>En réduction de l’actif (souvent une immobilisation corporelle)</a:t>
            </a:r>
          </a:p>
          <a:p>
            <a:pPr lvl="2"/>
            <a:r>
              <a:rPr lang="fr-CA" dirty="0"/>
              <a:t>En produits différés (passif)</a:t>
            </a:r>
          </a:p>
          <a:p>
            <a:pPr marL="914400" lvl="2" indent="0">
              <a:buNone/>
            </a:pPr>
            <a:endParaRPr lang="fr-CA" dirty="0"/>
          </a:p>
          <a:p>
            <a:r>
              <a:rPr lang="fr-CA" dirty="0"/>
              <a:t>Subventions liées au résultat</a:t>
            </a:r>
          </a:p>
          <a:p>
            <a:pPr lvl="1"/>
            <a:r>
              <a:rPr lang="fr-CA" dirty="0"/>
              <a:t>Présentation : </a:t>
            </a:r>
          </a:p>
          <a:p>
            <a:pPr lvl="2"/>
            <a:r>
              <a:rPr lang="fr-CA" dirty="0"/>
              <a:t>En réduction de la charge</a:t>
            </a:r>
          </a:p>
          <a:p>
            <a:pPr lvl="2"/>
            <a:r>
              <a:rPr lang="fr-CA" dirty="0"/>
              <a:t>En produits (autres produits)</a:t>
            </a:r>
          </a:p>
          <a:p>
            <a:pPr marL="890587" lvl="2" indent="0">
              <a:buNone/>
            </a:pPr>
            <a:endParaRPr lang="fr-CA" sz="1900" dirty="0"/>
          </a:p>
          <a:p>
            <a:pPr marL="1233487" lvl="2" indent="-342900">
              <a:buFont typeface="Wingdings" panose="05000000000000000000" pitchFamily="2" charset="2"/>
              <a:buChar char="Ø"/>
            </a:pPr>
            <a:r>
              <a:rPr lang="fr-CA" dirty="0"/>
              <a:t>Aide publique sans relation spécifique avec des activités d’exploitation (ex : pour un secteur d’activité, pour des activités dans des zones sous-développées) : IAS 20 et non créditer de telles subventions directement aux capitaux propres </a:t>
            </a:r>
            <a:r>
              <a:rPr lang="fr-CA" sz="2100" dirty="0"/>
              <a:t>(SIC-10)</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22</a:t>
            </a:fld>
            <a:endParaRPr lang="fr-FR"/>
          </a:p>
        </p:txBody>
      </p:sp>
    </p:spTree>
    <p:extLst>
      <p:ext uri="{BB962C8B-B14F-4D97-AF65-F5344CB8AC3E}">
        <p14:creationId xmlns:p14="http://schemas.microsoft.com/office/powerpoint/2010/main" val="21443341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38200" y="354615"/>
            <a:ext cx="10515600" cy="1325563"/>
          </a:xfrm>
        </p:spPr>
        <p:txBody>
          <a:bodyPr/>
          <a:lstStyle/>
          <a:p>
            <a:r>
              <a:rPr lang="fr-CA" sz="4000" dirty="0"/>
              <a:t>Prêt-subvention</a:t>
            </a:r>
            <a:endParaRPr lang="fr-CA" dirty="0"/>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596857635"/>
              </p:ext>
            </p:extLst>
          </p:nvPr>
        </p:nvGraphicFramePr>
        <p:xfrm>
          <a:off x="924910" y="2335924"/>
          <a:ext cx="10428890" cy="2473960"/>
        </p:xfrm>
        <a:graphic>
          <a:graphicData uri="http://schemas.openxmlformats.org/drawingml/2006/table">
            <a:tbl>
              <a:tblPr firstRow="1" bandRow="1">
                <a:tableStyleId>{5C22544A-7EE6-4342-B048-85BDC9FD1C3A}</a:tableStyleId>
              </a:tblPr>
              <a:tblGrid>
                <a:gridCol w="5214445">
                  <a:extLst>
                    <a:ext uri="{9D8B030D-6E8A-4147-A177-3AD203B41FA5}">
                      <a16:colId xmlns:a16="http://schemas.microsoft.com/office/drawing/2014/main" val="20000"/>
                    </a:ext>
                  </a:extLst>
                </a:gridCol>
                <a:gridCol w="5214445">
                  <a:extLst>
                    <a:ext uri="{9D8B030D-6E8A-4147-A177-3AD203B41FA5}">
                      <a16:colId xmlns:a16="http://schemas.microsoft.com/office/drawing/2014/main" val="20001"/>
                    </a:ext>
                  </a:extLst>
                </a:gridCol>
              </a:tblGrid>
              <a:tr h="370840">
                <a:tc>
                  <a:txBody>
                    <a:bodyPr/>
                    <a:lstStyle/>
                    <a:p>
                      <a:pPr algn="ctr"/>
                      <a:r>
                        <a:rPr lang="fr-CA" dirty="0"/>
                        <a:t>IFRS</a:t>
                      </a:r>
                    </a:p>
                  </a:txBody>
                  <a:tcPr/>
                </a:tc>
                <a:tc>
                  <a:txBody>
                    <a:bodyPr/>
                    <a:lstStyle/>
                    <a:p>
                      <a:pPr algn="ctr"/>
                      <a:r>
                        <a:rPr lang="fr-CA" dirty="0"/>
                        <a:t>NCECF</a:t>
                      </a:r>
                    </a:p>
                  </a:txBody>
                  <a:tcPr/>
                </a:tc>
                <a:extLst>
                  <a:ext uri="{0D108BD9-81ED-4DB2-BD59-A6C34878D82A}">
                    <a16:rowId xmlns:a16="http://schemas.microsoft.com/office/drawing/2014/main" val="10000"/>
                  </a:ext>
                </a:extLst>
              </a:tr>
              <a:tr h="370840">
                <a:tc>
                  <a:txBody>
                    <a:bodyPr/>
                    <a:lstStyle/>
                    <a:p>
                      <a:r>
                        <a:rPr lang="fr-CA" dirty="0"/>
                        <a:t>Traité comme une subvention publique s’il existe</a:t>
                      </a:r>
                      <a:r>
                        <a:rPr lang="fr-CA" baseline="0" dirty="0"/>
                        <a:t> une </a:t>
                      </a:r>
                      <a:r>
                        <a:rPr lang="fr-CA" u="sng" baseline="0" dirty="0">
                          <a:solidFill>
                            <a:srgbClr val="0070C0"/>
                          </a:solidFill>
                        </a:rPr>
                        <a:t>assurance raisonnable </a:t>
                      </a:r>
                      <a:r>
                        <a:rPr lang="fr-CA" baseline="0" dirty="0"/>
                        <a:t>que l’entité remplira les conditions relatives à la dispense de remboursement du prêt</a:t>
                      </a:r>
                      <a:endParaRPr lang="fr-CA" dirty="0"/>
                    </a:p>
                  </a:txBody>
                  <a:tcPr/>
                </a:tc>
                <a:tc>
                  <a:txBody>
                    <a:bodyPr/>
                    <a:lstStyle/>
                    <a:p>
                      <a:r>
                        <a:rPr lang="fr-CA" dirty="0"/>
                        <a:t>Doit comptabiliser comme une subvention</a:t>
                      </a:r>
                    </a:p>
                    <a:p>
                      <a:r>
                        <a:rPr lang="fr-CA" dirty="0"/>
                        <a:t>Obligation</a:t>
                      </a:r>
                      <a:r>
                        <a:rPr lang="fr-CA" baseline="0" dirty="0"/>
                        <a:t> de rembourser constatée </a:t>
                      </a:r>
                      <a:r>
                        <a:rPr lang="fr-CA" baseline="0" dirty="0">
                          <a:solidFill>
                            <a:schemeClr val="tx2"/>
                          </a:solidFill>
                        </a:rPr>
                        <a:t>uniquement</a:t>
                      </a:r>
                      <a:r>
                        <a:rPr lang="fr-CA" baseline="0" dirty="0"/>
                        <a:t> dans l’exercice au cours duquel les conditions entraînant le remboursement de l’aide gouvernementale </a:t>
                      </a:r>
                      <a:r>
                        <a:rPr lang="fr-CA" u="sng" baseline="0" dirty="0">
                          <a:solidFill>
                            <a:srgbClr val="0070C0"/>
                          </a:solidFill>
                        </a:rPr>
                        <a:t>se matérialisent</a:t>
                      </a:r>
                      <a:endParaRPr lang="fr-CA" u="sng" dirty="0">
                        <a:solidFill>
                          <a:srgbClr val="0070C0"/>
                        </a:solidFill>
                      </a:endParaRPr>
                    </a:p>
                  </a:txBody>
                  <a:tcPr/>
                </a:tc>
                <a:extLst>
                  <a:ext uri="{0D108BD9-81ED-4DB2-BD59-A6C34878D82A}">
                    <a16:rowId xmlns:a16="http://schemas.microsoft.com/office/drawing/2014/main" val="10001"/>
                  </a:ext>
                </a:extLst>
              </a:tr>
              <a:tr h="370840">
                <a:tc gridSpan="2">
                  <a:txBody>
                    <a:bodyPr/>
                    <a:lstStyle/>
                    <a:p>
                      <a:r>
                        <a:rPr lang="fr-CA" dirty="0"/>
                        <a:t>Si devient remboursable</a:t>
                      </a:r>
                      <a:r>
                        <a:rPr lang="fr-CA" baseline="0" dirty="0"/>
                        <a:t> :</a:t>
                      </a:r>
                    </a:p>
                    <a:p>
                      <a:pPr marL="285750" indent="-285750">
                        <a:buFontTx/>
                        <a:buChar char="-"/>
                      </a:pPr>
                      <a:r>
                        <a:rPr lang="fr-CA" baseline="0" dirty="0"/>
                        <a:t>Changement d’estimation comptable =&gt; application prospective</a:t>
                      </a:r>
                    </a:p>
                  </a:txBody>
                  <a:tcPr/>
                </a:tc>
                <a:tc hMerge="1">
                  <a:txBody>
                    <a:bodyPr/>
                    <a:lstStyle/>
                    <a:p>
                      <a:endParaRPr lang="fr-CA" dirty="0"/>
                    </a:p>
                  </a:txBody>
                  <a:tcPr/>
                </a:tc>
                <a:extLst>
                  <a:ext uri="{0D108BD9-81ED-4DB2-BD59-A6C34878D82A}">
                    <a16:rowId xmlns:a16="http://schemas.microsoft.com/office/drawing/2014/main" val="10002"/>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23</a:t>
            </a:fld>
            <a:endParaRPr lang="fr-FR"/>
          </a:p>
        </p:txBody>
      </p:sp>
    </p:spTree>
    <p:extLst>
      <p:ext uri="{BB962C8B-B14F-4D97-AF65-F5344CB8AC3E}">
        <p14:creationId xmlns:p14="http://schemas.microsoft.com/office/powerpoint/2010/main" val="21973298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Prêt public à un taux d’intérêt inférieur à celui du marché</a:t>
            </a:r>
          </a:p>
        </p:txBody>
      </p:sp>
      <p:sp>
        <p:nvSpPr>
          <p:cNvPr id="3" name="Espace réservé du contenu 2"/>
          <p:cNvSpPr>
            <a:spLocks noGrp="1"/>
          </p:cNvSpPr>
          <p:nvPr>
            <p:ph idx="1"/>
          </p:nvPr>
        </p:nvSpPr>
        <p:spPr>
          <a:xfrm>
            <a:off x="987972" y="2091559"/>
            <a:ext cx="10226566" cy="4034605"/>
          </a:xfrm>
        </p:spPr>
        <p:txBody>
          <a:bodyPr/>
          <a:lstStyle/>
          <a:p>
            <a:r>
              <a:rPr lang="fr-CA" dirty="0"/>
              <a:t>Traité comme une subvention publique</a:t>
            </a:r>
          </a:p>
          <a:p>
            <a:r>
              <a:rPr lang="fr-CA" dirty="0"/>
              <a:t>Prêt évalué conformément à la norme sur les instruments financiers</a:t>
            </a:r>
          </a:p>
          <a:p>
            <a:pPr lvl="1"/>
            <a:r>
              <a:rPr lang="fr-CA" dirty="0"/>
              <a:t>Aide gouvernementale : valeur du taux d’intérêt inférieur</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24</a:t>
            </a:fld>
            <a:endParaRPr lang="fr-FR"/>
          </a:p>
        </p:txBody>
      </p:sp>
    </p:spTree>
    <p:extLst>
      <p:ext uri="{BB962C8B-B14F-4D97-AF65-F5344CB8AC3E}">
        <p14:creationId xmlns:p14="http://schemas.microsoft.com/office/powerpoint/2010/main" val="36642489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Question</a:t>
            </a:r>
            <a:endParaRPr lang="fr-CA" dirty="0"/>
          </a:p>
        </p:txBody>
      </p:sp>
      <p:sp>
        <p:nvSpPr>
          <p:cNvPr id="3" name="Espace réservé du contenu 2"/>
          <p:cNvSpPr>
            <a:spLocks noGrp="1"/>
          </p:cNvSpPr>
          <p:nvPr>
            <p:ph idx="1"/>
          </p:nvPr>
        </p:nvSpPr>
        <p:spPr/>
        <p:txBody>
          <a:bodyPr>
            <a:normAutofit fontScale="92500" lnSpcReduction="10000"/>
          </a:bodyPr>
          <a:lstStyle/>
          <a:p>
            <a:pPr marL="0" indent="0">
              <a:buNone/>
            </a:pPr>
            <a:r>
              <a:rPr lang="fr-CA" dirty="0"/>
              <a:t>Le 1</a:t>
            </a:r>
            <a:r>
              <a:rPr lang="fr-CA" baseline="30000" dirty="0"/>
              <a:t>er</a:t>
            </a:r>
            <a:r>
              <a:rPr lang="fr-CA" dirty="0"/>
              <a:t> janvier 20x5, le gouvernement provincial a octroyé et versé une aide de 30 000 $ à ABC pour compenser ses coûts de main d’œuvre. La somme n’est pas remboursable en autant qu’un minimum de 100 employés est maintenu pour une période de trois ans. </a:t>
            </a:r>
          </a:p>
          <a:p>
            <a:pPr marL="0" indent="0">
              <a:buNone/>
            </a:pPr>
            <a:r>
              <a:rPr lang="fr-CA" dirty="0"/>
              <a:t>Vers la fin 20x6, ABC fait face à des difficultés financières et anticipe qu’elle sera en défaut. En février 20x7, elle remercie (congédie) une partie des employés, et ABC ne respecte plus la condition du seuil minimum d’employés.</a:t>
            </a:r>
          </a:p>
          <a:p>
            <a:pPr marL="0" indent="0">
              <a:buNone/>
            </a:pPr>
            <a:endParaRPr lang="fr-CA" dirty="0"/>
          </a:p>
          <a:p>
            <a:pPr marL="0" indent="0">
              <a:buNone/>
            </a:pPr>
            <a:r>
              <a:rPr lang="fr-CA" i="1" dirty="0"/>
              <a:t>Préparez les écritures comptables pour ABC pour 20x5, 20x6 et 20x7.</a:t>
            </a:r>
          </a:p>
          <a:p>
            <a:pPr>
              <a:buFont typeface="Wingdings" panose="05000000000000000000" pitchFamily="2" charset="2"/>
              <a:buChar char="Ø"/>
            </a:pPr>
            <a:r>
              <a:rPr lang="fr-CA" i="1" dirty="0"/>
              <a:t>NCECF et IFRS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25</a:t>
            </a:fld>
            <a:endParaRPr lang="fr-FR"/>
          </a:p>
        </p:txBody>
      </p:sp>
    </p:spTree>
    <p:extLst>
      <p:ext uri="{BB962C8B-B14F-4D97-AF65-F5344CB8AC3E}">
        <p14:creationId xmlns:p14="http://schemas.microsoft.com/office/powerpoint/2010/main" val="20598610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Solution</a:t>
            </a:r>
            <a:endParaRPr lang="fr-CA" dirty="0"/>
          </a:p>
        </p:txBody>
      </p:sp>
      <p:sp>
        <p:nvSpPr>
          <p:cNvPr id="3" name="Espace réservé du contenu 2"/>
          <p:cNvSpPr>
            <a:spLocks noGrp="1"/>
          </p:cNvSpPr>
          <p:nvPr>
            <p:ph idx="1"/>
          </p:nvPr>
        </p:nvSpPr>
        <p:spPr/>
        <p:txBody>
          <a:bodyPr>
            <a:normAutofit/>
          </a:bodyPr>
          <a:lstStyle/>
          <a:p>
            <a:pPr>
              <a:buFont typeface="Wingdings" panose="05000000000000000000" pitchFamily="2" charset="2"/>
              <a:buChar char="Ø"/>
            </a:pPr>
            <a:r>
              <a:rPr lang="fr-CA" dirty="0"/>
              <a:t>Différence entre les référentiels : on anticipe le non-respect en IFRS, pas en NCECF</a:t>
            </a:r>
          </a:p>
          <a:p>
            <a:pPr lvl="1">
              <a:buFont typeface="Wingdings" panose="05000000000000000000" pitchFamily="2" charset="2"/>
              <a:buChar char="Ø"/>
            </a:pPr>
            <a:r>
              <a:rPr lang="fr-CA" dirty="0"/>
              <a:t>Voir les critères de comptabilisation dans les deux référentiels</a:t>
            </a:r>
          </a:p>
          <a:p>
            <a:pPr>
              <a:buFont typeface="Wingdings" panose="05000000000000000000" pitchFamily="2" charset="2"/>
              <a:buChar char="Ø"/>
            </a:pPr>
            <a:endParaRPr lang="fr-CA" dirty="0"/>
          </a:p>
          <a:p>
            <a:pPr>
              <a:buFont typeface="Wingdings" panose="05000000000000000000" pitchFamily="2" charset="2"/>
              <a:buChar char="Ø"/>
            </a:pPr>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26</a:t>
            </a:fld>
            <a:endParaRPr lang="fr-FR"/>
          </a:p>
        </p:txBody>
      </p:sp>
    </p:spTree>
    <p:extLst>
      <p:ext uri="{BB962C8B-B14F-4D97-AF65-F5344CB8AC3E}">
        <p14:creationId xmlns:p14="http://schemas.microsoft.com/office/powerpoint/2010/main" val="1421418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Solution - IFRS</a:t>
            </a:r>
            <a:endParaRPr lang="fr-CA" dirty="0"/>
          </a:p>
        </p:txBody>
      </p:sp>
      <p:sp>
        <p:nvSpPr>
          <p:cNvPr id="3" name="Espace réservé du contenu 2"/>
          <p:cNvSpPr>
            <a:spLocks noGrp="1"/>
          </p:cNvSpPr>
          <p:nvPr>
            <p:ph idx="1"/>
          </p:nvPr>
        </p:nvSpPr>
        <p:spPr>
          <a:xfrm>
            <a:off x="838200" y="1524000"/>
            <a:ext cx="10515600" cy="4652963"/>
          </a:xfrm>
        </p:spPr>
        <p:txBody>
          <a:bodyPr>
            <a:normAutofit fontScale="85000" lnSpcReduction="20000"/>
          </a:bodyPr>
          <a:lstStyle/>
          <a:p>
            <a:pPr marL="0" indent="0">
              <a:buNone/>
            </a:pPr>
            <a:r>
              <a:rPr lang="fr-CA" dirty="0"/>
              <a:t>1</a:t>
            </a:r>
            <a:r>
              <a:rPr lang="fr-CA" baseline="30000" dirty="0"/>
              <a:t>er</a:t>
            </a:r>
            <a:r>
              <a:rPr lang="fr-CA" dirty="0"/>
              <a:t> </a:t>
            </a:r>
            <a:r>
              <a:rPr lang="fr-CA" dirty="0" err="1"/>
              <a:t>janv</a:t>
            </a:r>
            <a:r>
              <a:rPr lang="fr-CA" dirty="0"/>
              <a:t> 20x5</a:t>
            </a:r>
          </a:p>
          <a:p>
            <a:pPr marL="0" indent="0">
              <a:buNone/>
            </a:pPr>
            <a:r>
              <a:rPr lang="fr-CA" dirty="0"/>
              <a:t>	Caisse				30 000</a:t>
            </a:r>
          </a:p>
          <a:p>
            <a:pPr marL="0" indent="0">
              <a:buNone/>
            </a:pPr>
            <a:r>
              <a:rPr lang="fr-CA" dirty="0"/>
              <a:t>	@  Aide </a:t>
            </a:r>
            <a:r>
              <a:rPr lang="fr-CA" dirty="0" err="1"/>
              <a:t>gouv</a:t>
            </a:r>
            <a:r>
              <a:rPr lang="fr-CA" dirty="0"/>
              <a:t> différée			30 000</a:t>
            </a:r>
          </a:p>
          <a:p>
            <a:pPr marL="0" indent="0">
              <a:buNone/>
            </a:pPr>
            <a:endParaRPr lang="fr-CA" dirty="0"/>
          </a:p>
          <a:p>
            <a:pPr marL="0" indent="0">
              <a:buNone/>
            </a:pPr>
            <a:r>
              <a:rPr lang="fr-CA" dirty="0"/>
              <a:t>Exercice 20x5</a:t>
            </a:r>
          </a:p>
          <a:p>
            <a:pPr marL="0" indent="0">
              <a:buNone/>
            </a:pPr>
            <a:r>
              <a:rPr lang="fr-CA" dirty="0"/>
              <a:t>	Aide </a:t>
            </a:r>
            <a:r>
              <a:rPr lang="fr-CA" dirty="0" err="1"/>
              <a:t>gouv</a:t>
            </a:r>
            <a:r>
              <a:rPr lang="fr-CA" dirty="0"/>
              <a:t> différée		10 000</a:t>
            </a:r>
          </a:p>
          <a:p>
            <a:pPr marL="0" indent="0">
              <a:buNone/>
            </a:pPr>
            <a:r>
              <a:rPr lang="fr-CA" dirty="0"/>
              <a:t>	@  Charge rémunération		10 000  </a:t>
            </a:r>
            <a:r>
              <a:rPr lang="fr-CA" i="1" dirty="0"/>
              <a:t>(ou autres produits)</a:t>
            </a:r>
          </a:p>
          <a:p>
            <a:pPr marL="0" indent="0">
              <a:buNone/>
            </a:pPr>
            <a:endParaRPr lang="fr-CA" i="1" dirty="0"/>
          </a:p>
          <a:p>
            <a:pPr marL="0" indent="0">
              <a:buNone/>
            </a:pPr>
            <a:r>
              <a:rPr lang="fr-CA" dirty="0"/>
              <a:t>Exercice 20x6   </a:t>
            </a:r>
            <a:r>
              <a:rPr lang="fr-CA" dirty="0">
                <a:solidFill>
                  <a:srgbClr val="FF0000"/>
                </a:solidFill>
              </a:rPr>
              <a:t>on anticipe le non-respect pour le moment de comptabiliser la dette</a:t>
            </a:r>
            <a:endParaRPr lang="fr-CA" dirty="0"/>
          </a:p>
          <a:p>
            <a:pPr marL="0" indent="0">
              <a:buNone/>
            </a:pPr>
            <a:r>
              <a:rPr lang="fr-CA" dirty="0"/>
              <a:t>	Aide </a:t>
            </a:r>
            <a:r>
              <a:rPr lang="fr-CA" dirty="0" err="1"/>
              <a:t>gouv</a:t>
            </a:r>
            <a:r>
              <a:rPr lang="fr-CA" dirty="0"/>
              <a:t> différée		20 000</a:t>
            </a:r>
          </a:p>
          <a:p>
            <a:pPr marL="0" indent="0">
              <a:buNone/>
            </a:pPr>
            <a:r>
              <a:rPr lang="fr-CA" dirty="0"/>
              <a:t>	Charge rémunération		10 000  </a:t>
            </a:r>
            <a:r>
              <a:rPr lang="fr-CA" i="1" dirty="0"/>
              <a:t>(ou autres produits)</a:t>
            </a:r>
            <a:endParaRPr lang="fr-CA" dirty="0"/>
          </a:p>
          <a:p>
            <a:pPr marL="0" indent="0">
              <a:buNone/>
            </a:pPr>
            <a:r>
              <a:rPr lang="fr-CA" dirty="0"/>
              <a:t>	@  Compte à payer			30 000  </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27</a:t>
            </a:fld>
            <a:endParaRPr lang="fr-FR"/>
          </a:p>
        </p:txBody>
      </p:sp>
    </p:spTree>
    <p:extLst>
      <p:ext uri="{BB962C8B-B14F-4D97-AF65-F5344CB8AC3E}">
        <p14:creationId xmlns:p14="http://schemas.microsoft.com/office/powerpoint/2010/main" val="610258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Solution - NCECF</a:t>
            </a:r>
            <a:endParaRPr lang="fr-CA" dirty="0"/>
          </a:p>
        </p:txBody>
      </p:sp>
      <p:sp>
        <p:nvSpPr>
          <p:cNvPr id="3" name="Espace réservé du contenu 2"/>
          <p:cNvSpPr>
            <a:spLocks noGrp="1"/>
          </p:cNvSpPr>
          <p:nvPr>
            <p:ph idx="1"/>
          </p:nvPr>
        </p:nvSpPr>
        <p:spPr>
          <a:xfrm>
            <a:off x="838200" y="1524000"/>
            <a:ext cx="10515600" cy="4968875"/>
          </a:xfrm>
        </p:spPr>
        <p:txBody>
          <a:bodyPr>
            <a:normAutofit fontScale="62500" lnSpcReduction="20000"/>
          </a:bodyPr>
          <a:lstStyle/>
          <a:p>
            <a:pPr marL="0" indent="0">
              <a:buNone/>
            </a:pPr>
            <a:r>
              <a:rPr lang="fr-CA" dirty="0"/>
              <a:t>1</a:t>
            </a:r>
            <a:r>
              <a:rPr lang="fr-CA" baseline="30000" dirty="0"/>
              <a:t>er</a:t>
            </a:r>
            <a:r>
              <a:rPr lang="fr-CA" dirty="0"/>
              <a:t> </a:t>
            </a:r>
            <a:r>
              <a:rPr lang="fr-CA" dirty="0" err="1"/>
              <a:t>janv</a:t>
            </a:r>
            <a:r>
              <a:rPr lang="fr-CA" dirty="0"/>
              <a:t> 20x5</a:t>
            </a:r>
          </a:p>
          <a:p>
            <a:pPr marL="0" indent="0">
              <a:buNone/>
            </a:pPr>
            <a:r>
              <a:rPr lang="fr-CA" dirty="0"/>
              <a:t>	Caisse			30 000</a:t>
            </a:r>
          </a:p>
          <a:p>
            <a:pPr marL="0" indent="0">
              <a:buNone/>
            </a:pPr>
            <a:r>
              <a:rPr lang="fr-CA" dirty="0"/>
              <a:t>	@  Aide </a:t>
            </a:r>
            <a:r>
              <a:rPr lang="fr-CA" dirty="0" err="1"/>
              <a:t>gouv</a:t>
            </a:r>
            <a:r>
              <a:rPr lang="fr-CA" dirty="0"/>
              <a:t> différée		30 000</a:t>
            </a:r>
          </a:p>
          <a:p>
            <a:pPr marL="0" indent="0">
              <a:buNone/>
            </a:pPr>
            <a:endParaRPr lang="fr-CA" sz="1300" dirty="0"/>
          </a:p>
          <a:p>
            <a:pPr marL="0" indent="0">
              <a:buNone/>
            </a:pPr>
            <a:r>
              <a:rPr lang="fr-CA" dirty="0"/>
              <a:t>Exercice 20x5</a:t>
            </a:r>
          </a:p>
          <a:p>
            <a:pPr marL="0" indent="0">
              <a:buNone/>
            </a:pPr>
            <a:r>
              <a:rPr lang="fr-CA" dirty="0"/>
              <a:t>	Aide </a:t>
            </a:r>
            <a:r>
              <a:rPr lang="fr-CA" dirty="0" err="1"/>
              <a:t>gouv</a:t>
            </a:r>
            <a:r>
              <a:rPr lang="fr-CA" dirty="0"/>
              <a:t> différée		10 000</a:t>
            </a:r>
          </a:p>
          <a:p>
            <a:pPr marL="0" indent="0">
              <a:buNone/>
            </a:pPr>
            <a:r>
              <a:rPr lang="fr-CA" dirty="0"/>
              <a:t>	@  Charge rémunération		10 000  </a:t>
            </a:r>
            <a:r>
              <a:rPr lang="fr-CA" i="1" dirty="0"/>
              <a:t>(ou autres produits)</a:t>
            </a:r>
          </a:p>
          <a:p>
            <a:pPr marL="0" indent="0">
              <a:buNone/>
            </a:pPr>
            <a:endParaRPr lang="fr-CA" sz="1300" i="1" dirty="0"/>
          </a:p>
          <a:p>
            <a:pPr marL="0" indent="0">
              <a:buNone/>
            </a:pPr>
            <a:r>
              <a:rPr lang="fr-CA" dirty="0"/>
              <a:t>Exercice 20x6</a:t>
            </a:r>
          </a:p>
          <a:p>
            <a:pPr marL="0" indent="0">
              <a:buNone/>
            </a:pPr>
            <a:r>
              <a:rPr lang="fr-CA" dirty="0"/>
              <a:t>	Aide </a:t>
            </a:r>
            <a:r>
              <a:rPr lang="fr-CA" dirty="0" err="1"/>
              <a:t>gouv</a:t>
            </a:r>
            <a:r>
              <a:rPr lang="fr-CA" dirty="0"/>
              <a:t> différée		10 000</a:t>
            </a:r>
          </a:p>
          <a:p>
            <a:pPr marL="0" indent="0">
              <a:buNone/>
            </a:pPr>
            <a:r>
              <a:rPr lang="fr-CA" dirty="0"/>
              <a:t>	@  Charge rémunération		10 000  </a:t>
            </a:r>
            <a:r>
              <a:rPr lang="fr-CA" i="1" dirty="0"/>
              <a:t>(ou autres produits)</a:t>
            </a:r>
          </a:p>
          <a:p>
            <a:pPr marL="0" indent="0">
              <a:buNone/>
            </a:pPr>
            <a:endParaRPr lang="fr-CA" sz="1300" i="1" dirty="0"/>
          </a:p>
          <a:p>
            <a:pPr marL="0" indent="0">
              <a:buNone/>
            </a:pPr>
            <a:r>
              <a:rPr lang="fr-CA" dirty="0"/>
              <a:t>Exercice 20x7</a:t>
            </a:r>
            <a:r>
              <a:rPr lang="fr-CA" dirty="0">
                <a:solidFill>
                  <a:srgbClr val="FF0000"/>
                </a:solidFill>
              </a:rPr>
              <a:t>    Il faut attendre le non-respect avant de comptabiliser la dette</a:t>
            </a:r>
            <a:endParaRPr lang="fr-CA" dirty="0"/>
          </a:p>
          <a:p>
            <a:pPr marL="0" indent="0">
              <a:buNone/>
            </a:pPr>
            <a:r>
              <a:rPr lang="fr-CA" dirty="0"/>
              <a:t>	Aide </a:t>
            </a:r>
            <a:r>
              <a:rPr lang="fr-CA" dirty="0" err="1"/>
              <a:t>gouv</a:t>
            </a:r>
            <a:r>
              <a:rPr lang="fr-CA" dirty="0"/>
              <a:t> différée		10 000</a:t>
            </a:r>
          </a:p>
          <a:p>
            <a:pPr marL="0" indent="0">
              <a:buNone/>
            </a:pPr>
            <a:r>
              <a:rPr lang="fr-CA" dirty="0"/>
              <a:t>	Charge rémunération	20 000  </a:t>
            </a:r>
            <a:r>
              <a:rPr lang="fr-CA" i="1" dirty="0"/>
              <a:t>(ou autres produits)</a:t>
            </a:r>
            <a:endParaRPr lang="fr-CA" dirty="0"/>
          </a:p>
          <a:p>
            <a:pPr marL="0" indent="0">
              <a:buNone/>
            </a:pPr>
            <a:r>
              <a:rPr lang="fr-CA" dirty="0"/>
              <a:t>	@  Compte à payer			30 000  </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28</a:t>
            </a:fld>
            <a:endParaRPr lang="fr-FR"/>
          </a:p>
        </p:txBody>
      </p:sp>
    </p:spTree>
    <p:extLst>
      <p:ext uri="{BB962C8B-B14F-4D97-AF65-F5344CB8AC3E}">
        <p14:creationId xmlns:p14="http://schemas.microsoft.com/office/powerpoint/2010/main" val="6497694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b="1" dirty="0">
                <a:solidFill>
                  <a:srgbClr val="FF0000"/>
                </a:solidFill>
              </a:rPr>
              <a:t>Impôts sur le résultat</a:t>
            </a:r>
          </a:p>
        </p:txBody>
      </p:sp>
      <p:sp>
        <p:nvSpPr>
          <p:cNvPr id="3" name="Espace réservé du contenu 2"/>
          <p:cNvSpPr>
            <a:spLocks noGrp="1"/>
          </p:cNvSpPr>
          <p:nvPr>
            <p:ph idx="1"/>
          </p:nvPr>
        </p:nvSpPr>
        <p:spPr/>
        <p:txBody>
          <a:bodyPr>
            <a:normAutofit/>
          </a:bodyPr>
          <a:lstStyle/>
          <a:p>
            <a:endParaRPr lang="fr-CA" dirty="0"/>
          </a:p>
          <a:p>
            <a:endParaRPr lang="fr-CA" dirty="0"/>
          </a:p>
          <a:p>
            <a:r>
              <a:rPr lang="fr-CA" dirty="0"/>
              <a:t>IAS 12  Impôts sur le résultat</a:t>
            </a:r>
          </a:p>
          <a:p>
            <a:r>
              <a:rPr lang="fr-CA" dirty="0"/>
              <a:t>IFRIC 21  Droits et taxes</a:t>
            </a:r>
          </a:p>
          <a:p>
            <a:endParaRPr lang="fr-CA" dirty="0"/>
          </a:p>
          <a:p>
            <a:r>
              <a:rPr lang="fr-CA" dirty="0"/>
              <a:t>Chap. 3465  Impôts sur les bénéfices</a:t>
            </a:r>
          </a:p>
          <a:p>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29</a:t>
            </a:fld>
            <a:endParaRPr lang="fr-FR"/>
          </a:p>
        </p:txBody>
      </p:sp>
    </p:spTree>
    <p:extLst>
      <p:ext uri="{BB962C8B-B14F-4D97-AF65-F5344CB8AC3E}">
        <p14:creationId xmlns:p14="http://schemas.microsoft.com/office/powerpoint/2010/main" val="25170074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Méthode comptable</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681358324"/>
              </p:ext>
            </p:extLst>
          </p:nvPr>
        </p:nvGraphicFramePr>
        <p:xfrm>
          <a:off x="897320" y="2095659"/>
          <a:ext cx="10397360" cy="1285240"/>
        </p:xfrm>
        <a:graphic>
          <a:graphicData uri="http://schemas.openxmlformats.org/drawingml/2006/table">
            <a:tbl>
              <a:tblPr firstRow="1" bandRow="1">
                <a:tableStyleId>{5C22544A-7EE6-4342-B048-85BDC9FD1C3A}</a:tableStyleId>
              </a:tblPr>
              <a:tblGrid>
                <a:gridCol w="5198680">
                  <a:extLst>
                    <a:ext uri="{9D8B030D-6E8A-4147-A177-3AD203B41FA5}">
                      <a16:colId xmlns:a16="http://schemas.microsoft.com/office/drawing/2014/main" val="20000"/>
                    </a:ext>
                  </a:extLst>
                </a:gridCol>
                <a:gridCol w="5198680">
                  <a:extLst>
                    <a:ext uri="{9D8B030D-6E8A-4147-A177-3AD203B41FA5}">
                      <a16:colId xmlns:a16="http://schemas.microsoft.com/office/drawing/2014/main" val="20001"/>
                    </a:ext>
                  </a:extLst>
                </a:gridCol>
              </a:tblGrid>
              <a:tr h="370840">
                <a:tc>
                  <a:txBody>
                    <a:bodyPr/>
                    <a:lstStyle/>
                    <a:p>
                      <a:pPr algn="ctr"/>
                      <a:r>
                        <a:rPr lang="fr-CA" dirty="0"/>
                        <a:t>IFRS</a:t>
                      </a:r>
                    </a:p>
                  </a:txBody>
                  <a:tcPr/>
                </a:tc>
                <a:tc>
                  <a:txBody>
                    <a:bodyPr/>
                    <a:lstStyle/>
                    <a:p>
                      <a:pPr algn="ctr"/>
                      <a:r>
                        <a:rPr lang="fr-CA" dirty="0"/>
                        <a:t>NCECF</a:t>
                      </a:r>
                    </a:p>
                  </a:txBody>
                  <a:tcPr/>
                </a:tc>
                <a:extLst>
                  <a:ext uri="{0D108BD9-81ED-4DB2-BD59-A6C34878D82A}">
                    <a16:rowId xmlns:a16="http://schemas.microsoft.com/office/drawing/2014/main" val="10000"/>
                  </a:ext>
                </a:extLst>
              </a:tr>
              <a:tr h="370840">
                <a:tc>
                  <a:txBody>
                    <a:bodyPr/>
                    <a:lstStyle/>
                    <a:p>
                      <a:r>
                        <a:rPr lang="fr-CA" dirty="0"/>
                        <a:t>Impôts</a:t>
                      </a:r>
                      <a:r>
                        <a:rPr lang="fr-CA" baseline="0" dirty="0"/>
                        <a:t> différé</a:t>
                      </a:r>
                    </a:p>
                    <a:p>
                      <a:r>
                        <a:rPr lang="fr-CA" baseline="0" dirty="0"/>
                        <a:t>qui inclut l’impôt exigible</a:t>
                      </a:r>
                      <a:endParaRPr lang="fr-CA" dirty="0"/>
                    </a:p>
                  </a:txBody>
                  <a:tcPr/>
                </a:tc>
                <a:tc>
                  <a:txBody>
                    <a:bodyPr/>
                    <a:lstStyle/>
                    <a:p>
                      <a:r>
                        <a:rPr lang="fr-CA" dirty="0"/>
                        <a:t>Choix</a:t>
                      </a:r>
                    </a:p>
                    <a:p>
                      <a:pPr marL="285750" indent="-285750">
                        <a:buFont typeface="Arial" panose="020B0604020202020204" pitchFamily="34" charset="0"/>
                        <a:buChar char="•"/>
                      </a:pPr>
                      <a:r>
                        <a:rPr lang="fr-CA" dirty="0"/>
                        <a:t>Impôt</a:t>
                      </a:r>
                      <a:r>
                        <a:rPr lang="fr-CA" baseline="0" dirty="0"/>
                        <a:t> futur (qui inclut exigible)</a:t>
                      </a:r>
                    </a:p>
                    <a:p>
                      <a:pPr marL="285750" indent="-285750">
                        <a:buFont typeface="Arial" panose="020B0604020202020204" pitchFamily="34" charset="0"/>
                        <a:buChar char="•"/>
                      </a:pPr>
                      <a:r>
                        <a:rPr lang="fr-CA" baseline="0" dirty="0"/>
                        <a:t>Impôt exigible</a:t>
                      </a:r>
                    </a:p>
                  </a:txBody>
                  <a:tcPr/>
                </a:tc>
                <a:extLst>
                  <a:ext uri="{0D108BD9-81ED-4DB2-BD59-A6C34878D82A}">
                    <a16:rowId xmlns:a16="http://schemas.microsoft.com/office/drawing/2014/main" val="10001"/>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30</a:t>
            </a:fld>
            <a:endParaRPr lang="fr-FR"/>
          </a:p>
        </p:txBody>
      </p:sp>
    </p:spTree>
    <p:extLst>
      <p:ext uri="{BB962C8B-B14F-4D97-AF65-F5344CB8AC3E}">
        <p14:creationId xmlns:p14="http://schemas.microsoft.com/office/powerpoint/2010/main" val="26618141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Méthode comptable</a:t>
            </a:r>
          </a:p>
        </p:txBody>
      </p:sp>
      <p:sp>
        <p:nvSpPr>
          <p:cNvPr id="3" name="Espace réservé du contenu 2"/>
          <p:cNvSpPr>
            <a:spLocks noGrp="1"/>
          </p:cNvSpPr>
          <p:nvPr>
            <p:ph idx="1"/>
          </p:nvPr>
        </p:nvSpPr>
        <p:spPr/>
        <p:txBody>
          <a:bodyPr>
            <a:normAutofit/>
          </a:bodyPr>
          <a:lstStyle/>
          <a:p>
            <a:pPr marL="0" indent="0">
              <a:buNone/>
            </a:pPr>
            <a:r>
              <a:rPr lang="fr-CA" dirty="0"/>
              <a:t>ABC est une société privée qui a adopté le référentiel NCECF. Elle œuvre dans le secteur de la recherche médicale. Son actionnariat est composé d’investisseurs institutionnels exposés au capital de risque. Banque prête à ABC des sommes basées sur les montants de crédits de recherche remboursables par le gouvernement.</a:t>
            </a:r>
          </a:p>
          <a:p>
            <a:pPr marL="0" indent="0">
              <a:buNone/>
            </a:pPr>
            <a:endParaRPr lang="fr-CA" dirty="0"/>
          </a:p>
          <a:p>
            <a:pPr marL="0" indent="0">
              <a:buNone/>
            </a:pPr>
            <a:r>
              <a:rPr lang="fr-CA" i="1" dirty="0"/>
              <a:t>Quelle méthode comptable lui recommanderiez-vous pour la comptabilisation de ses impôts sur le revenu?</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31</a:t>
            </a:fld>
            <a:endParaRPr lang="fr-FR"/>
          </a:p>
        </p:txBody>
      </p:sp>
    </p:spTree>
    <p:extLst>
      <p:ext uri="{BB962C8B-B14F-4D97-AF65-F5344CB8AC3E}">
        <p14:creationId xmlns:p14="http://schemas.microsoft.com/office/powerpoint/2010/main" val="1389188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Solution</a:t>
            </a:r>
          </a:p>
        </p:txBody>
      </p:sp>
      <p:sp>
        <p:nvSpPr>
          <p:cNvPr id="3" name="Espace réservé du contenu 2"/>
          <p:cNvSpPr>
            <a:spLocks noGrp="1"/>
          </p:cNvSpPr>
          <p:nvPr>
            <p:ph idx="1"/>
          </p:nvPr>
        </p:nvSpPr>
        <p:spPr/>
        <p:txBody>
          <a:bodyPr>
            <a:normAutofit/>
          </a:bodyPr>
          <a:lstStyle/>
          <a:p>
            <a:pPr marL="0" indent="0">
              <a:buNone/>
            </a:pPr>
            <a:r>
              <a:rPr lang="fr-CA" i="1" dirty="0"/>
              <a:t>Quelle méthode comptable lui recommanderiez-vous pour la comptabilisation de ses impôts sur le revenu?</a:t>
            </a:r>
          </a:p>
          <a:p>
            <a:pPr marL="0" indent="0">
              <a:buNone/>
            </a:pPr>
            <a:endParaRPr lang="fr-CA" i="1" dirty="0"/>
          </a:p>
          <a:p>
            <a:pPr marL="0" indent="0">
              <a:buNone/>
            </a:pPr>
            <a:r>
              <a:rPr lang="fr-CA" dirty="0"/>
              <a:t>Réponse usuelle est impôts exigibles</a:t>
            </a:r>
          </a:p>
          <a:p>
            <a:pPr marL="0" indent="0">
              <a:buNone/>
            </a:pPr>
            <a:r>
              <a:rPr lang="fr-CA" dirty="0"/>
              <a:t>Mais dans ce contexte particulier, il y a des utilisateurs qui s’intéressent aux montants d’impôts futurs, donc recommander la méthode impôts futurs, en lien avec parties prenantes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32</a:t>
            </a:fld>
            <a:endParaRPr lang="fr-FR"/>
          </a:p>
        </p:txBody>
      </p:sp>
    </p:spTree>
    <p:extLst>
      <p:ext uri="{BB962C8B-B14F-4D97-AF65-F5344CB8AC3E}">
        <p14:creationId xmlns:p14="http://schemas.microsoft.com/office/powerpoint/2010/main" val="3020369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Question</a:t>
            </a:r>
            <a:endParaRPr lang="fr-CA" dirty="0"/>
          </a:p>
        </p:txBody>
      </p:sp>
      <p:sp>
        <p:nvSpPr>
          <p:cNvPr id="3" name="Espace réservé du contenu 2"/>
          <p:cNvSpPr>
            <a:spLocks noGrp="1"/>
          </p:cNvSpPr>
          <p:nvPr>
            <p:ph idx="1"/>
          </p:nvPr>
        </p:nvSpPr>
        <p:spPr/>
        <p:txBody>
          <a:bodyPr/>
          <a:lstStyle/>
          <a:p>
            <a:pPr marL="0" indent="0">
              <a:buNone/>
            </a:pPr>
            <a:r>
              <a:rPr lang="fr-CA" dirty="0"/>
              <a:t>Une entreprise à capital fermé ayant adopté le référentiel NCECF opte pour la méthode des impôts exigibles. Au cours de l’exercice 20x5, elle encourt une perte (autre qu’en capital) alors qu’elle était rentable au cours des exercices précédents. </a:t>
            </a:r>
          </a:p>
          <a:p>
            <a:pPr marL="0" indent="0">
              <a:buNone/>
            </a:pPr>
            <a:endParaRPr lang="fr-CA" dirty="0"/>
          </a:p>
          <a:p>
            <a:pPr marL="0" indent="0">
              <a:buNone/>
            </a:pPr>
            <a:r>
              <a:rPr lang="fr-CA" i="1" dirty="0"/>
              <a:t>Peut-elle comptabiliser un actif relativement au report de cette perte?</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33</a:t>
            </a:fld>
            <a:endParaRPr lang="fr-FR"/>
          </a:p>
        </p:txBody>
      </p:sp>
    </p:spTree>
    <p:extLst>
      <p:ext uri="{BB962C8B-B14F-4D97-AF65-F5344CB8AC3E}">
        <p14:creationId xmlns:p14="http://schemas.microsoft.com/office/powerpoint/2010/main" val="40081451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Solution</a:t>
            </a:r>
            <a:endParaRPr lang="fr-CA" dirty="0"/>
          </a:p>
        </p:txBody>
      </p:sp>
      <p:sp>
        <p:nvSpPr>
          <p:cNvPr id="3" name="Espace réservé du contenu 2"/>
          <p:cNvSpPr>
            <a:spLocks noGrp="1"/>
          </p:cNvSpPr>
          <p:nvPr>
            <p:ph idx="1"/>
          </p:nvPr>
        </p:nvSpPr>
        <p:spPr/>
        <p:txBody>
          <a:bodyPr/>
          <a:lstStyle/>
          <a:p>
            <a:pPr marL="0" indent="0">
              <a:buNone/>
            </a:pPr>
            <a:r>
              <a:rPr lang="fr-CA" i="1" dirty="0"/>
              <a:t>Peut-elle comptabiliser un actif relativement au report de cette perte?</a:t>
            </a:r>
          </a:p>
          <a:p>
            <a:pPr marL="0" indent="0">
              <a:buNone/>
            </a:pPr>
            <a:endParaRPr lang="fr-CA" i="1" dirty="0"/>
          </a:p>
          <a:p>
            <a:pPr marL="0" indent="0">
              <a:buNone/>
            </a:pPr>
            <a:r>
              <a:rPr lang="fr-CA" dirty="0"/>
              <a:t>Oui, le report en arrière fait partie des impôts exigibles alors que le report vers le futur fait partie des impôts futurs.</a:t>
            </a:r>
          </a:p>
          <a:p>
            <a:pPr marL="0" indent="0">
              <a:buNone/>
            </a:pPr>
            <a:endParaRPr lang="fr-CA"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34</a:t>
            </a:fld>
            <a:endParaRPr lang="fr-FR"/>
          </a:p>
        </p:txBody>
      </p:sp>
    </p:spTree>
    <p:extLst>
      <p:ext uri="{BB962C8B-B14F-4D97-AF65-F5344CB8AC3E}">
        <p14:creationId xmlns:p14="http://schemas.microsoft.com/office/powerpoint/2010/main" val="30108671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Définitions</a:t>
            </a:r>
            <a:endParaRPr lang="fr-CA" dirty="0"/>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2423652441"/>
              </p:ext>
            </p:extLst>
          </p:nvPr>
        </p:nvGraphicFramePr>
        <p:xfrm>
          <a:off x="838200" y="1915319"/>
          <a:ext cx="10515600" cy="2688212"/>
        </p:xfrm>
        <a:graphic>
          <a:graphicData uri="http://schemas.openxmlformats.org/drawingml/2006/table">
            <a:tbl>
              <a:tblPr firstRow="1" bandRow="1">
                <a:tableStyleId>{5C22544A-7EE6-4342-B048-85BDC9FD1C3A}</a:tableStyleId>
              </a:tblPr>
              <a:tblGrid>
                <a:gridCol w="4248807">
                  <a:extLst>
                    <a:ext uri="{9D8B030D-6E8A-4147-A177-3AD203B41FA5}">
                      <a16:colId xmlns:a16="http://schemas.microsoft.com/office/drawing/2014/main" val="20000"/>
                    </a:ext>
                  </a:extLst>
                </a:gridCol>
                <a:gridCol w="6266793">
                  <a:extLst>
                    <a:ext uri="{9D8B030D-6E8A-4147-A177-3AD203B41FA5}">
                      <a16:colId xmlns:a16="http://schemas.microsoft.com/office/drawing/2014/main" val="20001"/>
                    </a:ext>
                  </a:extLst>
                </a:gridCol>
              </a:tblGrid>
              <a:tr h="472866">
                <a:tc>
                  <a:txBody>
                    <a:bodyPr/>
                    <a:lstStyle/>
                    <a:p>
                      <a:pPr algn="ctr"/>
                      <a:r>
                        <a:rPr lang="fr-CA" dirty="0"/>
                        <a:t>IFRS</a:t>
                      </a:r>
                    </a:p>
                  </a:txBody>
                  <a:tcPr/>
                </a:tc>
                <a:tc>
                  <a:txBody>
                    <a:bodyPr/>
                    <a:lstStyle/>
                    <a:p>
                      <a:pPr algn="ctr"/>
                      <a:r>
                        <a:rPr lang="fr-CA" dirty="0"/>
                        <a:t>NCECF</a:t>
                      </a:r>
                    </a:p>
                  </a:txBody>
                  <a:tcPr/>
                </a:tc>
                <a:extLst>
                  <a:ext uri="{0D108BD9-81ED-4DB2-BD59-A6C34878D82A}">
                    <a16:rowId xmlns:a16="http://schemas.microsoft.com/office/drawing/2014/main" val="10000"/>
                  </a:ext>
                </a:extLst>
              </a:tr>
              <a:tr h="2215346">
                <a:tc>
                  <a:txBody>
                    <a:bodyPr/>
                    <a:lstStyle/>
                    <a:p>
                      <a:endParaRPr lang="fr-CA" dirty="0"/>
                    </a:p>
                  </a:txBody>
                  <a:tcPr/>
                </a:tc>
                <a:tc>
                  <a:txBody>
                    <a:bodyPr/>
                    <a:lstStyle/>
                    <a:p>
                      <a:r>
                        <a:rPr lang="fr-CA" dirty="0"/>
                        <a:t>Impôts</a:t>
                      </a:r>
                      <a:r>
                        <a:rPr lang="fr-CA" baseline="0" dirty="0"/>
                        <a:t> sur les bénéfices notamment constitués par :</a:t>
                      </a:r>
                    </a:p>
                    <a:p>
                      <a:pPr marL="400050" indent="-400050">
                        <a:buAutoNum type="romanLcParenR"/>
                      </a:pPr>
                      <a:r>
                        <a:rPr lang="fr-CA" baseline="0" dirty="0"/>
                        <a:t>Tous les impôts locaux et étrangers déterminés en fonction du bénéfice imposable</a:t>
                      </a:r>
                    </a:p>
                    <a:p>
                      <a:pPr marL="400050" indent="-400050">
                        <a:buAutoNum type="romanLcParenR"/>
                      </a:pPr>
                      <a:r>
                        <a:rPr lang="fr-CA" baseline="0" dirty="0"/>
                        <a:t>les droits sur les mines</a:t>
                      </a:r>
                    </a:p>
                    <a:p>
                      <a:pPr marL="400050" indent="-400050">
                        <a:buAutoNum type="romanLcParenR"/>
                      </a:pPr>
                      <a:r>
                        <a:rPr lang="fr-CA" baseline="0" dirty="0"/>
                        <a:t>Les impôts minimums de remplacement</a:t>
                      </a:r>
                    </a:p>
                    <a:p>
                      <a:pPr marL="400050" indent="-400050">
                        <a:buAutoNum type="romanLcParenR"/>
                      </a:pPr>
                      <a:r>
                        <a:rPr lang="fr-CA" baseline="0" dirty="0"/>
                        <a:t>Les retenues d’impôts</a:t>
                      </a:r>
                      <a:endParaRPr lang="fr-CA" dirty="0"/>
                    </a:p>
                  </a:txBody>
                  <a:tcPr/>
                </a:tc>
                <a:extLst>
                  <a:ext uri="{0D108BD9-81ED-4DB2-BD59-A6C34878D82A}">
                    <a16:rowId xmlns:a16="http://schemas.microsoft.com/office/drawing/2014/main" val="10001"/>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35</a:t>
            </a:fld>
            <a:endParaRPr lang="fr-FR"/>
          </a:p>
        </p:txBody>
      </p:sp>
    </p:spTree>
    <p:extLst>
      <p:ext uri="{BB962C8B-B14F-4D97-AF65-F5344CB8AC3E}">
        <p14:creationId xmlns:p14="http://schemas.microsoft.com/office/powerpoint/2010/main" val="16624947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Définitions</a:t>
            </a:r>
            <a:endParaRPr lang="fr-CA" dirty="0"/>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3577625470"/>
              </p:ext>
            </p:extLst>
          </p:nvPr>
        </p:nvGraphicFramePr>
        <p:xfrm>
          <a:off x="838200" y="1600200"/>
          <a:ext cx="10313276" cy="4211320"/>
        </p:xfrm>
        <a:graphic>
          <a:graphicData uri="http://schemas.openxmlformats.org/drawingml/2006/table">
            <a:tbl>
              <a:tblPr firstRow="1" bandRow="1">
                <a:tableStyleId>{5C22544A-7EE6-4342-B048-85BDC9FD1C3A}</a:tableStyleId>
              </a:tblPr>
              <a:tblGrid>
                <a:gridCol w="7448477">
                  <a:extLst>
                    <a:ext uri="{9D8B030D-6E8A-4147-A177-3AD203B41FA5}">
                      <a16:colId xmlns:a16="http://schemas.microsoft.com/office/drawing/2014/main" val="20000"/>
                    </a:ext>
                  </a:extLst>
                </a:gridCol>
                <a:gridCol w="2864799">
                  <a:extLst>
                    <a:ext uri="{9D8B030D-6E8A-4147-A177-3AD203B41FA5}">
                      <a16:colId xmlns:a16="http://schemas.microsoft.com/office/drawing/2014/main" val="20001"/>
                    </a:ext>
                  </a:extLst>
                </a:gridCol>
              </a:tblGrid>
              <a:tr h="370840">
                <a:tc>
                  <a:txBody>
                    <a:bodyPr/>
                    <a:lstStyle/>
                    <a:p>
                      <a:pPr algn="ctr"/>
                      <a:r>
                        <a:rPr lang="fr-CA" dirty="0"/>
                        <a:t>IFRS</a:t>
                      </a:r>
                    </a:p>
                  </a:txBody>
                  <a:tcPr/>
                </a:tc>
                <a:tc>
                  <a:txBody>
                    <a:bodyPr/>
                    <a:lstStyle/>
                    <a:p>
                      <a:pPr algn="ctr"/>
                      <a:r>
                        <a:rPr lang="fr-CA" dirty="0"/>
                        <a:t>NCECF</a:t>
                      </a:r>
                    </a:p>
                  </a:txBody>
                  <a:tcPr/>
                </a:tc>
                <a:extLst>
                  <a:ext uri="{0D108BD9-81ED-4DB2-BD59-A6C34878D82A}">
                    <a16:rowId xmlns:a16="http://schemas.microsoft.com/office/drawing/2014/main" val="10000"/>
                  </a:ext>
                </a:extLst>
              </a:tr>
              <a:tr h="731520">
                <a:tc>
                  <a:txBody>
                    <a:bodyPr/>
                    <a:lstStyle/>
                    <a:p>
                      <a:r>
                        <a:rPr lang="fr-CA" b="1" dirty="0"/>
                        <a:t>Impôt</a:t>
                      </a:r>
                      <a:r>
                        <a:rPr lang="fr-CA" b="1" baseline="0" dirty="0"/>
                        <a:t> exigible</a:t>
                      </a:r>
                    </a:p>
                    <a:p>
                      <a:r>
                        <a:rPr lang="fr-CA" baseline="0" dirty="0"/>
                        <a:t>Montant des impôts sur le résultat payables (recouvrables) au titre du bénéfice imposable (perte fiscale) d’une période</a:t>
                      </a:r>
                      <a:endParaRPr lang="fr-CA" dirty="0"/>
                    </a:p>
                  </a:txBody>
                  <a:tcPr/>
                </a:tc>
                <a:tc>
                  <a:txBody>
                    <a:bodyPr/>
                    <a:lstStyle/>
                    <a:p>
                      <a:r>
                        <a:rPr lang="fr-CA" dirty="0"/>
                        <a:t>idem</a:t>
                      </a:r>
                    </a:p>
                  </a:txBody>
                  <a:tcPr/>
                </a:tc>
                <a:extLst>
                  <a:ext uri="{0D108BD9-81ED-4DB2-BD59-A6C34878D82A}">
                    <a16:rowId xmlns:a16="http://schemas.microsoft.com/office/drawing/2014/main" val="10001"/>
                  </a:ext>
                </a:extLst>
              </a:tr>
              <a:tr h="370840">
                <a:tc>
                  <a:txBody>
                    <a:bodyPr/>
                    <a:lstStyle/>
                    <a:p>
                      <a:r>
                        <a:rPr lang="fr-CA" b="1" dirty="0"/>
                        <a:t>Passifs d’impôt différé</a:t>
                      </a:r>
                    </a:p>
                    <a:p>
                      <a:r>
                        <a:rPr lang="fr-CA" dirty="0"/>
                        <a:t>Montants d’impôts sur le résultat payables au cours de périodes</a:t>
                      </a:r>
                      <a:r>
                        <a:rPr lang="fr-CA" baseline="0" dirty="0"/>
                        <a:t> </a:t>
                      </a:r>
                      <a:r>
                        <a:rPr lang="fr-CA" dirty="0"/>
                        <a:t>futures au titre de différences temporaires imposables </a:t>
                      </a:r>
                    </a:p>
                    <a:p>
                      <a:pPr marL="285750" indent="-285750">
                        <a:buFont typeface="Wingdings" panose="05000000000000000000" pitchFamily="2" charset="2"/>
                        <a:buChar char="Ø"/>
                      </a:pPr>
                      <a:r>
                        <a:rPr lang="fr-CA" dirty="0"/>
                        <a:t>Écart</a:t>
                      </a:r>
                      <a:r>
                        <a:rPr lang="fr-CA" baseline="0" dirty="0"/>
                        <a:t> entre la valeur comptable et la valeur fiscale</a:t>
                      </a:r>
                      <a:endParaRPr lang="fr-CA" dirty="0"/>
                    </a:p>
                  </a:txBody>
                  <a:tcPr/>
                </a:tc>
                <a:tc>
                  <a:txBody>
                    <a:bodyPr/>
                    <a:lstStyle/>
                    <a:p>
                      <a:r>
                        <a:rPr lang="fr-CA" dirty="0"/>
                        <a:t>Impôts futurs</a:t>
                      </a:r>
                    </a:p>
                    <a:p>
                      <a:r>
                        <a:rPr lang="fr-CA" dirty="0"/>
                        <a:t>idem</a:t>
                      </a:r>
                    </a:p>
                  </a:txBody>
                  <a:tcPr/>
                </a:tc>
                <a:extLst>
                  <a:ext uri="{0D108BD9-81ED-4DB2-BD59-A6C34878D82A}">
                    <a16:rowId xmlns:a16="http://schemas.microsoft.com/office/drawing/2014/main" val="10002"/>
                  </a:ext>
                </a:extLst>
              </a:tr>
              <a:tr h="370840">
                <a:tc>
                  <a:txBody>
                    <a:bodyPr/>
                    <a:lstStyle/>
                    <a:p>
                      <a:r>
                        <a:rPr lang="fr-CA" b="1" dirty="0"/>
                        <a:t>Actifs d’impôt différé</a:t>
                      </a:r>
                    </a:p>
                    <a:p>
                      <a:r>
                        <a:rPr lang="fr-CA" dirty="0"/>
                        <a:t>Montants d’impôts sur le résultat recouvrables</a:t>
                      </a:r>
                      <a:r>
                        <a:rPr lang="fr-CA" baseline="0" dirty="0"/>
                        <a:t> </a:t>
                      </a:r>
                      <a:r>
                        <a:rPr lang="fr-CA" dirty="0"/>
                        <a:t>au cours de périodes</a:t>
                      </a:r>
                      <a:r>
                        <a:rPr lang="fr-CA" baseline="0" dirty="0"/>
                        <a:t> </a:t>
                      </a:r>
                      <a:r>
                        <a:rPr lang="fr-CA" dirty="0"/>
                        <a:t>futures au titre </a:t>
                      </a:r>
                    </a:p>
                    <a:p>
                      <a:pPr marL="285750" indent="-285750">
                        <a:buFont typeface="Arial" panose="020B0604020202020204" pitchFamily="34" charset="0"/>
                        <a:buChar char="•"/>
                      </a:pPr>
                      <a:r>
                        <a:rPr lang="fr-CA" dirty="0"/>
                        <a:t>de différences temporaires déductibles</a:t>
                      </a:r>
                    </a:p>
                    <a:p>
                      <a:pPr marL="285750" indent="-285750">
                        <a:buFont typeface="Arial" panose="020B0604020202020204" pitchFamily="34" charset="0"/>
                        <a:buChar char="•"/>
                      </a:pPr>
                      <a:r>
                        <a:rPr lang="fr-CA" dirty="0"/>
                        <a:t>du report en avant de pertes fiscales non utilisées</a:t>
                      </a:r>
                    </a:p>
                    <a:p>
                      <a:pPr marL="285750" indent="-285750">
                        <a:buFont typeface="Arial" panose="020B0604020202020204" pitchFamily="34" charset="0"/>
                        <a:buChar char="•"/>
                      </a:pPr>
                      <a:r>
                        <a:rPr lang="fr-CA" dirty="0"/>
                        <a:t>du</a:t>
                      </a:r>
                      <a:r>
                        <a:rPr lang="fr-CA" baseline="0" dirty="0"/>
                        <a:t> report en avant de crédits d’impôt non utilisés</a:t>
                      </a:r>
                      <a:endParaRPr lang="fr-CA" dirty="0"/>
                    </a:p>
                  </a:txBody>
                  <a:tcPr/>
                </a:tc>
                <a:tc>
                  <a:txBody>
                    <a:bodyPr/>
                    <a:lstStyle/>
                    <a:p>
                      <a:r>
                        <a:rPr lang="fr-CA" dirty="0"/>
                        <a:t>idem</a:t>
                      </a:r>
                    </a:p>
                  </a:txBody>
                  <a:tcPr/>
                </a:tc>
                <a:extLst>
                  <a:ext uri="{0D108BD9-81ED-4DB2-BD59-A6C34878D82A}">
                    <a16:rowId xmlns:a16="http://schemas.microsoft.com/office/drawing/2014/main" val="10003"/>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36</a:t>
            </a:fld>
            <a:endParaRPr lang="fr-FR"/>
          </a:p>
        </p:txBody>
      </p:sp>
    </p:spTree>
    <p:extLst>
      <p:ext uri="{BB962C8B-B14F-4D97-AF65-F5344CB8AC3E}">
        <p14:creationId xmlns:p14="http://schemas.microsoft.com/office/powerpoint/2010/main" val="16025045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Pertes fiscales et </a:t>
            </a:r>
            <a:br>
              <a:rPr lang="fr-CA" sz="4000" dirty="0"/>
            </a:br>
            <a:r>
              <a:rPr lang="fr-CA" sz="4000" dirty="0"/>
              <a:t>crédits d’impôt non utilisés</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2999178851"/>
              </p:ext>
            </p:extLst>
          </p:nvPr>
        </p:nvGraphicFramePr>
        <p:xfrm>
          <a:off x="935420" y="2189480"/>
          <a:ext cx="10321160" cy="2479040"/>
        </p:xfrm>
        <a:graphic>
          <a:graphicData uri="http://schemas.openxmlformats.org/drawingml/2006/table">
            <a:tbl>
              <a:tblPr firstRow="1" bandRow="1">
                <a:tableStyleId>{5C22544A-7EE6-4342-B048-85BDC9FD1C3A}</a:tableStyleId>
              </a:tblPr>
              <a:tblGrid>
                <a:gridCol w="5160580">
                  <a:extLst>
                    <a:ext uri="{9D8B030D-6E8A-4147-A177-3AD203B41FA5}">
                      <a16:colId xmlns:a16="http://schemas.microsoft.com/office/drawing/2014/main" val="20000"/>
                    </a:ext>
                  </a:extLst>
                </a:gridCol>
                <a:gridCol w="5160580">
                  <a:extLst>
                    <a:ext uri="{9D8B030D-6E8A-4147-A177-3AD203B41FA5}">
                      <a16:colId xmlns:a16="http://schemas.microsoft.com/office/drawing/2014/main" val="20001"/>
                    </a:ext>
                  </a:extLst>
                </a:gridCol>
              </a:tblGrid>
              <a:tr h="370840">
                <a:tc>
                  <a:txBody>
                    <a:bodyPr/>
                    <a:lstStyle/>
                    <a:p>
                      <a:pPr algn="ctr"/>
                      <a:endParaRPr lang="fr-CA" dirty="0"/>
                    </a:p>
                  </a:txBody>
                  <a:tcPr/>
                </a:tc>
                <a:tc>
                  <a:txBody>
                    <a:bodyPr/>
                    <a:lstStyle/>
                    <a:p>
                      <a:pPr algn="ctr"/>
                      <a:r>
                        <a:rPr lang="fr-CA" dirty="0"/>
                        <a:t>NCECF</a:t>
                      </a:r>
                    </a:p>
                  </a:txBody>
                  <a:tcPr/>
                </a:tc>
                <a:extLst>
                  <a:ext uri="{0D108BD9-81ED-4DB2-BD59-A6C34878D82A}">
                    <a16:rowId xmlns:a16="http://schemas.microsoft.com/office/drawing/2014/main" val="10000"/>
                  </a:ext>
                </a:extLst>
              </a:tr>
              <a:tr h="370840">
                <a:tc>
                  <a:txBody>
                    <a:bodyPr/>
                    <a:lstStyle/>
                    <a:p>
                      <a:r>
                        <a:rPr lang="fr-CA" dirty="0"/>
                        <a:t>Un actif d’impôt différé doit être comptabilisé pour le report en avant de pertes fiscales</a:t>
                      </a:r>
                      <a:r>
                        <a:rPr lang="fr-CA" baseline="0" dirty="0"/>
                        <a:t> et de crédits d’impôt non utilisés dans la mesure où il est </a:t>
                      </a:r>
                      <a:r>
                        <a:rPr lang="fr-CA" b="1" baseline="0" dirty="0"/>
                        <a:t>probable</a:t>
                      </a:r>
                      <a:r>
                        <a:rPr lang="fr-CA" baseline="0" dirty="0"/>
                        <a:t> que l’on disposera de bénéfices imposables futurs auxquels ces pertes fiscales et crédits d’impôt non utilisés pourront être imputés</a:t>
                      </a:r>
                      <a:endParaRPr lang="fr-CA" dirty="0"/>
                    </a:p>
                  </a:txBody>
                  <a:tcPr/>
                </a:tc>
                <a:tc>
                  <a:txBody>
                    <a:bodyPr/>
                    <a:lstStyle/>
                    <a:p>
                      <a:r>
                        <a:rPr lang="fr-CA" dirty="0"/>
                        <a:t>idem</a:t>
                      </a:r>
                    </a:p>
                  </a:txBody>
                  <a:tcPr/>
                </a:tc>
                <a:extLst>
                  <a:ext uri="{0D108BD9-81ED-4DB2-BD59-A6C34878D82A}">
                    <a16:rowId xmlns:a16="http://schemas.microsoft.com/office/drawing/2014/main" val="10001"/>
                  </a:ext>
                </a:extLst>
              </a:tr>
              <a:tr h="370840">
                <a:tc gridSpan="2">
                  <a:txBody>
                    <a:bodyPr/>
                    <a:lstStyle/>
                    <a:p>
                      <a:pPr marL="285750" indent="-285750">
                        <a:buFont typeface="Wingdings" panose="05000000000000000000" pitchFamily="2" charset="2"/>
                        <a:buChar char="Ø"/>
                      </a:pPr>
                      <a:r>
                        <a:rPr lang="fr-CA" dirty="0"/>
                        <a:t>20</a:t>
                      </a:r>
                      <a:r>
                        <a:rPr lang="fr-CA" baseline="0" dirty="0"/>
                        <a:t> ans…</a:t>
                      </a:r>
                      <a:endParaRPr lang="fr-CA" dirty="0"/>
                    </a:p>
                  </a:txBody>
                  <a:tcPr/>
                </a:tc>
                <a:tc hMerge="1">
                  <a:txBody>
                    <a:bodyPr/>
                    <a:lstStyle/>
                    <a:p>
                      <a:endParaRPr lang="fr-CA" dirty="0"/>
                    </a:p>
                  </a:txBody>
                  <a:tcPr/>
                </a:tc>
                <a:extLst>
                  <a:ext uri="{0D108BD9-81ED-4DB2-BD59-A6C34878D82A}">
                    <a16:rowId xmlns:a16="http://schemas.microsoft.com/office/drawing/2014/main" val="10002"/>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37</a:t>
            </a:fld>
            <a:endParaRPr lang="fr-FR"/>
          </a:p>
        </p:txBody>
      </p:sp>
    </p:spTree>
    <p:extLst>
      <p:ext uri="{BB962C8B-B14F-4D97-AF65-F5344CB8AC3E}">
        <p14:creationId xmlns:p14="http://schemas.microsoft.com/office/powerpoint/2010/main" val="2127987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Regroupement d’entreprises</a:t>
            </a:r>
          </a:p>
        </p:txBody>
      </p:sp>
      <p:sp>
        <p:nvSpPr>
          <p:cNvPr id="3" name="Espace réservé du contenu 2"/>
          <p:cNvSpPr>
            <a:spLocks noGrp="1"/>
          </p:cNvSpPr>
          <p:nvPr>
            <p:ph idx="1"/>
          </p:nvPr>
        </p:nvSpPr>
        <p:spPr/>
        <p:txBody>
          <a:bodyPr/>
          <a:lstStyle/>
          <a:p>
            <a:r>
              <a:rPr lang="fr-CA" dirty="0"/>
              <a:t>Calcul du goodwill lors de la répartition du prix d’achat </a:t>
            </a:r>
          </a:p>
          <a:p>
            <a:pPr lvl="1"/>
            <a:r>
              <a:rPr lang="fr-CA" dirty="0"/>
              <a:t>considérer l’impôt différé relié aux éléments acquis – à comptabiliser</a:t>
            </a:r>
          </a:p>
          <a:p>
            <a:pPr lvl="2"/>
            <a:r>
              <a:rPr lang="fr-CA" dirty="0"/>
              <a:t>NCECF : selon choix effectué – si choix impôts futurs</a:t>
            </a:r>
          </a:p>
          <a:p>
            <a:pPr lvl="2"/>
            <a:endParaRPr lang="fr-CA" dirty="0"/>
          </a:p>
          <a:p>
            <a:pPr lvl="2"/>
            <a:endParaRPr lang="fr-CA" dirty="0"/>
          </a:p>
          <a:p>
            <a:pPr lvl="2"/>
            <a:r>
              <a:rPr lang="fr-CA" dirty="0">
                <a:solidFill>
                  <a:srgbClr val="00B0F0"/>
                </a:solidFill>
              </a:rPr>
              <a:t>Expliquer l'impact des impôts différés / futurs dans le calcul du goodwill - complément au cours de regroupement – séance 8</a:t>
            </a:r>
          </a:p>
          <a:p>
            <a:pPr lvl="3"/>
            <a:r>
              <a:rPr lang="fr-CA" dirty="0">
                <a:solidFill>
                  <a:srgbClr val="00B0F0"/>
                </a:solidFill>
              </a:rPr>
              <a:t>Impact sur le montant du goodwill / écart d’acquisition</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38</a:t>
            </a:fld>
            <a:endParaRPr lang="fr-FR"/>
          </a:p>
        </p:txBody>
      </p:sp>
    </p:spTree>
    <p:extLst>
      <p:ext uri="{BB962C8B-B14F-4D97-AF65-F5344CB8AC3E}">
        <p14:creationId xmlns:p14="http://schemas.microsoft.com/office/powerpoint/2010/main" val="3088869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Présentation</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1209779780"/>
              </p:ext>
            </p:extLst>
          </p:nvPr>
        </p:nvGraphicFramePr>
        <p:xfrm>
          <a:off x="838199" y="1600200"/>
          <a:ext cx="10229194" cy="3032760"/>
        </p:xfrm>
        <a:graphic>
          <a:graphicData uri="http://schemas.openxmlformats.org/drawingml/2006/table">
            <a:tbl>
              <a:tblPr firstRow="1" bandRow="1">
                <a:tableStyleId>{5C22544A-7EE6-4342-B048-85BDC9FD1C3A}</a:tableStyleId>
              </a:tblPr>
              <a:tblGrid>
                <a:gridCol w="5114597">
                  <a:extLst>
                    <a:ext uri="{9D8B030D-6E8A-4147-A177-3AD203B41FA5}">
                      <a16:colId xmlns:a16="http://schemas.microsoft.com/office/drawing/2014/main" val="20000"/>
                    </a:ext>
                  </a:extLst>
                </a:gridCol>
                <a:gridCol w="5114597">
                  <a:extLst>
                    <a:ext uri="{9D8B030D-6E8A-4147-A177-3AD203B41FA5}">
                      <a16:colId xmlns:a16="http://schemas.microsoft.com/office/drawing/2014/main" val="20001"/>
                    </a:ext>
                  </a:extLst>
                </a:gridCol>
              </a:tblGrid>
              <a:tr h="370840">
                <a:tc>
                  <a:txBody>
                    <a:bodyPr/>
                    <a:lstStyle/>
                    <a:p>
                      <a:pPr algn="ctr"/>
                      <a:r>
                        <a:rPr lang="fr-CA" dirty="0"/>
                        <a:t>IFRS</a:t>
                      </a:r>
                    </a:p>
                  </a:txBody>
                  <a:tcPr/>
                </a:tc>
                <a:tc>
                  <a:txBody>
                    <a:bodyPr/>
                    <a:lstStyle/>
                    <a:p>
                      <a:pPr algn="ctr"/>
                      <a:r>
                        <a:rPr lang="fr-CA" dirty="0"/>
                        <a:t>NCECF</a:t>
                      </a:r>
                    </a:p>
                  </a:txBody>
                  <a:tcPr/>
                </a:tc>
                <a:extLst>
                  <a:ext uri="{0D108BD9-81ED-4DB2-BD59-A6C34878D82A}">
                    <a16:rowId xmlns:a16="http://schemas.microsoft.com/office/drawing/2014/main" val="10000"/>
                  </a:ext>
                </a:extLst>
              </a:tr>
              <a:tr h="370840">
                <a:tc>
                  <a:txBody>
                    <a:bodyPr/>
                    <a:lstStyle/>
                    <a:p>
                      <a:endParaRPr lang="fr-CA" dirty="0"/>
                    </a:p>
                  </a:txBody>
                  <a:tcPr/>
                </a:tc>
                <a:tc>
                  <a:txBody>
                    <a:bodyPr/>
                    <a:lstStyle/>
                    <a:p>
                      <a:r>
                        <a:rPr lang="fr-CA" dirty="0"/>
                        <a:t>Classement des impôts</a:t>
                      </a:r>
                      <a:r>
                        <a:rPr lang="fr-CA" baseline="0" dirty="0"/>
                        <a:t> futurs - </a:t>
                      </a:r>
                      <a:r>
                        <a:rPr lang="fr-CA" dirty="0"/>
                        <a:t>long terme</a:t>
                      </a:r>
                    </a:p>
                  </a:txBody>
                  <a:tcPr/>
                </a:tc>
                <a:extLst>
                  <a:ext uri="{0D108BD9-81ED-4DB2-BD59-A6C34878D82A}">
                    <a16:rowId xmlns:a16="http://schemas.microsoft.com/office/drawing/2014/main" val="10001"/>
                  </a:ext>
                </a:extLst>
              </a:tr>
              <a:tr h="370840">
                <a:tc>
                  <a:txBody>
                    <a:bodyPr/>
                    <a:lstStyle/>
                    <a:p>
                      <a:endParaRPr lang="fr-CA" dirty="0"/>
                    </a:p>
                  </a:txBody>
                  <a:tcPr/>
                </a:tc>
                <a:tc>
                  <a:txBody>
                    <a:bodyPr/>
                    <a:lstStyle/>
                    <a:p>
                      <a:endParaRPr lang="fr-CA"/>
                    </a:p>
                  </a:txBody>
                  <a:tcPr/>
                </a:tc>
                <a:extLst>
                  <a:ext uri="{0D108BD9-81ED-4DB2-BD59-A6C34878D82A}">
                    <a16:rowId xmlns:a16="http://schemas.microsoft.com/office/drawing/2014/main" val="10002"/>
                  </a:ext>
                </a:extLst>
              </a:tr>
              <a:tr h="731520">
                <a:tc gridSpan="2">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fr-CA" dirty="0"/>
                        <a:t>Compensation des actifs et passifs d’impôts exigible si, et seulement si</a:t>
                      </a:r>
                      <a:r>
                        <a:rPr lang="fr-CA" baseline="0" dirty="0"/>
                        <a:t> l’entité</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baseline="0" dirty="0"/>
                        <a:t>a) A un droit juridiquement exécutoire de compenser les montants comptabilisés ; et</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fr-CA" baseline="0" dirty="0"/>
                        <a:t>b) A l’intention soit de régler le montant net, soit de réaliser l’actif et de régler le passif simultanément</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fr-CA" baseline="0" dirty="0"/>
                        <a:t>Même administration fiscale, même entité imposable</a:t>
                      </a:r>
                      <a:endParaRPr lang="fr-CA" dirty="0"/>
                    </a:p>
                  </a:txBody>
                  <a:tcPr/>
                </a:tc>
                <a:tc hMerge="1">
                  <a:txBody>
                    <a:bodyPr/>
                    <a:lstStyle/>
                    <a:p>
                      <a:endParaRPr lang="fr-CA" dirty="0"/>
                    </a:p>
                  </a:txBody>
                  <a:tcPr/>
                </a:tc>
                <a:extLst>
                  <a:ext uri="{0D108BD9-81ED-4DB2-BD59-A6C34878D82A}">
                    <a16:rowId xmlns:a16="http://schemas.microsoft.com/office/drawing/2014/main" val="10003"/>
                  </a:ext>
                </a:extLst>
              </a:tr>
              <a:tr h="731520">
                <a:tc gridSpan="2">
                  <a:txBody>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lang="fr-CA" dirty="0"/>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fr-CA" dirty="0"/>
                        <a:t>Pas d’actualisation</a:t>
                      </a:r>
                    </a:p>
                  </a:txBody>
                  <a:tcPr/>
                </a:tc>
                <a:tc hMerge="1">
                  <a:txBody>
                    <a:bodyPr/>
                    <a:lstStyle/>
                    <a:p>
                      <a:endParaRPr lang="fr-CA"/>
                    </a:p>
                  </a:txBody>
                  <a:tcPr/>
                </a:tc>
                <a:extLst>
                  <a:ext uri="{0D108BD9-81ED-4DB2-BD59-A6C34878D82A}">
                    <a16:rowId xmlns:a16="http://schemas.microsoft.com/office/drawing/2014/main" val="10004"/>
                  </a:ext>
                </a:extLst>
              </a:tr>
            </a:tbl>
          </a:graphicData>
        </a:graphic>
      </p:graphicFrame>
      <p:sp>
        <p:nvSpPr>
          <p:cNvPr id="4" name="Espace réservé du numéro de diapositive 3"/>
          <p:cNvSpPr>
            <a:spLocks noGrp="1"/>
          </p:cNvSpPr>
          <p:nvPr>
            <p:ph type="sldNum" sz="quarter" idx="12"/>
          </p:nvPr>
        </p:nvSpPr>
        <p:spPr/>
        <p:txBody>
          <a:bodyPr/>
          <a:lstStyle/>
          <a:p>
            <a:fld id="{1979E831-8B4F-8947-B719-B3666B4E8645}" type="slidenum">
              <a:rPr lang="fr-FR" smtClean="0"/>
              <a:t>39</a:t>
            </a:fld>
            <a:endParaRPr lang="fr-FR"/>
          </a:p>
        </p:txBody>
      </p:sp>
    </p:spTree>
    <p:extLst>
      <p:ext uri="{BB962C8B-B14F-4D97-AF65-F5344CB8AC3E}">
        <p14:creationId xmlns:p14="http://schemas.microsoft.com/office/powerpoint/2010/main" val="27950214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b="1" dirty="0">
                <a:solidFill>
                  <a:srgbClr val="FF0000"/>
                </a:solidFill>
              </a:rPr>
              <a:t>Avantages du personnel</a:t>
            </a:r>
          </a:p>
        </p:txBody>
      </p:sp>
      <p:sp>
        <p:nvSpPr>
          <p:cNvPr id="3" name="Espace réservé du contenu 2"/>
          <p:cNvSpPr>
            <a:spLocks noGrp="1"/>
          </p:cNvSpPr>
          <p:nvPr>
            <p:ph idx="1"/>
          </p:nvPr>
        </p:nvSpPr>
        <p:spPr/>
        <p:txBody>
          <a:bodyPr>
            <a:normAutofit/>
          </a:bodyPr>
          <a:lstStyle/>
          <a:p>
            <a:endParaRPr lang="fr-CA" dirty="0"/>
          </a:p>
          <a:p>
            <a:endParaRPr lang="fr-CA" dirty="0"/>
          </a:p>
          <a:p>
            <a:r>
              <a:rPr lang="fr-CA" dirty="0"/>
              <a:t>IAS 19  Avantages du personnel</a:t>
            </a:r>
          </a:p>
          <a:p>
            <a:endParaRPr lang="fr-CA" dirty="0"/>
          </a:p>
          <a:p>
            <a:r>
              <a:rPr lang="fr-CA" dirty="0"/>
              <a:t>Chap. 3462 :  Avantages sociaux futurs</a:t>
            </a:r>
          </a:p>
          <a:p>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40</a:t>
            </a:fld>
            <a:endParaRPr lang="fr-FR"/>
          </a:p>
        </p:txBody>
      </p:sp>
    </p:spTree>
    <p:extLst>
      <p:ext uri="{BB962C8B-B14F-4D97-AF65-F5344CB8AC3E}">
        <p14:creationId xmlns:p14="http://schemas.microsoft.com/office/powerpoint/2010/main" val="19616144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Champs d’application</a:t>
            </a:r>
            <a:endParaRPr lang="fr-CA" dirty="0"/>
          </a:p>
        </p:txBody>
      </p:sp>
      <p:sp>
        <p:nvSpPr>
          <p:cNvPr id="3" name="Espace réservé du contenu 2"/>
          <p:cNvSpPr>
            <a:spLocks noGrp="1"/>
          </p:cNvSpPr>
          <p:nvPr>
            <p:ph idx="1"/>
          </p:nvPr>
        </p:nvSpPr>
        <p:spPr/>
        <p:txBody>
          <a:bodyPr/>
          <a:lstStyle/>
          <a:p>
            <a:r>
              <a:rPr lang="fr-CA" dirty="0"/>
              <a:t>Chap. 3462 ne couvre pas les avantages pendant l’emploi</a:t>
            </a:r>
          </a:p>
          <a:p>
            <a:pPr marL="0" indent="0">
              <a:buNone/>
            </a:pPr>
            <a:endParaRPr lang="fr-CA" dirty="0"/>
          </a:p>
          <a:p>
            <a:r>
              <a:rPr lang="fr-CA" dirty="0"/>
              <a:t>IAS 19 / Chap. 3462 ne couvrent pas les paiements fondés sur des actions</a:t>
            </a:r>
          </a:p>
          <a:p>
            <a:pPr lvl="1"/>
            <a:r>
              <a:rPr lang="fr-CA" dirty="0"/>
              <a:t>IFRS 2 / chap. 3870</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41</a:t>
            </a:fld>
            <a:endParaRPr lang="fr-FR"/>
          </a:p>
        </p:txBody>
      </p:sp>
    </p:spTree>
    <p:extLst>
      <p:ext uri="{BB962C8B-B14F-4D97-AF65-F5344CB8AC3E}">
        <p14:creationId xmlns:p14="http://schemas.microsoft.com/office/powerpoint/2010/main" val="3323995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Avantages du personnel</a:t>
            </a:r>
            <a:endParaRPr lang="fr-CA" dirty="0"/>
          </a:p>
        </p:txBody>
      </p:sp>
      <p:sp>
        <p:nvSpPr>
          <p:cNvPr id="3" name="Espace réservé du contenu 2"/>
          <p:cNvSpPr>
            <a:spLocks noGrp="1"/>
          </p:cNvSpPr>
          <p:nvPr>
            <p:ph idx="1"/>
          </p:nvPr>
        </p:nvSpPr>
        <p:spPr/>
        <p:txBody>
          <a:bodyPr>
            <a:normAutofit fontScale="92500" lnSpcReduction="10000"/>
          </a:bodyPr>
          <a:lstStyle/>
          <a:p>
            <a:r>
              <a:rPr lang="fr-CA" dirty="0"/>
              <a:t>Avantages à court terme</a:t>
            </a:r>
          </a:p>
          <a:p>
            <a:pPr lvl="1"/>
            <a:r>
              <a:rPr lang="fr-CA" dirty="0"/>
              <a:t>Congés annuels payés et congés de maladie payés</a:t>
            </a:r>
          </a:p>
          <a:p>
            <a:pPr lvl="1"/>
            <a:r>
              <a:rPr lang="fr-CA" dirty="0"/>
              <a:t>Les bonis</a:t>
            </a:r>
          </a:p>
          <a:p>
            <a:pPr lvl="1"/>
            <a:r>
              <a:rPr lang="fr-CA" dirty="0"/>
              <a:t>Les avantages autres que monétaires : automobile, assurances</a:t>
            </a:r>
          </a:p>
          <a:p>
            <a:r>
              <a:rPr lang="fr-CA" dirty="0"/>
              <a:t>Avantages postérieurs à l’emploi</a:t>
            </a:r>
          </a:p>
          <a:p>
            <a:pPr lvl="1"/>
            <a:r>
              <a:rPr lang="fr-CA" dirty="0"/>
              <a:t>Prestations de retraite</a:t>
            </a:r>
          </a:p>
          <a:p>
            <a:pPr lvl="1"/>
            <a:r>
              <a:rPr lang="fr-CA" dirty="0"/>
              <a:t>Autres avantages : assurance…</a:t>
            </a:r>
          </a:p>
          <a:p>
            <a:r>
              <a:rPr lang="fr-CA" dirty="0"/>
              <a:t>Avantages à long terme</a:t>
            </a:r>
          </a:p>
          <a:p>
            <a:pPr lvl="1"/>
            <a:r>
              <a:rPr lang="fr-CA" dirty="0"/>
              <a:t>Congés sabbatiques rémunérés</a:t>
            </a:r>
          </a:p>
          <a:p>
            <a:pPr lvl="1"/>
            <a:r>
              <a:rPr lang="fr-CA" dirty="0"/>
              <a:t>Invalidité long terme</a:t>
            </a:r>
          </a:p>
          <a:p>
            <a:r>
              <a:rPr lang="fr-CA" dirty="0"/>
              <a:t>Les indemnités de cessation d’emploi</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42</a:t>
            </a:fld>
            <a:endParaRPr lang="fr-FR"/>
          </a:p>
        </p:txBody>
      </p:sp>
    </p:spTree>
    <p:extLst>
      <p:ext uri="{BB962C8B-B14F-4D97-AF65-F5344CB8AC3E}">
        <p14:creationId xmlns:p14="http://schemas.microsoft.com/office/powerpoint/2010/main" val="5500326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Impact comptable?</a:t>
            </a:r>
            <a:endParaRPr lang="fr-CA" dirty="0"/>
          </a:p>
        </p:txBody>
      </p:sp>
      <p:sp>
        <p:nvSpPr>
          <p:cNvPr id="3" name="Espace réservé du contenu 2"/>
          <p:cNvSpPr>
            <a:spLocks noGrp="1"/>
          </p:cNvSpPr>
          <p:nvPr>
            <p:ph idx="1"/>
          </p:nvPr>
        </p:nvSpPr>
        <p:spPr>
          <a:xfrm>
            <a:off x="838200" y="1967697"/>
            <a:ext cx="10250214" cy="4158467"/>
          </a:xfrm>
        </p:spPr>
        <p:txBody>
          <a:bodyPr/>
          <a:lstStyle/>
          <a:p>
            <a:r>
              <a:rPr lang="fr-CA" dirty="0"/>
              <a:t>Régime à cotisations définies</a:t>
            </a:r>
          </a:p>
          <a:p>
            <a:pPr marL="0" indent="0">
              <a:buNone/>
            </a:pPr>
            <a:endParaRPr lang="fr-CA" dirty="0"/>
          </a:p>
          <a:p>
            <a:r>
              <a:rPr lang="fr-CA" dirty="0"/>
              <a:t>Régime à prestations définies</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43</a:t>
            </a:fld>
            <a:endParaRPr lang="fr-FR"/>
          </a:p>
        </p:txBody>
      </p:sp>
    </p:spTree>
    <p:extLst>
      <p:ext uri="{BB962C8B-B14F-4D97-AF65-F5344CB8AC3E}">
        <p14:creationId xmlns:p14="http://schemas.microsoft.com/office/powerpoint/2010/main" val="37110504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Impact comptable?</a:t>
            </a:r>
            <a:endParaRPr lang="fr-CA" dirty="0"/>
          </a:p>
        </p:txBody>
      </p:sp>
      <p:sp>
        <p:nvSpPr>
          <p:cNvPr id="3" name="Espace réservé du contenu 2"/>
          <p:cNvSpPr>
            <a:spLocks noGrp="1"/>
          </p:cNvSpPr>
          <p:nvPr>
            <p:ph idx="1"/>
          </p:nvPr>
        </p:nvSpPr>
        <p:spPr>
          <a:xfrm>
            <a:off x="924910" y="1967697"/>
            <a:ext cx="10428890" cy="4158467"/>
          </a:xfrm>
        </p:spPr>
        <p:txBody>
          <a:bodyPr>
            <a:normAutofit/>
          </a:bodyPr>
          <a:lstStyle/>
          <a:p>
            <a:r>
              <a:rPr lang="fr-CA" dirty="0"/>
              <a:t>Régime à cotisations définies</a:t>
            </a:r>
          </a:p>
          <a:p>
            <a:pPr lvl="1"/>
            <a:r>
              <a:rPr lang="fr-CA" dirty="0"/>
              <a:t>Charge, et Compte à payer si n’a pas les versements requis </a:t>
            </a:r>
          </a:p>
          <a:p>
            <a:pPr lvl="2"/>
            <a:r>
              <a:rPr lang="fr-CA" dirty="0"/>
              <a:t>Habituellement % salaire de base</a:t>
            </a:r>
          </a:p>
          <a:p>
            <a:pPr marL="0" indent="0">
              <a:buNone/>
            </a:pPr>
            <a:endParaRPr lang="fr-CA" dirty="0"/>
          </a:p>
          <a:p>
            <a:r>
              <a:rPr lang="fr-CA" dirty="0"/>
              <a:t>Régime à prestations définies</a:t>
            </a:r>
          </a:p>
          <a:p>
            <a:pPr lvl="1"/>
            <a:r>
              <a:rPr lang="fr-CA" dirty="0"/>
              <a:t>Actif et passif du régime en note aux états financiers</a:t>
            </a:r>
          </a:p>
          <a:p>
            <a:pPr lvl="1"/>
            <a:r>
              <a:rPr lang="fr-CA" dirty="0"/>
              <a:t>Charge, et Compte à payer si régime sous-capitalisé</a:t>
            </a:r>
          </a:p>
          <a:p>
            <a:pPr lvl="2"/>
            <a:r>
              <a:rPr lang="fr-CA" dirty="0"/>
              <a:t>IFRS : charge / AERG</a:t>
            </a:r>
          </a:p>
          <a:p>
            <a:pPr lvl="1"/>
            <a:endParaRPr lang="fr-CA" dirty="0"/>
          </a:p>
          <a:p>
            <a:pPr lvl="1">
              <a:buFont typeface="Wingdings" panose="05000000000000000000" pitchFamily="2" charset="2"/>
              <a:buChar char="Ø"/>
            </a:pPr>
            <a:r>
              <a:rPr lang="fr-CA" dirty="0"/>
              <a:t>Revoir notion de risque</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44</a:t>
            </a:fld>
            <a:endParaRPr lang="fr-FR"/>
          </a:p>
        </p:txBody>
      </p:sp>
    </p:spTree>
    <p:extLst>
      <p:ext uri="{BB962C8B-B14F-4D97-AF65-F5344CB8AC3E}">
        <p14:creationId xmlns:p14="http://schemas.microsoft.com/office/powerpoint/2010/main" val="23354406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Prestation de cessation d’emploi</a:t>
            </a:r>
          </a:p>
        </p:txBody>
      </p:sp>
      <p:sp>
        <p:nvSpPr>
          <p:cNvPr id="3" name="Espace réservé du contenu 2"/>
          <p:cNvSpPr>
            <a:spLocks noGrp="1"/>
          </p:cNvSpPr>
          <p:nvPr>
            <p:ph idx="1"/>
          </p:nvPr>
        </p:nvSpPr>
        <p:spPr>
          <a:xfrm>
            <a:off x="838200" y="1967697"/>
            <a:ext cx="10386848" cy="4158467"/>
          </a:xfrm>
        </p:spPr>
        <p:txBody>
          <a:bodyPr/>
          <a:lstStyle/>
          <a:p>
            <a:pPr marL="0" indent="0">
              <a:buNone/>
            </a:pPr>
            <a:r>
              <a:rPr lang="fr-CA" dirty="0"/>
              <a:t>ABC considère qu’il a un surplus d’ingénieurs parmi son personnel, mais souhaite ne pas entacher son image. Elle opte donc pour un programme de départ volontaire, avec compensation.</a:t>
            </a:r>
          </a:p>
          <a:p>
            <a:pPr marL="0" indent="0">
              <a:buNone/>
            </a:pPr>
            <a:r>
              <a:rPr lang="fr-CA" i="1" dirty="0"/>
              <a:t>A quel moment </a:t>
            </a:r>
            <a:r>
              <a:rPr lang="fr-CA" i="1" dirty="0" err="1"/>
              <a:t>doit-elle</a:t>
            </a:r>
            <a:r>
              <a:rPr lang="fr-CA" i="1" dirty="0"/>
              <a:t> comptabiliser un passif?</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45</a:t>
            </a:fld>
            <a:endParaRPr lang="fr-FR"/>
          </a:p>
        </p:txBody>
      </p:sp>
    </p:spTree>
    <p:extLst>
      <p:ext uri="{BB962C8B-B14F-4D97-AF65-F5344CB8AC3E}">
        <p14:creationId xmlns:p14="http://schemas.microsoft.com/office/powerpoint/2010/main" val="34967712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Prestation de cessation d’emploi - solution</a:t>
            </a:r>
          </a:p>
        </p:txBody>
      </p:sp>
      <p:sp>
        <p:nvSpPr>
          <p:cNvPr id="3" name="Espace réservé du contenu 2"/>
          <p:cNvSpPr>
            <a:spLocks noGrp="1"/>
          </p:cNvSpPr>
          <p:nvPr>
            <p:ph idx="1"/>
          </p:nvPr>
        </p:nvSpPr>
        <p:spPr>
          <a:xfrm>
            <a:off x="838200" y="1967697"/>
            <a:ext cx="10386848" cy="4158467"/>
          </a:xfrm>
        </p:spPr>
        <p:txBody>
          <a:bodyPr>
            <a:normAutofit fontScale="92500" lnSpcReduction="10000"/>
          </a:bodyPr>
          <a:lstStyle/>
          <a:p>
            <a:pPr marL="0" indent="0">
              <a:buNone/>
            </a:pPr>
            <a:r>
              <a:rPr lang="fr-CA" dirty="0"/>
              <a:t>ABC considère qu’il a un surplus d’ingénieurs parmi son personnel, mais souhaite ne pas entacher son image. Elle opte donc pour un programme de départ volontaire, avec compensation.</a:t>
            </a:r>
          </a:p>
          <a:p>
            <a:pPr marL="0" indent="0">
              <a:buNone/>
            </a:pPr>
            <a:r>
              <a:rPr lang="fr-CA" i="1" dirty="0"/>
              <a:t>A quel moment doit-elle comptabiliser un passif?</a:t>
            </a:r>
          </a:p>
          <a:p>
            <a:pPr marL="0" indent="0">
              <a:buNone/>
            </a:pPr>
            <a:endParaRPr lang="fr-CA" i="1" dirty="0"/>
          </a:p>
          <a:p>
            <a:r>
              <a:rPr lang="fr-CA" dirty="0"/>
              <a:t>Moment de comptabilisation </a:t>
            </a:r>
          </a:p>
          <a:p>
            <a:pPr marL="171450" indent="-171450">
              <a:buFontTx/>
              <a:buChar char="-"/>
            </a:pPr>
            <a:r>
              <a:rPr lang="fr-CA" dirty="0"/>
              <a:t>Décision de la direction : au moment de la décision</a:t>
            </a:r>
          </a:p>
          <a:p>
            <a:pPr marL="171450" indent="-171450">
              <a:buFontTx/>
              <a:buChar char="-"/>
            </a:pPr>
            <a:r>
              <a:rPr lang="fr-CA" dirty="0"/>
              <a:t>Programme volontaire : au moment où l’employé décide d’en bénéficier</a:t>
            </a:r>
          </a:p>
          <a:p>
            <a:pPr marL="171450" indent="-171450">
              <a:buFontTx/>
              <a:buChar char="-"/>
            </a:pPr>
            <a:endParaRPr lang="fr-CA" dirty="0"/>
          </a:p>
          <a:p>
            <a:r>
              <a:rPr lang="fr-CA" dirty="0"/>
              <a:t>Revoir la définition d’un passif</a:t>
            </a:r>
          </a:p>
          <a:p>
            <a:pPr marL="0" indent="0">
              <a:buNone/>
            </a:pPr>
            <a:endParaRPr lang="fr-CA" i="1"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46</a:t>
            </a:fld>
            <a:endParaRPr lang="fr-FR"/>
          </a:p>
        </p:txBody>
      </p:sp>
    </p:spTree>
    <p:extLst>
      <p:ext uri="{BB962C8B-B14F-4D97-AF65-F5344CB8AC3E}">
        <p14:creationId xmlns:p14="http://schemas.microsoft.com/office/powerpoint/2010/main" val="10452534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b="1" dirty="0">
                <a:solidFill>
                  <a:srgbClr val="FF0000"/>
                </a:solidFill>
              </a:rPr>
              <a:t>Résultat par action</a:t>
            </a:r>
          </a:p>
        </p:txBody>
      </p:sp>
      <p:sp>
        <p:nvSpPr>
          <p:cNvPr id="3" name="Espace réservé du contenu 2"/>
          <p:cNvSpPr>
            <a:spLocks noGrp="1"/>
          </p:cNvSpPr>
          <p:nvPr>
            <p:ph idx="1"/>
          </p:nvPr>
        </p:nvSpPr>
        <p:spPr/>
        <p:txBody>
          <a:bodyPr>
            <a:normAutofit/>
          </a:bodyPr>
          <a:lstStyle/>
          <a:p>
            <a:endParaRPr lang="fr-CA" dirty="0"/>
          </a:p>
          <a:p>
            <a:endParaRPr lang="fr-CA" dirty="0"/>
          </a:p>
          <a:p>
            <a:r>
              <a:rPr lang="fr-CA" dirty="0"/>
              <a:t>IAS 33  Résultat par action</a:t>
            </a:r>
          </a:p>
          <a:p>
            <a:endParaRPr lang="fr-CA" dirty="0"/>
          </a:p>
          <a:p>
            <a:r>
              <a:rPr lang="fr-CA" dirty="0"/>
              <a:t>NCECF : non requis</a:t>
            </a:r>
          </a:p>
          <a:p>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47</a:t>
            </a:fld>
            <a:endParaRPr lang="fr-FR"/>
          </a:p>
        </p:txBody>
      </p:sp>
    </p:spTree>
    <p:extLst>
      <p:ext uri="{BB962C8B-B14F-4D97-AF65-F5344CB8AC3E}">
        <p14:creationId xmlns:p14="http://schemas.microsoft.com/office/powerpoint/2010/main" val="37625841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4000" dirty="0"/>
              <a:t>Résultat par action</a:t>
            </a:r>
          </a:p>
        </p:txBody>
      </p:sp>
      <p:sp>
        <p:nvSpPr>
          <p:cNvPr id="3" name="Espace réservé du contenu 2"/>
          <p:cNvSpPr>
            <a:spLocks noGrp="1"/>
          </p:cNvSpPr>
          <p:nvPr>
            <p:ph idx="1"/>
          </p:nvPr>
        </p:nvSpPr>
        <p:spPr/>
        <p:txBody>
          <a:bodyPr>
            <a:normAutofit fontScale="85000" lnSpcReduction="20000"/>
          </a:bodyPr>
          <a:lstStyle/>
          <a:p>
            <a:pPr marL="0" indent="0">
              <a:buNone/>
            </a:pPr>
            <a:r>
              <a:rPr lang="fr-CA" b="1" dirty="0"/>
              <a:t>Résultat de </a:t>
            </a:r>
            <a:r>
              <a:rPr lang="fr-CA" b="1" dirty="0">
                <a:highlight>
                  <a:srgbClr val="00FF00"/>
                </a:highlight>
              </a:rPr>
              <a:t>base </a:t>
            </a:r>
            <a:r>
              <a:rPr lang="fr-CA" b="1" dirty="0"/>
              <a:t>par action</a:t>
            </a:r>
          </a:p>
          <a:p>
            <a:r>
              <a:rPr lang="fr-CA" sz="3100" dirty="0"/>
              <a:t>Diviser le résultat net </a:t>
            </a:r>
            <a:r>
              <a:rPr lang="fr-CA" sz="3100" dirty="0">
                <a:highlight>
                  <a:srgbClr val="FFFF00"/>
                </a:highlight>
              </a:rPr>
              <a:t>attribuable</a:t>
            </a:r>
            <a:r>
              <a:rPr lang="fr-CA" sz="3100" dirty="0"/>
              <a:t> aux porteurs d’actions ordinaires par le nombre moyen </a:t>
            </a:r>
            <a:r>
              <a:rPr lang="fr-CA" sz="3100" dirty="0">
                <a:highlight>
                  <a:srgbClr val="00FF00"/>
                </a:highlight>
              </a:rPr>
              <a:t>pondéré </a:t>
            </a:r>
            <a:r>
              <a:rPr lang="fr-CA" sz="3100" dirty="0"/>
              <a:t>d’actions ordinaires en </a:t>
            </a:r>
            <a:r>
              <a:rPr lang="fr-CA" sz="3100" dirty="0">
                <a:highlight>
                  <a:srgbClr val="00FF00"/>
                </a:highlight>
              </a:rPr>
              <a:t>circulations</a:t>
            </a:r>
            <a:r>
              <a:rPr lang="fr-CA" sz="3100" dirty="0"/>
              <a:t> au cours de la période</a:t>
            </a:r>
          </a:p>
          <a:p>
            <a:pPr lvl="1"/>
            <a:r>
              <a:rPr lang="fr-CA" sz="2600" dirty="0"/>
              <a:t>actions préférentielles </a:t>
            </a:r>
            <a:r>
              <a:rPr lang="fr-CA" sz="2600" dirty="0">
                <a:highlight>
                  <a:srgbClr val="00FF00"/>
                </a:highlight>
              </a:rPr>
              <a:t>= dette </a:t>
            </a:r>
            <a:r>
              <a:rPr lang="fr-CA" sz="2600" dirty="0"/>
              <a:t>pour cette norme, même si aux capitaux propres</a:t>
            </a:r>
          </a:p>
          <a:p>
            <a:pPr marL="0" indent="0">
              <a:buNone/>
            </a:pPr>
            <a:endParaRPr lang="fr-CA" dirty="0"/>
          </a:p>
          <a:p>
            <a:pPr marL="0" indent="0">
              <a:buNone/>
            </a:pPr>
            <a:r>
              <a:rPr lang="fr-CA" b="1" dirty="0"/>
              <a:t>Résultat </a:t>
            </a:r>
            <a:r>
              <a:rPr lang="fr-CA" b="1" dirty="0">
                <a:highlight>
                  <a:srgbClr val="00FF00"/>
                </a:highlight>
              </a:rPr>
              <a:t>dilué</a:t>
            </a:r>
            <a:r>
              <a:rPr lang="fr-CA" b="1" dirty="0"/>
              <a:t> par action</a:t>
            </a:r>
          </a:p>
          <a:p>
            <a:r>
              <a:rPr lang="fr-CA" sz="3100" dirty="0"/>
              <a:t>Résultat de base </a:t>
            </a:r>
            <a:r>
              <a:rPr lang="fr-CA" sz="3100" dirty="0">
                <a:highlight>
                  <a:srgbClr val="00FF00"/>
                </a:highlight>
              </a:rPr>
              <a:t>ajusté </a:t>
            </a:r>
            <a:r>
              <a:rPr lang="fr-CA" sz="3100" dirty="0"/>
              <a:t>pour tous les </a:t>
            </a:r>
            <a:r>
              <a:rPr lang="fr-CA" sz="3100" dirty="0">
                <a:highlight>
                  <a:srgbClr val="00FF00"/>
                </a:highlight>
              </a:rPr>
              <a:t>effets</a:t>
            </a:r>
            <a:r>
              <a:rPr lang="fr-CA" sz="3100" dirty="0"/>
              <a:t> de toutes les actions ordinaires potentielles </a:t>
            </a:r>
            <a:r>
              <a:rPr lang="fr-CA" sz="3100" dirty="0">
                <a:highlight>
                  <a:srgbClr val="00FF00"/>
                </a:highlight>
              </a:rPr>
              <a:t>dilutives</a:t>
            </a:r>
          </a:p>
          <a:p>
            <a:pPr lvl="1"/>
            <a:r>
              <a:rPr lang="fr-CA" dirty="0" err="1"/>
              <a:t>Antidilution</a:t>
            </a:r>
            <a:r>
              <a:rPr lang="fr-CA" dirty="0"/>
              <a:t>?</a:t>
            </a:r>
          </a:p>
          <a:p>
            <a:endParaRPr lang="fr-CA" sz="2000" dirty="0"/>
          </a:p>
          <a:p>
            <a:pPr lvl="1">
              <a:buFont typeface="Wingdings" panose="05000000000000000000" pitchFamily="2" charset="2"/>
              <a:buChar char="Ø"/>
            </a:pPr>
            <a:r>
              <a:rPr lang="fr-CA" dirty="0"/>
              <a:t>Activités poursuivies et résultat net</a:t>
            </a:r>
          </a:p>
          <a:p>
            <a:pPr lvl="2">
              <a:buFont typeface="Wingdings" panose="05000000000000000000" pitchFamily="2" charset="2"/>
              <a:buChar char="Ø"/>
            </a:pPr>
            <a:r>
              <a:rPr lang="fr-CA" dirty="0"/>
              <a:t>Et au comparatif</a:t>
            </a:r>
          </a:p>
          <a:p>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48</a:t>
            </a:fld>
            <a:endParaRPr lang="fr-FR"/>
          </a:p>
        </p:txBody>
      </p:sp>
    </p:spTree>
    <p:extLst>
      <p:ext uri="{BB962C8B-B14F-4D97-AF65-F5344CB8AC3E}">
        <p14:creationId xmlns:p14="http://schemas.microsoft.com/office/powerpoint/2010/main" val="1592793639"/>
      </p:ext>
    </p:extLst>
  </p:cSld>
  <p:clrMapOvr>
    <a:masterClrMapping/>
  </p:clrMapOvr>
  <p:extLst>
    <p:ext uri="{6950BFC3-D8DA-4A85-94F7-54DA5524770B}">
      <p188:commentRel xmlns:p188="http://schemas.microsoft.com/office/powerpoint/2018/8/main" r:id="rId3"/>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DD7564-E311-4E97-AFFC-3B0AFC9EAAA2}"/>
              </a:ext>
            </a:extLst>
          </p:cNvPr>
          <p:cNvSpPr>
            <a:spLocks noGrp="1"/>
          </p:cNvSpPr>
          <p:nvPr>
            <p:ph type="title"/>
          </p:nvPr>
        </p:nvSpPr>
        <p:spPr/>
        <p:txBody>
          <a:bodyPr/>
          <a:lstStyle/>
          <a:p>
            <a:r>
              <a:rPr lang="fr-CA" dirty="0"/>
              <a:t>Calcul lié à une dette convertible</a:t>
            </a:r>
            <a:endParaRPr lang="fr-FR" dirty="0"/>
          </a:p>
        </p:txBody>
      </p:sp>
      <p:sp>
        <p:nvSpPr>
          <p:cNvPr id="3" name="Espace réservé du contenu 2">
            <a:extLst>
              <a:ext uri="{FF2B5EF4-FFF2-40B4-BE49-F238E27FC236}">
                <a16:creationId xmlns:a16="http://schemas.microsoft.com/office/drawing/2014/main" id="{2F69AB55-900B-4F79-89CF-3BE859A0D69E}"/>
              </a:ext>
            </a:extLst>
          </p:cNvPr>
          <p:cNvSpPr>
            <a:spLocks noGrp="1"/>
          </p:cNvSpPr>
          <p:nvPr>
            <p:ph idx="1"/>
          </p:nvPr>
        </p:nvSpPr>
        <p:spPr/>
        <p:txBody>
          <a:bodyPr>
            <a:normAutofit fontScale="85000" lnSpcReduction="10000"/>
          </a:bodyPr>
          <a:lstStyle/>
          <a:p>
            <a:pPr marL="0" indent="0">
              <a:buNone/>
            </a:pPr>
            <a:r>
              <a:rPr lang="fr-CA" dirty="0"/>
              <a:t>Impact sur le </a:t>
            </a:r>
            <a:r>
              <a:rPr lang="fr-CA" b="1" dirty="0"/>
              <a:t>résultat dilué par action</a:t>
            </a:r>
          </a:p>
          <a:p>
            <a:r>
              <a:rPr lang="fr-CA" dirty="0"/>
              <a:t>Il faut faire "comme si" la dette était convertie en début de période </a:t>
            </a:r>
            <a:r>
              <a:rPr lang="fr-CA" i="1" dirty="0"/>
              <a:t>(ou date d’émission si au cours de la période)</a:t>
            </a:r>
          </a:p>
          <a:p>
            <a:r>
              <a:rPr lang="fr-CA" b="1" dirty="0"/>
              <a:t>Si</a:t>
            </a:r>
            <a:r>
              <a:rPr lang="fr-CA" dirty="0"/>
              <a:t> la dette avait été convertie, il n'y aurait pas eu de frais financiers (intérêts) pour la période, et par contre il n'y aurait pas eu la réduction d'impôts liée à cette charge additionnelle (calcul du numérateur)</a:t>
            </a:r>
          </a:p>
          <a:p>
            <a:r>
              <a:rPr lang="fr-CA" dirty="0"/>
              <a:t>Quant à dénominateur, il s'agit de la conversion hypothétique en début de période </a:t>
            </a:r>
            <a:r>
              <a:rPr lang="fr-CA" i="1" dirty="0"/>
              <a:t>(ou date d’émission si au cours de la période)</a:t>
            </a:r>
            <a:r>
              <a:rPr lang="fr-CA" dirty="0"/>
              <a:t>, donc nombre d'actions qui aurait été émis si la débenture avait été convertie en début de période.</a:t>
            </a:r>
          </a:p>
          <a:p>
            <a:r>
              <a:rPr lang="fr-CA" dirty="0"/>
              <a:t>Le résultat vous donne l'impact marginal afin de déterminer si cet élément est dilutif ou non. S'il est anti-dilutif, il ne faut pas l'inclure dans le calcul du résultat dilué mais simplement mentionner en note que non inclus dans le calcul</a:t>
            </a:r>
          </a:p>
          <a:p>
            <a:pPr marL="0" indent="0">
              <a:buNone/>
            </a:pPr>
            <a:endParaRPr lang="fr-FR" dirty="0"/>
          </a:p>
        </p:txBody>
      </p:sp>
    </p:spTree>
    <p:extLst>
      <p:ext uri="{BB962C8B-B14F-4D97-AF65-F5344CB8AC3E}">
        <p14:creationId xmlns:p14="http://schemas.microsoft.com/office/powerpoint/2010/main" val="35645285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EDD7564-E311-4E97-AFFC-3B0AFC9EAAA2}"/>
              </a:ext>
            </a:extLst>
          </p:cNvPr>
          <p:cNvSpPr>
            <a:spLocks noGrp="1"/>
          </p:cNvSpPr>
          <p:nvPr>
            <p:ph type="title"/>
          </p:nvPr>
        </p:nvSpPr>
        <p:spPr/>
        <p:txBody>
          <a:bodyPr/>
          <a:lstStyle/>
          <a:p>
            <a:r>
              <a:rPr lang="fr-CA" dirty="0"/>
              <a:t>Calcul lié aux options</a:t>
            </a:r>
            <a:endParaRPr lang="fr-FR" dirty="0"/>
          </a:p>
        </p:txBody>
      </p:sp>
      <p:sp>
        <p:nvSpPr>
          <p:cNvPr id="3" name="Espace réservé du contenu 2">
            <a:extLst>
              <a:ext uri="{FF2B5EF4-FFF2-40B4-BE49-F238E27FC236}">
                <a16:creationId xmlns:a16="http://schemas.microsoft.com/office/drawing/2014/main" id="{2F69AB55-900B-4F79-89CF-3BE859A0D69E}"/>
              </a:ext>
            </a:extLst>
          </p:cNvPr>
          <p:cNvSpPr>
            <a:spLocks noGrp="1"/>
          </p:cNvSpPr>
          <p:nvPr>
            <p:ph idx="1"/>
          </p:nvPr>
        </p:nvSpPr>
        <p:spPr/>
        <p:txBody>
          <a:bodyPr>
            <a:normAutofit/>
          </a:bodyPr>
          <a:lstStyle/>
          <a:p>
            <a:pPr marL="0" indent="0">
              <a:buNone/>
            </a:pPr>
            <a:r>
              <a:rPr lang="fr-CA" dirty="0"/>
              <a:t>Impact sur le </a:t>
            </a:r>
            <a:r>
              <a:rPr lang="fr-CA" b="1" dirty="0"/>
              <a:t>résultat dilué par action</a:t>
            </a:r>
          </a:p>
          <a:p>
            <a:r>
              <a:rPr lang="fr-CA" dirty="0"/>
              <a:t>"méthode du rachat" : c'est à dire que nous faisons "comme si" les options avaient été exercées en début de période et que $ reçu a été utilisé pour racheter des actions au </a:t>
            </a:r>
            <a:r>
              <a:rPr lang="fr-CA" b="1" dirty="0"/>
              <a:t>cours moyen</a:t>
            </a:r>
          </a:p>
          <a:p>
            <a:r>
              <a:rPr lang="fr-CA" dirty="0"/>
              <a:t>Actions émises à la suite de l'exercice des options moins actions rachetées avec somme qui aurait été reçue = nombre d'actions additionnelles (donc dilutif)</a:t>
            </a:r>
          </a:p>
          <a:p>
            <a:r>
              <a:rPr lang="fr-CA" dirty="0"/>
              <a:t>anti-dilutif si prix d'exercice est plus élevé que cours moyen et alors ne pas considérer. </a:t>
            </a:r>
          </a:p>
          <a:p>
            <a:pPr marL="0" indent="0">
              <a:buNone/>
            </a:pPr>
            <a:endParaRPr lang="fr-FR" dirty="0"/>
          </a:p>
        </p:txBody>
      </p:sp>
    </p:spTree>
    <p:extLst>
      <p:ext uri="{BB962C8B-B14F-4D97-AF65-F5344CB8AC3E}">
        <p14:creationId xmlns:p14="http://schemas.microsoft.com/office/powerpoint/2010/main" val="27295557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3F6CE9-BF6B-4849-9EC7-18CDA7831E35}"/>
              </a:ext>
            </a:extLst>
          </p:cNvPr>
          <p:cNvSpPr>
            <a:spLocks noGrp="1"/>
          </p:cNvSpPr>
          <p:nvPr>
            <p:ph type="title"/>
          </p:nvPr>
        </p:nvSpPr>
        <p:spPr/>
        <p:txBody>
          <a:bodyPr>
            <a:normAutofit/>
          </a:bodyPr>
          <a:lstStyle/>
          <a:p>
            <a:r>
              <a:rPr lang="fr-CA" sz="4000" dirty="0"/>
              <a:t>Calculer le résultat de base et le résultat dilué par action</a:t>
            </a:r>
            <a:endParaRPr lang="fr-FR" sz="4000" dirty="0"/>
          </a:p>
        </p:txBody>
      </p:sp>
      <p:sp>
        <p:nvSpPr>
          <p:cNvPr id="3" name="Espace réservé du contenu 2">
            <a:extLst>
              <a:ext uri="{FF2B5EF4-FFF2-40B4-BE49-F238E27FC236}">
                <a16:creationId xmlns:a16="http://schemas.microsoft.com/office/drawing/2014/main" id="{B04E531A-4E79-43D4-87D8-8B3BFA91B087}"/>
              </a:ext>
            </a:extLst>
          </p:cNvPr>
          <p:cNvSpPr>
            <a:spLocks noGrp="1"/>
          </p:cNvSpPr>
          <p:nvPr>
            <p:ph idx="1"/>
          </p:nvPr>
        </p:nvSpPr>
        <p:spPr/>
        <p:txBody>
          <a:bodyPr>
            <a:normAutofit fontScale="70000" lnSpcReduction="20000"/>
          </a:bodyPr>
          <a:lstStyle/>
          <a:p>
            <a:r>
              <a:rPr lang="fr-CA" dirty="0"/>
              <a:t>Résultat net : 100 000 $</a:t>
            </a:r>
          </a:p>
          <a:p>
            <a:r>
              <a:rPr lang="fr-CA" dirty="0"/>
              <a:t>Nombre d’actions ordinaires :</a:t>
            </a:r>
          </a:p>
          <a:p>
            <a:pPr lvl="1"/>
            <a:r>
              <a:rPr lang="fr-CA" dirty="0"/>
              <a:t>Au 31 décembre 20x5 : 10 000 actions ordinaires</a:t>
            </a:r>
          </a:p>
          <a:p>
            <a:pPr lvl="1"/>
            <a:r>
              <a:rPr lang="fr-CA" dirty="0"/>
              <a:t>Au 30 septembre 20x5 : émission 1 000 actions ordinaires </a:t>
            </a:r>
          </a:p>
          <a:p>
            <a:r>
              <a:rPr lang="fr-CA" dirty="0"/>
              <a:t>Actions privilégiées présentées dans les capitaux propres :</a:t>
            </a:r>
          </a:p>
          <a:p>
            <a:pPr lvl="1"/>
            <a:r>
              <a:rPr lang="fr-CA" dirty="0"/>
              <a:t>200 000 $, dividende cumulatif 4 %</a:t>
            </a:r>
          </a:p>
          <a:p>
            <a:r>
              <a:rPr lang="fr-CA" dirty="0"/>
              <a:t>Dette 200 000 $, convertible : par tranche de 1 000 $ en 20 actions ordinaires</a:t>
            </a:r>
          </a:p>
          <a:p>
            <a:pPr lvl="1"/>
            <a:r>
              <a:rPr lang="fr-CA" dirty="0"/>
              <a:t>Portant intérêts au taux de 6 %</a:t>
            </a:r>
          </a:p>
          <a:p>
            <a:r>
              <a:rPr lang="fr-CA" dirty="0"/>
              <a:t>Options :</a:t>
            </a:r>
          </a:p>
          <a:p>
            <a:pPr lvl="1"/>
            <a:r>
              <a:rPr lang="fr-CA" dirty="0"/>
              <a:t>50 options au prix de 40 $</a:t>
            </a:r>
          </a:p>
          <a:p>
            <a:pPr lvl="1"/>
            <a:r>
              <a:rPr lang="fr-CA" dirty="0"/>
              <a:t>70 options au prix de 65 $</a:t>
            </a:r>
          </a:p>
          <a:p>
            <a:r>
              <a:rPr lang="fr-CA" dirty="0"/>
              <a:t>Taux d’impôts : 30 %</a:t>
            </a:r>
          </a:p>
          <a:p>
            <a:r>
              <a:rPr lang="fr-CA" dirty="0"/>
              <a:t>Cours : </a:t>
            </a:r>
          </a:p>
          <a:p>
            <a:pPr lvl="1"/>
            <a:r>
              <a:rPr lang="fr-CA" dirty="0"/>
              <a:t>31 décembre : 50 $</a:t>
            </a:r>
          </a:p>
          <a:p>
            <a:pPr lvl="1"/>
            <a:r>
              <a:rPr lang="fr-CA" dirty="0"/>
              <a:t>Cours moyen : 45 $</a:t>
            </a:r>
            <a:endParaRPr lang="fr-FR" dirty="0"/>
          </a:p>
        </p:txBody>
      </p:sp>
    </p:spTree>
    <p:extLst>
      <p:ext uri="{BB962C8B-B14F-4D97-AF65-F5344CB8AC3E}">
        <p14:creationId xmlns:p14="http://schemas.microsoft.com/office/powerpoint/2010/main" val="14921417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3F6CE9-BF6B-4849-9EC7-18CDA7831E35}"/>
              </a:ext>
            </a:extLst>
          </p:cNvPr>
          <p:cNvSpPr>
            <a:spLocks noGrp="1"/>
          </p:cNvSpPr>
          <p:nvPr>
            <p:ph type="title"/>
          </p:nvPr>
        </p:nvSpPr>
        <p:spPr/>
        <p:txBody>
          <a:bodyPr>
            <a:normAutofit/>
          </a:bodyPr>
          <a:lstStyle/>
          <a:p>
            <a:r>
              <a:rPr lang="fr-CA" sz="4000" dirty="0"/>
              <a:t>Calculer le résultat de base et le résultat dilué par action</a:t>
            </a:r>
            <a:endParaRPr lang="fr-FR" sz="4000" dirty="0"/>
          </a:p>
        </p:txBody>
      </p:sp>
      <p:sp>
        <p:nvSpPr>
          <p:cNvPr id="3" name="Espace réservé du contenu 2">
            <a:extLst>
              <a:ext uri="{FF2B5EF4-FFF2-40B4-BE49-F238E27FC236}">
                <a16:creationId xmlns:a16="http://schemas.microsoft.com/office/drawing/2014/main" id="{B04E531A-4E79-43D4-87D8-8B3BFA91B087}"/>
              </a:ext>
            </a:extLst>
          </p:cNvPr>
          <p:cNvSpPr>
            <a:spLocks noGrp="1"/>
          </p:cNvSpPr>
          <p:nvPr>
            <p:ph idx="1"/>
          </p:nvPr>
        </p:nvSpPr>
        <p:spPr>
          <a:xfrm>
            <a:off x="838200" y="1825625"/>
            <a:ext cx="10515600" cy="4667250"/>
          </a:xfrm>
        </p:spPr>
        <p:txBody>
          <a:bodyPr>
            <a:normAutofit fontScale="62500" lnSpcReduction="20000"/>
          </a:bodyPr>
          <a:lstStyle/>
          <a:p>
            <a:r>
              <a:rPr lang="fr-CA" dirty="0"/>
              <a:t>Résultat net : 100 000 $</a:t>
            </a:r>
          </a:p>
          <a:p>
            <a:r>
              <a:rPr lang="fr-CA" dirty="0"/>
              <a:t>Nombre d’actions ordinaires :</a:t>
            </a:r>
          </a:p>
          <a:p>
            <a:pPr lvl="1"/>
            <a:r>
              <a:rPr lang="fr-CA" dirty="0"/>
              <a:t>Au 31 décembre 20x5 : 10 000 actions ordinaires</a:t>
            </a:r>
          </a:p>
          <a:p>
            <a:pPr lvl="1"/>
            <a:r>
              <a:rPr lang="fr-CA" dirty="0"/>
              <a:t>Au 30 septembre 20x5 : émission 1 000 actions ordinaires </a:t>
            </a:r>
            <a:r>
              <a:rPr lang="fr-CA" dirty="0">
                <a:solidFill>
                  <a:srgbClr val="FF0000"/>
                </a:solidFill>
              </a:rPr>
              <a:t>  nombre moyen pondéré : 9 250</a:t>
            </a:r>
            <a:endParaRPr lang="fr-CA" dirty="0"/>
          </a:p>
          <a:p>
            <a:r>
              <a:rPr lang="fr-CA" dirty="0"/>
              <a:t>Actions privilégiées présentées dans les capitaux propres</a:t>
            </a:r>
          </a:p>
          <a:p>
            <a:pPr lvl="1"/>
            <a:r>
              <a:rPr lang="fr-CA" dirty="0"/>
              <a:t>200 000 $, dividende cumulatif 4 %   </a:t>
            </a:r>
            <a:r>
              <a:rPr lang="fr-CA" dirty="0">
                <a:solidFill>
                  <a:srgbClr val="FF0000"/>
                </a:solidFill>
              </a:rPr>
              <a:t>8 000 $ à réduire du revenu disponible aux actionnaires ordinaires</a:t>
            </a:r>
            <a:endParaRPr lang="fr-CA" dirty="0"/>
          </a:p>
          <a:p>
            <a:r>
              <a:rPr lang="fr-CA" dirty="0"/>
              <a:t>Dette convertible : par tranche de 1 000 $ en 20 actions ordinaires</a:t>
            </a:r>
          </a:p>
          <a:p>
            <a:pPr lvl="1"/>
            <a:r>
              <a:rPr lang="fr-CA" dirty="0"/>
              <a:t>Portant intérêts au taux de 6 %      </a:t>
            </a:r>
            <a:r>
              <a:rPr lang="fr-CA" u="sng" dirty="0">
                <a:solidFill>
                  <a:srgbClr val="FF0000"/>
                </a:solidFill>
              </a:rPr>
              <a:t>200 000 x 6% x (1 – 30%)  </a:t>
            </a:r>
            <a:r>
              <a:rPr lang="fr-CA" dirty="0">
                <a:solidFill>
                  <a:srgbClr val="FF0000"/>
                </a:solidFill>
              </a:rPr>
              <a:t>= </a:t>
            </a:r>
            <a:r>
              <a:rPr lang="fr-CA" u="sng" dirty="0">
                <a:solidFill>
                  <a:srgbClr val="FF0000"/>
                </a:solidFill>
              </a:rPr>
              <a:t>8 400   </a:t>
            </a:r>
            <a:r>
              <a:rPr lang="fr-CA" dirty="0">
                <a:solidFill>
                  <a:srgbClr val="FF0000"/>
                </a:solidFill>
              </a:rPr>
              <a:t>= 2,10 $</a:t>
            </a:r>
          </a:p>
          <a:p>
            <a:pPr marL="3200400" lvl="7" indent="0">
              <a:buNone/>
            </a:pPr>
            <a:r>
              <a:rPr lang="fr-CA" sz="2400" dirty="0">
                <a:solidFill>
                  <a:srgbClr val="FF0000"/>
                </a:solidFill>
              </a:rPr>
              <a:t>   200 000 / 1000 x 20           = 4 000   </a:t>
            </a:r>
          </a:p>
          <a:p>
            <a:r>
              <a:rPr lang="fr-CA" dirty="0"/>
              <a:t>Options :</a:t>
            </a:r>
          </a:p>
          <a:p>
            <a:pPr lvl="1"/>
            <a:r>
              <a:rPr lang="fr-CA" dirty="0"/>
              <a:t>50 options au prix de 40 $      </a:t>
            </a:r>
            <a:r>
              <a:rPr lang="fr-CA" dirty="0">
                <a:solidFill>
                  <a:srgbClr val="FF0000"/>
                </a:solidFill>
              </a:rPr>
              <a:t>50 x 40 = 2 000  ;  2 000 / 45 = 44  ;  50 actions émises moins 44 rachetées = + 6 actions  </a:t>
            </a:r>
            <a:r>
              <a:rPr lang="fr-CA" u="sng" dirty="0">
                <a:solidFill>
                  <a:srgbClr val="FF0000"/>
                </a:solidFill>
              </a:rPr>
              <a:t>0 </a:t>
            </a:r>
            <a:r>
              <a:rPr lang="fr-CA" dirty="0">
                <a:solidFill>
                  <a:srgbClr val="FF0000"/>
                </a:solidFill>
              </a:rPr>
              <a:t> = 0</a:t>
            </a:r>
          </a:p>
          <a:p>
            <a:pPr marL="1828800" lvl="4" indent="0">
              <a:buNone/>
            </a:pPr>
            <a:r>
              <a:rPr lang="fr-CA" dirty="0"/>
              <a:t>							      	                  </a:t>
            </a:r>
            <a:r>
              <a:rPr lang="fr-CA" sz="2400" dirty="0">
                <a:solidFill>
                  <a:srgbClr val="FF0000"/>
                </a:solidFill>
              </a:rPr>
              <a:t>6</a:t>
            </a:r>
          </a:p>
          <a:p>
            <a:pPr lvl="1"/>
            <a:r>
              <a:rPr lang="fr-CA" dirty="0"/>
              <a:t>70 options au prix de 65 $      </a:t>
            </a:r>
            <a:r>
              <a:rPr lang="fr-CA" dirty="0" err="1">
                <a:solidFill>
                  <a:srgbClr val="FF0000"/>
                </a:solidFill>
              </a:rPr>
              <a:t>antidilutif</a:t>
            </a:r>
            <a:endParaRPr lang="fr-CA" dirty="0"/>
          </a:p>
          <a:p>
            <a:r>
              <a:rPr lang="fr-CA" dirty="0"/>
              <a:t>Taux d’impôts : 30 %</a:t>
            </a:r>
          </a:p>
          <a:p>
            <a:r>
              <a:rPr lang="fr-CA" dirty="0"/>
              <a:t>Cours : </a:t>
            </a:r>
          </a:p>
          <a:p>
            <a:pPr lvl="1"/>
            <a:r>
              <a:rPr lang="fr-CA" dirty="0"/>
              <a:t>31 décembre : 50 $</a:t>
            </a:r>
            <a:r>
              <a:rPr lang="fr-CA" dirty="0">
                <a:solidFill>
                  <a:srgbClr val="FF0000"/>
                </a:solidFill>
              </a:rPr>
              <a:t>   non, norme dit d’utiliser cours moyen</a:t>
            </a:r>
            <a:endParaRPr lang="fr-CA" dirty="0"/>
          </a:p>
          <a:p>
            <a:pPr lvl="1"/>
            <a:r>
              <a:rPr lang="fr-CA" dirty="0"/>
              <a:t>Cours moyen : 45 $</a:t>
            </a:r>
            <a:endParaRPr lang="fr-FR" dirty="0"/>
          </a:p>
        </p:txBody>
      </p:sp>
    </p:spTree>
    <p:extLst>
      <p:ext uri="{BB962C8B-B14F-4D97-AF65-F5344CB8AC3E}">
        <p14:creationId xmlns:p14="http://schemas.microsoft.com/office/powerpoint/2010/main" val="9719779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3F6CE9-BF6B-4849-9EC7-18CDA7831E35}"/>
              </a:ext>
            </a:extLst>
          </p:cNvPr>
          <p:cNvSpPr>
            <a:spLocks noGrp="1"/>
          </p:cNvSpPr>
          <p:nvPr>
            <p:ph type="title"/>
          </p:nvPr>
        </p:nvSpPr>
        <p:spPr/>
        <p:txBody>
          <a:bodyPr>
            <a:normAutofit/>
          </a:bodyPr>
          <a:lstStyle/>
          <a:p>
            <a:r>
              <a:rPr lang="fr-CA" sz="4000" dirty="0"/>
              <a:t>Calculer le résultat de base et le résultat dilué par action</a:t>
            </a:r>
            <a:endParaRPr lang="fr-FR" sz="4000" dirty="0"/>
          </a:p>
        </p:txBody>
      </p:sp>
      <p:sp>
        <p:nvSpPr>
          <p:cNvPr id="3" name="Espace réservé du contenu 2">
            <a:extLst>
              <a:ext uri="{FF2B5EF4-FFF2-40B4-BE49-F238E27FC236}">
                <a16:creationId xmlns:a16="http://schemas.microsoft.com/office/drawing/2014/main" id="{B04E531A-4E79-43D4-87D8-8B3BFA91B087}"/>
              </a:ext>
            </a:extLst>
          </p:cNvPr>
          <p:cNvSpPr>
            <a:spLocks noGrp="1"/>
          </p:cNvSpPr>
          <p:nvPr>
            <p:ph idx="1"/>
          </p:nvPr>
        </p:nvSpPr>
        <p:spPr>
          <a:xfrm>
            <a:off x="838200" y="1965433"/>
            <a:ext cx="10515600" cy="4527441"/>
          </a:xfrm>
        </p:spPr>
        <p:txBody>
          <a:bodyPr>
            <a:normAutofit/>
          </a:bodyPr>
          <a:lstStyle/>
          <a:p>
            <a:r>
              <a:rPr lang="fr-CA" dirty="0"/>
              <a:t>Résultat de base</a:t>
            </a:r>
          </a:p>
          <a:p>
            <a:pPr lvl="1"/>
            <a:r>
              <a:rPr lang="fr-CA" u="sng" dirty="0"/>
              <a:t>100 000 – 8 000  </a:t>
            </a:r>
            <a:r>
              <a:rPr lang="fr-CA" dirty="0"/>
              <a:t>= 9,95 $</a:t>
            </a:r>
          </a:p>
          <a:p>
            <a:pPr marL="457200" lvl="1" indent="0">
              <a:buNone/>
            </a:pPr>
            <a:r>
              <a:rPr lang="fr-CA" dirty="0"/>
              <a:t>       9 250</a:t>
            </a:r>
          </a:p>
          <a:p>
            <a:pPr marL="457200" lvl="1" indent="0">
              <a:buNone/>
            </a:pPr>
            <a:endParaRPr lang="fr-CA" dirty="0"/>
          </a:p>
          <a:p>
            <a:r>
              <a:rPr lang="fr-CA" dirty="0"/>
              <a:t>Résultat dilué</a:t>
            </a:r>
          </a:p>
          <a:p>
            <a:pPr lvl="1"/>
            <a:r>
              <a:rPr lang="fr-CA" u="sng" dirty="0"/>
              <a:t>100 000 – 8 000  +     8 400        +  0</a:t>
            </a:r>
            <a:r>
              <a:rPr lang="fr-CA" dirty="0"/>
              <a:t>   = </a:t>
            </a:r>
            <a:r>
              <a:rPr lang="fr-CA" u="sng" dirty="0"/>
              <a:t>100 400  </a:t>
            </a:r>
            <a:r>
              <a:rPr lang="fr-CA" dirty="0"/>
              <a:t>=  7,57 $</a:t>
            </a:r>
          </a:p>
          <a:p>
            <a:pPr marL="457200" lvl="1" indent="0">
              <a:buNone/>
            </a:pPr>
            <a:r>
              <a:rPr lang="fr-CA" dirty="0"/>
              <a:t>       9 250		+      4 000       +   6	13 256</a:t>
            </a:r>
            <a:endParaRPr lang="fr-FR" dirty="0"/>
          </a:p>
          <a:p>
            <a:pPr marL="457200" lvl="1" indent="0">
              <a:buNone/>
            </a:pPr>
            <a:endParaRPr lang="fr-FR" dirty="0"/>
          </a:p>
        </p:txBody>
      </p:sp>
    </p:spTree>
    <p:extLst>
      <p:ext uri="{BB962C8B-B14F-4D97-AF65-F5344CB8AC3E}">
        <p14:creationId xmlns:p14="http://schemas.microsoft.com/office/powerpoint/2010/main" val="377035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4000" dirty="0"/>
              <a:t>Rappel</a:t>
            </a:r>
            <a:endParaRPr lang="fr-CA" dirty="0"/>
          </a:p>
        </p:txBody>
      </p:sp>
      <p:sp>
        <p:nvSpPr>
          <p:cNvPr id="3" name="Espace réservé du contenu 2"/>
          <p:cNvSpPr>
            <a:spLocks noGrp="1"/>
          </p:cNvSpPr>
          <p:nvPr>
            <p:ph idx="1"/>
          </p:nvPr>
        </p:nvSpPr>
        <p:spPr/>
        <p:txBody>
          <a:bodyPr/>
          <a:lstStyle/>
          <a:p>
            <a:pPr marL="0" indent="0">
              <a:buNone/>
            </a:pPr>
            <a:r>
              <a:rPr lang="fr-CA" dirty="0"/>
              <a:t>Ajustements rétrospectifs</a:t>
            </a:r>
          </a:p>
          <a:p>
            <a:r>
              <a:rPr lang="fr-CA" dirty="0"/>
              <a:t>Fractionnement et consolidation d’actions</a:t>
            </a:r>
          </a:p>
          <a:p>
            <a:endParaRPr lang="fr-CA" dirty="0"/>
          </a:p>
          <a:p>
            <a:pPr marL="0" indent="0">
              <a:buNone/>
            </a:pPr>
            <a:r>
              <a:rPr lang="fr-CA" dirty="0"/>
              <a:t>Options, bons, droits</a:t>
            </a:r>
          </a:p>
          <a:p>
            <a:r>
              <a:rPr lang="fr-CA" dirty="0"/>
              <a:t>Utilisation du cours moyen</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54</a:t>
            </a:fld>
            <a:endParaRPr lang="fr-FR"/>
          </a:p>
        </p:txBody>
      </p:sp>
    </p:spTree>
    <p:extLst>
      <p:ext uri="{BB962C8B-B14F-4D97-AF65-F5344CB8AC3E}">
        <p14:creationId xmlns:p14="http://schemas.microsoft.com/office/powerpoint/2010/main" val="16248716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b="1" dirty="0">
                <a:solidFill>
                  <a:srgbClr val="FF0000"/>
                </a:solidFill>
              </a:rPr>
              <a:t>Économies </a:t>
            </a:r>
            <a:r>
              <a:rPr lang="fr-CA" b="1" dirty="0" err="1">
                <a:solidFill>
                  <a:srgbClr val="FF0000"/>
                </a:solidFill>
              </a:rPr>
              <a:t>hyperinflationnistes</a:t>
            </a:r>
            <a:endParaRPr lang="fr-CA" b="1" dirty="0">
              <a:solidFill>
                <a:srgbClr val="FF0000"/>
              </a:solidFill>
            </a:endParaRPr>
          </a:p>
        </p:txBody>
      </p:sp>
      <p:sp>
        <p:nvSpPr>
          <p:cNvPr id="3" name="Espace réservé du contenu 2"/>
          <p:cNvSpPr>
            <a:spLocks noGrp="1"/>
          </p:cNvSpPr>
          <p:nvPr>
            <p:ph idx="1"/>
          </p:nvPr>
        </p:nvSpPr>
        <p:spPr/>
        <p:txBody>
          <a:bodyPr>
            <a:normAutofit/>
          </a:bodyPr>
          <a:lstStyle/>
          <a:p>
            <a:endParaRPr lang="fr-CA" dirty="0"/>
          </a:p>
          <a:p>
            <a:endParaRPr lang="fr-CA" dirty="0"/>
          </a:p>
          <a:p>
            <a:r>
              <a:rPr lang="fr-CA" dirty="0"/>
              <a:t>IAS 29  Information financière dans les économies </a:t>
            </a:r>
            <a:r>
              <a:rPr lang="fr-CA" dirty="0" err="1"/>
              <a:t>hyperinflationnistes</a:t>
            </a:r>
            <a:endParaRPr lang="fr-CA" dirty="0"/>
          </a:p>
          <a:p>
            <a:r>
              <a:rPr lang="fr-CA" dirty="0"/>
              <a:t>IFRIC 7  Application de l’approche du retraitement dans le cadre d’IAS 29</a:t>
            </a:r>
          </a:p>
          <a:p>
            <a:endParaRPr lang="fr-CA" dirty="0"/>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55</a:t>
            </a:fld>
            <a:endParaRPr lang="fr-FR"/>
          </a:p>
        </p:txBody>
      </p:sp>
    </p:spTree>
    <p:extLst>
      <p:ext uri="{BB962C8B-B14F-4D97-AF65-F5344CB8AC3E}">
        <p14:creationId xmlns:p14="http://schemas.microsoft.com/office/powerpoint/2010/main" val="22931207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dirty="0"/>
              <a:t>Économies </a:t>
            </a:r>
            <a:r>
              <a:rPr lang="fr-CA" dirty="0" err="1"/>
              <a:t>hyperinflationnistes</a:t>
            </a:r>
            <a:endParaRPr lang="fr-CA" dirty="0"/>
          </a:p>
        </p:txBody>
      </p:sp>
      <p:sp>
        <p:nvSpPr>
          <p:cNvPr id="3" name="Espace réservé du contenu 2"/>
          <p:cNvSpPr>
            <a:spLocks noGrp="1"/>
          </p:cNvSpPr>
          <p:nvPr>
            <p:ph idx="1"/>
          </p:nvPr>
        </p:nvSpPr>
        <p:spPr/>
        <p:txBody>
          <a:bodyPr>
            <a:normAutofit/>
          </a:bodyPr>
          <a:lstStyle/>
          <a:p>
            <a:r>
              <a:rPr lang="fr-CA" dirty="0"/>
              <a:t>Pour toute entité dont la monnaie fonctionnelle est la monnaie d’une économie </a:t>
            </a:r>
            <a:r>
              <a:rPr lang="fr-CA" dirty="0" err="1"/>
              <a:t>hyperinflationniste</a:t>
            </a:r>
            <a:endParaRPr lang="fr-CA" dirty="0"/>
          </a:p>
          <a:p>
            <a:pPr lvl="1"/>
            <a:r>
              <a:rPr lang="fr-CA" dirty="0"/>
              <a:t>Impact au niveau des EF consolidés</a:t>
            </a:r>
          </a:p>
          <a:p>
            <a:pPr lvl="1"/>
            <a:endParaRPr lang="fr-CA" dirty="0"/>
          </a:p>
          <a:p>
            <a:pPr lvl="1"/>
            <a:r>
              <a:rPr lang="fr-CA" dirty="0"/>
              <a:t>Perte du pouvoir d’achat : impact sur la comparabilité si utilise le coût historique</a:t>
            </a:r>
          </a:p>
          <a:p>
            <a:pPr lvl="2"/>
            <a:r>
              <a:rPr lang="fr-CA" dirty="0"/>
              <a:t>Pas de taux mentionné – jugement</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56</a:t>
            </a:fld>
            <a:endParaRPr lang="fr-FR"/>
          </a:p>
        </p:txBody>
      </p:sp>
    </p:spTree>
    <p:extLst>
      <p:ext uri="{BB962C8B-B14F-4D97-AF65-F5344CB8AC3E}">
        <p14:creationId xmlns:p14="http://schemas.microsoft.com/office/powerpoint/2010/main" val="16156521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Retraitement des EF</a:t>
            </a:r>
          </a:p>
        </p:txBody>
      </p:sp>
      <p:sp>
        <p:nvSpPr>
          <p:cNvPr id="3" name="Espace réservé du contenu 2"/>
          <p:cNvSpPr>
            <a:spLocks noGrp="1"/>
          </p:cNvSpPr>
          <p:nvPr>
            <p:ph idx="1"/>
          </p:nvPr>
        </p:nvSpPr>
        <p:spPr/>
        <p:txBody>
          <a:bodyPr>
            <a:normAutofit/>
          </a:bodyPr>
          <a:lstStyle/>
          <a:p>
            <a:r>
              <a:rPr lang="fr-CA" dirty="0"/>
              <a:t>EF établis au coût historique</a:t>
            </a:r>
          </a:p>
          <a:p>
            <a:pPr lvl="1"/>
            <a:r>
              <a:rPr lang="fr-CA" dirty="0"/>
              <a:t>Retraités à l’aide d’un indice général des prix (avant d’inclure dans les EF consolidés)</a:t>
            </a:r>
          </a:p>
          <a:p>
            <a:pPr lvl="2"/>
            <a:r>
              <a:rPr lang="fr-CA" dirty="0"/>
              <a:t>Tous les actifs et passifs non monétaires, sauf si à la juste valeur ou valeur nette de réalisation (notion de coût actuel)</a:t>
            </a:r>
          </a:p>
          <a:p>
            <a:pPr lvl="3"/>
            <a:r>
              <a:rPr lang="fr-CA" sz="2400" dirty="0"/>
              <a:t>Les éléments monétaires et les éléments non monétaires évalués à une notion de coût actuel sont déjà exprimés dans l’unité monétaire en vigueur à la fin de la période de présentation</a:t>
            </a:r>
          </a:p>
          <a:p>
            <a:pPr lvl="3"/>
            <a:endParaRPr lang="fr-CA" sz="2400" dirty="0"/>
          </a:p>
          <a:p>
            <a:pPr lvl="3"/>
            <a:r>
              <a:rPr lang="fr-CA" sz="2400" dirty="0"/>
              <a:t>Profit ou perte sur la position monétaire nette est inclus dans le résultat net</a:t>
            </a:r>
          </a:p>
        </p:txBody>
      </p:sp>
      <p:sp>
        <p:nvSpPr>
          <p:cNvPr id="4" name="Espace réservé du numéro de diapositive 3"/>
          <p:cNvSpPr>
            <a:spLocks noGrp="1"/>
          </p:cNvSpPr>
          <p:nvPr>
            <p:ph type="sldNum" sz="quarter" idx="12"/>
          </p:nvPr>
        </p:nvSpPr>
        <p:spPr/>
        <p:txBody>
          <a:bodyPr/>
          <a:lstStyle/>
          <a:p>
            <a:fld id="{1979E831-8B4F-8947-B719-B3666B4E8645}" type="slidenum">
              <a:rPr lang="fr-FR" smtClean="0"/>
              <a:t>57</a:t>
            </a:fld>
            <a:endParaRPr lang="fr-FR"/>
          </a:p>
        </p:txBody>
      </p:sp>
    </p:spTree>
    <p:extLst>
      <p:ext uri="{BB962C8B-B14F-4D97-AF65-F5344CB8AC3E}">
        <p14:creationId xmlns:p14="http://schemas.microsoft.com/office/powerpoint/2010/main" val="184464585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7423</TotalTime>
  <Words>3870</Words>
  <Application>Microsoft Office PowerPoint</Application>
  <PresentationFormat>Grand écran</PresentationFormat>
  <Paragraphs>507</Paragraphs>
  <Slides>57</Slides>
  <Notes>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57</vt:i4>
      </vt:variant>
    </vt:vector>
  </HeadingPairs>
  <TitlesOfParts>
    <vt:vector size="63" baseType="lpstr">
      <vt:lpstr>Aptos</vt:lpstr>
      <vt:lpstr>Arial</vt:lpstr>
      <vt:lpstr>Calibri</vt:lpstr>
      <vt:lpstr>Calibri Light</vt:lpstr>
      <vt:lpstr>Wingdings</vt:lpstr>
      <vt:lpstr>Thème Office</vt:lpstr>
      <vt:lpstr>40938 Revue de certaines normes Première application du nouveau référentiel Aide gouvernementale Impôts sur le résultat (+ doc distinct) Avantages du personnel (+ doc distinct) Résultat par action (+ doc distinct) Économies hyperinflationnistes séance 3</vt:lpstr>
      <vt:lpstr>Première application du nouveau référentiel</vt:lpstr>
      <vt:lpstr>Choix d’un référentiel comptable Adoption d’un référentiel ou changement de référentiel?</vt:lpstr>
      <vt:lpstr>Contexte IFRS 1 / Chap. 1500 : changement de référentiel</vt:lpstr>
      <vt:lpstr>Objectif</vt:lpstr>
      <vt:lpstr>Transparence</vt:lpstr>
      <vt:lpstr>Définitions</vt:lpstr>
      <vt:lpstr>Exceptions à l’application rétrospective des normes du nouveau référentiel</vt:lpstr>
      <vt:lpstr>Exceptions à l’application rétrospective des normes du nouveau référentiel</vt:lpstr>
      <vt:lpstr>Exceptions à l’application rétrospective des normes du nouveau référentiel</vt:lpstr>
      <vt:lpstr>Exceptions à l’application rétrospective des normes du nouveau référentiel</vt:lpstr>
      <vt:lpstr>Exceptions pour les regroupements d’entreprises</vt:lpstr>
      <vt:lpstr>Autres exceptions</vt:lpstr>
      <vt:lpstr>Enjeux</vt:lpstr>
      <vt:lpstr>Choix NCECF qui n’existent pas en IFRS</vt:lpstr>
      <vt:lpstr>Choix NCECF qui n’existent pas en IFRS</vt:lpstr>
      <vt:lpstr>Nouvelles mesures IFRS c. NCECF</vt:lpstr>
      <vt:lpstr>Aide gouvernementale</vt:lpstr>
      <vt:lpstr>Aide gouvernementale</vt:lpstr>
      <vt:lpstr>Comptabilisation</vt:lpstr>
      <vt:lpstr>Extraits normes</vt:lpstr>
      <vt:lpstr>Comptabilisation</vt:lpstr>
      <vt:lpstr>Prêt-subvention</vt:lpstr>
      <vt:lpstr>Prêt public à un taux d’intérêt inférieur à celui du marché</vt:lpstr>
      <vt:lpstr>Question</vt:lpstr>
      <vt:lpstr>Solution</vt:lpstr>
      <vt:lpstr>Solution - IFRS</vt:lpstr>
      <vt:lpstr>Solution - NCECF</vt:lpstr>
      <vt:lpstr>Impôts sur le résultat</vt:lpstr>
      <vt:lpstr>Méthode comptable</vt:lpstr>
      <vt:lpstr>Méthode comptable</vt:lpstr>
      <vt:lpstr>Solution</vt:lpstr>
      <vt:lpstr>Question</vt:lpstr>
      <vt:lpstr>Solution</vt:lpstr>
      <vt:lpstr>Définitions</vt:lpstr>
      <vt:lpstr>Définitions</vt:lpstr>
      <vt:lpstr>Pertes fiscales et  crédits d’impôt non utilisés</vt:lpstr>
      <vt:lpstr>Regroupement d’entreprises</vt:lpstr>
      <vt:lpstr>Présentation</vt:lpstr>
      <vt:lpstr>Avantages du personnel</vt:lpstr>
      <vt:lpstr>Champs d’application</vt:lpstr>
      <vt:lpstr>Avantages du personnel</vt:lpstr>
      <vt:lpstr>Impact comptable?</vt:lpstr>
      <vt:lpstr>Impact comptable?</vt:lpstr>
      <vt:lpstr>Prestation de cessation d’emploi</vt:lpstr>
      <vt:lpstr>Prestation de cessation d’emploi - solution</vt:lpstr>
      <vt:lpstr>Résultat par action</vt:lpstr>
      <vt:lpstr>Résultat par action</vt:lpstr>
      <vt:lpstr>Calcul lié à une dette convertible</vt:lpstr>
      <vt:lpstr>Calcul lié aux options</vt:lpstr>
      <vt:lpstr>Calculer le résultat de base et le résultat dilué par action</vt:lpstr>
      <vt:lpstr>Calculer le résultat de base et le résultat dilué par action</vt:lpstr>
      <vt:lpstr>Calculer le résultat de base et le résultat dilué par action</vt:lpstr>
      <vt:lpstr>Rappel</vt:lpstr>
      <vt:lpstr>Économies hyperinflationnistes</vt:lpstr>
      <vt:lpstr>Économies hyperinflationnistes</vt:lpstr>
      <vt:lpstr>Retraitement des EF</vt:lpstr>
    </vt:vector>
  </TitlesOfParts>
  <Company>HEC Montréal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louise overbeek</dc:creator>
  <cp:lastModifiedBy>SOKRI Marzouk</cp:lastModifiedBy>
  <cp:revision>41</cp:revision>
  <cp:lastPrinted>2023-01-25T12:17:46Z</cp:lastPrinted>
  <dcterms:created xsi:type="dcterms:W3CDTF">2019-09-10T00:11:49Z</dcterms:created>
  <dcterms:modified xsi:type="dcterms:W3CDTF">2025-02-18T04:47:48Z</dcterms:modified>
</cp:coreProperties>
</file>