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8"/>
  </p:notesMasterIdLst>
  <p:sldIdLst>
    <p:sldId id="256" r:id="rId2"/>
    <p:sldId id="257" r:id="rId3"/>
    <p:sldId id="258" r:id="rId4"/>
    <p:sldId id="259" r:id="rId5"/>
    <p:sldId id="276" r:id="rId6"/>
    <p:sldId id="277" r:id="rId7"/>
    <p:sldId id="278" r:id="rId8"/>
    <p:sldId id="261" r:id="rId9"/>
    <p:sldId id="260" r:id="rId10"/>
    <p:sldId id="262" r:id="rId11"/>
    <p:sldId id="263" r:id="rId12"/>
    <p:sldId id="279" r:id="rId13"/>
    <p:sldId id="264" r:id="rId14"/>
    <p:sldId id="265" r:id="rId15"/>
    <p:sldId id="266" r:id="rId16"/>
    <p:sldId id="267" r:id="rId17"/>
    <p:sldId id="268" r:id="rId18"/>
    <p:sldId id="269" r:id="rId19"/>
    <p:sldId id="270" r:id="rId20"/>
    <p:sldId id="271" r:id="rId21"/>
    <p:sldId id="309" r:id="rId22"/>
    <p:sldId id="272" r:id="rId23"/>
    <p:sldId id="304" r:id="rId24"/>
    <p:sldId id="273" r:id="rId25"/>
    <p:sldId id="274" r:id="rId26"/>
    <p:sldId id="310" r:id="rId27"/>
    <p:sldId id="275" r:id="rId28"/>
    <p:sldId id="311" r:id="rId29"/>
    <p:sldId id="312" r:id="rId30"/>
    <p:sldId id="313" r:id="rId31"/>
    <p:sldId id="314" r:id="rId32"/>
    <p:sldId id="315" r:id="rId33"/>
    <p:sldId id="280" r:id="rId34"/>
    <p:sldId id="281" r:id="rId35"/>
    <p:sldId id="282" r:id="rId36"/>
    <p:sldId id="283" r:id="rId37"/>
    <p:sldId id="285" r:id="rId38"/>
    <p:sldId id="286" r:id="rId39"/>
    <p:sldId id="287" r:id="rId40"/>
    <p:sldId id="319" r:id="rId41"/>
    <p:sldId id="288" r:id="rId42"/>
    <p:sldId id="320" r:id="rId43"/>
    <p:sldId id="289" r:id="rId44"/>
    <p:sldId id="290" r:id="rId45"/>
    <p:sldId id="291" r:id="rId46"/>
    <p:sldId id="292" r:id="rId47"/>
    <p:sldId id="316" r:id="rId48"/>
    <p:sldId id="293" r:id="rId49"/>
    <p:sldId id="294" r:id="rId50"/>
    <p:sldId id="295" r:id="rId51"/>
    <p:sldId id="296" r:id="rId52"/>
    <p:sldId id="297" r:id="rId53"/>
    <p:sldId id="298" r:id="rId54"/>
    <p:sldId id="301" r:id="rId55"/>
    <p:sldId id="302" r:id="rId56"/>
    <p:sldId id="305" r:id="rId57"/>
    <p:sldId id="300" r:id="rId58"/>
    <p:sldId id="299" r:id="rId59"/>
    <p:sldId id="303" r:id="rId60"/>
    <p:sldId id="306" r:id="rId61"/>
    <p:sldId id="321" r:id="rId62"/>
    <p:sldId id="307" r:id="rId63"/>
    <p:sldId id="322" r:id="rId64"/>
    <p:sldId id="308" r:id="rId65"/>
    <p:sldId id="317" r:id="rId66"/>
    <p:sldId id="318" r:id="rId6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3" d="100"/>
          <a:sy n="63" d="100"/>
        </p:scale>
        <p:origin x="69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A0D5C-738D-4FA0-94CA-D905966FFFE7}" type="datetimeFigureOut">
              <a:rPr lang="fr-FR" smtClean="0"/>
              <a:t>16/09/2020</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CFF36-F445-471D-B1FF-AF91497D51FE}" type="slidenum">
              <a:rPr lang="fr-FR" smtClean="0"/>
              <a:t>‹N°›</a:t>
            </a:fld>
            <a:endParaRPr lang="fr-FR"/>
          </a:p>
        </p:txBody>
      </p:sp>
    </p:spTree>
    <p:extLst>
      <p:ext uri="{BB962C8B-B14F-4D97-AF65-F5344CB8AC3E}">
        <p14:creationId xmlns:p14="http://schemas.microsoft.com/office/powerpoint/2010/main" val="215584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9DD731-C870-4206-8D84-BDF458312DC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0AF3C8EC-9C32-4C15-83E6-7E675239F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DAFF759-49B2-45F9-90E0-1A61052B63B1}"/>
              </a:ext>
            </a:extLst>
          </p:cNvPr>
          <p:cNvSpPr>
            <a:spLocks noGrp="1"/>
          </p:cNvSpPr>
          <p:nvPr>
            <p:ph type="dt" sz="half" idx="10"/>
          </p:nvPr>
        </p:nvSpPr>
        <p:spPr/>
        <p:txBody>
          <a:bodyPr/>
          <a:lstStyle/>
          <a:p>
            <a:fld id="{A67C4173-7CA5-4A51-889D-7BEBE8558FC8}" type="datetime1">
              <a:rPr lang="fr-FR" smtClean="0"/>
              <a:t>16/09/2020</a:t>
            </a:fld>
            <a:endParaRPr lang="fr-FR"/>
          </a:p>
        </p:txBody>
      </p:sp>
      <p:sp>
        <p:nvSpPr>
          <p:cNvPr id="5" name="Espace réservé du pied de page 4">
            <a:extLst>
              <a:ext uri="{FF2B5EF4-FFF2-40B4-BE49-F238E27FC236}">
                <a16:creationId xmlns:a16="http://schemas.microsoft.com/office/drawing/2014/main" id="{D77C454E-0B94-4E7E-8654-1C528E57FA0C}"/>
              </a:ext>
            </a:extLst>
          </p:cNvPr>
          <p:cNvSpPr>
            <a:spLocks noGrp="1"/>
          </p:cNvSpPr>
          <p:nvPr>
            <p:ph type="ftr" sz="quarter" idx="11"/>
          </p:nvPr>
        </p:nvSpPr>
        <p:spPr/>
        <p:txBody>
          <a:bodyPr/>
          <a:lstStyle/>
          <a:p>
            <a:r>
              <a:rPr lang="fr-FR"/>
              <a:t>Droits réservés Louise Overbeek</a:t>
            </a:r>
          </a:p>
        </p:txBody>
      </p:sp>
      <p:sp>
        <p:nvSpPr>
          <p:cNvPr id="6" name="Espace réservé du numéro de diapositive 5">
            <a:extLst>
              <a:ext uri="{FF2B5EF4-FFF2-40B4-BE49-F238E27FC236}">
                <a16:creationId xmlns:a16="http://schemas.microsoft.com/office/drawing/2014/main" id="{33DB2769-B62B-4430-9629-9D1F187763ED}"/>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3694913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DCACA7-AA9A-4112-97FD-88B7FF0E640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608D51-6865-4A7C-8742-24A37D383A6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602CBC-6C1C-4369-9E74-55FB25C996FD}"/>
              </a:ext>
            </a:extLst>
          </p:cNvPr>
          <p:cNvSpPr>
            <a:spLocks noGrp="1"/>
          </p:cNvSpPr>
          <p:nvPr>
            <p:ph type="dt" sz="half" idx="10"/>
          </p:nvPr>
        </p:nvSpPr>
        <p:spPr/>
        <p:txBody>
          <a:bodyPr/>
          <a:lstStyle/>
          <a:p>
            <a:fld id="{54F0A72A-413D-469F-99F5-D2C05205234E}" type="datetime1">
              <a:rPr lang="fr-FR" smtClean="0"/>
              <a:t>16/09/2020</a:t>
            </a:fld>
            <a:endParaRPr lang="fr-FR"/>
          </a:p>
        </p:txBody>
      </p:sp>
      <p:sp>
        <p:nvSpPr>
          <p:cNvPr id="5" name="Espace réservé du pied de page 4">
            <a:extLst>
              <a:ext uri="{FF2B5EF4-FFF2-40B4-BE49-F238E27FC236}">
                <a16:creationId xmlns:a16="http://schemas.microsoft.com/office/drawing/2014/main" id="{17DB57D9-BA23-4E79-9572-9884E4CCC1FE}"/>
              </a:ext>
            </a:extLst>
          </p:cNvPr>
          <p:cNvSpPr>
            <a:spLocks noGrp="1"/>
          </p:cNvSpPr>
          <p:nvPr>
            <p:ph type="ftr" sz="quarter" idx="11"/>
          </p:nvPr>
        </p:nvSpPr>
        <p:spPr/>
        <p:txBody>
          <a:bodyPr/>
          <a:lstStyle/>
          <a:p>
            <a:r>
              <a:rPr lang="fr-FR"/>
              <a:t>Droits réservés Louise Overbeek</a:t>
            </a:r>
          </a:p>
        </p:txBody>
      </p:sp>
      <p:sp>
        <p:nvSpPr>
          <p:cNvPr id="6" name="Espace réservé du numéro de diapositive 5">
            <a:extLst>
              <a:ext uri="{FF2B5EF4-FFF2-40B4-BE49-F238E27FC236}">
                <a16:creationId xmlns:a16="http://schemas.microsoft.com/office/drawing/2014/main" id="{AEA8043F-8C83-4D19-85D3-C919A1102659}"/>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3966438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BC5013-6E0A-46BE-A896-3ACC4C1F43F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13515A58-FAFE-481D-A217-C65023D398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E5451FB-06D5-487A-A52F-C87AAA3DD081}"/>
              </a:ext>
            </a:extLst>
          </p:cNvPr>
          <p:cNvSpPr>
            <a:spLocks noGrp="1"/>
          </p:cNvSpPr>
          <p:nvPr>
            <p:ph type="dt" sz="half" idx="10"/>
          </p:nvPr>
        </p:nvSpPr>
        <p:spPr/>
        <p:txBody>
          <a:bodyPr/>
          <a:lstStyle/>
          <a:p>
            <a:fld id="{9293C1A6-CD61-497A-98C6-A57AC96BF94A}" type="datetime1">
              <a:rPr lang="fr-FR" smtClean="0"/>
              <a:t>16/09/2020</a:t>
            </a:fld>
            <a:endParaRPr lang="fr-FR"/>
          </a:p>
        </p:txBody>
      </p:sp>
      <p:sp>
        <p:nvSpPr>
          <p:cNvPr id="5" name="Espace réservé du pied de page 4">
            <a:extLst>
              <a:ext uri="{FF2B5EF4-FFF2-40B4-BE49-F238E27FC236}">
                <a16:creationId xmlns:a16="http://schemas.microsoft.com/office/drawing/2014/main" id="{864CE4B2-5CA0-49BC-A8D8-BF27E0F62FCF}"/>
              </a:ext>
            </a:extLst>
          </p:cNvPr>
          <p:cNvSpPr>
            <a:spLocks noGrp="1"/>
          </p:cNvSpPr>
          <p:nvPr>
            <p:ph type="ftr" sz="quarter" idx="11"/>
          </p:nvPr>
        </p:nvSpPr>
        <p:spPr/>
        <p:txBody>
          <a:bodyPr/>
          <a:lstStyle/>
          <a:p>
            <a:r>
              <a:rPr lang="fr-FR"/>
              <a:t>Droits réservés Louise Overbeek</a:t>
            </a:r>
          </a:p>
        </p:txBody>
      </p:sp>
      <p:sp>
        <p:nvSpPr>
          <p:cNvPr id="6" name="Espace réservé du numéro de diapositive 5">
            <a:extLst>
              <a:ext uri="{FF2B5EF4-FFF2-40B4-BE49-F238E27FC236}">
                <a16:creationId xmlns:a16="http://schemas.microsoft.com/office/drawing/2014/main" id="{F38A9E51-DE02-41F6-BC7D-623CBC45F920}"/>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152583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7AD10-07B5-481A-B583-692B0C705C9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DABFB4-74A5-4A4D-8765-02A6002DF7B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5DABEED-24B9-4734-AFE5-BA2F7FEB988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11D481D-5BA4-4CC2-B541-4665957455C3}"/>
              </a:ext>
            </a:extLst>
          </p:cNvPr>
          <p:cNvSpPr>
            <a:spLocks noGrp="1"/>
          </p:cNvSpPr>
          <p:nvPr>
            <p:ph type="dt" sz="half" idx="10"/>
          </p:nvPr>
        </p:nvSpPr>
        <p:spPr/>
        <p:txBody>
          <a:bodyPr/>
          <a:lstStyle/>
          <a:p>
            <a:fld id="{B6956A33-7009-4C82-A93D-9906BF0B69D0}" type="datetime1">
              <a:rPr lang="fr-FR" smtClean="0"/>
              <a:t>16/09/2020</a:t>
            </a:fld>
            <a:endParaRPr lang="fr-FR"/>
          </a:p>
        </p:txBody>
      </p:sp>
      <p:sp>
        <p:nvSpPr>
          <p:cNvPr id="6" name="Espace réservé du pied de page 5">
            <a:extLst>
              <a:ext uri="{FF2B5EF4-FFF2-40B4-BE49-F238E27FC236}">
                <a16:creationId xmlns:a16="http://schemas.microsoft.com/office/drawing/2014/main" id="{1AE6F1A9-C137-4CFD-AE06-AD7D6990B417}"/>
              </a:ext>
            </a:extLst>
          </p:cNvPr>
          <p:cNvSpPr>
            <a:spLocks noGrp="1"/>
          </p:cNvSpPr>
          <p:nvPr>
            <p:ph type="ftr" sz="quarter" idx="11"/>
          </p:nvPr>
        </p:nvSpPr>
        <p:spPr/>
        <p:txBody>
          <a:bodyPr/>
          <a:lstStyle/>
          <a:p>
            <a:r>
              <a:rPr lang="fr-FR"/>
              <a:t>Droits réservés Louise Overbeek</a:t>
            </a:r>
          </a:p>
        </p:txBody>
      </p:sp>
      <p:sp>
        <p:nvSpPr>
          <p:cNvPr id="7" name="Espace réservé du numéro de diapositive 6">
            <a:extLst>
              <a:ext uri="{FF2B5EF4-FFF2-40B4-BE49-F238E27FC236}">
                <a16:creationId xmlns:a16="http://schemas.microsoft.com/office/drawing/2014/main" id="{CC0FA927-A010-40F6-BD7D-66B7A2404BD0}"/>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4198913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F932EA-0B3C-49E1-934E-F5821425B62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1A494D0-4622-4344-ADB2-222139F0C4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33844AC-A527-4939-B0D2-8DED5688DCD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B9E1824-C25E-4FD8-8A69-CCD5486FEC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15B2890-FEBC-46F4-933E-A0CB4A87598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E46B442-778D-473F-9074-3C10FEA8B51F}"/>
              </a:ext>
            </a:extLst>
          </p:cNvPr>
          <p:cNvSpPr>
            <a:spLocks noGrp="1"/>
          </p:cNvSpPr>
          <p:nvPr>
            <p:ph type="dt" sz="half" idx="10"/>
          </p:nvPr>
        </p:nvSpPr>
        <p:spPr/>
        <p:txBody>
          <a:bodyPr/>
          <a:lstStyle/>
          <a:p>
            <a:fld id="{6F1BE215-B6C3-4233-AD44-7ED771ED7C3C}" type="datetime1">
              <a:rPr lang="fr-FR" smtClean="0"/>
              <a:t>16/09/2020</a:t>
            </a:fld>
            <a:endParaRPr lang="fr-FR"/>
          </a:p>
        </p:txBody>
      </p:sp>
      <p:sp>
        <p:nvSpPr>
          <p:cNvPr id="8" name="Espace réservé du pied de page 7">
            <a:extLst>
              <a:ext uri="{FF2B5EF4-FFF2-40B4-BE49-F238E27FC236}">
                <a16:creationId xmlns:a16="http://schemas.microsoft.com/office/drawing/2014/main" id="{7F2DE01B-EEBE-4F90-A540-C2592BCBCBAF}"/>
              </a:ext>
            </a:extLst>
          </p:cNvPr>
          <p:cNvSpPr>
            <a:spLocks noGrp="1"/>
          </p:cNvSpPr>
          <p:nvPr>
            <p:ph type="ftr" sz="quarter" idx="11"/>
          </p:nvPr>
        </p:nvSpPr>
        <p:spPr/>
        <p:txBody>
          <a:bodyPr/>
          <a:lstStyle/>
          <a:p>
            <a:r>
              <a:rPr lang="fr-FR"/>
              <a:t>Droits réservés Louise Overbeek</a:t>
            </a:r>
          </a:p>
        </p:txBody>
      </p:sp>
      <p:sp>
        <p:nvSpPr>
          <p:cNvPr id="9" name="Espace réservé du numéro de diapositive 8">
            <a:extLst>
              <a:ext uri="{FF2B5EF4-FFF2-40B4-BE49-F238E27FC236}">
                <a16:creationId xmlns:a16="http://schemas.microsoft.com/office/drawing/2014/main" id="{0A8AAE53-C4CC-4490-98CA-64D390ED703A}"/>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702369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707A98-1CCE-473C-8804-1C0B0B23030B}"/>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91686FA-0462-4558-92DC-F04308A66013}"/>
              </a:ext>
            </a:extLst>
          </p:cNvPr>
          <p:cNvSpPr>
            <a:spLocks noGrp="1"/>
          </p:cNvSpPr>
          <p:nvPr>
            <p:ph type="dt" sz="half" idx="10"/>
          </p:nvPr>
        </p:nvSpPr>
        <p:spPr/>
        <p:txBody>
          <a:bodyPr/>
          <a:lstStyle/>
          <a:p>
            <a:fld id="{397917F2-1017-4879-9C1D-967C244A6770}" type="datetime1">
              <a:rPr lang="fr-FR" smtClean="0"/>
              <a:t>16/09/2020</a:t>
            </a:fld>
            <a:endParaRPr lang="fr-FR"/>
          </a:p>
        </p:txBody>
      </p:sp>
      <p:sp>
        <p:nvSpPr>
          <p:cNvPr id="4" name="Espace réservé du pied de page 3">
            <a:extLst>
              <a:ext uri="{FF2B5EF4-FFF2-40B4-BE49-F238E27FC236}">
                <a16:creationId xmlns:a16="http://schemas.microsoft.com/office/drawing/2014/main" id="{A7DFD87A-A208-4FF9-88E4-36B2235BE9CA}"/>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EE13F5F5-8AE7-4DF3-99AE-1238BAFD1DF1}"/>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2306932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77EF427-16EC-4874-93FF-14132866F35E}"/>
              </a:ext>
            </a:extLst>
          </p:cNvPr>
          <p:cNvSpPr>
            <a:spLocks noGrp="1"/>
          </p:cNvSpPr>
          <p:nvPr>
            <p:ph type="dt" sz="half" idx="10"/>
          </p:nvPr>
        </p:nvSpPr>
        <p:spPr/>
        <p:txBody>
          <a:bodyPr/>
          <a:lstStyle/>
          <a:p>
            <a:fld id="{FF1DF1D0-5ABA-4491-94C5-04EB292C72B9}" type="datetime1">
              <a:rPr lang="fr-FR" smtClean="0"/>
              <a:t>16/09/2020</a:t>
            </a:fld>
            <a:endParaRPr lang="fr-FR"/>
          </a:p>
        </p:txBody>
      </p:sp>
      <p:sp>
        <p:nvSpPr>
          <p:cNvPr id="3" name="Espace réservé du pied de page 2">
            <a:extLst>
              <a:ext uri="{FF2B5EF4-FFF2-40B4-BE49-F238E27FC236}">
                <a16:creationId xmlns:a16="http://schemas.microsoft.com/office/drawing/2014/main" id="{72C5716C-C6FC-4EB1-930A-A196AC595940}"/>
              </a:ext>
            </a:extLst>
          </p:cNvPr>
          <p:cNvSpPr>
            <a:spLocks noGrp="1"/>
          </p:cNvSpPr>
          <p:nvPr>
            <p:ph type="ftr" sz="quarter" idx="11"/>
          </p:nvPr>
        </p:nvSpPr>
        <p:spPr/>
        <p:txBody>
          <a:bodyPr/>
          <a:lstStyle/>
          <a:p>
            <a:r>
              <a:rPr lang="fr-FR"/>
              <a:t>Droits réservés Louise Overbeek</a:t>
            </a:r>
          </a:p>
        </p:txBody>
      </p:sp>
      <p:sp>
        <p:nvSpPr>
          <p:cNvPr id="4" name="Espace réservé du numéro de diapositive 3">
            <a:extLst>
              <a:ext uri="{FF2B5EF4-FFF2-40B4-BE49-F238E27FC236}">
                <a16:creationId xmlns:a16="http://schemas.microsoft.com/office/drawing/2014/main" id="{340F135B-DB1D-4540-96FE-5BA0E74364A2}"/>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288292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12AA09-D3C0-4575-BF72-0E3E6D77022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7814983-439C-4FA0-BF00-3ACEF8E2FB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4B0853B-0952-448E-9BD5-BCF1E98C3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0BF41A3-5D06-4900-8B7D-2F23DED71DF7}"/>
              </a:ext>
            </a:extLst>
          </p:cNvPr>
          <p:cNvSpPr>
            <a:spLocks noGrp="1"/>
          </p:cNvSpPr>
          <p:nvPr>
            <p:ph type="dt" sz="half" idx="10"/>
          </p:nvPr>
        </p:nvSpPr>
        <p:spPr/>
        <p:txBody>
          <a:bodyPr/>
          <a:lstStyle/>
          <a:p>
            <a:fld id="{753A1EBC-4F03-4F76-A64F-6B470FEA8C2E}" type="datetime1">
              <a:rPr lang="fr-FR" smtClean="0"/>
              <a:t>16/09/2020</a:t>
            </a:fld>
            <a:endParaRPr lang="fr-FR"/>
          </a:p>
        </p:txBody>
      </p:sp>
      <p:sp>
        <p:nvSpPr>
          <p:cNvPr id="6" name="Espace réservé du pied de page 5">
            <a:extLst>
              <a:ext uri="{FF2B5EF4-FFF2-40B4-BE49-F238E27FC236}">
                <a16:creationId xmlns:a16="http://schemas.microsoft.com/office/drawing/2014/main" id="{0F233A8F-7414-4947-9F3F-7330F1B18A2E}"/>
              </a:ext>
            </a:extLst>
          </p:cNvPr>
          <p:cNvSpPr>
            <a:spLocks noGrp="1"/>
          </p:cNvSpPr>
          <p:nvPr>
            <p:ph type="ftr" sz="quarter" idx="11"/>
          </p:nvPr>
        </p:nvSpPr>
        <p:spPr/>
        <p:txBody>
          <a:bodyPr/>
          <a:lstStyle/>
          <a:p>
            <a:r>
              <a:rPr lang="fr-FR"/>
              <a:t>Droits réservés Louise Overbeek</a:t>
            </a:r>
          </a:p>
        </p:txBody>
      </p:sp>
      <p:sp>
        <p:nvSpPr>
          <p:cNvPr id="7" name="Espace réservé du numéro de diapositive 6">
            <a:extLst>
              <a:ext uri="{FF2B5EF4-FFF2-40B4-BE49-F238E27FC236}">
                <a16:creationId xmlns:a16="http://schemas.microsoft.com/office/drawing/2014/main" id="{BEA18F2F-5EF5-4F56-A12A-761297DD6E64}"/>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3963333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4C68B3-6E65-4F5F-8DC9-F75912F9946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53AEDD1-88DE-4F4A-B6ED-DDF19135BD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41789F6-FFED-40CC-A69F-AFEDBDD18A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BAEC154-B433-4BAE-9BA9-200B95AF35D3}"/>
              </a:ext>
            </a:extLst>
          </p:cNvPr>
          <p:cNvSpPr>
            <a:spLocks noGrp="1"/>
          </p:cNvSpPr>
          <p:nvPr>
            <p:ph type="dt" sz="half" idx="10"/>
          </p:nvPr>
        </p:nvSpPr>
        <p:spPr/>
        <p:txBody>
          <a:bodyPr/>
          <a:lstStyle/>
          <a:p>
            <a:fld id="{9A3F7A43-3BF5-4170-AC6D-A15F38F9CD6D}" type="datetime1">
              <a:rPr lang="fr-FR" smtClean="0"/>
              <a:t>16/09/2020</a:t>
            </a:fld>
            <a:endParaRPr lang="fr-FR"/>
          </a:p>
        </p:txBody>
      </p:sp>
      <p:sp>
        <p:nvSpPr>
          <p:cNvPr id="6" name="Espace réservé du pied de page 5">
            <a:extLst>
              <a:ext uri="{FF2B5EF4-FFF2-40B4-BE49-F238E27FC236}">
                <a16:creationId xmlns:a16="http://schemas.microsoft.com/office/drawing/2014/main" id="{424BEAE5-0186-43F5-A364-214808227405}"/>
              </a:ext>
            </a:extLst>
          </p:cNvPr>
          <p:cNvSpPr>
            <a:spLocks noGrp="1"/>
          </p:cNvSpPr>
          <p:nvPr>
            <p:ph type="ftr" sz="quarter" idx="11"/>
          </p:nvPr>
        </p:nvSpPr>
        <p:spPr/>
        <p:txBody>
          <a:bodyPr/>
          <a:lstStyle/>
          <a:p>
            <a:r>
              <a:rPr lang="fr-FR"/>
              <a:t>Droits réservés Louise Overbeek</a:t>
            </a:r>
          </a:p>
        </p:txBody>
      </p:sp>
      <p:sp>
        <p:nvSpPr>
          <p:cNvPr id="7" name="Espace réservé du numéro de diapositive 6">
            <a:extLst>
              <a:ext uri="{FF2B5EF4-FFF2-40B4-BE49-F238E27FC236}">
                <a16:creationId xmlns:a16="http://schemas.microsoft.com/office/drawing/2014/main" id="{29EFA1B3-90E4-4A2D-9A4D-B05C78294F3A}"/>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3703834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9C1372-FDA7-4481-865A-7D095D27493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E738837-D969-4DD4-B69B-4BB758442F2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2E35859-B9A3-48ED-8A89-9FB49B30A5BB}"/>
              </a:ext>
            </a:extLst>
          </p:cNvPr>
          <p:cNvSpPr>
            <a:spLocks noGrp="1"/>
          </p:cNvSpPr>
          <p:nvPr>
            <p:ph type="dt" sz="half" idx="10"/>
          </p:nvPr>
        </p:nvSpPr>
        <p:spPr/>
        <p:txBody>
          <a:bodyPr/>
          <a:lstStyle/>
          <a:p>
            <a:fld id="{12F86CEA-24AD-43C7-8117-736D49DE9C32}" type="datetime1">
              <a:rPr lang="fr-FR" smtClean="0"/>
              <a:t>16/09/2020</a:t>
            </a:fld>
            <a:endParaRPr lang="fr-FR"/>
          </a:p>
        </p:txBody>
      </p:sp>
      <p:sp>
        <p:nvSpPr>
          <p:cNvPr id="5" name="Espace réservé du pied de page 4">
            <a:extLst>
              <a:ext uri="{FF2B5EF4-FFF2-40B4-BE49-F238E27FC236}">
                <a16:creationId xmlns:a16="http://schemas.microsoft.com/office/drawing/2014/main" id="{C1BA2D56-CECA-465D-8934-1B2069EBB1D8}"/>
              </a:ext>
            </a:extLst>
          </p:cNvPr>
          <p:cNvSpPr>
            <a:spLocks noGrp="1"/>
          </p:cNvSpPr>
          <p:nvPr>
            <p:ph type="ftr" sz="quarter" idx="11"/>
          </p:nvPr>
        </p:nvSpPr>
        <p:spPr/>
        <p:txBody>
          <a:bodyPr/>
          <a:lstStyle/>
          <a:p>
            <a:r>
              <a:rPr lang="fr-FR"/>
              <a:t>Droits réservés Louise Overbeek</a:t>
            </a:r>
          </a:p>
        </p:txBody>
      </p:sp>
      <p:sp>
        <p:nvSpPr>
          <p:cNvPr id="6" name="Espace réservé du numéro de diapositive 5">
            <a:extLst>
              <a:ext uri="{FF2B5EF4-FFF2-40B4-BE49-F238E27FC236}">
                <a16:creationId xmlns:a16="http://schemas.microsoft.com/office/drawing/2014/main" id="{92E3B087-7C1D-4B4A-8AA4-896B89F8185A}"/>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1803583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310C61D-DA9D-4DED-B592-2E226BBB7FC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95B9B5D-FC91-4F52-83FC-2E2899773F1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CFF003F-7BB0-48EF-8DAB-526291E9756E}"/>
              </a:ext>
            </a:extLst>
          </p:cNvPr>
          <p:cNvSpPr>
            <a:spLocks noGrp="1"/>
          </p:cNvSpPr>
          <p:nvPr>
            <p:ph type="dt" sz="half" idx="10"/>
          </p:nvPr>
        </p:nvSpPr>
        <p:spPr/>
        <p:txBody>
          <a:bodyPr/>
          <a:lstStyle/>
          <a:p>
            <a:fld id="{64B051EF-CDCF-4F92-9390-0995A8BB4DD0}" type="datetime1">
              <a:rPr lang="fr-FR" smtClean="0"/>
              <a:t>16/09/2020</a:t>
            </a:fld>
            <a:endParaRPr lang="fr-FR"/>
          </a:p>
        </p:txBody>
      </p:sp>
      <p:sp>
        <p:nvSpPr>
          <p:cNvPr id="5" name="Espace réservé du pied de page 4">
            <a:extLst>
              <a:ext uri="{FF2B5EF4-FFF2-40B4-BE49-F238E27FC236}">
                <a16:creationId xmlns:a16="http://schemas.microsoft.com/office/drawing/2014/main" id="{B1921510-4D57-4DE3-BFE6-18075C4A9832}"/>
              </a:ext>
            </a:extLst>
          </p:cNvPr>
          <p:cNvSpPr>
            <a:spLocks noGrp="1"/>
          </p:cNvSpPr>
          <p:nvPr>
            <p:ph type="ftr" sz="quarter" idx="11"/>
          </p:nvPr>
        </p:nvSpPr>
        <p:spPr/>
        <p:txBody>
          <a:bodyPr/>
          <a:lstStyle/>
          <a:p>
            <a:r>
              <a:rPr lang="fr-FR"/>
              <a:t>Droits réservés Louise Overbeek</a:t>
            </a:r>
          </a:p>
        </p:txBody>
      </p:sp>
      <p:sp>
        <p:nvSpPr>
          <p:cNvPr id="6" name="Espace réservé du numéro de diapositive 5">
            <a:extLst>
              <a:ext uri="{FF2B5EF4-FFF2-40B4-BE49-F238E27FC236}">
                <a16:creationId xmlns:a16="http://schemas.microsoft.com/office/drawing/2014/main" id="{DC60935E-BA93-425C-97EB-BBCCBA466E26}"/>
              </a:ext>
            </a:extLst>
          </p:cNvPr>
          <p:cNvSpPr>
            <a:spLocks noGrp="1"/>
          </p:cNvSpPr>
          <p:nvPr>
            <p:ph type="sldNum" sz="quarter" idx="12"/>
          </p:nvPr>
        </p:nvSpPr>
        <p:spPr/>
        <p:txBody>
          <a:bodyPr/>
          <a:lstStyle/>
          <a:p>
            <a:fld id="{9820BAFF-92A6-45A5-B1F5-B233E0C14C43}" type="slidenum">
              <a:rPr lang="fr-FR" smtClean="0"/>
              <a:t>‹N°›</a:t>
            </a:fld>
            <a:endParaRPr lang="fr-FR"/>
          </a:p>
        </p:txBody>
      </p:sp>
    </p:spTree>
    <p:extLst>
      <p:ext uri="{BB962C8B-B14F-4D97-AF65-F5344CB8AC3E}">
        <p14:creationId xmlns:p14="http://schemas.microsoft.com/office/powerpoint/2010/main" val="2728752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9296192-3FCA-496A-A39F-B1426C2C659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F9F206E-E133-41C7-ABF9-2A0EE5A8C2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CFE6A65-E319-420C-8D05-6E7DDDF90E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58D7D5-7A25-4C15-AD2C-2EC7CE6B7E01}" type="datetime1">
              <a:rPr lang="fr-FR" smtClean="0"/>
              <a:t>16/09/2020</a:t>
            </a:fld>
            <a:endParaRPr lang="fr-FR"/>
          </a:p>
        </p:txBody>
      </p:sp>
      <p:sp>
        <p:nvSpPr>
          <p:cNvPr id="5" name="Espace réservé du pied de page 4">
            <a:extLst>
              <a:ext uri="{FF2B5EF4-FFF2-40B4-BE49-F238E27FC236}">
                <a16:creationId xmlns:a16="http://schemas.microsoft.com/office/drawing/2014/main" id="{7EE68E6D-799E-479D-A054-1B6C6D9E81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Louise Overbeek</a:t>
            </a:r>
          </a:p>
        </p:txBody>
      </p:sp>
      <p:sp>
        <p:nvSpPr>
          <p:cNvPr id="6" name="Espace réservé du numéro de diapositive 5">
            <a:extLst>
              <a:ext uri="{FF2B5EF4-FFF2-40B4-BE49-F238E27FC236}">
                <a16:creationId xmlns:a16="http://schemas.microsoft.com/office/drawing/2014/main" id="{DF8C0337-9182-4959-8F54-C5B12C941A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20BAFF-92A6-45A5-B1F5-B233E0C14C43}" type="slidenum">
              <a:rPr lang="fr-FR" smtClean="0"/>
              <a:t>‹N°›</a:t>
            </a:fld>
            <a:endParaRPr lang="fr-FR"/>
          </a:p>
        </p:txBody>
      </p:sp>
    </p:spTree>
    <p:extLst>
      <p:ext uri="{BB962C8B-B14F-4D97-AF65-F5344CB8AC3E}">
        <p14:creationId xmlns:p14="http://schemas.microsoft.com/office/powerpoint/2010/main" val="1905154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proxy2.hec.ca:2916/Knowledge/Home.aspx?productID=114"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468CCC-2B23-4919-8571-BEB31A284A1D}"/>
              </a:ext>
            </a:extLst>
          </p:cNvPr>
          <p:cNvSpPr>
            <a:spLocks noGrp="1"/>
          </p:cNvSpPr>
          <p:nvPr>
            <p:ph type="ctrTitle"/>
          </p:nvPr>
        </p:nvSpPr>
        <p:spPr/>
        <p:txBody>
          <a:bodyPr/>
          <a:lstStyle/>
          <a:p>
            <a:r>
              <a:rPr lang="fr-CA" dirty="0"/>
              <a:t>Impôts sur le résultat</a:t>
            </a:r>
            <a:endParaRPr lang="fr-FR" dirty="0"/>
          </a:p>
        </p:txBody>
      </p:sp>
      <p:sp>
        <p:nvSpPr>
          <p:cNvPr id="3" name="Sous-titre 2">
            <a:extLst>
              <a:ext uri="{FF2B5EF4-FFF2-40B4-BE49-F238E27FC236}">
                <a16:creationId xmlns:a16="http://schemas.microsoft.com/office/drawing/2014/main" id="{D1CE809C-CB8B-41D2-92DC-413FA567A2D3}"/>
              </a:ext>
            </a:extLst>
          </p:cNvPr>
          <p:cNvSpPr>
            <a:spLocks noGrp="1"/>
          </p:cNvSpPr>
          <p:nvPr>
            <p:ph type="subTitle" idx="1"/>
          </p:nvPr>
        </p:nvSpPr>
        <p:spPr/>
        <p:txBody>
          <a:bodyPr/>
          <a:lstStyle/>
          <a:p>
            <a:endParaRPr lang="fr-CA" dirty="0"/>
          </a:p>
          <a:p>
            <a:r>
              <a:rPr lang="fr-FR" dirty="0"/>
              <a:t>Louise Overbeek</a:t>
            </a:r>
          </a:p>
          <a:p>
            <a:r>
              <a:rPr lang="fr-FR" sz="1800" dirty="0"/>
              <a:t>Juillet 2020</a:t>
            </a:r>
            <a:endParaRPr lang="fr-FR" dirty="0"/>
          </a:p>
        </p:txBody>
      </p:sp>
    </p:spTree>
    <p:extLst>
      <p:ext uri="{BB962C8B-B14F-4D97-AF65-F5344CB8AC3E}">
        <p14:creationId xmlns:p14="http://schemas.microsoft.com/office/powerpoint/2010/main" val="2363548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945D02-296C-4C4E-B79E-BAECDF35DDAC}"/>
              </a:ext>
            </a:extLst>
          </p:cNvPr>
          <p:cNvSpPr>
            <a:spLocks noGrp="1"/>
          </p:cNvSpPr>
          <p:nvPr>
            <p:ph type="title"/>
          </p:nvPr>
        </p:nvSpPr>
        <p:spPr>
          <a:xfrm>
            <a:off x="838200" y="365126"/>
            <a:ext cx="10515600" cy="740864"/>
          </a:xfrm>
        </p:spPr>
        <p:txBody>
          <a:bodyPr/>
          <a:lstStyle/>
          <a:p>
            <a:r>
              <a:rPr lang="fr-CA" dirty="0"/>
              <a:t>Contenu du plan de cours</a:t>
            </a:r>
            <a:endParaRPr lang="fr-FR" dirty="0"/>
          </a:p>
        </p:txBody>
      </p:sp>
      <p:sp>
        <p:nvSpPr>
          <p:cNvPr id="3" name="Espace réservé du contenu 2">
            <a:extLst>
              <a:ext uri="{FF2B5EF4-FFF2-40B4-BE49-F238E27FC236}">
                <a16:creationId xmlns:a16="http://schemas.microsoft.com/office/drawing/2014/main" id="{CD35C378-DFF3-4B71-B795-15CEE8600BBA}"/>
              </a:ext>
            </a:extLst>
          </p:cNvPr>
          <p:cNvSpPr>
            <a:spLocks noGrp="1"/>
          </p:cNvSpPr>
          <p:nvPr>
            <p:ph idx="1"/>
          </p:nvPr>
        </p:nvSpPr>
        <p:spPr>
          <a:xfrm>
            <a:off x="838200" y="1280160"/>
            <a:ext cx="10515600" cy="4896803"/>
          </a:xfrm>
        </p:spPr>
        <p:txBody>
          <a:bodyPr>
            <a:normAutofit fontScale="47500" lnSpcReduction="20000"/>
          </a:bodyPr>
          <a:lstStyle/>
          <a:p>
            <a:pPr marL="0" indent="0">
              <a:buNone/>
            </a:pPr>
            <a:r>
              <a:rPr lang="fr-CA" b="1" dirty="0"/>
              <a:t>IMPÔTS SUR LE RÉSULTAT (IAS 12)</a:t>
            </a:r>
            <a:endParaRPr lang="fr-FR" b="1" dirty="0"/>
          </a:p>
          <a:p>
            <a:pPr marL="0" indent="0">
              <a:buNone/>
            </a:pPr>
            <a:r>
              <a:rPr lang="fr-CA" b="1" dirty="0"/>
              <a:t>Impôt exigible</a:t>
            </a:r>
            <a:endParaRPr lang="fr-FR" dirty="0"/>
          </a:p>
          <a:p>
            <a:r>
              <a:rPr lang="fr-CA" dirty="0"/>
              <a:t>Définitions</a:t>
            </a:r>
            <a:endParaRPr lang="fr-FR" dirty="0"/>
          </a:p>
          <a:p>
            <a:r>
              <a:rPr lang="fr-CA" dirty="0"/>
              <a:t>Bénéfice comptable (perte) / bénéfice imposable (perte fiscale)</a:t>
            </a:r>
            <a:endParaRPr lang="fr-FR" dirty="0"/>
          </a:p>
          <a:p>
            <a:pPr marL="0" indent="0">
              <a:buNone/>
            </a:pPr>
            <a:r>
              <a:rPr lang="fr-CA" b="1" dirty="0"/>
              <a:t>Impôt différé</a:t>
            </a:r>
            <a:endParaRPr lang="fr-FR" dirty="0"/>
          </a:p>
          <a:p>
            <a:r>
              <a:rPr lang="fr-CA" dirty="0"/>
              <a:t>Base comptable et base fiscale d’un actif et d’un passif</a:t>
            </a:r>
            <a:endParaRPr lang="fr-FR" dirty="0"/>
          </a:p>
          <a:p>
            <a:r>
              <a:rPr lang="fr-CA" dirty="0"/>
              <a:t>Différences temporaires imposables et déductibles</a:t>
            </a:r>
            <a:endParaRPr lang="fr-FR" dirty="0"/>
          </a:p>
          <a:p>
            <a:pPr marL="0" indent="0">
              <a:buNone/>
            </a:pPr>
            <a:r>
              <a:rPr lang="fr-CA" b="1" dirty="0"/>
              <a:t>Impôts comptabilisation</a:t>
            </a:r>
            <a:endParaRPr lang="fr-FR" dirty="0"/>
          </a:p>
          <a:p>
            <a:r>
              <a:rPr lang="fr-CA" dirty="0"/>
              <a:t>Impôt exigible (bénéfice imposable, perte fiscale)</a:t>
            </a:r>
            <a:endParaRPr lang="fr-FR" dirty="0"/>
          </a:p>
          <a:p>
            <a:r>
              <a:rPr lang="fr-CA" dirty="0"/>
              <a:t>Passif, actif et charge d’impôt différé</a:t>
            </a:r>
            <a:endParaRPr lang="fr-FR" dirty="0"/>
          </a:p>
          <a:p>
            <a:r>
              <a:rPr lang="fr-CA" dirty="0"/>
              <a:t>Impôt différé évaluation</a:t>
            </a:r>
            <a:endParaRPr lang="fr-FR" dirty="0"/>
          </a:p>
          <a:p>
            <a:r>
              <a:rPr lang="fr-CA" dirty="0"/>
              <a:t>Ventilation de l’impôt </a:t>
            </a:r>
            <a:endParaRPr lang="fr-FR" dirty="0"/>
          </a:p>
          <a:p>
            <a:r>
              <a:rPr lang="fr-CA" dirty="0"/>
              <a:t>Positions fiscales incertaines</a:t>
            </a:r>
            <a:endParaRPr lang="fr-FR" dirty="0"/>
          </a:p>
          <a:p>
            <a:r>
              <a:rPr lang="fr-CA" dirty="0"/>
              <a:t>Report de perte fiscale</a:t>
            </a:r>
            <a:endParaRPr lang="fr-FR" dirty="0"/>
          </a:p>
          <a:p>
            <a:r>
              <a:rPr lang="fr-CA" dirty="0" err="1"/>
              <a:t>Décomptabilisation</a:t>
            </a:r>
            <a:r>
              <a:rPr lang="fr-CA" dirty="0"/>
              <a:t> des biens amortissables</a:t>
            </a:r>
            <a:endParaRPr lang="fr-FR" dirty="0"/>
          </a:p>
          <a:p>
            <a:r>
              <a:rPr lang="fr-CA" dirty="0"/>
              <a:t>Impôt remboursable</a:t>
            </a:r>
            <a:endParaRPr lang="fr-FR" dirty="0"/>
          </a:p>
          <a:p>
            <a:pPr marL="0" indent="0">
              <a:buNone/>
            </a:pPr>
            <a:r>
              <a:rPr lang="fr-CA" b="1" dirty="0"/>
              <a:t>États financiers (présentation) &amp; informations à fournir</a:t>
            </a:r>
            <a:endParaRPr lang="fr-FR" dirty="0"/>
          </a:p>
          <a:p>
            <a:r>
              <a:rPr lang="fr-CA" dirty="0"/>
              <a:t>Rapprochement des taux</a:t>
            </a:r>
            <a:endParaRPr lang="fr-FR" dirty="0"/>
          </a:p>
        </p:txBody>
      </p:sp>
      <p:sp>
        <p:nvSpPr>
          <p:cNvPr id="4" name="Espace réservé du pied de page 3">
            <a:extLst>
              <a:ext uri="{FF2B5EF4-FFF2-40B4-BE49-F238E27FC236}">
                <a16:creationId xmlns:a16="http://schemas.microsoft.com/office/drawing/2014/main" id="{880512FB-148A-49D3-BB7B-EA4AC01A8CE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C36CFCD-6A7A-4A91-B2C7-2977F89450A6}"/>
              </a:ext>
            </a:extLst>
          </p:cNvPr>
          <p:cNvSpPr>
            <a:spLocks noGrp="1"/>
          </p:cNvSpPr>
          <p:nvPr>
            <p:ph type="sldNum" sz="quarter" idx="12"/>
          </p:nvPr>
        </p:nvSpPr>
        <p:spPr/>
        <p:txBody>
          <a:bodyPr/>
          <a:lstStyle/>
          <a:p>
            <a:fld id="{9820BAFF-92A6-45A5-B1F5-B233E0C14C43}" type="slidenum">
              <a:rPr lang="fr-FR" smtClean="0"/>
              <a:t>2</a:t>
            </a:fld>
            <a:endParaRPr lang="fr-FR"/>
          </a:p>
        </p:txBody>
      </p:sp>
    </p:spTree>
    <p:extLst>
      <p:ext uri="{BB962C8B-B14F-4D97-AF65-F5344CB8AC3E}">
        <p14:creationId xmlns:p14="http://schemas.microsoft.com/office/powerpoint/2010/main" val="4046214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9432C0-B43C-40D9-9B05-D967891B6EAB}"/>
              </a:ext>
            </a:extLst>
          </p:cNvPr>
          <p:cNvSpPr>
            <a:spLocks noGrp="1"/>
          </p:cNvSpPr>
          <p:nvPr>
            <p:ph type="title"/>
          </p:nvPr>
        </p:nvSpPr>
        <p:spPr/>
        <p:txBody>
          <a:bodyPr/>
          <a:lstStyle/>
          <a:p>
            <a:r>
              <a:rPr lang="fr-CA" dirty="0"/>
              <a:t>IAS 12 </a:t>
            </a:r>
            <a:r>
              <a:rPr lang="fr-CA" i="1" dirty="0"/>
              <a:t>Impôts sur le résultat - </a:t>
            </a:r>
            <a:r>
              <a:rPr lang="fr-CA" b="1" dirty="0"/>
              <a:t>Définitions</a:t>
            </a:r>
            <a:endParaRPr lang="fr-FR" dirty="0"/>
          </a:p>
        </p:txBody>
      </p:sp>
      <p:sp>
        <p:nvSpPr>
          <p:cNvPr id="3" name="Espace réservé du contenu 2">
            <a:extLst>
              <a:ext uri="{FF2B5EF4-FFF2-40B4-BE49-F238E27FC236}">
                <a16:creationId xmlns:a16="http://schemas.microsoft.com/office/drawing/2014/main" id="{0DF07CFA-F782-4ED9-8295-E9C08218823C}"/>
              </a:ext>
            </a:extLst>
          </p:cNvPr>
          <p:cNvSpPr>
            <a:spLocks noGrp="1"/>
          </p:cNvSpPr>
          <p:nvPr>
            <p:ph idx="1"/>
          </p:nvPr>
        </p:nvSpPr>
        <p:spPr/>
        <p:txBody>
          <a:bodyPr>
            <a:normAutofit fontScale="70000" lnSpcReduction="20000"/>
          </a:bodyPr>
          <a:lstStyle/>
          <a:p>
            <a:pPr marL="0" indent="0">
              <a:buNone/>
            </a:pPr>
            <a:r>
              <a:rPr lang="fr-CA" b="1" dirty="0"/>
              <a:t>5       Dans la présente norme, les termes suivants ont la signification indiquée ci-après :</a:t>
            </a:r>
          </a:p>
          <a:p>
            <a:pPr marL="0" indent="0">
              <a:buNone/>
            </a:pPr>
            <a:endParaRPr lang="fr-CA" sz="1400" b="1" dirty="0"/>
          </a:p>
          <a:p>
            <a:pPr marL="0" indent="0">
              <a:buNone/>
            </a:pPr>
            <a:r>
              <a:rPr lang="fr-CA" dirty="0"/>
              <a:t>Le </a:t>
            </a:r>
            <a:r>
              <a:rPr lang="fr-CA" b="1" i="1" dirty="0"/>
              <a:t>bénéfice comptable</a:t>
            </a:r>
            <a:r>
              <a:rPr lang="fr-CA" b="1" dirty="0"/>
              <a:t> </a:t>
            </a:r>
            <a:r>
              <a:rPr lang="fr-CA" dirty="0"/>
              <a:t>est le résultat net d'une période avant déduction de la charge d'impôt.</a:t>
            </a:r>
          </a:p>
          <a:p>
            <a:pPr marL="0" indent="0">
              <a:buNone/>
            </a:pPr>
            <a:r>
              <a:rPr lang="fr-CA" dirty="0"/>
              <a:t>	</a:t>
            </a:r>
            <a:r>
              <a:rPr lang="fr-CA" i="1" dirty="0"/>
              <a:t>établi selon les IFRS</a:t>
            </a:r>
            <a:endParaRPr lang="fr-CA" dirty="0"/>
          </a:p>
          <a:p>
            <a:pPr marL="0" indent="0">
              <a:buNone/>
            </a:pPr>
            <a:endParaRPr lang="fr-CA" sz="1400" dirty="0"/>
          </a:p>
          <a:p>
            <a:pPr marL="0" indent="0">
              <a:buNone/>
            </a:pPr>
            <a:r>
              <a:rPr lang="fr-CA" dirty="0"/>
              <a:t>Le </a:t>
            </a:r>
            <a:r>
              <a:rPr lang="fr-CA" b="1" i="1" dirty="0"/>
              <a:t>bénéfice imposable (perte fiscale)</a:t>
            </a:r>
            <a:r>
              <a:rPr lang="fr-CA" b="1" dirty="0"/>
              <a:t> </a:t>
            </a:r>
            <a:r>
              <a:rPr lang="fr-CA" dirty="0"/>
              <a:t>est le bénéfice (perte) d'une période, déterminé(e) selon les règles établies par les administrations fiscales et sur la base desquelles l'impôt sur le résultat doit être payé (recouvré).</a:t>
            </a:r>
          </a:p>
          <a:p>
            <a:pPr marL="0" indent="0">
              <a:buNone/>
            </a:pPr>
            <a:r>
              <a:rPr lang="fr-CA" dirty="0"/>
              <a:t>	</a:t>
            </a:r>
            <a:r>
              <a:rPr lang="fr-CA" i="1" dirty="0"/>
              <a:t>établi aux fins de la déclaration fiscale – conciliation avec le bénéfice comptable</a:t>
            </a:r>
          </a:p>
          <a:p>
            <a:pPr marL="0" indent="0">
              <a:buNone/>
            </a:pPr>
            <a:r>
              <a:rPr lang="fr-CA" dirty="0"/>
              <a:t>		</a:t>
            </a:r>
            <a:r>
              <a:rPr lang="fr-CA" i="1" dirty="0"/>
              <a:t>écarts permanents et temporaires</a:t>
            </a:r>
          </a:p>
          <a:p>
            <a:pPr marL="0" indent="0">
              <a:buNone/>
            </a:pPr>
            <a:r>
              <a:rPr lang="fr-CA" i="1" dirty="0"/>
              <a:t>		source pour calculer les impôts exigibles</a:t>
            </a:r>
          </a:p>
          <a:p>
            <a:pPr marL="0" indent="0">
              <a:buNone/>
            </a:pPr>
            <a:endParaRPr lang="fr-CA" dirty="0"/>
          </a:p>
          <a:p>
            <a:pPr marL="0" indent="0">
              <a:buNone/>
            </a:pPr>
            <a:r>
              <a:rPr lang="fr-CA" dirty="0"/>
              <a:t>La </a:t>
            </a:r>
            <a:r>
              <a:rPr lang="fr-CA" b="1" i="1" dirty="0"/>
              <a:t>charge (produit) d'impôt</a:t>
            </a:r>
            <a:r>
              <a:rPr lang="fr-CA" b="1" dirty="0"/>
              <a:t> </a:t>
            </a:r>
            <a:r>
              <a:rPr lang="fr-CA" dirty="0"/>
              <a:t>est égale (égal) au montant </a:t>
            </a:r>
            <a:r>
              <a:rPr lang="fr-CA" u="sng" dirty="0"/>
              <a:t>total de l'impôt exigible et de l'impôt différé</a:t>
            </a:r>
            <a:r>
              <a:rPr lang="fr-CA" dirty="0"/>
              <a:t> inclus dans la détermination du résultat net de la période.</a:t>
            </a:r>
          </a:p>
          <a:p>
            <a:pPr marL="0" indent="0">
              <a:buNone/>
            </a:pPr>
            <a:endParaRPr lang="fr-CA" dirty="0"/>
          </a:p>
        </p:txBody>
      </p:sp>
      <p:sp>
        <p:nvSpPr>
          <p:cNvPr id="4" name="Espace réservé du pied de page 3">
            <a:extLst>
              <a:ext uri="{FF2B5EF4-FFF2-40B4-BE49-F238E27FC236}">
                <a16:creationId xmlns:a16="http://schemas.microsoft.com/office/drawing/2014/main" id="{53EFC2C2-7C37-4D86-8DDA-9776F03D3430}"/>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6BA30E6-F6CE-43DD-8ADC-4F810AB634CF}"/>
              </a:ext>
            </a:extLst>
          </p:cNvPr>
          <p:cNvSpPr>
            <a:spLocks noGrp="1"/>
          </p:cNvSpPr>
          <p:nvPr>
            <p:ph type="sldNum" sz="quarter" idx="12"/>
          </p:nvPr>
        </p:nvSpPr>
        <p:spPr/>
        <p:txBody>
          <a:bodyPr/>
          <a:lstStyle/>
          <a:p>
            <a:fld id="{9820BAFF-92A6-45A5-B1F5-B233E0C14C43}" type="slidenum">
              <a:rPr lang="fr-FR" smtClean="0"/>
              <a:t>3</a:t>
            </a:fld>
            <a:endParaRPr lang="fr-FR"/>
          </a:p>
        </p:txBody>
      </p:sp>
    </p:spTree>
    <p:extLst>
      <p:ext uri="{BB962C8B-B14F-4D97-AF65-F5344CB8AC3E}">
        <p14:creationId xmlns:p14="http://schemas.microsoft.com/office/powerpoint/2010/main" val="661561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9432C0-B43C-40D9-9B05-D967891B6EAB}"/>
              </a:ext>
            </a:extLst>
          </p:cNvPr>
          <p:cNvSpPr>
            <a:spLocks noGrp="1"/>
          </p:cNvSpPr>
          <p:nvPr>
            <p:ph type="title"/>
          </p:nvPr>
        </p:nvSpPr>
        <p:spPr/>
        <p:txBody>
          <a:bodyPr/>
          <a:lstStyle/>
          <a:p>
            <a:r>
              <a:rPr lang="fr-CA" dirty="0"/>
              <a:t>IAS 12 </a:t>
            </a:r>
            <a:r>
              <a:rPr lang="fr-CA" i="1" dirty="0"/>
              <a:t>Impôts sur le résultat - </a:t>
            </a:r>
            <a:r>
              <a:rPr lang="fr-CA" b="1" dirty="0"/>
              <a:t>Définitions</a:t>
            </a:r>
            <a:endParaRPr lang="fr-FR" dirty="0"/>
          </a:p>
        </p:txBody>
      </p:sp>
      <p:sp>
        <p:nvSpPr>
          <p:cNvPr id="3" name="Espace réservé du contenu 2">
            <a:extLst>
              <a:ext uri="{FF2B5EF4-FFF2-40B4-BE49-F238E27FC236}">
                <a16:creationId xmlns:a16="http://schemas.microsoft.com/office/drawing/2014/main" id="{0DF07CFA-F782-4ED9-8295-E9C08218823C}"/>
              </a:ext>
            </a:extLst>
          </p:cNvPr>
          <p:cNvSpPr>
            <a:spLocks noGrp="1"/>
          </p:cNvSpPr>
          <p:nvPr>
            <p:ph idx="1"/>
          </p:nvPr>
        </p:nvSpPr>
        <p:spPr>
          <a:xfrm>
            <a:off x="838200" y="1889759"/>
            <a:ext cx="10515600" cy="4397829"/>
          </a:xfrm>
        </p:spPr>
        <p:txBody>
          <a:bodyPr>
            <a:normAutofit/>
          </a:bodyPr>
          <a:lstStyle/>
          <a:p>
            <a:pPr marL="0" indent="0">
              <a:buNone/>
            </a:pPr>
            <a:r>
              <a:rPr lang="fr-CA" sz="2000" dirty="0"/>
              <a:t>L'</a:t>
            </a:r>
            <a:r>
              <a:rPr lang="fr-CA" sz="2000" b="1" i="1" dirty="0">
                <a:solidFill>
                  <a:srgbClr val="0070C0"/>
                </a:solidFill>
              </a:rPr>
              <a:t>impôt exigible</a:t>
            </a:r>
            <a:r>
              <a:rPr lang="fr-CA" sz="2000" b="1" dirty="0"/>
              <a:t> </a:t>
            </a:r>
            <a:r>
              <a:rPr lang="fr-CA" sz="2000" dirty="0"/>
              <a:t>est le montant des impôts sur le résultat payables (recouvrables) au titre du bénéfice imposable (perte fiscale) d'une période.</a:t>
            </a:r>
          </a:p>
          <a:p>
            <a:pPr marL="0" indent="0">
              <a:buNone/>
            </a:pPr>
            <a:endParaRPr lang="fr-CA" sz="2000" dirty="0"/>
          </a:p>
          <a:p>
            <a:pPr marL="0" indent="0">
              <a:buNone/>
            </a:pPr>
            <a:endParaRPr lang="fr-CA" sz="2000" dirty="0"/>
          </a:p>
          <a:p>
            <a:pPr marL="0" indent="0">
              <a:buNone/>
            </a:pPr>
            <a:r>
              <a:rPr lang="fr-CA" sz="2000" dirty="0"/>
              <a:t>Les</a:t>
            </a:r>
            <a:r>
              <a:rPr lang="fr-CA" sz="2000" b="1" dirty="0"/>
              <a:t> </a:t>
            </a:r>
            <a:r>
              <a:rPr lang="fr-CA" sz="2000" b="1" i="1" dirty="0">
                <a:solidFill>
                  <a:srgbClr val="0070C0"/>
                </a:solidFill>
              </a:rPr>
              <a:t>passifs d'impôt différé</a:t>
            </a:r>
            <a:r>
              <a:rPr lang="fr-CA" sz="2000" b="1" dirty="0">
                <a:solidFill>
                  <a:srgbClr val="0070C0"/>
                </a:solidFill>
              </a:rPr>
              <a:t> </a:t>
            </a:r>
            <a:r>
              <a:rPr lang="fr-CA" sz="2000" dirty="0"/>
              <a:t>sont les montants d'impôts sur le résultat payables au cours de périodes futures au titre de différences temporaires imposables.</a:t>
            </a:r>
          </a:p>
          <a:p>
            <a:pPr marL="0" indent="0">
              <a:buNone/>
            </a:pPr>
            <a:endParaRPr lang="fr-CA" sz="1400" dirty="0"/>
          </a:p>
          <a:p>
            <a:pPr marL="0" indent="0">
              <a:buNone/>
            </a:pPr>
            <a:r>
              <a:rPr lang="fr-CA" sz="2000" dirty="0"/>
              <a:t>Les</a:t>
            </a:r>
            <a:r>
              <a:rPr lang="fr-CA" sz="2000" b="1" dirty="0"/>
              <a:t> </a:t>
            </a:r>
            <a:r>
              <a:rPr lang="fr-CA" sz="2000" b="1" i="1" dirty="0">
                <a:solidFill>
                  <a:srgbClr val="0070C0"/>
                </a:solidFill>
              </a:rPr>
              <a:t>actifs d'impôt différé</a:t>
            </a:r>
            <a:r>
              <a:rPr lang="fr-CA" sz="2000" b="1" dirty="0">
                <a:solidFill>
                  <a:srgbClr val="0070C0"/>
                </a:solidFill>
              </a:rPr>
              <a:t> </a:t>
            </a:r>
            <a:r>
              <a:rPr lang="fr-CA" sz="2000" dirty="0"/>
              <a:t>sont les montants d'impôts sur le résultat recouvrables au cours de périodes futures au titre :</a:t>
            </a:r>
          </a:p>
          <a:p>
            <a:pPr marL="0" indent="0">
              <a:buNone/>
            </a:pPr>
            <a:r>
              <a:rPr lang="fr-CA" sz="2000" dirty="0"/>
              <a:t>(a)     de différences temporaires déductibles ;</a:t>
            </a:r>
          </a:p>
          <a:p>
            <a:pPr marL="0" indent="0">
              <a:buNone/>
            </a:pPr>
            <a:r>
              <a:rPr lang="fr-CA" sz="2000" dirty="0"/>
              <a:t>(b)     du report en avant de pertes fiscales non utilisées ; et</a:t>
            </a:r>
          </a:p>
          <a:p>
            <a:pPr marL="0" indent="0">
              <a:buNone/>
            </a:pPr>
            <a:r>
              <a:rPr lang="fr-CA" sz="2000" dirty="0"/>
              <a:t>(c)     du report en avant de crédits d'impôt non utilisés.</a:t>
            </a:r>
          </a:p>
          <a:p>
            <a:pPr marL="0" indent="0">
              <a:buNone/>
            </a:pPr>
            <a:endParaRPr lang="fr-CA" sz="1100" dirty="0"/>
          </a:p>
        </p:txBody>
      </p:sp>
      <p:sp>
        <p:nvSpPr>
          <p:cNvPr id="4" name="Espace réservé du pied de page 3">
            <a:extLst>
              <a:ext uri="{FF2B5EF4-FFF2-40B4-BE49-F238E27FC236}">
                <a16:creationId xmlns:a16="http://schemas.microsoft.com/office/drawing/2014/main" id="{53EFC2C2-7C37-4D86-8DDA-9776F03D3430}"/>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6BA30E6-F6CE-43DD-8ADC-4F810AB634CF}"/>
              </a:ext>
            </a:extLst>
          </p:cNvPr>
          <p:cNvSpPr>
            <a:spLocks noGrp="1"/>
          </p:cNvSpPr>
          <p:nvPr>
            <p:ph type="sldNum" sz="quarter" idx="12"/>
          </p:nvPr>
        </p:nvSpPr>
        <p:spPr/>
        <p:txBody>
          <a:bodyPr/>
          <a:lstStyle/>
          <a:p>
            <a:fld id="{9820BAFF-92A6-45A5-B1F5-B233E0C14C43}" type="slidenum">
              <a:rPr lang="fr-FR" smtClean="0"/>
              <a:t>4</a:t>
            </a:fld>
            <a:endParaRPr lang="fr-FR"/>
          </a:p>
        </p:txBody>
      </p:sp>
    </p:spTree>
    <p:extLst>
      <p:ext uri="{BB962C8B-B14F-4D97-AF65-F5344CB8AC3E}">
        <p14:creationId xmlns:p14="http://schemas.microsoft.com/office/powerpoint/2010/main" val="1514709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9432C0-B43C-40D9-9B05-D967891B6EAB}"/>
              </a:ext>
            </a:extLst>
          </p:cNvPr>
          <p:cNvSpPr>
            <a:spLocks noGrp="1"/>
          </p:cNvSpPr>
          <p:nvPr>
            <p:ph type="title"/>
          </p:nvPr>
        </p:nvSpPr>
        <p:spPr/>
        <p:txBody>
          <a:bodyPr/>
          <a:lstStyle/>
          <a:p>
            <a:r>
              <a:rPr lang="fr-CA" dirty="0"/>
              <a:t>IAS 12 </a:t>
            </a:r>
            <a:r>
              <a:rPr lang="fr-CA" i="1" dirty="0"/>
              <a:t>Impôts sur le résultat - </a:t>
            </a:r>
            <a:r>
              <a:rPr lang="fr-CA" b="1" dirty="0"/>
              <a:t>Définitions</a:t>
            </a:r>
            <a:endParaRPr lang="fr-FR" dirty="0"/>
          </a:p>
        </p:txBody>
      </p:sp>
      <p:sp>
        <p:nvSpPr>
          <p:cNvPr id="3" name="Espace réservé du contenu 2">
            <a:extLst>
              <a:ext uri="{FF2B5EF4-FFF2-40B4-BE49-F238E27FC236}">
                <a16:creationId xmlns:a16="http://schemas.microsoft.com/office/drawing/2014/main" id="{0DF07CFA-F782-4ED9-8295-E9C08218823C}"/>
              </a:ext>
            </a:extLst>
          </p:cNvPr>
          <p:cNvSpPr>
            <a:spLocks noGrp="1"/>
          </p:cNvSpPr>
          <p:nvPr>
            <p:ph idx="1"/>
          </p:nvPr>
        </p:nvSpPr>
        <p:spPr>
          <a:xfrm>
            <a:off x="838200" y="1915885"/>
            <a:ext cx="10515600" cy="4371703"/>
          </a:xfrm>
        </p:spPr>
        <p:txBody>
          <a:bodyPr>
            <a:normAutofit/>
          </a:bodyPr>
          <a:lstStyle/>
          <a:p>
            <a:pPr marL="0" indent="0">
              <a:buNone/>
            </a:pPr>
            <a:r>
              <a:rPr lang="fr-CA" sz="2000" dirty="0"/>
              <a:t>Les </a:t>
            </a:r>
            <a:r>
              <a:rPr lang="fr-CA" sz="2000" b="1" i="1" dirty="0"/>
              <a:t>différences temporaires</a:t>
            </a:r>
            <a:r>
              <a:rPr lang="fr-CA" sz="2000" b="1" dirty="0"/>
              <a:t> </a:t>
            </a:r>
            <a:r>
              <a:rPr lang="fr-CA" sz="2000" dirty="0"/>
              <a:t>sont les différences entre </a:t>
            </a:r>
            <a:r>
              <a:rPr lang="fr-CA" sz="2000" u="sng" dirty="0">
                <a:solidFill>
                  <a:srgbClr val="0070C0"/>
                </a:solidFill>
              </a:rPr>
              <a:t>la valeur comptable d'un actif ou d'un passif </a:t>
            </a:r>
            <a:r>
              <a:rPr lang="fr-CA" sz="2000" dirty="0"/>
              <a:t>dans l'état de la situation financière et sa base fiscale. Les différences temporaires peuvent être :</a:t>
            </a:r>
          </a:p>
          <a:p>
            <a:pPr marL="0" indent="0">
              <a:buNone/>
            </a:pPr>
            <a:r>
              <a:rPr lang="fr-CA" sz="2000" dirty="0"/>
              <a:t>(a)     des </a:t>
            </a:r>
            <a:r>
              <a:rPr lang="fr-CA" sz="2000" i="1" dirty="0"/>
              <a:t>différences temporaires imposables</a:t>
            </a:r>
            <a:r>
              <a:rPr lang="fr-CA" sz="2000" dirty="0"/>
              <a:t>, c'est-à-dire des différences temporaires qui généreront des montants imposables dans la détermination du bénéfice imposable (perte fiscale) de périodes futures lorsque la valeur comptable de l'actif ou du passif sera recouvrée ou réglée ; ou</a:t>
            </a:r>
          </a:p>
          <a:p>
            <a:pPr marL="0" indent="0">
              <a:buNone/>
            </a:pPr>
            <a:r>
              <a:rPr lang="fr-CA" sz="2000" dirty="0"/>
              <a:t>(b)     des </a:t>
            </a:r>
            <a:r>
              <a:rPr lang="fr-CA" sz="2000" i="1" dirty="0"/>
              <a:t>différences temporaires déductibles</a:t>
            </a:r>
            <a:r>
              <a:rPr lang="fr-CA" sz="2000" dirty="0"/>
              <a:t>, c'est-à-dire des différences temporaires qui généreront des montants déductibles dans la détermination du bénéfice imposable (perte fiscale) de périodes futures lorsque la valeur comptable de l'actif ou du passif sera recouvrée ou réglée.</a:t>
            </a:r>
          </a:p>
          <a:p>
            <a:pPr marL="0" indent="0">
              <a:buNone/>
            </a:pPr>
            <a:endParaRPr lang="fr-CA" sz="1400" dirty="0"/>
          </a:p>
          <a:p>
            <a:pPr marL="0" indent="0">
              <a:buNone/>
            </a:pPr>
            <a:r>
              <a:rPr lang="fr-CA" sz="2000" dirty="0"/>
              <a:t>La </a:t>
            </a:r>
            <a:r>
              <a:rPr lang="fr-CA" sz="2000" b="1" i="1" dirty="0"/>
              <a:t>base fiscale</a:t>
            </a:r>
            <a:r>
              <a:rPr lang="fr-CA" sz="2000" b="1" dirty="0"/>
              <a:t> </a:t>
            </a:r>
            <a:r>
              <a:rPr lang="fr-CA" sz="2000" dirty="0"/>
              <a:t>d'un actif ou d'un passif est le montant attribué à cet actif ou passif à des fins fiscales.</a:t>
            </a:r>
          </a:p>
          <a:p>
            <a:pPr marL="0" indent="0">
              <a:buNone/>
            </a:pPr>
            <a:endParaRPr lang="fr-CA" sz="2000" dirty="0"/>
          </a:p>
          <a:p>
            <a:pPr marL="0" indent="0">
              <a:buNone/>
            </a:pPr>
            <a:r>
              <a:rPr lang="fr-CA" sz="2000" dirty="0"/>
              <a:t>=&gt;  </a:t>
            </a:r>
            <a:r>
              <a:rPr lang="fr-CA" sz="2000" i="1" dirty="0"/>
              <a:t>Approche bilan</a:t>
            </a:r>
            <a:endParaRPr lang="fr-CA" sz="1600" dirty="0"/>
          </a:p>
        </p:txBody>
      </p:sp>
      <p:sp>
        <p:nvSpPr>
          <p:cNvPr id="4" name="Espace réservé du pied de page 3">
            <a:extLst>
              <a:ext uri="{FF2B5EF4-FFF2-40B4-BE49-F238E27FC236}">
                <a16:creationId xmlns:a16="http://schemas.microsoft.com/office/drawing/2014/main" id="{53EFC2C2-7C37-4D86-8DDA-9776F03D3430}"/>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6BA30E6-F6CE-43DD-8ADC-4F810AB634CF}"/>
              </a:ext>
            </a:extLst>
          </p:cNvPr>
          <p:cNvSpPr>
            <a:spLocks noGrp="1"/>
          </p:cNvSpPr>
          <p:nvPr>
            <p:ph type="sldNum" sz="quarter" idx="12"/>
          </p:nvPr>
        </p:nvSpPr>
        <p:spPr/>
        <p:txBody>
          <a:bodyPr/>
          <a:lstStyle/>
          <a:p>
            <a:fld id="{9820BAFF-92A6-45A5-B1F5-B233E0C14C43}" type="slidenum">
              <a:rPr lang="fr-FR" smtClean="0"/>
              <a:t>5</a:t>
            </a:fld>
            <a:endParaRPr lang="fr-FR"/>
          </a:p>
        </p:txBody>
      </p:sp>
    </p:spTree>
    <p:extLst>
      <p:ext uri="{BB962C8B-B14F-4D97-AF65-F5344CB8AC3E}">
        <p14:creationId xmlns:p14="http://schemas.microsoft.com/office/powerpoint/2010/main" val="4081609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exigibles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p:txBody>
          <a:bodyPr>
            <a:normAutofit fontScale="92500" lnSpcReduction="10000"/>
          </a:bodyPr>
          <a:lstStyle/>
          <a:p>
            <a:pPr marL="0" indent="0">
              <a:buNone/>
            </a:pPr>
            <a:r>
              <a:rPr lang="fr-CA" dirty="0"/>
              <a:t>Résultat avant impôts « comptable »</a:t>
            </a:r>
          </a:p>
          <a:p>
            <a:pPr marL="0" indent="0">
              <a:buNone/>
            </a:pPr>
            <a:r>
              <a:rPr lang="fr-CA" dirty="0"/>
              <a:t>+/- Ajustements</a:t>
            </a:r>
          </a:p>
          <a:p>
            <a:pPr marL="1076325" indent="-266700"/>
            <a:r>
              <a:rPr lang="fr-CA" dirty="0"/>
              <a:t>Écarts permanents</a:t>
            </a:r>
          </a:p>
          <a:p>
            <a:pPr marL="1533525" lvl="2" indent="-266700"/>
            <a:r>
              <a:rPr lang="fr-CA" sz="2200" dirty="0"/>
              <a:t>Exemples?</a:t>
            </a:r>
            <a:endParaRPr lang="fr-CA" dirty="0"/>
          </a:p>
          <a:p>
            <a:pPr marL="1076325" indent="-266700"/>
            <a:r>
              <a:rPr lang="fr-CA" dirty="0"/>
              <a:t>Écarts temporaires</a:t>
            </a:r>
          </a:p>
          <a:p>
            <a:pPr marL="1533525" lvl="2" indent="-266700"/>
            <a:r>
              <a:rPr lang="fr-CA" sz="2200" dirty="0"/>
              <a:t>Exemples?</a:t>
            </a:r>
          </a:p>
          <a:p>
            <a:pPr marL="0" indent="0">
              <a:buNone/>
            </a:pPr>
            <a:r>
              <a:rPr lang="fr-CA" dirty="0"/>
              <a:t>= Bénéfice imposable</a:t>
            </a:r>
          </a:p>
          <a:p>
            <a:pPr marL="0" indent="0">
              <a:buNone/>
            </a:pPr>
            <a:r>
              <a:rPr lang="fr-CA" dirty="0"/>
              <a:t>* taux d’impôt en vigueur</a:t>
            </a:r>
          </a:p>
          <a:p>
            <a:pPr marL="0" indent="0">
              <a:buNone/>
            </a:pPr>
            <a:r>
              <a:rPr lang="fr-CA" dirty="0"/>
              <a:t>= Impôts exigibles				</a:t>
            </a:r>
            <a:r>
              <a:rPr lang="fr-CA" sz="2200" i="1" dirty="0"/>
              <a:t>Charge impôts exigibles</a:t>
            </a:r>
          </a:p>
          <a:p>
            <a:pPr marL="0" indent="0">
              <a:buNone/>
            </a:pPr>
            <a:r>
              <a:rPr lang="fr-CA" sz="2200" i="1" dirty="0"/>
              <a:t>						@  Impôts à payer</a:t>
            </a:r>
            <a:endParaRPr lang="fr-FR" sz="2200" i="1"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6</a:t>
            </a:fld>
            <a:endParaRPr lang="fr-FR"/>
          </a:p>
        </p:txBody>
      </p:sp>
    </p:spTree>
    <p:extLst>
      <p:ext uri="{BB962C8B-B14F-4D97-AF65-F5344CB8AC3E}">
        <p14:creationId xmlns:p14="http://schemas.microsoft.com/office/powerpoint/2010/main" val="3681393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différés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a:xfrm>
            <a:off x="548641" y="1825625"/>
            <a:ext cx="11181806" cy="4351338"/>
          </a:xfrm>
        </p:spPr>
        <p:txBody>
          <a:bodyPr>
            <a:normAutofit lnSpcReduction="10000"/>
          </a:bodyPr>
          <a:lstStyle/>
          <a:p>
            <a:pPr marL="0" indent="0">
              <a:buNone/>
            </a:pPr>
            <a:r>
              <a:rPr lang="fr-CA" dirty="0"/>
              <a:t>Approche «  bilan »  =&gt; </a:t>
            </a:r>
            <a:r>
              <a:rPr lang="fr-CA" i="1" dirty="0">
                <a:solidFill>
                  <a:srgbClr val="0070C0"/>
                </a:solidFill>
              </a:rPr>
              <a:t>pour les écarts temporaires</a:t>
            </a:r>
            <a:endParaRPr lang="fr-CA" dirty="0">
              <a:solidFill>
                <a:srgbClr val="0070C0"/>
              </a:solidFill>
            </a:endParaRPr>
          </a:p>
          <a:p>
            <a:pPr marL="0" indent="0">
              <a:buNone/>
            </a:pPr>
            <a:endParaRPr lang="fr-FR" dirty="0"/>
          </a:p>
          <a:p>
            <a:pPr marL="0" indent="0">
              <a:buNone/>
              <a:tabLst>
                <a:tab pos="2333625" algn="l"/>
                <a:tab pos="4124325" algn="l"/>
                <a:tab pos="6008688" algn="l"/>
                <a:tab pos="8255000" algn="l"/>
              </a:tabLst>
            </a:pPr>
            <a:r>
              <a:rPr lang="fr-FR" dirty="0">
                <a:solidFill>
                  <a:srgbClr val="FF0000"/>
                </a:solidFill>
              </a:rPr>
              <a:t>Valeur	Valeur	Écart	 taux d’impôt	</a:t>
            </a:r>
            <a:r>
              <a:rPr lang="fr-FR" i="1" dirty="0">
                <a:solidFill>
                  <a:srgbClr val="FF0000"/>
                </a:solidFill>
              </a:rPr>
              <a:t> Actif ou passif</a:t>
            </a:r>
            <a:endParaRPr lang="fr-FR" dirty="0">
              <a:solidFill>
                <a:srgbClr val="FF0000"/>
              </a:solidFill>
            </a:endParaRPr>
          </a:p>
          <a:p>
            <a:pPr marL="0" indent="0">
              <a:buNone/>
              <a:tabLst>
                <a:tab pos="2333625" algn="l"/>
                <a:tab pos="4124325" algn="l"/>
                <a:tab pos="6008688" algn="l"/>
                <a:tab pos="8255000" algn="l"/>
              </a:tabLst>
            </a:pPr>
            <a:r>
              <a:rPr lang="fr-FR" dirty="0">
                <a:solidFill>
                  <a:srgbClr val="FF0000"/>
                </a:solidFill>
              </a:rPr>
              <a:t>comptable	fiscale	temporaire	 prévu	d’impôts différés</a:t>
            </a:r>
          </a:p>
          <a:p>
            <a:pPr marL="0" indent="0">
              <a:buNone/>
              <a:tabLst>
                <a:tab pos="2333625" algn="l"/>
                <a:tab pos="3943350" algn="l"/>
                <a:tab pos="6008688" algn="l"/>
                <a:tab pos="8255000" algn="l"/>
              </a:tabLst>
            </a:pPr>
            <a:r>
              <a:rPr lang="fr-FR" dirty="0">
                <a:solidFill>
                  <a:srgbClr val="FF0000"/>
                </a:solidFill>
              </a:rPr>
              <a:t>  </a:t>
            </a:r>
            <a:r>
              <a:rPr lang="fr-FR" dirty="0"/>
              <a:t>xx $	  xx $           c</a:t>
            </a:r>
            <a:r>
              <a:rPr lang="fr-FR" sz="2000" dirty="0"/>
              <a:t>omptable - fiscal</a:t>
            </a:r>
            <a:r>
              <a:rPr lang="fr-FR" dirty="0"/>
              <a:t>	   *  x %	=  xx $</a:t>
            </a:r>
          </a:p>
          <a:p>
            <a:pPr marL="0" indent="0">
              <a:buNone/>
              <a:tabLst>
                <a:tab pos="2333625" algn="l"/>
                <a:tab pos="4302125" algn="l"/>
                <a:tab pos="6008688" algn="l"/>
                <a:tab pos="8255000" algn="l"/>
              </a:tabLst>
            </a:pPr>
            <a:r>
              <a:rPr lang="fr-FR" dirty="0"/>
              <a:t>				</a:t>
            </a: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r>
              <a:rPr lang="fr-FR" sz="2400" dirty="0"/>
              <a:t>Exemples?</a:t>
            </a:r>
            <a:endParaRPr lang="fr-CA"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7</a:t>
            </a:fld>
            <a:endParaRPr lang="fr-FR"/>
          </a:p>
        </p:txBody>
      </p:sp>
    </p:spTree>
    <p:extLst>
      <p:ext uri="{BB962C8B-B14F-4D97-AF65-F5344CB8AC3E}">
        <p14:creationId xmlns:p14="http://schemas.microsoft.com/office/powerpoint/2010/main" val="856991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A74839-451E-429E-8B01-36CBC439BD9E}"/>
              </a:ext>
            </a:extLst>
          </p:cNvPr>
          <p:cNvSpPr>
            <a:spLocks noGrp="1"/>
          </p:cNvSpPr>
          <p:nvPr>
            <p:ph type="title"/>
          </p:nvPr>
        </p:nvSpPr>
        <p:spPr/>
        <p:txBody>
          <a:bodyPr/>
          <a:lstStyle/>
          <a:p>
            <a:r>
              <a:rPr lang="fr-CA" dirty="0"/>
              <a:t>Impôts différés – éléments hors bilan</a:t>
            </a:r>
            <a:endParaRPr lang="fr-FR" dirty="0"/>
          </a:p>
        </p:txBody>
      </p:sp>
      <p:sp>
        <p:nvSpPr>
          <p:cNvPr id="3" name="Espace réservé du contenu 2">
            <a:extLst>
              <a:ext uri="{FF2B5EF4-FFF2-40B4-BE49-F238E27FC236}">
                <a16:creationId xmlns:a16="http://schemas.microsoft.com/office/drawing/2014/main" id="{BFCB142B-7FCE-4A21-B833-243D1E8397AE}"/>
              </a:ext>
            </a:extLst>
          </p:cNvPr>
          <p:cNvSpPr>
            <a:spLocks noGrp="1"/>
          </p:cNvSpPr>
          <p:nvPr>
            <p:ph idx="1"/>
          </p:nvPr>
        </p:nvSpPr>
        <p:spPr/>
        <p:txBody>
          <a:bodyPr/>
          <a:lstStyle/>
          <a:p>
            <a:pPr marL="0" indent="0">
              <a:buNone/>
            </a:pPr>
            <a:r>
              <a:rPr lang="fr-CA" dirty="0"/>
              <a:t>9       Certains éléments ont une base fiscale, mais ne sont pas comptabilisés en tant qu'actifs ou en tant que passifs dans l'état de la situation financière. Par exemple, les </a:t>
            </a:r>
            <a:r>
              <a:rPr lang="fr-CA" dirty="0">
                <a:solidFill>
                  <a:srgbClr val="0070C0"/>
                </a:solidFill>
              </a:rPr>
              <a:t>frais de recherche </a:t>
            </a:r>
            <a:r>
              <a:rPr lang="fr-CA" dirty="0"/>
              <a:t>sont comptabilisés en charges pour la détermination du bénéfice comptable de la période de leur survenance, mais leur déduction du bénéfice imposable (perte fiscale) peut ne pas être autorisée avant une période ultérieure. La différence entre la base fiscale des frais de recherche, qui est le montant admis en déduction par les administrations fiscales au titre des périodes futures, et la valeur comptable nulle est une différence temporaire déductible dont résulte un actif d'impôt différé.</a:t>
            </a:r>
            <a:endParaRPr lang="fr-FR" dirty="0"/>
          </a:p>
        </p:txBody>
      </p:sp>
      <p:sp>
        <p:nvSpPr>
          <p:cNvPr id="4" name="Espace réservé du pied de page 3">
            <a:extLst>
              <a:ext uri="{FF2B5EF4-FFF2-40B4-BE49-F238E27FC236}">
                <a16:creationId xmlns:a16="http://schemas.microsoft.com/office/drawing/2014/main" id="{25467B7B-1AB2-47AE-8302-F45157402794}"/>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329DC3F9-3989-410A-B552-C6CE6D71C66A}"/>
              </a:ext>
            </a:extLst>
          </p:cNvPr>
          <p:cNvSpPr>
            <a:spLocks noGrp="1"/>
          </p:cNvSpPr>
          <p:nvPr>
            <p:ph type="sldNum" sz="quarter" idx="12"/>
          </p:nvPr>
        </p:nvSpPr>
        <p:spPr/>
        <p:txBody>
          <a:bodyPr/>
          <a:lstStyle/>
          <a:p>
            <a:fld id="{9820BAFF-92A6-45A5-B1F5-B233E0C14C43}" type="slidenum">
              <a:rPr lang="fr-FR" smtClean="0"/>
              <a:t>8</a:t>
            </a:fld>
            <a:endParaRPr lang="fr-FR"/>
          </a:p>
        </p:txBody>
      </p:sp>
    </p:spTree>
    <p:extLst>
      <p:ext uri="{BB962C8B-B14F-4D97-AF65-F5344CB8AC3E}">
        <p14:creationId xmlns:p14="http://schemas.microsoft.com/office/powerpoint/2010/main" val="3927888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D521E9-8FA3-435F-B543-143578841576}"/>
              </a:ext>
            </a:extLst>
          </p:cNvPr>
          <p:cNvSpPr>
            <a:spLocks noGrp="1"/>
          </p:cNvSpPr>
          <p:nvPr>
            <p:ph type="title"/>
          </p:nvPr>
        </p:nvSpPr>
        <p:spPr/>
        <p:txBody>
          <a:bodyPr/>
          <a:lstStyle/>
          <a:p>
            <a:r>
              <a:rPr lang="fr-CA" b="1" dirty="0"/>
              <a:t>Comptabilisation de passifs et d'actifs d'impôt exigible</a:t>
            </a:r>
            <a:endParaRPr lang="fr-FR" dirty="0"/>
          </a:p>
        </p:txBody>
      </p:sp>
      <p:sp>
        <p:nvSpPr>
          <p:cNvPr id="3" name="Espace réservé du contenu 2">
            <a:extLst>
              <a:ext uri="{FF2B5EF4-FFF2-40B4-BE49-F238E27FC236}">
                <a16:creationId xmlns:a16="http://schemas.microsoft.com/office/drawing/2014/main" id="{3B8A8C0B-EA40-48B6-91FB-3AAEAA9CEBE6}"/>
              </a:ext>
            </a:extLst>
          </p:cNvPr>
          <p:cNvSpPr>
            <a:spLocks noGrp="1"/>
          </p:cNvSpPr>
          <p:nvPr>
            <p:ph idx="1"/>
          </p:nvPr>
        </p:nvSpPr>
        <p:spPr/>
        <p:txBody>
          <a:bodyPr>
            <a:normAutofit fontScale="77500" lnSpcReduction="20000"/>
          </a:bodyPr>
          <a:lstStyle/>
          <a:p>
            <a:pPr marL="0" indent="0">
              <a:buNone/>
            </a:pPr>
            <a:r>
              <a:rPr lang="fr-CA" b="1" dirty="0"/>
              <a:t>12     L'impôt exigible de la période et des périodes précédentes doit être comptabilisé en tant que passif dans la mesure où il n'est pas payé. Si le montant déjà payé au titre de la période et des périodes précédentes excède le montant dû pour ces périodes, l'excédent doit être comptabilisé en tant qu'actif.</a:t>
            </a:r>
          </a:p>
          <a:p>
            <a:pPr marL="0" indent="0">
              <a:buNone/>
            </a:pPr>
            <a:r>
              <a:rPr lang="fr-CA" b="1" dirty="0"/>
              <a:t>	</a:t>
            </a:r>
            <a:r>
              <a:rPr lang="fr-CA" i="1" dirty="0"/>
              <a:t>acompte provisionnels</a:t>
            </a:r>
            <a:endParaRPr lang="fr-CA" dirty="0"/>
          </a:p>
          <a:p>
            <a:pPr marL="0" indent="0">
              <a:buNone/>
            </a:pPr>
            <a:endParaRPr lang="fr-CA" b="1" dirty="0"/>
          </a:p>
          <a:p>
            <a:pPr marL="0" indent="0">
              <a:buNone/>
            </a:pPr>
            <a:r>
              <a:rPr lang="fr-CA" b="1" dirty="0"/>
              <a:t>13     L'avantage lié à une perte fiscale pouvant être reportée en arrière pour recouvrer l'impôt exigible d'une période antérieure doit être comptabilisé en tant qu'actif.</a:t>
            </a:r>
          </a:p>
          <a:p>
            <a:pPr marL="0" indent="0">
              <a:buNone/>
            </a:pPr>
            <a:r>
              <a:rPr lang="fr-CA" b="1" dirty="0"/>
              <a:t>	</a:t>
            </a:r>
            <a:r>
              <a:rPr lang="fr-CA" i="1" dirty="0"/>
              <a:t>impôts à recouvrer</a:t>
            </a:r>
            <a:endParaRPr lang="fr-CA" dirty="0"/>
          </a:p>
          <a:p>
            <a:pPr marL="0" indent="0">
              <a:buNone/>
            </a:pPr>
            <a:endParaRPr lang="fr-CA" sz="100" b="1" dirty="0"/>
          </a:p>
          <a:p>
            <a:pPr marL="0" indent="0">
              <a:buNone/>
            </a:pPr>
            <a:r>
              <a:rPr lang="fr-CA" dirty="0"/>
              <a:t>14     Lorsqu'elle utilise une perte fiscale pour recouvrer l'impôt exigible d'une période antérieure, une entité comptabilise l'avantage à l'actif dans la période au cours de laquelle se produit la perte fiscale car l'avantage pour l'entité est probable et peut être évalué de manière fiable.</a:t>
            </a:r>
          </a:p>
        </p:txBody>
      </p:sp>
      <p:sp>
        <p:nvSpPr>
          <p:cNvPr id="4" name="Espace réservé du pied de page 3">
            <a:extLst>
              <a:ext uri="{FF2B5EF4-FFF2-40B4-BE49-F238E27FC236}">
                <a16:creationId xmlns:a16="http://schemas.microsoft.com/office/drawing/2014/main" id="{3A676055-F557-412A-A67B-816368C257E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30A76189-88ED-434E-BB16-EE33171C90A2}"/>
              </a:ext>
            </a:extLst>
          </p:cNvPr>
          <p:cNvSpPr>
            <a:spLocks noGrp="1"/>
          </p:cNvSpPr>
          <p:nvPr>
            <p:ph type="sldNum" sz="quarter" idx="12"/>
          </p:nvPr>
        </p:nvSpPr>
        <p:spPr/>
        <p:txBody>
          <a:bodyPr/>
          <a:lstStyle/>
          <a:p>
            <a:fld id="{9820BAFF-92A6-45A5-B1F5-B233E0C14C43}" type="slidenum">
              <a:rPr lang="fr-FR" smtClean="0"/>
              <a:t>9</a:t>
            </a:fld>
            <a:endParaRPr lang="fr-FR"/>
          </a:p>
        </p:txBody>
      </p:sp>
    </p:spTree>
    <p:extLst>
      <p:ext uri="{BB962C8B-B14F-4D97-AF65-F5344CB8AC3E}">
        <p14:creationId xmlns:p14="http://schemas.microsoft.com/office/powerpoint/2010/main" val="5296978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EB72E4-0C58-4EB4-A357-2C8F969E79C1}"/>
              </a:ext>
            </a:extLst>
          </p:cNvPr>
          <p:cNvSpPr>
            <a:spLocks noGrp="1"/>
          </p:cNvSpPr>
          <p:nvPr>
            <p:ph type="title"/>
          </p:nvPr>
        </p:nvSpPr>
        <p:spPr/>
        <p:txBody>
          <a:bodyPr/>
          <a:lstStyle/>
          <a:p>
            <a:r>
              <a:rPr lang="fr-CA" b="1" dirty="0"/>
              <a:t>Comptabilisation de passifs et d'actifs d'impôt différé</a:t>
            </a:r>
            <a:endParaRPr lang="fr-FR" dirty="0"/>
          </a:p>
        </p:txBody>
      </p:sp>
      <p:sp>
        <p:nvSpPr>
          <p:cNvPr id="3" name="Espace réservé du contenu 2">
            <a:extLst>
              <a:ext uri="{FF2B5EF4-FFF2-40B4-BE49-F238E27FC236}">
                <a16:creationId xmlns:a16="http://schemas.microsoft.com/office/drawing/2014/main" id="{D4654568-1C75-4274-A5C5-3102A28F4637}"/>
              </a:ext>
            </a:extLst>
          </p:cNvPr>
          <p:cNvSpPr>
            <a:spLocks noGrp="1"/>
          </p:cNvSpPr>
          <p:nvPr>
            <p:ph idx="1"/>
          </p:nvPr>
        </p:nvSpPr>
        <p:spPr/>
        <p:txBody>
          <a:bodyPr>
            <a:normAutofit fontScale="77500" lnSpcReduction="20000"/>
          </a:bodyPr>
          <a:lstStyle/>
          <a:p>
            <a:pPr marL="0" indent="0">
              <a:buNone/>
            </a:pPr>
            <a:r>
              <a:rPr lang="fr-CA" b="1" dirty="0"/>
              <a:t>Différences temporaires imposables</a:t>
            </a:r>
          </a:p>
          <a:p>
            <a:pPr marL="0" indent="0">
              <a:buNone/>
            </a:pPr>
            <a:r>
              <a:rPr lang="fr-CA" b="1" dirty="0"/>
              <a:t>15     Un passif d'impôt différé doit être comptabilisé pour toutes les différences temporaires imposables, sauf dans la mesure où le passif d'impôt différé est généré par :</a:t>
            </a:r>
          </a:p>
          <a:p>
            <a:pPr marL="0" indent="0">
              <a:buNone/>
            </a:pPr>
            <a:r>
              <a:rPr lang="fr-CA" b="1" dirty="0"/>
              <a:t>(a)     la comptabilisation initiale du goodwill ; ou</a:t>
            </a:r>
          </a:p>
          <a:p>
            <a:pPr marL="0" indent="0">
              <a:buNone/>
            </a:pPr>
            <a:r>
              <a:rPr lang="fr-CA" b="1" dirty="0"/>
              <a:t>(b)     la comptabilisation initiale d'un actif ou d'un passif dans une transaction qui :</a:t>
            </a:r>
          </a:p>
          <a:p>
            <a:pPr marL="1166813" indent="-539750">
              <a:buNone/>
            </a:pPr>
            <a:r>
              <a:rPr lang="fr-CA" b="1" dirty="0"/>
              <a:t>(i)     n'est pas un regroupement d'entreprises, et</a:t>
            </a:r>
          </a:p>
          <a:p>
            <a:pPr marL="1166813" indent="-539750">
              <a:buNone/>
            </a:pPr>
            <a:r>
              <a:rPr lang="fr-CA" b="1" dirty="0"/>
              <a:t>(ii)    au moment de la transaction, n'affecte ni le bénéfice comptable, ni le bénéfice imposable (perte fiscale).</a:t>
            </a:r>
          </a:p>
          <a:p>
            <a:pPr marL="0" indent="0">
              <a:buNone/>
            </a:pPr>
            <a:r>
              <a:rPr lang="fr-CA" b="1" dirty="0"/>
              <a:t>Toutefois, pour les différences temporaires imposables liées à des participations dans des filiales et entreprises associées, à des investissements dans des succursales et à des intérêts dans des partenariats, un passif d'impôt différé doit être comptabilisé selon le paragraphe 39.</a:t>
            </a:r>
          </a:p>
          <a:p>
            <a:pPr marL="0" indent="0">
              <a:buNone/>
            </a:pPr>
            <a:endParaRPr lang="fr-FR" dirty="0"/>
          </a:p>
        </p:txBody>
      </p:sp>
      <p:sp>
        <p:nvSpPr>
          <p:cNvPr id="4" name="Espace réservé du pied de page 3">
            <a:extLst>
              <a:ext uri="{FF2B5EF4-FFF2-40B4-BE49-F238E27FC236}">
                <a16:creationId xmlns:a16="http://schemas.microsoft.com/office/drawing/2014/main" id="{E11977ED-B856-4DED-9534-14D44E5F7B7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D3D8073A-D209-4466-BFCB-C71C5FD76F0E}"/>
              </a:ext>
            </a:extLst>
          </p:cNvPr>
          <p:cNvSpPr>
            <a:spLocks noGrp="1"/>
          </p:cNvSpPr>
          <p:nvPr>
            <p:ph type="sldNum" sz="quarter" idx="12"/>
          </p:nvPr>
        </p:nvSpPr>
        <p:spPr/>
        <p:txBody>
          <a:bodyPr/>
          <a:lstStyle/>
          <a:p>
            <a:fld id="{9820BAFF-92A6-45A5-B1F5-B233E0C14C43}" type="slidenum">
              <a:rPr lang="fr-FR" smtClean="0"/>
              <a:t>10</a:t>
            </a:fld>
            <a:endParaRPr lang="fr-FR"/>
          </a:p>
        </p:txBody>
      </p:sp>
    </p:spTree>
    <p:extLst>
      <p:ext uri="{BB962C8B-B14F-4D97-AF65-F5344CB8AC3E}">
        <p14:creationId xmlns:p14="http://schemas.microsoft.com/office/powerpoint/2010/main" val="3700231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397C29-A7A8-41C2-88E9-0F5FC3342A3A}"/>
              </a:ext>
            </a:extLst>
          </p:cNvPr>
          <p:cNvSpPr>
            <a:spLocks noGrp="1"/>
          </p:cNvSpPr>
          <p:nvPr>
            <p:ph type="title"/>
          </p:nvPr>
        </p:nvSpPr>
        <p:spPr>
          <a:xfrm>
            <a:off x="838200" y="365126"/>
            <a:ext cx="10515600" cy="901700"/>
          </a:xfrm>
        </p:spPr>
        <p:txBody>
          <a:bodyPr>
            <a:normAutofit/>
          </a:bodyPr>
          <a:lstStyle/>
          <a:p>
            <a:r>
              <a:rPr lang="fr-CA" dirty="0"/>
              <a:t>Exemples d’écarts temporaires</a:t>
            </a:r>
            <a:endParaRPr lang="fr-FR" dirty="0"/>
          </a:p>
        </p:txBody>
      </p:sp>
      <p:sp>
        <p:nvSpPr>
          <p:cNvPr id="3" name="Espace réservé du contenu 2">
            <a:extLst>
              <a:ext uri="{FF2B5EF4-FFF2-40B4-BE49-F238E27FC236}">
                <a16:creationId xmlns:a16="http://schemas.microsoft.com/office/drawing/2014/main" id="{F812D523-9475-457A-AA0A-6F4AB4A6C38D}"/>
              </a:ext>
            </a:extLst>
          </p:cNvPr>
          <p:cNvSpPr>
            <a:spLocks noGrp="1"/>
          </p:cNvSpPr>
          <p:nvPr>
            <p:ph idx="1"/>
          </p:nvPr>
        </p:nvSpPr>
        <p:spPr>
          <a:xfrm>
            <a:off x="838200" y="1447800"/>
            <a:ext cx="10515600" cy="4908549"/>
          </a:xfrm>
        </p:spPr>
        <p:txBody>
          <a:bodyPr>
            <a:normAutofit/>
          </a:bodyPr>
          <a:lstStyle/>
          <a:p>
            <a:pPr marL="0" indent="0">
              <a:buNone/>
            </a:pPr>
            <a:r>
              <a:rPr lang="fr-CA" sz="1600" dirty="0"/>
              <a:t>17     Certaines différences temporaires se produisent lorsque le produit (ou la charge) est compris dans le bénéfice comptable d'une période, mais est compris dans le bénéfice imposable d'une autre période. De telles différences temporaires sont souvent appelées différences temporelles. Des exemples de différences temporaires de cette nature, qui sont des </a:t>
            </a:r>
            <a:r>
              <a:rPr lang="fr-CA" sz="1600" dirty="0">
                <a:solidFill>
                  <a:srgbClr val="0070C0"/>
                </a:solidFill>
              </a:rPr>
              <a:t>différences temporaires imposables et génèrent par conséquent des passifs d'impôt différé</a:t>
            </a:r>
            <a:r>
              <a:rPr lang="fr-CA" sz="1600" dirty="0"/>
              <a:t>, sont les suivants :</a:t>
            </a:r>
          </a:p>
          <a:p>
            <a:pPr marL="0" indent="0">
              <a:buNone/>
            </a:pPr>
            <a:r>
              <a:rPr lang="fr-CA" sz="1600" dirty="0"/>
              <a:t>(a)     les produits d'intérêts sont inclus dans le bénéfice comptable au fur et à mesure qu'ils sont courus mais peuvent, dans certains pays, n'être inclus dans le bénéfice imposable que lorsqu'ils sont reçus en trésorerie. La base fiscale de toute créance comptabilisée dans l'état de la situation financière du fait de tels produits est nulle parce que ces produits n'affectent pas le bénéfice imposable tant qu'ils ne sont pas encaissés ;</a:t>
            </a:r>
          </a:p>
          <a:p>
            <a:pPr marL="0" indent="0">
              <a:buNone/>
            </a:pPr>
            <a:r>
              <a:rPr lang="fr-CA" sz="1600" dirty="0"/>
              <a:t>(b)     </a:t>
            </a:r>
            <a:r>
              <a:rPr lang="fr-CA" sz="1600" u="sng" dirty="0">
                <a:solidFill>
                  <a:srgbClr val="0070C0"/>
                </a:solidFill>
              </a:rPr>
              <a:t>l'amortissement</a:t>
            </a:r>
            <a:r>
              <a:rPr lang="fr-CA" sz="1600" dirty="0"/>
              <a:t> pris en compte dans la détermination du bénéfice imposable (perte fiscale) peut différer de celui pris en compte dans le calcul du bénéfice comptable. La différence temporaire est la différence entre la valeur comptable de l'actif et sa base fiscale, qui est le coût initial de l'actif moins toutes les déductions effectuées au titre de l'actif et autorisées par les administrations fiscales dans le cadre de la détermination du bénéfice imposable de la période considérée et des périodes antérieures. Cette différence temporaire imposable donne lieu à un passif d'impôt différé lorsque l'amortissement fiscal est accéléré (si l'amortissement fiscal est moins rapide que l'amortissement comptable, une différence temporaire déductible apparaît, générant un actif d'impôt différé) ; et</a:t>
            </a:r>
          </a:p>
          <a:p>
            <a:pPr marL="0" indent="0">
              <a:buNone/>
            </a:pPr>
            <a:r>
              <a:rPr lang="fr-CA" sz="1600" dirty="0"/>
              <a:t>(c)     les </a:t>
            </a:r>
            <a:r>
              <a:rPr lang="fr-CA" sz="1600" u="sng" dirty="0">
                <a:solidFill>
                  <a:srgbClr val="0070C0"/>
                </a:solidFill>
              </a:rPr>
              <a:t>frais de développement </a:t>
            </a:r>
            <a:r>
              <a:rPr lang="fr-CA" sz="1600" dirty="0"/>
              <a:t>peuvent être inscrits à l'actif et amortis sur des périodes futures pour la détermination du bénéfice comptable, mais déduits du bénéfice imposable de la période au cours de laquelle ils sont engagés. De tels frais de développement ont une base fiscale nulle, car ils ont été déjà déduits du bénéfice imposable. La différence temporaire est la différence entre la valeur comptable des frais de développement et leur base fiscale de zéro.</a:t>
            </a:r>
          </a:p>
        </p:txBody>
      </p:sp>
      <p:sp>
        <p:nvSpPr>
          <p:cNvPr id="4" name="Espace réservé du pied de page 3">
            <a:extLst>
              <a:ext uri="{FF2B5EF4-FFF2-40B4-BE49-F238E27FC236}">
                <a16:creationId xmlns:a16="http://schemas.microsoft.com/office/drawing/2014/main" id="{213C7659-378A-4ED9-B65E-1804D5CC80FC}"/>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EBE49E86-F862-4EA6-81CB-B4AA3B53FA89}"/>
              </a:ext>
            </a:extLst>
          </p:cNvPr>
          <p:cNvSpPr>
            <a:spLocks noGrp="1"/>
          </p:cNvSpPr>
          <p:nvPr>
            <p:ph type="sldNum" sz="quarter" idx="12"/>
          </p:nvPr>
        </p:nvSpPr>
        <p:spPr/>
        <p:txBody>
          <a:bodyPr/>
          <a:lstStyle/>
          <a:p>
            <a:fld id="{9820BAFF-92A6-45A5-B1F5-B233E0C14C43}" type="slidenum">
              <a:rPr lang="fr-FR" smtClean="0"/>
              <a:t>11</a:t>
            </a:fld>
            <a:endParaRPr lang="fr-FR"/>
          </a:p>
        </p:txBody>
      </p:sp>
    </p:spTree>
    <p:extLst>
      <p:ext uri="{BB962C8B-B14F-4D97-AF65-F5344CB8AC3E}">
        <p14:creationId xmlns:p14="http://schemas.microsoft.com/office/powerpoint/2010/main" val="2697788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397C29-A7A8-41C2-88E9-0F5FC3342A3A}"/>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812D523-9475-457A-AA0A-6F4AB4A6C38D}"/>
              </a:ext>
            </a:extLst>
          </p:cNvPr>
          <p:cNvSpPr>
            <a:spLocks noGrp="1"/>
          </p:cNvSpPr>
          <p:nvPr>
            <p:ph idx="1"/>
          </p:nvPr>
        </p:nvSpPr>
        <p:spPr/>
        <p:txBody>
          <a:bodyPr>
            <a:normAutofit fontScale="77500" lnSpcReduction="20000"/>
          </a:bodyPr>
          <a:lstStyle/>
          <a:p>
            <a:pPr marL="0" indent="0">
              <a:buNone/>
            </a:pPr>
            <a:r>
              <a:rPr lang="fr-CA" dirty="0"/>
              <a:t>18     Des différences temporaires sont générées également lorsque :</a:t>
            </a:r>
          </a:p>
          <a:p>
            <a:pPr marL="0" indent="0">
              <a:buNone/>
            </a:pPr>
            <a:r>
              <a:rPr lang="fr-CA" dirty="0"/>
              <a:t>(a)     les actifs acquis et les passifs repris identifiables dans un regroupement d'entreprises sont comptabilisés à leurs justes valeurs respectives selon IFRS 3 </a:t>
            </a:r>
            <a:r>
              <a:rPr lang="fr-CA" i="1" dirty="0"/>
              <a:t>Regroupements d'entreprises</a:t>
            </a:r>
            <a:r>
              <a:rPr lang="fr-CA" dirty="0"/>
              <a:t>, mais aucun ajustement équivalent n'est effectué à des fins fiscales (voir paragraphe </a:t>
            </a:r>
            <a:r>
              <a:rPr lang="fr-CA" dirty="0">
                <a:hlinkClick r:id="rId2"/>
              </a:rPr>
              <a:t>19</a:t>
            </a:r>
            <a:r>
              <a:rPr lang="fr-CA" dirty="0"/>
              <a:t>) ;</a:t>
            </a:r>
          </a:p>
          <a:p>
            <a:pPr marL="0" indent="0">
              <a:buNone/>
            </a:pPr>
            <a:r>
              <a:rPr lang="fr-CA" dirty="0"/>
              <a:t>(b)     des actifs sont réévalués sans qu'un ajustement équivalent ne soit effectué à des fins fiscales (voir paragraphe </a:t>
            </a:r>
            <a:r>
              <a:rPr lang="fr-CA" dirty="0">
                <a:hlinkClick r:id="rId2"/>
              </a:rPr>
              <a:t>20</a:t>
            </a:r>
            <a:r>
              <a:rPr lang="fr-CA" dirty="0"/>
              <a:t>) ;</a:t>
            </a:r>
          </a:p>
          <a:p>
            <a:pPr marL="0" indent="0">
              <a:buNone/>
            </a:pPr>
            <a:r>
              <a:rPr lang="fr-CA" dirty="0"/>
              <a:t>(c)     du goodwill est généré lors d'un regroupement d'entreprises (voir paragraphe </a:t>
            </a:r>
            <a:r>
              <a:rPr lang="fr-CA" dirty="0">
                <a:hlinkClick r:id="rId2"/>
              </a:rPr>
              <a:t>21</a:t>
            </a:r>
            <a:r>
              <a:rPr lang="fr-CA" dirty="0"/>
              <a:t>) ;</a:t>
            </a:r>
          </a:p>
          <a:p>
            <a:pPr marL="0" indent="0">
              <a:buNone/>
            </a:pPr>
            <a:r>
              <a:rPr lang="fr-CA" dirty="0"/>
              <a:t>(d)     la base fiscale d'un actif ou d'un passif lors de sa comptabilisation initiale diffère de sa valeur comptable initiale, par exemple lorsque l'entité bénéficie de subventions publiques non imposables liées à des actifs (voir paragraphes </a:t>
            </a:r>
            <a:r>
              <a:rPr lang="fr-CA" dirty="0">
                <a:hlinkClick r:id="rId2"/>
              </a:rPr>
              <a:t>22</a:t>
            </a:r>
            <a:r>
              <a:rPr lang="fr-CA" dirty="0"/>
              <a:t> et 33) ; ou</a:t>
            </a:r>
          </a:p>
          <a:p>
            <a:pPr marL="0" indent="0">
              <a:buNone/>
            </a:pPr>
            <a:r>
              <a:rPr lang="fr-CA" dirty="0"/>
              <a:t>(e)     la valeur comptable des participations dans des filiales et entreprises associées, des investissements dans des succursales et des intérêts dans des partenariats, devient différente de la base fiscale des participations, des investissements ou des intérêts (voir paragraphes </a:t>
            </a:r>
            <a:r>
              <a:rPr lang="fr-CA" dirty="0">
                <a:hlinkClick r:id="rId2"/>
              </a:rPr>
              <a:t>38</a:t>
            </a:r>
            <a:r>
              <a:rPr lang="fr-CA" dirty="0"/>
              <a:t> à 45).</a:t>
            </a:r>
          </a:p>
        </p:txBody>
      </p:sp>
      <p:sp>
        <p:nvSpPr>
          <p:cNvPr id="4" name="Espace réservé du pied de page 3">
            <a:extLst>
              <a:ext uri="{FF2B5EF4-FFF2-40B4-BE49-F238E27FC236}">
                <a16:creationId xmlns:a16="http://schemas.microsoft.com/office/drawing/2014/main" id="{213C7659-378A-4ED9-B65E-1804D5CC80FC}"/>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EBE49E86-F862-4EA6-81CB-B4AA3B53FA89}"/>
              </a:ext>
            </a:extLst>
          </p:cNvPr>
          <p:cNvSpPr>
            <a:spLocks noGrp="1"/>
          </p:cNvSpPr>
          <p:nvPr>
            <p:ph type="sldNum" sz="quarter" idx="12"/>
          </p:nvPr>
        </p:nvSpPr>
        <p:spPr/>
        <p:txBody>
          <a:bodyPr/>
          <a:lstStyle/>
          <a:p>
            <a:fld id="{9820BAFF-92A6-45A5-B1F5-B233E0C14C43}" type="slidenum">
              <a:rPr lang="fr-FR" smtClean="0"/>
              <a:t>12</a:t>
            </a:fld>
            <a:endParaRPr lang="fr-FR"/>
          </a:p>
        </p:txBody>
      </p:sp>
    </p:spTree>
    <p:extLst>
      <p:ext uri="{BB962C8B-B14F-4D97-AF65-F5344CB8AC3E}">
        <p14:creationId xmlns:p14="http://schemas.microsoft.com/office/powerpoint/2010/main" val="2832710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3849EB-C765-4033-B876-D43B446D0A2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7B18E35-DC59-448B-9BE7-3DABDB268905}"/>
              </a:ext>
            </a:extLst>
          </p:cNvPr>
          <p:cNvSpPr>
            <a:spLocks noGrp="1"/>
          </p:cNvSpPr>
          <p:nvPr>
            <p:ph idx="1"/>
          </p:nvPr>
        </p:nvSpPr>
        <p:spPr/>
        <p:txBody>
          <a:bodyPr>
            <a:normAutofit fontScale="85000" lnSpcReduction="10000"/>
          </a:bodyPr>
          <a:lstStyle/>
          <a:p>
            <a:pPr marL="0" indent="0">
              <a:buNone/>
            </a:pPr>
            <a:r>
              <a:rPr lang="fr-CA" b="1" dirty="0"/>
              <a:t>Regroupements d'entreprises</a:t>
            </a:r>
          </a:p>
          <a:p>
            <a:pPr marL="0" indent="0">
              <a:buNone/>
            </a:pPr>
            <a:r>
              <a:rPr lang="fr-CA" dirty="0"/>
              <a:t>19     Sauf quelques exceptions limitées, les actifs acquis et les passifs repris identifiables lors d'un regroupement d'entreprises sont comptabilisés à leur juste valeur à la date d'acquisition. Des différences temporaires sont générées lorsque la base fiscale des actifs acquis et des passifs repris identifiables n'est pas affectée par le regroupement d'entreprises ou est affectée de manière différente. Par exemple, lorsque la valeur comptable d'un actif est majorée pour atteindre sa juste valeur mais que la base fiscale de cet actif demeure égale au coût pour le détenteur précédent, il en résulte une différence temporaire imposable qui donne lieu à un passif d'impôt différé. Le passif d'impôt différé correspondant affecte le goodwill (voir paragraphe </a:t>
            </a:r>
            <a:r>
              <a:rPr lang="fr-CA" dirty="0">
                <a:hlinkClick r:id="rId2"/>
              </a:rPr>
              <a:t>66</a:t>
            </a:r>
            <a:r>
              <a:rPr lang="fr-CA" dirty="0"/>
              <a:t>).</a:t>
            </a:r>
          </a:p>
          <a:p>
            <a:pPr marL="0" indent="0">
              <a:buNone/>
            </a:pPr>
            <a:endParaRPr lang="fr-CA" dirty="0"/>
          </a:p>
          <a:p>
            <a:pPr>
              <a:buFont typeface="Wingdings" panose="05000000000000000000" pitchFamily="2" charset="2"/>
              <a:buChar char="Ø"/>
            </a:pPr>
            <a:r>
              <a:rPr lang="fr-CA" i="1" dirty="0"/>
              <a:t> exemple : contexte achat d’actions</a:t>
            </a:r>
          </a:p>
          <a:p>
            <a:pPr marL="0" indent="0">
              <a:buNone/>
            </a:pPr>
            <a:endParaRPr lang="fr-FR" dirty="0"/>
          </a:p>
        </p:txBody>
      </p:sp>
      <p:sp>
        <p:nvSpPr>
          <p:cNvPr id="4" name="Espace réservé du pied de page 3">
            <a:extLst>
              <a:ext uri="{FF2B5EF4-FFF2-40B4-BE49-F238E27FC236}">
                <a16:creationId xmlns:a16="http://schemas.microsoft.com/office/drawing/2014/main" id="{A3E6C061-1AFB-43A1-B015-2352AB536861}"/>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013298A-D522-401A-A779-C5C4ED6F4F1A}"/>
              </a:ext>
            </a:extLst>
          </p:cNvPr>
          <p:cNvSpPr>
            <a:spLocks noGrp="1"/>
          </p:cNvSpPr>
          <p:nvPr>
            <p:ph type="sldNum" sz="quarter" idx="12"/>
          </p:nvPr>
        </p:nvSpPr>
        <p:spPr/>
        <p:txBody>
          <a:bodyPr/>
          <a:lstStyle/>
          <a:p>
            <a:fld id="{9820BAFF-92A6-45A5-B1F5-B233E0C14C43}" type="slidenum">
              <a:rPr lang="fr-FR" smtClean="0"/>
              <a:t>13</a:t>
            </a:fld>
            <a:endParaRPr lang="fr-FR"/>
          </a:p>
        </p:txBody>
      </p:sp>
    </p:spTree>
    <p:extLst>
      <p:ext uri="{BB962C8B-B14F-4D97-AF65-F5344CB8AC3E}">
        <p14:creationId xmlns:p14="http://schemas.microsoft.com/office/powerpoint/2010/main" val="759976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2DA3A1-CF75-444F-A23E-2F80B64D35BC}"/>
              </a:ext>
            </a:extLst>
          </p:cNvPr>
          <p:cNvSpPr>
            <a:spLocks noGrp="1"/>
          </p:cNvSpPr>
          <p:nvPr>
            <p:ph type="title"/>
          </p:nvPr>
        </p:nvSpPr>
        <p:spPr/>
        <p:txBody>
          <a:bodyPr/>
          <a:lstStyle/>
          <a:p>
            <a:r>
              <a:rPr lang="fr-CA" dirty="0"/>
              <a:t>Différences temporaires déductibles</a:t>
            </a:r>
            <a:endParaRPr lang="fr-FR" dirty="0"/>
          </a:p>
        </p:txBody>
      </p:sp>
      <p:sp>
        <p:nvSpPr>
          <p:cNvPr id="3" name="Espace réservé du contenu 2">
            <a:extLst>
              <a:ext uri="{FF2B5EF4-FFF2-40B4-BE49-F238E27FC236}">
                <a16:creationId xmlns:a16="http://schemas.microsoft.com/office/drawing/2014/main" id="{E866C4C1-7542-446E-88A3-8BB89266F87A}"/>
              </a:ext>
            </a:extLst>
          </p:cNvPr>
          <p:cNvSpPr>
            <a:spLocks noGrp="1"/>
          </p:cNvSpPr>
          <p:nvPr>
            <p:ph idx="1"/>
          </p:nvPr>
        </p:nvSpPr>
        <p:spPr/>
        <p:txBody>
          <a:bodyPr>
            <a:normAutofit fontScale="62500" lnSpcReduction="20000"/>
          </a:bodyPr>
          <a:lstStyle/>
          <a:p>
            <a:pPr marL="0" indent="0">
              <a:buNone/>
            </a:pPr>
            <a:r>
              <a:rPr lang="fr-CA" b="1" dirty="0"/>
              <a:t>24     </a:t>
            </a:r>
            <a:r>
              <a:rPr lang="fr-CA" b="1" dirty="0">
                <a:solidFill>
                  <a:srgbClr val="0070C0"/>
                </a:solidFill>
              </a:rPr>
              <a:t>Un actif d'impôt différé doit être comptabilisé pour toutes les différences temporaires déductibles</a:t>
            </a:r>
            <a:r>
              <a:rPr lang="fr-CA" b="1" dirty="0"/>
              <a:t> dans la mesure où </a:t>
            </a:r>
            <a:r>
              <a:rPr lang="fr-CA" b="1" dirty="0">
                <a:solidFill>
                  <a:srgbClr val="0070C0"/>
                </a:solidFill>
              </a:rPr>
              <a:t>il est probable qu'un bénéfice imposable</a:t>
            </a:r>
            <a:r>
              <a:rPr lang="fr-CA" b="1" dirty="0"/>
              <a:t>, auquel ces différences temporaires déductibles pourront être imputées, </a:t>
            </a:r>
            <a:r>
              <a:rPr lang="fr-CA" b="1" dirty="0">
                <a:solidFill>
                  <a:srgbClr val="0070C0"/>
                </a:solidFill>
              </a:rPr>
              <a:t>sera disponible</a:t>
            </a:r>
            <a:r>
              <a:rPr lang="fr-CA" b="1" dirty="0"/>
              <a:t>, </a:t>
            </a:r>
            <a:r>
              <a:rPr lang="fr-CA" dirty="0">
                <a:highlight>
                  <a:srgbClr val="C0C0C0"/>
                </a:highlight>
              </a:rPr>
              <a:t>à moins que l'actif d'impôt différé ne soit généré par la comptabilisation initiale d'un actif ou d'un passif dans une transaction qui :</a:t>
            </a:r>
          </a:p>
          <a:p>
            <a:pPr marL="0" indent="0">
              <a:buNone/>
            </a:pPr>
            <a:r>
              <a:rPr lang="fr-CA" dirty="0">
                <a:highlight>
                  <a:srgbClr val="C0C0C0"/>
                </a:highlight>
              </a:rPr>
              <a:t>(a)     n'est pas un regroupement d'entreprises ; et</a:t>
            </a:r>
          </a:p>
          <a:p>
            <a:pPr marL="0" indent="0">
              <a:buNone/>
            </a:pPr>
            <a:r>
              <a:rPr lang="fr-CA" dirty="0">
                <a:highlight>
                  <a:srgbClr val="C0C0C0"/>
                </a:highlight>
              </a:rPr>
              <a:t>(b)     au moment de la transaction, n'affecte ni le bénéfice comptable, ni le bénéfice imposable (perte fiscale).</a:t>
            </a:r>
          </a:p>
          <a:p>
            <a:pPr marL="0" indent="0">
              <a:buNone/>
            </a:pPr>
            <a:r>
              <a:rPr lang="fr-CA" dirty="0">
                <a:highlight>
                  <a:srgbClr val="C0C0C0"/>
                </a:highlight>
              </a:rPr>
              <a:t>     Toutefois, pour les différences temporaires déductibles liées à des participations dans des filiales et entreprises associées, à des investissements dans des succursales et à des intérêts dans des partenariats, un actif d'impôt différé doit être comptabilisé selon le paragraphe 44.</a:t>
            </a:r>
          </a:p>
          <a:p>
            <a:pPr marL="0" indent="0">
              <a:buNone/>
            </a:pPr>
            <a:r>
              <a:rPr lang="fr-CA" b="1" dirty="0"/>
              <a:t>	=&gt; </a:t>
            </a:r>
            <a:r>
              <a:rPr lang="fr-CA" i="1" dirty="0"/>
              <a:t>noter la période de report : - 3 ans, + 20 ans, donc devrait rencontrer critère probable!</a:t>
            </a:r>
          </a:p>
          <a:p>
            <a:pPr marL="0" indent="0">
              <a:buNone/>
            </a:pPr>
            <a:r>
              <a:rPr lang="fr-CA" b="1" dirty="0"/>
              <a:t>		report en arrière : impôts à recouvrer, report en avant : impôts différés</a:t>
            </a:r>
          </a:p>
          <a:p>
            <a:pPr marL="0" indent="0">
              <a:buNone/>
            </a:pPr>
            <a:r>
              <a:rPr lang="fr-CA" dirty="0"/>
              <a:t>25     (…)  En conséquence, un actif d'impôt différé est généré au titre des impôts sur le résultat qui seront recouvrables au cours de périodes futures lorsque cette partie de passif sera admise en déduction du bénéfice imposable. De la même façon, si la valeur comptable d'un actif est inférieure à sa base fiscale, la différence donne lieu à un actif d'impôt différé qui sera recouvrable sur les périodes futures au titre des impôts sur le résultat.</a:t>
            </a:r>
            <a:endParaRPr lang="fr-CA" b="1" dirty="0"/>
          </a:p>
        </p:txBody>
      </p:sp>
      <p:sp>
        <p:nvSpPr>
          <p:cNvPr id="4" name="Espace réservé du pied de page 3">
            <a:extLst>
              <a:ext uri="{FF2B5EF4-FFF2-40B4-BE49-F238E27FC236}">
                <a16:creationId xmlns:a16="http://schemas.microsoft.com/office/drawing/2014/main" id="{78E52D93-2DC2-4D25-990E-F63362A93D16}"/>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1ABFD07C-0B64-4C29-9D02-A88AFAB10821}"/>
              </a:ext>
            </a:extLst>
          </p:cNvPr>
          <p:cNvSpPr>
            <a:spLocks noGrp="1"/>
          </p:cNvSpPr>
          <p:nvPr>
            <p:ph type="sldNum" sz="quarter" idx="12"/>
          </p:nvPr>
        </p:nvSpPr>
        <p:spPr/>
        <p:txBody>
          <a:bodyPr/>
          <a:lstStyle/>
          <a:p>
            <a:fld id="{9820BAFF-92A6-45A5-B1F5-B233E0C14C43}" type="slidenum">
              <a:rPr lang="fr-FR" smtClean="0"/>
              <a:t>14</a:t>
            </a:fld>
            <a:endParaRPr lang="fr-FR"/>
          </a:p>
        </p:txBody>
      </p:sp>
    </p:spTree>
    <p:extLst>
      <p:ext uri="{BB962C8B-B14F-4D97-AF65-F5344CB8AC3E}">
        <p14:creationId xmlns:p14="http://schemas.microsoft.com/office/powerpoint/2010/main" val="2906254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39AD91-C74F-4699-8F68-F13BF94892E6}"/>
              </a:ext>
            </a:extLst>
          </p:cNvPr>
          <p:cNvSpPr>
            <a:spLocks noGrp="1"/>
          </p:cNvSpPr>
          <p:nvPr>
            <p:ph type="title"/>
          </p:nvPr>
        </p:nvSpPr>
        <p:spPr>
          <a:xfrm>
            <a:off x="838200" y="365125"/>
            <a:ext cx="10515600" cy="377825"/>
          </a:xfrm>
        </p:spPr>
        <p:txBody>
          <a:bodyPr>
            <a:normAutofit fontScale="90000"/>
          </a:bodyPr>
          <a:lstStyle/>
          <a:p>
            <a:r>
              <a:rPr lang="fr-CA" sz="4000" dirty="0"/>
              <a:t>Différences temporaires déductibles</a:t>
            </a:r>
            <a:endParaRPr lang="fr-FR" dirty="0"/>
          </a:p>
        </p:txBody>
      </p:sp>
      <p:sp>
        <p:nvSpPr>
          <p:cNvPr id="3" name="Espace réservé du contenu 2">
            <a:extLst>
              <a:ext uri="{FF2B5EF4-FFF2-40B4-BE49-F238E27FC236}">
                <a16:creationId xmlns:a16="http://schemas.microsoft.com/office/drawing/2014/main" id="{C9FCF4DF-9E0A-4C32-8FAA-B52FD482E5EB}"/>
              </a:ext>
            </a:extLst>
          </p:cNvPr>
          <p:cNvSpPr>
            <a:spLocks noGrp="1"/>
          </p:cNvSpPr>
          <p:nvPr>
            <p:ph idx="1"/>
          </p:nvPr>
        </p:nvSpPr>
        <p:spPr>
          <a:xfrm>
            <a:off x="838200" y="809625"/>
            <a:ext cx="10515600" cy="5683249"/>
          </a:xfrm>
        </p:spPr>
        <p:txBody>
          <a:bodyPr>
            <a:noAutofit/>
          </a:bodyPr>
          <a:lstStyle/>
          <a:p>
            <a:pPr marL="0" indent="0">
              <a:buNone/>
            </a:pPr>
            <a:r>
              <a:rPr lang="fr-CA" sz="1700" dirty="0"/>
              <a:t>26     Des exemples de différences temporaires déductibles qui génèrent des actifs d'impôt différé sont présentés ci-après :</a:t>
            </a:r>
          </a:p>
          <a:p>
            <a:pPr marL="0" indent="0">
              <a:buNone/>
            </a:pPr>
            <a:r>
              <a:rPr lang="fr-CA" sz="1700" dirty="0"/>
              <a:t>(a)     les </a:t>
            </a:r>
            <a:r>
              <a:rPr lang="fr-CA" sz="1700" u="sng" dirty="0"/>
              <a:t>coûts relatifs aux prestations de retraite </a:t>
            </a:r>
            <a:r>
              <a:rPr lang="fr-CA" sz="1700" dirty="0"/>
              <a:t>peuvent être déduits du bénéfice comptable des années de service de l'employé mais déduits du bénéfice imposable soit lorsque l'entité verse ses cotisations à un fonds, soit lorsqu'elle paye les retraites. Il en résulte alors une différence temporaire entre la valeur comptable du passif et sa base fiscale ; la base fiscale du passif est généralement nulle. Cette différence temporaire déductible donne lieu à un actif d'impôt différé lorsque l'entité en retire des avantages économiques par le biais d'une réduction de son bénéfice imposable lors du versement des cotisations ou du paiement des retraites ;</a:t>
            </a:r>
          </a:p>
          <a:p>
            <a:pPr marL="0" indent="0">
              <a:buNone/>
            </a:pPr>
            <a:r>
              <a:rPr lang="fr-CA" sz="1700" dirty="0"/>
              <a:t>(b)     les </a:t>
            </a:r>
            <a:r>
              <a:rPr lang="fr-CA" sz="1700" u="sng" dirty="0"/>
              <a:t>frais de recherche </a:t>
            </a:r>
            <a:r>
              <a:rPr lang="fr-CA" sz="1700" dirty="0"/>
              <a:t>sont comptabilisés en charges dans le bénéfice comptable de la période au cours de laquelle ils sont engagés, mais peuvent ne pas être fiscalement déductibles avant un certain temps. La différence entre la base fiscale des frais de recherche, qui est le montant dont la déduction sera autorisée par l'administration fiscale au cours de périodes futures, et leur valeur comptable de zéro est une différence temporaire déductible qui donne lieu à un actif d'impôt différé ;</a:t>
            </a:r>
          </a:p>
          <a:p>
            <a:pPr marL="0" indent="0">
              <a:buNone/>
            </a:pPr>
            <a:r>
              <a:rPr lang="fr-CA" sz="1700" dirty="0"/>
              <a:t>(c)    </a:t>
            </a:r>
            <a:r>
              <a:rPr lang="fr-CA" sz="1700" dirty="0">
                <a:highlight>
                  <a:srgbClr val="C0C0C0"/>
                </a:highlight>
              </a:rPr>
              <a:t> sauf quelques exceptions limitées, une entité comptabilise les actifs acquis et les passifs repris identifiables lors d'un regroupement d'entreprises à leur juste valeur à la date d'acquisition. Lorsqu'un passif repris est comptabilisé à la date d'acquisition, mais que les coûts liés ne sont déduits dans la détermination des bénéfices imposables qu'au cours d'une période ultérieure, une différence temporaire déductible apparaît, donnant lieu à un actif d'impôt différé</a:t>
            </a:r>
            <a:r>
              <a:rPr lang="fr-CA" sz="1700" dirty="0"/>
              <a:t>. </a:t>
            </a:r>
            <a:r>
              <a:rPr lang="fr-CA" sz="1700" dirty="0">
                <a:highlight>
                  <a:srgbClr val="C0C0C0"/>
                </a:highlight>
              </a:rPr>
              <a:t>De même, un actif d'impôt différé est généré lorsque la juste valeur d'un actif identifiable acquis est inférieure à sa base fiscale. Dans les deux cas, l'actif d'impôt différé qui en résulte affecte le goodwill (voir paragraphe </a:t>
            </a:r>
            <a:r>
              <a:rPr lang="fr-CA" sz="1700" dirty="0">
                <a:highlight>
                  <a:srgbClr val="C0C0C0"/>
                </a:highlight>
                <a:hlinkClick r:id="rId2"/>
              </a:rPr>
              <a:t>66</a:t>
            </a:r>
            <a:r>
              <a:rPr lang="fr-CA" sz="1700" dirty="0">
                <a:highlight>
                  <a:srgbClr val="C0C0C0"/>
                </a:highlight>
              </a:rPr>
              <a:t>) ; </a:t>
            </a:r>
            <a:r>
              <a:rPr lang="fr-CA" sz="1700" dirty="0"/>
              <a:t>et</a:t>
            </a:r>
          </a:p>
          <a:p>
            <a:pPr marL="0" indent="0">
              <a:buNone/>
            </a:pPr>
            <a:r>
              <a:rPr lang="fr-CA" sz="1700" dirty="0"/>
              <a:t>(d)     certains actifs peuvent être comptabilisés à leur juste valeur, ou peuvent être réévalués, sans que leur base fiscale soit ajustée en conséquence (voir paragraphe </a:t>
            </a:r>
            <a:r>
              <a:rPr lang="fr-CA" sz="1700" dirty="0">
                <a:hlinkClick r:id="rId2"/>
              </a:rPr>
              <a:t>20</a:t>
            </a:r>
            <a:r>
              <a:rPr lang="fr-CA" sz="1700" dirty="0"/>
              <a:t>). Une différence temporaire déductible se produit si la base fiscale de l'actif est supérieure à sa valeur comptable.</a:t>
            </a:r>
          </a:p>
        </p:txBody>
      </p:sp>
      <p:sp>
        <p:nvSpPr>
          <p:cNvPr id="4" name="Espace réservé du pied de page 3">
            <a:extLst>
              <a:ext uri="{FF2B5EF4-FFF2-40B4-BE49-F238E27FC236}">
                <a16:creationId xmlns:a16="http://schemas.microsoft.com/office/drawing/2014/main" id="{088C3CBE-C711-45F3-A3D7-39969E5A08E4}"/>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9DC1B5E-A067-4F41-AD56-6B3BAA3FDB64}"/>
              </a:ext>
            </a:extLst>
          </p:cNvPr>
          <p:cNvSpPr>
            <a:spLocks noGrp="1"/>
          </p:cNvSpPr>
          <p:nvPr>
            <p:ph type="sldNum" sz="quarter" idx="12"/>
          </p:nvPr>
        </p:nvSpPr>
        <p:spPr/>
        <p:txBody>
          <a:bodyPr/>
          <a:lstStyle/>
          <a:p>
            <a:fld id="{9820BAFF-92A6-45A5-B1F5-B233E0C14C43}" type="slidenum">
              <a:rPr lang="fr-FR" smtClean="0"/>
              <a:t>15</a:t>
            </a:fld>
            <a:endParaRPr lang="fr-FR"/>
          </a:p>
        </p:txBody>
      </p:sp>
    </p:spTree>
    <p:extLst>
      <p:ext uri="{BB962C8B-B14F-4D97-AF65-F5344CB8AC3E}">
        <p14:creationId xmlns:p14="http://schemas.microsoft.com/office/powerpoint/2010/main" val="826398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BEFEB4-4F5D-4F18-8B82-584C9B163E1D}"/>
              </a:ext>
            </a:extLst>
          </p:cNvPr>
          <p:cNvSpPr>
            <a:spLocks noGrp="1"/>
          </p:cNvSpPr>
          <p:nvPr>
            <p:ph type="title"/>
          </p:nvPr>
        </p:nvSpPr>
        <p:spPr/>
        <p:txBody>
          <a:bodyPr/>
          <a:lstStyle/>
          <a:p>
            <a:r>
              <a:rPr lang="fr-CA" sz="3600" dirty="0"/>
              <a:t>Différences temporaires déductibles</a:t>
            </a:r>
            <a:endParaRPr lang="fr-FR" dirty="0"/>
          </a:p>
        </p:txBody>
      </p:sp>
      <p:sp>
        <p:nvSpPr>
          <p:cNvPr id="3" name="Espace réservé du contenu 2">
            <a:extLst>
              <a:ext uri="{FF2B5EF4-FFF2-40B4-BE49-F238E27FC236}">
                <a16:creationId xmlns:a16="http://schemas.microsoft.com/office/drawing/2014/main" id="{3F15993B-4C94-4553-A4A3-5905BF50FA43}"/>
              </a:ext>
            </a:extLst>
          </p:cNvPr>
          <p:cNvSpPr>
            <a:spLocks noGrp="1"/>
          </p:cNvSpPr>
          <p:nvPr>
            <p:ph idx="1"/>
          </p:nvPr>
        </p:nvSpPr>
        <p:spPr/>
        <p:txBody>
          <a:bodyPr>
            <a:normAutofit fontScale="62500" lnSpcReduction="20000"/>
          </a:bodyPr>
          <a:lstStyle/>
          <a:p>
            <a:pPr marL="0" indent="0">
              <a:buNone/>
            </a:pPr>
            <a:r>
              <a:rPr lang="fr-CA" dirty="0"/>
              <a:t>27     </a:t>
            </a:r>
            <a:r>
              <a:rPr lang="fr-CA" dirty="0">
                <a:solidFill>
                  <a:srgbClr val="0070C0"/>
                </a:solidFill>
              </a:rPr>
              <a:t>La résorption des différences temporaires déductibles conduit à réduire les bénéfices imposables des périodes futures</a:t>
            </a:r>
            <a:r>
              <a:rPr lang="fr-CA" dirty="0"/>
              <a:t>. Néanmoins, des avantages économiques prenant la forme de réductions de paiement d'impôt ne bénéficieront à l'entité </a:t>
            </a:r>
            <a:r>
              <a:rPr lang="fr-CA" dirty="0">
                <a:solidFill>
                  <a:srgbClr val="0070C0"/>
                </a:solidFill>
              </a:rPr>
              <a:t>que si elle dégage des bénéfices imposables suffisants pour compenser ces déductions. Par conséquent, une entité ne comptabilise des actifs d'impôt différé que s'il est probable qu'elle disposera de bénéfices imposables auxquels les différences temporaires déductibles pourront être imputées.</a:t>
            </a:r>
          </a:p>
          <a:p>
            <a:pPr marL="0" indent="0">
              <a:buNone/>
            </a:pPr>
            <a:endParaRPr lang="fr-CA" dirty="0"/>
          </a:p>
          <a:p>
            <a:pPr marL="0" indent="0">
              <a:buNone/>
            </a:pPr>
            <a:r>
              <a:rPr lang="fr-CA" dirty="0"/>
              <a:t>28     Il est probable que l'entité disposera d'un bénéfice imposable auquel elle pourra imputer une différence temporaire déductible lorsqu'il y a suffisamment de différences temporaires imposables, relevant de la même administration fiscale et relatives à la même entité imposable, et dont on s'attend à ce qu'elles se résorbent :</a:t>
            </a:r>
          </a:p>
          <a:p>
            <a:pPr marL="0" indent="0">
              <a:buNone/>
            </a:pPr>
            <a:r>
              <a:rPr lang="fr-CA" dirty="0"/>
              <a:t>(a)     au cours de la période pendant laquelle on s'attend à ce que les différences temporaires déductibles se résorbent ; ou</a:t>
            </a:r>
          </a:p>
          <a:p>
            <a:pPr marL="0" indent="0">
              <a:buNone/>
            </a:pPr>
            <a:r>
              <a:rPr lang="fr-CA" dirty="0"/>
              <a:t>(b)     au cours des périodes sur lesquelles la perte fiscale résultant de l'actif d'impôt différé pourra être reportée en arrière ou en avant.</a:t>
            </a:r>
          </a:p>
          <a:p>
            <a:pPr marL="0" indent="0">
              <a:buNone/>
            </a:pPr>
            <a:r>
              <a:rPr lang="fr-CA" dirty="0"/>
              <a:t>     Dans ces cas, l'actif d'impôt différé est comptabilisé dans la période au cours de laquelle les différences temporaires déductibles se produisent.</a:t>
            </a:r>
          </a:p>
          <a:p>
            <a:pPr marL="0" indent="0">
              <a:buNone/>
            </a:pPr>
            <a:endParaRPr lang="fr-FR" dirty="0"/>
          </a:p>
        </p:txBody>
      </p:sp>
      <p:sp>
        <p:nvSpPr>
          <p:cNvPr id="4" name="Espace réservé du pied de page 3">
            <a:extLst>
              <a:ext uri="{FF2B5EF4-FFF2-40B4-BE49-F238E27FC236}">
                <a16:creationId xmlns:a16="http://schemas.microsoft.com/office/drawing/2014/main" id="{9B0BBC29-CCFE-45A5-9D4C-FB4CB11EF55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D3FE54FC-1D38-4BA9-AB40-882CB8225E0E}"/>
              </a:ext>
            </a:extLst>
          </p:cNvPr>
          <p:cNvSpPr>
            <a:spLocks noGrp="1"/>
          </p:cNvSpPr>
          <p:nvPr>
            <p:ph type="sldNum" sz="quarter" idx="12"/>
          </p:nvPr>
        </p:nvSpPr>
        <p:spPr/>
        <p:txBody>
          <a:bodyPr/>
          <a:lstStyle/>
          <a:p>
            <a:fld id="{9820BAFF-92A6-45A5-B1F5-B233E0C14C43}" type="slidenum">
              <a:rPr lang="fr-FR" smtClean="0"/>
              <a:t>16</a:t>
            </a:fld>
            <a:endParaRPr lang="fr-FR"/>
          </a:p>
        </p:txBody>
      </p:sp>
    </p:spTree>
    <p:extLst>
      <p:ext uri="{BB962C8B-B14F-4D97-AF65-F5344CB8AC3E}">
        <p14:creationId xmlns:p14="http://schemas.microsoft.com/office/powerpoint/2010/main" val="1607406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40F34-BEAB-4B44-8FA6-7531203A1E5D}"/>
              </a:ext>
            </a:extLst>
          </p:cNvPr>
          <p:cNvSpPr>
            <a:spLocks noGrp="1"/>
          </p:cNvSpPr>
          <p:nvPr>
            <p:ph type="title"/>
          </p:nvPr>
        </p:nvSpPr>
        <p:spPr/>
        <p:txBody>
          <a:bodyPr/>
          <a:lstStyle/>
          <a:p>
            <a:r>
              <a:rPr lang="fr-CA" b="1" dirty="0"/>
              <a:t>Pertes fiscales et crédits d'impôt non utilisés</a:t>
            </a:r>
            <a:endParaRPr lang="fr-FR" dirty="0"/>
          </a:p>
        </p:txBody>
      </p:sp>
      <p:sp>
        <p:nvSpPr>
          <p:cNvPr id="3" name="Espace réservé du contenu 2">
            <a:extLst>
              <a:ext uri="{FF2B5EF4-FFF2-40B4-BE49-F238E27FC236}">
                <a16:creationId xmlns:a16="http://schemas.microsoft.com/office/drawing/2014/main" id="{7B0BAF9A-708C-449F-824E-DCE1F82B1EC0}"/>
              </a:ext>
            </a:extLst>
          </p:cNvPr>
          <p:cNvSpPr>
            <a:spLocks noGrp="1"/>
          </p:cNvSpPr>
          <p:nvPr>
            <p:ph idx="1"/>
          </p:nvPr>
        </p:nvSpPr>
        <p:spPr/>
        <p:txBody>
          <a:bodyPr/>
          <a:lstStyle/>
          <a:p>
            <a:pPr marL="0" indent="0">
              <a:buNone/>
            </a:pPr>
            <a:r>
              <a:rPr lang="fr-CA" b="1" dirty="0"/>
              <a:t>34     Un actif d'impôt différé doit être comptabilisé pour le report en avant de pertes fiscales et de crédits d'impôt non utilisés dans la mesure où il est probable que l'on disposera de bénéfices imposables futurs auxquels ces pertes fiscales et crédits d'impôt non utilisés pourront être imputés.</a:t>
            </a:r>
          </a:p>
          <a:p>
            <a:pPr marL="0" indent="0">
              <a:buNone/>
            </a:pPr>
            <a:endParaRPr lang="fr-FR" dirty="0"/>
          </a:p>
        </p:txBody>
      </p:sp>
      <p:sp>
        <p:nvSpPr>
          <p:cNvPr id="4" name="Espace réservé du pied de page 3">
            <a:extLst>
              <a:ext uri="{FF2B5EF4-FFF2-40B4-BE49-F238E27FC236}">
                <a16:creationId xmlns:a16="http://schemas.microsoft.com/office/drawing/2014/main" id="{2E91DF7A-FD3B-4676-931E-9067AE42456A}"/>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7C30F7EA-B96D-491C-9A0C-1548448AA1EA}"/>
              </a:ext>
            </a:extLst>
          </p:cNvPr>
          <p:cNvSpPr>
            <a:spLocks noGrp="1"/>
          </p:cNvSpPr>
          <p:nvPr>
            <p:ph type="sldNum" sz="quarter" idx="12"/>
          </p:nvPr>
        </p:nvSpPr>
        <p:spPr/>
        <p:txBody>
          <a:bodyPr/>
          <a:lstStyle/>
          <a:p>
            <a:fld id="{9820BAFF-92A6-45A5-B1F5-B233E0C14C43}" type="slidenum">
              <a:rPr lang="fr-FR" smtClean="0"/>
              <a:t>17</a:t>
            </a:fld>
            <a:endParaRPr lang="fr-FR"/>
          </a:p>
        </p:txBody>
      </p:sp>
    </p:spTree>
    <p:extLst>
      <p:ext uri="{BB962C8B-B14F-4D97-AF65-F5344CB8AC3E}">
        <p14:creationId xmlns:p14="http://schemas.microsoft.com/office/powerpoint/2010/main" val="1016741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DBF2D4-01B8-4760-8CA6-6688F9691B6A}"/>
              </a:ext>
            </a:extLst>
          </p:cNvPr>
          <p:cNvSpPr>
            <a:spLocks noGrp="1"/>
          </p:cNvSpPr>
          <p:nvPr>
            <p:ph type="title"/>
          </p:nvPr>
        </p:nvSpPr>
        <p:spPr/>
        <p:txBody>
          <a:bodyPr/>
          <a:lstStyle/>
          <a:p>
            <a:r>
              <a:rPr lang="fr-CA" b="1" dirty="0"/>
              <a:t>Évaluation</a:t>
            </a:r>
            <a:endParaRPr lang="fr-FR" dirty="0"/>
          </a:p>
        </p:txBody>
      </p:sp>
      <p:sp>
        <p:nvSpPr>
          <p:cNvPr id="3" name="Espace réservé du contenu 2">
            <a:extLst>
              <a:ext uri="{FF2B5EF4-FFF2-40B4-BE49-F238E27FC236}">
                <a16:creationId xmlns:a16="http://schemas.microsoft.com/office/drawing/2014/main" id="{90EE19D9-C8BD-42DD-9516-413F6AAC89F6}"/>
              </a:ext>
            </a:extLst>
          </p:cNvPr>
          <p:cNvSpPr>
            <a:spLocks noGrp="1"/>
          </p:cNvSpPr>
          <p:nvPr>
            <p:ph idx="1"/>
          </p:nvPr>
        </p:nvSpPr>
        <p:spPr/>
        <p:txBody>
          <a:bodyPr>
            <a:normAutofit fontScale="92500" lnSpcReduction="10000"/>
          </a:bodyPr>
          <a:lstStyle/>
          <a:p>
            <a:pPr marL="0" indent="0">
              <a:buNone/>
            </a:pPr>
            <a:r>
              <a:rPr lang="fr-CA" b="1" dirty="0"/>
              <a:t>46     Les passifs (actifs) d'impôt exigible de la période antérieure ou considérée doivent être évalués </a:t>
            </a:r>
            <a:r>
              <a:rPr lang="fr-CA" b="1" u="sng" dirty="0">
                <a:solidFill>
                  <a:srgbClr val="0070C0"/>
                </a:solidFill>
              </a:rPr>
              <a:t>au montant que l'on s'attend à payer aux administrations fiscales ou à recouvrer de celles-ci en utilisant les taux d'impôt (et les lois fiscales) qui ont été adoptés ou quasi adoptés à la fin de la période de présentation de l'information financière</a:t>
            </a:r>
            <a:r>
              <a:rPr lang="fr-CA" b="1" dirty="0"/>
              <a:t>.</a:t>
            </a:r>
          </a:p>
          <a:p>
            <a:pPr marL="0" indent="0">
              <a:buNone/>
            </a:pPr>
            <a:r>
              <a:rPr lang="fr-CA" b="1" dirty="0"/>
              <a:t>	</a:t>
            </a:r>
            <a:r>
              <a:rPr lang="fr-CA" i="1" dirty="0"/>
              <a:t>Taux d’impôt futur</a:t>
            </a:r>
            <a:endParaRPr lang="fr-CA" b="1" dirty="0"/>
          </a:p>
          <a:p>
            <a:pPr marL="0" indent="0">
              <a:buNone/>
            </a:pPr>
            <a:endParaRPr lang="fr-CA" b="1" dirty="0"/>
          </a:p>
          <a:p>
            <a:pPr marL="0" indent="0">
              <a:buNone/>
            </a:pPr>
            <a:r>
              <a:rPr lang="fr-CA" b="1" dirty="0"/>
              <a:t>47     Les actifs et passifs d'impôt différé doivent être évalués aux taux d'impôt dont l'application est attendue sur la période au cours de laquelle l'actif sera réalisé ou le passif réglé, sur la base des taux d'impôt (et des lois fiscales) qui ont été adoptés ou quasi adoptés à la fin de la période de présentation de l'information financière.</a:t>
            </a:r>
          </a:p>
          <a:p>
            <a:pPr marL="0" indent="0">
              <a:buNone/>
            </a:pPr>
            <a:endParaRPr lang="fr-FR" dirty="0"/>
          </a:p>
        </p:txBody>
      </p:sp>
      <p:sp>
        <p:nvSpPr>
          <p:cNvPr id="4" name="Espace réservé du pied de page 3">
            <a:extLst>
              <a:ext uri="{FF2B5EF4-FFF2-40B4-BE49-F238E27FC236}">
                <a16:creationId xmlns:a16="http://schemas.microsoft.com/office/drawing/2014/main" id="{015D96AB-7FEF-4EBE-865A-8EDA1DE4DBA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43D03373-2084-439B-9B28-832E335E9B0D}"/>
              </a:ext>
            </a:extLst>
          </p:cNvPr>
          <p:cNvSpPr>
            <a:spLocks noGrp="1"/>
          </p:cNvSpPr>
          <p:nvPr>
            <p:ph type="sldNum" sz="quarter" idx="12"/>
          </p:nvPr>
        </p:nvSpPr>
        <p:spPr/>
        <p:txBody>
          <a:bodyPr/>
          <a:lstStyle/>
          <a:p>
            <a:fld id="{9820BAFF-92A6-45A5-B1F5-B233E0C14C43}" type="slidenum">
              <a:rPr lang="fr-FR" smtClean="0"/>
              <a:t>18</a:t>
            </a:fld>
            <a:endParaRPr lang="fr-FR"/>
          </a:p>
        </p:txBody>
      </p:sp>
    </p:spTree>
    <p:extLst>
      <p:ext uri="{BB962C8B-B14F-4D97-AF65-F5344CB8AC3E}">
        <p14:creationId xmlns:p14="http://schemas.microsoft.com/office/powerpoint/2010/main" val="3261776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33004C-3E94-4FBF-B77D-43A7B2B88342}"/>
              </a:ext>
            </a:extLst>
          </p:cNvPr>
          <p:cNvSpPr>
            <a:spLocks noGrp="1"/>
          </p:cNvSpPr>
          <p:nvPr>
            <p:ph type="title"/>
          </p:nvPr>
        </p:nvSpPr>
        <p:spPr/>
        <p:txBody>
          <a:bodyPr/>
          <a:lstStyle/>
          <a:p>
            <a:r>
              <a:rPr lang="fr-CA" sz="4000" b="1" dirty="0"/>
              <a:t>Évaluation</a:t>
            </a:r>
            <a:endParaRPr lang="fr-FR" dirty="0"/>
          </a:p>
        </p:txBody>
      </p:sp>
      <p:sp>
        <p:nvSpPr>
          <p:cNvPr id="3" name="Espace réservé du contenu 2">
            <a:extLst>
              <a:ext uri="{FF2B5EF4-FFF2-40B4-BE49-F238E27FC236}">
                <a16:creationId xmlns:a16="http://schemas.microsoft.com/office/drawing/2014/main" id="{B1D309A5-BE4E-4770-9CDE-6E06CE80CA9B}"/>
              </a:ext>
            </a:extLst>
          </p:cNvPr>
          <p:cNvSpPr>
            <a:spLocks noGrp="1"/>
          </p:cNvSpPr>
          <p:nvPr>
            <p:ph idx="1"/>
          </p:nvPr>
        </p:nvSpPr>
        <p:spPr/>
        <p:txBody>
          <a:bodyPr>
            <a:normAutofit lnSpcReduction="10000"/>
          </a:bodyPr>
          <a:lstStyle/>
          <a:p>
            <a:pPr marL="0" indent="0">
              <a:buNone/>
            </a:pPr>
            <a:r>
              <a:rPr lang="fr-CA" b="1" dirty="0"/>
              <a:t>53     Les actifs et passifs d'impôt différé ne doivent pas être actualisés.</a:t>
            </a:r>
          </a:p>
          <a:p>
            <a:pPr marL="0" indent="0">
              <a:buNone/>
            </a:pPr>
            <a:endParaRPr lang="fr-CA" b="1" dirty="0"/>
          </a:p>
          <a:p>
            <a:pPr marL="0" indent="0">
              <a:buNone/>
            </a:pPr>
            <a:r>
              <a:rPr lang="fr-CA" b="1" dirty="0"/>
              <a:t>56     La valeur comptable d'un actif d'impôt différé doit être revue à la fin de chaque période de présentation de l'information financière. Une entité doit réduire la valeur comptable d'un actif d'impôt différé dans la mesure où il n'est plus probable qu'un bénéfice imposable suffisant sera disponible pour permettre d'utiliser l'avantage de tout ou partie de cet actif d'impôt différé. Une telle réduction doit être reprise dans la mesure où il devient probable que des bénéfices imposables suffisants seront disponibles.</a:t>
            </a:r>
            <a:endParaRPr lang="fr-FR" dirty="0"/>
          </a:p>
        </p:txBody>
      </p:sp>
      <p:sp>
        <p:nvSpPr>
          <p:cNvPr id="4" name="Espace réservé du pied de page 3">
            <a:extLst>
              <a:ext uri="{FF2B5EF4-FFF2-40B4-BE49-F238E27FC236}">
                <a16:creationId xmlns:a16="http://schemas.microsoft.com/office/drawing/2014/main" id="{25EEC388-115F-4D74-9CD5-9EDACD3AA65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2E5D94E-0B77-4809-8CE6-42D746F78105}"/>
              </a:ext>
            </a:extLst>
          </p:cNvPr>
          <p:cNvSpPr>
            <a:spLocks noGrp="1"/>
          </p:cNvSpPr>
          <p:nvPr>
            <p:ph type="sldNum" sz="quarter" idx="12"/>
          </p:nvPr>
        </p:nvSpPr>
        <p:spPr/>
        <p:txBody>
          <a:bodyPr/>
          <a:lstStyle/>
          <a:p>
            <a:fld id="{9820BAFF-92A6-45A5-B1F5-B233E0C14C43}" type="slidenum">
              <a:rPr lang="fr-FR" smtClean="0"/>
              <a:t>19</a:t>
            </a:fld>
            <a:endParaRPr lang="fr-FR"/>
          </a:p>
        </p:txBody>
      </p:sp>
    </p:spTree>
    <p:extLst>
      <p:ext uri="{BB962C8B-B14F-4D97-AF65-F5344CB8AC3E}">
        <p14:creationId xmlns:p14="http://schemas.microsoft.com/office/powerpoint/2010/main" val="3925138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B0D2C-6031-4B77-9568-9F25BCA2E0A3}"/>
              </a:ext>
            </a:extLst>
          </p:cNvPr>
          <p:cNvSpPr>
            <a:spLocks noGrp="1"/>
          </p:cNvSpPr>
          <p:nvPr>
            <p:ph type="title"/>
          </p:nvPr>
        </p:nvSpPr>
        <p:spPr/>
        <p:txBody>
          <a:bodyPr/>
          <a:lstStyle/>
          <a:p>
            <a:r>
              <a:rPr lang="fr-CA" b="1" dirty="0"/>
              <a:t>Comptabilisation de l'impôt exigible et de l'impôt différé</a:t>
            </a:r>
            <a:endParaRPr lang="fr-FR" dirty="0"/>
          </a:p>
        </p:txBody>
      </p:sp>
      <p:sp>
        <p:nvSpPr>
          <p:cNvPr id="3" name="Espace réservé du contenu 2">
            <a:extLst>
              <a:ext uri="{FF2B5EF4-FFF2-40B4-BE49-F238E27FC236}">
                <a16:creationId xmlns:a16="http://schemas.microsoft.com/office/drawing/2014/main" id="{8A7B8926-6DDF-43B9-9B96-796ECA368D8D}"/>
              </a:ext>
            </a:extLst>
          </p:cNvPr>
          <p:cNvSpPr>
            <a:spLocks noGrp="1"/>
          </p:cNvSpPr>
          <p:nvPr>
            <p:ph idx="1"/>
          </p:nvPr>
        </p:nvSpPr>
        <p:spPr/>
        <p:txBody>
          <a:bodyPr>
            <a:normAutofit/>
          </a:bodyPr>
          <a:lstStyle/>
          <a:p>
            <a:pPr marL="0" indent="0">
              <a:buNone/>
            </a:pPr>
            <a:r>
              <a:rPr lang="fr-CA" sz="2400" b="1" dirty="0"/>
              <a:t>Montants comptabilisés en résultat net</a:t>
            </a:r>
          </a:p>
          <a:p>
            <a:pPr marL="0" indent="0">
              <a:buNone/>
            </a:pPr>
            <a:endParaRPr lang="fr-CA" sz="900" b="1" dirty="0"/>
          </a:p>
          <a:p>
            <a:pPr marL="0" indent="0">
              <a:buNone/>
            </a:pPr>
            <a:r>
              <a:rPr lang="fr-CA" sz="2400" b="1" dirty="0"/>
              <a:t>58     L'impôt exigible et l'impôt différé doivent être comptabilisés en produits ou en charges et compris dans le résultat net de la période sauf dans la mesure où l'impôt est généré :</a:t>
            </a:r>
          </a:p>
          <a:p>
            <a:pPr marL="0" indent="0">
              <a:buNone/>
            </a:pPr>
            <a:r>
              <a:rPr lang="fr-CA" sz="2400" b="1" dirty="0"/>
              <a:t>(a)     par une transaction ou un événement comptabilisé hors résultat net, soit dans les autres éléments du résultat global soit directement en capitaux propres, dans la même période ou une période différente (voir paragraphes </a:t>
            </a:r>
            <a:r>
              <a:rPr lang="fr-CA" sz="2400" b="1" dirty="0">
                <a:hlinkClick r:id="rId2"/>
              </a:rPr>
              <a:t>61A</a:t>
            </a:r>
            <a:r>
              <a:rPr lang="fr-CA" sz="2400" b="1" dirty="0"/>
              <a:t> à 65) ; ou</a:t>
            </a:r>
          </a:p>
          <a:p>
            <a:pPr marL="0" indent="0">
              <a:buNone/>
            </a:pPr>
            <a:r>
              <a:rPr lang="fr-CA" sz="2400" b="1" dirty="0"/>
              <a:t>(b)     par un regroupement d'entreprises (autre que l'acquisition, par une entité d'investissement, au sens d'</a:t>
            </a:r>
            <a:r>
              <a:rPr lang="fr-CA" sz="2400" b="1" dirty="0">
                <a:hlinkClick r:id="rId2"/>
              </a:rPr>
              <a:t>IFRS 10</a:t>
            </a:r>
            <a:r>
              <a:rPr lang="fr-CA" sz="2400" b="1" dirty="0"/>
              <a:t> </a:t>
            </a:r>
            <a:r>
              <a:rPr lang="fr-CA" sz="2400" b="1" i="1" dirty="0"/>
              <a:t>États financiers consolidés</a:t>
            </a:r>
            <a:r>
              <a:rPr lang="fr-CA" sz="2400" b="1" dirty="0"/>
              <a:t>, d'une filiale qui doit être évaluée à la juste valeur par le biais du résultat net) (voir paragraphes </a:t>
            </a:r>
            <a:r>
              <a:rPr lang="fr-CA" sz="2400" b="1" dirty="0">
                <a:hlinkClick r:id="rId2"/>
              </a:rPr>
              <a:t>66</a:t>
            </a:r>
            <a:r>
              <a:rPr lang="fr-CA" sz="2400" b="1" dirty="0"/>
              <a:t> à 68).</a:t>
            </a:r>
          </a:p>
          <a:p>
            <a:pPr marL="0" indent="0">
              <a:buNone/>
            </a:pPr>
            <a:endParaRPr lang="fr-CA" sz="2400" b="1" dirty="0"/>
          </a:p>
          <a:p>
            <a:pPr marL="0" indent="0">
              <a:buNone/>
            </a:pPr>
            <a:endParaRPr lang="fr-CA" b="1" dirty="0"/>
          </a:p>
        </p:txBody>
      </p:sp>
      <p:sp>
        <p:nvSpPr>
          <p:cNvPr id="4" name="Espace réservé du pied de page 3">
            <a:extLst>
              <a:ext uri="{FF2B5EF4-FFF2-40B4-BE49-F238E27FC236}">
                <a16:creationId xmlns:a16="http://schemas.microsoft.com/office/drawing/2014/main" id="{4F697189-CF65-4FDB-8125-BD9872C69BCE}"/>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C40F7BB-255D-4F6E-9BE1-64DBC5E1E044}"/>
              </a:ext>
            </a:extLst>
          </p:cNvPr>
          <p:cNvSpPr>
            <a:spLocks noGrp="1"/>
          </p:cNvSpPr>
          <p:nvPr>
            <p:ph type="sldNum" sz="quarter" idx="12"/>
          </p:nvPr>
        </p:nvSpPr>
        <p:spPr/>
        <p:txBody>
          <a:bodyPr/>
          <a:lstStyle/>
          <a:p>
            <a:fld id="{9820BAFF-92A6-45A5-B1F5-B233E0C14C43}" type="slidenum">
              <a:rPr lang="fr-FR" smtClean="0"/>
              <a:t>20</a:t>
            </a:fld>
            <a:endParaRPr lang="fr-FR"/>
          </a:p>
        </p:txBody>
      </p:sp>
    </p:spTree>
    <p:extLst>
      <p:ext uri="{BB962C8B-B14F-4D97-AF65-F5344CB8AC3E}">
        <p14:creationId xmlns:p14="http://schemas.microsoft.com/office/powerpoint/2010/main" val="1783099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B0D2C-6031-4B77-9568-9F25BCA2E0A3}"/>
              </a:ext>
            </a:extLst>
          </p:cNvPr>
          <p:cNvSpPr>
            <a:spLocks noGrp="1"/>
          </p:cNvSpPr>
          <p:nvPr>
            <p:ph type="title"/>
          </p:nvPr>
        </p:nvSpPr>
        <p:spPr>
          <a:xfrm>
            <a:off x="838200" y="365126"/>
            <a:ext cx="10515600" cy="577850"/>
          </a:xfrm>
        </p:spPr>
        <p:txBody>
          <a:bodyPr>
            <a:normAutofit fontScale="90000"/>
          </a:bodyPr>
          <a:lstStyle/>
          <a:p>
            <a:r>
              <a:rPr lang="fr-CA" sz="3600" b="1" dirty="0"/>
              <a:t>Comptabilisation de l'impôt exigible et de l'impôt différé</a:t>
            </a:r>
            <a:endParaRPr lang="fr-FR" dirty="0"/>
          </a:p>
        </p:txBody>
      </p:sp>
      <p:sp>
        <p:nvSpPr>
          <p:cNvPr id="3" name="Espace réservé du contenu 2">
            <a:extLst>
              <a:ext uri="{FF2B5EF4-FFF2-40B4-BE49-F238E27FC236}">
                <a16:creationId xmlns:a16="http://schemas.microsoft.com/office/drawing/2014/main" id="{8A7B8926-6DDF-43B9-9B96-796ECA368D8D}"/>
              </a:ext>
            </a:extLst>
          </p:cNvPr>
          <p:cNvSpPr>
            <a:spLocks noGrp="1"/>
          </p:cNvSpPr>
          <p:nvPr>
            <p:ph idx="1"/>
          </p:nvPr>
        </p:nvSpPr>
        <p:spPr>
          <a:xfrm>
            <a:off x="838200" y="1104900"/>
            <a:ext cx="10515600" cy="5181599"/>
          </a:xfrm>
        </p:spPr>
        <p:txBody>
          <a:bodyPr>
            <a:normAutofit fontScale="55000" lnSpcReduction="20000"/>
          </a:bodyPr>
          <a:lstStyle/>
          <a:p>
            <a:pPr marL="0" indent="0">
              <a:buNone/>
            </a:pPr>
            <a:r>
              <a:rPr lang="fr-CA" sz="2900" b="1" dirty="0"/>
              <a:t>Montants comptabilisés hors résultat net</a:t>
            </a:r>
          </a:p>
          <a:p>
            <a:pPr marL="0" indent="0">
              <a:buNone/>
            </a:pPr>
            <a:r>
              <a:rPr lang="fr-CA" sz="2900" b="1" dirty="0"/>
              <a:t>61A     L'impôt exigible et l'impôt différé doivent être comptabilisés hors résultat net si l'impôt concerne des éléments qui ont été comptabilisés hors résultat net au cours de la même période ou d'une période différente. En conséquence, l'impôt exigible et l'impôt différé qui concernent des éléments qui, au cours de la même période ou d'une période différente, sont comptabilisés :</a:t>
            </a:r>
          </a:p>
          <a:p>
            <a:pPr marL="0" indent="0">
              <a:buNone/>
            </a:pPr>
            <a:r>
              <a:rPr lang="fr-CA" sz="2900" b="1" dirty="0"/>
              <a:t>(a)   dans les autres éléments du résultat global, seront comptabilisés dans les autres éléments du résultat global (voir paragraphe </a:t>
            </a:r>
            <a:r>
              <a:rPr lang="fr-CA" sz="2900" b="1" dirty="0">
                <a:hlinkClick r:id="rId2"/>
              </a:rPr>
              <a:t>62</a:t>
            </a:r>
            <a:r>
              <a:rPr lang="fr-CA" sz="2900" b="1" dirty="0"/>
              <a:t>) ;</a:t>
            </a:r>
          </a:p>
          <a:p>
            <a:pPr marL="0" indent="0">
              <a:buNone/>
            </a:pPr>
            <a:r>
              <a:rPr lang="fr-CA" sz="2900" b="1" dirty="0"/>
              <a:t>(b)  directement en capitaux propres, seront comptabilisés directement en capitaux propres (voir paragraphe 62A).</a:t>
            </a:r>
          </a:p>
          <a:p>
            <a:pPr marL="0" indent="0">
              <a:buNone/>
            </a:pPr>
            <a:endParaRPr lang="fr-CA" sz="2900" b="1" dirty="0"/>
          </a:p>
          <a:p>
            <a:pPr marL="0" indent="0">
              <a:buNone/>
            </a:pPr>
            <a:r>
              <a:rPr lang="fr-CA" sz="2900" dirty="0"/>
              <a:t>62     Les IFRS imposent ou permettent de comptabiliser certains éléments dans les autres éléments du résultat global. On peut citer à titre d'exemple :</a:t>
            </a:r>
          </a:p>
          <a:p>
            <a:pPr marL="0" indent="0">
              <a:buNone/>
            </a:pPr>
            <a:r>
              <a:rPr lang="fr-CA" sz="2900" dirty="0"/>
              <a:t>(a)     un changement de leur valeur comptable généré par la réévaluation d'immobilisations corporelles (voir </a:t>
            </a:r>
            <a:r>
              <a:rPr lang="fr-CA" sz="2900" dirty="0">
                <a:hlinkClick r:id="rId2"/>
              </a:rPr>
              <a:t>IAS 16</a:t>
            </a:r>
            <a:r>
              <a:rPr lang="fr-CA" sz="2900" dirty="0"/>
              <a:t>) ; et</a:t>
            </a:r>
          </a:p>
          <a:p>
            <a:pPr marL="0" indent="0">
              <a:buNone/>
            </a:pPr>
            <a:r>
              <a:rPr lang="fr-CA" sz="2900" dirty="0"/>
              <a:t>(c)     les écarts de change résultant de la conversion des états financiers d'un établissement à l'étranger (voir </a:t>
            </a:r>
            <a:r>
              <a:rPr lang="fr-CA" sz="2900" dirty="0">
                <a:hlinkClick r:id="rId2"/>
              </a:rPr>
              <a:t>IAS 21</a:t>
            </a:r>
            <a:r>
              <a:rPr lang="fr-CA" sz="2900" dirty="0"/>
              <a:t>).</a:t>
            </a:r>
          </a:p>
          <a:p>
            <a:pPr marL="0" indent="0">
              <a:buNone/>
            </a:pPr>
            <a:endParaRPr lang="fr-CA" sz="2900" dirty="0"/>
          </a:p>
          <a:p>
            <a:pPr marL="0" indent="0">
              <a:buNone/>
            </a:pPr>
            <a:r>
              <a:rPr lang="fr-CA" sz="2900" dirty="0"/>
              <a:t>62A     Les IFRS imposent ou permettent de comptabiliser certains éléments directement au crédit ou au débit des capitaux propres. On peut citer à titre d'exemple :</a:t>
            </a:r>
          </a:p>
          <a:p>
            <a:pPr marL="0" indent="0">
              <a:buNone/>
            </a:pPr>
            <a:r>
              <a:rPr lang="fr-CA" sz="2900" dirty="0"/>
              <a:t>(a)     un ajustement du solde d'ouverture des résultats non distribués résultant soit d'un changement de méthode comptable appliqué de façon rétrospective, soit de la correction d'une erreur (voir </a:t>
            </a:r>
            <a:r>
              <a:rPr lang="fr-CA" sz="2900" dirty="0">
                <a:hlinkClick r:id="rId2"/>
              </a:rPr>
              <a:t>IAS 8</a:t>
            </a:r>
            <a:r>
              <a:rPr lang="fr-CA" sz="2900" dirty="0"/>
              <a:t> </a:t>
            </a:r>
            <a:r>
              <a:rPr lang="fr-CA" sz="2900" i="1" dirty="0"/>
              <a:t>Méthodes comptables, changements d'estimations comptables et erreurs</a:t>
            </a:r>
            <a:r>
              <a:rPr lang="fr-CA" sz="2900" dirty="0"/>
              <a:t>) ; et</a:t>
            </a:r>
          </a:p>
          <a:p>
            <a:pPr marL="0" indent="0">
              <a:buNone/>
            </a:pPr>
            <a:r>
              <a:rPr lang="fr-CA" sz="2900" dirty="0"/>
              <a:t>(b)     les montants générés par la comptabilisation initiale de la composante capitaux propres d'un instrument financier composé (voir paragraphe 23).</a:t>
            </a:r>
            <a:endParaRPr lang="fr-CA" dirty="0"/>
          </a:p>
        </p:txBody>
      </p:sp>
      <p:sp>
        <p:nvSpPr>
          <p:cNvPr id="4" name="Espace réservé du pied de page 3">
            <a:extLst>
              <a:ext uri="{FF2B5EF4-FFF2-40B4-BE49-F238E27FC236}">
                <a16:creationId xmlns:a16="http://schemas.microsoft.com/office/drawing/2014/main" id="{4F697189-CF65-4FDB-8125-BD9872C69BCE}"/>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C40F7BB-255D-4F6E-9BE1-64DBC5E1E044}"/>
              </a:ext>
            </a:extLst>
          </p:cNvPr>
          <p:cNvSpPr>
            <a:spLocks noGrp="1"/>
          </p:cNvSpPr>
          <p:nvPr>
            <p:ph type="sldNum" sz="quarter" idx="12"/>
          </p:nvPr>
        </p:nvSpPr>
        <p:spPr/>
        <p:txBody>
          <a:bodyPr/>
          <a:lstStyle/>
          <a:p>
            <a:fld id="{9820BAFF-92A6-45A5-B1F5-B233E0C14C43}" type="slidenum">
              <a:rPr lang="fr-FR" smtClean="0"/>
              <a:t>21</a:t>
            </a:fld>
            <a:endParaRPr lang="fr-FR"/>
          </a:p>
        </p:txBody>
      </p:sp>
    </p:spTree>
    <p:extLst>
      <p:ext uri="{BB962C8B-B14F-4D97-AF65-F5344CB8AC3E}">
        <p14:creationId xmlns:p14="http://schemas.microsoft.com/office/powerpoint/2010/main" val="3935157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D29C37-512D-4650-80E0-A3F95711E361}"/>
              </a:ext>
            </a:extLst>
          </p:cNvPr>
          <p:cNvSpPr>
            <a:spLocks noGrp="1"/>
          </p:cNvSpPr>
          <p:nvPr>
            <p:ph type="title"/>
          </p:nvPr>
        </p:nvSpPr>
        <p:spPr/>
        <p:txBody>
          <a:bodyPr/>
          <a:lstStyle/>
          <a:p>
            <a:r>
              <a:rPr lang="fr-FR" b="1" dirty="0"/>
              <a:t>Présentation</a:t>
            </a:r>
            <a:endParaRPr lang="fr-FR" dirty="0"/>
          </a:p>
        </p:txBody>
      </p:sp>
      <p:sp>
        <p:nvSpPr>
          <p:cNvPr id="3" name="Espace réservé du contenu 2">
            <a:extLst>
              <a:ext uri="{FF2B5EF4-FFF2-40B4-BE49-F238E27FC236}">
                <a16:creationId xmlns:a16="http://schemas.microsoft.com/office/drawing/2014/main" id="{FE804BBD-4761-4CF3-98A2-781E0CA46CBE}"/>
              </a:ext>
            </a:extLst>
          </p:cNvPr>
          <p:cNvSpPr>
            <a:spLocks noGrp="1"/>
          </p:cNvSpPr>
          <p:nvPr>
            <p:ph idx="1"/>
          </p:nvPr>
        </p:nvSpPr>
        <p:spPr/>
        <p:txBody>
          <a:bodyPr/>
          <a:lstStyle/>
          <a:p>
            <a:pPr marL="0" indent="0">
              <a:buNone/>
            </a:pPr>
            <a:r>
              <a:rPr lang="fr-CA" b="1" dirty="0"/>
              <a:t>Compensation</a:t>
            </a:r>
          </a:p>
          <a:p>
            <a:pPr marL="0" indent="0">
              <a:buNone/>
            </a:pPr>
            <a:r>
              <a:rPr lang="fr-CA" b="1" dirty="0"/>
              <a:t>71     Une entité doit compenser les actifs et passifs d'impôt exigible si, et seulement si, l'entité :</a:t>
            </a:r>
          </a:p>
          <a:p>
            <a:pPr marL="0" indent="0">
              <a:buNone/>
            </a:pPr>
            <a:r>
              <a:rPr lang="fr-CA" b="1" dirty="0"/>
              <a:t>(a)     a un droit juridiquement exécutoire de compenser les montants comptabilisés ; et</a:t>
            </a:r>
          </a:p>
          <a:p>
            <a:pPr marL="0" indent="0">
              <a:buNone/>
            </a:pPr>
            <a:r>
              <a:rPr lang="fr-CA" b="1" dirty="0"/>
              <a:t>	</a:t>
            </a:r>
            <a:r>
              <a:rPr lang="fr-CA" sz="2400" i="1" dirty="0"/>
              <a:t>même juridiction fiscale</a:t>
            </a:r>
            <a:endParaRPr lang="fr-CA" i="1" dirty="0"/>
          </a:p>
          <a:p>
            <a:pPr marL="0" indent="0">
              <a:buNone/>
            </a:pPr>
            <a:r>
              <a:rPr lang="fr-CA" b="1" dirty="0"/>
              <a:t>(b)     a l'intention soit de régler le montant net, soit de réaliser l'actif et de régler le passif simultanément.</a:t>
            </a:r>
          </a:p>
          <a:p>
            <a:pPr marL="0" indent="0">
              <a:buNone/>
            </a:pPr>
            <a:endParaRPr lang="fr-FR" dirty="0"/>
          </a:p>
        </p:txBody>
      </p:sp>
      <p:sp>
        <p:nvSpPr>
          <p:cNvPr id="4" name="Espace réservé du pied de page 3">
            <a:extLst>
              <a:ext uri="{FF2B5EF4-FFF2-40B4-BE49-F238E27FC236}">
                <a16:creationId xmlns:a16="http://schemas.microsoft.com/office/drawing/2014/main" id="{A65A3565-234B-45A0-8CC1-E3D04101F8D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C02F9F0-8772-4D51-9E1D-AD606C4372C6}"/>
              </a:ext>
            </a:extLst>
          </p:cNvPr>
          <p:cNvSpPr>
            <a:spLocks noGrp="1"/>
          </p:cNvSpPr>
          <p:nvPr>
            <p:ph type="sldNum" sz="quarter" idx="12"/>
          </p:nvPr>
        </p:nvSpPr>
        <p:spPr/>
        <p:txBody>
          <a:bodyPr/>
          <a:lstStyle/>
          <a:p>
            <a:fld id="{9820BAFF-92A6-45A5-B1F5-B233E0C14C43}" type="slidenum">
              <a:rPr lang="fr-FR" smtClean="0"/>
              <a:t>22</a:t>
            </a:fld>
            <a:endParaRPr lang="fr-FR"/>
          </a:p>
        </p:txBody>
      </p:sp>
    </p:spTree>
    <p:extLst>
      <p:ext uri="{BB962C8B-B14F-4D97-AF65-F5344CB8AC3E}">
        <p14:creationId xmlns:p14="http://schemas.microsoft.com/office/powerpoint/2010/main" val="2955030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D29C37-512D-4650-80E0-A3F95711E361}"/>
              </a:ext>
            </a:extLst>
          </p:cNvPr>
          <p:cNvSpPr>
            <a:spLocks noGrp="1"/>
          </p:cNvSpPr>
          <p:nvPr>
            <p:ph type="title"/>
          </p:nvPr>
        </p:nvSpPr>
        <p:spPr/>
        <p:txBody>
          <a:bodyPr/>
          <a:lstStyle/>
          <a:p>
            <a:r>
              <a:rPr lang="fr-FR" dirty="0"/>
              <a:t>Présentation</a:t>
            </a:r>
          </a:p>
        </p:txBody>
      </p:sp>
      <p:sp>
        <p:nvSpPr>
          <p:cNvPr id="3" name="Espace réservé du contenu 2">
            <a:extLst>
              <a:ext uri="{FF2B5EF4-FFF2-40B4-BE49-F238E27FC236}">
                <a16:creationId xmlns:a16="http://schemas.microsoft.com/office/drawing/2014/main" id="{FE804BBD-4761-4CF3-98A2-781E0CA46CBE}"/>
              </a:ext>
            </a:extLst>
          </p:cNvPr>
          <p:cNvSpPr>
            <a:spLocks noGrp="1"/>
          </p:cNvSpPr>
          <p:nvPr>
            <p:ph idx="1"/>
          </p:nvPr>
        </p:nvSpPr>
        <p:spPr/>
        <p:txBody>
          <a:bodyPr/>
          <a:lstStyle/>
          <a:p>
            <a:pPr marL="0" indent="0">
              <a:buNone/>
            </a:pPr>
            <a:r>
              <a:rPr lang="fr-CA" dirty="0"/>
              <a:t>Impôts exigibles / à recouvrer : actif / passif courants</a:t>
            </a:r>
          </a:p>
          <a:p>
            <a:pPr marL="0" indent="0">
              <a:buNone/>
            </a:pPr>
            <a:endParaRPr lang="fr-CA" b="1" dirty="0"/>
          </a:p>
          <a:p>
            <a:pPr marL="0" indent="0">
              <a:buNone/>
            </a:pPr>
            <a:r>
              <a:rPr lang="fr-CA" dirty="0"/>
              <a:t>Impôts différés : actif / passif non courants</a:t>
            </a:r>
          </a:p>
          <a:p>
            <a:pPr marL="0" indent="0">
              <a:buNone/>
            </a:pPr>
            <a:endParaRPr lang="fr-FR" dirty="0"/>
          </a:p>
        </p:txBody>
      </p:sp>
      <p:sp>
        <p:nvSpPr>
          <p:cNvPr id="4" name="Espace réservé du pied de page 3">
            <a:extLst>
              <a:ext uri="{FF2B5EF4-FFF2-40B4-BE49-F238E27FC236}">
                <a16:creationId xmlns:a16="http://schemas.microsoft.com/office/drawing/2014/main" id="{A65A3565-234B-45A0-8CC1-E3D04101F8D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C02F9F0-8772-4D51-9E1D-AD606C4372C6}"/>
              </a:ext>
            </a:extLst>
          </p:cNvPr>
          <p:cNvSpPr>
            <a:spLocks noGrp="1"/>
          </p:cNvSpPr>
          <p:nvPr>
            <p:ph type="sldNum" sz="quarter" idx="12"/>
          </p:nvPr>
        </p:nvSpPr>
        <p:spPr/>
        <p:txBody>
          <a:bodyPr/>
          <a:lstStyle/>
          <a:p>
            <a:fld id="{9820BAFF-92A6-45A5-B1F5-B233E0C14C43}" type="slidenum">
              <a:rPr lang="fr-FR" smtClean="0"/>
              <a:t>23</a:t>
            </a:fld>
            <a:endParaRPr lang="fr-FR"/>
          </a:p>
        </p:txBody>
      </p:sp>
    </p:spTree>
    <p:extLst>
      <p:ext uri="{BB962C8B-B14F-4D97-AF65-F5344CB8AC3E}">
        <p14:creationId xmlns:p14="http://schemas.microsoft.com/office/powerpoint/2010/main" val="14150998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F152BC-45F6-450D-AF7D-D593FC5E6A32}"/>
              </a:ext>
            </a:extLst>
          </p:cNvPr>
          <p:cNvSpPr>
            <a:spLocks noGrp="1"/>
          </p:cNvSpPr>
          <p:nvPr>
            <p:ph type="title"/>
          </p:nvPr>
        </p:nvSpPr>
        <p:spPr>
          <a:xfrm>
            <a:off x="838200" y="365126"/>
            <a:ext cx="10515600" cy="788988"/>
          </a:xfrm>
        </p:spPr>
        <p:txBody>
          <a:bodyPr/>
          <a:lstStyle/>
          <a:p>
            <a:r>
              <a:rPr lang="fr-FR" b="1" dirty="0"/>
              <a:t>Informations à fournir</a:t>
            </a:r>
            <a:endParaRPr lang="fr-FR" dirty="0"/>
          </a:p>
        </p:txBody>
      </p:sp>
      <p:sp>
        <p:nvSpPr>
          <p:cNvPr id="3" name="Espace réservé du contenu 2">
            <a:extLst>
              <a:ext uri="{FF2B5EF4-FFF2-40B4-BE49-F238E27FC236}">
                <a16:creationId xmlns:a16="http://schemas.microsoft.com/office/drawing/2014/main" id="{713F80B5-46C1-4C71-A182-9D58D8F5496A}"/>
              </a:ext>
            </a:extLst>
          </p:cNvPr>
          <p:cNvSpPr>
            <a:spLocks noGrp="1"/>
          </p:cNvSpPr>
          <p:nvPr>
            <p:ph idx="1"/>
          </p:nvPr>
        </p:nvSpPr>
        <p:spPr>
          <a:xfrm>
            <a:off x="838200" y="1333500"/>
            <a:ext cx="10515600" cy="5022850"/>
          </a:xfrm>
        </p:spPr>
        <p:txBody>
          <a:bodyPr>
            <a:normAutofit fontScale="92500" lnSpcReduction="20000"/>
          </a:bodyPr>
          <a:lstStyle/>
          <a:p>
            <a:pPr marL="0" indent="0">
              <a:buNone/>
            </a:pPr>
            <a:r>
              <a:rPr lang="fr-CA" sz="1800" b="1" dirty="0"/>
              <a:t>79     Les principales composantes de la charge (produit) d'impôt doivent être présentées distinctement.</a:t>
            </a:r>
          </a:p>
          <a:p>
            <a:pPr marL="0" indent="0">
              <a:buNone/>
            </a:pPr>
            <a:endParaRPr lang="fr-CA" sz="700" b="1" dirty="0"/>
          </a:p>
          <a:p>
            <a:pPr marL="0" indent="0">
              <a:buNone/>
            </a:pPr>
            <a:r>
              <a:rPr lang="fr-CA" sz="1800" dirty="0"/>
              <a:t>80     Les composantes de la charge (produit) d'impôt peuvent comprendre :</a:t>
            </a:r>
          </a:p>
          <a:p>
            <a:pPr marL="0" indent="0">
              <a:buNone/>
            </a:pPr>
            <a:r>
              <a:rPr lang="fr-CA" sz="1800" dirty="0"/>
              <a:t>(a)     la charge (produit) d'impôt exigible ;</a:t>
            </a:r>
          </a:p>
          <a:p>
            <a:pPr marL="0" indent="0">
              <a:buNone/>
            </a:pPr>
            <a:r>
              <a:rPr lang="fr-CA" sz="1800" dirty="0"/>
              <a:t>(b)     tout ajustement comptabilisé au cours de la période au titre de l'impôt exigible des périodes antérieures ;</a:t>
            </a:r>
          </a:p>
          <a:p>
            <a:pPr marL="0" indent="0">
              <a:buNone/>
            </a:pPr>
            <a:r>
              <a:rPr lang="fr-CA" sz="1800" dirty="0"/>
              <a:t>(c)     le montant de la charge (produit) d'impôt différé afférente à la naissance et à la résorption des différences temporaires ;</a:t>
            </a:r>
          </a:p>
          <a:p>
            <a:pPr marL="0" indent="0">
              <a:buNone/>
            </a:pPr>
            <a:r>
              <a:rPr lang="fr-CA" sz="1800" dirty="0"/>
              <a:t>(d)     le montant de la charge (produit) d'impôt différé afférente aux variations des taux d'impôt ou à l'assujettissement à des impôts nouveaux ;</a:t>
            </a:r>
          </a:p>
          <a:p>
            <a:pPr marL="0" indent="0">
              <a:buNone/>
            </a:pPr>
            <a:r>
              <a:rPr lang="fr-CA" sz="1800" dirty="0"/>
              <a:t>(e)     le montant de l'avantage résultant d'une perte fiscale, d'un crédit d'impôt ou d'une différence temporaire au titre d'une période antérieure, non comptabilisé précédemment, qui est utilisé pour réduire la charge d'impôt exigible ;</a:t>
            </a:r>
          </a:p>
          <a:p>
            <a:pPr marL="0" indent="0">
              <a:buNone/>
            </a:pPr>
            <a:r>
              <a:rPr lang="fr-CA" sz="1800" dirty="0"/>
              <a:t>(f)     le montant de l'avantage provenant d'une perte fiscale, d'un crédit d'impôt ou d'une différence temporaire au titre d'une période antérieure, non comptabilisé précédemment, qui est utilisé pour réduire la charge d'impôt différé ;</a:t>
            </a:r>
          </a:p>
          <a:p>
            <a:pPr marL="0" indent="0">
              <a:buNone/>
            </a:pPr>
            <a:r>
              <a:rPr lang="fr-CA" sz="1800" dirty="0"/>
              <a:t>(g)     la charge d'impôt différé générée par la réduction de valeur d'un actif d'impôt différé ou la reprise d'une réduction de valeur précédente, selon le paragraphe </a:t>
            </a:r>
            <a:r>
              <a:rPr lang="fr-CA" sz="1800" dirty="0">
                <a:hlinkClick r:id="rId2"/>
              </a:rPr>
              <a:t>56</a:t>
            </a:r>
            <a:r>
              <a:rPr lang="fr-CA" sz="1800" dirty="0"/>
              <a:t> ; et</a:t>
            </a:r>
          </a:p>
          <a:p>
            <a:pPr marL="0" indent="0">
              <a:buNone/>
            </a:pPr>
            <a:r>
              <a:rPr lang="fr-CA" sz="1800" dirty="0"/>
              <a:t>(h)     le montant de la charge (produit) d'impôt afférente aux changements de méthodes comptables et aux corrections d'erreurs inclus dans le résultat net selon </a:t>
            </a:r>
            <a:r>
              <a:rPr lang="fr-CA" sz="1800" dirty="0">
                <a:hlinkClick r:id="rId2"/>
              </a:rPr>
              <a:t>IAS 8</a:t>
            </a:r>
            <a:r>
              <a:rPr lang="fr-CA" sz="1800" dirty="0"/>
              <a:t> parce qu'ils ne peuvent pas être comptabilisés de manière rétrospective.</a:t>
            </a:r>
          </a:p>
          <a:p>
            <a:pPr marL="0" indent="0">
              <a:buNone/>
            </a:pPr>
            <a:endParaRPr lang="fr-CA" sz="800" b="1" dirty="0"/>
          </a:p>
          <a:p>
            <a:pPr marL="0" indent="0">
              <a:buNone/>
            </a:pPr>
            <a:endParaRPr lang="fr-FR" sz="800" dirty="0"/>
          </a:p>
        </p:txBody>
      </p:sp>
      <p:sp>
        <p:nvSpPr>
          <p:cNvPr id="4" name="Espace réservé du pied de page 3">
            <a:extLst>
              <a:ext uri="{FF2B5EF4-FFF2-40B4-BE49-F238E27FC236}">
                <a16:creationId xmlns:a16="http://schemas.microsoft.com/office/drawing/2014/main" id="{F252C0F8-B025-407E-BCCB-F22EFCE7367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D943A5EC-7A75-4339-AA2B-8161F4AA8021}"/>
              </a:ext>
            </a:extLst>
          </p:cNvPr>
          <p:cNvSpPr>
            <a:spLocks noGrp="1"/>
          </p:cNvSpPr>
          <p:nvPr>
            <p:ph type="sldNum" sz="quarter" idx="12"/>
          </p:nvPr>
        </p:nvSpPr>
        <p:spPr/>
        <p:txBody>
          <a:bodyPr/>
          <a:lstStyle/>
          <a:p>
            <a:fld id="{9820BAFF-92A6-45A5-B1F5-B233E0C14C43}" type="slidenum">
              <a:rPr lang="fr-FR" smtClean="0"/>
              <a:t>24</a:t>
            </a:fld>
            <a:endParaRPr lang="fr-FR"/>
          </a:p>
        </p:txBody>
      </p:sp>
    </p:spTree>
    <p:extLst>
      <p:ext uri="{BB962C8B-B14F-4D97-AF65-F5344CB8AC3E}">
        <p14:creationId xmlns:p14="http://schemas.microsoft.com/office/powerpoint/2010/main" val="2180901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F152BC-45F6-450D-AF7D-D593FC5E6A32}"/>
              </a:ext>
            </a:extLst>
          </p:cNvPr>
          <p:cNvSpPr>
            <a:spLocks noGrp="1"/>
          </p:cNvSpPr>
          <p:nvPr>
            <p:ph type="title"/>
          </p:nvPr>
        </p:nvSpPr>
        <p:spPr>
          <a:xfrm>
            <a:off x="838200" y="365126"/>
            <a:ext cx="10515600" cy="558800"/>
          </a:xfrm>
        </p:spPr>
        <p:txBody>
          <a:bodyPr>
            <a:normAutofit fontScale="90000"/>
          </a:bodyPr>
          <a:lstStyle/>
          <a:p>
            <a:r>
              <a:rPr lang="fr-FR" sz="3600" b="1" dirty="0"/>
              <a:t>Informations à fournir</a:t>
            </a:r>
            <a:endParaRPr lang="fr-FR" dirty="0"/>
          </a:p>
        </p:txBody>
      </p:sp>
      <p:sp>
        <p:nvSpPr>
          <p:cNvPr id="3" name="Espace réservé du contenu 2">
            <a:extLst>
              <a:ext uri="{FF2B5EF4-FFF2-40B4-BE49-F238E27FC236}">
                <a16:creationId xmlns:a16="http://schemas.microsoft.com/office/drawing/2014/main" id="{713F80B5-46C1-4C71-A182-9D58D8F5496A}"/>
              </a:ext>
            </a:extLst>
          </p:cNvPr>
          <p:cNvSpPr>
            <a:spLocks noGrp="1"/>
          </p:cNvSpPr>
          <p:nvPr>
            <p:ph idx="1"/>
          </p:nvPr>
        </p:nvSpPr>
        <p:spPr>
          <a:xfrm>
            <a:off x="838200" y="923926"/>
            <a:ext cx="10515600" cy="5253037"/>
          </a:xfrm>
        </p:spPr>
        <p:txBody>
          <a:bodyPr>
            <a:normAutofit fontScale="62500" lnSpcReduction="20000"/>
          </a:bodyPr>
          <a:lstStyle/>
          <a:p>
            <a:pPr marL="0" indent="0">
              <a:buNone/>
            </a:pPr>
            <a:r>
              <a:rPr lang="fr-CA" b="1" dirty="0"/>
              <a:t>81     Les éléments suivants doivent également être présentés distinctement :</a:t>
            </a:r>
          </a:p>
          <a:p>
            <a:pPr marL="0" indent="0">
              <a:buNone/>
            </a:pPr>
            <a:r>
              <a:rPr lang="fr-CA" b="1" dirty="0"/>
              <a:t>(a)     le total de l'impôt exigible et de l'impôt différé relatifs aux éléments directement débités ou crédités dans les capitaux propres (voir paragraphe </a:t>
            </a:r>
            <a:r>
              <a:rPr lang="fr-CA" b="1" dirty="0">
                <a:hlinkClick r:id="rId2"/>
              </a:rPr>
              <a:t>62A</a:t>
            </a:r>
            <a:r>
              <a:rPr lang="fr-CA" b="1" dirty="0"/>
              <a:t>) ;</a:t>
            </a:r>
          </a:p>
          <a:p>
            <a:pPr marL="0" indent="0">
              <a:buNone/>
            </a:pPr>
            <a:r>
              <a:rPr lang="fr-CA" b="1" dirty="0"/>
              <a:t>(ab) le montant de l'impôt relatif à chaque élément du résultat global (voir paragraphe </a:t>
            </a:r>
            <a:r>
              <a:rPr lang="fr-CA" b="1" dirty="0">
                <a:hlinkClick r:id="rId2"/>
              </a:rPr>
              <a:t>62</a:t>
            </a:r>
            <a:r>
              <a:rPr lang="fr-CA" b="1" dirty="0"/>
              <a:t> et </a:t>
            </a:r>
            <a:r>
              <a:rPr lang="fr-CA" b="1" dirty="0">
                <a:hlinkClick r:id="rId2"/>
              </a:rPr>
              <a:t>IAS 1</a:t>
            </a:r>
            <a:r>
              <a:rPr lang="fr-CA" b="1" dirty="0"/>
              <a:t> (révisée en 2007)) ;</a:t>
            </a:r>
            <a:endParaRPr lang="fr-CA" dirty="0"/>
          </a:p>
          <a:p>
            <a:pPr marL="0" indent="0">
              <a:buNone/>
            </a:pPr>
            <a:r>
              <a:rPr lang="fr-CA" b="1" dirty="0"/>
              <a:t>(c)     </a:t>
            </a:r>
            <a:r>
              <a:rPr lang="fr-CA" b="1" dirty="0">
                <a:solidFill>
                  <a:srgbClr val="0070C0"/>
                </a:solidFill>
              </a:rPr>
              <a:t>une explication de la relation entre la charge (produit) d'impôt et le bénéfice comptable selon l'une des formes suivantes ou les deux :</a:t>
            </a:r>
          </a:p>
          <a:p>
            <a:pPr marL="542925" indent="-276225">
              <a:buNone/>
            </a:pPr>
            <a:r>
              <a:rPr lang="fr-CA" b="1" dirty="0">
                <a:solidFill>
                  <a:srgbClr val="0070C0"/>
                </a:solidFill>
              </a:rPr>
              <a:t>(i)     un rapprochement chiffré entre la charge (produit) d'impôt et le produit du bénéfice comptable multiplié par le ou les taux d'impôt applicables, en indiquant également la base de calcul du ou des taux d'impôt applicables, ou</a:t>
            </a:r>
          </a:p>
          <a:p>
            <a:pPr marL="542925" indent="-276225">
              <a:buNone/>
            </a:pPr>
            <a:r>
              <a:rPr lang="fr-CA" b="1" dirty="0">
                <a:solidFill>
                  <a:srgbClr val="0070C0"/>
                </a:solidFill>
              </a:rPr>
              <a:t>(ii)     un rapprochement chiffré entre le taux d'impôt effectif moyen et le taux d'impôt applicable, en indiquant également la base de calcul du taux d'impôt applicable ;</a:t>
            </a:r>
          </a:p>
          <a:p>
            <a:pPr marL="0" indent="0">
              <a:buNone/>
            </a:pPr>
            <a:r>
              <a:rPr lang="fr-CA" b="1" dirty="0"/>
              <a:t>(d)     une explication des changements dans le ou les taux d'impôt applicables par rapport à la période précédente ;</a:t>
            </a:r>
          </a:p>
          <a:p>
            <a:pPr marL="0" indent="0">
              <a:buNone/>
            </a:pPr>
            <a:r>
              <a:rPr lang="fr-CA" b="1" dirty="0"/>
              <a:t>(e)     le montant (et, le cas échéant, la date d'expiration) des différences temporaires déductibles, pertes fiscales et crédits d'impôt non utilisés pour lesquels aucun actif d'impôt différé n'a été comptabilisé dans l'état de la situation financière ;</a:t>
            </a:r>
          </a:p>
          <a:p>
            <a:pPr marL="0" indent="0">
              <a:buNone/>
            </a:pPr>
            <a:r>
              <a:rPr lang="fr-CA" b="1" dirty="0"/>
              <a:t>(f)     le montant total des différences temporaires liées à des participations dans des filiales et entreprises associées, à des investissements dans des succursales et à des intérêts dans des partenariats, pour lesquelles des passifs d'impôt différé n'ont pas été comptabilisés (voir paragraphe </a:t>
            </a:r>
            <a:r>
              <a:rPr lang="fr-CA" b="1" dirty="0">
                <a:hlinkClick r:id="rId2"/>
              </a:rPr>
              <a:t>39</a:t>
            </a:r>
            <a:r>
              <a:rPr lang="fr-CA" b="1" dirty="0"/>
              <a:t>) ;</a:t>
            </a:r>
          </a:p>
          <a:p>
            <a:pPr marL="0" indent="0">
              <a:buNone/>
            </a:pPr>
            <a:endParaRPr lang="fr-FR" dirty="0"/>
          </a:p>
        </p:txBody>
      </p:sp>
      <p:sp>
        <p:nvSpPr>
          <p:cNvPr id="4" name="Espace réservé du pied de page 3">
            <a:extLst>
              <a:ext uri="{FF2B5EF4-FFF2-40B4-BE49-F238E27FC236}">
                <a16:creationId xmlns:a16="http://schemas.microsoft.com/office/drawing/2014/main" id="{F252C0F8-B025-407E-BCCB-F22EFCE7367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D943A5EC-7A75-4339-AA2B-8161F4AA8021}"/>
              </a:ext>
            </a:extLst>
          </p:cNvPr>
          <p:cNvSpPr>
            <a:spLocks noGrp="1"/>
          </p:cNvSpPr>
          <p:nvPr>
            <p:ph type="sldNum" sz="quarter" idx="12"/>
          </p:nvPr>
        </p:nvSpPr>
        <p:spPr/>
        <p:txBody>
          <a:bodyPr/>
          <a:lstStyle/>
          <a:p>
            <a:fld id="{9820BAFF-92A6-45A5-B1F5-B233E0C14C43}" type="slidenum">
              <a:rPr lang="fr-FR" smtClean="0"/>
              <a:t>25</a:t>
            </a:fld>
            <a:endParaRPr lang="fr-FR"/>
          </a:p>
        </p:txBody>
      </p:sp>
    </p:spTree>
    <p:extLst>
      <p:ext uri="{BB962C8B-B14F-4D97-AF65-F5344CB8AC3E}">
        <p14:creationId xmlns:p14="http://schemas.microsoft.com/office/powerpoint/2010/main" val="1220541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F152BC-45F6-450D-AF7D-D593FC5E6A32}"/>
              </a:ext>
            </a:extLst>
          </p:cNvPr>
          <p:cNvSpPr>
            <a:spLocks noGrp="1"/>
          </p:cNvSpPr>
          <p:nvPr>
            <p:ph type="title"/>
          </p:nvPr>
        </p:nvSpPr>
        <p:spPr>
          <a:xfrm>
            <a:off x="838200" y="365126"/>
            <a:ext cx="10515600" cy="558800"/>
          </a:xfrm>
        </p:spPr>
        <p:txBody>
          <a:bodyPr>
            <a:normAutofit fontScale="90000"/>
          </a:bodyPr>
          <a:lstStyle/>
          <a:p>
            <a:r>
              <a:rPr lang="fr-FR" sz="3600" b="1" dirty="0"/>
              <a:t>Informations à fournir</a:t>
            </a:r>
            <a:endParaRPr lang="fr-FR" dirty="0"/>
          </a:p>
        </p:txBody>
      </p:sp>
      <p:sp>
        <p:nvSpPr>
          <p:cNvPr id="3" name="Espace réservé du contenu 2">
            <a:extLst>
              <a:ext uri="{FF2B5EF4-FFF2-40B4-BE49-F238E27FC236}">
                <a16:creationId xmlns:a16="http://schemas.microsoft.com/office/drawing/2014/main" id="{713F80B5-46C1-4C71-A182-9D58D8F5496A}"/>
              </a:ext>
            </a:extLst>
          </p:cNvPr>
          <p:cNvSpPr>
            <a:spLocks noGrp="1"/>
          </p:cNvSpPr>
          <p:nvPr>
            <p:ph idx="1"/>
          </p:nvPr>
        </p:nvSpPr>
        <p:spPr>
          <a:xfrm>
            <a:off x="838200" y="923926"/>
            <a:ext cx="10515600" cy="5568948"/>
          </a:xfrm>
        </p:spPr>
        <p:txBody>
          <a:bodyPr>
            <a:normAutofit fontScale="32500" lnSpcReduction="20000"/>
          </a:bodyPr>
          <a:lstStyle/>
          <a:p>
            <a:pPr marL="0" indent="0">
              <a:buNone/>
            </a:pPr>
            <a:r>
              <a:rPr lang="fr-CA" sz="5500" b="1" dirty="0"/>
              <a:t>81     Les éléments suivants doivent également être présentés distinctement : </a:t>
            </a:r>
            <a:r>
              <a:rPr lang="fr-CA" sz="5500" dirty="0"/>
              <a:t> </a:t>
            </a:r>
            <a:r>
              <a:rPr lang="fr-CA" sz="5500" i="1" dirty="0"/>
              <a:t>(suite)</a:t>
            </a:r>
            <a:endParaRPr lang="fr-CA" sz="5500" dirty="0"/>
          </a:p>
          <a:p>
            <a:pPr marL="0" indent="0">
              <a:buNone/>
            </a:pPr>
            <a:endParaRPr lang="fr-CA" sz="2200" b="1" dirty="0"/>
          </a:p>
          <a:p>
            <a:pPr marL="0" indent="0">
              <a:buNone/>
            </a:pPr>
            <a:r>
              <a:rPr lang="fr-CA" sz="5500" b="1" dirty="0"/>
              <a:t>(g)     pour chaque catégorie de différences temporaires et pour chaque catégorie de pertes fiscales et de crédits d'impôt non utilisés :</a:t>
            </a:r>
          </a:p>
          <a:p>
            <a:pPr marL="542925" indent="-276225">
              <a:buNone/>
            </a:pPr>
            <a:r>
              <a:rPr lang="fr-CA" sz="5500" b="1" dirty="0"/>
              <a:t>(i)     le montant des actifs et passifs d'impôt différé comptabilisés dans l'état de la situation financière pour chaque période présentée,</a:t>
            </a:r>
          </a:p>
          <a:p>
            <a:pPr marL="542925" indent="-276225">
              <a:buNone/>
            </a:pPr>
            <a:r>
              <a:rPr lang="fr-CA" sz="5500" b="1" dirty="0"/>
              <a:t>(ii)     le montant du produit ou de la charge d'impôt différé comptabilisé en résultat net, s'il ne ressort pas des changements apportés aux montants comptabilisés dans l'état de la situation financière ;</a:t>
            </a:r>
          </a:p>
          <a:p>
            <a:pPr marL="0" indent="0">
              <a:buNone/>
            </a:pPr>
            <a:r>
              <a:rPr lang="fr-CA" sz="5500" b="1" dirty="0"/>
              <a:t>(h)     en ce qui concerne les activités abandonnées, la charge d'impôt relative :</a:t>
            </a:r>
          </a:p>
          <a:p>
            <a:pPr marL="542925" indent="-276225">
              <a:buNone/>
            </a:pPr>
            <a:r>
              <a:rPr lang="fr-CA" sz="5500" b="1" dirty="0"/>
              <a:t>(i)     au profit ou à la perte lié(e) à l'abandon, et</a:t>
            </a:r>
          </a:p>
          <a:p>
            <a:pPr marL="542925" indent="-276225">
              <a:buNone/>
            </a:pPr>
            <a:r>
              <a:rPr lang="fr-CA" sz="5500" b="1" dirty="0"/>
              <a:t>(ii)     au résultat net des activités ordinaires des activités abandonnées pour la période, ainsi que les montants correspondants pour toutes les périodes antérieures présentées ;</a:t>
            </a:r>
          </a:p>
          <a:p>
            <a:pPr marL="0" indent="0">
              <a:buNone/>
            </a:pPr>
            <a:r>
              <a:rPr lang="fr-CA" sz="5500" b="1" dirty="0"/>
              <a:t>(i)     l'incidence sur l'impôt sur le résultat des dividendes proposés ou déclarés aux actionnaires de l'entité avant l'autorisation de publier les états financiers, mais qui ne sont pas comptabilisés en tant que passif dans les états financiers ;</a:t>
            </a:r>
          </a:p>
          <a:p>
            <a:pPr marL="0" indent="0">
              <a:buNone/>
            </a:pPr>
            <a:r>
              <a:rPr lang="fr-CA" sz="5500" b="1" dirty="0"/>
              <a:t>(j)     si un regroupement d'entreprises dans lequel l'entité est l'acquéreur entraîne un changement du montant comptabilisé pour son actif d'impôt différé antérieur à l'acquisition (voir paragraphe </a:t>
            </a:r>
            <a:r>
              <a:rPr lang="fr-CA" sz="5500" b="1" dirty="0">
                <a:hlinkClick r:id="rId2"/>
              </a:rPr>
              <a:t>67</a:t>
            </a:r>
            <a:r>
              <a:rPr lang="fr-CA" sz="5500" b="1" dirty="0"/>
              <a:t>), le montant de ce changement ; et</a:t>
            </a:r>
          </a:p>
          <a:p>
            <a:pPr marL="0" indent="0">
              <a:buNone/>
            </a:pPr>
            <a:r>
              <a:rPr lang="fr-CA" sz="5500" b="1" dirty="0"/>
              <a:t>(k)     si les avantages d'impôt différé acquis lors d'un regroupement d'entreprises ne sont pas comptabilisés à la date d'acquisition mais sont comptabilisés après la date d'acquisition (voir paragraphe 68), une description de l'événement ou du changement de circonstances ayant causé la comptabilisation des avantages d'impôt différé.</a:t>
            </a:r>
            <a:endParaRPr lang="fr-CA" sz="2900" b="1" dirty="0"/>
          </a:p>
          <a:p>
            <a:pPr marL="0" indent="0">
              <a:buNone/>
            </a:pPr>
            <a:endParaRPr lang="fr-FR" dirty="0"/>
          </a:p>
        </p:txBody>
      </p:sp>
      <p:sp>
        <p:nvSpPr>
          <p:cNvPr id="4" name="Espace réservé du pied de page 3">
            <a:extLst>
              <a:ext uri="{FF2B5EF4-FFF2-40B4-BE49-F238E27FC236}">
                <a16:creationId xmlns:a16="http://schemas.microsoft.com/office/drawing/2014/main" id="{F252C0F8-B025-407E-BCCB-F22EFCE7367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D943A5EC-7A75-4339-AA2B-8161F4AA8021}"/>
              </a:ext>
            </a:extLst>
          </p:cNvPr>
          <p:cNvSpPr>
            <a:spLocks noGrp="1"/>
          </p:cNvSpPr>
          <p:nvPr>
            <p:ph type="sldNum" sz="quarter" idx="12"/>
          </p:nvPr>
        </p:nvSpPr>
        <p:spPr/>
        <p:txBody>
          <a:bodyPr/>
          <a:lstStyle/>
          <a:p>
            <a:fld id="{9820BAFF-92A6-45A5-B1F5-B233E0C14C43}" type="slidenum">
              <a:rPr lang="fr-FR" smtClean="0"/>
              <a:t>26</a:t>
            </a:fld>
            <a:endParaRPr lang="fr-FR"/>
          </a:p>
        </p:txBody>
      </p:sp>
    </p:spTree>
    <p:extLst>
      <p:ext uri="{BB962C8B-B14F-4D97-AF65-F5344CB8AC3E}">
        <p14:creationId xmlns:p14="http://schemas.microsoft.com/office/powerpoint/2010/main" val="1409889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FE4A88-3B95-483D-89B8-1ECE27EBF568}"/>
              </a:ext>
            </a:extLst>
          </p:cNvPr>
          <p:cNvSpPr>
            <a:spLocks noGrp="1"/>
          </p:cNvSpPr>
          <p:nvPr>
            <p:ph type="title"/>
          </p:nvPr>
        </p:nvSpPr>
        <p:spPr/>
        <p:txBody>
          <a:bodyPr/>
          <a:lstStyle/>
          <a:p>
            <a:r>
              <a:rPr lang="fr-FR" sz="3600" b="1" dirty="0"/>
              <a:t>Informations à fournir</a:t>
            </a:r>
            <a:endParaRPr lang="fr-FR" dirty="0"/>
          </a:p>
        </p:txBody>
      </p:sp>
      <p:sp>
        <p:nvSpPr>
          <p:cNvPr id="3" name="Espace réservé du contenu 2">
            <a:extLst>
              <a:ext uri="{FF2B5EF4-FFF2-40B4-BE49-F238E27FC236}">
                <a16:creationId xmlns:a16="http://schemas.microsoft.com/office/drawing/2014/main" id="{8E3397F1-0C3B-47FB-9695-7DEB509F4EC0}"/>
              </a:ext>
            </a:extLst>
          </p:cNvPr>
          <p:cNvSpPr>
            <a:spLocks noGrp="1"/>
          </p:cNvSpPr>
          <p:nvPr>
            <p:ph idx="1"/>
          </p:nvPr>
        </p:nvSpPr>
        <p:spPr/>
        <p:txBody>
          <a:bodyPr>
            <a:normAutofit fontScale="92500" lnSpcReduction="20000"/>
          </a:bodyPr>
          <a:lstStyle/>
          <a:p>
            <a:pPr marL="0" indent="0">
              <a:buNone/>
            </a:pPr>
            <a:r>
              <a:rPr lang="fr-CA" dirty="0"/>
              <a:t>86     Le taux d'impôt effectif moyen est égal à la charge (produit) d'impôt divisée par le bénéfice comptable.</a:t>
            </a:r>
          </a:p>
          <a:p>
            <a:pPr marL="0" indent="0">
              <a:buNone/>
            </a:pPr>
            <a:r>
              <a:rPr lang="fr-CA" dirty="0"/>
              <a:t>	</a:t>
            </a:r>
            <a:r>
              <a:rPr lang="fr-CA" sz="2400" i="1" dirty="0"/>
              <a:t>diffère du taux d’impôt en vigueur à cause des écarts permanents et temporaires</a:t>
            </a:r>
            <a:endParaRPr lang="fr-CA" dirty="0"/>
          </a:p>
          <a:p>
            <a:pPr marL="0" indent="0">
              <a:buNone/>
            </a:pPr>
            <a:endParaRPr lang="fr-CA" dirty="0"/>
          </a:p>
          <a:p>
            <a:pPr marL="0" indent="0">
              <a:buNone/>
            </a:pPr>
            <a:r>
              <a:rPr lang="fr-CA" dirty="0"/>
              <a:t>88     Une entité indique tous passifs et actifs d'impôt éventuels en accord avec </a:t>
            </a:r>
            <a:r>
              <a:rPr lang="fr-CA" dirty="0">
                <a:hlinkClick r:id="rId2"/>
              </a:rPr>
              <a:t>IAS 37</a:t>
            </a:r>
            <a:r>
              <a:rPr lang="fr-CA" dirty="0"/>
              <a:t> </a:t>
            </a:r>
            <a:r>
              <a:rPr lang="fr-CA" i="1" dirty="0"/>
              <a:t>Provisions, passifs éventuels et actifs éventuels</a:t>
            </a:r>
            <a:r>
              <a:rPr lang="fr-CA" dirty="0"/>
              <a:t>. Des passifs éventuels et des actifs éventuels peuvent survenir, par exemple du fait de litiges en cours avec l'administration fiscale. De même, lorsque des modifications des taux d'impôt ou des lois fiscales sont adoptées ou annoncées après la période de présentation de l'information financière, une entité fournit de l'information sur tout effet significatif de ces changements sur ses actifs et passifs d'impôt exigible et différé (voir </a:t>
            </a:r>
            <a:r>
              <a:rPr lang="fr-CA" dirty="0">
                <a:hlinkClick r:id="rId2"/>
              </a:rPr>
              <a:t>IAS 10</a:t>
            </a:r>
            <a:r>
              <a:rPr lang="fr-CA" dirty="0"/>
              <a:t> </a:t>
            </a:r>
            <a:r>
              <a:rPr lang="fr-CA" i="1" dirty="0"/>
              <a:t>Événements postérieurs à la date de clôture</a:t>
            </a:r>
            <a:r>
              <a:rPr lang="fr-CA" dirty="0"/>
              <a:t>).</a:t>
            </a:r>
            <a:endParaRPr lang="fr-FR" dirty="0"/>
          </a:p>
        </p:txBody>
      </p:sp>
      <p:sp>
        <p:nvSpPr>
          <p:cNvPr id="4" name="Espace réservé du pied de page 3">
            <a:extLst>
              <a:ext uri="{FF2B5EF4-FFF2-40B4-BE49-F238E27FC236}">
                <a16:creationId xmlns:a16="http://schemas.microsoft.com/office/drawing/2014/main" id="{B0D8DF40-9475-4E90-8D51-D92BE1102954}"/>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62C507B-DDB8-415C-A3B7-29D9DCB4236C}"/>
              </a:ext>
            </a:extLst>
          </p:cNvPr>
          <p:cNvSpPr>
            <a:spLocks noGrp="1"/>
          </p:cNvSpPr>
          <p:nvPr>
            <p:ph type="sldNum" sz="quarter" idx="12"/>
          </p:nvPr>
        </p:nvSpPr>
        <p:spPr/>
        <p:txBody>
          <a:bodyPr/>
          <a:lstStyle/>
          <a:p>
            <a:fld id="{9820BAFF-92A6-45A5-B1F5-B233E0C14C43}" type="slidenum">
              <a:rPr lang="fr-FR" smtClean="0"/>
              <a:t>27</a:t>
            </a:fld>
            <a:endParaRPr lang="fr-FR"/>
          </a:p>
        </p:txBody>
      </p:sp>
    </p:spTree>
    <p:extLst>
      <p:ext uri="{BB962C8B-B14F-4D97-AF65-F5344CB8AC3E}">
        <p14:creationId xmlns:p14="http://schemas.microsoft.com/office/powerpoint/2010/main" val="6982663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8A2D76-6017-4BA0-BD9B-7BE83281695E}"/>
              </a:ext>
            </a:extLst>
          </p:cNvPr>
          <p:cNvSpPr>
            <a:spLocks noGrp="1"/>
          </p:cNvSpPr>
          <p:nvPr>
            <p:ph type="title"/>
          </p:nvPr>
        </p:nvSpPr>
        <p:spPr/>
        <p:txBody>
          <a:bodyPr/>
          <a:lstStyle/>
          <a:p>
            <a:r>
              <a:rPr lang="fr-CA" dirty="0"/>
              <a:t>Saputo – rapport annuel 2019</a:t>
            </a:r>
            <a:endParaRPr lang="fr-FR" dirty="0"/>
          </a:p>
        </p:txBody>
      </p:sp>
      <p:sp>
        <p:nvSpPr>
          <p:cNvPr id="3" name="Espace réservé du contenu 2">
            <a:extLst>
              <a:ext uri="{FF2B5EF4-FFF2-40B4-BE49-F238E27FC236}">
                <a16:creationId xmlns:a16="http://schemas.microsoft.com/office/drawing/2014/main" id="{0AF9B809-33A2-41D8-84F1-504187F10A6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28259AEF-EEDA-42B7-AEE1-4C939810F3D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A8A683C9-5566-48A2-B8F5-F04C00003481}"/>
              </a:ext>
            </a:extLst>
          </p:cNvPr>
          <p:cNvSpPr>
            <a:spLocks noGrp="1"/>
          </p:cNvSpPr>
          <p:nvPr>
            <p:ph type="sldNum" sz="quarter" idx="12"/>
          </p:nvPr>
        </p:nvSpPr>
        <p:spPr/>
        <p:txBody>
          <a:bodyPr/>
          <a:lstStyle/>
          <a:p>
            <a:fld id="{9820BAFF-92A6-45A5-B1F5-B233E0C14C43}" type="slidenum">
              <a:rPr lang="fr-FR" smtClean="0"/>
              <a:t>28</a:t>
            </a:fld>
            <a:endParaRPr lang="fr-FR"/>
          </a:p>
        </p:txBody>
      </p:sp>
      <p:pic>
        <p:nvPicPr>
          <p:cNvPr id="6" name="Image 5">
            <a:extLst>
              <a:ext uri="{FF2B5EF4-FFF2-40B4-BE49-F238E27FC236}">
                <a16:creationId xmlns:a16="http://schemas.microsoft.com/office/drawing/2014/main" id="{D508D38E-8852-406B-81A2-C59791E1CF3F}"/>
              </a:ext>
            </a:extLst>
          </p:cNvPr>
          <p:cNvPicPr>
            <a:picLocks noChangeAspect="1"/>
          </p:cNvPicPr>
          <p:nvPr/>
        </p:nvPicPr>
        <p:blipFill>
          <a:blip r:embed="rId2"/>
          <a:stretch>
            <a:fillRect/>
          </a:stretch>
        </p:blipFill>
        <p:spPr>
          <a:xfrm>
            <a:off x="1419225" y="1814512"/>
            <a:ext cx="9353550" cy="3228975"/>
          </a:xfrm>
          <a:prstGeom prst="rect">
            <a:avLst/>
          </a:prstGeom>
        </p:spPr>
      </p:pic>
    </p:spTree>
    <p:extLst>
      <p:ext uri="{BB962C8B-B14F-4D97-AF65-F5344CB8AC3E}">
        <p14:creationId xmlns:p14="http://schemas.microsoft.com/office/powerpoint/2010/main" val="3765030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8A2D76-6017-4BA0-BD9B-7BE83281695E}"/>
              </a:ext>
            </a:extLst>
          </p:cNvPr>
          <p:cNvSpPr>
            <a:spLocks noGrp="1"/>
          </p:cNvSpPr>
          <p:nvPr>
            <p:ph type="title"/>
          </p:nvPr>
        </p:nvSpPr>
        <p:spPr/>
        <p:txBody>
          <a:bodyPr/>
          <a:lstStyle/>
          <a:p>
            <a:r>
              <a:rPr lang="fr-CA" dirty="0"/>
              <a:t>Saputo – rapport annuel 2019</a:t>
            </a:r>
            <a:endParaRPr lang="fr-FR" dirty="0"/>
          </a:p>
        </p:txBody>
      </p:sp>
      <p:sp>
        <p:nvSpPr>
          <p:cNvPr id="3" name="Espace réservé du contenu 2">
            <a:extLst>
              <a:ext uri="{FF2B5EF4-FFF2-40B4-BE49-F238E27FC236}">
                <a16:creationId xmlns:a16="http://schemas.microsoft.com/office/drawing/2014/main" id="{0AF9B809-33A2-41D8-84F1-504187F10A6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28259AEF-EEDA-42B7-AEE1-4C939810F3D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A8A683C9-5566-48A2-B8F5-F04C00003481}"/>
              </a:ext>
            </a:extLst>
          </p:cNvPr>
          <p:cNvSpPr>
            <a:spLocks noGrp="1"/>
          </p:cNvSpPr>
          <p:nvPr>
            <p:ph type="sldNum" sz="quarter" idx="12"/>
          </p:nvPr>
        </p:nvSpPr>
        <p:spPr/>
        <p:txBody>
          <a:bodyPr/>
          <a:lstStyle/>
          <a:p>
            <a:fld id="{9820BAFF-92A6-45A5-B1F5-B233E0C14C43}" type="slidenum">
              <a:rPr lang="fr-FR" smtClean="0"/>
              <a:t>29</a:t>
            </a:fld>
            <a:endParaRPr lang="fr-FR"/>
          </a:p>
        </p:txBody>
      </p:sp>
      <p:pic>
        <p:nvPicPr>
          <p:cNvPr id="7" name="Image 6">
            <a:extLst>
              <a:ext uri="{FF2B5EF4-FFF2-40B4-BE49-F238E27FC236}">
                <a16:creationId xmlns:a16="http://schemas.microsoft.com/office/drawing/2014/main" id="{D08E2DA2-4C8F-417D-A0EC-FC05333758C0}"/>
              </a:ext>
            </a:extLst>
          </p:cNvPr>
          <p:cNvPicPr>
            <a:picLocks noChangeAspect="1"/>
          </p:cNvPicPr>
          <p:nvPr/>
        </p:nvPicPr>
        <p:blipFill>
          <a:blip r:embed="rId2"/>
          <a:stretch>
            <a:fillRect/>
          </a:stretch>
        </p:blipFill>
        <p:spPr>
          <a:xfrm>
            <a:off x="1274152" y="1646238"/>
            <a:ext cx="9315450" cy="4476750"/>
          </a:xfrm>
          <a:prstGeom prst="rect">
            <a:avLst/>
          </a:prstGeom>
        </p:spPr>
      </p:pic>
    </p:spTree>
    <p:extLst>
      <p:ext uri="{BB962C8B-B14F-4D97-AF65-F5344CB8AC3E}">
        <p14:creationId xmlns:p14="http://schemas.microsoft.com/office/powerpoint/2010/main" val="3216970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8A2D76-6017-4BA0-BD9B-7BE83281695E}"/>
              </a:ext>
            </a:extLst>
          </p:cNvPr>
          <p:cNvSpPr>
            <a:spLocks noGrp="1"/>
          </p:cNvSpPr>
          <p:nvPr>
            <p:ph type="title"/>
          </p:nvPr>
        </p:nvSpPr>
        <p:spPr/>
        <p:txBody>
          <a:bodyPr/>
          <a:lstStyle/>
          <a:p>
            <a:r>
              <a:rPr lang="fr-CA" dirty="0"/>
              <a:t>Saputo – rapport annuel 2019</a:t>
            </a:r>
            <a:endParaRPr lang="fr-FR" dirty="0"/>
          </a:p>
        </p:txBody>
      </p:sp>
      <p:sp>
        <p:nvSpPr>
          <p:cNvPr id="3" name="Espace réservé du contenu 2">
            <a:extLst>
              <a:ext uri="{FF2B5EF4-FFF2-40B4-BE49-F238E27FC236}">
                <a16:creationId xmlns:a16="http://schemas.microsoft.com/office/drawing/2014/main" id="{0AF9B809-33A2-41D8-84F1-504187F10A6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28259AEF-EEDA-42B7-AEE1-4C939810F3D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A8A683C9-5566-48A2-B8F5-F04C00003481}"/>
              </a:ext>
            </a:extLst>
          </p:cNvPr>
          <p:cNvSpPr>
            <a:spLocks noGrp="1"/>
          </p:cNvSpPr>
          <p:nvPr>
            <p:ph type="sldNum" sz="quarter" idx="12"/>
          </p:nvPr>
        </p:nvSpPr>
        <p:spPr/>
        <p:txBody>
          <a:bodyPr/>
          <a:lstStyle/>
          <a:p>
            <a:fld id="{9820BAFF-92A6-45A5-B1F5-B233E0C14C43}" type="slidenum">
              <a:rPr lang="fr-FR" smtClean="0"/>
              <a:t>30</a:t>
            </a:fld>
            <a:endParaRPr lang="fr-FR"/>
          </a:p>
        </p:txBody>
      </p:sp>
      <p:pic>
        <p:nvPicPr>
          <p:cNvPr id="6" name="Image 5">
            <a:extLst>
              <a:ext uri="{FF2B5EF4-FFF2-40B4-BE49-F238E27FC236}">
                <a16:creationId xmlns:a16="http://schemas.microsoft.com/office/drawing/2014/main" id="{EDB44269-0457-441F-BA23-6BB5ED64B7E6}"/>
              </a:ext>
            </a:extLst>
          </p:cNvPr>
          <p:cNvPicPr>
            <a:picLocks noChangeAspect="1"/>
          </p:cNvPicPr>
          <p:nvPr/>
        </p:nvPicPr>
        <p:blipFill>
          <a:blip r:embed="rId2"/>
          <a:stretch>
            <a:fillRect/>
          </a:stretch>
        </p:blipFill>
        <p:spPr>
          <a:xfrm>
            <a:off x="1371600" y="1725856"/>
            <a:ext cx="9296400" cy="2181225"/>
          </a:xfrm>
          <a:prstGeom prst="rect">
            <a:avLst/>
          </a:prstGeom>
        </p:spPr>
      </p:pic>
      <p:pic>
        <p:nvPicPr>
          <p:cNvPr id="8" name="Image 7">
            <a:extLst>
              <a:ext uri="{FF2B5EF4-FFF2-40B4-BE49-F238E27FC236}">
                <a16:creationId xmlns:a16="http://schemas.microsoft.com/office/drawing/2014/main" id="{D9EDCF62-DE51-4DA5-8EEA-606D168E2A9F}"/>
              </a:ext>
            </a:extLst>
          </p:cNvPr>
          <p:cNvPicPr>
            <a:picLocks noChangeAspect="1"/>
          </p:cNvPicPr>
          <p:nvPr/>
        </p:nvPicPr>
        <p:blipFill>
          <a:blip r:embed="rId3"/>
          <a:stretch>
            <a:fillRect/>
          </a:stretch>
        </p:blipFill>
        <p:spPr>
          <a:xfrm>
            <a:off x="1495425" y="4086468"/>
            <a:ext cx="9048750" cy="1724025"/>
          </a:xfrm>
          <a:prstGeom prst="rect">
            <a:avLst/>
          </a:prstGeom>
        </p:spPr>
      </p:pic>
    </p:spTree>
    <p:extLst>
      <p:ext uri="{BB962C8B-B14F-4D97-AF65-F5344CB8AC3E}">
        <p14:creationId xmlns:p14="http://schemas.microsoft.com/office/powerpoint/2010/main" val="33396130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8A2D76-6017-4BA0-BD9B-7BE83281695E}"/>
              </a:ext>
            </a:extLst>
          </p:cNvPr>
          <p:cNvSpPr>
            <a:spLocks noGrp="1"/>
          </p:cNvSpPr>
          <p:nvPr>
            <p:ph type="title"/>
          </p:nvPr>
        </p:nvSpPr>
        <p:spPr/>
        <p:txBody>
          <a:bodyPr/>
          <a:lstStyle/>
          <a:p>
            <a:r>
              <a:rPr lang="fr-CA" dirty="0"/>
              <a:t>Saputo – rapport annuel 2019</a:t>
            </a:r>
            <a:endParaRPr lang="fr-FR" dirty="0"/>
          </a:p>
        </p:txBody>
      </p:sp>
      <p:sp>
        <p:nvSpPr>
          <p:cNvPr id="3" name="Espace réservé du contenu 2">
            <a:extLst>
              <a:ext uri="{FF2B5EF4-FFF2-40B4-BE49-F238E27FC236}">
                <a16:creationId xmlns:a16="http://schemas.microsoft.com/office/drawing/2014/main" id="{0AF9B809-33A2-41D8-84F1-504187F10A6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28259AEF-EEDA-42B7-AEE1-4C939810F3D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A8A683C9-5566-48A2-B8F5-F04C00003481}"/>
              </a:ext>
            </a:extLst>
          </p:cNvPr>
          <p:cNvSpPr>
            <a:spLocks noGrp="1"/>
          </p:cNvSpPr>
          <p:nvPr>
            <p:ph type="sldNum" sz="quarter" idx="12"/>
          </p:nvPr>
        </p:nvSpPr>
        <p:spPr/>
        <p:txBody>
          <a:bodyPr/>
          <a:lstStyle/>
          <a:p>
            <a:fld id="{9820BAFF-92A6-45A5-B1F5-B233E0C14C43}" type="slidenum">
              <a:rPr lang="fr-FR" smtClean="0"/>
              <a:t>31</a:t>
            </a:fld>
            <a:endParaRPr lang="fr-FR"/>
          </a:p>
        </p:txBody>
      </p:sp>
      <p:pic>
        <p:nvPicPr>
          <p:cNvPr id="7" name="Image 6">
            <a:extLst>
              <a:ext uri="{FF2B5EF4-FFF2-40B4-BE49-F238E27FC236}">
                <a16:creationId xmlns:a16="http://schemas.microsoft.com/office/drawing/2014/main" id="{EC0D229C-8AEB-4593-A435-1580F8B2B066}"/>
              </a:ext>
            </a:extLst>
          </p:cNvPr>
          <p:cNvPicPr>
            <a:picLocks noChangeAspect="1"/>
          </p:cNvPicPr>
          <p:nvPr/>
        </p:nvPicPr>
        <p:blipFill>
          <a:blip r:embed="rId2"/>
          <a:stretch>
            <a:fillRect/>
          </a:stretch>
        </p:blipFill>
        <p:spPr>
          <a:xfrm>
            <a:off x="1543050" y="2038350"/>
            <a:ext cx="9105900" cy="2781300"/>
          </a:xfrm>
          <a:prstGeom prst="rect">
            <a:avLst/>
          </a:prstGeom>
        </p:spPr>
      </p:pic>
    </p:spTree>
    <p:extLst>
      <p:ext uri="{BB962C8B-B14F-4D97-AF65-F5344CB8AC3E}">
        <p14:creationId xmlns:p14="http://schemas.microsoft.com/office/powerpoint/2010/main" val="1822784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8A2D76-6017-4BA0-BD9B-7BE83281695E}"/>
              </a:ext>
            </a:extLst>
          </p:cNvPr>
          <p:cNvSpPr>
            <a:spLocks noGrp="1"/>
          </p:cNvSpPr>
          <p:nvPr>
            <p:ph type="title"/>
          </p:nvPr>
        </p:nvSpPr>
        <p:spPr/>
        <p:txBody>
          <a:bodyPr/>
          <a:lstStyle/>
          <a:p>
            <a:r>
              <a:rPr lang="fr-CA" dirty="0"/>
              <a:t>Saputo – rapport annuel 2019</a:t>
            </a:r>
            <a:endParaRPr lang="fr-FR" dirty="0"/>
          </a:p>
        </p:txBody>
      </p:sp>
      <p:sp>
        <p:nvSpPr>
          <p:cNvPr id="3" name="Espace réservé du contenu 2">
            <a:extLst>
              <a:ext uri="{FF2B5EF4-FFF2-40B4-BE49-F238E27FC236}">
                <a16:creationId xmlns:a16="http://schemas.microsoft.com/office/drawing/2014/main" id="{0AF9B809-33A2-41D8-84F1-504187F10A6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28259AEF-EEDA-42B7-AEE1-4C939810F3D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A8A683C9-5566-48A2-B8F5-F04C00003481}"/>
              </a:ext>
            </a:extLst>
          </p:cNvPr>
          <p:cNvSpPr>
            <a:spLocks noGrp="1"/>
          </p:cNvSpPr>
          <p:nvPr>
            <p:ph type="sldNum" sz="quarter" idx="12"/>
          </p:nvPr>
        </p:nvSpPr>
        <p:spPr/>
        <p:txBody>
          <a:bodyPr/>
          <a:lstStyle/>
          <a:p>
            <a:fld id="{9820BAFF-92A6-45A5-B1F5-B233E0C14C43}" type="slidenum">
              <a:rPr lang="fr-FR" smtClean="0"/>
              <a:t>32</a:t>
            </a:fld>
            <a:endParaRPr lang="fr-FR"/>
          </a:p>
        </p:txBody>
      </p:sp>
      <p:pic>
        <p:nvPicPr>
          <p:cNvPr id="6" name="Image 5">
            <a:extLst>
              <a:ext uri="{FF2B5EF4-FFF2-40B4-BE49-F238E27FC236}">
                <a16:creationId xmlns:a16="http://schemas.microsoft.com/office/drawing/2014/main" id="{8F2C1458-F3A1-46E7-9A74-5DD6716F8162}"/>
              </a:ext>
            </a:extLst>
          </p:cNvPr>
          <p:cNvPicPr>
            <a:picLocks noChangeAspect="1"/>
          </p:cNvPicPr>
          <p:nvPr/>
        </p:nvPicPr>
        <p:blipFill>
          <a:blip r:embed="rId2"/>
          <a:stretch>
            <a:fillRect/>
          </a:stretch>
        </p:blipFill>
        <p:spPr>
          <a:xfrm>
            <a:off x="1533525" y="142875"/>
            <a:ext cx="9124950" cy="6572250"/>
          </a:xfrm>
          <a:prstGeom prst="rect">
            <a:avLst/>
          </a:prstGeom>
        </p:spPr>
      </p:pic>
    </p:spTree>
    <p:extLst>
      <p:ext uri="{BB962C8B-B14F-4D97-AF65-F5344CB8AC3E}">
        <p14:creationId xmlns:p14="http://schemas.microsoft.com/office/powerpoint/2010/main" val="349783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0021FF-48C5-4155-92D4-E566D1DFDEC9}"/>
              </a:ext>
            </a:extLst>
          </p:cNvPr>
          <p:cNvSpPr>
            <a:spLocks noGrp="1"/>
          </p:cNvSpPr>
          <p:nvPr>
            <p:ph type="title"/>
          </p:nvPr>
        </p:nvSpPr>
        <p:spPr/>
        <p:txBody>
          <a:bodyPr/>
          <a:lstStyle/>
          <a:p>
            <a:r>
              <a:rPr lang="fr-CA" b="1" dirty="0"/>
              <a:t>Impôts exigibles</a:t>
            </a:r>
            <a:endParaRPr lang="fr-FR" b="1" dirty="0"/>
          </a:p>
        </p:txBody>
      </p:sp>
      <p:sp>
        <p:nvSpPr>
          <p:cNvPr id="3" name="Espace réservé du contenu 2">
            <a:extLst>
              <a:ext uri="{FF2B5EF4-FFF2-40B4-BE49-F238E27FC236}">
                <a16:creationId xmlns:a16="http://schemas.microsoft.com/office/drawing/2014/main" id="{06CDE3A5-6C09-40D6-A855-4B4F631FA7B4}"/>
              </a:ext>
            </a:extLst>
          </p:cNvPr>
          <p:cNvSpPr>
            <a:spLocks noGrp="1"/>
          </p:cNvSpPr>
          <p:nvPr>
            <p:ph idx="1"/>
          </p:nvPr>
        </p:nvSpPr>
        <p:spPr/>
        <p:txBody>
          <a:bodyPr/>
          <a:lstStyle/>
          <a:p>
            <a:endParaRPr lang="fr-FR"/>
          </a:p>
        </p:txBody>
      </p:sp>
      <p:sp>
        <p:nvSpPr>
          <p:cNvPr id="4" name="Espace réservé du pied de page 3">
            <a:extLst>
              <a:ext uri="{FF2B5EF4-FFF2-40B4-BE49-F238E27FC236}">
                <a16:creationId xmlns:a16="http://schemas.microsoft.com/office/drawing/2014/main" id="{A6F65AB3-51C4-4347-94FD-647963E0704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F05B481-1921-47CD-8DCB-2F71D1B08E33}"/>
              </a:ext>
            </a:extLst>
          </p:cNvPr>
          <p:cNvSpPr>
            <a:spLocks noGrp="1"/>
          </p:cNvSpPr>
          <p:nvPr>
            <p:ph type="sldNum" sz="quarter" idx="12"/>
          </p:nvPr>
        </p:nvSpPr>
        <p:spPr/>
        <p:txBody>
          <a:bodyPr/>
          <a:lstStyle/>
          <a:p>
            <a:fld id="{9820BAFF-92A6-45A5-B1F5-B233E0C14C43}" type="slidenum">
              <a:rPr lang="fr-FR" smtClean="0"/>
              <a:t>33</a:t>
            </a:fld>
            <a:endParaRPr lang="fr-FR"/>
          </a:p>
        </p:txBody>
      </p:sp>
    </p:spTree>
    <p:extLst>
      <p:ext uri="{BB962C8B-B14F-4D97-AF65-F5344CB8AC3E}">
        <p14:creationId xmlns:p14="http://schemas.microsoft.com/office/powerpoint/2010/main" val="3298713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1B4999-E709-4112-B0BC-B7ED3A768AC5}"/>
              </a:ext>
            </a:extLst>
          </p:cNvPr>
          <p:cNvSpPr>
            <a:spLocks noGrp="1"/>
          </p:cNvSpPr>
          <p:nvPr>
            <p:ph type="title"/>
          </p:nvPr>
        </p:nvSpPr>
        <p:spPr/>
        <p:txBody>
          <a:bodyPr/>
          <a:lstStyle/>
          <a:p>
            <a:r>
              <a:rPr lang="fr-CA" dirty="0"/>
              <a:t>Calcul de l’impôt exigible</a:t>
            </a:r>
            <a:endParaRPr lang="fr-FR" dirty="0"/>
          </a:p>
        </p:txBody>
      </p:sp>
      <p:sp>
        <p:nvSpPr>
          <p:cNvPr id="3" name="Espace réservé du contenu 2">
            <a:extLst>
              <a:ext uri="{FF2B5EF4-FFF2-40B4-BE49-F238E27FC236}">
                <a16:creationId xmlns:a16="http://schemas.microsoft.com/office/drawing/2014/main" id="{225CB1FC-FB86-4046-AA62-9D6966A5C891}"/>
              </a:ext>
            </a:extLst>
          </p:cNvPr>
          <p:cNvSpPr>
            <a:spLocks noGrp="1"/>
          </p:cNvSpPr>
          <p:nvPr>
            <p:ph idx="1"/>
          </p:nvPr>
        </p:nvSpPr>
        <p:spPr/>
        <p:txBody>
          <a:bodyPr/>
          <a:lstStyle/>
          <a:p>
            <a:pPr marL="0" indent="0">
              <a:buNone/>
            </a:pPr>
            <a:r>
              <a:rPr lang="fr-CA" dirty="0"/>
              <a:t>Bénéfice « comptable » avant impôts</a:t>
            </a:r>
          </a:p>
          <a:p>
            <a:pPr marL="0" indent="0">
              <a:buNone/>
            </a:pPr>
            <a:r>
              <a:rPr lang="fr-CA" dirty="0"/>
              <a:t>+/-  écarts permanents</a:t>
            </a:r>
          </a:p>
          <a:p>
            <a:pPr marL="0" indent="0">
              <a:buNone/>
            </a:pPr>
            <a:r>
              <a:rPr lang="fr-CA" dirty="0"/>
              <a:t>+/-  écarts temporaires</a:t>
            </a:r>
          </a:p>
          <a:p>
            <a:pPr marL="0" indent="0">
              <a:buNone/>
            </a:pPr>
            <a:r>
              <a:rPr lang="fr-CA" dirty="0"/>
              <a:t>=  Bénéfice imposable</a:t>
            </a:r>
          </a:p>
          <a:p>
            <a:pPr marL="0" indent="0">
              <a:buNone/>
            </a:pPr>
            <a:r>
              <a:rPr lang="fr-CA" dirty="0"/>
              <a:t>*  Taux d’impôts pour la période</a:t>
            </a:r>
          </a:p>
          <a:p>
            <a:pPr marL="0" indent="0">
              <a:buNone/>
            </a:pPr>
            <a:r>
              <a:rPr lang="fr-CA" dirty="0"/>
              <a:t>=  Impôt exigible de la période</a:t>
            </a:r>
            <a:endParaRPr lang="fr-FR" dirty="0"/>
          </a:p>
        </p:txBody>
      </p:sp>
      <p:sp>
        <p:nvSpPr>
          <p:cNvPr id="4" name="Espace réservé du pied de page 3">
            <a:extLst>
              <a:ext uri="{FF2B5EF4-FFF2-40B4-BE49-F238E27FC236}">
                <a16:creationId xmlns:a16="http://schemas.microsoft.com/office/drawing/2014/main" id="{190B01BE-81F1-4D52-8A3C-931F390F302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3B509B0-0E1D-4E56-BFAF-78FF6C4943A5}"/>
              </a:ext>
            </a:extLst>
          </p:cNvPr>
          <p:cNvSpPr>
            <a:spLocks noGrp="1"/>
          </p:cNvSpPr>
          <p:nvPr>
            <p:ph type="sldNum" sz="quarter" idx="12"/>
          </p:nvPr>
        </p:nvSpPr>
        <p:spPr/>
        <p:txBody>
          <a:bodyPr/>
          <a:lstStyle/>
          <a:p>
            <a:fld id="{9820BAFF-92A6-45A5-B1F5-B233E0C14C43}" type="slidenum">
              <a:rPr lang="fr-FR" smtClean="0"/>
              <a:t>34</a:t>
            </a:fld>
            <a:endParaRPr lang="fr-FR"/>
          </a:p>
        </p:txBody>
      </p:sp>
    </p:spTree>
    <p:extLst>
      <p:ext uri="{BB962C8B-B14F-4D97-AF65-F5344CB8AC3E}">
        <p14:creationId xmlns:p14="http://schemas.microsoft.com/office/powerpoint/2010/main" val="2201444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156491-E23A-48FB-BD1F-8392804F117F}"/>
              </a:ext>
            </a:extLst>
          </p:cNvPr>
          <p:cNvSpPr>
            <a:spLocks noGrp="1"/>
          </p:cNvSpPr>
          <p:nvPr>
            <p:ph type="title"/>
          </p:nvPr>
        </p:nvSpPr>
        <p:spPr/>
        <p:txBody>
          <a:bodyPr/>
          <a:lstStyle/>
          <a:p>
            <a:r>
              <a:rPr lang="fr-CA" dirty="0"/>
              <a:t>Écarts permanents</a:t>
            </a:r>
            <a:endParaRPr lang="fr-FR" dirty="0"/>
          </a:p>
        </p:txBody>
      </p:sp>
      <p:sp>
        <p:nvSpPr>
          <p:cNvPr id="3" name="Espace réservé du contenu 2">
            <a:extLst>
              <a:ext uri="{FF2B5EF4-FFF2-40B4-BE49-F238E27FC236}">
                <a16:creationId xmlns:a16="http://schemas.microsoft.com/office/drawing/2014/main" id="{D7129816-6882-4659-B747-B8DA6EDCADAE}"/>
              </a:ext>
            </a:extLst>
          </p:cNvPr>
          <p:cNvSpPr>
            <a:spLocks noGrp="1"/>
          </p:cNvSpPr>
          <p:nvPr>
            <p:ph idx="1"/>
          </p:nvPr>
        </p:nvSpPr>
        <p:spPr/>
        <p:txBody>
          <a:bodyPr>
            <a:normAutofit fontScale="92500" lnSpcReduction="10000"/>
          </a:bodyPr>
          <a:lstStyle/>
          <a:p>
            <a:r>
              <a:rPr lang="fr-CA" dirty="0"/>
              <a:t>Charges (produits) « comptables » qui ne sont jamais déductibles (imposables) du point de vue fiscal.</a:t>
            </a:r>
          </a:p>
          <a:p>
            <a:pPr lvl="1"/>
            <a:r>
              <a:rPr lang="fr-CA" dirty="0"/>
              <a:t>Intérêts et pénalités reliés aux impôts payables ; amendes</a:t>
            </a:r>
          </a:p>
          <a:p>
            <a:pPr lvl="1"/>
            <a:r>
              <a:rPr lang="fr-CA" dirty="0"/>
              <a:t>Dépenses considérées non liées pour gagner le revenu d’entreprise : </a:t>
            </a:r>
          </a:p>
          <a:p>
            <a:pPr lvl="2"/>
            <a:r>
              <a:rPr lang="fr-CA" dirty="0"/>
              <a:t>50 % des frais de représentation (sauf max 6 événements par année offerts à tous les employés) ; cotisations à des clubs sportifs</a:t>
            </a:r>
          </a:p>
          <a:p>
            <a:pPr lvl="2"/>
            <a:r>
              <a:rPr lang="fr-CA" dirty="0"/>
              <a:t>Primes d’assurance-vie non exigée par les prêteurs</a:t>
            </a:r>
          </a:p>
          <a:p>
            <a:pPr lvl="1"/>
            <a:r>
              <a:rPr lang="fr-CA" dirty="0"/>
              <a:t>Dividendes reçus de sociétés canadiennes imposables</a:t>
            </a:r>
          </a:p>
          <a:p>
            <a:r>
              <a:rPr lang="fr-CA" dirty="0"/>
              <a:t>Éléments déductibles (fiscal) mais pas une charge (comptable)</a:t>
            </a:r>
          </a:p>
          <a:p>
            <a:pPr lvl="1"/>
            <a:r>
              <a:rPr lang="fr-CA" dirty="0"/>
              <a:t>Secteur minier – facteur 130 % pour certaines dépenses – </a:t>
            </a:r>
            <a:r>
              <a:rPr lang="fr-CA" i="1" dirty="0"/>
              <a:t>l’excédent de 100 %</a:t>
            </a:r>
          </a:p>
          <a:p>
            <a:r>
              <a:rPr lang="fr-CA" dirty="0"/>
              <a:t>Portion non imposable (non déductible) des gains (pertes) en capital</a:t>
            </a:r>
          </a:p>
          <a:p>
            <a:pPr lvl="1"/>
            <a:r>
              <a:rPr lang="fr-CA" dirty="0"/>
              <a:t>50 % gains / pertes en capital</a:t>
            </a:r>
          </a:p>
          <a:p>
            <a:pPr marL="0" indent="0">
              <a:buNone/>
            </a:pPr>
            <a:endParaRPr lang="fr-CA" dirty="0"/>
          </a:p>
        </p:txBody>
      </p:sp>
      <p:sp>
        <p:nvSpPr>
          <p:cNvPr id="4" name="Espace réservé du pied de page 3">
            <a:extLst>
              <a:ext uri="{FF2B5EF4-FFF2-40B4-BE49-F238E27FC236}">
                <a16:creationId xmlns:a16="http://schemas.microsoft.com/office/drawing/2014/main" id="{9609069F-3A5D-446E-B854-23565E636F4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8B1B46F-88CF-40CE-BAAA-D23F119FCCC8}"/>
              </a:ext>
            </a:extLst>
          </p:cNvPr>
          <p:cNvSpPr>
            <a:spLocks noGrp="1"/>
          </p:cNvSpPr>
          <p:nvPr>
            <p:ph type="sldNum" sz="quarter" idx="12"/>
          </p:nvPr>
        </p:nvSpPr>
        <p:spPr/>
        <p:txBody>
          <a:bodyPr/>
          <a:lstStyle/>
          <a:p>
            <a:fld id="{9820BAFF-92A6-45A5-B1F5-B233E0C14C43}" type="slidenum">
              <a:rPr lang="fr-FR" smtClean="0"/>
              <a:t>35</a:t>
            </a:fld>
            <a:endParaRPr lang="fr-FR"/>
          </a:p>
        </p:txBody>
      </p:sp>
    </p:spTree>
    <p:extLst>
      <p:ext uri="{BB962C8B-B14F-4D97-AF65-F5344CB8AC3E}">
        <p14:creationId xmlns:p14="http://schemas.microsoft.com/office/powerpoint/2010/main" val="7250759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947E5C-71AD-43E5-84B2-80E8A4099EAB}"/>
              </a:ext>
            </a:extLst>
          </p:cNvPr>
          <p:cNvSpPr>
            <a:spLocks noGrp="1"/>
          </p:cNvSpPr>
          <p:nvPr>
            <p:ph type="title"/>
          </p:nvPr>
        </p:nvSpPr>
        <p:spPr/>
        <p:txBody>
          <a:bodyPr/>
          <a:lstStyle/>
          <a:p>
            <a:r>
              <a:rPr lang="fr-CA" dirty="0"/>
              <a:t>Écarts temporaires</a:t>
            </a:r>
            <a:endParaRPr lang="fr-FR" dirty="0"/>
          </a:p>
        </p:txBody>
      </p:sp>
      <p:sp>
        <p:nvSpPr>
          <p:cNvPr id="3" name="Espace réservé du contenu 2">
            <a:extLst>
              <a:ext uri="{FF2B5EF4-FFF2-40B4-BE49-F238E27FC236}">
                <a16:creationId xmlns:a16="http://schemas.microsoft.com/office/drawing/2014/main" id="{FAB6F622-21EA-4406-BABA-69D8600EDD30}"/>
              </a:ext>
            </a:extLst>
          </p:cNvPr>
          <p:cNvSpPr>
            <a:spLocks noGrp="1"/>
          </p:cNvSpPr>
          <p:nvPr>
            <p:ph idx="1"/>
          </p:nvPr>
        </p:nvSpPr>
        <p:spPr/>
        <p:txBody>
          <a:bodyPr>
            <a:normAutofit/>
          </a:bodyPr>
          <a:lstStyle/>
          <a:p>
            <a:r>
              <a:rPr lang="fr-CA" dirty="0"/>
              <a:t>Écarts entre charges (produits) « comptables » et dépenses déductibles (revenus imposables) qui se résorberont dans le futur (écart dans le temps – pas la même période). Un écart temporaire peut être soit déductible, soit imposable – et donnent lieu à la comptabilisation des impôts différés.</a:t>
            </a:r>
          </a:p>
          <a:p>
            <a:pPr lvl="1"/>
            <a:r>
              <a:rPr lang="fr-FR" dirty="0"/>
              <a:t>Amortissement « comptable » c. déduction pour amortissement (fiscal)</a:t>
            </a:r>
          </a:p>
          <a:p>
            <a:pPr lvl="1"/>
            <a:r>
              <a:rPr lang="fr-FR" dirty="0"/>
              <a:t>Frais liés à l’émission d’une dette (déductible sur 5 ans)</a:t>
            </a:r>
          </a:p>
          <a:p>
            <a:pPr lvl="1"/>
            <a:r>
              <a:rPr lang="fr-FR" dirty="0"/>
              <a:t>Provision pour garantie c. coût réel de la période</a:t>
            </a:r>
          </a:p>
          <a:p>
            <a:pPr lvl="1"/>
            <a:r>
              <a:rPr lang="fr-FR" dirty="0"/>
              <a:t>Frais de développement (déductibles dans la période)</a:t>
            </a:r>
          </a:p>
        </p:txBody>
      </p:sp>
      <p:sp>
        <p:nvSpPr>
          <p:cNvPr id="4" name="Espace réservé du pied de page 3">
            <a:extLst>
              <a:ext uri="{FF2B5EF4-FFF2-40B4-BE49-F238E27FC236}">
                <a16:creationId xmlns:a16="http://schemas.microsoft.com/office/drawing/2014/main" id="{61B90A41-0A61-4B77-8574-F5A589659232}"/>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419D611E-AC96-423A-BE0D-23982A0BB7B7}"/>
              </a:ext>
            </a:extLst>
          </p:cNvPr>
          <p:cNvSpPr>
            <a:spLocks noGrp="1"/>
          </p:cNvSpPr>
          <p:nvPr>
            <p:ph type="sldNum" sz="quarter" idx="12"/>
          </p:nvPr>
        </p:nvSpPr>
        <p:spPr/>
        <p:txBody>
          <a:bodyPr/>
          <a:lstStyle/>
          <a:p>
            <a:fld id="{9820BAFF-92A6-45A5-B1F5-B233E0C14C43}" type="slidenum">
              <a:rPr lang="fr-FR" smtClean="0"/>
              <a:t>36</a:t>
            </a:fld>
            <a:endParaRPr lang="fr-FR"/>
          </a:p>
        </p:txBody>
      </p:sp>
    </p:spTree>
    <p:extLst>
      <p:ext uri="{BB962C8B-B14F-4D97-AF65-F5344CB8AC3E}">
        <p14:creationId xmlns:p14="http://schemas.microsoft.com/office/powerpoint/2010/main" val="955454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6439FF-A82E-4E46-8BA1-3E59A5206A20}"/>
              </a:ext>
            </a:extLst>
          </p:cNvPr>
          <p:cNvSpPr>
            <a:spLocks noGrp="1"/>
          </p:cNvSpPr>
          <p:nvPr>
            <p:ph type="title"/>
          </p:nvPr>
        </p:nvSpPr>
        <p:spPr/>
        <p:txBody>
          <a:bodyPr/>
          <a:lstStyle/>
          <a:p>
            <a:r>
              <a:rPr lang="fr-CA" dirty="0"/>
              <a:t>Calcul de l’impôt exigible</a:t>
            </a:r>
            <a:endParaRPr lang="fr-FR" dirty="0"/>
          </a:p>
        </p:txBody>
      </p:sp>
      <p:sp>
        <p:nvSpPr>
          <p:cNvPr id="3" name="Espace réservé du contenu 2">
            <a:extLst>
              <a:ext uri="{FF2B5EF4-FFF2-40B4-BE49-F238E27FC236}">
                <a16:creationId xmlns:a16="http://schemas.microsoft.com/office/drawing/2014/main" id="{33FE6BE7-C60E-4F48-A319-9946D1430285}"/>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E3F023E3-D364-4278-BE7D-CBD645879C13}"/>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40959D0-20E0-4595-95F4-751F68FEE05F}"/>
              </a:ext>
            </a:extLst>
          </p:cNvPr>
          <p:cNvSpPr>
            <a:spLocks noGrp="1"/>
          </p:cNvSpPr>
          <p:nvPr>
            <p:ph type="sldNum" sz="quarter" idx="12"/>
          </p:nvPr>
        </p:nvSpPr>
        <p:spPr/>
        <p:txBody>
          <a:bodyPr/>
          <a:lstStyle/>
          <a:p>
            <a:fld id="{9820BAFF-92A6-45A5-B1F5-B233E0C14C43}" type="slidenum">
              <a:rPr lang="fr-FR" smtClean="0"/>
              <a:t>37</a:t>
            </a:fld>
            <a:endParaRPr lang="fr-FR"/>
          </a:p>
        </p:txBody>
      </p:sp>
      <p:pic>
        <p:nvPicPr>
          <p:cNvPr id="6" name="Image 5">
            <a:extLst>
              <a:ext uri="{FF2B5EF4-FFF2-40B4-BE49-F238E27FC236}">
                <a16:creationId xmlns:a16="http://schemas.microsoft.com/office/drawing/2014/main" id="{8801AE46-E90D-4A21-A360-3F60CB3D6F21}"/>
              </a:ext>
            </a:extLst>
          </p:cNvPr>
          <p:cNvPicPr>
            <a:picLocks noChangeAspect="1"/>
          </p:cNvPicPr>
          <p:nvPr/>
        </p:nvPicPr>
        <p:blipFill>
          <a:blip r:embed="rId2"/>
          <a:stretch>
            <a:fillRect/>
          </a:stretch>
        </p:blipFill>
        <p:spPr>
          <a:xfrm>
            <a:off x="1735738" y="1415941"/>
            <a:ext cx="6056981" cy="4980408"/>
          </a:xfrm>
          <a:prstGeom prst="rect">
            <a:avLst/>
          </a:prstGeom>
        </p:spPr>
      </p:pic>
    </p:spTree>
    <p:extLst>
      <p:ext uri="{BB962C8B-B14F-4D97-AF65-F5344CB8AC3E}">
        <p14:creationId xmlns:p14="http://schemas.microsoft.com/office/powerpoint/2010/main" val="522908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FA456C-643D-414C-9754-893D0558AC23}"/>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5FD5397E-2E4E-4FDC-B06E-1672E505EBBA}"/>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CF0A0253-8331-48B7-9EDC-9CD25422C7D6}"/>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A146733-CE63-489C-AFED-D2DCB325069E}"/>
              </a:ext>
            </a:extLst>
          </p:cNvPr>
          <p:cNvSpPr>
            <a:spLocks noGrp="1"/>
          </p:cNvSpPr>
          <p:nvPr>
            <p:ph type="sldNum" sz="quarter" idx="12"/>
          </p:nvPr>
        </p:nvSpPr>
        <p:spPr/>
        <p:txBody>
          <a:bodyPr/>
          <a:lstStyle/>
          <a:p>
            <a:fld id="{9820BAFF-92A6-45A5-B1F5-B233E0C14C43}" type="slidenum">
              <a:rPr lang="fr-FR" smtClean="0"/>
              <a:t>38</a:t>
            </a:fld>
            <a:endParaRPr lang="fr-FR"/>
          </a:p>
        </p:txBody>
      </p:sp>
      <p:pic>
        <p:nvPicPr>
          <p:cNvPr id="7" name="Image 6">
            <a:extLst>
              <a:ext uri="{FF2B5EF4-FFF2-40B4-BE49-F238E27FC236}">
                <a16:creationId xmlns:a16="http://schemas.microsoft.com/office/drawing/2014/main" id="{4C58AB71-5A60-4FAB-B636-B954717D6137}"/>
              </a:ext>
            </a:extLst>
          </p:cNvPr>
          <p:cNvPicPr>
            <a:picLocks noChangeAspect="1"/>
          </p:cNvPicPr>
          <p:nvPr/>
        </p:nvPicPr>
        <p:blipFill>
          <a:blip r:embed="rId2"/>
          <a:stretch>
            <a:fillRect/>
          </a:stretch>
        </p:blipFill>
        <p:spPr>
          <a:xfrm>
            <a:off x="1280160" y="1002180"/>
            <a:ext cx="9976016" cy="5027160"/>
          </a:xfrm>
          <a:prstGeom prst="rect">
            <a:avLst/>
          </a:prstGeom>
        </p:spPr>
      </p:pic>
    </p:spTree>
    <p:extLst>
      <p:ext uri="{BB962C8B-B14F-4D97-AF65-F5344CB8AC3E}">
        <p14:creationId xmlns:p14="http://schemas.microsoft.com/office/powerpoint/2010/main" val="13479292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0F53DE-9593-42A0-A5A2-391D5C34E45E}"/>
              </a:ext>
            </a:extLst>
          </p:cNvPr>
          <p:cNvSpPr>
            <a:spLocks noGrp="1"/>
          </p:cNvSpPr>
          <p:nvPr>
            <p:ph type="title"/>
          </p:nvPr>
        </p:nvSpPr>
        <p:spPr/>
        <p:txBody>
          <a:bodyPr/>
          <a:lstStyle/>
          <a:p>
            <a:r>
              <a:rPr lang="fr-CA" dirty="0"/>
              <a:t>Rappel fiscal - disposition d’une immobilisation amortissable</a:t>
            </a:r>
            <a:endParaRPr lang="fr-FR" dirty="0"/>
          </a:p>
        </p:txBody>
      </p:sp>
      <p:sp>
        <p:nvSpPr>
          <p:cNvPr id="3" name="Espace réservé du contenu 2">
            <a:extLst>
              <a:ext uri="{FF2B5EF4-FFF2-40B4-BE49-F238E27FC236}">
                <a16:creationId xmlns:a16="http://schemas.microsoft.com/office/drawing/2014/main" id="{4AC8CD4A-CD73-4B26-A1F9-F493DDDCD73E}"/>
              </a:ext>
            </a:extLst>
          </p:cNvPr>
          <p:cNvSpPr>
            <a:spLocks noGrp="1"/>
          </p:cNvSpPr>
          <p:nvPr>
            <p:ph idx="1"/>
          </p:nvPr>
        </p:nvSpPr>
        <p:spPr/>
        <p:txBody>
          <a:bodyPr/>
          <a:lstStyle/>
          <a:p>
            <a:pPr marL="0" indent="0">
              <a:buNone/>
            </a:pPr>
            <a:r>
              <a:rPr lang="fr-CA" dirty="0"/>
              <a:t>Équipement – dernier bien dans la catégorie fiscale</a:t>
            </a:r>
          </a:p>
          <a:p>
            <a:pPr>
              <a:buFontTx/>
              <a:buChar char="-"/>
            </a:pPr>
            <a:r>
              <a:rPr lang="fr-CA" dirty="0"/>
              <a:t>Coût initial : 100 000 $</a:t>
            </a:r>
          </a:p>
          <a:p>
            <a:pPr>
              <a:buFontTx/>
              <a:buChar char="-"/>
            </a:pPr>
            <a:r>
              <a:rPr lang="fr-CA" dirty="0"/>
              <a:t>Solde FNACC début période : 46 080 $</a:t>
            </a:r>
          </a:p>
          <a:p>
            <a:pPr>
              <a:buFontTx/>
              <a:buChar char="-"/>
            </a:pPr>
            <a:r>
              <a:rPr lang="fr-CA" dirty="0"/>
              <a:t>Valeur nette comptable : 55 000 $</a:t>
            </a:r>
          </a:p>
          <a:p>
            <a:pPr>
              <a:buFontTx/>
              <a:buChar char="-"/>
            </a:pPr>
            <a:r>
              <a:rPr lang="fr-CA" dirty="0"/>
              <a:t>Produit de disposition 60 000 $</a:t>
            </a:r>
          </a:p>
          <a:p>
            <a:pPr>
              <a:buFontTx/>
              <a:buChar char="-"/>
            </a:pPr>
            <a:endParaRPr lang="fr-CA" dirty="0"/>
          </a:p>
          <a:p>
            <a:pPr>
              <a:buFontTx/>
              <a:buChar char="-"/>
            </a:pPr>
            <a:r>
              <a:rPr lang="fr-CA" dirty="0"/>
              <a:t>Taux d’impôt : 19 %</a:t>
            </a:r>
            <a:endParaRPr lang="fr-FR" dirty="0"/>
          </a:p>
        </p:txBody>
      </p:sp>
      <p:sp>
        <p:nvSpPr>
          <p:cNvPr id="4" name="Espace réservé du pied de page 3">
            <a:extLst>
              <a:ext uri="{FF2B5EF4-FFF2-40B4-BE49-F238E27FC236}">
                <a16:creationId xmlns:a16="http://schemas.microsoft.com/office/drawing/2014/main" id="{140A354E-D06C-46B3-AEED-6ABB5D631F8A}"/>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301D105-6040-40BD-9C1B-27E4A25E3419}"/>
              </a:ext>
            </a:extLst>
          </p:cNvPr>
          <p:cNvSpPr>
            <a:spLocks noGrp="1"/>
          </p:cNvSpPr>
          <p:nvPr>
            <p:ph type="sldNum" sz="quarter" idx="12"/>
          </p:nvPr>
        </p:nvSpPr>
        <p:spPr/>
        <p:txBody>
          <a:bodyPr/>
          <a:lstStyle/>
          <a:p>
            <a:fld id="{9820BAFF-92A6-45A5-B1F5-B233E0C14C43}" type="slidenum">
              <a:rPr lang="fr-FR" smtClean="0"/>
              <a:t>39</a:t>
            </a:fld>
            <a:endParaRPr lang="fr-FR"/>
          </a:p>
        </p:txBody>
      </p:sp>
    </p:spTree>
    <p:extLst>
      <p:ext uri="{BB962C8B-B14F-4D97-AF65-F5344CB8AC3E}">
        <p14:creationId xmlns:p14="http://schemas.microsoft.com/office/powerpoint/2010/main" val="13375584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C6E704-D55D-4028-8BAA-3EBA1DAED42B}"/>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9CF2E999-BF12-4C15-9FCF-852A37512DA3}"/>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9EA7A9FD-B7BD-45BE-87A0-E28F18DFE5C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E046C1F-6549-481C-B25C-CB572A096909}"/>
              </a:ext>
            </a:extLst>
          </p:cNvPr>
          <p:cNvSpPr>
            <a:spLocks noGrp="1"/>
          </p:cNvSpPr>
          <p:nvPr>
            <p:ph type="sldNum" sz="quarter" idx="12"/>
          </p:nvPr>
        </p:nvSpPr>
        <p:spPr/>
        <p:txBody>
          <a:bodyPr/>
          <a:lstStyle/>
          <a:p>
            <a:fld id="{9820BAFF-92A6-45A5-B1F5-B233E0C14C43}" type="slidenum">
              <a:rPr lang="fr-FR" smtClean="0"/>
              <a:t>40</a:t>
            </a:fld>
            <a:endParaRPr lang="fr-FR"/>
          </a:p>
        </p:txBody>
      </p:sp>
      <p:pic>
        <p:nvPicPr>
          <p:cNvPr id="6" name="Image 5">
            <a:extLst>
              <a:ext uri="{FF2B5EF4-FFF2-40B4-BE49-F238E27FC236}">
                <a16:creationId xmlns:a16="http://schemas.microsoft.com/office/drawing/2014/main" id="{AA2F27B4-230E-4301-9D28-194945797E90}"/>
              </a:ext>
            </a:extLst>
          </p:cNvPr>
          <p:cNvPicPr>
            <a:picLocks noChangeAspect="1"/>
          </p:cNvPicPr>
          <p:nvPr/>
        </p:nvPicPr>
        <p:blipFill>
          <a:blip r:embed="rId2"/>
          <a:stretch>
            <a:fillRect/>
          </a:stretch>
        </p:blipFill>
        <p:spPr>
          <a:xfrm>
            <a:off x="1696720" y="2091132"/>
            <a:ext cx="8379620" cy="2675736"/>
          </a:xfrm>
          <a:prstGeom prst="rect">
            <a:avLst/>
          </a:prstGeom>
        </p:spPr>
      </p:pic>
    </p:spTree>
    <p:extLst>
      <p:ext uri="{BB962C8B-B14F-4D97-AF65-F5344CB8AC3E}">
        <p14:creationId xmlns:p14="http://schemas.microsoft.com/office/powerpoint/2010/main" val="124320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0F53DE-9593-42A0-A5A2-391D5C34E45E}"/>
              </a:ext>
            </a:extLst>
          </p:cNvPr>
          <p:cNvSpPr>
            <a:spLocks noGrp="1"/>
          </p:cNvSpPr>
          <p:nvPr>
            <p:ph type="title"/>
          </p:nvPr>
        </p:nvSpPr>
        <p:spPr/>
        <p:txBody>
          <a:bodyPr/>
          <a:lstStyle/>
          <a:p>
            <a:r>
              <a:rPr lang="fr-CA" dirty="0"/>
              <a:t>Rappel fiscal - disposition d’une immobilisation amortissable</a:t>
            </a:r>
            <a:endParaRPr lang="fr-FR" dirty="0"/>
          </a:p>
        </p:txBody>
      </p:sp>
      <p:sp>
        <p:nvSpPr>
          <p:cNvPr id="3" name="Espace réservé du contenu 2">
            <a:extLst>
              <a:ext uri="{FF2B5EF4-FFF2-40B4-BE49-F238E27FC236}">
                <a16:creationId xmlns:a16="http://schemas.microsoft.com/office/drawing/2014/main" id="{4AC8CD4A-CD73-4B26-A1F9-F493DDDCD73E}"/>
              </a:ext>
            </a:extLst>
          </p:cNvPr>
          <p:cNvSpPr>
            <a:spLocks noGrp="1"/>
          </p:cNvSpPr>
          <p:nvPr>
            <p:ph idx="1"/>
          </p:nvPr>
        </p:nvSpPr>
        <p:spPr/>
        <p:txBody>
          <a:bodyPr/>
          <a:lstStyle/>
          <a:p>
            <a:pPr marL="0" indent="0">
              <a:buNone/>
            </a:pPr>
            <a:r>
              <a:rPr lang="fr-CA" dirty="0"/>
              <a:t>Immeuble – dernier bien dans la catégorie fiscale</a:t>
            </a:r>
          </a:p>
          <a:p>
            <a:pPr>
              <a:buFontTx/>
              <a:buChar char="-"/>
            </a:pPr>
            <a:r>
              <a:rPr lang="fr-CA" dirty="0"/>
              <a:t>Coût initial : 500 000 $</a:t>
            </a:r>
          </a:p>
          <a:p>
            <a:pPr>
              <a:buFontTx/>
              <a:buChar char="-"/>
            </a:pPr>
            <a:r>
              <a:rPr lang="fr-CA" dirty="0"/>
              <a:t>Solde FNACC début période : 416 180 $</a:t>
            </a:r>
          </a:p>
          <a:p>
            <a:pPr>
              <a:buFontTx/>
              <a:buChar char="-"/>
            </a:pPr>
            <a:r>
              <a:rPr lang="fr-CA" dirty="0"/>
              <a:t>Valeur nette comptable : 440 000 $</a:t>
            </a:r>
          </a:p>
          <a:p>
            <a:pPr>
              <a:buFontTx/>
              <a:buChar char="-"/>
            </a:pPr>
            <a:r>
              <a:rPr lang="fr-CA" dirty="0"/>
              <a:t>Produit de disposition 630 000 $</a:t>
            </a:r>
          </a:p>
          <a:p>
            <a:pPr>
              <a:buFontTx/>
              <a:buChar char="-"/>
            </a:pPr>
            <a:endParaRPr lang="fr-CA" dirty="0"/>
          </a:p>
          <a:p>
            <a:pPr>
              <a:buFontTx/>
              <a:buChar char="-"/>
            </a:pPr>
            <a:r>
              <a:rPr lang="fr-CA" dirty="0"/>
              <a:t>Taux d’impôt : 19 %</a:t>
            </a:r>
            <a:endParaRPr lang="fr-FR" dirty="0"/>
          </a:p>
        </p:txBody>
      </p:sp>
      <p:sp>
        <p:nvSpPr>
          <p:cNvPr id="4" name="Espace réservé du pied de page 3">
            <a:extLst>
              <a:ext uri="{FF2B5EF4-FFF2-40B4-BE49-F238E27FC236}">
                <a16:creationId xmlns:a16="http://schemas.microsoft.com/office/drawing/2014/main" id="{140A354E-D06C-46B3-AEED-6ABB5D631F8A}"/>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6301D105-6040-40BD-9C1B-27E4A25E3419}"/>
              </a:ext>
            </a:extLst>
          </p:cNvPr>
          <p:cNvSpPr>
            <a:spLocks noGrp="1"/>
          </p:cNvSpPr>
          <p:nvPr>
            <p:ph type="sldNum" sz="quarter" idx="12"/>
          </p:nvPr>
        </p:nvSpPr>
        <p:spPr/>
        <p:txBody>
          <a:bodyPr/>
          <a:lstStyle/>
          <a:p>
            <a:fld id="{9820BAFF-92A6-45A5-B1F5-B233E0C14C43}" type="slidenum">
              <a:rPr lang="fr-FR" smtClean="0"/>
              <a:t>41</a:t>
            </a:fld>
            <a:endParaRPr lang="fr-FR"/>
          </a:p>
        </p:txBody>
      </p:sp>
    </p:spTree>
    <p:extLst>
      <p:ext uri="{BB962C8B-B14F-4D97-AF65-F5344CB8AC3E}">
        <p14:creationId xmlns:p14="http://schemas.microsoft.com/office/powerpoint/2010/main" val="37264637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C6E704-D55D-4028-8BAA-3EBA1DAED42B}"/>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9CF2E999-BF12-4C15-9FCF-852A37512DA3}"/>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9EA7A9FD-B7BD-45BE-87A0-E28F18DFE5C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E046C1F-6549-481C-B25C-CB572A096909}"/>
              </a:ext>
            </a:extLst>
          </p:cNvPr>
          <p:cNvSpPr>
            <a:spLocks noGrp="1"/>
          </p:cNvSpPr>
          <p:nvPr>
            <p:ph type="sldNum" sz="quarter" idx="12"/>
          </p:nvPr>
        </p:nvSpPr>
        <p:spPr/>
        <p:txBody>
          <a:bodyPr/>
          <a:lstStyle/>
          <a:p>
            <a:fld id="{9820BAFF-92A6-45A5-B1F5-B233E0C14C43}" type="slidenum">
              <a:rPr lang="fr-FR" smtClean="0"/>
              <a:t>42</a:t>
            </a:fld>
            <a:endParaRPr lang="fr-FR"/>
          </a:p>
        </p:txBody>
      </p:sp>
      <p:pic>
        <p:nvPicPr>
          <p:cNvPr id="7" name="Image 6">
            <a:extLst>
              <a:ext uri="{FF2B5EF4-FFF2-40B4-BE49-F238E27FC236}">
                <a16:creationId xmlns:a16="http://schemas.microsoft.com/office/drawing/2014/main" id="{247FEAA8-0377-46FF-946A-CD13731433BE}"/>
              </a:ext>
            </a:extLst>
          </p:cNvPr>
          <p:cNvPicPr>
            <a:picLocks noChangeAspect="1"/>
          </p:cNvPicPr>
          <p:nvPr/>
        </p:nvPicPr>
        <p:blipFill>
          <a:blip r:embed="rId2"/>
          <a:stretch>
            <a:fillRect/>
          </a:stretch>
        </p:blipFill>
        <p:spPr>
          <a:xfrm>
            <a:off x="1136478" y="1646238"/>
            <a:ext cx="9495962" cy="3413442"/>
          </a:xfrm>
          <a:prstGeom prst="rect">
            <a:avLst/>
          </a:prstGeom>
        </p:spPr>
      </p:pic>
    </p:spTree>
    <p:extLst>
      <p:ext uri="{BB962C8B-B14F-4D97-AF65-F5344CB8AC3E}">
        <p14:creationId xmlns:p14="http://schemas.microsoft.com/office/powerpoint/2010/main" val="1416910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CA" sz="2800" dirty="0"/>
              <a:t>Valeur actualisée des économies d’impôts pour les actifs amortissables</a:t>
            </a:r>
            <a:endParaRPr lang="fr-CA" sz="2800" i="1" dirty="0"/>
          </a:p>
        </p:txBody>
      </p:sp>
      <p:sp>
        <p:nvSpPr>
          <p:cNvPr id="3" name="Espace réservé du contenu 2"/>
          <p:cNvSpPr>
            <a:spLocks noGrp="1"/>
          </p:cNvSpPr>
          <p:nvPr>
            <p:ph idx="1"/>
          </p:nvPr>
        </p:nvSpPr>
        <p:spPr>
          <a:xfrm>
            <a:off x="838200" y="1988821"/>
            <a:ext cx="10515600" cy="4137343"/>
          </a:xfrm>
        </p:spPr>
        <p:txBody>
          <a:bodyPr>
            <a:normAutofit lnSpcReduction="10000"/>
          </a:bodyPr>
          <a:lstStyle/>
          <a:p>
            <a:pPr marL="0" indent="0">
              <a:buNone/>
            </a:pPr>
            <a:r>
              <a:rPr lang="fr-CA" dirty="0"/>
              <a:t>Nouvelles mesures – énoncé économique de l’automne 2018 :</a:t>
            </a:r>
          </a:p>
          <a:p>
            <a:pPr marL="0" indent="0">
              <a:buNone/>
            </a:pPr>
            <a:endParaRPr lang="fr-CA" sz="1000" dirty="0"/>
          </a:p>
          <a:p>
            <a:pPr marL="0" indent="0">
              <a:buNone/>
            </a:pPr>
            <a:r>
              <a:rPr lang="fr-CA" sz="2400" b="1" dirty="0"/>
              <a:t>1.1) Biens acquis après le 21 novembre 2018 et mis en service avant 2024</a:t>
            </a:r>
            <a:endParaRPr lang="fr-CA" sz="2400" dirty="0"/>
          </a:p>
          <a:p>
            <a:pPr marL="0" lvl="0" indent="0">
              <a:buNone/>
            </a:pPr>
            <a:r>
              <a:rPr lang="fr-CA" sz="2400" dirty="0">
                <a:solidFill>
                  <a:srgbClr val="0070C0"/>
                </a:solidFill>
              </a:rPr>
              <a:t>La DPA est calculée en appliquant le taux de DPA prévu pour une catégorie à une fois et demie l’ajout net à la catégorie pour l’année </a:t>
            </a:r>
            <a:r>
              <a:rPr lang="fr-CA" sz="2400" i="1" dirty="0"/>
              <a:t>(et non demi-année)</a:t>
            </a:r>
          </a:p>
          <a:p>
            <a:pPr lvl="0"/>
            <a:endParaRPr lang="fr-CA" sz="1000" i="1" dirty="0"/>
          </a:p>
          <a:p>
            <a:pPr marL="0" indent="0">
              <a:buNone/>
            </a:pPr>
            <a:r>
              <a:rPr lang="fr-CA" sz="2400" dirty="0"/>
              <a:t>Exemple :</a:t>
            </a:r>
            <a:endParaRPr lang="fr-CA" dirty="0"/>
          </a:p>
          <a:p>
            <a:r>
              <a:rPr lang="fr-CA" sz="2400" dirty="0"/>
              <a:t>Bien de catégorie 8 (DPA de 20 %) au coût de 100 000 $ acquis et mis en service en 2020.</a:t>
            </a:r>
          </a:p>
          <a:p>
            <a:pPr lvl="1"/>
            <a:r>
              <a:rPr lang="fr-CA" sz="2000" dirty="0"/>
              <a:t>100 000 x (20 % x 1,5) = 30 000</a:t>
            </a:r>
          </a:p>
          <a:p>
            <a:pPr lvl="1"/>
            <a:r>
              <a:rPr lang="fr-CA" sz="2000" dirty="0"/>
              <a:t>Par la suite, calculé au taux normal de 20 %</a:t>
            </a:r>
          </a:p>
          <a:p>
            <a:pPr marL="0" lvl="0" indent="0">
              <a:buNone/>
            </a:pPr>
            <a:endParaRPr lang="fr-CA" sz="2400" dirty="0"/>
          </a:p>
          <a:p>
            <a:endParaRPr lang="fr-CA" dirty="0"/>
          </a:p>
        </p:txBody>
      </p:sp>
      <p:sp>
        <p:nvSpPr>
          <p:cNvPr id="4" name="Espace réservé du numéro de diapositive 3"/>
          <p:cNvSpPr>
            <a:spLocks noGrp="1"/>
          </p:cNvSpPr>
          <p:nvPr>
            <p:ph type="sldNum" sz="quarter" idx="12"/>
          </p:nvPr>
        </p:nvSpPr>
        <p:spPr/>
        <p:txBody>
          <a:bodyPr/>
          <a:lstStyle/>
          <a:p>
            <a:fld id="{61AF231E-7209-4544-B493-121B7693F72D}" type="slidenum">
              <a:rPr lang="fr-CA" smtClean="0"/>
              <a:t>43</a:t>
            </a:fld>
            <a:endParaRPr lang="fr-CA"/>
          </a:p>
        </p:txBody>
      </p:sp>
    </p:spTree>
    <p:extLst>
      <p:ext uri="{BB962C8B-B14F-4D97-AF65-F5344CB8AC3E}">
        <p14:creationId xmlns:p14="http://schemas.microsoft.com/office/powerpoint/2010/main" val="26208026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945931" y="274639"/>
            <a:ext cx="10531366" cy="957579"/>
          </a:xfrm>
        </p:spPr>
        <p:txBody>
          <a:bodyPr>
            <a:noAutofit/>
          </a:bodyPr>
          <a:lstStyle/>
          <a:p>
            <a:r>
              <a:rPr lang="fr-CA" sz="2800" dirty="0"/>
              <a:t>Valeur actualisée des économies d’impôts pour les actifs amortissables</a:t>
            </a:r>
            <a:endParaRPr lang="fr-CA" sz="2800" i="1" dirty="0"/>
          </a:p>
        </p:txBody>
      </p:sp>
      <p:sp>
        <p:nvSpPr>
          <p:cNvPr id="3" name="Espace réservé du contenu 2"/>
          <p:cNvSpPr>
            <a:spLocks noGrp="1"/>
          </p:cNvSpPr>
          <p:nvPr>
            <p:ph idx="1"/>
          </p:nvPr>
        </p:nvSpPr>
        <p:spPr>
          <a:xfrm>
            <a:off x="945931" y="1600201"/>
            <a:ext cx="10205545" cy="4525963"/>
          </a:xfrm>
        </p:spPr>
        <p:txBody>
          <a:bodyPr>
            <a:normAutofit/>
          </a:bodyPr>
          <a:lstStyle/>
          <a:p>
            <a:pPr marL="0" indent="0">
              <a:buNone/>
            </a:pPr>
            <a:r>
              <a:rPr lang="fr-CA" sz="2200" b="1" dirty="0"/>
              <a:t>2) Passation en charges intégrale pour la machinerie et l’équipement de fabrication et transformation  </a:t>
            </a:r>
            <a:r>
              <a:rPr lang="fr-CA" sz="2200" dirty="0"/>
              <a:t>(cat 53)</a:t>
            </a:r>
          </a:p>
          <a:p>
            <a:r>
              <a:rPr lang="fr-CA" sz="2200" dirty="0">
                <a:solidFill>
                  <a:srgbClr val="0070C0"/>
                </a:solidFill>
              </a:rPr>
              <a:t>Il est possible d’amortir en totalité le coût d’une </a:t>
            </a:r>
            <a:r>
              <a:rPr lang="fr-CA" sz="2200" b="1" dirty="0">
                <a:solidFill>
                  <a:srgbClr val="0070C0"/>
                </a:solidFill>
              </a:rPr>
              <a:t>machine ou du matériel utilisé pour la fabrication ou la transformation</a:t>
            </a:r>
            <a:r>
              <a:rPr lang="fr-CA" sz="2200" dirty="0">
                <a:solidFill>
                  <a:srgbClr val="0070C0"/>
                </a:solidFill>
              </a:rPr>
              <a:t>, pour l’année d’imposition où le bien devient prêt à être mis en service</a:t>
            </a:r>
            <a:r>
              <a:rPr lang="fr-CA" sz="2200" dirty="0"/>
              <a:t>, lorsque le bien est acquis après le 21 novembre 2018 et devient prêt à être mis en service avant 2024, avec une réduction progressive par la suite. Cette mesure n’est donc pas permanente.</a:t>
            </a:r>
          </a:p>
          <a:p>
            <a:r>
              <a:rPr lang="fr-CA" sz="2200" dirty="0"/>
              <a:t>Les mêmes règles vont s’appliquer pour l’équipement d’énergie propre (cat 54 et 55).</a:t>
            </a:r>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61AF231E-7209-4544-B493-121B7693F72D}" type="slidenum">
              <a:rPr lang="fr-CA" smtClean="0"/>
              <a:t>44</a:t>
            </a:fld>
            <a:endParaRPr lang="fr-CA"/>
          </a:p>
        </p:txBody>
      </p:sp>
    </p:spTree>
    <p:extLst>
      <p:ext uri="{BB962C8B-B14F-4D97-AF65-F5344CB8AC3E}">
        <p14:creationId xmlns:p14="http://schemas.microsoft.com/office/powerpoint/2010/main" val="38887628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0021FF-48C5-4155-92D4-E566D1DFDEC9}"/>
              </a:ext>
            </a:extLst>
          </p:cNvPr>
          <p:cNvSpPr>
            <a:spLocks noGrp="1"/>
          </p:cNvSpPr>
          <p:nvPr>
            <p:ph type="title"/>
          </p:nvPr>
        </p:nvSpPr>
        <p:spPr/>
        <p:txBody>
          <a:bodyPr/>
          <a:lstStyle/>
          <a:p>
            <a:r>
              <a:rPr lang="fr-CA" b="1" dirty="0"/>
              <a:t>Impôts différés</a:t>
            </a:r>
            <a:endParaRPr lang="fr-FR" b="1" dirty="0"/>
          </a:p>
        </p:txBody>
      </p:sp>
      <p:sp>
        <p:nvSpPr>
          <p:cNvPr id="3" name="Espace réservé du contenu 2">
            <a:extLst>
              <a:ext uri="{FF2B5EF4-FFF2-40B4-BE49-F238E27FC236}">
                <a16:creationId xmlns:a16="http://schemas.microsoft.com/office/drawing/2014/main" id="{06CDE3A5-6C09-40D6-A855-4B4F631FA7B4}"/>
              </a:ext>
            </a:extLst>
          </p:cNvPr>
          <p:cNvSpPr>
            <a:spLocks noGrp="1"/>
          </p:cNvSpPr>
          <p:nvPr>
            <p:ph idx="1"/>
          </p:nvPr>
        </p:nvSpPr>
        <p:spPr/>
        <p:txBody>
          <a:bodyPr/>
          <a:lstStyle/>
          <a:p>
            <a:endParaRPr lang="fr-FR"/>
          </a:p>
        </p:txBody>
      </p:sp>
      <p:sp>
        <p:nvSpPr>
          <p:cNvPr id="4" name="Espace réservé du pied de page 3">
            <a:extLst>
              <a:ext uri="{FF2B5EF4-FFF2-40B4-BE49-F238E27FC236}">
                <a16:creationId xmlns:a16="http://schemas.microsoft.com/office/drawing/2014/main" id="{A6F65AB3-51C4-4347-94FD-647963E0704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9F05B481-1921-47CD-8DCB-2F71D1B08E33}"/>
              </a:ext>
            </a:extLst>
          </p:cNvPr>
          <p:cNvSpPr>
            <a:spLocks noGrp="1"/>
          </p:cNvSpPr>
          <p:nvPr>
            <p:ph type="sldNum" sz="quarter" idx="12"/>
          </p:nvPr>
        </p:nvSpPr>
        <p:spPr/>
        <p:txBody>
          <a:bodyPr/>
          <a:lstStyle/>
          <a:p>
            <a:fld id="{9820BAFF-92A6-45A5-B1F5-B233E0C14C43}" type="slidenum">
              <a:rPr lang="fr-FR" smtClean="0"/>
              <a:t>45</a:t>
            </a:fld>
            <a:endParaRPr lang="fr-FR"/>
          </a:p>
        </p:txBody>
      </p:sp>
    </p:spTree>
    <p:extLst>
      <p:ext uri="{BB962C8B-B14F-4D97-AF65-F5344CB8AC3E}">
        <p14:creationId xmlns:p14="http://schemas.microsoft.com/office/powerpoint/2010/main" val="1595763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27BA65-9327-4E69-B002-80AA2B580525}"/>
              </a:ext>
            </a:extLst>
          </p:cNvPr>
          <p:cNvSpPr>
            <a:spLocks noGrp="1"/>
          </p:cNvSpPr>
          <p:nvPr>
            <p:ph type="title"/>
          </p:nvPr>
        </p:nvSpPr>
        <p:spPr/>
        <p:txBody>
          <a:bodyPr/>
          <a:lstStyle/>
          <a:p>
            <a:r>
              <a:rPr lang="fr-CA" dirty="0"/>
              <a:t>Impôts différés – pour les écarts temporaires</a:t>
            </a:r>
            <a:endParaRPr lang="fr-FR" dirty="0"/>
          </a:p>
        </p:txBody>
      </p:sp>
      <p:sp>
        <p:nvSpPr>
          <p:cNvPr id="3" name="Espace réservé du contenu 2">
            <a:extLst>
              <a:ext uri="{FF2B5EF4-FFF2-40B4-BE49-F238E27FC236}">
                <a16:creationId xmlns:a16="http://schemas.microsoft.com/office/drawing/2014/main" id="{0F682BED-3DAC-4AB6-9C6E-8860E7CA5B06}"/>
              </a:ext>
            </a:extLst>
          </p:cNvPr>
          <p:cNvSpPr>
            <a:spLocks noGrp="1"/>
          </p:cNvSpPr>
          <p:nvPr>
            <p:ph idx="1"/>
          </p:nvPr>
        </p:nvSpPr>
        <p:spPr/>
        <p:txBody>
          <a:bodyPr/>
          <a:lstStyle/>
          <a:p>
            <a:r>
              <a:rPr lang="fr-CA" b="1" i="1" dirty="0"/>
              <a:t>Et non les écarts permanents</a:t>
            </a:r>
          </a:p>
          <a:p>
            <a:endParaRPr lang="fr-CA" dirty="0"/>
          </a:p>
          <a:p>
            <a:r>
              <a:rPr lang="fr-CA" dirty="0"/>
              <a:t>Approche bilan – donc recalcule les écarts « bilan » à chaque fin de période</a:t>
            </a:r>
          </a:p>
          <a:p>
            <a:pPr lvl="1"/>
            <a:r>
              <a:rPr lang="fr-CA" dirty="0"/>
              <a:t>Valeur comptable c. valeur fiscale		     =&gt; déductible ou imposable</a:t>
            </a:r>
          </a:p>
          <a:p>
            <a:pPr marL="457200" lvl="1" indent="0">
              <a:buNone/>
            </a:pPr>
            <a:r>
              <a:rPr lang="fr-CA" dirty="0"/>
              <a:t>	écart * taux d’impôt prévu = impôts différés	     =&gt; actif ou passif </a:t>
            </a:r>
          </a:p>
          <a:p>
            <a:pPr marL="457200" lvl="1" indent="0">
              <a:buNone/>
            </a:pPr>
            <a:endParaRPr lang="fr-CA" dirty="0"/>
          </a:p>
          <a:p>
            <a:pPr marL="457200" lvl="1" indent="0">
              <a:buNone/>
            </a:pPr>
            <a:endParaRPr lang="fr-CA" dirty="0"/>
          </a:p>
          <a:p>
            <a:pPr marL="457200" lvl="1" indent="0">
              <a:buNone/>
            </a:pPr>
            <a:r>
              <a:rPr lang="fr-CA" i="1" dirty="0"/>
              <a:t>Actif : déduction d’impôt à venir</a:t>
            </a:r>
          </a:p>
          <a:p>
            <a:pPr marL="457200" lvl="1" indent="0">
              <a:buNone/>
            </a:pPr>
            <a:r>
              <a:rPr lang="fr-CA" i="1" dirty="0"/>
              <a:t>Passif : impôt à payer dans le futur</a:t>
            </a:r>
          </a:p>
          <a:p>
            <a:pPr marL="457200" lvl="1" indent="0">
              <a:buNone/>
            </a:pPr>
            <a:endParaRPr lang="fr-FR" dirty="0"/>
          </a:p>
        </p:txBody>
      </p:sp>
      <p:sp>
        <p:nvSpPr>
          <p:cNvPr id="4" name="Espace réservé du pied de page 3">
            <a:extLst>
              <a:ext uri="{FF2B5EF4-FFF2-40B4-BE49-F238E27FC236}">
                <a16:creationId xmlns:a16="http://schemas.microsoft.com/office/drawing/2014/main" id="{96CC62E8-5108-4274-993D-0B82DD18DDEE}"/>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374708D8-C221-4D99-B60F-F862C8577BF0}"/>
              </a:ext>
            </a:extLst>
          </p:cNvPr>
          <p:cNvSpPr>
            <a:spLocks noGrp="1"/>
          </p:cNvSpPr>
          <p:nvPr>
            <p:ph type="sldNum" sz="quarter" idx="12"/>
          </p:nvPr>
        </p:nvSpPr>
        <p:spPr/>
        <p:txBody>
          <a:bodyPr/>
          <a:lstStyle/>
          <a:p>
            <a:fld id="{9820BAFF-92A6-45A5-B1F5-B233E0C14C43}" type="slidenum">
              <a:rPr lang="fr-FR" smtClean="0"/>
              <a:t>46</a:t>
            </a:fld>
            <a:endParaRPr lang="fr-FR"/>
          </a:p>
        </p:txBody>
      </p:sp>
    </p:spTree>
    <p:extLst>
      <p:ext uri="{BB962C8B-B14F-4D97-AF65-F5344CB8AC3E}">
        <p14:creationId xmlns:p14="http://schemas.microsoft.com/office/powerpoint/2010/main" val="652881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différés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a:xfrm>
            <a:off x="548641" y="1825625"/>
            <a:ext cx="11181806" cy="4351338"/>
          </a:xfrm>
        </p:spPr>
        <p:txBody>
          <a:bodyPr>
            <a:normAutofit/>
          </a:bodyPr>
          <a:lstStyle/>
          <a:p>
            <a:pPr marL="0" indent="0">
              <a:buNone/>
            </a:pPr>
            <a:r>
              <a:rPr lang="fr-CA" dirty="0"/>
              <a:t>Approche «  bilan »  =&gt; </a:t>
            </a:r>
            <a:r>
              <a:rPr lang="fr-CA" i="1" dirty="0">
                <a:solidFill>
                  <a:srgbClr val="0070C0"/>
                </a:solidFill>
              </a:rPr>
              <a:t>pour les écarts temporaires</a:t>
            </a:r>
            <a:endParaRPr lang="fr-CA" dirty="0">
              <a:solidFill>
                <a:srgbClr val="0070C0"/>
              </a:solidFill>
            </a:endParaRPr>
          </a:p>
          <a:p>
            <a:pPr marL="0" indent="0">
              <a:buNone/>
            </a:pPr>
            <a:endParaRPr lang="fr-FR" dirty="0"/>
          </a:p>
          <a:p>
            <a:pPr marL="0" indent="0">
              <a:buNone/>
              <a:tabLst>
                <a:tab pos="2333625" algn="l"/>
                <a:tab pos="4124325" algn="l"/>
                <a:tab pos="6008688" algn="l"/>
                <a:tab pos="8255000" algn="l"/>
              </a:tabLst>
            </a:pPr>
            <a:r>
              <a:rPr lang="fr-FR" dirty="0">
                <a:solidFill>
                  <a:srgbClr val="FF0000"/>
                </a:solidFill>
              </a:rPr>
              <a:t>Valeur	Valeur	Écart	 taux d’impôt	</a:t>
            </a:r>
            <a:r>
              <a:rPr lang="fr-FR" i="1" dirty="0">
                <a:solidFill>
                  <a:srgbClr val="FF0000"/>
                </a:solidFill>
              </a:rPr>
              <a:t> Actif ou passif</a:t>
            </a:r>
            <a:endParaRPr lang="fr-FR" dirty="0">
              <a:solidFill>
                <a:srgbClr val="FF0000"/>
              </a:solidFill>
            </a:endParaRPr>
          </a:p>
          <a:p>
            <a:pPr marL="0" indent="0">
              <a:buNone/>
              <a:tabLst>
                <a:tab pos="2333625" algn="l"/>
                <a:tab pos="4124325" algn="l"/>
                <a:tab pos="6008688" algn="l"/>
                <a:tab pos="8255000" algn="l"/>
              </a:tabLst>
            </a:pPr>
            <a:r>
              <a:rPr lang="fr-FR" dirty="0">
                <a:solidFill>
                  <a:srgbClr val="FF0000"/>
                </a:solidFill>
              </a:rPr>
              <a:t>comptable	fiscale	temporaire	 prévu	d’impôts différés</a:t>
            </a:r>
          </a:p>
          <a:p>
            <a:pPr marL="0" indent="0">
              <a:buNone/>
              <a:tabLst>
                <a:tab pos="2333625" algn="l"/>
                <a:tab pos="3943350" algn="l"/>
                <a:tab pos="6008688" algn="l"/>
                <a:tab pos="8255000" algn="l"/>
              </a:tabLst>
            </a:pPr>
            <a:r>
              <a:rPr lang="fr-FR" dirty="0">
                <a:solidFill>
                  <a:srgbClr val="FF0000"/>
                </a:solidFill>
              </a:rPr>
              <a:t>  </a:t>
            </a:r>
            <a:r>
              <a:rPr lang="fr-FR" dirty="0"/>
              <a:t>xx $	  xx $           c</a:t>
            </a:r>
            <a:r>
              <a:rPr lang="fr-FR" sz="2000" dirty="0"/>
              <a:t>omptable - fiscal</a:t>
            </a:r>
            <a:r>
              <a:rPr lang="fr-FR" dirty="0"/>
              <a:t>	   *  x %	=  xx $</a:t>
            </a:r>
          </a:p>
          <a:p>
            <a:pPr marL="0" indent="0">
              <a:buNone/>
              <a:tabLst>
                <a:tab pos="2333625" algn="l"/>
                <a:tab pos="4302125" algn="l"/>
                <a:tab pos="6008688" algn="l"/>
                <a:tab pos="8255000" algn="l"/>
              </a:tabLst>
            </a:pPr>
            <a:r>
              <a:rPr lang="fr-FR" dirty="0"/>
              <a:t>				</a:t>
            </a: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CA"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47</a:t>
            </a:fld>
            <a:endParaRPr lang="fr-FR"/>
          </a:p>
        </p:txBody>
      </p:sp>
    </p:spTree>
    <p:extLst>
      <p:ext uri="{BB962C8B-B14F-4D97-AF65-F5344CB8AC3E}">
        <p14:creationId xmlns:p14="http://schemas.microsoft.com/office/powerpoint/2010/main" val="39905744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966349-9C0E-4DCA-ABB4-4D49CF220180}"/>
              </a:ext>
            </a:extLst>
          </p:cNvPr>
          <p:cNvSpPr>
            <a:spLocks noGrp="1"/>
          </p:cNvSpPr>
          <p:nvPr>
            <p:ph type="title"/>
          </p:nvPr>
        </p:nvSpPr>
        <p:spPr/>
        <p:txBody>
          <a:bodyPr/>
          <a:lstStyle/>
          <a:p>
            <a:r>
              <a:rPr lang="fr-CA" dirty="0"/>
              <a:t>Calcul de l’impôt différé - immobilisation</a:t>
            </a:r>
            <a:endParaRPr lang="fr-FR" dirty="0"/>
          </a:p>
        </p:txBody>
      </p:sp>
      <p:sp>
        <p:nvSpPr>
          <p:cNvPr id="3" name="Espace réservé du contenu 2">
            <a:extLst>
              <a:ext uri="{FF2B5EF4-FFF2-40B4-BE49-F238E27FC236}">
                <a16:creationId xmlns:a16="http://schemas.microsoft.com/office/drawing/2014/main" id="{FD279829-B99C-40E6-9B8C-0CA94E8C2F9E}"/>
              </a:ext>
            </a:extLst>
          </p:cNvPr>
          <p:cNvSpPr>
            <a:spLocks noGrp="1"/>
          </p:cNvSpPr>
          <p:nvPr>
            <p:ph idx="1"/>
          </p:nvPr>
        </p:nvSpPr>
        <p:spPr/>
        <p:txBody>
          <a:bodyPr/>
          <a:lstStyle/>
          <a:p>
            <a:r>
              <a:rPr lang="fr-CA" dirty="0"/>
              <a:t>Équipement</a:t>
            </a:r>
          </a:p>
          <a:p>
            <a:pPr lvl="1"/>
            <a:r>
              <a:rPr lang="fr-CA" dirty="0"/>
              <a:t>Coût initial : 100 000 $ - idem au départ comptable et fiscal</a:t>
            </a:r>
          </a:p>
          <a:p>
            <a:pPr lvl="1"/>
            <a:r>
              <a:rPr lang="fr-CA" dirty="0"/>
              <a:t>Amortissement cumulé : 20 000 $, donc valeur nette comptable = 80 000 $</a:t>
            </a:r>
          </a:p>
          <a:p>
            <a:pPr lvl="1"/>
            <a:r>
              <a:rPr lang="fr-CA" dirty="0"/>
              <a:t>FNACC : 71 111 $</a:t>
            </a:r>
          </a:p>
          <a:p>
            <a:pPr lvl="1"/>
            <a:endParaRPr lang="fr-CA" dirty="0"/>
          </a:p>
          <a:p>
            <a:pPr lvl="1"/>
            <a:r>
              <a:rPr lang="fr-CA" dirty="0"/>
              <a:t>Taux d’impôt prévu : 22 %</a:t>
            </a:r>
          </a:p>
          <a:p>
            <a:pPr lvl="1"/>
            <a:endParaRPr lang="fr-CA" dirty="0"/>
          </a:p>
          <a:p>
            <a:pPr lvl="1"/>
            <a:r>
              <a:rPr lang="fr-CA" dirty="0"/>
              <a:t>Actif ou passif d’impôts différés?</a:t>
            </a:r>
            <a:endParaRPr lang="fr-FR" dirty="0"/>
          </a:p>
        </p:txBody>
      </p:sp>
      <p:sp>
        <p:nvSpPr>
          <p:cNvPr id="4" name="Espace réservé du pied de page 3">
            <a:extLst>
              <a:ext uri="{FF2B5EF4-FFF2-40B4-BE49-F238E27FC236}">
                <a16:creationId xmlns:a16="http://schemas.microsoft.com/office/drawing/2014/main" id="{959D151C-3FCC-4E75-B0E7-5687C59D93F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26BA68DA-4AEE-4B6A-9914-D89004EE6416}"/>
              </a:ext>
            </a:extLst>
          </p:cNvPr>
          <p:cNvSpPr>
            <a:spLocks noGrp="1"/>
          </p:cNvSpPr>
          <p:nvPr>
            <p:ph type="sldNum" sz="quarter" idx="12"/>
          </p:nvPr>
        </p:nvSpPr>
        <p:spPr/>
        <p:txBody>
          <a:bodyPr/>
          <a:lstStyle/>
          <a:p>
            <a:fld id="{9820BAFF-92A6-45A5-B1F5-B233E0C14C43}" type="slidenum">
              <a:rPr lang="fr-FR" smtClean="0"/>
              <a:t>48</a:t>
            </a:fld>
            <a:endParaRPr lang="fr-FR"/>
          </a:p>
        </p:txBody>
      </p:sp>
    </p:spTree>
    <p:extLst>
      <p:ext uri="{BB962C8B-B14F-4D97-AF65-F5344CB8AC3E}">
        <p14:creationId xmlns:p14="http://schemas.microsoft.com/office/powerpoint/2010/main" val="3921990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différés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a:xfrm>
            <a:off x="548641" y="1825625"/>
            <a:ext cx="11181806" cy="4351338"/>
          </a:xfrm>
        </p:spPr>
        <p:txBody>
          <a:bodyPr>
            <a:normAutofit/>
          </a:bodyPr>
          <a:lstStyle/>
          <a:p>
            <a:pPr marL="0" indent="0">
              <a:buNone/>
            </a:pPr>
            <a:r>
              <a:rPr lang="fr-CA" dirty="0"/>
              <a:t>Approche «  bilan »  =&gt; </a:t>
            </a:r>
            <a:r>
              <a:rPr lang="fr-CA" i="1" dirty="0">
                <a:solidFill>
                  <a:srgbClr val="0070C0"/>
                </a:solidFill>
              </a:rPr>
              <a:t>pour les écarts temporaires</a:t>
            </a:r>
            <a:endParaRPr lang="fr-CA" dirty="0">
              <a:solidFill>
                <a:srgbClr val="0070C0"/>
              </a:solidFill>
            </a:endParaRPr>
          </a:p>
          <a:p>
            <a:pPr marL="0" indent="0">
              <a:buNone/>
            </a:pPr>
            <a:endParaRPr lang="fr-FR" dirty="0"/>
          </a:p>
          <a:p>
            <a:pPr marL="0" indent="0">
              <a:buNone/>
              <a:tabLst>
                <a:tab pos="2333625" algn="l"/>
                <a:tab pos="4302125" algn="l"/>
                <a:tab pos="6008688" algn="l"/>
                <a:tab pos="8255000" algn="l"/>
              </a:tabLst>
            </a:pPr>
            <a:r>
              <a:rPr lang="fr-FR" dirty="0">
                <a:solidFill>
                  <a:srgbClr val="FF0000"/>
                </a:solidFill>
              </a:rPr>
              <a:t>Valeur	Valeur	Écart	 taux d’impôt	</a:t>
            </a:r>
            <a:r>
              <a:rPr lang="fr-FR" i="1" dirty="0">
                <a:solidFill>
                  <a:srgbClr val="FF0000"/>
                </a:solidFill>
              </a:rPr>
              <a:t> Actif ou passif</a:t>
            </a:r>
            <a:endParaRPr lang="fr-FR" dirty="0">
              <a:solidFill>
                <a:srgbClr val="FF0000"/>
              </a:solidFill>
            </a:endParaRPr>
          </a:p>
          <a:p>
            <a:pPr marL="0" indent="0">
              <a:spcBef>
                <a:spcPts val="0"/>
              </a:spcBef>
              <a:buNone/>
              <a:tabLst>
                <a:tab pos="2333625" algn="l"/>
                <a:tab pos="4302125" algn="l"/>
                <a:tab pos="6008688" algn="l"/>
                <a:tab pos="8255000" algn="l"/>
              </a:tabLst>
            </a:pPr>
            <a:r>
              <a:rPr lang="fr-FR" dirty="0">
                <a:solidFill>
                  <a:srgbClr val="FF0000"/>
                </a:solidFill>
              </a:rPr>
              <a:t>comptable	fiscale	temporaire	 prévu	d’impôts différés</a:t>
            </a:r>
          </a:p>
          <a:p>
            <a:pPr marL="0" indent="0">
              <a:buNone/>
              <a:tabLst>
                <a:tab pos="2333625" algn="l"/>
                <a:tab pos="4302125" algn="l"/>
                <a:tab pos="6008688" algn="l"/>
                <a:tab pos="8255000" algn="l"/>
              </a:tabLst>
            </a:pPr>
            <a:r>
              <a:rPr lang="fr-FR" dirty="0"/>
              <a:t>80 000     </a:t>
            </a:r>
            <a:r>
              <a:rPr lang="fr-FR" dirty="0">
                <a:solidFill>
                  <a:srgbClr val="FF0000"/>
                </a:solidFill>
              </a:rPr>
              <a:t>-</a:t>
            </a:r>
            <a:r>
              <a:rPr lang="fr-FR" dirty="0"/>
              <a:t>	71 111   </a:t>
            </a:r>
            <a:r>
              <a:rPr lang="fr-FR" dirty="0">
                <a:solidFill>
                  <a:srgbClr val="FF0000"/>
                </a:solidFill>
              </a:rPr>
              <a:t>=</a:t>
            </a:r>
            <a:r>
              <a:rPr lang="fr-FR" dirty="0"/>
              <a:t>	8 889   </a:t>
            </a:r>
            <a:r>
              <a:rPr lang="fr-FR" dirty="0">
                <a:solidFill>
                  <a:srgbClr val="FF0000"/>
                </a:solidFill>
              </a:rPr>
              <a:t>*</a:t>
            </a:r>
            <a:r>
              <a:rPr lang="fr-FR" dirty="0"/>
              <a:t>	22 %    </a:t>
            </a:r>
            <a:r>
              <a:rPr lang="fr-FR" dirty="0">
                <a:solidFill>
                  <a:srgbClr val="FF0000"/>
                </a:solidFill>
              </a:rPr>
              <a:t>=</a:t>
            </a:r>
            <a:r>
              <a:rPr lang="fr-FR" dirty="0"/>
              <a:t>	1 956 $</a:t>
            </a:r>
          </a:p>
          <a:p>
            <a:pPr marL="0" indent="0">
              <a:buNone/>
              <a:tabLst>
                <a:tab pos="2333625" algn="l"/>
                <a:tab pos="4302125" algn="l"/>
                <a:tab pos="6008688" algn="l"/>
                <a:tab pos="8255000" algn="l"/>
              </a:tabLst>
            </a:pPr>
            <a:r>
              <a:rPr lang="fr-FR" dirty="0"/>
              <a:t>				PID </a:t>
            </a:r>
            <a:r>
              <a:rPr lang="fr-FR" sz="1800" dirty="0"/>
              <a:t>(passif impôts différés)</a:t>
            </a:r>
            <a:endParaRPr lang="fr-FR" dirty="0"/>
          </a:p>
          <a:p>
            <a:pPr marL="0" indent="0">
              <a:buNone/>
              <a:tabLst>
                <a:tab pos="2333625" algn="l"/>
                <a:tab pos="4302125" algn="l"/>
                <a:tab pos="6008688" algn="l"/>
                <a:tab pos="8255000" algn="l"/>
              </a:tabLst>
            </a:pPr>
            <a:r>
              <a:rPr lang="fr-FR" dirty="0"/>
              <a:t>				</a:t>
            </a: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FR" sz="2400" i="1"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49</a:t>
            </a:fld>
            <a:endParaRPr lang="fr-FR"/>
          </a:p>
        </p:txBody>
      </p:sp>
    </p:spTree>
    <p:extLst>
      <p:ext uri="{BB962C8B-B14F-4D97-AF65-F5344CB8AC3E}">
        <p14:creationId xmlns:p14="http://schemas.microsoft.com/office/powerpoint/2010/main" val="1248431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966349-9C0E-4DCA-ABB4-4D49CF220180}"/>
              </a:ext>
            </a:extLst>
          </p:cNvPr>
          <p:cNvSpPr>
            <a:spLocks noGrp="1"/>
          </p:cNvSpPr>
          <p:nvPr>
            <p:ph type="title"/>
          </p:nvPr>
        </p:nvSpPr>
        <p:spPr/>
        <p:txBody>
          <a:bodyPr/>
          <a:lstStyle/>
          <a:p>
            <a:r>
              <a:rPr lang="fr-CA" dirty="0"/>
              <a:t>Calcul de l’impôt différé - provision</a:t>
            </a:r>
            <a:endParaRPr lang="fr-FR" dirty="0"/>
          </a:p>
        </p:txBody>
      </p:sp>
      <p:sp>
        <p:nvSpPr>
          <p:cNvPr id="3" name="Espace réservé du contenu 2">
            <a:extLst>
              <a:ext uri="{FF2B5EF4-FFF2-40B4-BE49-F238E27FC236}">
                <a16:creationId xmlns:a16="http://schemas.microsoft.com/office/drawing/2014/main" id="{FD279829-B99C-40E6-9B8C-0CA94E8C2F9E}"/>
              </a:ext>
            </a:extLst>
          </p:cNvPr>
          <p:cNvSpPr>
            <a:spLocks noGrp="1"/>
          </p:cNvSpPr>
          <p:nvPr>
            <p:ph idx="1"/>
          </p:nvPr>
        </p:nvSpPr>
        <p:spPr/>
        <p:txBody>
          <a:bodyPr/>
          <a:lstStyle/>
          <a:p>
            <a:r>
              <a:rPr lang="fr-CA" dirty="0"/>
              <a:t>Provision pour garantie</a:t>
            </a:r>
          </a:p>
          <a:p>
            <a:pPr lvl="1"/>
            <a:r>
              <a:rPr lang="fr-CA" dirty="0"/>
              <a:t>Montant présenté à l’état de la situation financière : 50 000 $, donc déjà comptabilisé en charge</a:t>
            </a:r>
          </a:p>
          <a:p>
            <a:pPr lvl="1"/>
            <a:r>
              <a:rPr lang="fr-CA" dirty="0"/>
              <a:t>Coût déductible lorsque les coûts seront encourus (dans le futur)</a:t>
            </a:r>
          </a:p>
          <a:p>
            <a:pPr lvl="1"/>
            <a:endParaRPr lang="fr-CA" dirty="0"/>
          </a:p>
          <a:p>
            <a:pPr lvl="1"/>
            <a:r>
              <a:rPr lang="fr-CA" dirty="0"/>
              <a:t>Taux d’impôt prévu : 22 %</a:t>
            </a:r>
          </a:p>
          <a:p>
            <a:pPr lvl="1"/>
            <a:endParaRPr lang="fr-CA" dirty="0"/>
          </a:p>
          <a:p>
            <a:pPr lvl="1"/>
            <a:r>
              <a:rPr lang="fr-CA" dirty="0"/>
              <a:t>Actif ou passif d’impôts différés?</a:t>
            </a:r>
            <a:endParaRPr lang="fr-FR" dirty="0"/>
          </a:p>
        </p:txBody>
      </p:sp>
      <p:sp>
        <p:nvSpPr>
          <p:cNvPr id="4" name="Espace réservé du pied de page 3">
            <a:extLst>
              <a:ext uri="{FF2B5EF4-FFF2-40B4-BE49-F238E27FC236}">
                <a16:creationId xmlns:a16="http://schemas.microsoft.com/office/drawing/2014/main" id="{959D151C-3FCC-4E75-B0E7-5687C59D93F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26BA68DA-4AEE-4B6A-9914-D89004EE6416}"/>
              </a:ext>
            </a:extLst>
          </p:cNvPr>
          <p:cNvSpPr>
            <a:spLocks noGrp="1"/>
          </p:cNvSpPr>
          <p:nvPr>
            <p:ph type="sldNum" sz="quarter" idx="12"/>
          </p:nvPr>
        </p:nvSpPr>
        <p:spPr/>
        <p:txBody>
          <a:bodyPr/>
          <a:lstStyle/>
          <a:p>
            <a:fld id="{9820BAFF-92A6-45A5-B1F5-B233E0C14C43}" type="slidenum">
              <a:rPr lang="fr-FR" smtClean="0"/>
              <a:t>50</a:t>
            </a:fld>
            <a:endParaRPr lang="fr-FR"/>
          </a:p>
        </p:txBody>
      </p:sp>
    </p:spTree>
    <p:extLst>
      <p:ext uri="{BB962C8B-B14F-4D97-AF65-F5344CB8AC3E}">
        <p14:creationId xmlns:p14="http://schemas.microsoft.com/office/powerpoint/2010/main" val="19010289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différés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a:xfrm>
            <a:off x="548641" y="1825625"/>
            <a:ext cx="11181806" cy="4351338"/>
          </a:xfrm>
        </p:spPr>
        <p:txBody>
          <a:bodyPr>
            <a:normAutofit/>
          </a:bodyPr>
          <a:lstStyle/>
          <a:p>
            <a:pPr marL="0" indent="0">
              <a:buNone/>
            </a:pPr>
            <a:r>
              <a:rPr lang="fr-CA" dirty="0"/>
              <a:t>Approche «  bilan »  =&gt; </a:t>
            </a:r>
            <a:r>
              <a:rPr lang="fr-CA" i="1" dirty="0">
                <a:solidFill>
                  <a:srgbClr val="0070C0"/>
                </a:solidFill>
              </a:rPr>
              <a:t>pour les écarts temporaires</a:t>
            </a:r>
            <a:endParaRPr lang="fr-CA" dirty="0">
              <a:solidFill>
                <a:srgbClr val="0070C0"/>
              </a:solidFill>
            </a:endParaRPr>
          </a:p>
          <a:p>
            <a:pPr marL="0" indent="0">
              <a:buNone/>
            </a:pPr>
            <a:endParaRPr lang="fr-FR" dirty="0"/>
          </a:p>
          <a:p>
            <a:pPr marL="0" indent="0">
              <a:buNone/>
              <a:tabLst>
                <a:tab pos="2333625" algn="l"/>
                <a:tab pos="4302125" algn="l"/>
                <a:tab pos="6008688" algn="l"/>
                <a:tab pos="8255000" algn="l"/>
              </a:tabLst>
            </a:pPr>
            <a:r>
              <a:rPr lang="fr-FR" dirty="0">
                <a:solidFill>
                  <a:srgbClr val="FF0000"/>
                </a:solidFill>
              </a:rPr>
              <a:t>Valeur	Valeur	Écart	 taux d’impôt	</a:t>
            </a:r>
            <a:r>
              <a:rPr lang="fr-FR" i="1" dirty="0">
                <a:solidFill>
                  <a:srgbClr val="FF0000"/>
                </a:solidFill>
              </a:rPr>
              <a:t> Actif ou passif</a:t>
            </a:r>
            <a:endParaRPr lang="fr-FR" dirty="0">
              <a:solidFill>
                <a:srgbClr val="FF0000"/>
              </a:solidFill>
            </a:endParaRPr>
          </a:p>
          <a:p>
            <a:pPr marL="0" indent="0">
              <a:spcBef>
                <a:spcPts val="0"/>
              </a:spcBef>
              <a:buNone/>
              <a:tabLst>
                <a:tab pos="2333625" algn="l"/>
                <a:tab pos="4302125" algn="l"/>
                <a:tab pos="6008688" algn="l"/>
                <a:tab pos="8255000" algn="l"/>
              </a:tabLst>
            </a:pPr>
            <a:r>
              <a:rPr lang="fr-FR" dirty="0">
                <a:solidFill>
                  <a:srgbClr val="FF0000"/>
                </a:solidFill>
              </a:rPr>
              <a:t>comptable	fiscale	temporaire	 prévu	d’impôts différés</a:t>
            </a:r>
          </a:p>
          <a:p>
            <a:pPr marL="0" indent="0">
              <a:spcBef>
                <a:spcPts val="0"/>
              </a:spcBef>
              <a:buNone/>
              <a:tabLst>
                <a:tab pos="2333625" algn="l"/>
                <a:tab pos="4302125" algn="l"/>
                <a:tab pos="6008688" algn="l"/>
                <a:tab pos="8255000" algn="l"/>
              </a:tabLst>
            </a:pPr>
            <a:r>
              <a:rPr lang="fr-FR" dirty="0"/>
              <a:t>50 000 CT	0	50 000	22 %	11 000</a:t>
            </a:r>
          </a:p>
          <a:p>
            <a:pPr marL="0" indent="0">
              <a:spcBef>
                <a:spcPts val="0"/>
              </a:spcBef>
              <a:buNone/>
              <a:tabLst>
                <a:tab pos="2333625" algn="l"/>
                <a:tab pos="4302125" algn="l"/>
                <a:tab pos="6008688" algn="l"/>
                <a:tab pos="8255000" algn="l"/>
              </a:tabLst>
            </a:pPr>
            <a:r>
              <a:rPr lang="fr-FR" dirty="0"/>
              <a:t>				Actif ID</a:t>
            </a:r>
          </a:p>
          <a:p>
            <a:pPr marL="0" indent="0">
              <a:buNone/>
              <a:tabLst>
                <a:tab pos="2333625" algn="l"/>
                <a:tab pos="4302125" algn="l"/>
                <a:tab pos="6008688" algn="l"/>
                <a:tab pos="8255000" algn="l"/>
              </a:tabLst>
            </a:pPr>
            <a:r>
              <a:rPr lang="fr-FR" dirty="0"/>
              <a:t>				</a:t>
            </a: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FR" sz="2400" i="1"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51</a:t>
            </a:fld>
            <a:endParaRPr lang="fr-FR"/>
          </a:p>
        </p:txBody>
      </p:sp>
    </p:spTree>
    <p:extLst>
      <p:ext uri="{BB962C8B-B14F-4D97-AF65-F5344CB8AC3E}">
        <p14:creationId xmlns:p14="http://schemas.microsoft.com/office/powerpoint/2010/main" val="42602925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966349-9C0E-4DCA-ABB4-4D49CF220180}"/>
              </a:ext>
            </a:extLst>
          </p:cNvPr>
          <p:cNvSpPr>
            <a:spLocks noGrp="1"/>
          </p:cNvSpPr>
          <p:nvPr>
            <p:ph type="title"/>
          </p:nvPr>
        </p:nvSpPr>
        <p:spPr/>
        <p:txBody>
          <a:bodyPr/>
          <a:lstStyle/>
          <a:p>
            <a:r>
              <a:rPr lang="fr-CA" dirty="0"/>
              <a:t>Calcul de l’impôt différé – Frais de développement</a:t>
            </a:r>
            <a:endParaRPr lang="fr-FR" dirty="0"/>
          </a:p>
        </p:txBody>
      </p:sp>
      <p:sp>
        <p:nvSpPr>
          <p:cNvPr id="3" name="Espace réservé du contenu 2">
            <a:extLst>
              <a:ext uri="{FF2B5EF4-FFF2-40B4-BE49-F238E27FC236}">
                <a16:creationId xmlns:a16="http://schemas.microsoft.com/office/drawing/2014/main" id="{FD279829-B99C-40E6-9B8C-0CA94E8C2F9E}"/>
              </a:ext>
            </a:extLst>
          </p:cNvPr>
          <p:cNvSpPr>
            <a:spLocks noGrp="1"/>
          </p:cNvSpPr>
          <p:nvPr>
            <p:ph idx="1"/>
          </p:nvPr>
        </p:nvSpPr>
        <p:spPr/>
        <p:txBody>
          <a:bodyPr/>
          <a:lstStyle/>
          <a:p>
            <a:r>
              <a:rPr lang="fr-CA" dirty="0"/>
              <a:t>IAS 38, rencontre les 6 conditions</a:t>
            </a:r>
          </a:p>
          <a:p>
            <a:pPr lvl="1"/>
            <a:r>
              <a:rPr lang="fr-CA" dirty="0"/>
              <a:t>Montant présenté à l’état de la situation financière : 40 000 $, donc charge non encore comptabilisée  </a:t>
            </a:r>
            <a:r>
              <a:rPr lang="fr-CA" i="1" dirty="0"/>
              <a:t>- faire l’écriture pour visualiser</a:t>
            </a:r>
            <a:endParaRPr lang="fr-CA" dirty="0"/>
          </a:p>
          <a:p>
            <a:pPr lvl="1"/>
            <a:r>
              <a:rPr lang="fr-CA" dirty="0"/>
              <a:t>Coût déductible lorsque les coûts sont encourus (dans la période)</a:t>
            </a:r>
          </a:p>
          <a:p>
            <a:pPr lvl="1"/>
            <a:endParaRPr lang="fr-CA" dirty="0"/>
          </a:p>
          <a:p>
            <a:pPr lvl="1"/>
            <a:r>
              <a:rPr lang="fr-CA" dirty="0"/>
              <a:t>Taux d’impôt prévu : 22 %</a:t>
            </a:r>
          </a:p>
          <a:p>
            <a:pPr lvl="1"/>
            <a:endParaRPr lang="fr-CA" dirty="0"/>
          </a:p>
          <a:p>
            <a:pPr lvl="1"/>
            <a:r>
              <a:rPr lang="fr-CA" dirty="0"/>
              <a:t>Actif ou passif d’impôts différés?</a:t>
            </a:r>
            <a:endParaRPr lang="fr-FR" dirty="0"/>
          </a:p>
        </p:txBody>
      </p:sp>
      <p:sp>
        <p:nvSpPr>
          <p:cNvPr id="4" name="Espace réservé du pied de page 3">
            <a:extLst>
              <a:ext uri="{FF2B5EF4-FFF2-40B4-BE49-F238E27FC236}">
                <a16:creationId xmlns:a16="http://schemas.microsoft.com/office/drawing/2014/main" id="{959D151C-3FCC-4E75-B0E7-5687C59D93F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26BA68DA-4AEE-4B6A-9914-D89004EE6416}"/>
              </a:ext>
            </a:extLst>
          </p:cNvPr>
          <p:cNvSpPr>
            <a:spLocks noGrp="1"/>
          </p:cNvSpPr>
          <p:nvPr>
            <p:ph type="sldNum" sz="quarter" idx="12"/>
          </p:nvPr>
        </p:nvSpPr>
        <p:spPr/>
        <p:txBody>
          <a:bodyPr/>
          <a:lstStyle/>
          <a:p>
            <a:fld id="{9820BAFF-92A6-45A5-B1F5-B233E0C14C43}" type="slidenum">
              <a:rPr lang="fr-FR" smtClean="0"/>
              <a:t>52</a:t>
            </a:fld>
            <a:endParaRPr lang="fr-FR"/>
          </a:p>
        </p:txBody>
      </p:sp>
    </p:spTree>
    <p:extLst>
      <p:ext uri="{BB962C8B-B14F-4D97-AF65-F5344CB8AC3E}">
        <p14:creationId xmlns:p14="http://schemas.microsoft.com/office/powerpoint/2010/main" val="15135611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différés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a:xfrm>
            <a:off x="548641" y="1825625"/>
            <a:ext cx="11181806" cy="4351338"/>
          </a:xfrm>
        </p:spPr>
        <p:txBody>
          <a:bodyPr>
            <a:normAutofit/>
          </a:bodyPr>
          <a:lstStyle/>
          <a:p>
            <a:pPr marL="0" indent="0">
              <a:buNone/>
            </a:pPr>
            <a:r>
              <a:rPr lang="fr-CA" dirty="0"/>
              <a:t>Approche «  bilan »  =&gt; </a:t>
            </a:r>
            <a:r>
              <a:rPr lang="fr-CA" i="1" dirty="0">
                <a:solidFill>
                  <a:srgbClr val="0070C0"/>
                </a:solidFill>
              </a:rPr>
              <a:t>pour les écarts temporaires</a:t>
            </a:r>
            <a:endParaRPr lang="fr-CA" dirty="0">
              <a:solidFill>
                <a:srgbClr val="0070C0"/>
              </a:solidFill>
            </a:endParaRPr>
          </a:p>
          <a:p>
            <a:pPr marL="0" indent="0">
              <a:buNone/>
            </a:pPr>
            <a:endParaRPr lang="fr-FR" dirty="0"/>
          </a:p>
          <a:p>
            <a:pPr marL="0" indent="0">
              <a:buNone/>
              <a:tabLst>
                <a:tab pos="2333625" algn="l"/>
                <a:tab pos="4302125" algn="l"/>
                <a:tab pos="6008688" algn="l"/>
                <a:tab pos="8255000" algn="l"/>
              </a:tabLst>
            </a:pPr>
            <a:r>
              <a:rPr lang="fr-FR" dirty="0">
                <a:solidFill>
                  <a:srgbClr val="FF0000"/>
                </a:solidFill>
              </a:rPr>
              <a:t>Valeur	Valeur	Écart	 taux d’impôt	</a:t>
            </a:r>
            <a:r>
              <a:rPr lang="fr-FR" i="1" dirty="0">
                <a:solidFill>
                  <a:srgbClr val="FF0000"/>
                </a:solidFill>
              </a:rPr>
              <a:t> Actif ou passif</a:t>
            </a:r>
            <a:endParaRPr lang="fr-FR" dirty="0">
              <a:solidFill>
                <a:srgbClr val="FF0000"/>
              </a:solidFill>
            </a:endParaRPr>
          </a:p>
          <a:p>
            <a:pPr marL="0" indent="0">
              <a:spcBef>
                <a:spcPts val="0"/>
              </a:spcBef>
              <a:buNone/>
              <a:tabLst>
                <a:tab pos="2333625" algn="l"/>
                <a:tab pos="4302125" algn="l"/>
                <a:tab pos="6008688" algn="l"/>
                <a:tab pos="8255000" algn="l"/>
              </a:tabLst>
            </a:pPr>
            <a:r>
              <a:rPr lang="fr-FR" dirty="0">
                <a:solidFill>
                  <a:srgbClr val="FF0000"/>
                </a:solidFill>
              </a:rPr>
              <a:t>comptable	fiscale	temporaire	 prévu	d’impôts différés</a:t>
            </a:r>
          </a:p>
          <a:p>
            <a:pPr marL="0" indent="0">
              <a:spcBef>
                <a:spcPts val="0"/>
              </a:spcBef>
              <a:buNone/>
              <a:tabLst>
                <a:tab pos="2333625" algn="l"/>
                <a:tab pos="4302125" algn="l"/>
                <a:tab pos="6008688" algn="l"/>
                <a:tab pos="8255000" algn="l"/>
              </a:tabLst>
            </a:pPr>
            <a:r>
              <a:rPr lang="fr-FR" dirty="0"/>
              <a:t>40 000 DT	0	40 000	22 %	8 800  PID</a:t>
            </a:r>
          </a:p>
          <a:p>
            <a:pPr marL="0" indent="0">
              <a:buNone/>
              <a:tabLst>
                <a:tab pos="2333625" algn="l"/>
                <a:tab pos="4302125" algn="l"/>
                <a:tab pos="6008688" algn="l"/>
                <a:tab pos="8255000" algn="l"/>
              </a:tabLst>
            </a:pPr>
            <a:r>
              <a:rPr lang="fr-FR" dirty="0"/>
              <a:t>				</a:t>
            </a: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FR" sz="2400" i="1"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53</a:t>
            </a:fld>
            <a:endParaRPr lang="fr-FR"/>
          </a:p>
        </p:txBody>
      </p:sp>
    </p:spTree>
    <p:extLst>
      <p:ext uri="{BB962C8B-B14F-4D97-AF65-F5344CB8AC3E}">
        <p14:creationId xmlns:p14="http://schemas.microsoft.com/office/powerpoint/2010/main" val="1616950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966349-9C0E-4DCA-ABB4-4D49CF220180}"/>
              </a:ext>
            </a:extLst>
          </p:cNvPr>
          <p:cNvSpPr>
            <a:spLocks noGrp="1"/>
          </p:cNvSpPr>
          <p:nvPr>
            <p:ph type="title"/>
          </p:nvPr>
        </p:nvSpPr>
        <p:spPr/>
        <p:txBody>
          <a:bodyPr/>
          <a:lstStyle/>
          <a:p>
            <a:r>
              <a:rPr lang="fr-CA" dirty="0"/>
              <a:t>Calcul de l’impôt différé – Placement</a:t>
            </a:r>
            <a:endParaRPr lang="fr-FR" dirty="0"/>
          </a:p>
        </p:txBody>
      </p:sp>
      <p:sp>
        <p:nvSpPr>
          <p:cNvPr id="3" name="Espace réservé du contenu 2">
            <a:extLst>
              <a:ext uri="{FF2B5EF4-FFF2-40B4-BE49-F238E27FC236}">
                <a16:creationId xmlns:a16="http://schemas.microsoft.com/office/drawing/2014/main" id="{FD279829-B99C-40E6-9B8C-0CA94E8C2F9E}"/>
              </a:ext>
            </a:extLst>
          </p:cNvPr>
          <p:cNvSpPr>
            <a:spLocks noGrp="1"/>
          </p:cNvSpPr>
          <p:nvPr>
            <p:ph idx="1"/>
          </p:nvPr>
        </p:nvSpPr>
        <p:spPr/>
        <p:txBody>
          <a:bodyPr/>
          <a:lstStyle/>
          <a:p>
            <a:r>
              <a:rPr lang="fr-CA" dirty="0"/>
              <a:t>Détient quelques actions en bourse – IFRS 9 juste valeur</a:t>
            </a:r>
          </a:p>
          <a:p>
            <a:pPr lvl="1"/>
            <a:r>
              <a:rPr lang="fr-CA" dirty="0"/>
              <a:t>Placement initialement acquis pour 50 000 $</a:t>
            </a:r>
          </a:p>
          <a:p>
            <a:pPr lvl="1"/>
            <a:r>
              <a:rPr lang="fr-CA" dirty="0"/>
              <a:t>Montant présenté à l’état de la situation financière : 65 000 $, plus value de la période – 6 000 $</a:t>
            </a:r>
          </a:p>
          <a:p>
            <a:pPr lvl="1"/>
            <a:r>
              <a:rPr lang="fr-CA" dirty="0"/>
              <a:t>Gain imposable lors de la disposition</a:t>
            </a:r>
          </a:p>
          <a:p>
            <a:pPr lvl="1"/>
            <a:endParaRPr lang="fr-CA" dirty="0"/>
          </a:p>
          <a:p>
            <a:pPr lvl="1"/>
            <a:r>
              <a:rPr lang="fr-CA" dirty="0"/>
              <a:t>Taux d’impôt prévu : 22 %</a:t>
            </a:r>
          </a:p>
          <a:p>
            <a:pPr lvl="1"/>
            <a:endParaRPr lang="fr-CA" dirty="0"/>
          </a:p>
          <a:p>
            <a:pPr lvl="1"/>
            <a:r>
              <a:rPr lang="fr-CA" dirty="0"/>
              <a:t>Actif ou passif?</a:t>
            </a:r>
            <a:endParaRPr lang="fr-FR" dirty="0"/>
          </a:p>
        </p:txBody>
      </p:sp>
      <p:sp>
        <p:nvSpPr>
          <p:cNvPr id="4" name="Espace réservé du pied de page 3">
            <a:extLst>
              <a:ext uri="{FF2B5EF4-FFF2-40B4-BE49-F238E27FC236}">
                <a16:creationId xmlns:a16="http://schemas.microsoft.com/office/drawing/2014/main" id="{959D151C-3FCC-4E75-B0E7-5687C59D93F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26BA68DA-4AEE-4B6A-9914-D89004EE6416}"/>
              </a:ext>
            </a:extLst>
          </p:cNvPr>
          <p:cNvSpPr>
            <a:spLocks noGrp="1"/>
          </p:cNvSpPr>
          <p:nvPr>
            <p:ph type="sldNum" sz="quarter" idx="12"/>
          </p:nvPr>
        </p:nvSpPr>
        <p:spPr/>
        <p:txBody>
          <a:bodyPr/>
          <a:lstStyle/>
          <a:p>
            <a:fld id="{9820BAFF-92A6-45A5-B1F5-B233E0C14C43}" type="slidenum">
              <a:rPr lang="fr-FR" smtClean="0"/>
              <a:t>54</a:t>
            </a:fld>
            <a:endParaRPr lang="fr-FR"/>
          </a:p>
        </p:txBody>
      </p:sp>
    </p:spTree>
    <p:extLst>
      <p:ext uri="{BB962C8B-B14F-4D97-AF65-F5344CB8AC3E}">
        <p14:creationId xmlns:p14="http://schemas.microsoft.com/office/powerpoint/2010/main" val="37136752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025C3E-F3B8-47B4-A204-9D6C643C46E7}"/>
              </a:ext>
            </a:extLst>
          </p:cNvPr>
          <p:cNvSpPr>
            <a:spLocks noGrp="1"/>
          </p:cNvSpPr>
          <p:nvPr>
            <p:ph type="title"/>
          </p:nvPr>
        </p:nvSpPr>
        <p:spPr/>
        <p:txBody>
          <a:bodyPr/>
          <a:lstStyle/>
          <a:p>
            <a:r>
              <a:rPr lang="fr-CA" dirty="0"/>
              <a:t>Impôts différés - calcul</a:t>
            </a:r>
            <a:endParaRPr lang="fr-FR" dirty="0"/>
          </a:p>
        </p:txBody>
      </p:sp>
      <p:sp>
        <p:nvSpPr>
          <p:cNvPr id="3" name="Espace réservé du contenu 2">
            <a:extLst>
              <a:ext uri="{FF2B5EF4-FFF2-40B4-BE49-F238E27FC236}">
                <a16:creationId xmlns:a16="http://schemas.microsoft.com/office/drawing/2014/main" id="{37AAC586-0CA4-4B92-8AAA-B744B17FED43}"/>
              </a:ext>
            </a:extLst>
          </p:cNvPr>
          <p:cNvSpPr>
            <a:spLocks noGrp="1"/>
          </p:cNvSpPr>
          <p:nvPr>
            <p:ph idx="1"/>
          </p:nvPr>
        </p:nvSpPr>
        <p:spPr>
          <a:xfrm>
            <a:off x="548641" y="1825625"/>
            <a:ext cx="11181806" cy="4351338"/>
          </a:xfrm>
        </p:spPr>
        <p:txBody>
          <a:bodyPr>
            <a:normAutofit/>
          </a:bodyPr>
          <a:lstStyle/>
          <a:p>
            <a:pPr marL="0" indent="0">
              <a:buNone/>
            </a:pPr>
            <a:r>
              <a:rPr lang="fr-CA" dirty="0"/>
              <a:t>Approche «  bilan »  =&gt; </a:t>
            </a:r>
            <a:r>
              <a:rPr lang="fr-CA" i="1" dirty="0">
                <a:solidFill>
                  <a:srgbClr val="0070C0"/>
                </a:solidFill>
              </a:rPr>
              <a:t>pour les écarts temporaires</a:t>
            </a:r>
            <a:endParaRPr lang="fr-CA" dirty="0">
              <a:solidFill>
                <a:srgbClr val="0070C0"/>
              </a:solidFill>
            </a:endParaRPr>
          </a:p>
          <a:p>
            <a:pPr marL="0" indent="0">
              <a:buNone/>
            </a:pPr>
            <a:endParaRPr lang="fr-FR" dirty="0"/>
          </a:p>
          <a:p>
            <a:pPr marL="0" indent="0">
              <a:buNone/>
              <a:tabLst>
                <a:tab pos="2333625" algn="l"/>
                <a:tab pos="4302125" algn="l"/>
                <a:tab pos="6008688" algn="l"/>
                <a:tab pos="8255000" algn="l"/>
              </a:tabLst>
            </a:pPr>
            <a:r>
              <a:rPr lang="fr-FR" dirty="0">
                <a:solidFill>
                  <a:srgbClr val="FF0000"/>
                </a:solidFill>
              </a:rPr>
              <a:t>Valeur	Valeur	Écart	 taux d’impôt	</a:t>
            </a:r>
            <a:r>
              <a:rPr lang="fr-FR" i="1" dirty="0">
                <a:solidFill>
                  <a:srgbClr val="FF0000"/>
                </a:solidFill>
              </a:rPr>
              <a:t> Actif ou passif</a:t>
            </a:r>
            <a:endParaRPr lang="fr-FR" dirty="0">
              <a:solidFill>
                <a:srgbClr val="FF0000"/>
              </a:solidFill>
            </a:endParaRPr>
          </a:p>
          <a:p>
            <a:pPr marL="0" indent="0">
              <a:spcBef>
                <a:spcPts val="0"/>
              </a:spcBef>
              <a:buNone/>
              <a:tabLst>
                <a:tab pos="2333625" algn="l"/>
                <a:tab pos="4302125" algn="l"/>
                <a:tab pos="6008688" algn="l"/>
                <a:tab pos="8255000" algn="l"/>
              </a:tabLst>
            </a:pPr>
            <a:r>
              <a:rPr lang="fr-FR" dirty="0">
                <a:solidFill>
                  <a:srgbClr val="FF0000"/>
                </a:solidFill>
              </a:rPr>
              <a:t>comptable	fiscale	temporaire	 prévu	d’impôts différés</a:t>
            </a:r>
          </a:p>
          <a:p>
            <a:pPr marL="0" indent="0">
              <a:spcBef>
                <a:spcPts val="0"/>
              </a:spcBef>
              <a:buNone/>
              <a:tabLst>
                <a:tab pos="2333625" algn="l"/>
                <a:tab pos="4302125" algn="l"/>
                <a:tab pos="6008688" algn="l"/>
                <a:tab pos="8255000" algn="l"/>
              </a:tabLst>
            </a:pPr>
            <a:r>
              <a:rPr lang="fr-FR" dirty="0"/>
              <a:t>65 000 DT	50 000	</a:t>
            </a:r>
            <a:r>
              <a:rPr lang="fr-FR" sz="2400" u="sng" dirty="0"/>
              <a:t>15 000 </a:t>
            </a:r>
            <a:r>
              <a:rPr lang="fr-FR" sz="2400" b="1" u="sng" dirty="0"/>
              <a:t>* 50 % </a:t>
            </a:r>
            <a:r>
              <a:rPr lang="fr-FR" sz="2400" b="1" dirty="0"/>
              <a:t>    </a:t>
            </a:r>
            <a:r>
              <a:rPr lang="fr-FR" dirty="0"/>
              <a:t>22 %	1 650  PID</a:t>
            </a:r>
          </a:p>
          <a:p>
            <a:pPr marL="0" indent="0">
              <a:buNone/>
              <a:tabLst>
                <a:tab pos="2333625" algn="l"/>
                <a:tab pos="4302125" algn="l"/>
                <a:tab pos="6008688" algn="l"/>
                <a:tab pos="8255000" algn="l"/>
              </a:tabLst>
            </a:pPr>
            <a:r>
              <a:rPr lang="fr-FR" dirty="0"/>
              <a:t>				</a:t>
            </a:r>
            <a:endParaRPr lang="fr-FR" sz="2400" i="1" dirty="0"/>
          </a:p>
          <a:p>
            <a:pPr marL="0" indent="0">
              <a:buNone/>
              <a:tabLst>
                <a:tab pos="2333625" algn="l"/>
                <a:tab pos="4302125" algn="l"/>
                <a:tab pos="6008688" algn="l"/>
                <a:tab pos="8255000" algn="l"/>
              </a:tabLst>
            </a:pPr>
            <a:endParaRPr lang="fr-FR" sz="2400" i="1" dirty="0"/>
          </a:p>
          <a:p>
            <a:pPr marL="0" indent="0">
              <a:buNone/>
              <a:tabLst>
                <a:tab pos="2333625" algn="l"/>
                <a:tab pos="4302125" algn="l"/>
                <a:tab pos="6008688" algn="l"/>
                <a:tab pos="8255000" algn="l"/>
              </a:tabLst>
            </a:pPr>
            <a:endParaRPr lang="fr-FR" sz="2400" i="1" dirty="0"/>
          </a:p>
        </p:txBody>
      </p:sp>
      <p:sp>
        <p:nvSpPr>
          <p:cNvPr id="4" name="Espace réservé du pied de page 3">
            <a:extLst>
              <a:ext uri="{FF2B5EF4-FFF2-40B4-BE49-F238E27FC236}">
                <a16:creationId xmlns:a16="http://schemas.microsoft.com/office/drawing/2014/main" id="{8C1562BF-DCAB-414F-9D2A-C5E6D46F5195}"/>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F1DBCF50-BBF5-4A6C-AD02-66D775FBFDA5}"/>
              </a:ext>
            </a:extLst>
          </p:cNvPr>
          <p:cNvSpPr>
            <a:spLocks noGrp="1"/>
          </p:cNvSpPr>
          <p:nvPr>
            <p:ph type="sldNum" sz="quarter" idx="12"/>
          </p:nvPr>
        </p:nvSpPr>
        <p:spPr/>
        <p:txBody>
          <a:bodyPr/>
          <a:lstStyle/>
          <a:p>
            <a:fld id="{9820BAFF-92A6-45A5-B1F5-B233E0C14C43}" type="slidenum">
              <a:rPr lang="fr-FR" smtClean="0"/>
              <a:t>55</a:t>
            </a:fld>
            <a:endParaRPr lang="fr-FR"/>
          </a:p>
        </p:txBody>
      </p:sp>
    </p:spTree>
    <p:extLst>
      <p:ext uri="{BB962C8B-B14F-4D97-AF65-F5344CB8AC3E}">
        <p14:creationId xmlns:p14="http://schemas.microsoft.com/office/powerpoint/2010/main" val="3023605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E108FA-0DA9-4562-95CD-A1545C9FC109}"/>
              </a:ext>
            </a:extLst>
          </p:cNvPr>
          <p:cNvSpPr>
            <a:spLocks noGrp="1"/>
          </p:cNvSpPr>
          <p:nvPr>
            <p:ph type="title"/>
          </p:nvPr>
        </p:nvSpPr>
        <p:spPr/>
        <p:txBody>
          <a:bodyPr/>
          <a:lstStyle/>
          <a:p>
            <a:r>
              <a:rPr lang="fr-CA" dirty="0"/>
              <a:t>Impôts différés</a:t>
            </a:r>
            <a:endParaRPr lang="fr-FR" dirty="0"/>
          </a:p>
        </p:txBody>
      </p:sp>
      <p:sp>
        <p:nvSpPr>
          <p:cNvPr id="3" name="Espace réservé du contenu 2">
            <a:extLst>
              <a:ext uri="{FF2B5EF4-FFF2-40B4-BE49-F238E27FC236}">
                <a16:creationId xmlns:a16="http://schemas.microsoft.com/office/drawing/2014/main" id="{1AA53762-8771-4193-9DEC-DFD68DA698C4}"/>
              </a:ext>
            </a:extLst>
          </p:cNvPr>
          <p:cNvSpPr>
            <a:spLocks noGrp="1"/>
          </p:cNvSpPr>
          <p:nvPr>
            <p:ph idx="1"/>
          </p:nvPr>
        </p:nvSpPr>
        <p:spPr/>
        <p:txBody>
          <a:bodyPr/>
          <a:lstStyle/>
          <a:p>
            <a:r>
              <a:rPr lang="fr-CA" dirty="0"/>
              <a:t>Détermination de la charge / produit</a:t>
            </a:r>
          </a:p>
          <a:p>
            <a:pPr lvl="1"/>
            <a:r>
              <a:rPr lang="fr-CA" dirty="0"/>
              <a:t>Calcule le solde d’impôts différés fin de période</a:t>
            </a:r>
          </a:p>
          <a:p>
            <a:pPr lvl="2"/>
            <a:r>
              <a:rPr lang="fr-CA" dirty="0"/>
              <a:t>Écriture avec contrepartie résultat pour ajuster le solde actuel aux livres (souvent solde de la période précédente, aucun ajustement en cours de période)</a:t>
            </a:r>
          </a:p>
          <a:p>
            <a:pPr lvl="2"/>
            <a:endParaRPr lang="fr-CA" dirty="0"/>
          </a:p>
          <a:p>
            <a:pPr lvl="2"/>
            <a:r>
              <a:rPr lang="fr-CA" dirty="0"/>
              <a:t>Impôts différés</a:t>
            </a:r>
          </a:p>
          <a:p>
            <a:pPr marL="914400" lvl="2" indent="0">
              <a:buNone/>
            </a:pPr>
            <a:r>
              <a:rPr lang="fr-CA" dirty="0"/>
              <a:t>     @ Impôts différés…              </a:t>
            </a:r>
            <a:r>
              <a:rPr lang="fr-CA" i="1" dirty="0"/>
              <a:t>il faut donc préciser le poste charge et le  poste actif/passif</a:t>
            </a:r>
          </a:p>
          <a:p>
            <a:pPr marL="914400" lvl="2" indent="0">
              <a:buNone/>
            </a:pPr>
            <a:endParaRPr lang="fr-CA" i="1" dirty="0"/>
          </a:p>
          <a:p>
            <a:pPr marL="914400" lvl="2" indent="0">
              <a:buNone/>
            </a:pPr>
            <a:r>
              <a:rPr lang="fr-CA" i="1" dirty="0"/>
              <a:t>			Charge d’impôts différés</a:t>
            </a:r>
          </a:p>
          <a:p>
            <a:pPr marL="914400" lvl="2" indent="0">
              <a:buNone/>
            </a:pPr>
            <a:r>
              <a:rPr lang="fr-CA" i="1" dirty="0"/>
              <a:t>			@  Passif d’impôts différés</a:t>
            </a:r>
            <a:endParaRPr lang="fr-FR" dirty="0"/>
          </a:p>
        </p:txBody>
      </p:sp>
      <p:sp>
        <p:nvSpPr>
          <p:cNvPr id="4" name="Espace réservé du pied de page 3">
            <a:extLst>
              <a:ext uri="{FF2B5EF4-FFF2-40B4-BE49-F238E27FC236}">
                <a16:creationId xmlns:a16="http://schemas.microsoft.com/office/drawing/2014/main" id="{F2797CFC-F9C8-44F8-BC7A-E815C88A0A8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B3B34B77-CB2E-4125-9396-DAA101399309}"/>
              </a:ext>
            </a:extLst>
          </p:cNvPr>
          <p:cNvSpPr>
            <a:spLocks noGrp="1"/>
          </p:cNvSpPr>
          <p:nvPr>
            <p:ph type="sldNum" sz="quarter" idx="12"/>
          </p:nvPr>
        </p:nvSpPr>
        <p:spPr/>
        <p:txBody>
          <a:bodyPr/>
          <a:lstStyle/>
          <a:p>
            <a:fld id="{9820BAFF-92A6-45A5-B1F5-B233E0C14C43}" type="slidenum">
              <a:rPr lang="fr-FR" smtClean="0"/>
              <a:t>56</a:t>
            </a:fld>
            <a:endParaRPr lang="fr-FR"/>
          </a:p>
        </p:txBody>
      </p:sp>
    </p:spTree>
    <p:extLst>
      <p:ext uri="{BB962C8B-B14F-4D97-AF65-F5344CB8AC3E}">
        <p14:creationId xmlns:p14="http://schemas.microsoft.com/office/powerpoint/2010/main" val="14697872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E329A4-91A3-4C46-91AC-E5E7EC33A64E}"/>
              </a:ext>
            </a:extLst>
          </p:cNvPr>
          <p:cNvSpPr>
            <a:spLocks noGrp="1"/>
          </p:cNvSpPr>
          <p:nvPr>
            <p:ph type="title"/>
          </p:nvPr>
        </p:nvSpPr>
        <p:spPr/>
        <p:txBody>
          <a:bodyPr/>
          <a:lstStyle/>
          <a:p>
            <a:r>
              <a:rPr lang="fr-CA" dirty="0"/>
              <a:t>Report de pertes fiscales</a:t>
            </a:r>
            <a:endParaRPr lang="fr-FR" dirty="0"/>
          </a:p>
        </p:txBody>
      </p:sp>
      <p:sp>
        <p:nvSpPr>
          <p:cNvPr id="3" name="Espace réservé du contenu 2">
            <a:extLst>
              <a:ext uri="{FF2B5EF4-FFF2-40B4-BE49-F238E27FC236}">
                <a16:creationId xmlns:a16="http://schemas.microsoft.com/office/drawing/2014/main" id="{5C1B3C92-A7C8-4106-BDFB-E2D7ED853B05}"/>
              </a:ext>
            </a:extLst>
          </p:cNvPr>
          <p:cNvSpPr>
            <a:spLocks noGrp="1"/>
          </p:cNvSpPr>
          <p:nvPr>
            <p:ph idx="1"/>
          </p:nvPr>
        </p:nvSpPr>
        <p:spPr/>
        <p:txBody>
          <a:bodyPr/>
          <a:lstStyle/>
          <a:p>
            <a:endParaRPr lang="fr-FR" dirty="0"/>
          </a:p>
        </p:txBody>
      </p:sp>
      <p:sp>
        <p:nvSpPr>
          <p:cNvPr id="4" name="Espace réservé du pied de page 3">
            <a:extLst>
              <a:ext uri="{FF2B5EF4-FFF2-40B4-BE49-F238E27FC236}">
                <a16:creationId xmlns:a16="http://schemas.microsoft.com/office/drawing/2014/main" id="{F76FADE4-3A8E-4797-8B57-9676273595C0}"/>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FD4CEDA-22EC-41CB-AD55-642947115EA8}"/>
              </a:ext>
            </a:extLst>
          </p:cNvPr>
          <p:cNvSpPr>
            <a:spLocks noGrp="1"/>
          </p:cNvSpPr>
          <p:nvPr>
            <p:ph type="sldNum" sz="quarter" idx="12"/>
          </p:nvPr>
        </p:nvSpPr>
        <p:spPr/>
        <p:txBody>
          <a:bodyPr/>
          <a:lstStyle/>
          <a:p>
            <a:fld id="{9820BAFF-92A6-45A5-B1F5-B233E0C14C43}" type="slidenum">
              <a:rPr lang="fr-FR" smtClean="0"/>
              <a:t>57</a:t>
            </a:fld>
            <a:endParaRPr lang="fr-FR"/>
          </a:p>
        </p:txBody>
      </p:sp>
    </p:spTree>
    <p:extLst>
      <p:ext uri="{BB962C8B-B14F-4D97-AF65-F5344CB8AC3E}">
        <p14:creationId xmlns:p14="http://schemas.microsoft.com/office/powerpoint/2010/main" val="27405150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87C25C-3165-490A-AEAA-07AA70EBFEC7}"/>
              </a:ext>
            </a:extLst>
          </p:cNvPr>
          <p:cNvSpPr>
            <a:spLocks noGrp="1"/>
          </p:cNvSpPr>
          <p:nvPr>
            <p:ph type="title"/>
          </p:nvPr>
        </p:nvSpPr>
        <p:spPr/>
        <p:txBody>
          <a:bodyPr/>
          <a:lstStyle/>
          <a:p>
            <a:r>
              <a:rPr lang="fr-CA" dirty="0"/>
              <a:t>Report de pertes</a:t>
            </a:r>
            <a:endParaRPr lang="fr-FR" dirty="0"/>
          </a:p>
        </p:txBody>
      </p:sp>
      <p:sp>
        <p:nvSpPr>
          <p:cNvPr id="3" name="Espace réservé du contenu 2">
            <a:extLst>
              <a:ext uri="{FF2B5EF4-FFF2-40B4-BE49-F238E27FC236}">
                <a16:creationId xmlns:a16="http://schemas.microsoft.com/office/drawing/2014/main" id="{D1807A44-851E-4DCA-A57B-3FFFD65FA70A}"/>
              </a:ext>
            </a:extLst>
          </p:cNvPr>
          <p:cNvSpPr>
            <a:spLocks noGrp="1"/>
          </p:cNvSpPr>
          <p:nvPr>
            <p:ph idx="1"/>
          </p:nvPr>
        </p:nvSpPr>
        <p:spPr/>
        <p:txBody>
          <a:bodyPr/>
          <a:lstStyle/>
          <a:p>
            <a:r>
              <a:rPr lang="fr-CA" dirty="0"/>
              <a:t>Pertes autres qu’en capital</a:t>
            </a:r>
          </a:p>
          <a:p>
            <a:pPr lvl="1"/>
            <a:r>
              <a:rPr lang="fr-CA" dirty="0"/>
              <a:t>Période de report : 3 dernière années / 20 prochaines années</a:t>
            </a:r>
          </a:p>
          <a:p>
            <a:pPr lvl="2"/>
            <a:r>
              <a:rPr lang="fr-CA" dirty="0"/>
              <a:t>Contre un bénéfice imposable</a:t>
            </a:r>
          </a:p>
          <a:p>
            <a:pPr lvl="2"/>
            <a:r>
              <a:rPr lang="fr-CA" dirty="0"/>
              <a:t>Donc ne pas comptabiliser un avantage fiscal signifierait que ne prévoit pas de bénéfice imposable pour cette période</a:t>
            </a:r>
          </a:p>
          <a:p>
            <a:pPr marL="1371600" lvl="3" indent="0">
              <a:buNone/>
            </a:pPr>
            <a:endParaRPr lang="fr-CA" dirty="0"/>
          </a:p>
          <a:p>
            <a:r>
              <a:rPr lang="fr-CA" dirty="0"/>
              <a:t>Pertes en capital – 50 %</a:t>
            </a:r>
          </a:p>
          <a:p>
            <a:pPr lvl="1"/>
            <a:r>
              <a:rPr lang="fr-CA" dirty="0"/>
              <a:t>Période de report : 3 dernières années / années futures indéfiniment</a:t>
            </a:r>
          </a:p>
          <a:p>
            <a:pPr lvl="2"/>
            <a:r>
              <a:rPr lang="fr-CA" u="sng" dirty="0">
                <a:solidFill>
                  <a:srgbClr val="0070C0"/>
                </a:solidFill>
              </a:rPr>
              <a:t>Contre un gain en capital (50 %) uniquement</a:t>
            </a:r>
          </a:p>
          <a:p>
            <a:endParaRPr lang="fr-FR" dirty="0"/>
          </a:p>
        </p:txBody>
      </p:sp>
      <p:sp>
        <p:nvSpPr>
          <p:cNvPr id="4" name="Espace réservé du pied de page 3">
            <a:extLst>
              <a:ext uri="{FF2B5EF4-FFF2-40B4-BE49-F238E27FC236}">
                <a16:creationId xmlns:a16="http://schemas.microsoft.com/office/drawing/2014/main" id="{624623AE-6FB9-4CC4-833D-8A9F302EABAA}"/>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5F301A6E-0B46-4ACA-9159-7F78B53C5B44}"/>
              </a:ext>
            </a:extLst>
          </p:cNvPr>
          <p:cNvSpPr>
            <a:spLocks noGrp="1"/>
          </p:cNvSpPr>
          <p:nvPr>
            <p:ph type="sldNum" sz="quarter" idx="12"/>
          </p:nvPr>
        </p:nvSpPr>
        <p:spPr/>
        <p:txBody>
          <a:bodyPr/>
          <a:lstStyle/>
          <a:p>
            <a:fld id="{9820BAFF-92A6-45A5-B1F5-B233E0C14C43}" type="slidenum">
              <a:rPr lang="fr-FR" smtClean="0"/>
              <a:t>58</a:t>
            </a:fld>
            <a:endParaRPr lang="fr-FR"/>
          </a:p>
        </p:txBody>
      </p:sp>
    </p:spTree>
    <p:extLst>
      <p:ext uri="{BB962C8B-B14F-4D97-AF65-F5344CB8AC3E}">
        <p14:creationId xmlns:p14="http://schemas.microsoft.com/office/powerpoint/2010/main" val="212686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87C25C-3165-490A-AEAA-07AA70EBFEC7}"/>
              </a:ext>
            </a:extLst>
          </p:cNvPr>
          <p:cNvSpPr>
            <a:spLocks noGrp="1"/>
          </p:cNvSpPr>
          <p:nvPr>
            <p:ph type="title"/>
          </p:nvPr>
        </p:nvSpPr>
        <p:spPr/>
        <p:txBody>
          <a:bodyPr/>
          <a:lstStyle/>
          <a:p>
            <a:r>
              <a:rPr lang="fr-CA" dirty="0"/>
              <a:t>Report de pertes</a:t>
            </a:r>
            <a:endParaRPr lang="fr-FR" dirty="0"/>
          </a:p>
        </p:txBody>
      </p:sp>
      <p:sp>
        <p:nvSpPr>
          <p:cNvPr id="3" name="Espace réservé du contenu 2">
            <a:extLst>
              <a:ext uri="{FF2B5EF4-FFF2-40B4-BE49-F238E27FC236}">
                <a16:creationId xmlns:a16="http://schemas.microsoft.com/office/drawing/2014/main" id="{D1807A44-851E-4DCA-A57B-3FFFD65FA70A}"/>
              </a:ext>
            </a:extLst>
          </p:cNvPr>
          <p:cNvSpPr>
            <a:spLocks noGrp="1"/>
          </p:cNvSpPr>
          <p:nvPr>
            <p:ph idx="1"/>
          </p:nvPr>
        </p:nvSpPr>
        <p:spPr/>
        <p:txBody>
          <a:bodyPr/>
          <a:lstStyle/>
          <a:p>
            <a:r>
              <a:rPr lang="fr-CA" dirty="0"/>
              <a:t>Report rétrospectif</a:t>
            </a:r>
          </a:p>
          <a:p>
            <a:pPr lvl="1"/>
            <a:r>
              <a:rPr lang="fr-CA" dirty="0"/>
              <a:t>Impôts à recouvrer </a:t>
            </a:r>
          </a:p>
          <a:p>
            <a:pPr lvl="2"/>
            <a:r>
              <a:rPr lang="fr-CA" dirty="0"/>
              <a:t>Au taux d’impôt historiquement en vigueur</a:t>
            </a:r>
          </a:p>
          <a:p>
            <a:pPr marL="1371600" lvl="3" indent="0">
              <a:buNone/>
            </a:pPr>
            <a:endParaRPr lang="fr-CA" dirty="0"/>
          </a:p>
          <a:p>
            <a:r>
              <a:rPr lang="fr-CA" dirty="0"/>
              <a:t>Report prospectif</a:t>
            </a:r>
          </a:p>
          <a:p>
            <a:pPr lvl="1"/>
            <a:r>
              <a:rPr lang="fr-CA" dirty="0"/>
              <a:t>Impôts différés</a:t>
            </a:r>
          </a:p>
          <a:p>
            <a:pPr lvl="2"/>
            <a:r>
              <a:rPr lang="fr-CA" dirty="0"/>
              <a:t>Au taux d’impôt prévu</a:t>
            </a:r>
          </a:p>
          <a:p>
            <a:endParaRPr lang="fr-FR" dirty="0"/>
          </a:p>
        </p:txBody>
      </p:sp>
      <p:sp>
        <p:nvSpPr>
          <p:cNvPr id="4" name="Espace réservé du pied de page 3">
            <a:extLst>
              <a:ext uri="{FF2B5EF4-FFF2-40B4-BE49-F238E27FC236}">
                <a16:creationId xmlns:a16="http://schemas.microsoft.com/office/drawing/2014/main" id="{624623AE-6FB9-4CC4-833D-8A9F302EABAA}"/>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5F301A6E-0B46-4ACA-9159-7F78B53C5B44}"/>
              </a:ext>
            </a:extLst>
          </p:cNvPr>
          <p:cNvSpPr>
            <a:spLocks noGrp="1"/>
          </p:cNvSpPr>
          <p:nvPr>
            <p:ph type="sldNum" sz="quarter" idx="12"/>
          </p:nvPr>
        </p:nvSpPr>
        <p:spPr/>
        <p:txBody>
          <a:bodyPr/>
          <a:lstStyle/>
          <a:p>
            <a:fld id="{9820BAFF-92A6-45A5-B1F5-B233E0C14C43}" type="slidenum">
              <a:rPr lang="fr-FR" smtClean="0"/>
              <a:t>59</a:t>
            </a:fld>
            <a:endParaRPr lang="fr-FR"/>
          </a:p>
        </p:txBody>
      </p:sp>
    </p:spTree>
    <p:extLst>
      <p:ext uri="{BB962C8B-B14F-4D97-AF65-F5344CB8AC3E}">
        <p14:creationId xmlns:p14="http://schemas.microsoft.com/office/powerpoint/2010/main" val="1727344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883162-FD3E-40B6-ACFF-53A5A593BFC6}"/>
              </a:ext>
            </a:extLst>
          </p:cNvPr>
          <p:cNvSpPr>
            <a:spLocks noGrp="1"/>
          </p:cNvSpPr>
          <p:nvPr>
            <p:ph type="title"/>
          </p:nvPr>
        </p:nvSpPr>
        <p:spPr/>
        <p:txBody>
          <a:bodyPr/>
          <a:lstStyle/>
          <a:p>
            <a:r>
              <a:rPr lang="fr-CA" dirty="0"/>
              <a:t>Report de pertes </a:t>
            </a:r>
            <a:endParaRPr lang="fr-FR" dirty="0"/>
          </a:p>
        </p:txBody>
      </p:sp>
      <p:sp>
        <p:nvSpPr>
          <p:cNvPr id="3" name="Espace réservé du contenu 2">
            <a:extLst>
              <a:ext uri="{FF2B5EF4-FFF2-40B4-BE49-F238E27FC236}">
                <a16:creationId xmlns:a16="http://schemas.microsoft.com/office/drawing/2014/main" id="{054EA005-AE7B-4FAE-AD0F-1FF4C7B5B372}"/>
              </a:ext>
            </a:extLst>
          </p:cNvPr>
          <p:cNvSpPr>
            <a:spLocks noGrp="1"/>
          </p:cNvSpPr>
          <p:nvPr>
            <p:ph idx="1"/>
          </p:nvPr>
        </p:nvSpPr>
        <p:spPr/>
        <p:txBody>
          <a:bodyPr>
            <a:normAutofit fontScale="92500" lnSpcReduction="20000"/>
          </a:bodyPr>
          <a:lstStyle/>
          <a:p>
            <a:pPr marL="0" indent="0">
              <a:buNone/>
            </a:pPr>
            <a:r>
              <a:rPr lang="fr-CA" dirty="0"/>
              <a:t>ABC a été fondé le 1</a:t>
            </a:r>
            <a:r>
              <a:rPr lang="fr-CA" baseline="30000" dirty="0"/>
              <a:t>er</a:t>
            </a:r>
            <a:r>
              <a:rPr lang="fr-CA" dirty="0"/>
              <a:t> janvier 2018.</a:t>
            </a:r>
          </a:p>
          <a:p>
            <a:pPr marL="0" indent="0">
              <a:buNone/>
            </a:pPr>
            <a:r>
              <a:rPr lang="fr-CA" dirty="0"/>
              <a:t>Pour l’exercice 2018, elle a généré un bénéfice imposable de 20 000 $ et pour 2019 un bénéfice imposable de 35 000 $. Taux d’impôt en vigueur pour ces deux périodes : 30 %</a:t>
            </a:r>
          </a:p>
          <a:p>
            <a:pPr marL="0" indent="0">
              <a:buNone/>
            </a:pPr>
            <a:r>
              <a:rPr lang="fr-CA" dirty="0"/>
              <a:t>Pour l’exercice clos le 31 décembre 2020, suite à un arrêt causé par la COVID, ABC encourt une perte fiscale de 100 000 $. L’entreprise est toujours solvable suite à un réinvestissement des actionnaires et le modèle d’affaires est encore rentable dans des conditions « normales ».</a:t>
            </a:r>
          </a:p>
          <a:p>
            <a:pPr marL="0" indent="0">
              <a:buNone/>
            </a:pPr>
            <a:r>
              <a:rPr lang="fr-CA" dirty="0"/>
              <a:t>Le taux d’impôts a été revu par les autorités fiscales et s’établit depuis le 1</a:t>
            </a:r>
            <a:r>
              <a:rPr lang="fr-CA" baseline="30000" dirty="0"/>
              <a:t>er</a:t>
            </a:r>
            <a:r>
              <a:rPr lang="fr-CA" dirty="0"/>
              <a:t> janvier 2020 à 32 %.</a:t>
            </a:r>
          </a:p>
          <a:p>
            <a:pPr marL="0" indent="0">
              <a:buNone/>
            </a:pPr>
            <a:endParaRPr lang="fr-CA" dirty="0"/>
          </a:p>
          <a:p>
            <a:pPr marL="0" indent="0">
              <a:buNone/>
            </a:pPr>
            <a:r>
              <a:rPr lang="fr-CA" i="1" dirty="0"/>
              <a:t>Préparez les écritures comptables pour l’exercice 2020 – liées aux information présentées.</a:t>
            </a:r>
            <a:endParaRPr lang="fr-FR" i="1" dirty="0"/>
          </a:p>
        </p:txBody>
      </p:sp>
      <p:sp>
        <p:nvSpPr>
          <p:cNvPr id="4" name="Espace réservé du pied de page 3">
            <a:extLst>
              <a:ext uri="{FF2B5EF4-FFF2-40B4-BE49-F238E27FC236}">
                <a16:creationId xmlns:a16="http://schemas.microsoft.com/office/drawing/2014/main" id="{61ECB270-A9AC-4D2C-B39E-32EE925F424C}"/>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8305D92A-CA3F-40AC-B562-5798AF6D8B3A}"/>
              </a:ext>
            </a:extLst>
          </p:cNvPr>
          <p:cNvSpPr>
            <a:spLocks noGrp="1"/>
          </p:cNvSpPr>
          <p:nvPr>
            <p:ph type="sldNum" sz="quarter" idx="12"/>
          </p:nvPr>
        </p:nvSpPr>
        <p:spPr/>
        <p:txBody>
          <a:bodyPr/>
          <a:lstStyle/>
          <a:p>
            <a:fld id="{9820BAFF-92A6-45A5-B1F5-B233E0C14C43}" type="slidenum">
              <a:rPr lang="fr-FR" smtClean="0"/>
              <a:t>60</a:t>
            </a:fld>
            <a:endParaRPr lang="fr-FR"/>
          </a:p>
        </p:txBody>
      </p:sp>
    </p:spTree>
    <p:extLst>
      <p:ext uri="{BB962C8B-B14F-4D97-AF65-F5344CB8AC3E}">
        <p14:creationId xmlns:p14="http://schemas.microsoft.com/office/powerpoint/2010/main" val="21182108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02B8CD-21FB-4D89-B171-00A84CC183C7}"/>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5B87B6F5-BE81-4FFE-9C8E-3A46351E5BFD}"/>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07FF0425-E13B-489B-ADEE-C03AC320EBC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70AD5D5B-D622-47BE-B970-410A6445C98B}"/>
              </a:ext>
            </a:extLst>
          </p:cNvPr>
          <p:cNvSpPr>
            <a:spLocks noGrp="1"/>
          </p:cNvSpPr>
          <p:nvPr>
            <p:ph type="sldNum" sz="quarter" idx="12"/>
          </p:nvPr>
        </p:nvSpPr>
        <p:spPr/>
        <p:txBody>
          <a:bodyPr/>
          <a:lstStyle/>
          <a:p>
            <a:fld id="{9820BAFF-92A6-45A5-B1F5-B233E0C14C43}" type="slidenum">
              <a:rPr lang="fr-FR" smtClean="0"/>
              <a:t>61</a:t>
            </a:fld>
            <a:endParaRPr lang="fr-FR"/>
          </a:p>
        </p:txBody>
      </p:sp>
      <p:pic>
        <p:nvPicPr>
          <p:cNvPr id="6" name="Image 5">
            <a:extLst>
              <a:ext uri="{FF2B5EF4-FFF2-40B4-BE49-F238E27FC236}">
                <a16:creationId xmlns:a16="http://schemas.microsoft.com/office/drawing/2014/main" id="{9E7B7F4F-29C5-499E-BEBF-C8F70461B5CD}"/>
              </a:ext>
            </a:extLst>
          </p:cNvPr>
          <p:cNvPicPr>
            <a:picLocks noChangeAspect="1"/>
          </p:cNvPicPr>
          <p:nvPr/>
        </p:nvPicPr>
        <p:blipFill>
          <a:blip r:embed="rId2"/>
          <a:stretch>
            <a:fillRect/>
          </a:stretch>
        </p:blipFill>
        <p:spPr>
          <a:xfrm>
            <a:off x="1322704" y="1027906"/>
            <a:ext cx="5545025" cy="1473994"/>
          </a:xfrm>
          <a:prstGeom prst="rect">
            <a:avLst/>
          </a:prstGeom>
        </p:spPr>
      </p:pic>
      <p:pic>
        <p:nvPicPr>
          <p:cNvPr id="8" name="Image 7">
            <a:extLst>
              <a:ext uri="{FF2B5EF4-FFF2-40B4-BE49-F238E27FC236}">
                <a16:creationId xmlns:a16="http://schemas.microsoft.com/office/drawing/2014/main" id="{BCA2AF0D-2D74-49D3-973B-AD57AF3EB83E}"/>
              </a:ext>
            </a:extLst>
          </p:cNvPr>
          <p:cNvPicPr>
            <a:picLocks noChangeAspect="1"/>
          </p:cNvPicPr>
          <p:nvPr/>
        </p:nvPicPr>
        <p:blipFill>
          <a:blip r:embed="rId3"/>
          <a:stretch>
            <a:fillRect/>
          </a:stretch>
        </p:blipFill>
        <p:spPr>
          <a:xfrm>
            <a:off x="1322703" y="2681286"/>
            <a:ext cx="9870813" cy="2993019"/>
          </a:xfrm>
          <a:prstGeom prst="rect">
            <a:avLst/>
          </a:prstGeom>
        </p:spPr>
      </p:pic>
    </p:spTree>
    <p:extLst>
      <p:ext uri="{BB962C8B-B14F-4D97-AF65-F5344CB8AC3E}">
        <p14:creationId xmlns:p14="http://schemas.microsoft.com/office/powerpoint/2010/main" val="19559891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883162-FD3E-40B6-ACFF-53A5A593BFC6}"/>
              </a:ext>
            </a:extLst>
          </p:cNvPr>
          <p:cNvSpPr>
            <a:spLocks noGrp="1"/>
          </p:cNvSpPr>
          <p:nvPr>
            <p:ph type="title"/>
          </p:nvPr>
        </p:nvSpPr>
        <p:spPr/>
        <p:txBody>
          <a:bodyPr/>
          <a:lstStyle/>
          <a:p>
            <a:r>
              <a:rPr lang="fr-CA" dirty="0"/>
              <a:t>Report de pertes – suite du problème </a:t>
            </a:r>
            <a:endParaRPr lang="fr-FR" dirty="0"/>
          </a:p>
        </p:txBody>
      </p:sp>
      <p:sp>
        <p:nvSpPr>
          <p:cNvPr id="3" name="Espace réservé du contenu 2">
            <a:extLst>
              <a:ext uri="{FF2B5EF4-FFF2-40B4-BE49-F238E27FC236}">
                <a16:creationId xmlns:a16="http://schemas.microsoft.com/office/drawing/2014/main" id="{054EA005-AE7B-4FAE-AD0F-1FF4C7B5B372}"/>
              </a:ext>
            </a:extLst>
          </p:cNvPr>
          <p:cNvSpPr>
            <a:spLocks noGrp="1"/>
          </p:cNvSpPr>
          <p:nvPr>
            <p:ph idx="1"/>
          </p:nvPr>
        </p:nvSpPr>
        <p:spPr/>
        <p:txBody>
          <a:bodyPr>
            <a:normAutofit/>
          </a:bodyPr>
          <a:lstStyle/>
          <a:p>
            <a:pPr marL="0" indent="0">
              <a:buNone/>
            </a:pPr>
            <a:r>
              <a:rPr lang="fr-CA" dirty="0"/>
              <a:t>Pour l’exercice clos le 31 décembre 2021, ABC a généré un bénéfice imposable de </a:t>
            </a:r>
            <a:r>
              <a:rPr lang="fr-CA" dirty="0">
                <a:solidFill>
                  <a:srgbClr val="FF0000"/>
                </a:solidFill>
              </a:rPr>
              <a:t>95 000 </a:t>
            </a:r>
            <a:r>
              <a:rPr lang="fr-CA" dirty="0"/>
              <a:t>$.</a:t>
            </a:r>
          </a:p>
          <a:p>
            <a:pPr marL="0" indent="0">
              <a:buNone/>
            </a:pPr>
            <a:r>
              <a:rPr lang="fr-CA" dirty="0"/>
              <a:t>Taux d’impôt demeure à 32 %. </a:t>
            </a:r>
          </a:p>
          <a:p>
            <a:pPr marL="0" indent="0">
              <a:buNone/>
            </a:pPr>
            <a:endParaRPr lang="fr-CA" dirty="0"/>
          </a:p>
          <a:p>
            <a:pPr marL="0" indent="0">
              <a:buNone/>
            </a:pPr>
            <a:r>
              <a:rPr lang="fr-CA" i="1" dirty="0"/>
              <a:t>Préparez les écritures comptables pour l’exercice 2021 – liées aux information présentées.</a:t>
            </a:r>
            <a:endParaRPr lang="fr-FR" i="1" dirty="0"/>
          </a:p>
        </p:txBody>
      </p:sp>
      <p:sp>
        <p:nvSpPr>
          <p:cNvPr id="4" name="Espace réservé du pied de page 3">
            <a:extLst>
              <a:ext uri="{FF2B5EF4-FFF2-40B4-BE49-F238E27FC236}">
                <a16:creationId xmlns:a16="http://schemas.microsoft.com/office/drawing/2014/main" id="{61ECB270-A9AC-4D2C-B39E-32EE925F424C}"/>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8305D92A-CA3F-40AC-B562-5798AF6D8B3A}"/>
              </a:ext>
            </a:extLst>
          </p:cNvPr>
          <p:cNvSpPr>
            <a:spLocks noGrp="1"/>
          </p:cNvSpPr>
          <p:nvPr>
            <p:ph type="sldNum" sz="quarter" idx="12"/>
          </p:nvPr>
        </p:nvSpPr>
        <p:spPr/>
        <p:txBody>
          <a:bodyPr/>
          <a:lstStyle/>
          <a:p>
            <a:fld id="{9820BAFF-92A6-45A5-B1F5-B233E0C14C43}" type="slidenum">
              <a:rPr lang="fr-FR" smtClean="0"/>
              <a:t>62</a:t>
            </a:fld>
            <a:endParaRPr lang="fr-FR"/>
          </a:p>
        </p:txBody>
      </p:sp>
    </p:spTree>
    <p:extLst>
      <p:ext uri="{BB962C8B-B14F-4D97-AF65-F5344CB8AC3E}">
        <p14:creationId xmlns:p14="http://schemas.microsoft.com/office/powerpoint/2010/main" val="36358270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02B8CD-21FB-4D89-B171-00A84CC183C7}"/>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5B87B6F5-BE81-4FFE-9C8E-3A46351E5BFD}"/>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07FF0425-E13B-489B-ADEE-C03AC320EBCF}"/>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70AD5D5B-D622-47BE-B970-410A6445C98B}"/>
              </a:ext>
            </a:extLst>
          </p:cNvPr>
          <p:cNvSpPr>
            <a:spLocks noGrp="1"/>
          </p:cNvSpPr>
          <p:nvPr>
            <p:ph type="sldNum" sz="quarter" idx="12"/>
          </p:nvPr>
        </p:nvSpPr>
        <p:spPr/>
        <p:txBody>
          <a:bodyPr/>
          <a:lstStyle/>
          <a:p>
            <a:fld id="{9820BAFF-92A6-45A5-B1F5-B233E0C14C43}" type="slidenum">
              <a:rPr lang="fr-FR" smtClean="0"/>
              <a:t>63</a:t>
            </a:fld>
            <a:endParaRPr lang="fr-FR"/>
          </a:p>
        </p:txBody>
      </p:sp>
      <p:pic>
        <p:nvPicPr>
          <p:cNvPr id="7" name="Image 6">
            <a:extLst>
              <a:ext uri="{FF2B5EF4-FFF2-40B4-BE49-F238E27FC236}">
                <a16:creationId xmlns:a16="http://schemas.microsoft.com/office/drawing/2014/main" id="{2D64109F-EFE6-4022-8823-A948769DE256}"/>
              </a:ext>
            </a:extLst>
          </p:cNvPr>
          <p:cNvPicPr>
            <a:picLocks noChangeAspect="1"/>
          </p:cNvPicPr>
          <p:nvPr/>
        </p:nvPicPr>
        <p:blipFill>
          <a:blip r:embed="rId2"/>
          <a:stretch>
            <a:fillRect/>
          </a:stretch>
        </p:blipFill>
        <p:spPr>
          <a:xfrm>
            <a:off x="1290955" y="1690688"/>
            <a:ext cx="9636438" cy="2921952"/>
          </a:xfrm>
          <a:prstGeom prst="rect">
            <a:avLst/>
          </a:prstGeom>
        </p:spPr>
      </p:pic>
    </p:spTree>
    <p:extLst>
      <p:ext uri="{BB962C8B-B14F-4D97-AF65-F5344CB8AC3E}">
        <p14:creationId xmlns:p14="http://schemas.microsoft.com/office/powerpoint/2010/main" val="13795124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A8F33E-E2A0-445C-8C9F-FEBFC7A0099B}"/>
              </a:ext>
            </a:extLst>
          </p:cNvPr>
          <p:cNvSpPr>
            <a:spLocks noGrp="1"/>
          </p:cNvSpPr>
          <p:nvPr>
            <p:ph type="title"/>
          </p:nvPr>
        </p:nvSpPr>
        <p:spPr/>
        <p:txBody>
          <a:bodyPr/>
          <a:lstStyle/>
          <a:p>
            <a:r>
              <a:rPr lang="fr-CA" dirty="0"/>
              <a:t>Exercices</a:t>
            </a:r>
            <a:endParaRPr lang="fr-FR" dirty="0"/>
          </a:p>
        </p:txBody>
      </p:sp>
      <p:sp>
        <p:nvSpPr>
          <p:cNvPr id="3" name="Espace réservé du contenu 2">
            <a:extLst>
              <a:ext uri="{FF2B5EF4-FFF2-40B4-BE49-F238E27FC236}">
                <a16:creationId xmlns:a16="http://schemas.microsoft.com/office/drawing/2014/main" id="{9DEF5490-12F5-4118-AB03-B25FF1BCAAAC}"/>
              </a:ext>
            </a:extLst>
          </p:cNvPr>
          <p:cNvSpPr>
            <a:spLocks noGrp="1"/>
          </p:cNvSpPr>
          <p:nvPr>
            <p:ph idx="1"/>
          </p:nvPr>
        </p:nvSpPr>
        <p:spPr/>
        <p:txBody>
          <a:bodyPr/>
          <a:lstStyle/>
          <a:p>
            <a:r>
              <a:rPr lang="fr-CA" dirty="0"/>
              <a:t>Être en mesure de concilier le bénéfice « comptable » au bénéfice « imposable », aux fins du calcul des impôts exigibles</a:t>
            </a:r>
          </a:p>
          <a:p>
            <a:pPr lvl="1"/>
            <a:r>
              <a:rPr lang="fr-CA" dirty="0"/>
              <a:t>Connaître les écarts permanents et temporaires « courants »</a:t>
            </a:r>
          </a:p>
          <a:p>
            <a:pPr lvl="2"/>
            <a:r>
              <a:rPr lang="fr-CA" dirty="0"/>
              <a:t>Ce n’est pas un cours de fiscalité!</a:t>
            </a:r>
          </a:p>
          <a:p>
            <a:r>
              <a:rPr lang="fr-CA" dirty="0"/>
              <a:t>Être en mesure de calculer les impôts différés</a:t>
            </a:r>
          </a:p>
          <a:p>
            <a:pPr lvl="1"/>
            <a:r>
              <a:rPr lang="fr-CA" dirty="0"/>
              <a:t>Approche « bilan »</a:t>
            </a:r>
          </a:p>
          <a:p>
            <a:pPr lvl="1"/>
            <a:r>
              <a:rPr lang="fr-CA" dirty="0"/>
              <a:t>Identifier s’il s’agit d’un actif ou d’un passif d’impôts différés</a:t>
            </a:r>
          </a:p>
          <a:p>
            <a:r>
              <a:rPr lang="fr-CA" dirty="0"/>
              <a:t>Être en mesure de préparer les écritures liées</a:t>
            </a:r>
          </a:p>
          <a:p>
            <a:r>
              <a:rPr lang="fr-CA" dirty="0"/>
              <a:t>Connaître la présentation aux états financiers</a:t>
            </a:r>
            <a:endParaRPr lang="fr-FR" dirty="0"/>
          </a:p>
        </p:txBody>
      </p:sp>
      <p:sp>
        <p:nvSpPr>
          <p:cNvPr id="4" name="Espace réservé du pied de page 3">
            <a:extLst>
              <a:ext uri="{FF2B5EF4-FFF2-40B4-BE49-F238E27FC236}">
                <a16:creationId xmlns:a16="http://schemas.microsoft.com/office/drawing/2014/main" id="{B9374DE8-79B5-41BF-BDD1-C6334A0A3FDD}"/>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0783EC43-E9AA-4197-B68D-086AA9DBECFE}"/>
              </a:ext>
            </a:extLst>
          </p:cNvPr>
          <p:cNvSpPr>
            <a:spLocks noGrp="1"/>
          </p:cNvSpPr>
          <p:nvPr>
            <p:ph type="sldNum" sz="quarter" idx="12"/>
          </p:nvPr>
        </p:nvSpPr>
        <p:spPr/>
        <p:txBody>
          <a:bodyPr/>
          <a:lstStyle/>
          <a:p>
            <a:fld id="{9820BAFF-92A6-45A5-B1F5-B233E0C14C43}" type="slidenum">
              <a:rPr lang="fr-FR" smtClean="0"/>
              <a:t>64</a:t>
            </a:fld>
            <a:endParaRPr lang="fr-FR"/>
          </a:p>
        </p:txBody>
      </p:sp>
    </p:spTree>
    <p:extLst>
      <p:ext uri="{BB962C8B-B14F-4D97-AF65-F5344CB8AC3E}">
        <p14:creationId xmlns:p14="http://schemas.microsoft.com/office/powerpoint/2010/main" val="2817939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926D50-3A5B-4A9A-B156-3B8982EDFA3E}"/>
              </a:ext>
            </a:extLst>
          </p:cNvPr>
          <p:cNvSpPr>
            <a:spLocks noGrp="1"/>
          </p:cNvSpPr>
          <p:nvPr>
            <p:ph type="title"/>
          </p:nvPr>
        </p:nvSpPr>
        <p:spPr/>
        <p:txBody>
          <a:bodyPr/>
          <a:lstStyle/>
          <a:p>
            <a:r>
              <a:rPr lang="fr-CA" dirty="0"/>
              <a:t>Impôts remboursables </a:t>
            </a:r>
            <a:r>
              <a:rPr lang="fr-CA" i="1" dirty="0"/>
              <a:t>au titre de dividendes</a:t>
            </a:r>
            <a:endParaRPr lang="fr-FR" dirty="0"/>
          </a:p>
        </p:txBody>
      </p:sp>
      <p:sp>
        <p:nvSpPr>
          <p:cNvPr id="3" name="Espace réservé du contenu 2">
            <a:extLst>
              <a:ext uri="{FF2B5EF4-FFF2-40B4-BE49-F238E27FC236}">
                <a16:creationId xmlns:a16="http://schemas.microsoft.com/office/drawing/2014/main" id="{50705946-27C2-483D-B8FA-68AA43BFC460}"/>
              </a:ext>
            </a:extLst>
          </p:cNvPr>
          <p:cNvSpPr>
            <a:spLocks noGrp="1"/>
          </p:cNvSpPr>
          <p:nvPr>
            <p:ph idx="1"/>
          </p:nvPr>
        </p:nvSpPr>
        <p:spPr/>
        <p:txBody>
          <a:bodyPr>
            <a:normAutofit fontScale="92500"/>
          </a:bodyPr>
          <a:lstStyle/>
          <a:p>
            <a:r>
              <a:rPr lang="fr-CA" dirty="0"/>
              <a:t>Fiscalité canadienne</a:t>
            </a:r>
          </a:p>
          <a:p>
            <a:pPr lvl="1"/>
            <a:r>
              <a:rPr lang="fr-CA" dirty="0"/>
              <a:t>Impôt de la Partie IV sur dividendes reçus d’une société canadienne imposable</a:t>
            </a:r>
          </a:p>
          <a:p>
            <a:pPr lvl="2"/>
            <a:r>
              <a:rPr lang="fr-CA" dirty="0"/>
              <a:t>Écart permanent mais…</a:t>
            </a:r>
          </a:p>
          <a:p>
            <a:pPr lvl="2"/>
            <a:r>
              <a:rPr lang="fr-CA" dirty="0"/>
              <a:t>Impôt « temporaire » qui sera remboursé dès que l’entreprise versera un dividende à ses actionnaires</a:t>
            </a:r>
          </a:p>
          <a:p>
            <a:pPr lvl="3"/>
            <a:r>
              <a:rPr lang="fr-CA" dirty="0"/>
              <a:t>Avance sur l’impôt qui sera ultimement payé par les actionnaires de la société qui reçoit le dividende initial</a:t>
            </a:r>
          </a:p>
          <a:p>
            <a:pPr lvl="4"/>
            <a:r>
              <a:rPr lang="fr-CA" dirty="0"/>
              <a:t>A déclare un dividende et le verse à son actionnaire B</a:t>
            </a:r>
          </a:p>
          <a:p>
            <a:pPr lvl="4"/>
            <a:r>
              <a:rPr lang="fr-CA" dirty="0"/>
              <a:t>B doit verser l’impôt de la Partie IV sur le dividende reçu</a:t>
            </a:r>
          </a:p>
          <a:p>
            <a:pPr lvl="4"/>
            <a:r>
              <a:rPr lang="fr-CA" dirty="0"/>
              <a:t>Lorsque B déclare un dividende à ses actionnaires, ces derniers seront alors imposés sur le dividende versé par B </a:t>
            </a:r>
          </a:p>
          <a:p>
            <a:pPr lvl="4"/>
            <a:r>
              <a:rPr lang="fr-CA" dirty="0"/>
              <a:t>et B pourra récupérer l’impôt de la Partie IV antérieurement versé</a:t>
            </a:r>
          </a:p>
          <a:p>
            <a:pPr lvl="4"/>
            <a:endParaRPr lang="fr-CA" dirty="0"/>
          </a:p>
          <a:p>
            <a:pPr lvl="4">
              <a:buFont typeface="Wingdings" panose="05000000000000000000" pitchFamily="2" charset="2"/>
              <a:buChar char="Ø"/>
            </a:pPr>
            <a:r>
              <a:rPr lang="fr-CA" dirty="0"/>
              <a:t>Présentés dans les RND</a:t>
            </a:r>
            <a:endParaRPr lang="fr-FR" dirty="0"/>
          </a:p>
        </p:txBody>
      </p:sp>
      <p:sp>
        <p:nvSpPr>
          <p:cNvPr id="4" name="Espace réservé du pied de page 3">
            <a:extLst>
              <a:ext uri="{FF2B5EF4-FFF2-40B4-BE49-F238E27FC236}">
                <a16:creationId xmlns:a16="http://schemas.microsoft.com/office/drawing/2014/main" id="{5745AFC5-45C5-43D7-987D-919A27C66DB1}"/>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70624BC3-6687-4089-9D3F-431CE48D9676}"/>
              </a:ext>
            </a:extLst>
          </p:cNvPr>
          <p:cNvSpPr>
            <a:spLocks noGrp="1"/>
          </p:cNvSpPr>
          <p:nvPr>
            <p:ph type="sldNum" sz="quarter" idx="12"/>
          </p:nvPr>
        </p:nvSpPr>
        <p:spPr/>
        <p:txBody>
          <a:bodyPr/>
          <a:lstStyle/>
          <a:p>
            <a:fld id="{9820BAFF-92A6-45A5-B1F5-B233E0C14C43}" type="slidenum">
              <a:rPr lang="fr-FR" smtClean="0"/>
              <a:t>65</a:t>
            </a:fld>
            <a:endParaRPr lang="fr-FR"/>
          </a:p>
        </p:txBody>
      </p:sp>
    </p:spTree>
    <p:extLst>
      <p:ext uri="{BB962C8B-B14F-4D97-AF65-F5344CB8AC3E}">
        <p14:creationId xmlns:p14="http://schemas.microsoft.com/office/powerpoint/2010/main" val="2758530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2CEA45-F496-4256-AD0A-228E069C3560}"/>
              </a:ext>
            </a:extLst>
          </p:cNvPr>
          <p:cNvSpPr>
            <a:spLocks noGrp="1"/>
          </p:cNvSpPr>
          <p:nvPr>
            <p:ph type="title"/>
          </p:nvPr>
        </p:nvSpPr>
        <p:spPr/>
        <p:txBody>
          <a:bodyPr/>
          <a:lstStyle/>
          <a:p>
            <a:r>
              <a:rPr lang="fr-CA" dirty="0"/>
              <a:t>Positions fiscales incertaines – IFRIC 23</a:t>
            </a:r>
            <a:endParaRPr lang="fr-FR" dirty="0"/>
          </a:p>
        </p:txBody>
      </p:sp>
      <p:sp>
        <p:nvSpPr>
          <p:cNvPr id="3" name="Espace réservé du contenu 2">
            <a:extLst>
              <a:ext uri="{FF2B5EF4-FFF2-40B4-BE49-F238E27FC236}">
                <a16:creationId xmlns:a16="http://schemas.microsoft.com/office/drawing/2014/main" id="{94C8727A-7AF9-45AA-82B0-0B77F60516D7}"/>
              </a:ext>
            </a:extLst>
          </p:cNvPr>
          <p:cNvSpPr>
            <a:spLocks noGrp="1"/>
          </p:cNvSpPr>
          <p:nvPr>
            <p:ph idx="1"/>
          </p:nvPr>
        </p:nvSpPr>
        <p:spPr/>
        <p:txBody>
          <a:bodyPr/>
          <a:lstStyle/>
          <a:p>
            <a:r>
              <a:rPr lang="fr-CA" dirty="0"/>
              <a:t>Incertitude quant à un traitement fiscal</a:t>
            </a:r>
          </a:p>
          <a:p>
            <a:pPr lvl="1"/>
            <a:r>
              <a:rPr lang="fr-CA" dirty="0"/>
              <a:t>Mesure : </a:t>
            </a:r>
          </a:p>
          <a:p>
            <a:pPr lvl="2"/>
            <a:r>
              <a:rPr lang="fr-CA" dirty="0"/>
              <a:t>Montant le plus probable, ou</a:t>
            </a:r>
          </a:p>
          <a:p>
            <a:pPr lvl="2"/>
            <a:r>
              <a:rPr lang="fr-CA" dirty="0"/>
              <a:t>espérance mathématique</a:t>
            </a:r>
            <a:endParaRPr lang="fr-FR" dirty="0"/>
          </a:p>
        </p:txBody>
      </p:sp>
      <p:sp>
        <p:nvSpPr>
          <p:cNvPr id="4" name="Espace réservé du pied de page 3">
            <a:extLst>
              <a:ext uri="{FF2B5EF4-FFF2-40B4-BE49-F238E27FC236}">
                <a16:creationId xmlns:a16="http://schemas.microsoft.com/office/drawing/2014/main" id="{DB4DAE56-95F6-4015-B5BF-D47D2DB9B2B9}"/>
              </a:ext>
            </a:extLst>
          </p:cNvPr>
          <p:cNvSpPr>
            <a:spLocks noGrp="1"/>
          </p:cNvSpPr>
          <p:nvPr>
            <p:ph type="ftr" sz="quarter" idx="11"/>
          </p:nvPr>
        </p:nvSpPr>
        <p:spPr/>
        <p:txBody>
          <a:bodyPr/>
          <a:lstStyle/>
          <a:p>
            <a:r>
              <a:rPr lang="fr-FR"/>
              <a:t>Droits réservés Louise Overbeek</a:t>
            </a:r>
          </a:p>
        </p:txBody>
      </p:sp>
      <p:sp>
        <p:nvSpPr>
          <p:cNvPr id="5" name="Espace réservé du numéro de diapositive 4">
            <a:extLst>
              <a:ext uri="{FF2B5EF4-FFF2-40B4-BE49-F238E27FC236}">
                <a16:creationId xmlns:a16="http://schemas.microsoft.com/office/drawing/2014/main" id="{C5ED0F63-72C3-4A69-B6EE-7FD99C857242}"/>
              </a:ext>
            </a:extLst>
          </p:cNvPr>
          <p:cNvSpPr>
            <a:spLocks noGrp="1"/>
          </p:cNvSpPr>
          <p:nvPr>
            <p:ph type="sldNum" sz="quarter" idx="12"/>
          </p:nvPr>
        </p:nvSpPr>
        <p:spPr/>
        <p:txBody>
          <a:bodyPr/>
          <a:lstStyle/>
          <a:p>
            <a:fld id="{9820BAFF-92A6-45A5-B1F5-B233E0C14C43}" type="slidenum">
              <a:rPr lang="fr-FR" smtClean="0"/>
              <a:t>66</a:t>
            </a:fld>
            <a:endParaRPr lang="fr-FR"/>
          </a:p>
        </p:txBody>
      </p:sp>
    </p:spTree>
    <p:extLst>
      <p:ext uri="{BB962C8B-B14F-4D97-AF65-F5344CB8AC3E}">
        <p14:creationId xmlns:p14="http://schemas.microsoft.com/office/powerpoint/2010/main" val="422126240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14140</TotalTime>
  <Words>6443</Words>
  <Application>Microsoft Office PowerPoint</Application>
  <PresentationFormat>Grand écran</PresentationFormat>
  <Paragraphs>561</Paragraphs>
  <Slides>66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66</vt:i4>
      </vt:variant>
    </vt:vector>
  </HeadingPairs>
  <TitlesOfParts>
    <vt:vector size="71" baseType="lpstr">
      <vt:lpstr>Arial</vt:lpstr>
      <vt:lpstr>Calibri</vt:lpstr>
      <vt:lpstr>Calibri Light</vt:lpstr>
      <vt:lpstr>Wingdings</vt:lpstr>
      <vt:lpstr>Thème Office</vt:lpstr>
      <vt:lpstr>Impôts sur le résultat</vt:lpstr>
      <vt:lpstr>Contenu du plan de cours</vt:lpstr>
      <vt:lpstr>IAS 12 Impôts sur le résultat - Définitions</vt:lpstr>
      <vt:lpstr>IAS 12 Impôts sur le résultat - Définitions</vt:lpstr>
      <vt:lpstr>IAS 12 Impôts sur le résultat - Définitions</vt:lpstr>
      <vt:lpstr>Impôts exigibles - calcul</vt:lpstr>
      <vt:lpstr>Impôts différés - calcul</vt:lpstr>
      <vt:lpstr>Impôts différés – éléments hors bilan</vt:lpstr>
      <vt:lpstr>Comptabilisation de passifs et d'actifs d'impôt exigible</vt:lpstr>
      <vt:lpstr>Comptabilisation de passifs et d'actifs d'impôt différé</vt:lpstr>
      <vt:lpstr>Exemples d’écarts temporaires</vt:lpstr>
      <vt:lpstr>Présentation PowerPoint</vt:lpstr>
      <vt:lpstr>Présentation PowerPoint</vt:lpstr>
      <vt:lpstr>Différences temporaires déductibles</vt:lpstr>
      <vt:lpstr>Différences temporaires déductibles</vt:lpstr>
      <vt:lpstr>Différences temporaires déductibles</vt:lpstr>
      <vt:lpstr>Pertes fiscales et crédits d'impôt non utilisés</vt:lpstr>
      <vt:lpstr>Évaluation</vt:lpstr>
      <vt:lpstr>Évaluation</vt:lpstr>
      <vt:lpstr>Comptabilisation de l'impôt exigible et de l'impôt différé</vt:lpstr>
      <vt:lpstr>Comptabilisation de l'impôt exigible et de l'impôt différé</vt:lpstr>
      <vt:lpstr>Présentation</vt:lpstr>
      <vt:lpstr>Présentation</vt:lpstr>
      <vt:lpstr>Informations à fournir</vt:lpstr>
      <vt:lpstr>Informations à fournir</vt:lpstr>
      <vt:lpstr>Informations à fournir</vt:lpstr>
      <vt:lpstr>Informations à fournir</vt:lpstr>
      <vt:lpstr>Saputo – rapport annuel 2019</vt:lpstr>
      <vt:lpstr>Saputo – rapport annuel 2019</vt:lpstr>
      <vt:lpstr>Saputo – rapport annuel 2019</vt:lpstr>
      <vt:lpstr>Saputo – rapport annuel 2019</vt:lpstr>
      <vt:lpstr>Saputo – rapport annuel 2019</vt:lpstr>
      <vt:lpstr>Impôts exigibles</vt:lpstr>
      <vt:lpstr>Calcul de l’impôt exigible</vt:lpstr>
      <vt:lpstr>Écarts permanents</vt:lpstr>
      <vt:lpstr>Écarts temporaires</vt:lpstr>
      <vt:lpstr>Calcul de l’impôt exigible</vt:lpstr>
      <vt:lpstr>  </vt:lpstr>
      <vt:lpstr>Rappel fiscal - disposition d’une immobilisation amortissable</vt:lpstr>
      <vt:lpstr>  </vt:lpstr>
      <vt:lpstr>Rappel fiscal - disposition d’une immobilisation amortissable</vt:lpstr>
      <vt:lpstr>  </vt:lpstr>
      <vt:lpstr>Valeur actualisée des économies d’impôts pour les actifs amortissables</vt:lpstr>
      <vt:lpstr>Valeur actualisée des économies d’impôts pour les actifs amortissables</vt:lpstr>
      <vt:lpstr>Impôts différés</vt:lpstr>
      <vt:lpstr>Impôts différés – pour les écarts temporaires</vt:lpstr>
      <vt:lpstr>Impôts différés - calcul</vt:lpstr>
      <vt:lpstr>Calcul de l’impôt différé - immobilisation</vt:lpstr>
      <vt:lpstr>Impôts différés - calcul</vt:lpstr>
      <vt:lpstr>Calcul de l’impôt différé - provision</vt:lpstr>
      <vt:lpstr>Impôts différés - calcul</vt:lpstr>
      <vt:lpstr>Calcul de l’impôt différé – Frais de développement</vt:lpstr>
      <vt:lpstr>Impôts différés - calcul</vt:lpstr>
      <vt:lpstr>Calcul de l’impôt différé – Placement</vt:lpstr>
      <vt:lpstr>Impôts différés - calcul</vt:lpstr>
      <vt:lpstr>Impôts différés</vt:lpstr>
      <vt:lpstr>Report de pertes fiscales</vt:lpstr>
      <vt:lpstr>Report de pertes</vt:lpstr>
      <vt:lpstr>Report de pertes</vt:lpstr>
      <vt:lpstr>Report de pertes </vt:lpstr>
      <vt:lpstr>  </vt:lpstr>
      <vt:lpstr>Report de pertes – suite du problème </vt:lpstr>
      <vt:lpstr>  </vt:lpstr>
      <vt:lpstr>Exercices</vt:lpstr>
      <vt:lpstr>Impôts remboursables au titre de dividendes</vt:lpstr>
      <vt:lpstr>Positions fiscales incertaines – IFRIC 23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louise overbeek</cp:lastModifiedBy>
  <cp:revision>49</cp:revision>
  <dcterms:created xsi:type="dcterms:W3CDTF">2020-07-11T21:12:52Z</dcterms:created>
  <dcterms:modified xsi:type="dcterms:W3CDTF">2020-09-16T15:49:42Z</dcterms:modified>
</cp:coreProperties>
</file>