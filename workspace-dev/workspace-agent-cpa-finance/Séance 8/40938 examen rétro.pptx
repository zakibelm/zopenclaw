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2_AE2650E.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7" r:id="rId2"/>
    <p:sldId id="258" r:id="rId3"/>
    <p:sldId id="261" r:id="rId4"/>
    <p:sldId id="274" r:id="rId5"/>
    <p:sldId id="353" r:id="rId6"/>
    <p:sldId id="589" r:id="rId7"/>
    <p:sldId id="590" r:id="rId8"/>
    <p:sldId id="591" r:id="rId9"/>
    <p:sldId id="592" r:id="rId10"/>
    <p:sldId id="593" r:id="rId11"/>
    <p:sldId id="461" r:id="rId12"/>
    <p:sldId id="460" r:id="rId13"/>
    <p:sldId id="594" r:id="rId14"/>
    <p:sldId id="595" r:id="rId15"/>
    <p:sldId id="596" r:id="rId16"/>
    <p:sldId id="597" r:id="rId17"/>
    <p:sldId id="598" r:id="rId18"/>
    <p:sldId id="599" r:id="rId19"/>
    <p:sldId id="600" r:id="rId20"/>
    <p:sldId id="601" r:id="rId21"/>
    <p:sldId id="602" r:id="rId22"/>
    <p:sldId id="603" r:id="rId23"/>
    <p:sldId id="605" r:id="rId24"/>
    <p:sldId id="612" r:id="rId25"/>
    <p:sldId id="613" r:id="rId26"/>
    <p:sldId id="614" r:id="rId27"/>
    <p:sldId id="615" r:id="rId28"/>
    <p:sldId id="616" r:id="rId29"/>
    <p:sldId id="617" r:id="rId30"/>
    <p:sldId id="618" r:id="rId31"/>
    <p:sldId id="610" r:id="rId32"/>
    <p:sldId id="611" r:id="rId33"/>
    <p:sldId id="619" r:id="rId34"/>
    <p:sldId id="630" r:id="rId35"/>
    <p:sldId id="620" r:id="rId36"/>
    <p:sldId id="631" r:id="rId37"/>
    <p:sldId id="632" r:id="rId38"/>
    <p:sldId id="633" r:id="rId39"/>
    <p:sldId id="628" r:id="rId40"/>
    <p:sldId id="629" r:id="rId41"/>
    <p:sldId id="634" r:id="rId42"/>
    <p:sldId id="636" r:id="rId43"/>
    <p:sldId id="642" r:id="rId44"/>
    <p:sldId id="643" r:id="rId45"/>
    <p:sldId id="644" r:id="rId46"/>
    <p:sldId id="645" r:id="rId47"/>
    <p:sldId id="640" r:id="rId48"/>
    <p:sldId id="641" r:id="rId49"/>
    <p:sldId id="646" r:id="rId50"/>
    <p:sldId id="647" r:id="rId51"/>
    <p:sldId id="654" r:id="rId52"/>
    <p:sldId id="655" r:id="rId53"/>
    <p:sldId id="656" r:id="rId54"/>
    <p:sldId id="652" r:id="rId55"/>
    <p:sldId id="653" r:id="rId56"/>
    <p:sldId id="657" r:id="rId57"/>
    <p:sldId id="664" r:id="rId58"/>
    <p:sldId id="658" r:id="rId59"/>
    <p:sldId id="665" r:id="rId60"/>
    <p:sldId id="666" r:id="rId61"/>
    <p:sldId id="667" r:id="rId62"/>
    <p:sldId id="662" r:id="rId63"/>
    <p:sldId id="663" r:id="rId64"/>
    <p:sldId id="382" r:id="rId65"/>
    <p:sldId id="364" r:id="rId66"/>
    <p:sldId id="365" r:id="rId67"/>
    <p:sldId id="366" r:id="rId6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8426E0-0354-4E9C-A92F-755F1812A55B}" v="16" dt="2025-03-10T12:05:30.80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395"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8/10/relationships/authors" Target="authors.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e Overbeek" userId="5ffb9102-b48a-46c4-9734-67bf4ff91752" providerId="ADAL" clId="{CA8426E0-0354-4E9C-A92F-755F1812A55B}"/>
    <pc:docChg chg="undo custSel addSld delSld modSld sldOrd">
      <pc:chgData name="Louise Overbeek" userId="5ffb9102-b48a-46c4-9734-67bf4ff91752" providerId="ADAL" clId="{CA8426E0-0354-4E9C-A92F-755F1812A55B}" dt="2025-03-10T12:10:29.512" v="3200" actId="20577"/>
      <pc:docMkLst>
        <pc:docMk/>
      </pc:docMkLst>
      <pc:sldChg chg="modSp mod">
        <pc:chgData name="Louise Overbeek" userId="5ffb9102-b48a-46c4-9734-67bf4ff91752" providerId="ADAL" clId="{CA8426E0-0354-4E9C-A92F-755F1812A55B}" dt="2025-03-09T18:48:12.925" v="12" actId="20577"/>
        <pc:sldMkLst>
          <pc:docMk/>
          <pc:sldMk cId="2505739639" sldId="257"/>
        </pc:sldMkLst>
        <pc:spChg chg="mod">
          <ac:chgData name="Louise Overbeek" userId="5ffb9102-b48a-46c4-9734-67bf4ff91752" providerId="ADAL" clId="{CA8426E0-0354-4E9C-A92F-755F1812A55B}" dt="2025-03-09T18:48:07.996" v="6" actId="6549"/>
          <ac:spMkLst>
            <pc:docMk/>
            <pc:sldMk cId="2505739639" sldId="257"/>
            <ac:spMk id="2" creationId="{DC196839-DE69-498D-9524-BA98CB58611D}"/>
          </ac:spMkLst>
        </pc:spChg>
        <pc:spChg chg="mod">
          <ac:chgData name="Louise Overbeek" userId="5ffb9102-b48a-46c4-9734-67bf4ff91752" providerId="ADAL" clId="{CA8426E0-0354-4E9C-A92F-755F1812A55B}" dt="2025-03-09T18:48:12.925" v="12" actId="20577"/>
          <ac:spMkLst>
            <pc:docMk/>
            <pc:sldMk cId="2505739639" sldId="257"/>
            <ac:spMk id="3" creationId="{709A8C58-CAEF-419F-8CAD-0AE381BF6DD4}"/>
          </ac:spMkLst>
        </pc:spChg>
      </pc:sldChg>
      <pc:sldChg chg="modSp mod">
        <pc:chgData name="Louise Overbeek" userId="5ffb9102-b48a-46c4-9734-67bf4ff91752" providerId="ADAL" clId="{CA8426E0-0354-4E9C-A92F-755F1812A55B}" dt="2025-03-09T19:41:00.558" v="865" actId="6549"/>
        <pc:sldMkLst>
          <pc:docMk/>
          <pc:sldMk cId="874209191" sldId="258"/>
        </pc:sldMkLst>
        <pc:spChg chg="mod">
          <ac:chgData name="Louise Overbeek" userId="5ffb9102-b48a-46c4-9734-67bf4ff91752" providerId="ADAL" clId="{CA8426E0-0354-4E9C-A92F-755F1812A55B}" dt="2025-03-09T18:48:43.192" v="16" actId="255"/>
          <ac:spMkLst>
            <pc:docMk/>
            <pc:sldMk cId="874209191" sldId="258"/>
            <ac:spMk id="2" creationId="{8B1DA72A-4E90-4CB7-A93E-CB60FCBDAC0A}"/>
          </ac:spMkLst>
        </pc:spChg>
        <pc:spChg chg="mod">
          <ac:chgData name="Louise Overbeek" userId="5ffb9102-b48a-46c4-9734-67bf4ff91752" providerId="ADAL" clId="{CA8426E0-0354-4E9C-A92F-755F1812A55B}" dt="2025-03-09T19:41:00.558" v="865" actId="6549"/>
          <ac:spMkLst>
            <pc:docMk/>
            <pc:sldMk cId="874209191" sldId="258"/>
            <ac:spMk id="3" creationId="{DB624A40-A11D-4FB4-9ADB-772A4918F20D}"/>
          </ac:spMkLst>
        </pc:spChg>
      </pc:sldChg>
      <pc:sldChg chg="modSp mod">
        <pc:chgData name="Louise Overbeek" userId="5ffb9102-b48a-46c4-9734-67bf4ff91752" providerId="ADAL" clId="{CA8426E0-0354-4E9C-A92F-755F1812A55B}" dt="2025-03-09T19:43:01.525" v="883" actId="27636"/>
        <pc:sldMkLst>
          <pc:docMk/>
          <pc:sldMk cId="2675047367" sldId="261"/>
        </pc:sldMkLst>
        <pc:spChg chg="mod">
          <ac:chgData name="Louise Overbeek" userId="5ffb9102-b48a-46c4-9734-67bf4ff91752" providerId="ADAL" clId="{CA8426E0-0354-4E9C-A92F-755F1812A55B}" dt="2025-03-09T19:43:01.525" v="883" actId="27636"/>
          <ac:spMkLst>
            <pc:docMk/>
            <pc:sldMk cId="2675047367" sldId="261"/>
            <ac:spMk id="3" creationId="{DB624A40-A11D-4FB4-9ADB-772A4918F20D}"/>
          </ac:spMkLst>
        </pc:spChg>
      </pc:sldChg>
      <pc:sldChg chg="modSp mod">
        <pc:chgData name="Louise Overbeek" userId="5ffb9102-b48a-46c4-9734-67bf4ff91752" providerId="ADAL" clId="{CA8426E0-0354-4E9C-A92F-755F1812A55B}" dt="2025-03-09T18:55:40.391" v="159" actId="27636"/>
        <pc:sldMkLst>
          <pc:docMk/>
          <pc:sldMk cId="182609166" sldId="274"/>
        </pc:sldMkLst>
        <pc:spChg chg="mod">
          <ac:chgData name="Louise Overbeek" userId="5ffb9102-b48a-46c4-9734-67bf4ff91752" providerId="ADAL" clId="{CA8426E0-0354-4E9C-A92F-755F1812A55B}" dt="2025-03-09T18:54:55.358" v="156" actId="20577"/>
          <ac:spMkLst>
            <pc:docMk/>
            <pc:sldMk cId="182609166" sldId="274"/>
            <ac:spMk id="2" creationId="{415FD2CC-6308-4E11-8F11-05BB631C7518}"/>
          </ac:spMkLst>
        </pc:spChg>
        <pc:spChg chg="mod">
          <ac:chgData name="Louise Overbeek" userId="5ffb9102-b48a-46c4-9734-67bf4ff91752" providerId="ADAL" clId="{CA8426E0-0354-4E9C-A92F-755F1812A55B}" dt="2025-03-09T18:55:40.391" v="159" actId="27636"/>
          <ac:spMkLst>
            <pc:docMk/>
            <pc:sldMk cId="182609166" sldId="274"/>
            <ac:spMk id="3" creationId="{06ADEDAB-BFF6-4E10-AD0B-9B12CA97E7E5}"/>
          </ac:spMkLst>
        </pc:spChg>
      </pc:sldChg>
      <pc:sldChg chg="modSp mod">
        <pc:chgData name="Louise Overbeek" userId="5ffb9102-b48a-46c4-9734-67bf4ff91752" providerId="ADAL" clId="{CA8426E0-0354-4E9C-A92F-755F1812A55B}" dt="2025-03-09T18:58:22.620" v="259" actId="113"/>
        <pc:sldMkLst>
          <pc:docMk/>
          <pc:sldMk cId="1695486687" sldId="353"/>
        </pc:sldMkLst>
        <pc:spChg chg="mod">
          <ac:chgData name="Louise Overbeek" userId="5ffb9102-b48a-46c4-9734-67bf4ff91752" providerId="ADAL" clId="{CA8426E0-0354-4E9C-A92F-755F1812A55B}" dt="2025-03-09T18:56:14.654" v="183"/>
          <ac:spMkLst>
            <pc:docMk/>
            <pc:sldMk cId="1695486687" sldId="353"/>
            <ac:spMk id="2" creationId="{415FD2CC-6308-4E11-8F11-05BB631C7518}"/>
          </ac:spMkLst>
        </pc:spChg>
        <pc:spChg chg="mod">
          <ac:chgData name="Louise Overbeek" userId="5ffb9102-b48a-46c4-9734-67bf4ff91752" providerId="ADAL" clId="{CA8426E0-0354-4E9C-A92F-755F1812A55B}" dt="2025-03-09T18:58:22.620" v="259" actId="113"/>
          <ac:spMkLst>
            <pc:docMk/>
            <pc:sldMk cId="1695486687" sldId="353"/>
            <ac:spMk id="3" creationId="{06ADEDAB-BFF6-4E10-AD0B-9B12CA97E7E5}"/>
          </ac:spMkLst>
        </pc:spChg>
      </pc:sldChg>
      <pc:sldChg chg="modSp mod">
        <pc:chgData name="Louise Overbeek" userId="5ffb9102-b48a-46c4-9734-67bf4ff91752" providerId="ADAL" clId="{CA8426E0-0354-4E9C-A92F-755F1812A55B}" dt="2025-03-10T12:09:53.863" v="3112" actId="13926"/>
        <pc:sldMkLst>
          <pc:docMk/>
          <pc:sldMk cId="313219813" sldId="364"/>
        </pc:sldMkLst>
        <pc:spChg chg="mod">
          <ac:chgData name="Louise Overbeek" userId="5ffb9102-b48a-46c4-9734-67bf4ff91752" providerId="ADAL" clId="{CA8426E0-0354-4E9C-A92F-755F1812A55B}" dt="2025-03-10T12:09:53.863" v="3112" actId="13926"/>
          <ac:spMkLst>
            <pc:docMk/>
            <pc:sldMk cId="313219813" sldId="364"/>
            <ac:spMk id="3" creationId="{C4E826AA-BA25-4ACC-8789-CC8166AB053C}"/>
          </ac:spMkLst>
        </pc:spChg>
      </pc:sldChg>
      <pc:sldChg chg="modSp mod">
        <pc:chgData name="Louise Overbeek" userId="5ffb9102-b48a-46c4-9734-67bf4ff91752" providerId="ADAL" clId="{CA8426E0-0354-4E9C-A92F-755F1812A55B}" dt="2025-03-10T12:10:29.512" v="3200" actId="20577"/>
        <pc:sldMkLst>
          <pc:docMk/>
          <pc:sldMk cId="1324344982" sldId="365"/>
        </pc:sldMkLst>
        <pc:spChg chg="mod">
          <ac:chgData name="Louise Overbeek" userId="5ffb9102-b48a-46c4-9734-67bf4ff91752" providerId="ADAL" clId="{CA8426E0-0354-4E9C-A92F-755F1812A55B}" dt="2025-03-10T12:10:29.512" v="3200" actId="20577"/>
          <ac:spMkLst>
            <pc:docMk/>
            <pc:sldMk cId="1324344982" sldId="365"/>
            <ac:spMk id="3" creationId="{22170DBA-A587-424F-8BB2-5E02374163FF}"/>
          </ac:spMkLst>
        </pc:spChg>
      </pc:sldChg>
      <pc:sldChg chg="modSp mod setBg">
        <pc:chgData name="Louise Overbeek" userId="5ffb9102-b48a-46c4-9734-67bf4ff91752" providerId="ADAL" clId="{CA8426E0-0354-4E9C-A92F-755F1812A55B}" dt="2025-03-10T12:09:12.325" v="3106" actId="20577"/>
        <pc:sldMkLst>
          <pc:docMk/>
          <pc:sldMk cId="2604455662" sldId="382"/>
        </pc:sldMkLst>
        <pc:spChg chg="mod">
          <ac:chgData name="Louise Overbeek" userId="5ffb9102-b48a-46c4-9734-67bf4ff91752" providerId="ADAL" clId="{CA8426E0-0354-4E9C-A92F-755F1812A55B}" dt="2025-03-10T12:09:12.325" v="3106" actId="20577"/>
          <ac:spMkLst>
            <pc:docMk/>
            <pc:sldMk cId="2604455662" sldId="382"/>
            <ac:spMk id="3" creationId="{8B812FC4-0C32-B941-D7B7-5EA9D6A375DE}"/>
          </ac:spMkLst>
        </pc:spChg>
      </pc:sldChg>
      <pc:sldChg chg="addSp delSp modSp mod">
        <pc:chgData name="Louise Overbeek" userId="5ffb9102-b48a-46c4-9734-67bf4ff91752" providerId="ADAL" clId="{CA8426E0-0354-4E9C-A92F-755F1812A55B}" dt="2025-03-10T11:46:28.474" v="2605" actId="20577"/>
        <pc:sldMkLst>
          <pc:docMk/>
          <pc:sldMk cId="1907663769" sldId="460"/>
        </pc:sldMkLst>
        <pc:spChg chg="mod">
          <ac:chgData name="Louise Overbeek" userId="5ffb9102-b48a-46c4-9734-67bf4ff91752" providerId="ADAL" clId="{CA8426E0-0354-4E9C-A92F-755F1812A55B}" dt="2025-03-09T19:12:01.958" v="842" actId="20577"/>
          <ac:spMkLst>
            <pc:docMk/>
            <pc:sldMk cId="1907663769" sldId="460"/>
            <ac:spMk id="2" creationId="{A2647FE0-193F-8E24-7232-85E5D6FDE6C4}"/>
          </ac:spMkLst>
        </pc:spChg>
        <pc:spChg chg="del mod">
          <ac:chgData name="Louise Overbeek" userId="5ffb9102-b48a-46c4-9734-67bf4ff91752" providerId="ADAL" clId="{CA8426E0-0354-4E9C-A92F-755F1812A55B}" dt="2025-03-09T19:12:08.375" v="845"/>
          <ac:spMkLst>
            <pc:docMk/>
            <pc:sldMk cId="1907663769" sldId="460"/>
            <ac:spMk id="5" creationId="{6ED1E042-5BB9-0B99-65DB-F22B4C6551B7}"/>
          </ac:spMkLst>
        </pc:spChg>
        <pc:spChg chg="add mod">
          <ac:chgData name="Louise Overbeek" userId="5ffb9102-b48a-46c4-9734-67bf4ff91752" providerId="ADAL" clId="{CA8426E0-0354-4E9C-A92F-755F1812A55B}" dt="2025-03-10T11:46:28.474" v="2605" actId="20577"/>
          <ac:spMkLst>
            <pc:docMk/>
            <pc:sldMk cId="1907663769" sldId="460"/>
            <ac:spMk id="6" creationId="{713C03D4-D814-DB9B-8A3F-302601822D0D}"/>
          </ac:spMkLst>
        </pc:spChg>
      </pc:sldChg>
      <pc:sldChg chg="modSp mod">
        <pc:chgData name="Louise Overbeek" userId="5ffb9102-b48a-46c4-9734-67bf4ff91752" providerId="ADAL" clId="{CA8426E0-0354-4E9C-A92F-755F1812A55B}" dt="2025-03-10T11:45:24.936" v="2573" actId="404"/>
        <pc:sldMkLst>
          <pc:docMk/>
          <pc:sldMk cId="3979801216" sldId="461"/>
        </pc:sldMkLst>
        <pc:spChg chg="mod">
          <ac:chgData name="Louise Overbeek" userId="5ffb9102-b48a-46c4-9734-67bf4ff91752" providerId="ADAL" clId="{CA8426E0-0354-4E9C-A92F-755F1812A55B}" dt="2025-03-09T19:10:43.742" v="826"/>
          <ac:spMkLst>
            <pc:docMk/>
            <pc:sldMk cId="3979801216" sldId="461"/>
            <ac:spMk id="2" creationId="{D7CB711B-BD2D-B26D-2353-92A10627CC8F}"/>
          </ac:spMkLst>
        </pc:spChg>
        <pc:spChg chg="mod">
          <ac:chgData name="Louise Overbeek" userId="5ffb9102-b48a-46c4-9734-67bf4ff91752" providerId="ADAL" clId="{CA8426E0-0354-4E9C-A92F-755F1812A55B}" dt="2025-03-10T11:45:24.936" v="2573" actId="404"/>
          <ac:spMkLst>
            <pc:docMk/>
            <pc:sldMk cId="3979801216" sldId="461"/>
            <ac:spMk id="3" creationId="{C8E759F1-C3C2-5235-2FE5-852380962E45}"/>
          </ac:spMkLst>
        </pc:spChg>
      </pc:sldChg>
      <pc:sldChg chg="modSp del mod">
        <pc:chgData name="Louise Overbeek" userId="5ffb9102-b48a-46c4-9734-67bf4ff91752" providerId="ADAL" clId="{CA8426E0-0354-4E9C-A92F-755F1812A55B}" dt="2025-03-09T18:56:10.258" v="182" actId="47"/>
        <pc:sldMkLst>
          <pc:docMk/>
          <pc:sldMk cId="3480341923" sldId="514"/>
        </pc:sldMkLst>
        <pc:spChg chg="mod">
          <ac:chgData name="Louise Overbeek" userId="5ffb9102-b48a-46c4-9734-67bf4ff91752" providerId="ADAL" clId="{CA8426E0-0354-4E9C-A92F-755F1812A55B}" dt="2025-03-09T18:55:49.858" v="181" actId="20577"/>
          <ac:spMkLst>
            <pc:docMk/>
            <pc:sldMk cId="3480341923" sldId="514"/>
            <ac:spMk id="2" creationId="{415FD2CC-6308-4E11-8F11-05BB631C7518}"/>
          </ac:spMkLst>
        </pc:spChg>
      </pc:sldChg>
      <pc:sldChg chg="del">
        <pc:chgData name="Louise Overbeek" userId="5ffb9102-b48a-46c4-9734-67bf4ff91752" providerId="ADAL" clId="{CA8426E0-0354-4E9C-A92F-755F1812A55B}" dt="2025-03-09T19:10:35.975" v="824" actId="47"/>
        <pc:sldMkLst>
          <pc:docMk/>
          <pc:sldMk cId="2191139118" sldId="515"/>
        </pc:sldMkLst>
      </pc:sldChg>
      <pc:sldChg chg="del">
        <pc:chgData name="Louise Overbeek" userId="5ffb9102-b48a-46c4-9734-67bf4ff91752" providerId="ADAL" clId="{CA8426E0-0354-4E9C-A92F-755F1812A55B}" dt="2025-03-09T19:10:37.190" v="825" actId="47"/>
        <pc:sldMkLst>
          <pc:docMk/>
          <pc:sldMk cId="3185644159" sldId="516"/>
        </pc:sldMkLst>
      </pc:sldChg>
      <pc:sldChg chg="del">
        <pc:chgData name="Louise Overbeek" userId="5ffb9102-b48a-46c4-9734-67bf4ff91752" providerId="ADAL" clId="{CA8426E0-0354-4E9C-A92F-755F1812A55B}" dt="2025-03-09T19:45:18.754" v="908" actId="47"/>
        <pc:sldMkLst>
          <pc:docMk/>
          <pc:sldMk cId="758807704" sldId="517"/>
        </pc:sldMkLst>
      </pc:sldChg>
      <pc:sldChg chg="del">
        <pc:chgData name="Louise Overbeek" userId="5ffb9102-b48a-46c4-9734-67bf4ff91752" providerId="ADAL" clId="{CA8426E0-0354-4E9C-A92F-755F1812A55B}" dt="2025-03-09T19:45:18.754" v="908" actId="47"/>
        <pc:sldMkLst>
          <pc:docMk/>
          <pc:sldMk cId="3053414216" sldId="519"/>
        </pc:sldMkLst>
      </pc:sldChg>
      <pc:sldChg chg="del">
        <pc:chgData name="Louise Overbeek" userId="5ffb9102-b48a-46c4-9734-67bf4ff91752" providerId="ADAL" clId="{CA8426E0-0354-4E9C-A92F-755F1812A55B}" dt="2025-03-09T19:45:18.754" v="908" actId="47"/>
        <pc:sldMkLst>
          <pc:docMk/>
          <pc:sldMk cId="1082870230" sldId="520"/>
        </pc:sldMkLst>
      </pc:sldChg>
      <pc:sldChg chg="del">
        <pc:chgData name="Louise Overbeek" userId="5ffb9102-b48a-46c4-9734-67bf4ff91752" providerId="ADAL" clId="{CA8426E0-0354-4E9C-A92F-755F1812A55B}" dt="2025-03-09T19:45:18.754" v="908" actId="47"/>
        <pc:sldMkLst>
          <pc:docMk/>
          <pc:sldMk cId="1981577493" sldId="522"/>
        </pc:sldMkLst>
      </pc:sldChg>
      <pc:sldChg chg="del">
        <pc:chgData name="Louise Overbeek" userId="5ffb9102-b48a-46c4-9734-67bf4ff91752" providerId="ADAL" clId="{CA8426E0-0354-4E9C-A92F-755F1812A55B}" dt="2025-03-09T19:45:18.754" v="908" actId="47"/>
        <pc:sldMkLst>
          <pc:docMk/>
          <pc:sldMk cId="2165629964" sldId="523"/>
        </pc:sldMkLst>
      </pc:sldChg>
      <pc:sldChg chg="del">
        <pc:chgData name="Louise Overbeek" userId="5ffb9102-b48a-46c4-9734-67bf4ff91752" providerId="ADAL" clId="{CA8426E0-0354-4E9C-A92F-755F1812A55B}" dt="2025-03-09T19:45:18.754" v="908" actId="47"/>
        <pc:sldMkLst>
          <pc:docMk/>
          <pc:sldMk cId="1433724707" sldId="524"/>
        </pc:sldMkLst>
      </pc:sldChg>
      <pc:sldChg chg="del">
        <pc:chgData name="Louise Overbeek" userId="5ffb9102-b48a-46c4-9734-67bf4ff91752" providerId="ADAL" clId="{CA8426E0-0354-4E9C-A92F-755F1812A55B}" dt="2025-03-09T19:45:18.754" v="908" actId="47"/>
        <pc:sldMkLst>
          <pc:docMk/>
          <pc:sldMk cId="2622178110" sldId="525"/>
        </pc:sldMkLst>
      </pc:sldChg>
      <pc:sldChg chg="del">
        <pc:chgData name="Louise Overbeek" userId="5ffb9102-b48a-46c4-9734-67bf4ff91752" providerId="ADAL" clId="{CA8426E0-0354-4E9C-A92F-755F1812A55B}" dt="2025-03-09T19:45:18.754" v="908" actId="47"/>
        <pc:sldMkLst>
          <pc:docMk/>
          <pc:sldMk cId="3302280123" sldId="526"/>
        </pc:sldMkLst>
      </pc:sldChg>
      <pc:sldChg chg="del">
        <pc:chgData name="Louise Overbeek" userId="5ffb9102-b48a-46c4-9734-67bf4ff91752" providerId="ADAL" clId="{CA8426E0-0354-4E9C-A92F-755F1812A55B}" dt="2025-03-09T19:45:18.754" v="908" actId="47"/>
        <pc:sldMkLst>
          <pc:docMk/>
          <pc:sldMk cId="1927393337" sldId="529"/>
        </pc:sldMkLst>
      </pc:sldChg>
      <pc:sldChg chg="del">
        <pc:chgData name="Louise Overbeek" userId="5ffb9102-b48a-46c4-9734-67bf4ff91752" providerId="ADAL" clId="{CA8426E0-0354-4E9C-A92F-755F1812A55B}" dt="2025-03-09T19:45:18.754" v="908" actId="47"/>
        <pc:sldMkLst>
          <pc:docMk/>
          <pc:sldMk cId="635767684" sldId="530"/>
        </pc:sldMkLst>
      </pc:sldChg>
      <pc:sldChg chg="del">
        <pc:chgData name="Louise Overbeek" userId="5ffb9102-b48a-46c4-9734-67bf4ff91752" providerId="ADAL" clId="{CA8426E0-0354-4E9C-A92F-755F1812A55B}" dt="2025-03-09T19:45:18.754" v="908" actId="47"/>
        <pc:sldMkLst>
          <pc:docMk/>
          <pc:sldMk cId="1207664058" sldId="531"/>
        </pc:sldMkLst>
      </pc:sldChg>
      <pc:sldChg chg="del">
        <pc:chgData name="Louise Overbeek" userId="5ffb9102-b48a-46c4-9734-67bf4ff91752" providerId="ADAL" clId="{CA8426E0-0354-4E9C-A92F-755F1812A55B}" dt="2025-03-09T19:45:18.754" v="908" actId="47"/>
        <pc:sldMkLst>
          <pc:docMk/>
          <pc:sldMk cId="66305074" sldId="532"/>
        </pc:sldMkLst>
      </pc:sldChg>
      <pc:sldChg chg="del">
        <pc:chgData name="Louise Overbeek" userId="5ffb9102-b48a-46c4-9734-67bf4ff91752" providerId="ADAL" clId="{CA8426E0-0354-4E9C-A92F-755F1812A55B}" dt="2025-03-09T19:45:18.754" v="908" actId="47"/>
        <pc:sldMkLst>
          <pc:docMk/>
          <pc:sldMk cId="831413959" sldId="533"/>
        </pc:sldMkLst>
      </pc:sldChg>
      <pc:sldChg chg="del">
        <pc:chgData name="Louise Overbeek" userId="5ffb9102-b48a-46c4-9734-67bf4ff91752" providerId="ADAL" clId="{CA8426E0-0354-4E9C-A92F-755F1812A55B}" dt="2025-03-09T19:45:18.754" v="908" actId="47"/>
        <pc:sldMkLst>
          <pc:docMk/>
          <pc:sldMk cId="4174996715" sldId="534"/>
        </pc:sldMkLst>
      </pc:sldChg>
      <pc:sldChg chg="del">
        <pc:chgData name="Louise Overbeek" userId="5ffb9102-b48a-46c4-9734-67bf4ff91752" providerId="ADAL" clId="{CA8426E0-0354-4E9C-A92F-755F1812A55B}" dt="2025-03-09T19:45:18.754" v="908" actId="47"/>
        <pc:sldMkLst>
          <pc:docMk/>
          <pc:sldMk cId="218932762" sldId="535"/>
        </pc:sldMkLst>
      </pc:sldChg>
      <pc:sldChg chg="del">
        <pc:chgData name="Louise Overbeek" userId="5ffb9102-b48a-46c4-9734-67bf4ff91752" providerId="ADAL" clId="{CA8426E0-0354-4E9C-A92F-755F1812A55B}" dt="2025-03-09T19:45:18.754" v="908" actId="47"/>
        <pc:sldMkLst>
          <pc:docMk/>
          <pc:sldMk cId="792242316" sldId="539"/>
        </pc:sldMkLst>
      </pc:sldChg>
      <pc:sldChg chg="del">
        <pc:chgData name="Louise Overbeek" userId="5ffb9102-b48a-46c4-9734-67bf4ff91752" providerId="ADAL" clId="{CA8426E0-0354-4E9C-A92F-755F1812A55B}" dt="2025-03-09T19:45:18.754" v="908" actId="47"/>
        <pc:sldMkLst>
          <pc:docMk/>
          <pc:sldMk cId="3006516804" sldId="540"/>
        </pc:sldMkLst>
      </pc:sldChg>
      <pc:sldChg chg="del">
        <pc:chgData name="Louise Overbeek" userId="5ffb9102-b48a-46c4-9734-67bf4ff91752" providerId="ADAL" clId="{CA8426E0-0354-4E9C-A92F-755F1812A55B}" dt="2025-03-09T19:45:18.754" v="908" actId="47"/>
        <pc:sldMkLst>
          <pc:docMk/>
          <pc:sldMk cId="2668529237" sldId="541"/>
        </pc:sldMkLst>
      </pc:sldChg>
      <pc:sldChg chg="del">
        <pc:chgData name="Louise Overbeek" userId="5ffb9102-b48a-46c4-9734-67bf4ff91752" providerId="ADAL" clId="{CA8426E0-0354-4E9C-A92F-755F1812A55B}" dt="2025-03-09T19:45:18.754" v="908" actId="47"/>
        <pc:sldMkLst>
          <pc:docMk/>
          <pc:sldMk cId="865182326" sldId="542"/>
        </pc:sldMkLst>
      </pc:sldChg>
      <pc:sldChg chg="del">
        <pc:chgData name="Louise Overbeek" userId="5ffb9102-b48a-46c4-9734-67bf4ff91752" providerId="ADAL" clId="{CA8426E0-0354-4E9C-A92F-755F1812A55B}" dt="2025-03-09T19:45:18.754" v="908" actId="47"/>
        <pc:sldMkLst>
          <pc:docMk/>
          <pc:sldMk cId="4237961119" sldId="543"/>
        </pc:sldMkLst>
      </pc:sldChg>
      <pc:sldChg chg="del">
        <pc:chgData name="Louise Overbeek" userId="5ffb9102-b48a-46c4-9734-67bf4ff91752" providerId="ADAL" clId="{CA8426E0-0354-4E9C-A92F-755F1812A55B}" dt="2025-03-09T19:45:18.754" v="908" actId="47"/>
        <pc:sldMkLst>
          <pc:docMk/>
          <pc:sldMk cId="572337391" sldId="545"/>
        </pc:sldMkLst>
      </pc:sldChg>
      <pc:sldChg chg="del">
        <pc:chgData name="Louise Overbeek" userId="5ffb9102-b48a-46c4-9734-67bf4ff91752" providerId="ADAL" clId="{CA8426E0-0354-4E9C-A92F-755F1812A55B}" dt="2025-03-09T19:45:18.754" v="908" actId="47"/>
        <pc:sldMkLst>
          <pc:docMk/>
          <pc:sldMk cId="571668819" sldId="546"/>
        </pc:sldMkLst>
      </pc:sldChg>
      <pc:sldChg chg="del">
        <pc:chgData name="Louise Overbeek" userId="5ffb9102-b48a-46c4-9734-67bf4ff91752" providerId="ADAL" clId="{CA8426E0-0354-4E9C-A92F-755F1812A55B}" dt="2025-03-09T19:45:18.754" v="908" actId="47"/>
        <pc:sldMkLst>
          <pc:docMk/>
          <pc:sldMk cId="4115185881" sldId="547"/>
        </pc:sldMkLst>
      </pc:sldChg>
      <pc:sldChg chg="del">
        <pc:chgData name="Louise Overbeek" userId="5ffb9102-b48a-46c4-9734-67bf4ff91752" providerId="ADAL" clId="{CA8426E0-0354-4E9C-A92F-755F1812A55B}" dt="2025-03-09T19:45:18.754" v="908" actId="47"/>
        <pc:sldMkLst>
          <pc:docMk/>
          <pc:sldMk cId="3382840149" sldId="548"/>
        </pc:sldMkLst>
      </pc:sldChg>
      <pc:sldChg chg="del">
        <pc:chgData name="Louise Overbeek" userId="5ffb9102-b48a-46c4-9734-67bf4ff91752" providerId="ADAL" clId="{CA8426E0-0354-4E9C-A92F-755F1812A55B}" dt="2025-03-09T19:45:18.754" v="908" actId="47"/>
        <pc:sldMkLst>
          <pc:docMk/>
          <pc:sldMk cId="547521092" sldId="552"/>
        </pc:sldMkLst>
      </pc:sldChg>
      <pc:sldChg chg="del">
        <pc:chgData name="Louise Overbeek" userId="5ffb9102-b48a-46c4-9734-67bf4ff91752" providerId="ADAL" clId="{CA8426E0-0354-4E9C-A92F-755F1812A55B}" dt="2025-03-09T19:45:18.754" v="908" actId="47"/>
        <pc:sldMkLst>
          <pc:docMk/>
          <pc:sldMk cId="2699688032" sldId="553"/>
        </pc:sldMkLst>
      </pc:sldChg>
      <pc:sldChg chg="del">
        <pc:chgData name="Louise Overbeek" userId="5ffb9102-b48a-46c4-9734-67bf4ff91752" providerId="ADAL" clId="{CA8426E0-0354-4E9C-A92F-755F1812A55B}" dt="2025-03-09T19:45:18.754" v="908" actId="47"/>
        <pc:sldMkLst>
          <pc:docMk/>
          <pc:sldMk cId="2186913131" sldId="554"/>
        </pc:sldMkLst>
      </pc:sldChg>
      <pc:sldChg chg="del">
        <pc:chgData name="Louise Overbeek" userId="5ffb9102-b48a-46c4-9734-67bf4ff91752" providerId="ADAL" clId="{CA8426E0-0354-4E9C-A92F-755F1812A55B}" dt="2025-03-09T19:45:18.754" v="908" actId="47"/>
        <pc:sldMkLst>
          <pc:docMk/>
          <pc:sldMk cId="2169062760" sldId="555"/>
        </pc:sldMkLst>
      </pc:sldChg>
      <pc:sldChg chg="del">
        <pc:chgData name="Louise Overbeek" userId="5ffb9102-b48a-46c4-9734-67bf4ff91752" providerId="ADAL" clId="{CA8426E0-0354-4E9C-A92F-755F1812A55B}" dt="2025-03-09T19:45:18.754" v="908" actId="47"/>
        <pc:sldMkLst>
          <pc:docMk/>
          <pc:sldMk cId="609604533" sldId="556"/>
        </pc:sldMkLst>
      </pc:sldChg>
      <pc:sldChg chg="del">
        <pc:chgData name="Louise Overbeek" userId="5ffb9102-b48a-46c4-9734-67bf4ff91752" providerId="ADAL" clId="{CA8426E0-0354-4E9C-A92F-755F1812A55B}" dt="2025-03-09T19:45:18.754" v="908" actId="47"/>
        <pc:sldMkLst>
          <pc:docMk/>
          <pc:sldMk cId="123052046" sldId="557"/>
        </pc:sldMkLst>
      </pc:sldChg>
      <pc:sldChg chg="del">
        <pc:chgData name="Louise Overbeek" userId="5ffb9102-b48a-46c4-9734-67bf4ff91752" providerId="ADAL" clId="{CA8426E0-0354-4E9C-A92F-755F1812A55B}" dt="2025-03-09T19:45:18.754" v="908" actId="47"/>
        <pc:sldMkLst>
          <pc:docMk/>
          <pc:sldMk cId="4248032495" sldId="558"/>
        </pc:sldMkLst>
      </pc:sldChg>
      <pc:sldChg chg="del">
        <pc:chgData name="Louise Overbeek" userId="5ffb9102-b48a-46c4-9734-67bf4ff91752" providerId="ADAL" clId="{CA8426E0-0354-4E9C-A92F-755F1812A55B}" dt="2025-03-09T19:45:18.754" v="908" actId="47"/>
        <pc:sldMkLst>
          <pc:docMk/>
          <pc:sldMk cId="1521985008" sldId="559"/>
        </pc:sldMkLst>
      </pc:sldChg>
      <pc:sldChg chg="del">
        <pc:chgData name="Louise Overbeek" userId="5ffb9102-b48a-46c4-9734-67bf4ff91752" providerId="ADAL" clId="{CA8426E0-0354-4E9C-A92F-755F1812A55B}" dt="2025-03-09T19:45:18.754" v="908" actId="47"/>
        <pc:sldMkLst>
          <pc:docMk/>
          <pc:sldMk cId="3029074408" sldId="560"/>
        </pc:sldMkLst>
      </pc:sldChg>
      <pc:sldChg chg="del">
        <pc:chgData name="Louise Overbeek" userId="5ffb9102-b48a-46c4-9734-67bf4ff91752" providerId="ADAL" clId="{CA8426E0-0354-4E9C-A92F-755F1812A55B}" dt="2025-03-09T19:45:18.754" v="908" actId="47"/>
        <pc:sldMkLst>
          <pc:docMk/>
          <pc:sldMk cId="1973572847" sldId="561"/>
        </pc:sldMkLst>
      </pc:sldChg>
      <pc:sldChg chg="del">
        <pc:chgData name="Louise Overbeek" userId="5ffb9102-b48a-46c4-9734-67bf4ff91752" providerId="ADAL" clId="{CA8426E0-0354-4E9C-A92F-755F1812A55B}" dt="2025-03-09T19:45:18.754" v="908" actId="47"/>
        <pc:sldMkLst>
          <pc:docMk/>
          <pc:sldMk cId="3461701044" sldId="562"/>
        </pc:sldMkLst>
      </pc:sldChg>
      <pc:sldChg chg="del">
        <pc:chgData name="Louise Overbeek" userId="5ffb9102-b48a-46c4-9734-67bf4ff91752" providerId="ADAL" clId="{CA8426E0-0354-4E9C-A92F-755F1812A55B}" dt="2025-03-09T19:45:18.754" v="908" actId="47"/>
        <pc:sldMkLst>
          <pc:docMk/>
          <pc:sldMk cId="3257417304" sldId="563"/>
        </pc:sldMkLst>
      </pc:sldChg>
      <pc:sldChg chg="del">
        <pc:chgData name="Louise Overbeek" userId="5ffb9102-b48a-46c4-9734-67bf4ff91752" providerId="ADAL" clId="{CA8426E0-0354-4E9C-A92F-755F1812A55B}" dt="2025-03-09T19:45:18.754" v="908" actId="47"/>
        <pc:sldMkLst>
          <pc:docMk/>
          <pc:sldMk cId="3598935774" sldId="564"/>
        </pc:sldMkLst>
      </pc:sldChg>
      <pc:sldChg chg="del">
        <pc:chgData name="Louise Overbeek" userId="5ffb9102-b48a-46c4-9734-67bf4ff91752" providerId="ADAL" clId="{CA8426E0-0354-4E9C-A92F-755F1812A55B}" dt="2025-03-09T19:45:18.754" v="908" actId="47"/>
        <pc:sldMkLst>
          <pc:docMk/>
          <pc:sldMk cId="464216557" sldId="572"/>
        </pc:sldMkLst>
      </pc:sldChg>
      <pc:sldChg chg="del">
        <pc:chgData name="Louise Overbeek" userId="5ffb9102-b48a-46c4-9734-67bf4ff91752" providerId="ADAL" clId="{CA8426E0-0354-4E9C-A92F-755F1812A55B}" dt="2025-03-09T19:45:18.754" v="908" actId="47"/>
        <pc:sldMkLst>
          <pc:docMk/>
          <pc:sldMk cId="2871682336" sldId="573"/>
        </pc:sldMkLst>
      </pc:sldChg>
      <pc:sldChg chg="del">
        <pc:chgData name="Louise Overbeek" userId="5ffb9102-b48a-46c4-9734-67bf4ff91752" providerId="ADAL" clId="{CA8426E0-0354-4E9C-A92F-755F1812A55B}" dt="2025-03-09T19:45:18.754" v="908" actId="47"/>
        <pc:sldMkLst>
          <pc:docMk/>
          <pc:sldMk cId="3228176985" sldId="574"/>
        </pc:sldMkLst>
      </pc:sldChg>
      <pc:sldChg chg="del">
        <pc:chgData name="Louise Overbeek" userId="5ffb9102-b48a-46c4-9734-67bf4ff91752" providerId="ADAL" clId="{CA8426E0-0354-4E9C-A92F-755F1812A55B}" dt="2025-03-09T19:45:18.754" v="908" actId="47"/>
        <pc:sldMkLst>
          <pc:docMk/>
          <pc:sldMk cId="668885101" sldId="575"/>
        </pc:sldMkLst>
      </pc:sldChg>
      <pc:sldChg chg="del">
        <pc:chgData name="Louise Overbeek" userId="5ffb9102-b48a-46c4-9734-67bf4ff91752" providerId="ADAL" clId="{CA8426E0-0354-4E9C-A92F-755F1812A55B}" dt="2025-03-09T19:45:18.754" v="908" actId="47"/>
        <pc:sldMkLst>
          <pc:docMk/>
          <pc:sldMk cId="1679428910" sldId="576"/>
        </pc:sldMkLst>
      </pc:sldChg>
      <pc:sldChg chg="del">
        <pc:chgData name="Louise Overbeek" userId="5ffb9102-b48a-46c4-9734-67bf4ff91752" providerId="ADAL" clId="{CA8426E0-0354-4E9C-A92F-755F1812A55B}" dt="2025-03-09T19:45:18.754" v="908" actId="47"/>
        <pc:sldMkLst>
          <pc:docMk/>
          <pc:sldMk cId="3680306292" sldId="577"/>
        </pc:sldMkLst>
      </pc:sldChg>
      <pc:sldChg chg="del">
        <pc:chgData name="Louise Overbeek" userId="5ffb9102-b48a-46c4-9734-67bf4ff91752" providerId="ADAL" clId="{CA8426E0-0354-4E9C-A92F-755F1812A55B}" dt="2025-03-09T19:45:18.754" v="908" actId="47"/>
        <pc:sldMkLst>
          <pc:docMk/>
          <pc:sldMk cId="3921066861" sldId="578"/>
        </pc:sldMkLst>
      </pc:sldChg>
      <pc:sldChg chg="del">
        <pc:chgData name="Louise Overbeek" userId="5ffb9102-b48a-46c4-9734-67bf4ff91752" providerId="ADAL" clId="{CA8426E0-0354-4E9C-A92F-755F1812A55B}" dt="2025-03-09T19:45:18.754" v="908" actId="47"/>
        <pc:sldMkLst>
          <pc:docMk/>
          <pc:sldMk cId="1024795309" sldId="582"/>
        </pc:sldMkLst>
      </pc:sldChg>
      <pc:sldChg chg="del">
        <pc:chgData name="Louise Overbeek" userId="5ffb9102-b48a-46c4-9734-67bf4ff91752" providerId="ADAL" clId="{CA8426E0-0354-4E9C-A92F-755F1812A55B}" dt="2025-03-09T19:45:18.754" v="908" actId="47"/>
        <pc:sldMkLst>
          <pc:docMk/>
          <pc:sldMk cId="2838144339" sldId="583"/>
        </pc:sldMkLst>
      </pc:sldChg>
      <pc:sldChg chg="del">
        <pc:chgData name="Louise Overbeek" userId="5ffb9102-b48a-46c4-9734-67bf4ff91752" providerId="ADAL" clId="{CA8426E0-0354-4E9C-A92F-755F1812A55B}" dt="2025-03-09T19:45:18.754" v="908" actId="47"/>
        <pc:sldMkLst>
          <pc:docMk/>
          <pc:sldMk cId="794581933" sldId="584"/>
        </pc:sldMkLst>
      </pc:sldChg>
      <pc:sldChg chg="del">
        <pc:chgData name="Louise Overbeek" userId="5ffb9102-b48a-46c4-9734-67bf4ff91752" providerId="ADAL" clId="{CA8426E0-0354-4E9C-A92F-755F1812A55B}" dt="2025-03-09T19:45:18.754" v="908" actId="47"/>
        <pc:sldMkLst>
          <pc:docMk/>
          <pc:sldMk cId="2006891324" sldId="585"/>
        </pc:sldMkLst>
      </pc:sldChg>
      <pc:sldChg chg="del">
        <pc:chgData name="Louise Overbeek" userId="5ffb9102-b48a-46c4-9734-67bf4ff91752" providerId="ADAL" clId="{CA8426E0-0354-4E9C-A92F-755F1812A55B}" dt="2025-03-09T19:45:18.754" v="908" actId="47"/>
        <pc:sldMkLst>
          <pc:docMk/>
          <pc:sldMk cId="2305039213" sldId="586"/>
        </pc:sldMkLst>
      </pc:sldChg>
      <pc:sldChg chg="del">
        <pc:chgData name="Louise Overbeek" userId="5ffb9102-b48a-46c4-9734-67bf4ff91752" providerId="ADAL" clId="{CA8426E0-0354-4E9C-A92F-755F1812A55B}" dt="2025-03-09T19:45:18.754" v="908" actId="47"/>
        <pc:sldMkLst>
          <pc:docMk/>
          <pc:sldMk cId="3821897200" sldId="587"/>
        </pc:sldMkLst>
      </pc:sldChg>
      <pc:sldChg chg="del">
        <pc:chgData name="Louise Overbeek" userId="5ffb9102-b48a-46c4-9734-67bf4ff91752" providerId="ADAL" clId="{CA8426E0-0354-4E9C-A92F-755F1812A55B}" dt="2025-03-09T19:45:18.754" v="908" actId="47"/>
        <pc:sldMkLst>
          <pc:docMk/>
          <pc:sldMk cId="2215527216" sldId="588"/>
        </pc:sldMkLst>
      </pc:sldChg>
      <pc:sldChg chg="modSp add mod">
        <pc:chgData name="Louise Overbeek" userId="5ffb9102-b48a-46c4-9734-67bf4ff91752" providerId="ADAL" clId="{CA8426E0-0354-4E9C-A92F-755F1812A55B}" dt="2025-03-09T19:02:10.675" v="433" actId="20577"/>
        <pc:sldMkLst>
          <pc:docMk/>
          <pc:sldMk cId="1974236437" sldId="589"/>
        </pc:sldMkLst>
        <pc:spChg chg="mod">
          <ac:chgData name="Louise Overbeek" userId="5ffb9102-b48a-46c4-9734-67bf4ff91752" providerId="ADAL" clId="{CA8426E0-0354-4E9C-A92F-755F1812A55B}" dt="2025-03-09T19:02:10.675" v="433" actId="20577"/>
          <ac:spMkLst>
            <pc:docMk/>
            <pc:sldMk cId="1974236437" sldId="589"/>
            <ac:spMk id="3" creationId="{3F02B1A2-0172-CA7D-896D-ABEFD9449EBF}"/>
          </ac:spMkLst>
        </pc:spChg>
      </pc:sldChg>
      <pc:sldChg chg="modSp add mod ord">
        <pc:chgData name="Louise Overbeek" userId="5ffb9102-b48a-46c4-9734-67bf4ff91752" providerId="ADAL" clId="{CA8426E0-0354-4E9C-A92F-755F1812A55B}" dt="2025-03-09T19:03:14.108" v="448" actId="12"/>
        <pc:sldMkLst>
          <pc:docMk/>
          <pc:sldMk cId="2758711239" sldId="590"/>
        </pc:sldMkLst>
        <pc:spChg chg="mod">
          <ac:chgData name="Louise Overbeek" userId="5ffb9102-b48a-46c4-9734-67bf4ff91752" providerId="ADAL" clId="{CA8426E0-0354-4E9C-A92F-755F1812A55B}" dt="2025-03-09T19:03:14.108" v="448" actId="12"/>
          <ac:spMkLst>
            <pc:docMk/>
            <pc:sldMk cId="2758711239" sldId="590"/>
            <ac:spMk id="3" creationId="{1B14751E-5B89-B7AE-0601-E7E92C9156EF}"/>
          </ac:spMkLst>
        </pc:spChg>
      </pc:sldChg>
      <pc:sldChg chg="addSp delSp modSp add mod">
        <pc:chgData name="Louise Overbeek" userId="5ffb9102-b48a-46c4-9734-67bf4ff91752" providerId="ADAL" clId="{CA8426E0-0354-4E9C-A92F-755F1812A55B}" dt="2025-03-09T19:06:34.941" v="682" actId="20577"/>
        <pc:sldMkLst>
          <pc:docMk/>
          <pc:sldMk cId="4180354835" sldId="591"/>
        </pc:sldMkLst>
        <pc:spChg chg="add del mod">
          <ac:chgData name="Louise Overbeek" userId="5ffb9102-b48a-46c4-9734-67bf4ff91752" providerId="ADAL" clId="{CA8426E0-0354-4E9C-A92F-755F1812A55B}" dt="2025-03-09T19:05:32.774" v="459" actId="1076"/>
          <ac:spMkLst>
            <pc:docMk/>
            <pc:sldMk cId="4180354835" sldId="591"/>
            <ac:spMk id="3" creationId="{03698D5B-7550-99A0-3D40-194D70C46C0C}"/>
          </ac:spMkLst>
        </pc:spChg>
        <pc:spChg chg="add mod">
          <ac:chgData name="Louise Overbeek" userId="5ffb9102-b48a-46c4-9734-67bf4ff91752" providerId="ADAL" clId="{CA8426E0-0354-4E9C-A92F-755F1812A55B}" dt="2025-03-09T19:06:34.941" v="682" actId="20577"/>
          <ac:spMkLst>
            <pc:docMk/>
            <pc:sldMk cId="4180354835" sldId="591"/>
            <ac:spMk id="7" creationId="{D66982D4-5386-B0B9-5C06-55EAAED97BE8}"/>
          </ac:spMkLst>
        </pc:spChg>
        <pc:graphicFrameChg chg="add mod">
          <ac:chgData name="Louise Overbeek" userId="5ffb9102-b48a-46c4-9734-67bf4ff91752" providerId="ADAL" clId="{CA8426E0-0354-4E9C-A92F-755F1812A55B}" dt="2025-03-09T19:05:09.306" v="454"/>
          <ac:graphicFrameMkLst>
            <pc:docMk/>
            <pc:sldMk cId="4180354835" sldId="591"/>
            <ac:graphicFrameMk id="5" creationId="{B3760A2E-8C8E-4926-EB21-E023991BEA32}"/>
          </ac:graphicFrameMkLst>
        </pc:graphicFrameChg>
        <pc:graphicFrameChg chg="mod">
          <ac:chgData name="Louise Overbeek" userId="5ffb9102-b48a-46c4-9734-67bf4ff91752" providerId="ADAL" clId="{CA8426E0-0354-4E9C-A92F-755F1812A55B}" dt="2025-03-09T19:05:40.924" v="460" actId="1076"/>
          <ac:graphicFrameMkLst>
            <pc:docMk/>
            <pc:sldMk cId="4180354835" sldId="591"/>
            <ac:graphicFrameMk id="6" creationId="{47B1CA61-7198-9068-FFAA-36AA54871FE6}"/>
          </ac:graphicFrameMkLst>
        </pc:graphicFrameChg>
      </pc:sldChg>
      <pc:sldChg chg="modSp add mod">
        <pc:chgData name="Louise Overbeek" userId="5ffb9102-b48a-46c4-9734-67bf4ff91752" providerId="ADAL" clId="{CA8426E0-0354-4E9C-A92F-755F1812A55B}" dt="2025-03-09T19:09:07.158" v="743" actId="20577"/>
        <pc:sldMkLst>
          <pc:docMk/>
          <pc:sldMk cId="937767715" sldId="592"/>
        </pc:sldMkLst>
        <pc:spChg chg="mod">
          <ac:chgData name="Louise Overbeek" userId="5ffb9102-b48a-46c4-9734-67bf4ff91752" providerId="ADAL" clId="{CA8426E0-0354-4E9C-A92F-755F1812A55B}" dt="2025-03-09T19:09:07.158" v="743" actId="20577"/>
          <ac:spMkLst>
            <pc:docMk/>
            <pc:sldMk cId="937767715" sldId="592"/>
            <ac:spMk id="3" creationId="{6AC52B43-5771-1E79-87BF-D0062D402775}"/>
          </ac:spMkLst>
        </pc:spChg>
      </pc:sldChg>
      <pc:sldChg chg="modSp add mod">
        <pc:chgData name="Louise Overbeek" userId="5ffb9102-b48a-46c4-9734-67bf4ff91752" providerId="ADAL" clId="{CA8426E0-0354-4E9C-A92F-755F1812A55B}" dt="2025-03-09T19:10:17.495" v="823" actId="14100"/>
        <pc:sldMkLst>
          <pc:docMk/>
          <pc:sldMk cId="1058114277" sldId="593"/>
        </pc:sldMkLst>
        <pc:spChg chg="mod">
          <ac:chgData name="Louise Overbeek" userId="5ffb9102-b48a-46c4-9734-67bf4ff91752" providerId="ADAL" clId="{CA8426E0-0354-4E9C-A92F-755F1812A55B}" dt="2025-03-09T19:10:02.673" v="821" actId="20577"/>
          <ac:spMkLst>
            <pc:docMk/>
            <pc:sldMk cId="1058114277" sldId="593"/>
            <ac:spMk id="3" creationId="{4A52951D-6054-9E39-57A9-425D8BE09A1B}"/>
          </ac:spMkLst>
        </pc:spChg>
        <pc:graphicFrameChg chg="mod">
          <ac:chgData name="Louise Overbeek" userId="5ffb9102-b48a-46c4-9734-67bf4ff91752" providerId="ADAL" clId="{CA8426E0-0354-4E9C-A92F-755F1812A55B}" dt="2025-03-09T19:10:17.495" v="823" actId="14100"/>
          <ac:graphicFrameMkLst>
            <pc:docMk/>
            <pc:sldMk cId="1058114277" sldId="593"/>
            <ac:graphicFrameMk id="5" creationId="{46640C9D-17E2-F9A3-58A6-924D6EB852BB}"/>
          </ac:graphicFrameMkLst>
        </pc:graphicFrameChg>
      </pc:sldChg>
      <pc:sldChg chg="modSp add mod ord">
        <pc:chgData name="Louise Overbeek" userId="5ffb9102-b48a-46c4-9734-67bf4ff91752" providerId="ADAL" clId="{CA8426E0-0354-4E9C-A92F-755F1812A55B}" dt="2025-03-09T19:44:01.377" v="893" actId="20577"/>
        <pc:sldMkLst>
          <pc:docMk/>
          <pc:sldMk cId="3162161949" sldId="594"/>
        </pc:sldMkLst>
        <pc:spChg chg="mod">
          <ac:chgData name="Louise Overbeek" userId="5ffb9102-b48a-46c4-9734-67bf4ff91752" providerId="ADAL" clId="{CA8426E0-0354-4E9C-A92F-755F1812A55B}" dt="2025-03-09T19:12:40.046" v="851"/>
          <ac:spMkLst>
            <pc:docMk/>
            <pc:sldMk cId="3162161949" sldId="594"/>
            <ac:spMk id="2" creationId="{25A509CC-D1A5-D6E8-0324-C5247B436E16}"/>
          </ac:spMkLst>
        </pc:spChg>
        <pc:spChg chg="mod">
          <ac:chgData name="Louise Overbeek" userId="5ffb9102-b48a-46c4-9734-67bf4ff91752" providerId="ADAL" clId="{CA8426E0-0354-4E9C-A92F-755F1812A55B}" dt="2025-03-09T19:44:01.377" v="893" actId="20577"/>
          <ac:spMkLst>
            <pc:docMk/>
            <pc:sldMk cId="3162161949" sldId="594"/>
            <ac:spMk id="3" creationId="{60D15F35-DE4E-FBAF-4F62-CA0C8CC34B69}"/>
          </ac:spMkLst>
        </pc:spChg>
      </pc:sldChg>
      <pc:sldChg chg="modSp add mod">
        <pc:chgData name="Louise Overbeek" userId="5ffb9102-b48a-46c4-9734-67bf4ff91752" providerId="ADAL" clId="{CA8426E0-0354-4E9C-A92F-755F1812A55B}" dt="2025-03-09T19:44:19.330" v="900" actId="20577"/>
        <pc:sldMkLst>
          <pc:docMk/>
          <pc:sldMk cId="931283892" sldId="595"/>
        </pc:sldMkLst>
        <pc:spChg chg="mod">
          <ac:chgData name="Louise Overbeek" userId="5ffb9102-b48a-46c4-9734-67bf4ff91752" providerId="ADAL" clId="{CA8426E0-0354-4E9C-A92F-755F1812A55B}" dt="2025-03-09T19:44:19.330" v="900" actId="20577"/>
          <ac:spMkLst>
            <pc:docMk/>
            <pc:sldMk cId="931283892" sldId="595"/>
            <ac:spMk id="3" creationId="{20F7F9A2-2B30-A1E8-2F75-573823B60386}"/>
          </ac:spMkLst>
        </pc:spChg>
      </pc:sldChg>
      <pc:sldChg chg="modSp add mod ord">
        <pc:chgData name="Louise Overbeek" userId="5ffb9102-b48a-46c4-9734-67bf4ff91752" providerId="ADAL" clId="{CA8426E0-0354-4E9C-A92F-755F1812A55B}" dt="2025-03-09T19:50:01.074" v="1165" actId="20577"/>
        <pc:sldMkLst>
          <pc:docMk/>
          <pc:sldMk cId="4067278639" sldId="596"/>
        </pc:sldMkLst>
        <pc:spChg chg="mod">
          <ac:chgData name="Louise Overbeek" userId="5ffb9102-b48a-46c4-9734-67bf4ff91752" providerId="ADAL" clId="{CA8426E0-0354-4E9C-A92F-755F1812A55B}" dt="2025-03-09T19:44:55.876" v="907" actId="207"/>
          <ac:spMkLst>
            <pc:docMk/>
            <pc:sldMk cId="4067278639" sldId="596"/>
            <ac:spMk id="2" creationId="{8E28B074-BE17-A405-6FFB-2C5CB2086D1B}"/>
          </ac:spMkLst>
        </pc:spChg>
        <pc:spChg chg="mod">
          <ac:chgData name="Louise Overbeek" userId="5ffb9102-b48a-46c4-9734-67bf4ff91752" providerId="ADAL" clId="{CA8426E0-0354-4E9C-A92F-755F1812A55B}" dt="2025-03-09T19:50:01.074" v="1165" actId="20577"/>
          <ac:spMkLst>
            <pc:docMk/>
            <pc:sldMk cId="4067278639" sldId="596"/>
            <ac:spMk id="3" creationId="{5DFFF02E-9B55-51F9-45EF-3A232B0D77B1}"/>
          </ac:spMkLst>
        </pc:spChg>
      </pc:sldChg>
      <pc:sldChg chg="modSp add mod">
        <pc:chgData name="Louise Overbeek" userId="5ffb9102-b48a-46c4-9734-67bf4ff91752" providerId="ADAL" clId="{CA8426E0-0354-4E9C-A92F-755F1812A55B}" dt="2025-03-09T19:54:59.942" v="1506" actId="20577"/>
        <pc:sldMkLst>
          <pc:docMk/>
          <pc:sldMk cId="3911513600" sldId="597"/>
        </pc:sldMkLst>
        <pc:spChg chg="mod">
          <ac:chgData name="Louise Overbeek" userId="5ffb9102-b48a-46c4-9734-67bf4ff91752" providerId="ADAL" clId="{CA8426E0-0354-4E9C-A92F-755F1812A55B}" dt="2025-03-09T19:54:59.942" v="1506" actId="20577"/>
          <ac:spMkLst>
            <pc:docMk/>
            <pc:sldMk cId="3911513600" sldId="597"/>
            <ac:spMk id="3" creationId="{0105C433-E982-7364-0E6B-1DAE116C0FB8}"/>
          </ac:spMkLst>
        </pc:spChg>
      </pc:sldChg>
      <pc:sldChg chg="add">
        <pc:chgData name="Louise Overbeek" userId="5ffb9102-b48a-46c4-9734-67bf4ff91752" providerId="ADAL" clId="{CA8426E0-0354-4E9C-A92F-755F1812A55B}" dt="2025-03-09T19:53:38.808" v="1323" actId="2890"/>
        <pc:sldMkLst>
          <pc:docMk/>
          <pc:sldMk cId="4223375368" sldId="598"/>
        </pc:sldMkLst>
      </pc:sldChg>
      <pc:sldChg chg="modSp add mod">
        <pc:chgData name="Louise Overbeek" userId="5ffb9102-b48a-46c4-9734-67bf4ff91752" providerId="ADAL" clId="{CA8426E0-0354-4E9C-A92F-755F1812A55B}" dt="2025-03-09T19:56:18.358" v="1523" actId="20577"/>
        <pc:sldMkLst>
          <pc:docMk/>
          <pc:sldMk cId="63346011" sldId="599"/>
        </pc:sldMkLst>
        <pc:spChg chg="mod">
          <ac:chgData name="Louise Overbeek" userId="5ffb9102-b48a-46c4-9734-67bf4ff91752" providerId="ADAL" clId="{CA8426E0-0354-4E9C-A92F-755F1812A55B}" dt="2025-03-09T19:56:18.358" v="1523" actId="20577"/>
          <ac:spMkLst>
            <pc:docMk/>
            <pc:sldMk cId="63346011" sldId="599"/>
            <ac:spMk id="3" creationId="{3660209E-5C41-3A9A-5E33-2716420DB223}"/>
          </ac:spMkLst>
        </pc:spChg>
      </pc:sldChg>
      <pc:sldChg chg="modSp add mod">
        <pc:chgData name="Louise Overbeek" userId="5ffb9102-b48a-46c4-9734-67bf4ff91752" providerId="ADAL" clId="{CA8426E0-0354-4E9C-A92F-755F1812A55B}" dt="2025-03-09T19:57:42.291" v="1531" actId="27636"/>
        <pc:sldMkLst>
          <pc:docMk/>
          <pc:sldMk cId="19958795" sldId="600"/>
        </pc:sldMkLst>
        <pc:spChg chg="mod">
          <ac:chgData name="Louise Overbeek" userId="5ffb9102-b48a-46c4-9734-67bf4ff91752" providerId="ADAL" clId="{CA8426E0-0354-4E9C-A92F-755F1812A55B}" dt="2025-03-09T19:57:42.291" v="1531" actId="27636"/>
          <ac:spMkLst>
            <pc:docMk/>
            <pc:sldMk cId="19958795" sldId="600"/>
            <ac:spMk id="3" creationId="{C6B63B6C-5225-69D4-95C6-477E06A8370A}"/>
          </ac:spMkLst>
        </pc:spChg>
      </pc:sldChg>
      <pc:sldChg chg="modSp add mod ord">
        <pc:chgData name="Louise Overbeek" userId="5ffb9102-b48a-46c4-9734-67bf4ff91752" providerId="ADAL" clId="{CA8426E0-0354-4E9C-A92F-755F1812A55B}" dt="2025-03-10T11:48:01.090" v="2612" actId="20577"/>
        <pc:sldMkLst>
          <pc:docMk/>
          <pc:sldMk cId="3161186697" sldId="601"/>
        </pc:sldMkLst>
        <pc:spChg chg="mod">
          <ac:chgData name="Louise Overbeek" userId="5ffb9102-b48a-46c4-9734-67bf4ff91752" providerId="ADAL" clId="{CA8426E0-0354-4E9C-A92F-755F1812A55B}" dt="2025-03-09T19:58:36.475" v="1537" actId="6549"/>
          <ac:spMkLst>
            <pc:docMk/>
            <pc:sldMk cId="3161186697" sldId="601"/>
            <ac:spMk id="2" creationId="{5241004C-3B0F-6FDE-97AD-50FC8B6AB37F}"/>
          </ac:spMkLst>
        </pc:spChg>
        <pc:spChg chg="mod">
          <ac:chgData name="Louise Overbeek" userId="5ffb9102-b48a-46c4-9734-67bf4ff91752" providerId="ADAL" clId="{CA8426E0-0354-4E9C-A92F-755F1812A55B}" dt="2025-03-10T11:48:01.090" v="2612" actId="20577"/>
          <ac:spMkLst>
            <pc:docMk/>
            <pc:sldMk cId="3161186697" sldId="601"/>
            <ac:spMk id="3" creationId="{741215BF-E257-7C1E-0972-98C5D3EBBA57}"/>
          </ac:spMkLst>
        </pc:spChg>
      </pc:sldChg>
      <pc:sldChg chg="addSp modSp add mod ord replId">
        <pc:chgData name="Louise Overbeek" userId="5ffb9102-b48a-46c4-9734-67bf4ff91752" providerId="ADAL" clId="{CA8426E0-0354-4E9C-A92F-755F1812A55B}" dt="2025-03-10T11:49:15.880" v="2621" actId="20577"/>
        <pc:sldMkLst>
          <pc:docMk/>
          <pc:sldMk cId="1961660559" sldId="602"/>
        </pc:sldMkLst>
        <pc:spChg chg="mod">
          <ac:chgData name="Louise Overbeek" userId="5ffb9102-b48a-46c4-9734-67bf4ff91752" providerId="ADAL" clId="{CA8426E0-0354-4E9C-A92F-755F1812A55B}" dt="2025-03-09T19:58:44.342" v="1541" actId="20577"/>
          <ac:spMkLst>
            <pc:docMk/>
            <pc:sldMk cId="1961660559" sldId="602"/>
            <ac:spMk id="2" creationId="{C646DF9D-8C30-8A82-E49A-0D8FF39AD6A3}"/>
          </ac:spMkLst>
        </pc:spChg>
        <pc:spChg chg="add mod">
          <ac:chgData name="Louise Overbeek" userId="5ffb9102-b48a-46c4-9734-67bf4ff91752" providerId="ADAL" clId="{CA8426E0-0354-4E9C-A92F-755F1812A55B}" dt="2025-03-10T11:49:15.880" v="2621" actId="20577"/>
          <ac:spMkLst>
            <pc:docMk/>
            <pc:sldMk cId="1961660559" sldId="602"/>
            <ac:spMk id="5" creationId="{5A3F83A7-27D5-1027-3097-06612BE8F7AF}"/>
          </ac:spMkLst>
        </pc:spChg>
      </pc:sldChg>
      <pc:sldChg chg="modSp add mod">
        <pc:chgData name="Louise Overbeek" userId="5ffb9102-b48a-46c4-9734-67bf4ff91752" providerId="ADAL" clId="{CA8426E0-0354-4E9C-A92F-755F1812A55B}" dt="2025-03-09T20:02:00.768" v="1568" actId="255"/>
        <pc:sldMkLst>
          <pc:docMk/>
          <pc:sldMk cId="93237021" sldId="603"/>
        </pc:sldMkLst>
        <pc:spChg chg="mod">
          <ac:chgData name="Louise Overbeek" userId="5ffb9102-b48a-46c4-9734-67bf4ff91752" providerId="ADAL" clId="{CA8426E0-0354-4E9C-A92F-755F1812A55B}" dt="2025-03-09T20:00:02.515" v="1555"/>
          <ac:spMkLst>
            <pc:docMk/>
            <pc:sldMk cId="93237021" sldId="603"/>
            <ac:spMk id="2" creationId="{F6654F47-B2E4-B6EC-C426-C84BBBE78F79}"/>
          </ac:spMkLst>
        </pc:spChg>
        <pc:spChg chg="mod">
          <ac:chgData name="Louise Overbeek" userId="5ffb9102-b48a-46c4-9734-67bf4ff91752" providerId="ADAL" clId="{CA8426E0-0354-4E9C-A92F-755F1812A55B}" dt="2025-03-09T20:02:00.768" v="1568" actId="255"/>
          <ac:spMkLst>
            <pc:docMk/>
            <pc:sldMk cId="93237021" sldId="603"/>
            <ac:spMk id="3" creationId="{EC6595B1-0A75-073A-175C-67854171B927}"/>
          </ac:spMkLst>
        </pc:spChg>
      </pc:sldChg>
      <pc:sldChg chg="add del replId">
        <pc:chgData name="Louise Overbeek" userId="5ffb9102-b48a-46c4-9734-67bf4ff91752" providerId="ADAL" clId="{CA8426E0-0354-4E9C-A92F-755F1812A55B}" dt="2025-03-09T20:02:04.992" v="1569" actId="47"/>
        <pc:sldMkLst>
          <pc:docMk/>
          <pc:sldMk cId="1361317918" sldId="604"/>
        </pc:sldMkLst>
      </pc:sldChg>
      <pc:sldChg chg="modSp add mod replId">
        <pc:chgData name="Louise Overbeek" userId="5ffb9102-b48a-46c4-9734-67bf4ff91752" providerId="ADAL" clId="{CA8426E0-0354-4E9C-A92F-755F1812A55B}" dt="2025-03-09T20:03:55.394" v="1659" actId="20577"/>
        <pc:sldMkLst>
          <pc:docMk/>
          <pc:sldMk cId="2977023161" sldId="605"/>
        </pc:sldMkLst>
        <pc:spChg chg="mod">
          <ac:chgData name="Louise Overbeek" userId="5ffb9102-b48a-46c4-9734-67bf4ff91752" providerId="ADAL" clId="{CA8426E0-0354-4E9C-A92F-755F1812A55B}" dt="2025-03-09T20:02:18.692" v="1571" actId="207"/>
          <ac:spMkLst>
            <pc:docMk/>
            <pc:sldMk cId="2977023161" sldId="605"/>
            <ac:spMk id="2" creationId="{9EC91D17-5F11-7107-2CDD-7DAAD6C7EF12}"/>
          </ac:spMkLst>
        </pc:spChg>
        <pc:spChg chg="mod">
          <ac:chgData name="Louise Overbeek" userId="5ffb9102-b48a-46c4-9734-67bf4ff91752" providerId="ADAL" clId="{CA8426E0-0354-4E9C-A92F-755F1812A55B}" dt="2025-03-09T20:03:55.394" v="1659" actId="20577"/>
          <ac:spMkLst>
            <pc:docMk/>
            <pc:sldMk cId="2977023161" sldId="605"/>
            <ac:spMk id="3" creationId="{2867B04B-6F41-C2B7-AF78-2BC2CE7DA0A8}"/>
          </ac:spMkLst>
        </pc:spChg>
      </pc:sldChg>
      <pc:sldChg chg="add del replId">
        <pc:chgData name="Louise Overbeek" userId="5ffb9102-b48a-46c4-9734-67bf4ff91752" providerId="ADAL" clId="{CA8426E0-0354-4E9C-A92F-755F1812A55B}" dt="2025-03-09T20:02:20.912" v="1572" actId="47"/>
        <pc:sldMkLst>
          <pc:docMk/>
          <pc:sldMk cId="1693010660" sldId="606"/>
        </pc:sldMkLst>
      </pc:sldChg>
      <pc:sldChg chg="add del replId">
        <pc:chgData name="Louise Overbeek" userId="5ffb9102-b48a-46c4-9734-67bf4ff91752" providerId="ADAL" clId="{CA8426E0-0354-4E9C-A92F-755F1812A55B}" dt="2025-03-09T20:02:21.648" v="1573" actId="47"/>
        <pc:sldMkLst>
          <pc:docMk/>
          <pc:sldMk cId="4258277799" sldId="607"/>
        </pc:sldMkLst>
      </pc:sldChg>
      <pc:sldChg chg="add del replId">
        <pc:chgData name="Louise Overbeek" userId="5ffb9102-b48a-46c4-9734-67bf4ff91752" providerId="ADAL" clId="{CA8426E0-0354-4E9C-A92F-755F1812A55B}" dt="2025-03-09T20:02:22.125" v="1574" actId="47"/>
        <pc:sldMkLst>
          <pc:docMk/>
          <pc:sldMk cId="2005435788" sldId="608"/>
        </pc:sldMkLst>
      </pc:sldChg>
      <pc:sldChg chg="add del replId">
        <pc:chgData name="Louise Overbeek" userId="5ffb9102-b48a-46c4-9734-67bf4ff91752" providerId="ADAL" clId="{CA8426E0-0354-4E9C-A92F-755F1812A55B}" dt="2025-03-09T20:02:23.078" v="1575" actId="47"/>
        <pc:sldMkLst>
          <pc:docMk/>
          <pc:sldMk cId="55883160" sldId="609"/>
        </pc:sldMkLst>
      </pc:sldChg>
      <pc:sldChg chg="modSp add mod replId">
        <pc:chgData name="Louise Overbeek" userId="5ffb9102-b48a-46c4-9734-67bf4ff91752" providerId="ADAL" clId="{CA8426E0-0354-4E9C-A92F-755F1812A55B}" dt="2025-03-10T11:50:03.528" v="2630" actId="20577"/>
        <pc:sldMkLst>
          <pc:docMk/>
          <pc:sldMk cId="3782476963" sldId="610"/>
        </pc:sldMkLst>
        <pc:spChg chg="mod">
          <ac:chgData name="Louise Overbeek" userId="5ffb9102-b48a-46c4-9734-67bf4ff91752" providerId="ADAL" clId="{CA8426E0-0354-4E9C-A92F-755F1812A55B}" dt="2025-03-09T20:11:58.555" v="1834"/>
          <ac:spMkLst>
            <pc:docMk/>
            <pc:sldMk cId="3782476963" sldId="610"/>
            <ac:spMk id="2" creationId="{2EFAC73E-B447-6C78-4CFA-2C80F7934895}"/>
          </ac:spMkLst>
        </pc:spChg>
        <pc:spChg chg="mod">
          <ac:chgData name="Louise Overbeek" userId="5ffb9102-b48a-46c4-9734-67bf4ff91752" providerId="ADAL" clId="{CA8426E0-0354-4E9C-A92F-755F1812A55B}" dt="2025-03-10T11:50:03.528" v="2630" actId="20577"/>
          <ac:spMkLst>
            <pc:docMk/>
            <pc:sldMk cId="3782476963" sldId="610"/>
            <ac:spMk id="3" creationId="{C5CE4E0E-B72C-35AE-0828-D3171814C295}"/>
          </ac:spMkLst>
        </pc:spChg>
      </pc:sldChg>
      <pc:sldChg chg="addSp modSp add mod replId">
        <pc:chgData name="Louise Overbeek" userId="5ffb9102-b48a-46c4-9734-67bf4ff91752" providerId="ADAL" clId="{CA8426E0-0354-4E9C-A92F-755F1812A55B}" dt="2025-03-10T11:58:21.603" v="2639" actId="403"/>
        <pc:sldMkLst>
          <pc:docMk/>
          <pc:sldMk cId="1681596802" sldId="611"/>
        </pc:sldMkLst>
        <pc:spChg chg="mod">
          <ac:chgData name="Louise Overbeek" userId="5ffb9102-b48a-46c4-9734-67bf4ff91752" providerId="ADAL" clId="{CA8426E0-0354-4E9C-A92F-755F1812A55B}" dt="2025-03-09T20:13:22.391" v="1851" actId="20577"/>
          <ac:spMkLst>
            <pc:docMk/>
            <pc:sldMk cId="1681596802" sldId="611"/>
            <ac:spMk id="2" creationId="{9ECED706-A370-0AB0-EC5F-D6E0FB0D0965}"/>
          </ac:spMkLst>
        </pc:spChg>
        <pc:spChg chg="add mod">
          <ac:chgData name="Louise Overbeek" userId="5ffb9102-b48a-46c4-9734-67bf4ff91752" providerId="ADAL" clId="{CA8426E0-0354-4E9C-A92F-755F1812A55B}" dt="2025-03-10T11:58:21.603" v="2639" actId="403"/>
          <ac:spMkLst>
            <pc:docMk/>
            <pc:sldMk cId="1681596802" sldId="611"/>
            <ac:spMk id="5" creationId="{D20F4FC6-CDFE-4A8B-656E-59354C6F35CA}"/>
          </ac:spMkLst>
        </pc:spChg>
      </pc:sldChg>
      <pc:sldChg chg="modSp add mod">
        <pc:chgData name="Louise Overbeek" userId="5ffb9102-b48a-46c4-9734-67bf4ff91752" providerId="ADAL" clId="{CA8426E0-0354-4E9C-A92F-755F1812A55B}" dt="2025-03-09T20:05:01.040" v="1736" actId="20577"/>
        <pc:sldMkLst>
          <pc:docMk/>
          <pc:sldMk cId="658497630" sldId="612"/>
        </pc:sldMkLst>
        <pc:spChg chg="mod">
          <ac:chgData name="Louise Overbeek" userId="5ffb9102-b48a-46c4-9734-67bf4ff91752" providerId="ADAL" clId="{CA8426E0-0354-4E9C-A92F-755F1812A55B}" dt="2025-03-09T20:05:01.040" v="1736" actId="20577"/>
          <ac:spMkLst>
            <pc:docMk/>
            <pc:sldMk cId="658497630" sldId="612"/>
            <ac:spMk id="3" creationId="{E1BE6FFB-D247-A1AB-AACE-7D668D4B144A}"/>
          </ac:spMkLst>
        </pc:spChg>
      </pc:sldChg>
      <pc:sldChg chg="modSp add mod">
        <pc:chgData name="Louise Overbeek" userId="5ffb9102-b48a-46c4-9734-67bf4ff91752" providerId="ADAL" clId="{CA8426E0-0354-4E9C-A92F-755F1812A55B}" dt="2025-03-09T20:06:35.508" v="1751" actId="20577"/>
        <pc:sldMkLst>
          <pc:docMk/>
          <pc:sldMk cId="461882711" sldId="613"/>
        </pc:sldMkLst>
        <pc:spChg chg="mod">
          <ac:chgData name="Louise Overbeek" userId="5ffb9102-b48a-46c4-9734-67bf4ff91752" providerId="ADAL" clId="{CA8426E0-0354-4E9C-A92F-755F1812A55B}" dt="2025-03-09T20:06:35.508" v="1751" actId="20577"/>
          <ac:spMkLst>
            <pc:docMk/>
            <pc:sldMk cId="461882711" sldId="613"/>
            <ac:spMk id="3" creationId="{6317053F-7E27-7E16-9F01-A4896DF30750}"/>
          </ac:spMkLst>
        </pc:spChg>
      </pc:sldChg>
      <pc:sldChg chg="modSp add mod">
        <pc:chgData name="Louise Overbeek" userId="5ffb9102-b48a-46c4-9734-67bf4ff91752" providerId="ADAL" clId="{CA8426E0-0354-4E9C-A92F-755F1812A55B}" dt="2025-03-09T20:07:02.739" v="1762" actId="5793"/>
        <pc:sldMkLst>
          <pc:docMk/>
          <pc:sldMk cId="4087330824" sldId="614"/>
        </pc:sldMkLst>
        <pc:spChg chg="mod">
          <ac:chgData name="Louise Overbeek" userId="5ffb9102-b48a-46c4-9734-67bf4ff91752" providerId="ADAL" clId="{CA8426E0-0354-4E9C-A92F-755F1812A55B}" dt="2025-03-09T20:07:02.739" v="1762" actId="5793"/>
          <ac:spMkLst>
            <pc:docMk/>
            <pc:sldMk cId="4087330824" sldId="614"/>
            <ac:spMk id="3" creationId="{597697A0-2E74-C9BF-87B4-0356DBE0BB5A}"/>
          </ac:spMkLst>
        </pc:spChg>
      </pc:sldChg>
      <pc:sldChg chg="add">
        <pc:chgData name="Louise Overbeek" userId="5ffb9102-b48a-46c4-9734-67bf4ff91752" providerId="ADAL" clId="{CA8426E0-0354-4E9C-A92F-755F1812A55B}" dt="2025-03-09T20:07:05.291" v="1763" actId="2890"/>
        <pc:sldMkLst>
          <pc:docMk/>
          <pc:sldMk cId="2704466779" sldId="615"/>
        </pc:sldMkLst>
      </pc:sldChg>
      <pc:sldChg chg="modSp add mod">
        <pc:chgData name="Louise Overbeek" userId="5ffb9102-b48a-46c4-9734-67bf4ff91752" providerId="ADAL" clId="{CA8426E0-0354-4E9C-A92F-755F1812A55B}" dt="2025-03-09T20:08:08.926" v="1778" actId="179"/>
        <pc:sldMkLst>
          <pc:docMk/>
          <pc:sldMk cId="396174107" sldId="616"/>
        </pc:sldMkLst>
        <pc:spChg chg="mod">
          <ac:chgData name="Louise Overbeek" userId="5ffb9102-b48a-46c4-9734-67bf4ff91752" providerId="ADAL" clId="{CA8426E0-0354-4E9C-A92F-755F1812A55B}" dt="2025-03-09T20:08:08.926" v="1778" actId="179"/>
          <ac:spMkLst>
            <pc:docMk/>
            <pc:sldMk cId="396174107" sldId="616"/>
            <ac:spMk id="3" creationId="{55D2DD5C-379F-DA36-1948-83DE10E233F5}"/>
          </ac:spMkLst>
        </pc:spChg>
      </pc:sldChg>
      <pc:sldChg chg="modSp add mod">
        <pc:chgData name="Louise Overbeek" userId="5ffb9102-b48a-46c4-9734-67bf4ff91752" providerId="ADAL" clId="{CA8426E0-0354-4E9C-A92F-755F1812A55B}" dt="2025-03-09T20:10:36.488" v="1811" actId="179"/>
        <pc:sldMkLst>
          <pc:docMk/>
          <pc:sldMk cId="2151589682" sldId="617"/>
        </pc:sldMkLst>
        <pc:spChg chg="mod">
          <ac:chgData name="Louise Overbeek" userId="5ffb9102-b48a-46c4-9734-67bf4ff91752" providerId="ADAL" clId="{CA8426E0-0354-4E9C-A92F-755F1812A55B}" dt="2025-03-09T20:10:36.488" v="1811" actId="179"/>
          <ac:spMkLst>
            <pc:docMk/>
            <pc:sldMk cId="2151589682" sldId="617"/>
            <ac:spMk id="3" creationId="{E7931071-765C-ABD1-F147-0FA050E15F73}"/>
          </ac:spMkLst>
        </pc:spChg>
      </pc:sldChg>
      <pc:sldChg chg="modSp add mod">
        <pc:chgData name="Louise Overbeek" userId="5ffb9102-b48a-46c4-9734-67bf4ff91752" providerId="ADAL" clId="{CA8426E0-0354-4E9C-A92F-755F1812A55B}" dt="2025-03-09T20:11:42.407" v="1833" actId="20577"/>
        <pc:sldMkLst>
          <pc:docMk/>
          <pc:sldMk cId="1855417124" sldId="618"/>
        </pc:sldMkLst>
        <pc:spChg chg="mod">
          <ac:chgData name="Louise Overbeek" userId="5ffb9102-b48a-46c4-9734-67bf4ff91752" providerId="ADAL" clId="{CA8426E0-0354-4E9C-A92F-755F1812A55B}" dt="2025-03-09T20:11:42.407" v="1833" actId="20577"/>
          <ac:spMkLst>
            <pc:docMk/>
            <pc:sldMk cId="1855417124" sldId="618"/>
            <ac:spMk id="3" creationId="{0502FB46-E3A8-D5DD-9CB4-D824815336AA}"/>
          </ac:spMkLst>
        </pc:spChg>
      </pc:sldChg>
      <pc:sldChg chg="modSp add mod">
        <pc:chgData name="Louise Overbeek" userId="5ffb9102-b48a-46c4-9734-67bf4ff91752" providerId="ADAL" clId="{CA8426E0-0354-4E9C-A92F-755F1812A55B}" dt="2025-03-09T20:16:16.296" v="1872" actId="255"/>
        <pc:sldMkLst>
          <pc:docMk/>
          <pc:sldMk cId="2314312272" sldId="619"/>
        </pc:sldMkLst>
        <pc:spChg chg="mod">
          <ac:chgData name="Louise Overbeek" userId="5ffb9102-b48a-46c4-9734-67bf4ff91752" providerId="ADAL" clId="{CA8426E0-0354-4E9C-A92F-755F1812A55B}" dt="2025-03-09T20:13:51.290" v="1855"/>
          <ac:spMkLst>
            <pc:docMk/>
            <pc:sldMk cId="2314312272" sldId="619"/>
            <ac:spMk id="2" creationId="{2915BEA7-3FAE-296B-16A7-ACB4B45CD199}"/>
          </ac:spMkLst>
        </pc:spChg>
        <pc:spChg chg="mod">
          <ac:chgData name="Louise Overbeek" userId="5ffb9102-b48a-46c4-9734-67bf4ff91752" providerId="ADAL" clId="{CA8426E0-0354-4E9C-A92F-755F1812A55B}" dt="2025-03-09T20:16:16.296" v="1872" actId="255"/>
          <ac:spMkLst>
            <pc:docMk/>
            <pc:sldMk cId="2314312272" sldId="619"/>
            <ac:spMk id="3" creationId="{CA7D3C17-6F5D-43E2-5F90-909CF44019D1}"/>
          </ac:spMkLst>
        </pc:spChg>
      </pc:sldChg>
      <pc:sldChg chg="modSp add mod replId">
        <pc:chgData name="Louise Overbeek" userId="5ffb9102-b48a-46c4-9734-67bf4ff91752" providerId="ADAL" clId="{CA8426E0-0354-4E9C-A92F-755F1812A55B}" dt="2025-03-09T20:20:05.991" v="1904" actId="255"/>
        <pc:sldMkLst>
          <pc:docMk/>
          <pc:sldMk cId="2797376344" sldId="620"/>
        </pc:sldMkLst>
        <pc:spChg chg="mod">
          <ac:chgData name="Louise Overbeek" userId="5ffb9102-b48a-46c4-9734-67bf4ff91752" providerId="ADAL" clId="{CA8426E0-0354-4E9C-A92F-755F1812A55B}" dt="2025-03-09T20:18:27.204" v="1888" actId="207"/>
          <ac:spMkLst>
            <pc:docMk/>
            <pc:sldMk cId="2797376344" sldId="620"/>
            <ac:spMk id="2" creationId="{2E761E52-C331-CD83-D639-87E267D5CCD3}"/>
          </ac:spMkLst>
        </pc:spChg>
        <pc:spChg chg="mod">
          <ac:chgData name="Louise Overbeek" userId="5ffb9102-b48a-46c4-9734-67bf4ff91752" providerId="ADAL" clId="{CA8426E0-0354-4E9C-A92F-755F1812A55B}" dt="2025-03-09T20:20:05.991" v="1904" actId="255"/>
          <ac:spMkLst>
            <pc:docMk/>
            <pc:sldMk cId="2797376344" sldId="620"/>
            <ac:spMk id="3" creationId="{0318C615-C6B9-4E95-A8CF-94425A9C4639}"/>
          </ac:spMkLst>
        </pc:spChg>
      </pc:sldChg>
      <pc:sldChg chg="add del replId">
        <pc:chgData name="Louise Overbeek" userId="5ffb9102-b48a-46c4-9734-67bf4ff91752" providerId="ADAL" clId="{CA8426E0-0354-4E9C-A92F-755F1812A55B}" dt="2025-03-09T20:21:13.503" v="1905" actId="47"/>
        <pc:sldMkLst>
          <pc:docMk/>
          <pc:sldMk cId="528057310" sldId="621"/>
        </pc:sldMkLst>
      </pc:sldChg>
      <pc:sldChg chg="add del replId">
        <pc:chgData name="Louise Overbeek" userId="5ffb9102-b48a-46c4-9734-67bf4ff91752" providerId="ADAL" clId="{CA8426E0-0354-4E9C-A92F-755F1812A55B}" dt="2025-03-09T20:21:13.503" v="1905" actId="47"/>
        <pc:sldMkLst>
          <pc:docMk/>
          <pc:sldMk cId="3309851481" sldId="622"/>
        </pc:sldMkLst>
      </pc:sldChg>
      <pc:sldChg chg="add del replId">
        <pc:chgData name="Louise Overbeek" userId="5ffb9102-b48a-46c4-9734-67bf4ff91752" providerId="ADAL" clId="{CA8426E0-0354-4E9C-A92F-755F1812A55B}" dt="2025-03-09T20:21:13.503" v="1905" actId="47"/>
        <pc:sldMkLst>
          <pc:docMk/>
          <pc:sldMk cId="205949591" sldId="623"/>
        </pc:sldMkLst>
      </pc:sldChg>
      <pc:sldChg chg="add del replId">
        <pc:chgData name="Louise Overbeek" userId="5ffb9102-b48a-46c4-9734-67bf4ff91752" providerId="ADAL" clId="{CA8426E0-0354-4E9C-A92F-755F1812A55B}" dt="2025-03-09T20:21:13.503" v="1905" actId="47"/>
        <pc:sldMkLst>
          <pc:docMk/>
          <pc:sldMk cId="2737938800" sldId="624"/>
        </pc:sldMkLst>
      </pc:sldChg>
      <pc:sldChg chg="add del replId">
        <pc:chgData name="Louise Overbeek" userId="5ffb9102-b48a-46c4-9734-67bf4ff91752" providerId="ADAL" clId="{CA8426E0-0354-4E9C-A92F-755F1812A55B}" dt="2025-03-09T20:21:13.503" v="1905" actId="47"/>
        <pc:sldMkLst>
          <pc:docMk/>
          <pc:sldMk cId="1524104274" sldId="625"/>
        </pc:sldMkLst>
      </pc:sldChg>
      <pc:sldChg chg="add del replId">
        <pc:chgData name="Louise Overbeek" userId="5ffb9102-b48a-46c4-9734-67bf4ff91752" providerId="ADAL" clId="{CA8426E0-0354-4E9C-A92F-755F1812A55B}" dt="2025-03-09T20:21:13.503" v="1905" actId="47"/>
        <pc:sldMkLst>
          <pc:docMk/>
          <pc:sldMk cId="1484586575" sldId="626"/>
        </pc:sldMkLst>
      </pc:sldChg>
      <pc:sldChg chg="add del replId">
        <pc:chgData name="Louise Overbeek" userId="5ffb9102-b48a-46c4-9734-67bf4ff91752" providerId="ADAL" clId="{CA8426E0-0354-4E9C-A92F-755F1812A55B}" dt="2025-03-09T20:21:13.503" v="1905" actId="47"/>
        <pc:sldMkLst>
          <pc:docMk/>
          <pc:sldMk cId="3253657583" sldId="627"/>
        </pc:sldMkLst>
      </pc:sldChg>
      <pc:sldChg chg="modSp add mod replId">
        <pc:chgData name="Louise Overbeek" userId="5ffb9102-b48a-46c4-9734-67bf4ff91752" providerId="ADAL" clId="{CA8426E0-0354-4E9C-A92F-755F1812A55B}" dt="2025-03-10T11:59:09.641" v="2646" actId="20577"/>
        <pc:sldMkLst>
          <pc:docMk/>
          <pc:sldMk cId="2205251282" sldId="628"/>
        </pc:sldMkLst>
        <pc:spChg chg="mod">
          <ac:chgData name="Louise Overbeek" userId="5ffb9102-b48a-46c4-9734-67bf4ff91752" providerId="ADAL" clId="{CA8426E0-0354-4E9C-A92F-755F1812A55B}" dt="2025-03-09T20:35:21.788" v="2056"/>
          <ac:spMkLst>
            <pc:docMk/>
            <pc:sldMk cId="2205251282" sldId="628"/>
            <ac:spMk id="2" creationId="{CBD474CF-8C2A-0451-507B-156F0E894D2F}"/>
          </ac:spMkLst>
        </pc:spChg>
        <pc:spChg chg="mod">
          <ac:chgData name="Louise Overbeek" userId="5ffb9102-b48a-46c4-9734-67bf4ff91752" providerId="ADAL" clId="{CA8426E0-0354-4E9C-A92F-755F1812A55B}" dt="2025-03-10T11:59:09.641" v="2646" actId="20577"/>
          <ac:spMkLst>
            <pc:docMk/>
            <pc:sldMk cId="2205251282" sldId="628"/>
            <ac:spMk id="3" creationId="{EA1ECAD9-FD8B-3889-1E08-524244CF37F4}"/>
          </ac:spMkLst>
        </pc:spChg>
      </pc:sldChg>
      <pc:sldChg chg="addSp modSp add mod replId">
        <pc:chgData name="Louise Overbeek" userId="5ffb9102-b48a-46c4-9734-67bf4ff91752" providerId="ADAL" clId="{CA8426E0-0354-4E9C-A92F-755F1812A55B}" dt="2025-03-10T12:00:26.421" v="2655" actId="403"/>
        <pc:sldMkLst>
          <pc:docMk/>
          <pc:sldMk cId="929655759" sldId="629"/>
        </pc:sldMkLst>
        <pc:spChg chg="mod">
          <ac:chgData name="Louise Overbeek" userId="5ffb9102-b48a-46c4-9734-67bf4ff91752" providerId="ADAL" clId="{CA8426E0-0354-4E9C-A92F-755F1812A55B}" dt="2025-03-09T20:35:25.628" v="2057"/>
          <ac:spMkLst>
            <pc:docMk/>
            <pc:sldMk cId="929655759" sldId="629"/>
            <ac:spMk id="2" creationId="{B815B975-4E62-97F7-004A-185C9B895B1F}"/>
          </ac:spMkLst>
        </pc:spChg>
        <pc:spChg chg="add mod">
          <ac:chgData name="Louise Overbeek" userId="5ffb9102-b48a-46c4-9734-67bf4ff91752" providerId="ADAL" clId="{CA8426E0-0354-4E9C-A92F-755F1812A55B}" dt="2025-03-10T12:00:26.421" v="2655" actId="403"/>
          <ac:spMkLst>
            <pc:docMk/>
            <pc:sldMk cId="929655759" sldId="629"/>
            <ac:spMk id="5" creationId="{AA56CFFF-4421-C952-9149-C99513BD3898}"/>
          </ac:spMkLst>
        </pc:spChg>
      </pc:sldChg>
      <pc:sldChg chg="modSp add mod">
        <pc:chgData name="Louise Overbeek" userId="5ffb9102-b48a-46c4-9734-67bf4ff91752" providerId="ADAL" clId="{CA8426E0-0354-4E9C-A92F-755F1812A55B}" dt="2025-03-09T20:18:09.449" v="1886" actId="113"/>
        <pc:sldMkLst>
          <pc:docMk/>
          <pc:sldMk cId="3106670802" sldId="630"/>
        </pc:sldMkLst>
        <pc:spChg chg="mod">
          <ac:chgData name="Louise Overbeek" userId="5ffb9102-b48a-46c4-9734-67bf4ff91752" providerId="ADAL" clId="{CA8426E0-0354-4E9C-A92F-755F1812A55B}" dt="2025-03-09T20:18:09.449" v="1886" actId="113"/>
          <ac:spMkLst>
            <pc:docMk/>
            <pc:sldMk cId="3106670802" sldId="630"/>
            <ac:spMk id="3" creationId="{5AFC82F3-2983-7EAD-31C0-63C62043B489}"/>
          </ac:spMkLst>
        </pc:spChg>
      </pc:sldChg>
      <pc:sldChg chg="modSp add mod">
        <pc:chgData name="Louise Overbeek" userId="5ffb9102-b48a-46c4-9734-67bf4ff91752" providerId="ADAL" clId="{CA8426E0-0354-4E9C-A92F-755F1812A55B}" dt="2025-03-09T20:31:05.758" v="2009" actId="20577"/>
        <pc:sldMkLst>
          <pc:docMk/>
          <pc:sldMk cId="3991511595" sldId="631"/>
        </pc:sldMkLst>
        <pc:spChg chg="mod">
          <ac:chgData name="Louise Overbeek" userId="5ffb9102-b48a-46c4-9734-67bf4ff91752" providerId="ADAL" clId="{CA8426E0-0354-4E9C-A92F-755F1812A55B}" dt="2025-03-09T20:31:05.758" v="2009" actId="20577"/>
          <ac:spMkLst>
            <pc:docMk/>
            <pc:sldMk cId="3991511595" sldId="631"/>
            <ac:spMk id="3" creationId="{4BF46A1D-3982-EF47-5A58-A699E1624AD1}"/>
          </ac:spMkLst>
        </pc:spChg>
      </pc:sldChg>
      <pc:sldChg chg="modSp add mod">
        <pc:chgData name="Louise Overbeek" userId="5ffb9102-b48a-46c4-9734-67bf4ff91752" providerId="ADAL" clId="{CA8426E0-0354-4E9C-A92F-755F1812A55B}" dt="2025-03-09T20:32:59.808" v="2050" actId="115"/>
        <pc:sldMkLst>
          <pc:docMk/>
          <pc:sldMk cId="4114614147" sldId="632"/>
        </pc:sldMkLst>
        <pc:spChg chg="mod">
          <ac:chgData name="Louise Overbeek" userId="5ffb9102-b48a-46c4-9734-67bf4ff91752" providerId="ADAL" clId="{CA8426E0-0354-4E9C-A92F-755F1812A55B}" dt="2025-03-09T20:32:59.808" v="2050" actId="115"/>
          <ac:spMkLst>
            <pc:docMk/>
            <pc:sldMk cId="4114614147" sldId="632"/>
            <ac:spMk id="3" creationId="{5054A24F-7CF7-7ED4-4BA5-489EDC2EE680}"/>
          </ac:spMkLst>
        </pc:spChg>
      </pc:sldChg>
      <pc:sldChg chg="modSp add mod">
        <pc:chgData name="Louise Overbeek" userId="5ffb9102-b48a-46c4-9734-67bf4ff91752" providerId="ADAL" clId="{CA8426E0-0354-4E9C-A92F-755F1812A55B}" dt="2025-03-09T20:35:08.222" v="2055" actId="13926"/>
        <pc:sldMkLst>
          <pc:docMk/>
          <pc:sldMk cId="2421145303" sldId="633"/>
        </pc:sldMkLst>
        <pc:spChg chg="mod">
          <ac:chgData name="Louise Overbeek" userId="5ffb9102-b48a-46c4-9734-67bf4ff91752" providerId="ADAL" clId="{CA8426E0-0354-4E9C-A92F-755F1812A55B}" dt="2025-03-09T20:35:08.222" v="2055" actId="13926"/>
          <ac:spMkLst>
            <pc:docMk/>
            <pc:sldMk cId="2421145303" sldId="633"/>
            <ac:spMk id="3" creationId="{33071983-F371-5E36-D3EC-8B4988749992}"/>
          </ac:spMkLst>
        </pc:spChg>
      </pc:sldChg>
      <pc:sldChg chg="modSp add mod">
        <pc:chgData name="Louise Overbeek" userId="5ffb9102-b48a-46c4-9734-67bf4ff91752" providerId="ADAL" clId="{CA8426E0-0354-4E9C-A92F-755F1812A55B}" dt="2025-03-09T20:37:38.199" v="2096" actId="403"/>
        <pc:sldMkLst>
          <pc:docMk/>
          <pc:sldMk cId="3963437521" sldId="634"/>
        </pc:sldMkLst>
        <pc:spChg chg="mod">
          <ac:chgData name="Louise Overbeek" userId="5ffb9102-b48a-46c4-9734-67bf4ff91752" providerId="ADAL" clId="{CA8426E0-0354-4E9C-A92F-755F1812A55B}" dt="2025-03-09T20:36:27.396" v="2082" actId="20577"/>
          <ac:spMkLst>
            <pc:docMk/>
            <pc:sldMk cId="3963437521" sldId="634"/>
            <ac:spMk id="2" creationId="{718C610F-7BD1-C5A5-6855-7FF72843C502}"/>
          </ac:spMkLst>
        </pc:spChg>
        <pc:spChg chg="mod">
          <ac:chgData name="Louise Overbeek" userId="5ffb9102-b48a-46c4-9734-67bf4ff91752" providerId="ADAL" clId="{CA8426E0-0354-4E9C-A92F-755F1812A55B}" dt="2025-03-09T20:37:38.199" v="2096" actId="403"/>
          <ac:spMkLst>
            <pc:docMk/>
            <pc:sldMk cId="3963437521" sldId="634"/>
            <ac:spMk id="3" creationId="{484E3666-68DD-01B0-45EE-3CC29D04BCBC}"/>
          </ac:spMkLst>
        </pc:spChg>
      </pc:sldChg>
      <pc:sldChg chg="add del replId">
        <pc:chgData name="Louise Overbeek" userId="5ffb9102-b48a-46c4-9734-67bf4ff91752" providerId="ADAL" clId="{CA8426E0-0354-4E9C-A92F-755F1812A55B}" dt="2025-03-09T20:38:07.575" v="2097" actId="47"/>
        <pc:sldMkLst>
          <pc:docMk/>
          <pc:sldMk cId="2215921666" sldId="635"/>
        </pc:sldMkLst>
      </pc:sldChg>
      <pc:sldChg chg="modSp add mod replId">
        <pc:chgData name="Louise Overbeek" userId="5ffb9102-b48a-46c4-9734-67bf4ff91752" providerId="ADAL" clId="{CA8426E0-0354-4E9C-A92F-755F1812A55B}" dt="2025-03-09T20:38:48.925" v="2109" actId="20577"/>
        <pc:sldMkLst>
          <pc:docMk/>
          <pc:sldMk cId="1210003545" sldId="636"/>
        </pc:sldMkLst>
        <pc:spChg chg="mod">
          <ac:chgData name="Louise Overbeek" userId="5ffb9102-b48a-46c4-9734-67bf4ff91752" providerId="ADAL" clId="{CA8426E0-0354-4E9C-A92F-755F1812A55B}" dt="2025-03-09T20:38:20.147" v="2099" actId="207"/>
          <ac:spMkLst>
            <pc:docMk/>
            <pc:sldMk cId="1210003545" sldId="636"/>
            <ac:spMk id="2" creationId="{8E95A5AC-C337-D6BB-029E-FBD50D85D516}"/>
          </ac:spMkLst>
        </pc:spChg>
        <pc:spChg chg="mod">
          <ac:chgData name="Louise Overbeek" userId="5ffb9102-b48a-46c4-9734-67bf4ff91752" providerId="ADAL" clId="{CA8426E0-0354-4E9C-A92F-755F1812A55B}" dt="2025-03-09T20:38:48.925" v="2109" actId="20577"/>
          <ac:spMkLst>
            <pc:docMk/>
            <pc:sldMk cId="1210003545" sldId="636"/>
            <ac:spMk id="3" creationId="{C4539612-CBB3-FC65-F985-CD36E6DB56FD}"/>
          </ac:spMkLst>
        </pc:spChg>
      </pc:sldChg>
      <pc:sldChg chg="add del replId">
        <pc:chgData name="Louise Overbeek" userId="5ffb9102-b48a-46c4-9734-67bf4ff91752" providerId="ADAL" clId="{CA8426E0-0354-4E9C-A92F-755F1812A55B}" dt="2025-03-09T20:38:24.142" v="2100" actId="47"/>
        <pc:sldMkLst>
          <pc:docMk/>
          <pc:sldMk cId="4197491090" sldId="637"/>
        </pc:sldMkLst>
      </pc:sldChg>
      <pc:sldChg chg="add del replId">
        <pc:chgData name="Louise Overbeek" userId="5ffb9102-b48a-46c4-9734-67bf4ff91752" providerId="ADAL" clId="{CA8426E0-0354-4E9C-A92F-755F1812A55B}" dt="2025-03-09T20:38:24.142" v="2100" actId="47"/>
        <pc:sldMkLst>
          <pc:docMk/>
          <pc:sldMk cId="3755497698" sldId="638"/>
        </pc:sldMkLst>
      </pc:sldChg>
      <pc:sldChg chg="add del replId">
        <pc:chgData name="Louise Overbeek" userId="5ffb9102-b48a-46c4-9734-67bf4ff91752" providerId="ADAL" clId="{CA8426E0-0354-4E9C-A92F-755F1812A55B}" dt="2025-03-09T20:38:24.142" v="2100" actId="47"/>
        <pc:sldMkLst>
          <pc:docMk/>
          <pc:sldMk cId="2086545037" sldId="639"/>
        </pc:sldMkLst>
      </pc:sldChg>
      <pc:sldChg chg="modSp add mod replId">
        <pc:chgData name="Louise Overbeek" userId="5ffb9102-b48a-46c4-9734-67bf4ff91752" providerId="ADAL" clId="{CA8426E0-0354-4E9C-A92F-755F1812A55B}" dt="2025-03-10T12:01:34.555" v="2665" actId="20577"/>
        <pc:sldMkLst>
          <pc:docMk/>
          <pc:sldMk cId="3506773387" sldId="640"/>
        </pc:sldMkLst>
        <pc:spChg chg="mod">
          <ac:chgData name="Louise Overbeek" userId="5ffb9102-b48a-46c4-9734-67bf4ff91752" providerId="ADAL" clId="{CA8426E0-0354-4E9C-A92F-755F1812A55B}" dt="2025-03-09T20:45:12.409" v="2185"/>
          <ac:spMkLst>
            <pc:docMk/>
            <pc:sldMk cId="3506773387" sldId="640"/>
            <ac:spMk id="2" creationId="{C446E548-7AD7-6C42-C323-00CEF2F6F0C6}"/>
          </ac:spMkLst>
        </pc:spChg>
        <pc:spChg chg="mod">
          <ac:chgData name="Louise Overbeek" userId="5ffb9102-b48a-46c4-9734-67bf4ff91752" providerId="ADAL" clId="{CA8426E0-0354-4E9C-A92F-755F1812A55B}" dt="2025-03-10T12:01:34.555" v="2665" actId="20577"/>
          <ac:spMkLst>
            <pc:docMk/>
            <pc:sldMk cId="3506773387" sldId="640"/>
            <ac:spMk id="3" creationId="{806BE88B-3141-D3E3-1350-4492159708E8}"/>
          </ac:spMkLst>
        </pc:spChg>
      </pc:sldChg>
      <pc:sldChg chg="addSp modSp add mod replId">
        <pc:chgData name="Louise Overbeek" userId="5ffb9102-b48a-46c4-9734-67bf4ff91752" providerId="ADAL" clId="{CA8426E0-0354-4E9C-A92F-755F1812A55B}" dt="2025-03-10T12:02:28.731" v="2672" actId="403"/>
        <pc:sldMkLst>
          <pc:docMk/>
          <pc:sldMk cId="3486796440" sldId="641"/>
        </pc:sldMkLst>
        <pc:spChg chg="mod">
          <ac:chgData name="Louise Overbeek" userId="5ffb9102-b48a-46c4-9734-67bf4ff91752" providerId="ADAL" clId="{CA8426E0-0354-4E9C-A92F-755F1812A55B}" dt="2025-03-09T20:45:19.442" v="2187" actId="20577"/>
          <ac:spMkLst>
            <pc:docMk/>
            <pc:sldMk cId="3486796440" sldId="641"/>
            <ac:spMk id="2" creationId="{DB080947-5E33-F032-8CE8-14B381D2701D}"/>
          </ac:spMkLst>
        </pc:spChg>
        <pc:spChg chg="add mod">
          <ac:chgData name="Louise Overbeek" userId="5ffb9102-b48a-46c4-9734-67bf4ff91752" providerId="ADAL" clId="{CA8426E0-0354-4E9C-A92F-755F1812A55B}" dt="2025-03-10T12:02:28.731" v="2672" actId="403"/>
          <ac:spMkLst>
            <pc:docMk/>
            <pc:sldMk cId="3486796440" sldId="641"/>
            <ac:spMk id="5" creationId="{8A29756A-BF13-7FB5-3E3A-CF50D6A77D17}"/>
          </ac:spMkLst>
        </pc:spChg>
      </pc:sldChg>
      <pc:sldChg chg="modSp add mod">
        <pc:chgData name="Louise Overbeek" userId="5ffb9102-b48a-46c4-9734-67bf4ff91752" providerId="ADAL" clId="{CA8426E0-0354-4E9C-A92F-755F1812A55B}" dt="2025-03-09T20:41:48.625" v="2151" actId="27636"/>
        <pc:sldMkLst>
          <pc:docMk/>
          <pc:sldMk cId="724605026" sldId="642"/>
        </pc:sldMkLst>
        <pc:spChg chg="mod">
          <ac:chgData name="Louise Overbeek" userId="5ffb9102-b48a-46c4-9734-67bf4ff91752" providerId="ADAL" clId="{CA8426E0-0354-4E9C-A92F-755F1812A55B}" dt="2025-03-09T20:41:48.625" v="2151" actId="27636"/>
          <ac:spMkLst>
            <pc:docMk/>
            <pc:sldMk cId="724605026" sldId="642"/>
            <ac:spMk id="3" creationId="{6A5394B1-B544-57FB-26E6-00150836B0C9}"/>
          </ac:spMkLst>
        </pc:spChg>
      </pc:sldChg>
      <pc:sldChg chg="modSp add mod">
        <pc:chgData name="Louise Overbeek" userId="5ffb9102-b48a-46c4-9734-67bf4ff91752" providerId="ADAL" clId="{CA8426E0-0354-4E9C-A92F-755F1812A55B}" dt="2025-03-09T20:41:57.058" v="2152" actId="6549"/>
        <pc:sldMkLst>
          <pc:docMk/>
          <pc:sldMk cId="2227673472" sldId="643"/>
        </pc:sldMkLst>
        <pc:spChg chg="mod">
          <ac:chgData name="Louise Overbeek" userId="5ffb9102-b48a-46c4-9734-67bf4ff91752" providerId="ADAL" clId="{CA8426E0-0354-4E9C-A92F-755F1812A55B}" dt="2025-03-09T20:41:57.058" v="2152" actId="6549"/>
          <ac:spMkLst>
            <pc:docMk/>
            <pc:sldMk cId="2227673472" sldId="643"/>
            <ac:spMk id="3" creationId="{0AF8D3AC-340C-7ABF-49C3-33682C484327}"/>
          </ac:spMkLst>
        </pc:spChg>
      </pc:sldChg>
      <pc:sldChg chg="modSp add mod">
        <pc:chgData name="Louise Overbeek" userId="5ffb9102-b48a-46c4-9734-67bf4ff91752" providerId="ADAL" clId="{CA8426E0-0354-4E9C-A92F-755F1812A55B}" dt="2025-03-10T12:00:59.639" v="2657" actId="403"/>
        <pc:sldMkLst>
          <pc:docMk/>
          <pc:sldMk cId="779615703" sldId="644"/>
        </pc:sldMkLst>
        <pc:spChg chg="mod">
          <ac:chgData name="Louise Overbeek" userId="5ffb9102-b48a-46c4-9734-67bf4ff91752" providerId="ADAL" clId="{CA8426E0-0354-4E9C-A92F-755F1812A55B}" dt="2025-03-10T12:00:59.639" v="2657" actId="403"/>
          <ac:spMkLst>
            <pc:docMk/>
            <pc:sldMk cId="779615703" sldId="644"/>
            <ac:spMk id="3" creationId="{B5D140ED-F489-7AC5-9C75-6B8F0D5CAA79}"/>
          </ac:spMkLst>
        </pc:spChg>
      </pc:sldChg>
      <pc:sldChg chg="modSp add mod">
        <pc:chgData name="Louise Overbeek" userId="5ffb9102-b48a-46c4-9734-67bf4ff91752" providerId="ADAL" clId="{CA8426E0-0354-4E9C-A92F-755F1812A55B}" dt="2025-03-10T12:01:18.064" v="2658" actId="115"/>
        <pc:sldMkLst>
          <pc:docMk/>
          <pc:sldMk cId="4197794280" sldId="645"/>
        </pc:sldMkLst>
        <pc:spChg chg="mod">
          <ac:chgData name="Louise Overbeek" userId="5ffb9102-b48a-46c4-9734-67bf4ff91752" providerId="ADAL" clId="{CA8426E0-0354-4E9C-A92F-755F1812A55B}" dt="2025-03-10T12:01:18.064" v="2658" actId="115"/>
          <ac:spMkLst>
            <pc:docMk/>
            <pc:sldMk cId="4197794280" sldId="645"/>
            <ac:spMk id="3" creationId="{F21ADD41-DD13-44F4-3B1F-87952B1BA933}"/>
          </ac:spMkLst>
        </pc:spChg>
      </pc:sldChg>
      <pc:sldChg chg="modSp add mod">
        <pc:chgData name="Louise Overbeek" userId="5ffb9102-b48a-46c4-9734-67bf4ff91752" providerId="ADAL" clId="{CA8426E0-0354-4E9C-A92F-755F1812A55B}" dt="2025-03-09T20:49:05.455" v="2222" actId="115"/>
        <pc:sldMkLst>
          <pc:docMk/>
          <pc:sldMk cId="3215976023" sldId="646"/>
        </pc:sldMkLst>
        <pc:spChg chg="mod">
          <ac:chgData name="Louise Overbeek" userId="5ffb9102-b48a-46c4-9734-67bf4ff91752" providerId="ADAL" clId="{CA8426E0-0354-4E9C-A92F-755F1812A55B}" dt="2025-03-09T20:46:35.938" v="2203"/>
          <ac:spMkLst>
            <pc:docMk/>
            <pc:sldMk cId="3215976023" sldId="646"/>
            <ac:spMk id="2" creationId="{2FA9B7C8-2289-EE05-0A7C-0CBFF20D45AC}"/>
          </ac:spMkLst>
        </pc:spChg>
        <pc:spChg chg="mod">
          <ac:chgData name="Louise Overbeek" userId="5ffb9102-b48a-46c4-9734-67bf4ff91752" providerId="ADAL" clId="{CA8426E0-0354-4E9C-A92F-755F1812A55B}" dt="2025-03-09T20:49:05.455" v="2222" actId="115"/>
          <ac:spMkLst>
            <pc:docMk/>
            <pc:sldMk cId="3215976023" sldId="646"/>
            <ac:spMk id="3" creationId="{F11A2B33-59E9-56E0-DC2A-D1F2E04EB6BD}"/>
          </ac:spMkLst>
        </pc:spChg>
      </pc:sldChg>
      <pc:sldChg chg="modSp add mod replId">
        <pc:chgData name="Louise Overbeek" userId="5ffb9102-b48a-46c4-9734-67bf4ff91752" providerId="ADAL" clId="{CA8426E0-0354-4E9C-A92F-755F1812A55B}" dt="2025-03-09T20:51:27.364" v="2240" actId="20577"/>
        <pc:sldMkLst>
          <pc:docMk/>
          <pc:sldMk cId="2525011446" sldId="647"/>
        </pc:sldMkLst>
        <pc:spChg chg="mod">
          <ac:chgData name="Louise Overbeek" userId="5ffb9102-b48a-46c4-9734-67bf4ff91752" providerId="ADAL" clId="{CA8426E0-0354-4E9C-A92F-755F1812A55B}" dt="2025-03-09T20:49:25.951" v="2224" actId="207"/>
          <ac:spMkLst>
            <pc:docMk/>
            <pc:sldMk cId="2525011446" sldId="647"/>
            <ac:spMk id="2" creationId="{737F85E7-E58E-EBFE-0998-6550F0F34A29}"/>
          </ac:spMkLst>
        </pc:spChg>
        <pc:spChg chg="mod">
          <ac:chgData name="Louise Overbeek" userId="5ffb9102-b48a-46c4-9734-67bf4ff91752" providerId="ADAL" clId="{CA8426E0-0354-4E9C-A92F-755F1812A55B}" dt="2025-03-09T20:51:27.364" v="2240" actId="20577"/>
          <ac:spMkLst>
            <pc:docMk/>
            <pc:sldMk cId="2525011446" sldId="647"/>
            <ac:spMk id="3" creationId="{0C45BCA6-80D6-3D34-CED9-51AC7E5F3D68}"/>
          </ac:spMkLst>
        </pc:spChg>
      </pc:sldChg>
      <pc:sldChg chg="add del replId">
        <pc:chgData name="Louise Overbeek" userId="5ffb9102-b48a-46c4-9734-67bf4ff91752" providerId="ADAL" clId="{CA8426E0-0354-4E9C-A92F-755F1812A55B}" dt="2025-03-09T20:49:28.856" v="2225" actId="47"/>
        <pc:sldMkLst>
          <pc:docMk/>
          <pc:sldMk cId="1766958203" sldId="648"/>
        </pc:sldMkLst>
      </pc:sldChg>
      <pc:sldChg chg="add del replId">
        <pc:chgData name="Louise Overbeek" userId="5ffb9102-b48a-46c4-9734-67bf4ff91752" providerId="ADAL" clId="{CA8426E0-0354-4E9C-A92F-755F1812A55B}" dt="2025-03-09T20:49:29.242" v="2226" actId="47"/>
        <pc:sldMkLst>
          <pc:docMk/>
          <pc:sldMk cId="591019160" sldId="649"/>
        </pc:sldMkLst>
      </pc:sldChg>
      <pc:sldChg chg="add del replId">
        <pc:chgData name="Louise Overbeek" userId="5ffb9102-b48a-46c4-9734-67bf4ff91752" providerId="ADAL" clId="{CA8426E0-0354-4E9C-A92F-755F1812A55B}" dt="2025-03-09T20:49:29.873" v="2227" actId="47"/>
        <pc:sldMkLst>
          <pc:docMk/>
          <pc:sldMk cId="598844372" sldId="650"/>
        </pc:sldMkLst>
      </pc:sldChg>
      <pc:sldChg chg="add del replId">
        <pc:chgData name="Louise Overbeek" userId="5ffb9102-b48a-46c4-9734-67bf4ff91752" providerId="ADAL" clId="{CA8426E0-0354-4E9C-A92F-755F1812A55B}" dt="2025-03-09T20:49:30.743" v="2228" actId="47"/>
        <pc:sldMkLst>
          <pc:docMk/>
          <pc:sldMk cId="1049103691" sldId="651"/>
        </pc:sldMkLst>
      </pc:sldChg>
      <pc:sldChg chg="modSp add mod replId">
        <pc:chgData name="Louise Overbeek" userId="5ffb9102-b48a-46c4-9734-67bf4ff91752" providerId="ADAL" clId="{CA8426E0-0354-4E9C-A92F-755F1812A55B}" dt="2025-03-10T12:04:50.925" v="2691" actId="20577"/>
        <pc:sldMkLst>
          <pc:docMk/>
          <pc:sldMk cId="3869895306" sldId="652"/>
        </pc:sldMkLst>
        <pc:spChg chg="mod">
          <ac:chgData name="Louise Overbeek" userId="5ffb9102-b48a-46c4-9734-67bf4ff91752" providerId="ADAL" clId="{CA8426E0-0354-4E9C-A92F-755F1812A55B}" dt="2025-03-09T20:56:15.646" v="2283"/>
          <ac:spMkLst>
            <pc:docMk/>
            <pc:sldMk cId="3869895306" sldId="652"/>
            <ac:spMk id="2" creationId="{F51088A4-FEAB-8370-5E3E-E87BDFD435C8}"/>
          </ac:spMkLst>
        </pc:spChg>
        <pc:spChg chg="mod">
          <ac:chgData name="Louise Overbeek" userId="5ffb9102-b48a-46c4-9734-67bf4ff91752" providerId="ADAL" clId="{CA8426E0-0354-4E9C-A92F-755F1812A55B}" dt="2025-03-10T12:04:50.925" v="2691" actId="20577"/>
          <ac:spMkLst>
            <pc:docMk/>
            <pc:sldMk cId="3869895306" sldId="652"/>
            <ac:spMk id="3" creationId="{68116AFE-AD84-D88F-1E70-F8919383857C}"/>
          </ac:spMkLst>
        </pc:spChg>
      </pc:sldChg>
      <pc:sldChg chg="addSp modSp add mod replId">
        <pc:chgData name="Louise Overbeek" userId="5ffb9102-b48a-46c4-9734-67bf4ff91752" providerId="ADAL" clId="{CA8426E0-0354-4E9C-A92F-755F1812A55B}" dt="2025-03-10T12:04:17.905" v="2687" actId="1076"/>
        <pc:sldMkLst>
          <pc:docMk/>
          <pc:sldMk cId="356104252" sldId="653"/>
        </pc:sldMkLst>
        <pc:spChg chg="mod">
          <ac:chgData name="Louise Overbeek" userId="5ffb9102-b48a-46c4-9734-67bf4ff91752" providerId="ADAL" clId="{CA8426E0-0354-4E9C-A92F-755F1812A55B}" dt="2025-03-09T20:56:20.558" v="2286" actId="5793"/>
          <ac:spMkLst>
            <pc:docMk/>
            <pc:sldMk cId="356104252" sldId="653"/>
            <ac:spMk id="2" creationId="{A1AC35F5-771B-A3EF-67FB-4B56326386CA}"/>
          </ac:spMkLst>
        </pc:spChg>
        <pc:spChg chg="add mod">
          <ac:chgData name="Louise Overbeek" userId="5ffb9102-b48a-46c4-9734-67bf4ff91752" providerId="ADAL" clId="{CA8426E0-0354-4E9C-A92F-755F1812A55B}" dt="2025-03-10T12:04:17.905" v="2687" actId="1076"/>
          <ac:spMkLst>
            <pc:docMk/>
            <pc:sldMk cId="356104252" sldId="653"/>
            <ac:spMk id="5" creationId="{607E4A43-E81E-8367-8460-0AD839B7620D}"/>
          </ac:spMkLst>
        </pc:spChg>
      </pc:sldChg>
      <pc:sldChg chg="modSp add mod">
        <pc:chgData name="Louise Overbeek" userId="5ffb9102-b48a-46c4-9734-67bf4ff91752" providerId="ADAL" clId="{CA8426E0-0354-4E9C-A92F-755F1812A55B}" dt="2025-03-09T20:52:00.092" v="2244" actId="12"/>
        <pc:sldMkLst>
          <pc:docMk/>
          <pc:sldMk cId="2589112486" sldId="654"/>
        </pc:sldMkLst>
        <pc:spChg chg="mod">
          <ac:chgData name="Louise Overbeek" userId="5ffb9102-b48a-46c4-9734-67bf4ff91752" providerId="ADAL" clId="{CA8426E0-0354-4E9C-A92F-755F1812A55B}" dt="2025-03-09T20:52:00.092" v="2244" actId="12"/>
          <ac:spMkLst>
            <pc:docMk/>
            <pc:sldMk cId="2589112486" sldId="654"/>
            <ac:spMk id="3" creationId="{49636CB0-C913-8A6D-D3EC-040EDE06BD8B}"/>
          </ac:spMkLst>
        </pc:spChg>
      </pc:sldChg>
      <pc:sldChg chg="modSp add mod">
        <pc:chgData name="Louise Overbeek" userId="5ffb9102-b48a-46c4-9734-67bf4ff91752" providerId="ADAL" clId="{CA8426E0-0354-4E9C-A92F-755F1812A55B}" dt="2025-03-09T20:55:40.332" v="2280" actId="27636"/>
        <pc:sldMkLst>
          <pc:docMk/>
          <pc:sldMk cId="2310013265" sldId="655"/>
        </pc:sldMkLst>
        <pc:spChg chg="mod">
          <ac:chgData name="Louise Overbeek" userId="5ffb9102-b48a-46c4-9734-67bf4ff91752" providerId="ADAL" clId="{CA8426E0-0354-4E9C-A92F-755F1812A55B}" dt="2025-03-09T20:55:40.332" v="2280" actId="27636"/>
          <ac:spMkLst>
            <pc:docMk/>
            <pc:sldMk cId="2310013265" sldId="655"/>
            <ac:spMk id="3" creationId="{B587FA74-ED30-8DF2-89A4-A5E5375C8C22}"/>
          </ac:spMkLst>
        </pc:spChg>
      </pc:sldChg>
      <pc:sldChg chg="modSp add mod">
        <pc:chgData name="Louise Overbeek" userId="5ffb9102-b48a-46c4-9734-67bf4ff91752" providerId="ADAL" clId="{CA8426E0-0354-4E9C-A92F-755F1812A55B}" dt="2025-03-09T20:55:46.611" v="2282"/>
        <pc:sldMkLst>
          <pc:docMk/>
          <pc:sldMk cId="593158966" sldId="656"/>
        </pc:sldMkLst>
        <pc:spChg chg="mod">
          <ac:chgData name="Louise Overbeek" userId="5ffb9102-b48a-46c4-9734-67bf4ff91752" providerId="ADAL" clId="{CA8426E0-0354-4E9C-A92F-755F1812A55B}" dt="2025-03-09T20:55:46.611" v="2282"/>
          <ac:spMkLst>
            <pc:docMk/>
            <pc:sldMk cId="593158966" sldId="656"/>
            <ac:spMk id="3" creationId="{BEE89147-B3C5-A475-8C51-02EE722C9E65}"/>
          </ac:spMkLst>
        </pc:spChg>
      </pc:sldChg>
      <pc:sldChg chg="modSp add mod">
        <pc:chgData name="Louise Overbeek" userId="5ffb9102-b48a-46c4-9734-67bf4ff91752" providerId="ADAL" clId="{CA8426E0-0354-4E9C-A92F-755F1812A55B}" dt="2025-03-09T20:59:58.214" v="2345" actId="20577"/>
        <pc:sldMkLst>
          <pc:docMk/>
          <pc:sldMk cId="227636087" sldId="657"/>
        </pc:sldMkLst>
        <pc:spChg chg="mod">
          <ac:chgData name="Louise Overbeek" userId="5ffb9102-b48a-46c4-9734-67bf4ff91752" providerId="ADAL" clId="{CA8426E0-0354-4E9C-A92F-755F1812A55B}" dt="2025-03-09T20:59:58.214" v="2345" actId="20577"/>
          <ac:spMkLst>
            <pc:docMk/>
            <pc:sldMk cId="227636087" sldId="657"/>
            <ac:spMk id="2" creationId="{699BA7D4-BFF5-4C5B-B1C0-613C1E3920D4}"/>
          </ac:spMkLst>
        </pc:spChg>
        <pc:spChg chg="mod">
          <ac:chgData name="Louise Overbeek" userId="5ffb9102-b48a-46c4-9734-67bf4ff91752" providerId="ADAL" clId="{CA8426E0-0354-4E9C-A92F-755F1812A55B}" dt="2025-03-09T20:59:23.308" v="2334" actId="20577"/>
          <ac:spMkLst>
            <pc:docMk/>
            <pc:sldMk cId="227636087" sldId="657"/>
            <ac:spMk id="3" creationId="{9371DD1A-20B9-E173-5056-B31C1B2527B8}"/>
          </ac:spMkLst>
        </pc:spChg>
      </pc:sldChg>
      <pc:sldChg chg="modSp add mod replId">
        <pc:chgData name="Louise Overbeek" userId="5ffb9102-b48a-46c4-9734-67bf4ff91752" providerId="ADAL" clId="{CA8426E0-0354-4E9C-A92F-755F1812A55B}" dt="2025-03-09T21:03:17.188" v="2386" actId="403"/>
        <pc:sldMkLst>
          <pc:docMk/>
          <pc:sldMk cId="1835983108" sldId="658"/>
        </pc:sldMkLst>
        <pc:spChg chg="mod">
          <ac:chgData name="Louise Overbeek" userId="5ffb9102-b48a-46c4-9734-67bf4ff91752" providerId="ADAL" clId="{CA8426E0-0354-4E9C-A92F-755F1812A55B}" dt="2025-03-09T21:00:07.257" v="2350" actId="207"/>
          <ac:spMkLst>
            <pc:docMk/>
            <pc:sldMk cId="1835983108" sldId="658"/>
            <ac:spMk id="2" creationId="{173CEC3D-0298-4C9F-D54D-685CC3AF8559}"/>
          </ac:spMkLst>
        </pc:spChg>
        <pc:spChg chg="mod">
          <ac:chgData name="Louise Overbeek" userId="5ffb9102-b48a-46c4-9734-67bf4ff91752" providerId="ADAL" clId="{CA8426E0-0354-4E9C-A92F-755F1812A55B}" dt="2025-03-09T21:03:17.188" v="2386" actId="403"/>
          <ac:spMkLst>
            <pc:docMk/>
            <pc:sldMk cId="1835983108" sldId="658"/>
            <ac:spMk id="3" creationId="{14866431-DA5D-D6FA-4CAD-3F820C13BEF8}"/>
          </ac:spMkLst>
        </pc:spChg>
      </pc:sldChg>
      <pc:sldChg chg="add del replId">
        <pc:chgData name="Louise Overbeek" userId="5ffb9102-b48a-46c4-9734-67bf4ff91752" providerId="ADAL" clId="{CA8426E0-0354-4E9C-A92F-755F1812A55B}" dt="2025-03-09T21:00:09.880" v="2351" actId="47"/>
        <pc:sldMkLst>
          <pc:docMk/>
          <pc:sldMk cId="1793726847" sldId="659"/>
        </pc:sldMkLst>
      </pc:sldChg>
      <pc:sldChg chg="add del replId">
        <pc:chgData name="Louise Overbeek" userId="5ffb9102-b48a-46c4-9734-67bf4ff91752" providerId="ADAL" clId="{CA8426E0-0354-4E9C-A92F-755F1812A55B}" dt="2025-03-09T21:00:10.375" v="2352" actId="47"/>
        <pc:sldMkLst>
          <pc:docMk/>
          <pc:sldMk cId="2471835348" sldId="660"/>
        </pc:sldMkLst>
      </pc:sldChg>
      <pc:sldChg chg="add del replId">
        <pc:chgData name="Louise Overbeek" userId="5ffb9102-b48a-46c4-9734-67bf4ff91752" providerId="ADAL" clId="{CA8426E0-0354-4E9C-A92F-755F1812A55B}" dt="2025-03-09T21:00:13.102" v="2353" actId="47"/>
        <pc:sldMkLst>
          <pc:docMk/>
          <pc:sldMk cId="3951337238" sldId="661"/>
        </pc:sldMkLst>
      </pc:sldChg>
      <pc:sldChg chg="modSp add mod replId">
        <pc:chgData name="Louise Overbeek" userId="5ffb9102-b48a-46c4-9734-67bf4ff91752" providerId="ADAL" clId="{CA8426E0-0354-4E9C-A92F-755F1812A55B}" dt="2025-03-10T12:05:13.908" v="2698" actId="20577"/>
        <pc:sldMkLst>
          <pc:docMk/>
          <pc:sldMk cId="3679995917" sldId="662"/>
        </pc:sldMkLst>
        <pc:spChg chg="mod">
          <ac:chgData name="Louise Overbeek" userId="5ffb9102-b48a-46c4-9734-67bf4ff91752" providerId="ADAL" clId="{CA8426E0-0354-4E9C-A92F-755F1812A55B}" dt="2025-03-09T21:07:21.058" v="2430"/>
          <ac:spMkLst>
            <pc:docMk/>
            <pc:sldMk cId="3679995917" sldId="662"/>
            <ac:spMk id="2" creationId="{2B1187F0-87F4-A7CB-1946-3D4DC487D36F}"/>
          </ac:spMkLst>
        </pc:spChg>
        <pc:spChg chg="mod">
          <ac:chgData name="Louise Overbeek" userId="5ffb9102-b48a-46c4-9734-67bf4ff91752" providerId="ADAL" clId="{CA8426E0-0354-4E9C-A92F-755F1812A55B}" dt="2025-03-10T12:05:13.908" v="2698" actId="20577"/>
          <ac:spMkLst>
            <pc:docMk/>
            <pc:sldMk cId="3679995917" sldId="662"/>
            <ac:spMk id="3" creationId="{994465C3-8C1A-562E-A37D-9397B50D67DA}"/>
          </ac:spMkLst>
        </pc:spChg>
      </pc:sldChg>
      <pc:sldChg chg="addSp modSp add mod replId">
        <pc:chgData name="Louise Overbeek" userId="5ffb9102-b48a-46c4-9734-67bf4ff91752" providerId="ADAL" clId="{CA8426E0-0354-4E9C-A92F-755F1812A55B}" dt="2025-03-10T12:05:58.346" v="2705" actId="403"/>
        <pc:sldMkLst>
          <pc:docMk/>
          <pc:sldMk cId="2665413617" sldId="663"/>
        </pc:sldMkLst>
        <pc:spChg chg="mod">
          <ac:chgData name="Louise Overbeek" userId="5ffb9102-b48a-46c4-9734-67bf4ff91752" providerId="ADAL" clId="{CA8426E0-0354-4E9C-A92F-755F1812A55B}" dt="2025-03-09T21:07:26.242" v="2432" actId="20577"/>
          <ac:spMkLst>
            <pc:docMk/>
            <pc:sldMk cId="2665413617" sldId="663"/>
            <ac:spMk id="2" creationId="{F7469BD2-8F47-B417-BC95-15FBB525A3A4}"/>
          </ac:spMkLst>
        </pc:spChg>
        <pc:spChg chg="add mod">
          <ac:chgData name="Louise Overbeek" userId="5ffb9102-b48a-46c4-9734-67bf4ff91752" providerId="ADAL" clId="{CA8426E0-0354-4E9C-A92F-755F1812A55B}" dt="2025-03-10T12:05:58.346" v="2705" actId="403"/>
          <ac:spMkLst>
            <pc:docMk/>
            <pc:sldMk cId="2665413617" sldId="663"/>
            <ac:spMk id="5" creationId="{9ACE56DC-2DBF-D5A6-A86F-FDAD0EFA9D9A}"/>
          </ac:spMkLst>
        </pc:spChg>
      </pc:sldChg>
      <pc:sldChg chg="modSp add mod">
        <pc:chgData name="Louise Overbeek" userId="5ffb9102-b48a-46c4-9734-67bf4ff91752" providerId="ADAL" clId="{CA8426E0-0354-4E9C-A92F-755F1812A55B}" dt="2025-03-09T21:00:01.230" v="2347" actId="20577"/>
        <pc:sldMkLst>
          <pc:docMk/>
          <pc:sldMk cId="261817569" sldId="664"/>
        </pc:sldMkLst>
        <pc:spChg chg="mod">
          <ac:chgData name="Louise Overbeek" userId="5ffb9102-b48a-46c4-9734-67bf4ff91752" providerId="ADAL" clId="{CA8426E0-0354-4E9C-A92F-755F1812A55B}" dt="2025-03-09T21:00:01.230" v="2347" actId="20577"/>
          <ac:spMkLst>
            <pc:docMk/>
            <pc:sldMk cId="261817569" sldId="664"/>
            <ac:spMk id="2" creationId="{4CA29D2C-8DAD-C2A5-5F12-0494A47651E8}"/>
          </ac:spMkLst>
        </pc:spChg>
        <pc:spChg chg="mod">
          <ac:chgData name="Louise Overbeek" userId="5ffb9102-b48a-46c4-9734-67bf4ff91752" providerId="ADAL" clId="{CA8426E0-0354-4E9C-A92F-755F1812A55B}" dt="2025-03-09T20:59:33.667" v="2342" actId="14100"/>
          <ac:spMkLst>
            <pc:docMk/>
            <pc:sldMk cId="261817569" sldId="664"/>
            <ac:spMk id="3" creationId="{E2911285-BE29-1D41-1146-FED56C5477AC}"/>
          </ac:spMkLst>
        </pc:spChg>
      </pc:sldChg>
      <pc:sldChg chg="modSp add mod">
        <pc:chgData name="Louise Overbeek" userId="5ffb9102-b48a-46c4-9734-67bf4ff91752" providerId="ADAL" clId="{CA8426E0-0354-4E9C-A92F-755F1812A55B}" dt="2025-03-09T21:04:46.525" v="2397" actId="6549"/>
        <pc:sldMkLst>
          <pc:docMk/>
          <pc:sldMk cId="4117200962" sldId="665"/>
        </pc:sldMkLst>
        <pc:spChg chg="mod">
          <ac:chgData name="Louise Overbeek" userId="5ffb9102-b48a-46c4-9734-67bf4ff91752" providerId="ADAL" clId="{CA8426E0-0354-4E9C-A92F-755F1812A55B}" dt="2025-03-09T21:04:46.525" v="2397" actId="6549"/>
          <ac:spMkLst>
            <pc:docMk/>
            <pc:sldMk cId="4117200962" sldId="665"/>
            <ac:spMk id="3" creationId="{9E9F461E-D302-E114-0BED-BBC391216899}"/>
          </ac:spMkLst>
        </pc:spChg>
      </pc:sldChg>
      <pc:sldChg chg="modSp add mod">
        <pc:chgData name="Louise Overbeek" userId="5ffb9102-b48a-46c4-9734-67bf4ff91752" providerId="ADAL" clId="{CA8426E0-0354-4E9C-A92F-755F1812A55B}" dt="2025-03-09T21:05:43.624" v="2403" actId="403"/>
        <pc:sldMkLst>
          <pc:docMk/>
          <pc:sldMk cId="846227321" sldId="666"/>
        </pc:sldMkLst>
        <pc:spChg chg="mod">
          <ac:chgData name="Louise Overbeek" userId="5ffb9102-b48a-46c4-9734-67bf4ff91752" providerId="ADAL" clId="{CA8426E0-0354-4E9C-A92F-755F1812A55B}" dt="2025-03-09T21:05:43.624" v="2403" actId="403"/>
          <ac:spMkLst>
            <pc:docMk/>
            <pc:sldMk cId="846227321" sldId="666"/>
            <ac:spMk id="3" creationId="{4C21D7E3-50BB-8AA2-9919-BF320CB22570}"/>
          </ac:spMkLst>
        </pc:spChg>
      </pc:sldChg>
      <pc:sldChg chg="modSp add mod">
        <pc:chgData name="Louise Overbeek" userId="5ffb9102-b48a-46c4-9734-67bf4ff91752" providerId="ADAL" clId="{CA8426E0-0354-4E9C-A92F-755F1812A55B}" dt="2025-03-09T21:07:00.575" v="2429" actId="20577"/>
        <pc:sldMkLst>
          <pc:docMk/>
          <pc:sldMk cId="1033120766" sldId="667"/>
        </pc:sldMkLst>
        <pc:spChg chg="mod">
          <ac:chgData name="Louise Overbeek" userId="5ffb9102-b48a-46c4-9734-67bf4ff91752" providerId="ADAL" clId="{CA8426E0-0354-4E9C-A92F-755F1812A55B}" dt="2025-03-09T21:07:00.575" v="2429" actId="20577"/>
          <ac:spMkLst>
            <pc:docMk/>
            <pc:sldMk cId="1033120766" sldId="667"/>
            <ac:spMk id="3" creationId="{FDA6A7F1-5E9D-1C35-DBF0-68D31A3E663B}"/>
          </ac:spMkLst>
        </pc:spChg>
      </pc:sldChg>
    </pc:docChg>
  </pc:docChgLst>
</pc:chgInfo>
</file>

<file path=ppt/comments/modernComment_112_AE2650E.xml><?xml version="1.0" encoding="utf-8"?>
<p188:cmLst xmlns:a="http://schemas.openxmlformats.org/drawingml/2006/main" xmlns:r="http://schemas.openxmlformats.org/officeDocument/2006/relationships" xmlns:p188="http://schemas.microsoft.com/office/powerpoint/2018/8/main">
  <p188:cm id="{30F39831-6379-4363-8BD2-525DB45E39E1}" authorId="{28FB975C-4C1D-EA33-8340-77B3D970F02F}" created="2025-03-11T12:41:04.375">
    <ac:txMkLst xmlns:ac="http://schemas.microsoft.com/office/drawing/2013/main/command">
      <pc:docMk xmlns:pc="http://schemas.microsoft.com/office/powerpoint/2013/main/command"/>
      <pc:sldMk xmlns:pc="http://schemas.microsoft.com/office/powerpoint/2013/main/command" cId="182609166" sldId="274"/>
      <ac:spMk id="3" creationId="{06ADEDAB-BFF6-4E10-AD0B-9B12CA97E7E5}"/>
      <ac:txMk cp="579" len="113">
        <ac:context len="694" hash="3724265712"/>
      </ac:txMk>
    </ac:txMkLst>
    <p188:pos x="10542104" y="3349965"/>
    <p188:txBody>
      <a:bodyPr/>
      <a:lstStyle/>
      <a:p>
        <a:r>
          <a:rPr lang="fr-CA"/>
          <a:t>Donc pas traitement de dividendes dans ce cas </a:t>
        </a:r>
      </a:p>
    </p188:txBody>
  </p188:cm>
  <p188:cm id="{54951B07-2441-471C-83AB-729BD3A1FD53}" authorId="{28FB975C-4C1D-EA33-8340-77B3D970F02F}" created="2025-03-11T12:42:07.129">
    <ac:txMkLst xmlns:ac="http://schemas.microsoft.com/office/drawing/2013/main/command">
      <pc:docMk xmlns:pc="http://schemas.microsoft.com/office/powerpoint/2013/main/command"/>
      <pc:sldMk xmlns:pc="http://schemas.microsoft.com/office/powerpoint/2013/main/command" cId="182609166" sldId="274"/>
      <ac:spMk id="3" creationId="{06ADEDAB-BFF6-4E10-AD0B-9B12CA97E7E5}"/>
      <ac:txMk cp="579" len="113">
        <ac:context len="694" hash="3724265712"/>
      </ac:txMk>
    </ac:txMkLst>
    <p188:pos x="10542104" y="3349965"/>
    <p188:txBody>
      <a:bodyPr/>
      <a:lstStyle/>
      <a:p>
        <a:r>
          <a:rPr lang="fr-CA"/>
          <a:t>Dividende cumulatifs obligatoire et non obligatoires attention il faut revoir ca dans tes cours des IF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56D12-83AB-43B7-A5EE-F524C4434491}" type="datetimeFigureOut">
              <a:rPr lang="fr-CA" smtClean="0"/>
              <a:t>2025-03-11</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69A86-0EC8-4E0A-B632-EBB08CDB2B9E}" type="slidenum">
              <a:rPr lang="fr-CA" smtClean="0"/>
              <a:t>‹N°›</a:t>
            </a:fld>
            <a:endParaRPr lang="fr-CA"/>
          </a:p>
        </p:txBody>
      </p:sp>
    </p:spTree>
    <p:extLst>
      <p:ext uri="{BB962C8B-B14F-4D97-AF65-F5344CB8AC3E}">
        <p14:creationId xmlns:p14="http://schemas.microsoft.com/office/powerpoint/2010/main" val="2304792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investisseurs regardent beaucoup plus le résultat net c’est celui qui est représentatif mieux que les AERG qui représente généralement des ajustements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3</a:t>
            </a:fld>
            <a:endParaRPr lang="fr-CA"/>
          </a:p>
        </p:txBody>
      </p:sp>
    </p:spTree>
    <p:extLst>
      <p:ext uri="{BB962C8B-B14F-4D97-AF65-F5344CB8AC3E}">
        <p14:creationId xmlns:p14="http://schemas.microsoft.com/office/powerpoint/2010/main" val="148601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 L’EFC mesure initiale et mesure subséquente </a:t>
            </a:r>
          </a:p>
          <a:p>
            <a:r>
              <a:rPr lang="fr-CA" dirty="0"/>
              <a:t>Attention ici il reste 5 mois pour la fin de l’année </a:t>
            </a:r>
          </a:p>
          <a:p>
            <a:r>
              <a:rPr lang="fr-CA" dirty="0"/>
              <a:t>Ici il n’a pas traité les dividendes a payer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4</a:t>
            </a:fld>
            <a:endParaRPr lang="fr-CA"/>
          </a:p>
        </p:txBody>
      </p:sp>
    </p:spTree>
    <p:extLst>
      <p:ext uri="{BB962C8B-B14F-4D97-AF65-F5344CB8AC3E}">
        <p14:creationId xmlns:p14="http://schemas.microsoft.com/office/powerpoint/2010/main" val="294853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intérêts ne sont pas déductibles fiscalement dans ce cas s</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8</a:t>
            </a:fld>
            <a:endParaRPr lang="fr-CA"/>
          </a:p>
        </p:txBody>
      </p:sp>
    </p:spTree>
    <p:extLst>
      <p:ext uri="{BB962C8B-B14F-4D97-AF65-F5344CB8AC3E}">
        <p14:creationId xmlns:p14="http://schemas.microsoft.com/office/powerpoint/2010/main" val="3830279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Lorsque y’a une déclaration y’a une obligation de paiement donc le commutatifs donc on doit les déclarer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13</a:t>
            </a:fld>
            <a:endParaRPr lang="fr-CA"/>
          </a:p>
        </p:txBody>
      </p:sp>
    </p:spTree>
    <p:extLst>
      <p:ext uri="{BB962C8B-B14F-4D97-AF65-F5344CB8AC3E}">
        <p14:creationId xmlns:p14="http://schemas.microsoft.com/office/powerpoint/2010/main" val="3933548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Attention a la note ici c’est significatif </a:t>
            </a:r>
          </a:p>
          <a:p>
            <a:r>
              <a:rPr lang="fr-CA" dirty="0"/>
              <a:t>Plus probable que probable soit 50%+quelque chose attention a ce contexte </a:t>
            </a:r>
          </a:p>
          <a:p>
            <a:r>
              <a:rPr lang="fr-CA" dirty="0"/>
              <a:t>Lorsque on parle nos propres mots on doit se référer a la norme donc on doit faire le support de la norme donc </a:t>
            </a:r>
            <a:r>
              <a:rPr lang="fr-CA" dirty="0" err="1"/>
              <a:t>knotia</a:t>
            </a:r>
            <a:r>
              <a:rPr lang="fr-CA" dirty="0"/>
              <a:t> devant tes yeux toujours </a:t>
            </a:r>
          </a:p>
          <a:p>
            <a:endParaRPr lang="fr-CA" dirty="0"/>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19</a:t>
            </a:fld>
            <a:endParaRPr lang="fr-CA"/>
          </a:p>
        </p:txBody>
      </p:sp>
    </p:spTree>
    <p:extLst>
      <p:ext uri="{BB962C8B-B14F-4D97-AF65-F5344CB8AC3E}">
        <p14:creationId xmlns:p14="http://schemas.microsoft.com/office/powerpoint/2010/main" val="4215780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Attention pour on ne joue pas 2 sera plus costaud donc on ne joue pas avec les produits soit IFRS 15 ou bien chapitre 3400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22</a:t>
            </a:fld>
            <a:endParaRPr lang="fr-CA"/>
          </a:p>
        </p:txBody>
      </p:sp>
    </p:spTree>
    <p:extLst>
      <p:ext uri="{BB962C8B-B14F-4D97-AF65-F5344CB8AC3E}">
        <p14:creationId xmlns:p14="http://schemas.microsoft.com/office/powerpoint/2010/main" val="2898364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 L’EFC pour le contrat on dit seulement y’a un contrat en le liant au cas selon les éléments de cas puis on passe on n'a pas a expliquer les 5 conditions pour le contrat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23</a:t>
            </a:fld>
            <a:endParaRPr lang="fr-CA"/>
          </a:p>
        </p:txBody>
      </p:sp>
    </p:spTree>
    <p:extLst>
      <p:ext uri="{BB962C8B-B14F-4D97-AF65-F5344CB8AC3E}">
        <p14:creationId xmlns:p14="http://schemas.microsoft.com/office/powerpoint/2010/main" val="2316154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Donc le cas y’a un acompte on le comptabilise en produit différés en passif pense au cadre conceptuel soit obligation actuelle résultant d’événement passés et sortie des avantages économiques futures </a:t>
            </a:r>
          </a:p>
          <a:p>
            <a:r>
              <a:rPr lang="fr-CA" dirty="0"/>
              <a:t>Attention utilise les bons mots afin de faciliter al communication avec le correcteur (soit le bon vocabulaire)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29</a:t>
            </a:fld>
            <a:endParaRPr lang="fr-CA"/>
          </a:p>
        </p:txBody>
      </p:sp>
    </p:spTree>
    <p:extLst>
      <p:ext uri="{BB962C8B-B14F-4D97-AF65-F5344CB8AC3E}">
        <p14:creationId xmlns:p14="http://schemas.microsoft.com/office/powerpoint/2010/main" val="4034267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Dans la méthode de réévaluation pas d’amortissement il est comptabiliser comme IF </a:t>
            </a:r>
          </a:p>
          <a:p>
            <a:r>
              <a:rPr lang="fr-CA" dirty="0"/>
              <a:t>Donc pas d’</a:t>
            </a:r>
            <a:r>
              <a:rPr lang="fr-CA" dirty="0" err="1"/>
              <a:t>ammortissment</a:t>
            </a:r>
            <a:r>
              <a:rPr lang="fr-CA" dirty="0"/>
              <a:t> dans le modèle de JV mais y’a seulement dans le modèle de cout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38</a:t>
            </a:fld>
            <a:endParaRPr lang="fr-CA"/>
          </a:p>
        </p:txBody>
      </p:sp>
    </p:spTree>
    <p:extLst>
      <p:ext uri="{BB962C8B-B14F-4D97-AF65-F5344CB8AC3E}">
        <p14:creationId xmlns:p14="http://schemas.microsoft.com/office/powerpoint/2010/main" val="833942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Zonées vert donc on peut l’utiliser que pour l’agriculture </a:t>
            </a:r>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41</a:t>
            </a:fld>
            <a:endParaRPr lang="fr-CA"/>
          </a:p>
        </p:txBody>
      </p:sp>
    </p:spTree>
    <p:extLst>
      <p:ext uri="{BB962C8B-B14F-4D97-AF65-F5344CB8AC3E}">
        <p14:creationId xmlns:p14="http://schemas.microsoft.com/office/powerpoint/2010/main" val="1893076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48</a:t>
            </a:fld>
            <a:endParaRPr lang="fr-CA"/>
          </a:p>
        </p:txBody>
      </p:sp>
    </p:spTree>
    <p:extLst>
      <p:ext uri="{BB962C8B-B14F-4D97-AF65-F5344CB8AC3E}">
        <p14:creationId xmlns:p14="http://schemas.microsoft.com/office/powerpoint/2010/main" val="1746301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VNR est liée a l’entité </a:t>
            </a:r>
          </a:p>
          <a:p>
            <a:r>
              <a:rPr lang="fr-CA" dirty="0"/>
              <a:t>JV dans l’agriculture  est égale JV IFRS 13-couts de sortie donc c’est la </a:t>
            </a:r>
            <a:r>
              <a:rPr lang="fr-CA"/>
              <a:t>seule différence </a:t>
            </a:r>
            <a:endParaRPr lang="fr-CA" dirty="0"/>
          </a:p>
        </p:txBody>
      </p:sp>
      <p:sp>
        <p:nvSpPr>
          <p:cNvPr id="4" name="Espace réservé du numéro de diapositive 3"/>
          <p:cNvSpPr>
            <a:spLocks noGrp="1"/>
          </p:cNvSpPr>
          <p:nvPr>
            <p:ph type="sldNum" sz="quarter" idx="5"/>
          </p:nvPr>
        </p:nvSpPr>
        <p:spPr/>
        <p:txBody>
          <a:bodyPr/>
          <a:lstStyle/>
          <a:p>
            <a:fld id="{69E69A86-0EC8-4E0A-B632-EBB08CDB2B9E}" type="slidenum">
              <a:rPr lang="fr-CA" smtClean="0"/>
              <a:t>55</a:t>
            </a:fld>
            <a:endParaRPr lang="fr-CA"/>
          </a:p>
        </p:txBody>
      </p:sp>
    </p:spTree>
    <p:extLst>
      <p:ext uri="{BB962C8B-B14F-4D97-AF65-F5344CB8AC3E}">
        <p14:creationId xmlns:p14="http://schemas.microsoft.com/office/powerpoint/2010/main" val="15199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009F79-D338-AF97-F125-CF1BF388539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C578B7B-B916-45F4-8370-8284629CED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30E4B74-414A-A826-FBFD-2045214357E7}"/>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6CCFD090-50E2-B12D-88FF-9B773F94993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5271D6-3584-5DB3-4219-F918A81FB4A1}"/>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2250643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0BF2D-B63E-BB93-FB1A-0B20FE735E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415DA51-2BE1-8981-BD4C-A91DBDD03AA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2D8DEE1-F03A-E7C6-C740-7EBA068A76BC}"/>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E9A0A39D-7229-3D9E-5095-DD0A45299A5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1F69D1A-D9BD-242A-CA46-70EB09DC7A26}"/>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3503309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601723-32B5-8358-3640-39E950F999A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8AA3F1B-A7EB-C676-4474-9F4D3BD9D5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6DC30F5-AFEA-6079-8ECB-2F5B27FB0CD0}"/>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F7390D13-EC40-8C7A-EA72-4FA50F3C53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94BA089-C673-DB08-6167-948C16101D51}"/>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6592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658375-05C5-6E57-98C7-D36819033F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8595234-A298-C7FF-9A37-C8BC26628B4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A1A7C25-3ABB-17D2-4956-2961DD34B66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DD6043E-AE68-7020-367C-F9F16886B11F}"/>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6" name="Espace réservé du pied de page 5">
            <a:extLst>
              <a:ext uri="{FF2B5EF4-FFF2-40B4-BE49-F238E27FC236}">
                <a16:creationId xmlns:a16="http://schemas.microsoft.com/office/drawing/2014/main" id="{14B355B4-4F18-F466-F273-FED440BB21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B56253E-34A1-9B72-C622-7809ACEADB55}"/>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308636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53714A-AFFC-53AA-90C9-31DEAD3349F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A29FC9E-ED87-52D8-D0AF-D1C56DA32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1B0439-EDD2-6A78-F625-FE84E4B1C35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56F2DC3-081D-7145-A771-04D6DA3D9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F8ADC4F-E502-8A6E-0632-766E1D91CD9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1DD738B-A7C0-049C-AA8C-6A4E9F6271B6}"/>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8" name="Espace réservé du pied de page 7">
            <a:extLst>
              <a:ext uri="{FF2B5EF4-FFF2-40B4-BE49-F238E27FC236}">
                <a16:creationId xmlns:a16="http://schemas.microsoft.com/office/drawing/2014/main" id="{70BEABE5-E9F1-2C8C-3CB2-F6FE04ACB1A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2186CCD-C736-EA89-5C79-CD6EC1666A0D}"/>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1414007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3AB1E9-14D3-B4AF-6C1C-DE09B3285F0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E47F09A-0E22-1CA9-74D0-5CD637B7E85A}"/>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4" name="Espace réservé du pied de page 3">
            <a:extLst>
              <a:ext uri="{FF2B5EF4-FFF2-40B4-BE49-F238E27FC236}">
                <a16:creationId xmlns:a16="http://schemas.microsoft.com/office/drawing/2014/main" id="{A8C6C73D-14A2-1EF5-4202-CECB8956C4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83782D5-1E0B-5948-9B7E-5D5D427CB79C}"/>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2033378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F274BB5-D6F0-FF9B-10DF-BDD0F5616CBD}"/>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3" name="Espace réservé du pied de page 2">
            <a:extLst>
              <a:ext uri="{FF2B5EF4-FFF2-40B4-BE49-F238E27FC236}">
                <a16:creationId xmlns:a16="http://schemas.microsoft.com/office/drawing/2014/main" id="{445ABFF3-37F6-5D7A-015B-9C653EEAE58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F973B03-14A2-2EE3-4553-3C07C8FF6440}"/>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2086351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A63DC1-A2EE-A9CE-4E4B-739F1F3B68C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7EEADA8-75E6-1EBF-1D74-E07CEB93A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7CA8D2B-E831-2F16-C7C8-CCE8E21491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AE223D3-64BD-F335-40C6-6DEC5598DEF0}"/>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6" name="Espace réservé du pied de page 5">
            <a:extLst>
              <a:ext uri="{FF2B5EF4-FFF2-40B4-BE49-F238E27FC236}">
                <a16:creationId xmlns:a16="http://schemas.microsoft.com/office/drawing/2014/main" id="{EAD00739-1F6B-F622-2E92-AE8BFE7F0AC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D6941C6-8B86-4246-926B-F075206C3493}"/>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94483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3B77C0-54A2-624F-D356-BACFDFB8E7C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E214B74-F50F-3E51-FFF2-A41F6836B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4768AD6-DCA4-BF8C-B19C-58881E1BF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9E4C8D4-1245-39C1-2D95-C17B02440425}"/>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6" name="Espace réservé du pied de page 5">
            <a:extLst>
              <a:ext uri="{FF2B5EF4-FFF2-40B4-BE49-F238E27FC236}">
                <a16:creationId xmlns:a16="http://schemas.microsoft.com/office/drawing/2014/main" id="{979670B8-0001-5EFF-C382-D07AB5BF301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DC9BB72-0167-32FE-67A5-612A8A839883}"/>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150483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BA5E4C-136E-B1E3-F0B2-F3A31DC0AD1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4664E0C-6313-9A83-99DD-123AC6C9BD4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2188F7-E41B-EBA4-5DBA-0F945FFAA16E}"/>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3FDB4AB4-3A86-1F10-28ED-1F50680075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A190C1A-5A19-F735-7452-CF0172BA13C6}"/>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157620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8387CC2-C275-BA51-79BA-DC9B9DD6A02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31D3C48-84F2-C813-9F45-F94BB01C1A1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E6922F-9F2E-8F7C-7AC5-D4CE12DD93B7}"/>
              </a:ext>
            </a:extLst>
          </p:cNvPr>
          <p:cNvSpPr>
            <a:spLocks noGrp="1"/>
          </p:cNvSpPr>
          <p:nvPr>
            <p:ph type="dt" sz="half" idx="10"/>
          </p:nvPr>
        </p:nvSpPr>
        <p:spPr/>
        <p:txBody>
          <a:body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B0F9AA5A-672F-C7DE-0229-2E1CAD38C5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59C69A-F818-DB34-5DB0-24741998F0B6}"/>
              </a:ext>
            </a:extLst>
          </p:cNvPr>
          <p:cNvSpPr>
            <a:spLocks noGrp="1"/>
          </p:cNvSpPr>
          <p:nvPr>
            <p:ph type="sldNum" sz="quarter" idx="12"/>
          </p:nvPr>
        </p:nvSpPr>
        <p:spPr/>
        <p:txBody>
          <a:bodyPr/>
          <a:lstStyle/>
          <a:p>
            <a:fld id="{5A60A0F1-676B-4A36-A1B4-07A3EEDB985C}" type="slidenum">
              <a:rPr lang="fr-FR" smtClean="0"/>
              <a:t>‹N°›</a:t>
            </a:fld>
            <a:endParaRPr lang="fr-FR"/>
          </a:p>
        </p:txBody>
      </p:sp>
    </p:spTree>
    <p:extLst>
      <p:ext uri="{BB962C8B-B14F-4D97-AF65-F5344CB8AC3E}">
        <p14:creationId xmlns:p14="http://schemas.microsoft.com/office/powerpoint/2010/main" val="2171669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0472DF9-A702-02B2-A8FE-564EEC6E0C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339BA41-9656-D5DD-F543-38B01E7E71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893D58D-5F57-1557-1503-1BB1D6EF21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672A48-7062-47AC-9907-AFED758580F7}" type="datetimeFigureOut">
              <a:rPr lang="fr-FR" smtClean="0"/>
              <a:t>11/03/2025</a:t>
            </a:fld>
            <a:endParaRPr lang="fr-FR"/>
          </a:p>
        </p:txBody>
      </p:sp>
      <p:sp>
        <p:nvSpPr>
          <p:cNvPr id="5" name="Espace réservé du pied de page 4">
            <a:extLst>
              <a:ext uri="{FF2B5EF4-FFF2-40B4-BE49-F238E27FC236}">
                <a16:creationId xmlns:a16="http://schemas.microsoft.com/office/drawing/2014/main" id="{17F9B7C3-3AC8-13CD-312C-330A01D99A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6068F43-A44D-96BA-C07D-6D3E672A59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0A0F1-676B-4A36-A1B4-07A3EEDB985C}" type="slidenum">
              <a:rPr lang="fr-FR" smtClean="0"/>
              <a:t>‹N°›</a:t>
            </a:fld>
            <a:endParaRPr lang="fr-FR"/>
          </a:p>
        </p:txBody>
      </p:sp>
    </p:spTree>
    <p:extLst>
      <p:ext uri="{BB962C8B-B14F-4D97-AF65-F5344CB8AC3E}">
        <p14:creationId xmlns:p14="http://schemas.microsoft.com/office/powerpoint/2010/main" val="79805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12_AE2650E.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196839-DE69-498D-9524-BA98CB58611D}"/>
              </a:ext>
            </a:extLst>
          </p:cNvPr>
          <p:cNvSpPr>
            <a:spLocks noGrp="1"/>
          </p:cNvSpPr>
          <p:nvPr>
            <p:ph type="ctrTitle"/>
          </p:nvPr>
        </p:nvSpPr>
        <p:spPr/>
        <p:txBody>
          <a:bodyPr>
            <a:normAutofit/>
          </a:bodyPr>
          <a:lstStyle/>
          <a:p>
            <a:r>
              <a:rPr lang="fr-CA" dirty="0"/>
              <a:t>40938</a:t>
            </a:r>
            <a:br>
              <a:rPr lang="fr-CA" dirty="0"/>
            </a:br>
            <a:r>
              <a:rPr lang="fr-CA" dirty="0"/>
              <a:t>Intra Hiver 2025 - rétro</a:t>
            </a:r>
            <a:endParaRPr lang="fr-FR" sz="3600" dirty="0"/>
          </a:p>
        </p:txBody>
      </p:sp>
      <p:sp>
        <p:nvSpPr>
          <p:cNvPr id="3" name="Sous-titre 2">
            <a:extLst>
              <a:ext uri="{FF2B5EF4-FFF2-40B4-BE49-F238E27FC236}">
                <a16:creationId xmlns:a16="http://schemas.microsoft.com/office/drawing/2014/main" id="{709A8C58-CAEF-419F-8CAD-0AE381BF6DD4}"/>
              </a:ext>
            </a:extLst>
          </p:cNvPr>
          <p:cNvSpPr>
            <a:spLocks noGrp="1"/>
          </p:cNvSpPr>
          <p:nvPr>
            <p:ph type="subTitle" idx="1"/>
          </p:nvPr>
        </p:nvSpPr>
        <p:spPr/>
        <p:txBody>
          <a:bodyPr>
            <a:normAutofit lnSpcReduction="10000"/>
          </a:bodyPr>
          <a:lstStyle/>
          <a:p>
            <a:endParaRPr lang="fr-CA" dirty="0"/>
          </a:p>
          <a:p>
            <a:endParaRPr lang="fr-FR" dirty="0"/>
          </a:p>
          <a:p>
            <a:r>
              <a:rPr lang="fr-FR" dirty="0"/>
              <a:t>Louise Overbeek</a:t>
            </a:r>
          </a:p>
          <a:p>
            <a:r>
              <a:rPr lang="fr-FR" sz="2000" dirty="0"/>
              <a:t>Mars 2025</a:t>
            </a:r>
            <a:endParaRPr lang="fr-FR" sz="2200" dirty="0"/>
          </a:p>
        </p:txBody>
      </p:sp>
    </p:spTree>
    <p:extLst>
      <p:ext uri="{BB962C8B-B14F-4D97-AF65-F5344CB8AC3E}">
        <p14:creationId xmlns:p14="http://schemas.microsoft.com/office/powerpoint/2010/main" val="2505739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DA72A-4E90-4CB7-A93E-CB60FCBDAC0A}"/>
              </a:ext>
            </a:extLst>
          </p:cNvPr>
          <p:cNvSpPr>
            <a:spLocks noGrp="1"/>
          </p:cNvSpPr>
          <p:nvPr>
            <p:ph type="title"/>
          </p:nvPr>
        </p:nvSpPr>
        <p:spPr/>
        <p:txBody>
          <a:bodyPr/>
          <a:lstStyle/>
          <a:p>
            <a:r>
              <a:rPr lang="fr-CA" kern="0" dirty="0">
                <a:effectLst/>
                <a:latin typeface="Arial" panose="020B0604020202020204" pitchFamily="34" charset="0"/>
                <a:ea typeface="Times New Roman" panose="02020603050405020304" pitchFamily="18" charset="0"/>
              </a:rPr>
              <a:t>Préoccupation Santé Inc. </a:t>
            </a:r>
            <a:r>
              <a:rPr lang="fr-CA" dirty="0"/>
              <a:t>- contexte</a:t>
            </a:r>
            <a:endParaRPr lang="fr-FR" dirty="0"/>
          </a:p>
        </p:txBody>
      </p:sp>
      <p:sp>
        <p:nvSpPr>
          <p:cNvPr id="3" name="Espace réservé du contenu 2">
            <a:extLst>
              <a:ext uri="{FF2B5EF4-FFF2-40B4-BE49-F238E27FC236}">
                <a16:creationId xmlns:a16="http://schemas.microsoft.com/office/drawing/2014/main" id="{DB624A40-A11D-4FB4-9ADB-772A4918F20D}"/>
              </a:ext>
            </a:extLst>
          </p:cNvPr>
          <p:cNvSpPr>
            <a:spLocks noGrp="1"/>
          </p:cNvSpPr>
          <p:nvPr>
            <p:ph idx="1"/>
          </p:nvPr>
        </p:nvSpPr>
        <p:spPr>
          <a:xfrm>
            <a:off x="838200" y="1799971"/>
            <a:ext cx="10515600" cy="4930382"/>
          </a:xfrm>
        </p:spPr>
        <p:txBody>
          <a:bodyPr>
            <a:normAutofit fontScale="85000" lnSpcReduction="10000"/>
          </a:bodyPr>
          <a:lstStyle/>
          <a:p>
            <a:pPr algn="just">
              <a:lnSpc>
                <a:spcPct val="115000"/>
              </a:lnSpc>
              <a:spcAft>
                <a:spcPts val="800"/>
              </a:spcAft>
            </a:pPr>
            <a:r>
              <a:rPr lang="fr-CA" sz="2400" kern="100" dirty="0">
                <a:effectLst/>
                <a:latin typeface="Arial" panose="020B0604020202020204" pitchFamily="34" charset="0"/>
                <a:ea typeface="Calibri" panose="020F0502020204030204" pitchFamily="34" charset="0"/>
                <a:cs typeface="Times New Roman" panose="02020603050405020304" pitchFamily="18" charset="0"/>
              </a:rPr>
              <a:t>Fondée le 1</a:t>
            </a:r>
            <a:r>
              <a:rPr lang="fr-CA" sz="2400" kern="100" baseline="30000" dirty="0">
                <a:effectLst/>
                <a:latin typeface="Arial" panose="020B0604020202020204" pitchFamily="34" charset="0"/>
                <a:ea typeface="Calibri" panose="020F0502020204030204" pitchFamily="34" charset="0"/>
                <a:cs typeface="Times New Roman" panose="02020603050405020304" pitchFamily="18" charset="0"/>
              </a:rPr>
              <a:t>er </a:t>
            </a:r>
            <a:r>
              <a:rPr lang="fr-CA" sz="2400" kern="100" dirty="0">
                <a:effectLst/>
                <a:latin typeface="Arial" panose="020B0604020202020204" pitchFamily="34" charset="0"/>
                <a:ea typeface="Calibri" panose="020F0502020204030204" pitchFamily="34" charset="0"/>
                <a:cs typeface="Times New Roman" panose="02020603050405020304" pitchFamily="18" charset="0"/>
              </a:rPr>
              <a:t>janvier 2024. Alexandre est l’unique actionnaire.</a:t>
            </a:r>
          </a:p>
          <a:p>
            <a:pPr algn="just">
              <a:lnSpc>
                <a:spcPct val="115000"/>
              </a:lnSpc>
              <a:spcAft>
                <a:spcPts val="800"/>
              </a:spcAft>
            </a:pPr>
            <a:r>
              <a:rPr lang="fr-CA" sz="2400" kern="0" dirty="0">
                <a:effectLst/>
                <a:latin typeface="Arial" panose="020B0604020202020204" pitchFamily="34" charset="0"/>
                <a:ea typeface="Times New Roman" panose="02020603050405020304" pitchFamily="18" charset="0"/>
              </a:rPr>
              <a:t>PSI achète des fruits et légumes auprès des agriculteurs, de préférence locaux, et vend à une clientèle soucieuse de sa santé. </a:t>
            </a:r>
            <a:endParaRPr lang="fr-CA" sz="2400" kern="1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fr-CA" sz="2400" kern="100" dirty="0">
                <a:effectLst/>
                <a:latin typeface="Arial" panose="020B0604020202020204" pitchFamily="34" charset="0"/>
                <a:ea typeface="Calibri" panose="020F0502020204030204" pitchFamily="34" charset="0"/>
                <a:cs typeface="Times New Roman" panose="02020603050405020304" pitchFamily="18" charset="0"/>
              </a:rPr>
              <a:t>Référentiel IFRS</a:t>
            </a:r>
          </a:p>
          <a:p>
            <a:pPr algn="just">
              <a:lnSpc>
                <a:spcPct val="115000"/>
              </a:lnSpc>
              <a:spcAft>
                <a:spcPts val="800"/>
              </a:spcAft>
            </a:pPr>
            <a:r>
              <a:rPr lang="fr-CA" sz="2400" dirty="0">
                <a:effectLst/>
                <a:latin typeface="Arial" panose="020B0604020202020204" pitchFamily="34" charset="0"/>
                <a:ea typeface="Calibri" panose="020F0502020204030204" pitchFamily="34" charset="0"/>
              </a:rPr>
              <a:t>Fin d’année financière est le 31 décembre 2024 ; n</a:t>
            </a:r>
            <a:r>
              <a:rPr lang="fr-CA" sz="2400" kern="100" dirty="0">
                <a:effectLst/>
                <a:latin typeface="Arial" panose="020B0604020202020204" pitchFamily="34" charset="0"/>
                <a:ea typeface="Calibri" panose="020F0502020204030204" pitchFamily="34" charset="0"/>
                <a:cs typeface="Times New Roman" panose="02020603050405020304" pitchFamily="18" charset="0"/>
              </a:rPr>
              <a:t>ous sommes le 14 janvier 2025.</a:t>
            </a:r>
          </a:p>
          <a:p>
            <a:pPr algn="just">
              <a:lnSpc>
                <a:spcPct val="115000"/>
              </a:lnSpc>
              <a:spcAft>
                <a:spcPts val="800"/>
              </a:spcAft>
            </a:pPr>
            <a:r>
              <a:rPr lang="fr-CA" sz="2400" kern="0" dirty="0">
                <a:effectLst/>
                <a:latin typeface="Arial" panose="020B0604020202020204" pitchFamily="34" charset="0"/>
                <a:ea typeface="Times New Roman" panose="02020603050405020304" pitchFamily="18" charset="0"/>
              </a:rPr>
              <a:t>Vous, CPA, avez récemment été </a:t>
            </a:r>
            <a:r>
              <a:rPr lang="fr-CA" sz="2400" kern="0" dirty="0" err="1">
                <a:effectLst/>
                <a:latin typeface="Arial" panose="020B0604020202020204" pitchFamily="34" charset="0"/>
                <a:ea typeface="Times New Roman" panose="02020603050405020304" pitchFamily="18" charset="0"/>
              </a:rPr>
              <a:t>embauché∙e</a:t>
            </a:r>
            <a:r>
              <a:rPr lang="fr-CA" sz="2400" kern="0" dirty="0">
                <a:effectLst/>
                <a:latin typeface="Arial" panose="020B0604020202020204" pitchFamily="34" charset="0"/>
                <a:ea typeface="Times New Roman" panose="02020603050405020304" pitchFamily="18" charset="0"/>
              </a:rPr>
              <a:t> comme responsable financier de PSI par Alexandre.</a:t>
            </a:r>
          </a:p>
          <a:p>
            <a:pPr algn="just">
              <a:lnSpc>
                <a:spcPct val="115000"/>
              </a:lnSpc>
              <a:spcAft>
                <a:spcPts val="800"/>
              </a:spcAft>
            </a:pPr>
            <a:r>
              <a:rPr lang="fr-CA" sz="2400" dirty="0">
                <a:effectLst/>
                <a:latin typeface="Arial" panose="020B0604020202020204" pitchFamily="34" charset="0"/>
                <a:ea typeface="Times New Roman" panose="02020603050405020304" pitchFamily="18" charset="0"/>
                <a:cs typeface="Arial" panose="020B0604020202020204" pitchFamily="34" charset="0"/>
              </a:rPr>
              <a:t>Selon le plan d’expansion, il est prévu que PSI ouvre de nouveaux emplacements au cours des prochaines années. Pour réaliser cet objectif, Alexandre souhaite que les résultats montrent une croissance régulière, afin d’attirer de nouveaux investisseurs dans son entreprise.</a:t>
            </a:r>
            <a:endParaRPr lang="fr-FR" sz="24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9728ED6A-A4D2-452C-8B3D-74D8855F715C}"/>
              </a:ext>
            </a:extLst>
          </p:cNvPr>
          <p:cNvSpPr>
            <a:spLocks noGrp="1"/>
          </p:cNvSpPr>
          <p:nvPr>
            <p:ph type="sldNum" sz="quarter" idx="12"/>
          </p:nvPr>
        </p:nvSpPr>
        <p:spPr/>
        <p:txBody>
          <a:bodyPr/>
          <a:lstStyle/>
          <a:p>
            <a:fld id="{F1FCC400-9845-4852-A9C9-E1406FDA319A}" type="slidenum">
              <a:rPr lang="fr-FR" smtClean="0"/>
              <a:t>2</a:t>
            </a:fld>
            <a:endParaRPr lang="fr-FR"/>
          </a:p>
        </p:txBody>
      </p:sp>
    </p:spTree>
    <p:extLst>
      <p:ext uri="{BB962C8B-B14F-4D97-AF65-F5344CB8AC3E}">
        <p14:creationId xmlns:p14="http://schemas.microsoft.com/office/powerpoint/2010/main" val="874209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DA72A-4E90-4CB7-A93E-CB60FCBDAC0A}"/>
              </a:ext>
            </a:extLst>
          </p:cNvPr>
          <p:cNvSpPr>
            <a:spLocks noGrp="1"/>
          </p:cNvSpPr>
          <p:nvPr>
            <p:ph type="title"/>
          </p:nvPr>
        </p:nvSpPr>
        <p:spPr/>
        <p:txBody>
          <a:bodyPr/>
          <a:lstStyle/>
          <a:p>
            <a:r>
              <a:rPr lang="fr-CA" dirty="0"/>
              <a:t>Fermes V&amp;F </a:t>
            </a:r>
            <a:r>
              <a:rPr lang="fr-CA" dirty="0" err="1"/>
              <a:t>inc.</a:t>
            </a:r>
            <a:r>
              <a:rPr lang="fr-CA" dirty="0"/>
              <a:t> - mandat</a:t>
            </a:r>
            <a:endParaRPr lang="fr-FR" dirty="0"/>
          </a:p>
        </p:txBody>
      </p:sp>
      <p:sp>
        <p:nvSpPr>
          <p:cNvPr id="3" name="Espace réservé du contenu 2">
            <a:extLst>
              <a:ext uri="{FF2B5EF4-FFF2-40B4-BE49-F238E27FC236}">
                <a16:creationId xmlns:a16="http://schemas.microsoft.com/office/drawing/2014/main" id="{DB624A40-A11D-4FB4-9ADB-772A4918F20D}"/>
              </a:ext>
            </a:extLst>
          </p:cNvPr>
          <p:cNvSpPr>
            <a:spLocks noGrp="1"/>
          </p:cNvSpPr>
          <p:nvPr>
            <p:ph idx="1"/>
          </p:nvPr>
        </p:nvSpPr>
        <p:spPr>
          <a:xfrm>
            <a:off x="838200" y="1690689"/>
            <a:ext cx="10515600" cy="4519612"/>
          </a:xfrm>
        </p:spPr>
        <p:txBody>
          <a:bodyPr>
            <a:normAutofit fontScale="40000" lnSpcReduction="20000"/>
          </a:bodyPr>
          <a:lstStyle/>
          <a:p>
            <a:pPr marL="0" indent="0" algn="just">
              <a:lnSpc>
                <a:spcPct val="115000"/>
              </a:lnSpc>
              <a:buNone/>
            </a:pPr>
            <a:r>
              <a:rPr lang="fr-CA" sz="5100" dirty="0">
                <a:effectLst/>
                <a:latin typeface="Arial" panose="020B0604020202020204" pitchFamily="34" charset="0"/>
                <a:ea typeface="Times New Roman" panose="02020603050405020304" pitchFamily="18" charset="0"/>
                <a:cs typeface="Arial" panose="020B0604020202020204" pitchFamily="34" charset="0"/>
              </a:rPr>
              <a:t>Il vous demande de rédiger, à son intention, un rapport portant sur la comptabilisation de ces transactions ainsi que le traitement comptable lié aux actions privilégiées émises. Il vous demande de préciser les correctifs à apporter à ses états financiers, le cas échéant. Il se servira de vos analyses dans le cadre d’une prochaine rencontre avec les auditeurs externes. </a:t>
            </a:r>
          </a:p>
          <a:p>
            <a:pPr marL="0" indent="0" algn="just">
              <a:lnSpc>
                <a:spcPct val="115000"/>
              </a:lnSpc>
              <a:buNone/>
            </a:pPr>
            <a:endParaRPr lang="fr-CA" sz="5100" dirty="0">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15000"/>
              </a:lnSpc>
              <a:buNone/>
            </a:pPr>
            <a:r>
              <a:rPr lang="fr-CA" sz="51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Méthodes comptables</a:t>
            </a:r>
            <a:endParaRPr lang="fr-FR" sz="51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5100" dirty="0">
                <a:effectLst/>
                <a:latin typeface="Arial" panose="020B0604020202020204" pitchFamily="34" charset="0"/>
                <a:ea typeface="Times New Roman" panose="02020603050405020304" pitchFamily="18" charset="0"/>
                <a:cs typeface="Arial" panose="020B0604020202020204" pitchFamily="34" charset="0"/>
              </a:rPr>
              <a:t>Alexandre a mentionné que les choix de traitements comptables doivent viser à augmenter le résultat net lorsque possible, afin d’éventuellement intéresser un prêteur afin de financer l’expansion souhaitée. </a:t>
            </a:r>
            <a:endParaRPr lang="fr-FR" sz="51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endParaRPr lang="fr-CA" sz="5100" dirty="0">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15000"/>
              </a:lnSpc>
              <a:buNone/>
            </a:pPr>
            <a:r>
              <a:rPr lang="fr-CA" sz="5100" i="1" dirty="0">
                <a:effectLst/>
                <a:latin typeface="Arial" panose="020B0604020202020204" pitchFamily="34" charset="0"/>
                <a:ea typeface="Times New Roman" panose="02020603050405020304" pitchFamily="18" charset="0"/>
                <a:cs typeface="Arial" panose="020B0604020202020204" pitchFamily="34" charset="0"/>
              </a:rPr>
              <a:t>Note : Alexandre précise qu’il n’a pas besoin de votre aide pour la comptabilisation des contrats de location.</a:t>
            </a:r>
            <a:endParaRPr lang="fr-FR" sz="51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endParaRPr lang="fr-FR" sz="24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0F1E8239-E96F-4A01-A42B-42CD6418A5FD}"/>
              </a:ext>
            </a:extLst>
          </p:cNvPr>
          <p:cNvSpPr>
            <a:spLocks noGrp="1"/>
          </p:cNvSpPr>
          <p:nvPr>
            <p:ph type="sldNum" sz="quarter" idx="12"/>
          </p:nvPr>
        </p:nvSpPr>
        <p:spPr/>
        <p:txBody>
          <a:bodyPr/>
          <a:lstStyle/>
          <a:p>
            <a:fld id="{F1FCC400-9845-4852-A9C9-E1406FDA319A}" type="slidenum">
              <a:rPr lang="fr-FR" smtClean="0"/>
              <a:t>3</a:t>
            </a:fld>
            <a:endParaRPr lang="fr-FR"/>
          </a:p>
        </p:txBody>
      </p:sp>
    </p:spTree>
    <p:extLst>
      <p:ext uri="{BB962C8B-B14F-4D97-AF65-F5344CB8AC3E}">
        <p14:creationId xmlns:p14="http://schemas.microsoft.com/office/powerpoint/2010/main" val="2675047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p:txBody>
          <a:bodyPr>
            <a:normAutofit/>
          </a:bodyPr>
          <a:lstStyle/>
          <a:p>
            <a:r>
              <a:rPr lang="fr-CA" sz="4000" dirty="0">
                <a:solidFill>
                  <a:srgbClr val="FF0000"/>
                </a:solidFill>
              </a:rPr>
              <a:t>1- Actions privilégiées</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738870"/>
            <a:ext cx="10515600" cy="4914446"/>
          </a:xfrm>
        </p:spPr>
        <p:txBody>
          <a:bodyPr>
            <a:normAutofit lnSpcReduction="10000"/>
          </a:bodyPr>
          <a:lstStyle/>
          <a:p>
            <a:pPr marL="0" indent="0" algn="just">
              <a:lnSpc>
                <a:spcPct val="130000"/>
              </a:lnSpc>
              <a:spcAft>
                <a:spcPts val="800"/>
              </a:spcAft>
              <a:buNone/>
            </a:pPr>
            <a:r>
              <a:rPr lang="fr-CA" sz="2400" kern="0" dirty="0">
                <a:effectLst/>
                <a:latin typeface="Arial" panose="020B0604020202020204" pitchFamily="34" charset="0"/>
                <a:ea typeface="Times New Roman" panose="02020603050405020304" pitchFamily="18" charset="0"/>
              </a:rPr>
              <a:t>Alexandre y voit un signe et décide le 31 juillet 2024 d’investir la somme de huit (8) millions de dollars dans son entreprise sous forme d’actions privilégiées, à dividende cumulatif de 6 %, rachetables au gré du détenteur mais venant à échéance le 31 juillet 2030, et de poursuivre l’expérience rêvée. Il a dû encourir des honoraires légaux s’élevant à 50 000 $ pour mettre en place cette entente. Toutefois, il ne prévoit de verser aucun dividende au cours des deux (2) premiers exercices, ce qui le rend perplexe quant à la comptabilisation de ce qui entoure cet instrument. Actuellement, PSI présente les actions privilégiées dans les capitaux propres et les honoraires légaux en charge.</a:t>
            </a:r>
            <a:endParaRPr lang="fr-CA" sz="2400" dirty="0">
              <a:effectLst/>
              <a:latin typeface="Arial" panose="020B0604020202020204" pitchFamily="34" charset="0"/>
              <a:ea typeface="Calibri" panose="020F0502020204030204" pitchFamily="34" charset="0"/>
            </a:endParaRPr>
          </a:p>
          <a:p>
            <a:pPr marL="0" indent="0" algn="just">
              <a:lnSpc>
                <a:spcPct val="130000"/>
              </a:lnSpc>
              <a:spcAft>
                <a:spcPts val="800"/>
              </a:spcAft>
              <a:buNone/>
            </a:pPr>
            <a:endParaRPr lang="fr-FR" sz="24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0C090731-956E-4AED-80A0-BDC12DB3084E}"/>
              </a:ext>
            </a:extLst>
          </p:cNvPr>
          <p:cNvSpPr>
            <a:spLocks noGrp="1"/>
          </p:cNvSpPr>
          <p:nvPr>
            <p:ph type="sldNum" sz="quarter" idx="12"/>
          </p:nvPr>
        </p:nvSpPr>
        <p:spPr/>
        <p:txBody>
          <a:bodyPr/>
          <a:lstStyle/>
          <a:p>
            <a:fld id="{F1FCC400-9845-4852-A9C9-E1406FDA319A}" type="slidenum">
              <a:rPr lang="fr-FR" smtClean="0"/>
              <a:t>4</a:t>
            </a:fld>
            <a:endParaRPr lang="fr-FR"/>
          </a:p>
        </p:txBody>
      </p:sp>
    </p:spTree>
    <p:extLst>
      <p:ext uri="{BB962C8B-B14F-4D97-AF65-F5344CB8AC3E}">
        <p14:creationId xmlns:p14="http://schemas.microsoft.com/office/powerpoint/2010/main" val="18260916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404257"/>
            <a:ext cx="10515600" cy="5236029"/>
          </a:xfrm>
        </p:spPr>
        <p:txBody>
          <a:bodyPr>
            <a:normAutofit lnSpcReduction="10000"/>
          </a:bodyPr>
          <a:lstStyle/>
          <a:p>
            <a:pPr marL="0" indent="0" algn="just">
              <a:lnSpc>
                <a:spcPct val="107000"/>
              </a:lnSpc>
              <a:spcAft>
                <a:spcPts val="800"/>
              </a:spcAft>
              <a:buNone/>
            </a:pPr>
            <a:r>
              <a:rPr lang="fr-CA"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Nature : </a:t>
            </a:r>
            <a:r>
              <a:rPr lang="fr-CA" i="1" kern="100" dirty="0">
                <a:latin typeface="Calibri" panose="020F0502020204030204" pitchFamily="34" charset="0"/>
                <a:ea typeface="Calibri" panose="020F0502020204030204" pitchFamily="34" charset="0"/>
                <a:cs typeface="Times New Roman" panose="02020603050405020304" pitchFamily="18" charset="0"/>
              </a:rPr>
              <a:t>plusieurs extraits possibles</a:t>
            </a:r>
            <a:endParaRPr lang="fr-CA"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IAS 32</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Est un</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passif financier</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tout passif qui est, selon le cas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une obligation contractuelle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     soit de remettre à une autre entité de la trésorerie ou un autre actif financier,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(ii)    soit d'échanger des actifs financiers ou des passifs financiers avec une autre entité à des conditions potentiellement défavorables à l'entité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FF0000"/>
                </a:solidFill>
                <a:effectLst/>
                <a:latin typeface="Verdana" panose="020B0604030504040204" pitchFamily="34" charset="0"/>
                <a:ea typeface="Calibri" panose="020F0502020204030204" pitchFamily="34" charset="0"/>
                <a:cs typeface="Times New Roman" panose="02020603050405020304" pitchFamily="18" charset="0"/>
              </a:rPr>
              <a:t>Ou autre extrait définissant un passif financier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FF0000"/>
                </a:solidFill>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OUI, obligation contractuelle de payer des dividendes (dividendes cumulatifs) et la valeur nominale à l’échéance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il faut présenter les actions privilégiées au passif</a:t>
            </a:r>
          </a:p>
          <a:p>
            <a:pPr marL="0" indent="0" algn="just">
              <a:buNone/>
            </a:pPr>
            <a:endParaRPr lang="fr-CA" sz="1800" dirty="0">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dirty="0">
                <a:effectLst/>
                <a:latin typeface="Verdana" panose="020B0604030504040204" pitchFamily="34" charset="0"/>
                <a:ea typeface="Calibri" panose="020F0502020204030204" pitchFamily="34" charset="0"/>
                <a:cs typeface="Times New Roman" panose="02020603050405020304" pitchFamily="18" charset="0"/>
              </a:rPr>
              <a:t>OU</a:t>
            </a:r>
            <a:endParaRPr lang="fr-FR" sz="1800" b="1"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A3AA83C-B271-4BC3-BDCB-7C60FFFE71E5}"/>
              </a:ext>
            </a:extLst>
          </p:cNvPr>
          <p:cNvSpPr>
            <a:spLocks noGrp="1"/>
          </p:cNvSpPr>
          <p:nvPr>
            <p:ph type="sldNum" sz="quarter" idx="12"/>
          </p:nvPr>
        </p:nvSpPr>
        <p:spPr/>
        <p:txBody>
          <a:bodyPr/>
          <a:lstStyle/>
          <a:p>
            <a:fld id="{F1FCC400-9845-4852-A9C9-E1406FDA319A}" type="slidenum">
              <a:rPr lang="fr-FR" smtClean="0"/>
              <a:t>5</a:t>
            </a:fld>
            <a:endParaRPr lang="fr-FR"/>
          </a:p>
        </p:txBody>
      </p:sp>
    </p:spTree>
    <p:extLst>
      <p:ext uri="{BB962C8B-B14F-4D97-AF65-F5344CB8AC3E}">
        <p14:creationId xmlns:p14="http://schemas.microsoft.com/office/powerpoint/2010/main" val="1695486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1959764-69A4-118E-592A-DD637B791B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9DBEA6-AA60-569F-A6DA-519A0EBB91DE}"/>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3F02B1A2-0172-CA7D-896D-ABEFD9449EBF}"/>
              </a:ext>
            </a:extLst>
          </p:cNvPr>
          <p:cNvSpPr>
            <a:spLocks noGrp="1"/>
          </p:cNvSpPr>
          <p:nvPr>
            <p:ph idx="1"/>
          </p:nvPr>
        </p:nvSpPr>
        <p:spPr>
          <a:xfrm>
            <a:off x="386499" y="1404257"/>
            <a:ext cx="11538408" cy="5236029"/>
          </a:xfrm>
        </p:spPr>
        <p:txBody>
          <a:bodyPr>
            <a:normAutofit fontScale="77500" lnSpcReduction="20000"/>
          </a:bodyPr>
          <a:lstStyle/>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Selon IAS 32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90"/>
              </a:spcBef>
              <a:spcAft>
                <a:spcPts val="290"/>
              </a:spcAft>
              <a:buNone/>
            </a:pPr>
            <a:r>
              <a:rPr lang="fr-CA" sz="1800" b="1" dirty="0">
                <a:solidFill>
                  <a:srgbClr val="0070C0"/>
                </a:solidFill>
                <a:effectLst/>
                <a:highlight>
                  <a:srgbClr val="FFFF00"/>
                </a:highlight>
                <a:latin typeface="&amp;quot"/>
                <a:ea typeface="Times New Roman" panose="02020603050405020304" pitchFamily="18" charset="0"/>
                <a:cs typeface="Times New Roman" panose="02020603050405020304" pitchFamily="18" charset="0"/>
              </a:rPr>
              <a:t>Instruments remboursables au gré du porteur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16A     Un instrument financier remboursable au gré du porteur inclut une obligation contractuelle pour l'émetteur de racheter ou de rembourser cet instrument contre de la trésorerie ou un autre actif financier lors de l'exercice de cette option. À titre d'exception par rapport à la définition d'un passif financier, un instrument qui inclut une telle obligation est classé comme un instrument de capitaux propres s'il possède </a:t>
            </a:r>
            <a:r>
              <a:rPr lang="fr-CA" sz="1800" u="sng" dirty="0">
                <a:effectLst/>
                <a:latin typeface="&amp;quot"/>
                <a:ea typeface="Times New Roman" panose="02020603050405020304" pitchFamily="18" charset="0"/>
                <a:cs typeface="Times New Roman" panose="02020603050405020304" pitchFamily="18" charset="0"/>
              </a:rPr>
              <a:t>toutes</a:t>
            </a:r>
            <a:r>
              <a:rPr lang="fr-CA" sz="1800" dirty="0">
                <a:solidFill>
                  <a:srgbClr val="0070C0"/>
                </a:solidFill>
                <a:effectLst/>
                <a:latin typeface="&amp;quot"/>
                <a:ea typeface="Times New Roman" panose="02020603050405020304" pitchFamily="18" charset="0"/>
                <a:cs typeface="Times New Roman" panose="02020603050405020304" pitchFamily="18" charset="0"/>
              </a:rPr>
              <a:t> les caractéristiques suivantes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(a)     Il accorde au porteur le droit à une quote-part des actifs nets de l'entité en cas de liquidation de celle-ci. </a:t>
            </a:r>
            <a:r>
              <a:rPr lang="fr-CA" sz="1800" dirty="0">
                <a:effectLst/>
                <a:latin typeface="&amp;quot"/>
                <a:ea typeface="Times New Roman" panose="02020603050405020304" pitchFamily="18" charset="0"/>
                <a:cs typeface="Times New Roman" panose="02020603050405020304" pitchFamily="18" charset="0"/>
              </a:rPr>
              <a:t>NON, se limite à la valeur nominale des actions </a:t>
            </a:r>
            <a:r>
              <a:rPr lang="fr-CA" sz="1800" dirty="0">
                <a:solidFill>
                  <a:srgbClr val="0070C0"/>
                </a:solidFill>
                <a:effectLst/>
                <a:latin typeface="&amp;quot"/>
                <a:ea typeface="Times New Roman" panose="02020603050405020304" pitchFamily="18" charset="0"/>
                <a:cs typeface="Times New Roman" panose="02020603050405020304" pitchFamily="18" charset="0"/>
              </a:rPr>
              <a:t>Les actifs nets de l'entité sont les actifs qui restent après déduction de tous les autres droits sur les actifs en question. Une quote-part est déterminée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263525"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(i)     en divisant les actifs nets de l'entité au moment de la liquidation en unités d'un montant égal, 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263525"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(ii)     en multipliant ce montant par le nombre d'unités détenues par le porteur de l'instrument financier.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(b)     La catégorie à laquelle appartient l'instrument est subordonnée à toutes les autres catégories d'instruments. Un instrument appartenant à une telle catégorie : </a:t>
            </a:r>
            <a:r>
              <a:rPr lang="fr-CA" sz="1800" dirty="0">
                <a:effectLst/>
                <a:latin typeface="&amp;quot"/>
                <a:ea typeface="Times New Roman" panose="02020603050405020304" pitchFamily="18" charset="0"/>
                <a:cs typeface="Times New Roman" panose="02020603050405020304" pitchFamily="18" charset="0"/>
              </a:rPr>
              <a:t>NON, préférentiel aux actions ordinaires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263525"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(i)     n'a pas la priorité sur les autres droits sur les actifs de l'entité au moment de la liquidation, 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263525"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(ii)     n'a pas besoin d'être converti en un autre instrument pour faire partie de la catégorie d'instruments subordonnée à toutes les autres catégories d'instruments.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(c)     Tous les instruments financiers de la catégorie d'instruments subordonnée à toutes les autres catégories d'instruments possèdent des caractéristiques identiques. Par exemple, ils doivent tous être remboursables au gré du porteur, et la formule ou autre méthode utilisée pour calculer le prix de rachat ou de remboursement est la même pour tous les instruments de la catégorie.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(d)     À l'exception de l'obligation contractuelle pour l'émetteur de racheter ou de rembourser l'instrument contre de la trésorerie ou un autre actif financier, l'instrument n'inclut pas d'obligation contractuelle de remettre de la trésorerie ou un autre actif financier à une autre entité, ni d'échanger des actifs financiers ou des passifs financiers avec une autre entité dans des conditions potentiellement défavorables à l'entité ; il ne s'agit pas non plus d'un contrat qui sera ou qui peut être réglé en instruments de capitaux propres de l'entité elle-même, tel que décrit au point (b) de la définition d'un passif financier.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(e)     Le total des flux de trésorerie attendus attribuables à l'instrument sur sa durée de vie est basé essentiellement sur le résultat net, la variation des actifs nets comptabilisés ou la variation de la juste valeur des actifs nets comptabilisés et non comptabilisés de l'entité sur la durée de vie de l'instrument (à l'exclusion de l'effet de l'instrument).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Puisqu’il s’agit d’actions privilégiées rachetables au gré du détenteur et puisque toutes les caractéristiques ne sont pas rencontrées permettant le classement en capitaux propres, elles seront classées dans le passif.</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2C522CEA-032F-21A6-CBC3-7B799231B631}"/>
              </a:ext>
            </a:extLst>
          </p:cNvPr>
          <p:cNvSpPr>
            <a:spLocks noGrp="1"/>
          </p:cNvSpPr>
          <p:nvPr>
            <p:ph type="sldNum" sz="quarter" idx="12"/>
          </p:nvPr>
        </p:nvSpPr>
        <p:spPr/>
        <p:txBody>
          <a:bodyPr/>
          <a:lstStyle/>
          <a:p>
            <a:fld id="{F1FCC400-9845-4852-A9C9-E1406FDA319A}" type="slidenum">
              <a:rPr lang="fr-FR" smtClean="0"/>
              <a:t>6</a:t>
            </a:fld>
            <a:endParaRPr lang="fr-FR"/>
          </a:p>
        </p:txBody>
      </p:sp>
    </p:spTree>
    <p:extLst>
      <p:ext uri="{BB962C8B-B14F-4D97-AF65-F5344CB8AC3E}">
        <p14:creationId xmlns:p14="http://schemas.microsoft.com/office/powerpoint/2010/main" val="1974236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0691261-7601-DEAD-A9CB-60C96DCA487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FC1D14E-B960-C711-4786-C1F0DC2E9BB7}"/>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1B14751E-5B89-B7AE-0601-E7E92C9156EF}"/>
              </a:ext>
            </a:extLst>
          </p:cNvPr>
          <p:cNvSpPr>
            <a:spLocks noGrp="1"/>
          </p:cNvSpPr>
          <p:nvPr>
            <p:ph idx="1"/>
          </p:nvPr>
        </p:nvSpPr>
        <p:spPr>
          <a:xfrm>
            <a:off x="838200" y="1404257"/>
            <a:ext cx="10515600" cy="5236029"/>
          </a:xfrm>
        </p:spPr>
        <p:txBody>
          <a:bodyPr>
            <a:normAutofit/>
          </a:bodyPr>
          <a:lstStyle/>
          <a:p>
            <a:pPr marL="0" indent="0" algn="just">
              <a:lnSpc>
                <a:spcPct val="107000"/>
              </a:lnSpc>
              <a:spcAft>
                <a:spcPts val="800"/>
              </a:spcAft>
              <a:buNone/>
            </a:pPr>
            <a:r>
              <a:rPr lang="fr-CA"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Mesure :</a:t>
            </a: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9</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5.1.1   À l'exception des créances clients qui entrent dans le champ d'application du paragraphe 5.1.3, l'entité doit, lors de la comptabilisation initiale, évaluer un actif financier ou un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passif financier</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à sa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juste valeur</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majorée ou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minorée,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dans le cas d'un actif financier ou d'un passif financier qui n'est pas à la juste valeur par le biais du résultat net,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des </a:t>
            </a:r>
            <a:r>
              <a:rPr lang="fr-CA" sz="1800" i="1"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coûts de transaction</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 directement attribuables</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à l'acquisition ou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à l'émission</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de cet actif financier ou de ce </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passif financier</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Il faut donc déduire les frais de 50 000 $ du montant du passif</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fr-CA"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FE79FBD-5800-83D9-4684-579804EC238A}"/>
              </a:ext>
            </a:extLst>
          </p:cNvPr>
          <p:cNvSpPr>
            <a:spLocks noGrp="1"/>
          </p:cNvSpPr>
          <p:nvPr>
            <p:ph type="sldNum" sz="quarter" idx="12"/>
          </p:nvPr>
        </p:nvSpPr>
        <p:spPr/>
        <p:txBody>
          <a:bodyPr/>
          <a:lstStyle/>
          <a:p>
            <a:fld id="{F1FCC400-9845-4852-A9C9-E1406FDA319A}" type="slidenum">
              <a:rPr lang="fr-FR" smtClean="0"/>
              <a:t>7</a:t>
            </a:fld>
            <a:endParaRPr lang="fr-FR"/>
          </a:p>
        </p:txBody>
      </p:sp>
    </p:spTree>
    <p:extLst>
      <p:ext uri="{BB962C8B-B14F-4D97-AF65-F5344CB8AC3E}">
        <p14:creationId xmlns:p14="http://schemas.microsoft.com/office/powerpoint/2010/main" val="2758711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F7DEF5F4-4902-9D2A-E41C-36D55151FE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B10F830-4BC8-92D5-30B6-774002CE80DE}"/>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03698D5B-7550-99A0-3D40-194D70C46C0C}"/>
              </a:ext>
            </a:extLst>
          </p:cNvPr>
          <p:cNvSpPr>
            <a:spLocks noGrp="1"/>
          </p:cNvSpPr>
          <p:nvPr>
            <p:ph idx="1"/>
          </p:nvPr>
        </p:nvSpPr>
        <p:spPr>
          <a:xfrm>
            <a:off x="838200" y="1479309"/>
            <a:ext cx="10515600" cy="5236029"/>
          </a:xfrm>
        </p:spPr>
        <p:txBody>
          <a:bodyPr>
            <a:normAutofit/>
          </a:bodyPr>
          <a:lstStyle/>
          <a:p>
            <a:pPr marL="0" indent="0" algn="just">
              <a:lnSpc>
                <a:spcPct val="107000"/>
              </a:lnSpc>
              <a:spcAft>
                <a:spcPts val="800"/>
              </a:spcAft>
              <a:buNone/>
            </a:pPr>
            <a:r>
              <a:rPr lang="fr-CA" kern="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4" name="Espace réservé du numéro de diapositive 3">
            <a:extLst>
              <a:ext uri="{FF2B5EF4-FFF2-40B4-BE49-F238E27FC236}">
                <a16:creationId xmlns:a16="http://schemas.microsoft.com/office/drawing/2014/main" id="{45CDF78C-3D7B-CD99-CBBC-644D37FEDA62}"/>
              </a:ext>
            </a:extLst>
          </p:cNvPr>
          <p:cNvSpPr>
            <a:spLocks noGrp="1"/>
          </p:cNvSpPr>
          <p:nvPr>
            <p:ph type="sldNum" sz="quarter" idx="12"/>
          </p:nvPr>
        </p:nvSpPr>
        <p:spPr/>
        <p:txBody>
          <a:bodyPr/>
          <a:lstStyle/>
          <a:p>
            <a:fld id="{F1FCC400-9845-4852-A9C9-E1406FDA319A}" type="slidenum">
              <a:rPr lang="fr-FR" smtClean="0"/>
              <a:t>8</a:t>
            </a:fld>
            <a:endParaRPr lang="fr-FR"/>
          </a:p>
        </p:txBody>
      </p:sp>
      <p:graphicFrame>
        <p:nvGraphicFramePr>
          <p:cNvPr id="6" name="Objet 5">
            <a:extLst>
              <a:ext uri="{FF2B5EF4-FFF2-40B4-BE49-F238E27FC236}">
                <a16:creationId xmlns:a16="http://schemas.microsoft.com/office/drawing/2014/main" id="{47B1CA61-7198-9068-FFAA-36AA54871FE6}"/>
              </a:ext>
            </a:extLst>
          </p:cNvPr>
          <p:cNvGraphicFramePr>
            <a:graphicFrameLocks noChangeAspect="1"/>
          </p:cNvGraphicFramePr>
          <p:nvPr>
            <p:extLst>
              <p:ext uri="{D42A27DB-BD31-4B8C-83A1-F6EECF244321}">
                <p14:modId xmlns:p14="http://schemas.microsoft.com/office/powerpoint/2010/main" val="3925418671"/>
              </p:ext>
            </p:extLst>
          </p:nvPr>
        </p:nvGraphicFramePr>
        <p:xfrm>
          <a:off x="912722" y="3360737"/>
          <a:ext cx="10441078" cy="1325563"/>
        </p:xfrm>
        <a:graphic>
          <a:graphicData uri="http://schemas.openxmlformats.org/presentationml/2006/ole">
            <mc:AlternateContent xmlns:mc="http://schemas.openxmlformats.org/markup-compatibility/2006">
              <mc:Choice xmlns:v="urn:schemas-microsoft-com:vml" Requires="v">
                <p:oleObj name="Worksheet" r:id="rId3" imgW="7302685" imgH="926965" progId="Excel.Sheet.12">
                  <p:embed/>
                </p:oleObj>
              </mc:Choice>
              <mc:Fallback>
                <p:oleObj name="Worksheet" r:id="rId3" imgW="7302685" imgH="926965" progId="Excel.Sheet.12">
                  <p:embed/>
                  <p:pic>
                    <p:nvPicPr>
                      <p:cNvPr id="6" name="Objet 5">
                        <a:extLst>
                          <a:ext uri="{FF2B5EF4-FFF2-40B4-BE49-F238E27FC236}">
                            <a16:creationId xmlns:a16="http://schemas.microsoft.com/office/drawing/2014/main" id="{47B1CA61-7198-9068-FFAA-36AA54871FE6}"/>
                          </a:ext>
                        </a:extLst>
                      </p:cNvPr>
                      <p:cNvPicPr/>
                      <p:nvPr/>
                    </p:nvPicPr>
                    <p:blipFill>
                      <a:blip r:embed="rId4"/>
                      <a:stretch>
                        <a:fillRect/>
                      </a:stretch>
                    </p:blipFill>
                    <p:spPr>
                      <a:xfrm>
                        <a:off x="912722" y="3360737"/>
                        <a:ext cx="10441078" cy="1325563"/>
                      </a:xfrm>
                      <a:prstGeom prst="rect">
                        <a:avLst/>
                      </a:prstGeom>
                    </p:spPr>
                  </p:pic>
                </p:oleObj>
              </mc:Fallback>
            </mc:AlternateContent>
          </a:graphicData>
        </a:graphic>
      </p:graphicFrame>
      <p:sp>
        <p:nvSpPr>
          <p:cNvPr id="7" name="ZoneTexte 6">
            <a:extLst>
              <a:ext uri="{FF2B5EF4-FFF2-40B4-BE49-F238E27FC236}">
                <a16:creationId xmlns:a16="http://schemas.microsoft.com/office/drawing/2014/main" id="{D66982D4-5386-B0B9-5C06-55EAAED97BE8}"/>
              </a:ext>
            </a:extLst>
          </p:cNvPr>
          <p:cNvSpPr txBox="1"/>
          <p:nvPr/>
        </p:nvSpPr>
        <p:spPr>
          <a:xfrm>
            <a:off x="912722" y="1611984"/>
            <a:ext cx="10441078" cy="923330"/>
          </a:xfrm>
          <a:prstGeom prst="rect">
            <a:avLst/>
          </a:prstGeom>
          <a:noFill/>
        </p:spPr>
        <p:txBody>
          <a:bodyPr wrap="square" rtlCol="0">
            <a:spAutoFit/>
          </a:bodyPr>
          <a:lstStyle/>
          <a:p>
            <a:r>
              <a:rPr lang="fr-CA" dirty="0"/>
              <a:t>Montant des frais vient réduire le solde du « passif »</a:t>
            </a:r>
          </a:p>
          <a:p>
            <a:r>
              <a:rPr lang="fr-CA" dirty="0"/>
              <a:t>Il faut calculer le nouveau taux effectif de l’instrument – afin de calculer la charge financière et amortir l’escompte sur la durée de l’instrument</a:t>
            </a:r>
            <a:endParaRPr lang="fr-FR" dirty="0"/>
          </a:p>
        </p:txBody>
      </p:sp>
    </p:spTree>
    <p:extLst>
      <p:ext uri="{BB962C8B-B14F-4D97-AF65-F5344CB8AC3E}">
        <p14:creationId xmlns:p14="http://schemas.microsoft.com/office/powerpoint/2010/main" val="4180354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5AD2C5A-74BE-B81B-AD94-1BC3C61EDB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DC9FC6-A26B-7091-C30F-091CBEB15D4F}"/>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6AC52B43-5771-1E79-87BF-D0062D402775}"/>
              </a:ext>
            </a:extLst>
          </p:cNvPr>
          <p:cNvSpPr>
            <a:spLocks noGrp="1"/>
          </p:cNvSpPr>
          <p:nvPr>
            <p:ph idx="1"/>
          </p:nvPr>
        </p:nvSpPr>
        <p:spPr>
          <a:xfrm>
            <a:off x="838200" y="1404257"/>
            <a:ext cx="10515600" cy="5236029"/>
          </a:xfrm>
        </p:spPr>
        <p:txBody>
          <a:bodyPr>
            <a:normAutofit fontScale="85000" lnSpcReduction="20000"/>
          </a:bodyPr>
          <a:lstStyle/>
          <a:p>
            <a:pPr marL="0" indent="0" algn="just">
              <a:lnSpc>
                <a:spcPct val="107000"/>
              </a:lnSpc>
              <a:spcAft>
                <a:spcPts val="800"/>
              </a:spcAft>
              <a:buNone/>
            </a:pPr>
            <a:r>
              <a:rPr lang="fr-CA"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Présentation :</a:t>
            </a: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IAS 32</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spcBef>
                <a:spcPts val="305"/>
              </a:spcBef>
              <a:spcAft>
                <a:spcPts val="305"/>
              </a:spcAft>
              <a:buNone/>
            </a:pPr>
            <a:r>
              <a:rPr lang="fr-CA" sz="1800" b="1" dirty="0">
                <a:solidFill>
                  <a:srgbClr val="0070C0"/>
                </a:solidFill>
                <a:effectLst/>
                <a:latin typeface="&amp;quot"/>
                <a:ea typeface="Times New Roman" panose="02020603050405020304" pitchFamily="18" charset="0"/>
              </a:rPr>
              <a:t>Intérêts, dividendes, profits et pertes (voir aussi paragraphe </a:t>
            </a:r>
            <a:r>
              <a:rPr lang="fr-CA" sz="1800" b="1" u="sng" dirty="0">
                <a:solidFill>
                  <a:srgbClr val="0070C0"/>
                </a:solidFill>
                <a:effectLst/>
                <a:latin typeface="&amp;quot"/>
                <a:ea typeface="Times New Roman" panose="02020603050405020304" pitchFamily="18" charset="0"/>
              </a:rPr>
              <a:t>AG37</a:t>
            </a:r>
            <a:r>
              <a:rPr lang="fr-CA" sz="1800" b="1" dirty="0">
                <a:solidFill>
                  <a:srgbClr val="0070C0"/>
                </a:solidFill>
                <a:effectLst/>
                <a:latin typeface="&amp;quot"/>
                <a:ea typeface="Times New Roman" panose="02020603050405020304" pitchFamily="18" charset="0"/>
              </a:rPr>
              <a:t>)</a:t>
            </a:r>
            <a:endParaRPr lang="fr-FR" sz="1800" dirty="0">
              <a:effectLst/>
              <a:latin typeface="Times New Roman" panose="02020603050405020304" pitchFamily="18" charset="0"/>
              <a:ea typeface="Times New Roman" panose="02020603050405020304" pitchFamily="18" charset="0"/>
            </a:endParaRPr>
          </a:p>
          <a:p>
            <a:pPr marL="0" indent="0">
              <a:spcBef>
                <a:spcPts val="285"/>
              </a:spcBef>
              <a:buNone/>
            </a:pPr>
            <a:r>
              <a:rPr lang="fr-CA" sz="1800" b="1" dirty="0">
                <a:solidFill>
                  <a:srgbClr val="0070C0"/>
                </a:solidFill>
                <a:effectLst/>
                <a:latin typeface="&amp;quot"/>
                <a:ea typeface="Times New Roman" panose="02020603050405020304" pitchFamily="18" charset="0"/>
              </a:rPr>
              <a:t>35     Les intérêts, dividendes, profits et pertes liés à un instrument financier ou à une composante constituant un </a:t>
            </a:r>
            <a:r>
              <a:rPr lang="fr-CA" sz="1800" b="1" dirty="0">
                <a:solidFill>
                  <a:srgbClr val="0070C0"/>
                </a:solidFill>
                <a:effectLst/>
                <a:highlight>
                  <a:srgbClr val="FFFF00"/>
                </a:highlight>
                <a:latin typeface="&amp;quot"/>
                <a:ea typeface="Times New Roman" panose="02020603050405020304" pitchFamily="18" charset="0"/>
              </a:rPr>
              <a:t>passif financier</a:t>
            </a:r>
            <a:r>
              <a:rPr lang="fr-CA" sz="1800" b="1" dirty="0">
                <a:solidFill>
                  <a:srgbClr val="0070C0"/>
                </a:solidFill>
                <a:effectLst/>
                <a:latin typeface="&amp;quot"/>
                <a:ea typeface="Times New Roman" panose="02020603050405020304" pitchFamily="18" charset="0"/>
              </a:rPr>
              <a:t> doivent être comptabilisés à titre de produit ou de </a:t>
            </a:r>
            <a:r>
              <a:rPr lang="fr-CA" sz="1800" b="1" dirty="0">
                <a:solidFill>
                  <a:srgbClr val="0070C0"/>
                </a:solidFill>
                <a:effectLst/>
                <a:highlight>
                  <a:srgbClr val="FFFF00"/>
                </a:highlight>
                <a:latin typeface="&amp;quot"/>
                <a:ea typeface="Times New Roman" panose="02020603050405020304" pitchFamily="18" charset="0"/>
              </a:rPr>
              <a:t>charge en résultat net</a:t>
            </a:r>
            <a:r>
              <a:rPr lang="fr-CA" sz="1800" b="1" dirty="0">
                <a:solidFill>
                  <a:srgbClr val="0070C0"/>
                </a:solidFill>
                <a:effectLst/>
                <a:latin typeface="&amp;quot"/>
                <a:ea typeface="Times New Roman" panose="02020603050405020304" pitchFamily="18" charset="0"/>
              </a:rPr>
              <a:t>. L'entité doit comptabiliser les distributions aux porteurs d'instruments de capitaux propres directement dans les capitaux propres. Les coûts de transaction d'une transaction sur capitaux propres doivent être comptabilisés en déduction des capitaux propres.</a:t>
            </a:r>
            <a:endParaRPr lang="fr-FR" sz="1800" dirty="0">
              <a:effectLst/>
              <a:latin typeface="Times New Roman" panose="02020603050405020304" pitchFamily="18" charset="0"/>
              <a:ea typeface="Times New Roman" panose="02020603050405020304" pitchFamily="18" charset="0"/>
            </a:endParaRPr>
          </a:p>
          <a:p>
            <a:pPr marL="0" indent="0" algn="just">
              <a:buNone/>
            </a:pPr>
            <a:r>
              <a:rPr lang="fr-CA" sz="900" dirty="0">
                <a:effectLst/>
                <a:latin typeface="Verdana" panose="020B0604030504040204" pitchFamily="34" charset="0"/>
                <a:ea typeface="Calibri" panose="020F0502020204030204" pitchFamily="34" charset="0"/>
                <a:cs typeface="Times New Roman" panose="02020603050405020304" pitchFamily="18" charset="0"/>
              </a:rPr>
              <a:t> </a:t>
            </a:r>
            <a:endParaRPr lang="fr-FR" sz="9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36     Le classement d'un instrument financier en passif financier ou en instrument de capitaux propres détermine si les intérêts, dividendes, profits et pertes liés à cet instrument sont comptabilisés à titre de produit ou de charge en résultat net. </a:t>
            </a:r>
            <a:r>
              <a:rPr lang="fr-CA" sz="1800" dirty="0">
                <a:solidFill>
                  <a:srgbClr val="0070C0"/>
                </a:solidFill>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Ainsi, les dividendes versés sur des actions qui sont intégralement comptabilisés en tant que passifs sont comptabilisés en charges de la même manière que les intérêts sur une obligation.</a:t>
            </a:r>
            <a:r>
              <a:rPr lang="fr-CA" sz="18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De même, les profits et les pertes associés à des remboursements ou à des refinancements de passifs financiers sont comptabilisés en résultat net, alors que les remboursements ou les refinancements d'instruments de capitaux propres sont comptabilisés en variations de capitaux propres. Les variations de la juste valeur d'un instrument de capitaux propres ne sont pas comptabilisées dans les états financiers.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Puisque les actions privilégiées sont classées dans le passif, les dividendes seront présentés dans le calcul du résultat net – frais financiers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actions ont été émises le 31 juillet pour un montant de 8 M$, donnent droit à un dividende cumulatif de 6%, aucun dividende déclaré au 31 décembre : il faut comptabiliser un dividende « couru » pour </a:t>
            </a: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202 977 $, soit 5 mois (8 M$ * 6% * 5/12 mois).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98954C2D-8844-30BF-57A9-5B53F8AAE239}"/>
              </a:ext>
            </a:extLst>
          </p:cNvPr>
          <p:cNvSpPr>
            <a:spLocks noGrp="1"/>
          </p:cNvSpPr>
          <p:nvPr>
            <p:ph type="sldNum" sz="quarter" idx="12"/>
          </p:nvPr>
        </p:nvSpPr>
        <p:spPr/>
        <p:txBody>
          <a:bodyPr/>
          <a:lstStyle/>
          <a:p>
            <a:fld id="{F1FCC400-9845-4852-A9C9-E1406FDA319A}" type="slidenum">
              <a:rPr lang="fr-FR" smtClean="0"/>
              <a:t>9</a:t>
            </a:fld>
            <a:endParaRPr lang="fr-FR"/>
          </a:p>
        </p:txBody>
      </p:sp>
    </p:spTree>
    <p:extLst>
      <p:ext uri="{BB962C8B-B14F-4D97-AF65-F5344CB8AC3E}">
        <p14:creationId xmlns:p14="http://schemas.microsoft.com/office/powerpoint/2010/main" val="93776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C45E3FC-BB86-7176-BCF2-D36EAC25F0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0BF326-B5EC-38CD-B879-0FED3F210608}"/>
              </a:ext>
            </a:extLst>
          </p:cNvPr>
          <p:cNvSpPr>
            <a:spLocks noGrp="1"/>
          </p:cNvSpPr>
          <p:nvPr>
            <p:ph type="title"/>
          </p:nvPr>
        </p:nvSpPr>
        <p:spPr/>
        <p:txBody>
          <a:bodyPr/>
          <a:lstStyle/>
          <a:p>
            <a:r>
              <a:rPr lang="fr-CA" sz="4000" dirty="0"/>
              <a:t>1- Actions privilégiées</a:t>
            </a:r>
            <a:endParaRPr lang="fr-FR" dirty="0"/>
          </a:p>
        </p:txBody>
      </p:sp>
      <p:sp>
        <p:nvSpPr>
          <p:cNvPr id="3" name="Espace réservé du contenu 2">
            <a:extLst>
              <a:ext uri="{FF2B5EF4-FFF2-40B4-BE49-F238E27FC236}">
                <a16:creationId xmlns:a16="http://schemas.microsoft.com/office/drawing/2014/main" id="{4A52951D-6054-9E39-57A9-425D8BE09A1B}"/>
              </a:ext>
            </a:extLst>
          </p:cNvPr>
          <p:cNvSpPr>
            <a:spLocks noGrp="1"/>
          </p:cNvSpPr>
          <p:nvPr>
            <p:ph idx="1"/>
          </p:nvPr>
        </p:nvSpPr>
        <p:spPr>
          <a:xfrm>
            <a:off x="838200" y="1404257"/>
            <a:ext cx="10515600" cy="5236029"/>
          </a:xfrm>
        </p:spPr>
        <p:txBody>
          <a:bodyPr>
            <a:normAutofit/>
          </a:bodyPr>
          <a:lstStyle/>
          <a:p>
            <a:pPr marL="0" indent="0" algn="just">
              <a:lnSpc>
                <a:spcPct val="107000"/>
              </a:lnSpc>
              <a:spcAft>
                <a:spcPts val="800"/>
              </a:spcAf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Écritures – </a:t>
            </a:r>
            <a:r>
              <a:rPr lang="fr-CA" sz="1800" i="1" dirty="0">
                <a:effectLst/>
                <a:latin typeface="Verdana" panose="020B0604030504040204" pitchFamily="34" charset="0"/>
                <a:ea typeface="Calibri" panose="020F0502020204030204" pitchFamily="34" charset="0"/>
                <a:cs typeface="Times New Roman" panose="02020603050405020304" pitchFamily="18" charset="0"/>
              </a:rPr>
              <a:t>en autant que vous présentez les écritures de correction</a:t>
            </a:r>
          </a:p>
          <a:p>
            <a:pPr marL="0" indent="0" algn="just">
              <a:lnSpc>
                <a:spcPct val="107000"/>
              </a:lnSpc>
              <a:spcAft>
                <a:spcPts val="800"/>
              </a:spcAft>
              <a:buNone/>
            </a:pPr>
            <a:endParaRPr lang="fr-FR" sz="1800" i="1"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BA172024-5130-858E-165C-095A2893F231}"/>
              </a:ext>
            </a:extLst>
          </p:cNvPr>
          <p:cNvSpPr>
            <a:spLocks noGrp="1"/>
          </p:cNvSpPr>
          <p:nvPr>
            <p:ph type="sldNum" sz="quarter" idx="12"/>
          </p:nvPr>
        </p:nvSpPr>
        <p:spPr/>
        <p:txBody>
          <a:bodyPr/>
          <a:lstStyle/>
          <a:p>
            <a:fld id="{F1FCC400-9845-4852-A9C9-E1406FDA319A}" type="slidenum">
              <a:rPr lang="fr-FR" smtClean="0"/>
              <a:t>10</a:t>
            </a:fld>
            <a:endParaRPr lang="fr-FR"/>
          </a:p>
        </p:txBody>
      </p:sp>
      <p:graphicFrame>
        <p:nvGraphicFramePr>
          <p:cNvPr id="5" name="Objet 4">
            <a:extLst>
              <a:ext uri="{FF2B5EF4-FFF2-40B4-BE49-F238E27FC236}">
                <a16:creationId xmlns:a16="http://schemas.microsoft.com/office/drawing/2014/main" id="{46640C9D-17E2-F9A3-58A6-924D6EB852BB}"/>
              </a:ext>
            </a:extLst>
          </p:cNvPr>
          <p:cNvGraphicFramePr>
            <a:graphicFrameLocks noChangeAspect="1"/>
          </p:cNvGraphicFramePr>
          <p:nvPr>
            <p:extLst>
              <p:ext uri="{D42A27DB-BD31-4B8C-83A1-F6EECF244321}">
                <p14:modId xmlns:p14="http://schemas.microsoft.com/office/powerpoint/2010/main" val="2146091759"/>
              </p:ext>
            </p:extLst>
          </p:nvPr>
        </p:nvGraphicFramePr>
        <p:xfrm>
          <a:off x="838200" y="2021411"/>
          <a:ext cx="5257800" cy="4668641"/>
        </p:xfrm>
        <a:graphic>
          <a:graphicData uri="http://schemas.openxmlformats.org/presentationml/2006/ole">
            <mc:AlternateContent xmlns:mc="http://schemas.openxmlformats.org/markup-compatibility/2006">
              <mc:Choice xmlns:v="urn:schemas-microsoft-com:vml" Requires="v">
                <p:oleObj name="Worksheet" r:id="rId2" imgW="3739957" imgH="3321185" progId="Excel.Sheet.12">
                  <p:embed/>
                </p:oleObj>
              </mc:Choice>
              <mc:Fallback>
                <p:oleObj name="Worksheet" r:id="rId2" imgW="3739957" imgH="3321185" progId="Excel.Sheet.12">
                  <p:embed/>
                  <p:pic>
                    <p:nvPicPr>
                      <p:cNvPr id="5" name="Objet 4">
                        <a:extLst>
                          <a:ext uri="{FF2B5EF4-FFF2-40B4-BE49-F238E27FC236}">
                            <a16:creationId xmlns:a16="http://schemas.microsoft.com/office/drawing/2014/main" id="{46640C9D-17E2-F9A3-58A6-924D6EB852BB}"/>
                          </a:ext>
                        </a:extLst>
                      </p:cNvPr>
                      <p:cNvPicPr/>
                      <p:nvPr/>
                    </p:nvPicPr>
                    <p:blipFill>
                      <a:blip r:embed="rId3"/>
                      <a:stretch>
                        <a:fillRect/>
                      </a:stretch>
                    </p:blipFill>
                    <p:spPr>
                      <a:xfrm>
                        <a:off x="838200" y="2021411"/>
                        <a:ext cx="5257800" cy="4668641"/>
                      </a:xfrm>
                      <a:prstGeom prst="rect">
                        <a:avLst/>
                      </a:prstGeom>
                    </p:spPr>
                  </p:pic>
                </p:oleObj>
              </mc:Fallback>
            </mc:AlternateContent>
          </a:graphicData>
        </a:graphic>
      </p:graphicFrame>
    </p:spTree>
    <p:extLst>
      <p:ext uri="{BB962C8B-B14F-4D97-AF65-F5344CB8AC3E}">
        <p14:creationId xmlns:p14="http://schemas.microsoft.com/office/powerpoint/2010/main" val="1058114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A5F3EB4-E0D7-FDA5-48F6-B5B051ADD4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7CB711B-BD2D-B26D-2353-92A10627CC8F}"/>
              </a:ext>
            </a:extLst>
          </p:cNvPr>
          <p:cNvSpPr>
            <a:spLocks noGrp="1"/>
          </p:cNvSpPr>
          <p:nvPr>
            <p:ph type="title"/>
          </p:nvPr>
        </p:nvSpPr>
        <p:spPr/>
        <p:txBody>
          <a:bodyPr/>
          <a:lstStyle/>
          <a:p>
            <a:r>
              <a:rPr lang="fr-CA" sz="4000" dirty="0"/>
              <a:t>Indicateur 1 : Actions privilégiées</a:t>
            </a:r>
            <a:endParaRPr lang="fr-FR" dirty="0"/>
          </a:p>
        </p:txBody>
      </p:sp>
      <p:sp>
        <p:nvSpPr>
          <p:cNvPr id="3" name="Espace réservé du contenu 2">
            <a:extLst>
              <a:ext uri="{FF2B5EF4-FFF2-40B4-BE49-F238E27FC236}">
                <a16:creationId xmlns:a16="http://schemas.microsoft.com/office/drawing/2014/main" id="{C8E759F1-C3C2-5235-2FE5-852380962E45}"/>
              </a:ext>
            </a:extLst>
          </p:cNvPr>
          <p:cNvSpPr>
            <a:spLocks noGrp="1"/>
          </p:cNvSpPr>
          <p:nvPr>
            <p:ph idx="1"/>
          </p:nvPr>
        </p:nvSpPr>
        <p:spPr/>
        <p:txBody>
          <a:bodyPr>
            <a:normAutofit/>
          </a:bodyPr>
          <a:lstStyle/>
          <a:p>
            <a:r>
              <a:rPr lang="fr-CA" sz="2400" dirty="0"/>
              <a:t>EVC – 3 pts : Analyse nature OU mesure OU les deux mais avec petites erreurs, norme et application au cas</a:t>
            </a:r>
            <a:endParaRPr lang="fr-CA" sz="2400" dirty="0">
              <a:effectLst/>
              <a:latin typeface="Arial Narrow" panose="020B0606020202030204" pitchFamily="34" charset="0"/>
              <a:ea typeface="Calibri" panose="020F0502020204030204" pitchFamily="34" charset="0"/>
              <a:cs typeface="Arial" panose="020B0604020202020204" pitchFamily="34" charset="0"/>
            </a:endParaRP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mesure correctement -ok pour une petite erreur ; norme et application au cas </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mesure correctement, norme et application au cas</a:t>
            </a:r>
          </a:p>
          <a:p>
            <a:r>
              <a:rPr lang="fr-CA" sz="2400" dirty="0">
                <a:effectLst/>
                <a:latin typeface="Arial Narrow" panose="020B0606020202030204" pitchFamily="34" charset="0"/>
                <a:ea typeface="Calibri" panose="020F0502020204030204" pitchFamily="34" charset="0"/>
                <a:cs typeface="Arial" panose="020B0604020202020204" pitchFamily="34" charset="0"/>
              </a:rPr>
              <a:t>ET écritures de correction </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C  (5 pts)</a:t>
            </a:r>
          </a:p>
          <a:p>
            <a:pPr marL="0" indent="0">
              <a:buNone/>
            </a:pPr>
            <a:r>
              <a:rPr lang="fr-FR" sz="2400" i="1" dirty="0">
                <a:solidFill>
                  <a:srgbClr val="FF0000"/>
                </a:solidFill>
              </a:rPr>
              <a:t>Moyenne : 2,60 – </a:t>
            </a:r>
            <a:r>
              <a:rPr lang="fr-FR" sz="2000" i="1" dirty="0">
                <a:solidFill>
                  <a:srgbClr val="FF0000"/>
                </a:solidFill>
              </a:rPr>
              <a:t>anormalement basse car certains n’ont pas couvert cet enjeu</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A9A2347C-092C-F99F-564D-05F27B94A693}"/>
              </a:ext>
            </a:extLst>
          </p:cNvPr>
          <p:cNvSpPr>
            <a:spLocks noGrp="1"/>
          </p:cNvSpPr>
          <p:nvPr>
            <p:ph type="sldNum" sz="quarter" idx="12"/>
          </p:nvPr>
        </p:nvSpPr>
        <p:spPr/>
        <p:txBody>
          <a:bodyPr/>
          <a:lstStyle/>
          <a:p>
            <a:fld id="{F1FCC400-9845-4852-A9C9-E1406FDA319A}" type="slidenum">
              <a:rPr lang="fr-FR" smtClean="0"/>
              <a:t>11</a:t>
            </a:fld>
            <a:endParaRPr lang="fr-FR"/>
          </a:p>
        </p:txBody>
      </p:sp>
    </p:spTree>
    <p:extLst>
      <p:ext uri="{BB962C8B-B14F-4D97-AF65-F5344CB8AC3E}">
        <p14:creationId xmlns:p14="http://schemas.microsoft.com/office/powerpoint/2010/main" val="3979801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ED653CD0-ECD0-D364-50E3-9485303A625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647FE0-193F-8E24-7232-85E5D6FDE6C4}"/>
              </a:ext>
            </a:extLst>
          </p:cNvPr>
          <p:cNvSpPr>
            <a:spLocks noGrp="1"/>
          </p:cNvSpPr>
          <p:nvPr>
            <p:ph type="title"/>
          </p:nvPr>
        </p:nvSpPr>
        <p:spPr/>
        <p:txBody>
          <a:bodyPr>
            <a:normAutofit/>
          </a:bodyPr>
          <a:lstStyle/>
          <a:p>
            <a:r>
              <a:rPr lang="fr-CA" sz="4000" dirty="0"/>
              <a:t>Indicateur 1 : Actions privilégiées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D1B1FE63-ED86-CB0F-9F96-BE685C7CAC72}"/>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DA2A5CFA-8DA9-6A7A-D933-310A3DBD9263}"/>
              </a:ext>
            </a:extLst>
          </p:cNvPr>
          <p:cNvSpPr>
            <a:spLocks noGrp="1"/>
          </p:cNvSpPr>
          <p:nvPr>
            <p:ph type="sldNum" sz="quarter" idx="12"/>
          </p:nvPr>
        </p:nvSpPr>
        <p:spPr/>
        <p:txBody>
          <a:bodyPr/>
          <a:lstStyle/>
          <a:p>
            <a:fld id="{F1FCC400-9845-4852-A9C9-E1406FDA319A}" type="slidenum">
              <a:rPr lang="fr-FR" smtClean="0"/>
              <a:t>12</a:t>
            </a:fld>
            <a:endParaRPr lang="fr-FR"/>
          </a:p>
        </p:txBody>
      </p:sp>
      <p:sp>
        <p:nvSpPr>
          <p:cNvPr id="6" name="ZoneTexte 5">
            <a:extLst>
              <a:ext uri="{FF2B5EF4-FFF2-40B4-BE49-F238E27FC236}">
                <a16:creationId xmlns:a16="http://schemas.microsoft.com/office/drawing/2014/main" id="{713C03D4-D814-DB9B-8A3F-302601822D0D}"/>
              </a:ext>
            </a:extLst>
          </p:cNvPr>
          <p:cNvSpPr txBox="1"/>
          <p:nvPr/>
        </p:nvSpPr>
        <p:spPr>
          <a:xfrm>
            <a:off x="952107" y="2300140"/>
            <a:ext cx="10401693" cy="1384995"/>
          </a:xfrm>
          <a:prstGeom prst="rect">
            <a:avLst/>
          </a:prstGeom>
          <a:noFill/>
        </p:spPr>
        <p:txBody>
          <a:bodyPr wrap="square" rtlCol="0">
            <a:spAutoFit/>
          </a:bodyPr>
          <a:lstStyle/>
          <a:p>
            <a:pPr marL="457200" indent="-457200">
              <a:buFont typeface="Arial" panose="020B0604020202020204" pitchFamily="34" charset="0"/>
              <a:buChar char="•"/>
            </a:pPr>
            <a:r>
              <a:rPr lang="fr-FR" sz="2800" dirty="0">
                <a:effectLst/>
                <a:latin typeface="Aptos" panose="020B0004020202020204" pitchFamily="34" charset="0"/>
                <a:ea typeface="Times New Roman" panose="02020603050405020304" pitchFamily="18" charset="0"/>
                <a:cs typeface="Aptos" panose="020B0004020202020204" pitchFamily="34" charset="0"/>
              </a:rPr>
              <a:t>Bonne analyse de la nature en général, mais difficulté au niveau de la mesure, les dividendes ne sont pas traités par plusieurs, beaucoup d’erreurs dans le calcul du taux effectif.</a:t>
            </a:r>
            <a:endParaRPr lang="fr-FR" dirty="0"/>
          </a:p>
        </p:txBody>
      </p:sp>
    </p:spTree>
    <p:extLst>
      <p:ext uri="{BB962C8B-B14F-4D97-AF65-F5344CB8AC3E}">
        <p14:creationId xmlns:p14="http://schemas.microsoft.com/office/powerpoint/2010/main" val="1907663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26D0E272-D9A6-6A65-5C42-69D5E6E1D8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A509CC-D1A5-D6E8-0324-C5247B436E16}"/>
              </a:ext>
            </a:extLst>
          </p:cNvPr>
          <p:cNvSpPr>
            <a:spLocks noGrp="1"/>
          </p:cNvSpPr>
          <p:nvPr>
            <p:ph type="title"/>
          </p:nvPr>
        </p:nvSpPr>
        <p:spPr/>
        <p:txBody>
          <a:bodyPr>
            <a:normAutofit/>
          </a:bodyPr>
          <a:lstStyle/>
          <a:p>
            <a:r>
              <a:rPr lang="fr-CA" sz="4000" dirty="0">
                <a:solidFill>
                  <a:srgbClr val="FF0000"/>
                </a:solidFill>
              </a:rPr>
              <a:t>2- Pertes d'opérations et Poursuite</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60D15F35-DE4E-FBAF-4F62-CA0C8CC34B69}"/>
              </a:ext>
            </a:extLst>
          </p:cNvPr>
          <p:cNvSpPr>
            <a:spLocks noGrp="1"/>
          </p:cNvSpPr>
          <p:nvPr>
            <p:ph idx="1"/>
          </p:nvPr>
        </p:nvSpPr>
        <p:spPr>
          <a:xfrm>
            <a:off x="838200" y="1738870"/>
            <a:ext cx="10515600" cy="4914446"/>
          </a:xfrm>
        </p:spPr>
        <p:txBody>
          <a:bodyPr>
            <a:normAutofit/>
          </a:bodyPr>
          <a:lstStyle/>
          <a:p>
            <a:pPr marL="0" indent="0" algn="just">
              <a:lnSpc>
                <a:spcPct val="115000"/>
              </a:lnSpc>
              <a:buNone/>
            </a:pPr>
            <a:r>
              <a:rPr lang="fr-CA" sz="24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Développement</a:t>
            </a:r>
            <a:endParaRPr lang="fr-FR" sz="2400" b="1" cap="small"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2400" dirty="0">
                <a:effectLst/>
                <a:latin typeface="Arial" panose="020B0604020202020204" pitchFamily="34" charset="0"/>
                <a:ea typeface="Times New Roman" panose="02020603050405020304" pitchFamily="18" charset="0"/>
                <a:cs typeface="Arial" panose="020B0604020202020204" pitchFamily="34" charset="0"/>
              </a:rPr>
              <a:t>PSI prévoit que chaque nouvel emplacement sera déficitaire pendant les trois (3) premiers mois qui suivront son ouverture. Les pertes d’opération de ces trois (3) premiers mois pourraient totaliser 50 000 $ par emplacement. Alexandre souhaite prendre une provision à cet effet lors de l’ouverture et répartir cette somme sur la durée du bail initial.</a:t>
            </a:r>
            <a:endParaRPr lang="fr-FR" sz="24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30000"/>
              </a:lnSpc>
              <a:spcAft>
                <a:spcPts val="800"/>
              </a:spcAft>
              <a:buNone/>
            </a:pPr>
            <a:endParaRPr lang="fr-FR" sz="24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4D7DF254-29E6-FD5C-CDBE-30BDF18A4A02}"/>
              </a:ext>
            </a:extLst>
          </p:cNvPr>
          <p:cNvSpPr>
            <a:spLocks noGrp="1"/>
          </p:cNvSpPr>
          <p:nvPr>
            <p:ph type="sldNum" sz="quarter" idx="12"/>
          </p:nvPr>
        </p:nvSpPr>
        <p:spPr/>
        <p:txBody>
          <a:bodyPr/>
          <a:lstStyle/>
          <a:p>
            <a:fld id="{F1FCC400-9845-4852-A9C9-E1406FDA319A}" type="slidenum">
              <a:rPr lang="fr-FR" smtClean="0"/>
              <a:t>13</a:t>
            </a:fld>
            <a:endParaRPr lang="fr-FR"/>
          </a:p>
        </p:txBody>
      </p:sp>
    </p:spTree>
    <p:extLst>
      <p:ext uri="{BB962C8B-B14F-4D97-AF65-F5344CB8AC3E}">
        <p14:creationId xmlns:p14="http://schemas.microsoft.com/office/powerpoint/2010/main" val="316216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974C2248-1AC1-904A-25AF-433EB21B9D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FA6767-092F-705D-54AD-7A7C196C27AA}"/>
              </a:ext>
            </a:extLst>
          </p:cNvPr>
          <p:cNvSpPr>
            <a:spLocks noGrp="1"/>
          </p:cNvSpPr>
          <p:nvPr>
            <p:ph type="title"/>
          </p:nvPr>
        </p:nvSpPr>
        <p:spPr/>
        <p:txBody>
          <a:bodyPr>
            <a:normAutofit/>
          </a:bodyPr>
          <a:lstStyle/>
          <a:p>
            <a:r>
              <a:rPr lang="fr-CA" sz="4000" dirty="0">
                <a:solidFill>
                  <a:srgbClr val="FF0000"/>
                </a:solidFill>
              </a:rPr>
              <a:t>2- Pertes d'opérations et Poursuite</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20F7F9A2-2B30-A1E8-2F75-573823B60386}"/>
              </a:ext>
            </a:extLst>
          </p:cNvPr>
          <p:cNvSpPr>
            <a:spLocks noGrp="1"/>
          </p:cNvSpPr>
          <p:nvPr>
            <p:ph idx="1"/>
          </p:nvPr>
        </p:nvSpPr>
        <p:spPr>
          <a:xfrm>
            <a:off x="838200" y="1738870"/>
            <a:ext cx="10515600" cy="4914446"/>
          </a:xfrm>
        </p:spPr>
        <p:txBody>
          <a:bodyPr>
            <a:normAutofit fontScale="92500" lnSpcReduction="20000"/>
          </a:bodyPr>
          <a:lstStyle/>
          <a:p>
            <a:pPr marL="0" indent="0" algn="just">
              <a:lnSpc>
                <a:spcPct val="115000"/>
              </a:lnSpc>
              <a:buNone/>
            </a:pPr>
            <a:r>
              <a:rPr lang="fr-CA" sz="24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Incident</a:t>
            </a:r>
            <a:endParaRPr lang="fr-FR" sz="24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2400" dirty="0">
                <a:effectLst/>
                <a:latin typeface="Arial" panose="020B0604020202020204" pitchFamily="34" charset="0"/>
                <a:ea typeface="Times New Roman" panose="02020603050405020304" pitchFamily="18" charset="0"/>
                <a:cs typeface="Arial" panose="020B0604020202020204" pitchFamily="34" charset="0"/>
              </a:rPr>
              <a:t>Le 15 novembre 2024, une cliente est tombée dans un des magasins de PSI. Elle attribue sa chute à une accumulation d’eau sur le plancher. Alexandre a toutefois l’enregistrement vidéo d’une des caméras du magasin qui démontre qu’il y avait un signalement à cet effet. La cliente a intenté une poursuite en décembre 2024 pour un montant de 25 000 $ afin de couvrir les sommes perdues à la suite de son arrêt de travail, incluant une portion importante pour dommages moraux. Cependant, l’avocat de PSI croit que les chances de la cliente de gagner en cour sont très limitées grâce à l’enregistrement vidéo, mais que PSI devrait alors encourir des frais légaux importants. Il a convaincu Alexandre de plutôt tenter un règlement hors cour. Basé sur son expérience, l’avocat estime a plus de 95 % les chances d’en arriver à un règlement hors cour et que le coût du règlement s’élèvera entre 3 000 $ et 5 000 $. L’entente n’est toutefois pas encore finalisée en date du 14 janvier 2025 et donc rien n’a été reflété dans les états financiers 2024 de PSI.</a:t>
            </a:r>
            <a:endParaRPr lang="fr-FR" sz="24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38C6E586-24D6-EEB6-7FBD-EB42B908BE56}"/>
              </a:ext>
            </a:extLst>
          </p:cNvPr>
          <p:cNvSpPr>
            <a:spLocks noGrp="1"/>
          </p:cNvSpPr>
          <p:nvPr>
            <p:ph type="sldNum" sz="quarter" idx="12"/>
          </p:nvPr>
        </p:nvSpPr>
        <p:spPr/>
        <p:txBody>
          <a:bodyPr/>
          <a:lstStyle/>
          <a:p>
            <a:fld id="{F1FCC400-9845-4852-A9C9-E1406FDA319A}" type="slidenum">
              <a:rPr lang="fr-FR" smtClean="0"/>
              <a:t>14</a:t>
            </a:fld>
            <a:endParaRPr lang="fr-FR"/>
          </a:p>
        </p:txBody>
      </p:sp>
    </p:spTree>
    <p:extLst>
      <p:ext uri="{BB962C8B-B14F-4D97-AF65-F5344CB8AC3E}">
        <p14:creationId xmlns:p14="http://schemas.microsoft.com/office/powerpoint/2010/main" val="931283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23312632-B2CB-29AF-981D-E6129F847E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28B074-BE17-A405-6FFB-2C5CB2086D1B}"/>
              </a:ext>
            </a:extLst>
          </p:cNvPr>
          <p:cNvSpPr>
            <a:spLocks noGrp="1"/>
          </p:cNvSpPr>
          <p:nvPr>
            <p:ph type="title"/>
          </p:nvPr>
        </p:nvSpPr>
        <p:spPr/>
        <p:txBody>
          <a:bodyPr/>
          <a:lstStyle/>
          <a:p>
            <a:r>
              <a:rPr lang="fr-CA" sz="4000" dirty="0"/>
              <a:t>2- Pertes d'opérations et Poursuite</a:t>
            </a:r>
            <a:endParaRPr lang="fr-FR" dirty="0"/>
          </a:p>
        </p:txBody>
      </p:sp>
      <p:sp>
        <p:nvSpPr>
          <p:cNvPr id="3" name="Espace réservé du contenu 2">
            <a:extLst>
              <a:ext uri="{FF2B5EF4-FFF2-40B4-BE49-F238E27FC236}">
                <a16:creationId xmlns:a16="http://schemas.microsoft.com/office/drawing/2014/main" id="{5DFFF02E-9B55-51F9-45EF-3A232B0D77B1}"/>
              </a:ext>
            </a:extLst>
          </p:cNvPr>
          <p:cNvSpPr>
            <a:spLocks noGrp="1"/>
          </p:cNvSpPr>
          <p:nvPr>
            <p:ph idx="1"/>
          </p:nvPr>
        </p:nvSpPr>
        <p:spPr>
          <a:xfrm>
            <a:off x="838200" y="1404257"/>
            <a:ext cx="10515600" cy="5236029"/>
          </a:xfrm>
        </p:spPr>
        <p:txBody>
          <a:bodyPr>
            <a:normAutofit fontScale="70000" lnSpcReduction="20000"/>
          </a:bodyPr>
          <a:lstStyle/>
          <a:p>
            <a:pPr marL="0" indent="0" algn="just">
              <a:buNone/>
            </a:pPr>
            <a:r>
              <a:rPr lang="fr-CA" sz="1800" b="1" dirty="0">
                <a:effectLst/>
                <a:latin typeface="Verdana" panose="020B0604030504040204" pitchFamily="34" charset="0"/>
                <a:ea typeface="Calibri" panose="020F0502020204030204" pitchFamily="34" charset="0"/>
                <a:cs typeface="Arial" panose="020B0604020202020204" pitchFamily="34" charset="0"/>
              </a:rPr>
              <a:t>Pertes d’opérations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Sébastien souhaite prendre une provision, au démarrage d’un nouveau point de vente, pour les pertes des trois premiers mois et répartir ce coût sur la durée du bail</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Selon IAS 37</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spcBef>
                <a:spcPts val="305"/>
              </a:spcBef>
              <a:spcAft>
                <a:spcPts val="305"/>
              </a:spcAft>
              <a:buNone/>
            </a:pPr>
            <a:r>
              <a:rPr lang="fr-CA" sz="1800" b="1" dirty="0">
                <a:solidFill>
                  <a:srgbClr val="0070C0"/>
                </a:solidFill>
                <a:effectLst/>
                <a:latin typeface="&amp;quot"/>
                <a:ea typeface="Calibri" panose="020F0502020204030204" pitchFamily="34" charset="0"/>
              </a:rPr>
              <a:t>Pertes</a:t>
            </a:r>
            <a:r>
              <a:rPr lang="fr-CA" sz="1800" b="1" dirty="0">
                <a:solidFill>
                  <a:srgbClr val="0070C0"/>
                </a:solidFill>
                <a:effectLst/>
                <a:latin typeface="&amp;quot"/>
                <a:ea typeface="Times New Roman" panose="02020603050405020304" pitchFamily="18" charset="0"/>
              </a:rPr>
              <a:t> d'exploitation futures</a:t>
            </a:r>
            <a:endParaRPr lang="fr-FR" sz="1800" dirty="0">
              <a:effectLst/>
              <a:latin typeface="Times New Roman" panose="02020603050405020304" pitchFamily="18" charset="0"/>
              <a:ea typeface="Times New Roman" panose="02020603050405020304" pitchFamily="18" charset="0"/>
            </a:endParaRPr>
          </a:p>
          <a:p>
            <a:pPr marL="0" indent="0">
              <a:spcBef>
                <a:spcPts val="285"/>
              </a:spcBef>
              <a:spcAft>
                <a:spcPts val="285"/>
              </a:spcAft>
              <a:buNone/>
            </a:pPr>
            <a:r>
              <a:rPr lang="fr-CA" sz="1800" b="1" dirty="0">
                <a:solidFill>
                  <a:srgbClr val="0070C0"/>
                </a:solidFill>
                <a:effectLst/>
                <a:latin typeface="&amp;quot"/>
                <a:ea typeface="Times New Roman" panose="02020603050405020304" pitchFamily="18" charset="0"/>
              </a:rPr>
              <a:t>63     Des </a:t>
            </a:r>
            <a:r>
              <a:rPr lang="fr-CA" sz="1800" b="1" dirty="0">
                <a:solidFill>
                  <a:srgbClr val="0070C0"/>
                </a:solidFill>
                <a:effectLst/>
                <a:latin typeface="&amp;quot"/>
                <a:ea typeface="Calibri" panose="020F0502020204030204" pitchFamily="34" charset="0"/>
              </a:rPr>
              <a:t>provisions</a:t>
            </a:r>
            <a:r>
              <a:rPr lang="fr-CA" sz="1800" b="1" dirty="0">
                <a:solidFill>
                  <a:srgbClr val="0070C0"/>
                </a:solidFill>
                <a:effectLst/>
                <a:latin typeface="&amp;quot"/>
                <a:ea typeface="Times New Roman" panose="02020603050405020304" pitchFamily="18" charset="0"/>
              </a:rPr>
              <a:t> ne doivent pas être comptabilisées au titre de </a:t>
            </a:r>
            <a:r>
              <a:rPr lang="fr-CA" sz="1800" b="1" dirty="0">
                <a:solidFill>
                  <a:srgbClr val="0070C0"/>
                </a:solidFill>
                <a:effectLst/>
                <a:latin typeface="&amp;quot"/>
                <a:ea typeface="Calibri" panose="020F0502020204030204" pitchFamily="34" charset="0"/>
              </a:rPr>
              <a:t>pertes</a:t>
            </a:r>
            <a:r>
              <a:rPr lang="fr-CA" sz="1800" b="1" dirty="0">
                <a:solidFill>
                  <a:srgbClr val="0070C0"/>
                </a:solidFill>
                <a:effectLst/>
                <a:latin typeface="&amp;quot"/>
                <a:ea typeface="Times New Roman" panose="02020603050405020304" pitchFamily="18" charset="0"/>
              </a:rPr>
              <a:t> d'exploitation futures.</a:t>
            </a:r>
            <a:endParaRPr lang="fr-FR" sz="1800" dirty="0">
              <a:effectLst/>
              <a:latin typeface="Times New Roman" panose="02020603050405020304" pitchFamily="18" charset="0"/>
              <a:ea typeface="Times New Roman" panose="02020603050405020304" pitchFamily="18" charset="0"/>
            </a:endParaRPr>
          </a:p>
          <a:p>
            <a:pPr marL="0" indent="0">
              <a:spcBef>
                <a:spcPts val="285"/>
              </a:spcBef>
              <a:spcAft>
                <a:spcPts val="285"/>
              </a:spcAft>
              <a:buNone/>
            </a:pPr>
            <a:r>
              <a:rPr lang="fr-CA" sz="1800" dirty="0">
                <a:solidFill>
                  <a:srgbClr val="0070C0"/>
                </a:solidFill>
                <a:effectLst/>
                <a:latin typeface="&amp;quot"/>
                <a:ea typeface="Times New Roman" panose="02020603050405020304" pitchFamily="18" charset="0"/>
              </a:rPr>
              <a:t>64     Les </a:t>
            </a:r>
            <a:r>
              <a:rPr lang="fr-CA" sz="1800" b="1" dirty="0">
                <a:solidFill>
                  <a:srgbClr val="0070C0"/>
                </a:solidFill>
                <a:effectLst/>
                <a:latin typeface="&amp;quot"/>
                <a:ea typeface="Calibri" panose="020F0502020204030204" pitchFamily="34" charset="0"/>
              </a:rPr>
              <a:t>pertes</a:t>
            </a:r>
            <a:r>
              <a:rPr lang="fr-CA" sz="1800" dirty="0">
                <a:solidFill>
                  <a:srgbClr val="0070C0"/>
                </a:solidFill>
                <a:effectLst/>
                <a:latin typeface="&amp;quot"/>
                <a:ea typeface="Times New Roman" panose="02020603050405020304" pitchFamily="18" charset="0"/>
              </a:rPr>
              <a:t> d'exploitation futures ne répondent ni à la définition d'un passif selon le paragraphe </a:t>
            </a:r>
            <a:r>
              <a:rPr lang="fr-CA" sz="1800" u="sng" dirty="0">
                <a:solidFill>
                  <a:srgbClr val="0070C0"/>
                </a:solidFill>
                <a:effectLst/>
                <a:latin typeface="&amp;quot"/>
                <a:ea typeface="Calibri" panose="020F0502020204030204" pitchFamily="34" charset="0"/>
              </a:rPr>
              <a:t>10</a:t>
            </a:r>
            <a:r>
              <a:rPr lang="fr-CA" sz="1800" dirty="0">
                <a:solidFill>
                  <a:srgbClr val="0070C0"/>
                </a:solidFill>
                <a:effectLst/>
                <a:latin typeface="&amp;quot"/>
                <a:ea typeface="Times New Roman" panose="02020603050405020304" pitchFamily="18" charset="0"/>
              </a:rPr>
              <a:t> ni aux critères généraux de comptabilisation énoncés pour les </a:t>
            </a:r>
            <a:r>
              <a:rPr lang="fr-CA" sz="1800" b="1" dirty="0">
                <a:solidFill>
                  <a:srgbClr val="0070C0"/>
                </a:solidFill>
                <a:effectLst/>
                <a:latin typeface="&amp;quot"/>
                <a:ea typeface="Calibri" panose="020F0502020204030204" pitchFamily="34" charset="0"/>
              </a:rPr>
              <a:t>provisions</a:t>
            </a:r>
            <a:r>
              <a:rPr lang="fr-CA" sz="1800" dirty="0">
                <a:solidFill>
                  <a:srgbClr val="0070C0"/>
                </a:solidFill>
                <a:effectLst/>
                <a:latin typeface="&amp;quot"/>
                <a:ea typeface="Times New Roman" panose="02020603050405020304" pitchFamily="18" charset="0"/>
              </a:rPr>
              <a:t> au paragraphe </a:t>
            </a:r>
            <a:r>
              <a:rPr lang="fr-CA" sz="1800" u="sng" dirty="0">
                <a:solidFill>
                  <a:srgbClr val="0070C0"/>
                </a:solidFill>
                <a:effectLst/>
                <a:latin typeface="&amp;quot"/>
                <a:ea typeface="Calibri" panose="020F0502020204030204" pitchFamily="34" charset="0"/>
              </a:rPr>
              <a:t>14</a:t>
            </a:r>
            <a:r>
              <a:rPr lang="fr-CA" sz="1800" dirty="0">
                <a:solidFill>
                  <a:srgbClr val="0070C0"/>
                </a:solidFill>
                <a:effectLst/>
                <a:latin typeface="&amp;quot"/>
                <a:ea typeface="Times New Roman" panose="02020603050405020304" pitchFamily="18" charset="0"/>
              </a:rPr>
              <a:t>.</a:t>
            </a:r>
            <a:endParaRPr lang="fr-FR" sz="1800" dirty="0">
              <a:effectLst/>
              <a:latin typeface="Times New Roman" panose="02020603050405020304" pitchFamily="18" charset="0"/>
              <a:ea typeface="Times New Roman" panose="02020603050405020304" pitchFamily="18" charset="0"/>
            </a:endParaRPr>
          </a:p>
          <a:p>
            <a:pPr marL="0" indent="0">
              <a:buNone/>
            </a:pPr>
            <a:r>
              <a:rPr lang="fr-CA" sz="1800" dirty="0">
                <a:solidFill>
                  <a:srgbClr val="0070C0"/>
                </a:solidFill>
                <a:effectLst/>
                <a:latin typeface="&amp;quot"/>
                <a:ea typeface="Times New Roman" panose="02020603050405020304" pitchFamily="18" charset="0"/>
              </a:rPr>
              <a:t>65     L'anticipation de </a:t>
            </a:r>
            <a:r>
              <a:rPr lang="fr-CA" sz="1800" b="1" dirty="0">
                <a:solidFill>
                  <a:srgbClr val="0070C0"/>
                </a:solidFill>
                <a:effectLst/>
                <a:latin typeface="&amp;quot"/>
                <a:ea typeface="Calibri" panose="020F0502020204030204" pitchFamily="34" charset="0"/>
              </a:rPr>
              <a:t>pertes</a:t>
            </a:r>
            <a:r>
              <a:rPr lang="fr-CA" sz="1800" dirty="0">
                <a:solidFill>
                  <a:srgbClr val="0070C0"/>
                </a:solidFill>
                <a:effectLst/>
                <a:latin typeface="&amp;quot"/>
                <a:ea typeface="Times New Roman" panose="02020603050405020304" pitchFamily="18" charset="0"/>
              </a:rPr>
              <a:t> d'exploitation futures est une indication que certains actifs de l'activité ont pu se déprécier. L'entité effectue des tests de dépréciation de ces actifs selon </a:t>
            </a:r>
            <a:r>
              <a:rPr lang="fr-CA" sz="1800" u="sng" dirty="0">
                <a:solidFill>
                  <a:srgbClr val="0070C0"/>
                </a:solidFill>
                <a:effectLst/>
                <a:latin typeface="&amp;quot"/>
                <a:ea typeface="Calibri" panose="020F0502020204030204" pitchFamily="34" charset="0"/>
              </a:rPr>
              <a:t>IAS 36</a:t>
            </a:r>
            <a:r>
              <a:rPr lang="fr-CA" sz="1800" dirty="0">
                <a:solidFill>
                  <a:srgbClr val="0070C0"/>
                </a:solidFill>
                <a:effectLst/>
                <a:latin typeface="&amp;quot"/>
                <a:ea typeface="Times New Roman" panose="02020603050405020304" pitchFamily="18" charset="0"/>
              </a:rPr>
              <a:t> </a:t>
            </a:r>
            <a:r>
              <a:rPr lang="fr-CA" sz="1800" i="1" dirty="0">
                <a:solidFill>
                  <a:srgbClr val="0070C0"/>
                </a:solidFill>
                <a:effectLst/>
                <a:latin typeface="&amp;quot"/>
                <a:ea typeface="Times New Roman" panose="02020603050405020304" pitchFamily="18" charset="0"/>
              </a:rPr>
              <a:t>Dépréciation d'actifs</a:t>
            </a:r>
            <a:r>
              <a:rPr lang="fr-CA" sz="1800" dirty="0">
                <a:solidFill>
                  <a:srgbClr val="0070C0"/>
                </a:solidFill>
                <a:effectLst/>
                <a:latin typeface="&amp;quot"/>
                <a:ea typeface="Times New Roman" panose="02020603050405020304" pitchFamily="18" charset="0"/>
              </a:rPr>
              <a:t>.</a:t>
            </a:r>
            <a:endParaRPr lang="fr-FR" sz="1800" dirty="0">
              <a:effectLst/>
              <a:latin typeface="Times New Roman" panose="02020603050405020304" pitchFamily="18" charset="0"/>
              <a:ea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Donc, selon le par. 63, il n’est pas possible de provisionner les pertes d’exploitation futures comme Sébastien le souhaite</a:t>
            </a:r>
          </a:p>
          <a:p>
            <a:pPr marL="0" indent="0" algn="just">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305"/>
              </a:spcBef>
              <a:spcAft>
                <a:spcPts val="305"/>
              </a:spcAft>
              <a:buNone/>
            </a:pPr>
            <a:r>
              <a:rPr lang="fr-CA" sz="1800" b="1" dirty="0">
                <a:effectLst/>
                <a:latin typeface="&amp;quot"/>
                <a:ea typeface="Times New Roman" panose="02020603050405020304" pitchFamily="18" charset="0"/>
                <a:cs typeface="Times New Roman" panose="02020603050405020304" pitchFamily="18" charset="0"/>
              </a:rPr>
              <a:t>OU</a:t>
            </a:r>
            <a:r>
              <a:rPr lang="fr-CA" sz="1800" b="1" dirty="0">
                <a:solidFill>
                  <a:srgbClr val="0070C0"/>
                </a:solidFill>
                <a:effectLst/>
                <a:latin typeface="&amp;quot"/>
                <a:ea typeface="Times New Roman" panose="02020603050405020304" pitchFamily="18" charset="0"/>
                <a:cs typeface="Times New Roman" panose="02020603050405020304" pitchFamily="18" charset="0"/>
              </a:rPr>
              <a:t>   Provisions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14     Une provision doit être comptabilisée lorsque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(a)     une entité a une obligation actuelle (juridique ou implicite) résultant d'un événement passé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(b)     il est probable qu'une sortie de ressources représentatives d'avantages économiques sera nécessaire pour éteindre l'obligation ; 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(c)     le montant de l'obligation peut être estimé de manière fiable.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     </a:t>
            </a:r>
            <a:r>
              <a:rPr lang="fr-CA" sz="1800" b="1" u="sng" dirty="0">
                <a:solidFill>
                  <a:srgbClr val="0070C0"/>
                </a:solidFill>
                <a:effectLst/>
                <a:latin typeface="&amp;quot"/>
                <a:ea typeface="Times New Roman" panose="02020603050405020304" pitchFamily="18" charset="0"/>
                <a:cs typeface="Times New Roman" panose="02020603050405020304" pitchFamily="18" charset="0"/>
              </a:rPr>
              <a:t>Si ces conditions ne sont pas réunies</a:t>
            </a:r>
            <a:r>
              <a:rPr lang="fr-CA" sz="1800" b="1" dirty="0">
                <a:solidFill>
                  <a:srgbClr val="0070C0"/>
                </a:solidFill>
                <a:effectLst/>
                <a:latin typeface="&amp;quot"/>
                <a:ea typeface="Times New Roman" panose="02020603050405020304" pitchFamily="18" charset="0"/>
                <a:cs typeface="Times New Roman" panose="02020603050405020304" pitchFamily="18" charset="0"/>
              </a:rPr>
              <a:t>, aucune provision ne doit être comptabilisée.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latin typeface="Verdana" panose="020B0604030504040204" pitchFamily="34" charset="0"/>
                <a:ea typeface="Calibri" panose="020F0502020204030204" pitchFamily="34" charset="0"/>
                <a:cs typeface="Arial" panose="020B0604020202020204" pitchFamily="34" charset="0"/>
              </a:rPr>
              <a:t>a) NON, pas d’obligation tant que les coûts n’ont pas été encourus   (b et c seraient OUI, mais nécessite toutes les conditions)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CA" sz="1800" dirty="0">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dirty="0">
                <a:effectLst/>
                <a:latin typeface="Verdana" panose="020B0604030504040204" pitchFamily="34" charset="0"/>
                <a:ea typeface="Calibri" panose="020F0502020204030204" pitchFamily="34" charset="0"/>
                <a:cs typeface="Times New Roman" panose="02020603050405020304" pitchFamily="18" charset="0"/>
              </a:rPr>
              <a:t>OU    </a:t>
            </a:r>
            <a:r>
              <a:rPr lang="fr-CA" sz="1800" dirty="0">
                <a:effectLst/>
                <a:latin typeface="Verdana" panose="020B0604030504040204" pitchFamily="34" charset="0"/>
                <a:ea typeface="Calibri" panose="020F0502020204030204" pitchFamily="34" charset="0"/>
                <a:cs typeface="Arial" panose="020B0604020202020204" pitchFamily="34" charset="0"/>
              </a:rPr>
              <a:t>Pourrait aussi être analysé du côté de l’actif, car souhaite répartir sur la durée du bail</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9A1F290-6CC9-B80A-C439-7D807F3D6923}"/>
              </a:ext>
            </a:extLst>
          </p:cNvPr>
          <p:cNvSpPr>
            <a:spLocks noGrp="1"/>
          </p:cNvSpPr>
          <p:nvPr>
            <p:ph type="sldNum" sz="quarter" idx="12"/>
          </p:nvPr>
        </p:nvSpPr>
        <p:spPr/>
        <p:txBody>
          <a:bodyPr/>
          <a:lstStyle/>
          <a:p>
            <a:fld id="{F1FCC400-9845-4852-A9C9-E1406FDA319A}" type="slidenum">
              <a:rPr lang="fr-FR" smtClean="0"/>
              <a:t>15</a:t>
            </a:fld>
            <a:endParaRPr lang="fr-FR"/>
          </a:p>
        </p:txBody>
      </p:sp>
    </p:spTree>
    <p:extLst>
      <p:ext uri="{BB962C8B-B14F-4D97-AF65-F5344CB8AC3E}">
        <p14:creationId xmlns:p14="http://schemas.microsoft.com/office/powerpoint/2010/main" val="406727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8DD0B16-FB8C-BB25-4C19-2929B830F2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A074B7-57C1-4878-AD1B-905504A9A8C7}"/>
              </a:ext>
            </a:extLst>
          </p:cNvPr>
          <p:cNvSpPr>
            <a:spLocks noGrp="1"/>
          </p:cNvSpPr>
          <p:nvPr>
            <p:ph type="title"/>
          </p:nvPr>
        </p:nvSpPr>
        <p:spPr/>
        <p:txBody>
          <a:bodyPr/>
          <a:lstStyle/>
          <a:p>
            <a:r>
              <a:rPr lang="fr-CA" sz="4000" dirty="0"/>
              <a:t>2- Pertes d'opérations et Poursuite</a:t>
            </a:r>
            <a:endParaRPr lang="fr-FR" dirty="0"/>
          </a:p>
        </p:txBody>
      </p:sp>
      <p:sp>
        <p:nvSpPr>
          <p:cNvPr id="3" name="Espace réservé du contenu 2">
            <a:extLst>
              <a:ext uri="{FF2B5EF4-FFF2-40B4-BE49-F238E27FC236}">
                <a16:creationId xmlns:a16="http://schemas.microsoft.com/office/drawing/2014/main" id="{0105C433-E982-7364-0E6B-1DAE116C0FB8}"/>
              </a:ext>
            </a:extLst>
          </p:cNvPr>
          <p:cNvSpPr>
            <a:spLocks noGrp="1"/>
          </p:cNvSpPr>
          <p:nvPr>
            <p:ph idx="1"/>
          </p:nvPr>
        </p:nvSpPr>
        <p:spPr>
          <a:xfrm>
            <a:off x="838200" y="1404257"/>
            <a:ext cx="10515600" cy="5236029"/>
          </a:xfrm>
        </p:spPr>
        <p:txBody>
          <a:bodyPr>
            <a:normAutofit fontScale="92500" lnSpcReduction="20000"/>
          </a:bodyPr>
          <a:lstStyle/>
          <a:p>
            <a:pPr marL="0" indent="0" algn="just">
              <a:buNone/>
            </a:pPr>
            <a:r>
              <a:rPr lang="fr-CA" sz="1800" b="1" dirty="0">
                <a:effectLst/>
                <a:latin typeface="Verdana" panose="020B0604030504040204" pitchFamily="34" charset="0"/>
                <a:ea typeface="Calibri" panose="020F0502020204030204" pitchFamily="34" charset="0"/>
                <a:cs typeface="Arial" panose="020B0604020202020204" pitchFamily="34" charset="0"/>
              </a:rPr>
              <a:t>Pertes d’opérations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Selon IAS 38</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700" b="0" i="0" dirty="0">
                <a:solidFill>
                  <a:srgbClr val="0070C0"/>
                </a:solidFill>
                <a:effectLst/>
                <a:latin typeface="Gotham-Book"/>
              </a:rPr>
              <a:t>69       Dans certains cas, une dépense est engagée pour assurer à une entité des avantages économiques futurs, mais aucune immobilisation incorporelle ou aucun autre actif pouvant être comptabilisé n'est acquis ou créé. Dans le cas de la fourniture de biens, l'entité comptabilise une telle dépense en tant que charge lorsqu'elle dispose d'un droit d'accès à ces biens. Dans le cas de la fourniture de services, l'entité comptabilise la dépense en tant que charge lorsqu'elle reçoit les services en question. Par exemple, les dépenses au titre de la recherche sont comptabilisées en charges lorsqu'elles sont engagées (voir paragraphe </a:t>
            </a:r>
            <a:r>
              <a:rPr lang="fr-CA" sz="1700" b="0" i="0" u="none" strike="noStrike" dirty="0">
                <a:solidFill>
                  <a:srgbClr val="0070C0"/>
                </a:solidFill>
                <a:effectLst/>
                <a:latin typeface="Gotham-Book"/>
              </a:rPr>
              <a:t>54</a:t>
            </a:r>
            <a:r>
              <a:rPr lang="fr-CA" sz="1700" b="0" i="0" dirty="0">
                <a:solidFill>
                  <a:srgbClr val="0070C0"/>
                </a:solidFill>
                <a:effectLst/>
                <a:latin typeface="Gotham-Book"/>
              </a:rPr>
              <a:t>), sauf lorsqu'elles sont acquises dans le cadre d'un regroupement d'entreprises. D'autres exemples de dépenses comptabilisées en charges lorsqu'elles sont engagées incluent :</a:t>
            </a:r>
          </a:p>
          <a:p>
            <a:pPr marL="0" indent="0" algn="l">
              <a:buNone/>
            </a:pPr>
            <a:r>
              <a:rPr lang="fr-CA" sz="1700" b="0" i="0" dirty="0">
                <a:solidFill>
                  <a:srgbClr val="0070C0"/>
                </a:solidFill>
                <a:effectLst/>
                <a:latin typeface="Gotham-Book"/>
              </a:rPr>
              <a:t>(a)     les dépenses au titre des activités de démarrage (c'est-à-dire coûts de démarrage), à moins que ces dépenses ne soient incluses dans le coût d'une immobilisation corporelle selon </a:t>
            </a:r>
            <a:r>
              <a:rPr lang="fr-CA" sz="1700" b="0" i="0" u="none" strike="noStrike" dirty="0">
                <a:solidFill>
                  <a:srgbClr val="0070C0"/>
                </a:solidFill>
                <a:effectLst/>
                <a:latin typeface="Gotham-Book"/>
              </a:rPr>
              <a:t>IAS 16</a:t>
            </a:r>
            <a:r>
              <a:rPr lang="fr-CA" sz="1700" b="0" i="0" dirty="0">
                <a:solidFill>
                  <a:srgbClr val="0070C0"/>
                </a:solidFill>
                <a:effectLst/>
                <a:latin typeface="Gotham-Book"/>
              </a:rPr>
              <a:t>. Les coûts de démarrage peuvent représenter des frais d'établissement tels que des frais juridiques et de secrétariat engagés pour la constitution d'une entité juridique, les dépenses au titre de l'ouverture d'une nouvelle installation ou d'une nouvelle exploitation (c'est-à-dire coûts de </a:t>
            </a:r>
            <a:r>
              <a:rPr lang="fr-CA" sz="1700" b="0" i="0" dirty="0" err="1">
                <a:solidFill>
                  <a:srgbClr val="0070C0"/>
                </a:solidFill>
                <a:effectLst/>
                <a:latin typeface="Gotham-Book"/>
              </a:rPr>
              <a:t>pré-ouverture</a:t>
            </a:r>
            <a:r>
              <a:rPr lang="fr-CA" sz="1700" b="0" i="0" dirty="0">
                <a:solidFill>
                  <a:srgbClr val="0070C0"/>
                </a:solidFill>
                <a:effectLst/>
                <a:latin typeface="Gotham-Book"/>
              </a:rPr>
              <a:t>) ou les dépenses engagées pour entreprendre de nouvelles activités ou lancer de nouveaux produits ou procédés (c'est-à-dire coûts de pré-exploitation) ;</a:t>
            </a:r>
          </a:p>
          <a:p>
            <a:pPr marL="0" indent="0" algn="l">
              <a:buNone/>
            </a:pPr>
            <a:r>
              <a:rPr lang="fr-CA" sz="1700" b="0" i="0" dirty="0">
                <a:solidFill>
                  <a:srgbClr val="0070C0"/>
                </a:solidFill>
                <a:effectLst/>
                <a:latin typeface="Gotham-Book"/>
              </a:rPr>
              <a:t>(b)     les dépenses de formation ;</a:t>
            </a:r>
          </a:p>
          <a:p>
            <a:pPr marL="0" indent="0" algn="l">
              <a:buNone/>
            </a:pPr>
            <a:r>
              <a:rPr lang="fr-CA" sz="1700" b="0" i="0" dirty="0">
                <a:solidFill>
                  <a:srgbClr val="0070C0"/>
                </a:solidFill>
                <a:effectLst/>
                <a:latin typeface="Gotham-Book"/>
              </a:rPr>
              <a:t>(c)     les dépenses de publicité et de promotion (y compris les catalogues de vente par correspondance) ;</a:t>
            </a:r>
          </a:p>
          <a:p>
            <a:pPr marL="0" indent="0" algn="l">
              <a:buNone/>
            </a:pPr>
            <a:r>
              <a:rPr lang="fr-CA" sz="1700" b="0" i="0" dirty="0">
                <a:solidFill>
                  <a:srgbClr val="0070C0"/>
                </a:solidFill>
                <a:effectLst/>
                <a:latin typeface="Gotham-Book"/>
              </a:rPr>
              <a:t>(d)     les dépenses de relocalisation ou de réorganisation de tout ou partie d'une entité.</a:t>
            </a: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latin typeface="Verdana" panose="020B0604030504040204" pitchFamily="34" charset="0"/>
                <a:ea typeface="Calibri" panose="020F0502020204030204" pitchFamily="34" charset="0"/>
                <a:cs typeface="Arial" panose="020B0604020202020204" pitchFamily="34" charset="0"/>
              </a:rPr>
              <a:t>Selon par. 69 ne peut comptabiliser à l’actif les frais liés aux activités de démarrage</a:t>
            </a:r>
          </a:p>
          <a:p>
            <a:pPr marL="0" indent="0" algn="just">
              <a:buNone/>
            </a:pPr>
            <a:endParaRPr lang="fr-CA" sz="1800" dirty="0">
              <a:effectLst/>
              <a:latin typeface="Verdana" panose="020B0604030504040204" pitchFamily="34" charset="0"/>
              <a:ea typeface="Calibri" panose="020F0502020204030204" pitchFamily="34" charset="0"/>
              <a:cs typeface="Arial" panose="020B0604020202020204" pitchFamily="34" charset="0"/>
            </a:endParaRPr>
          </a:p>
          <a:p>
            <a:pPr marL="0" indent="0" algn="just">
              <a:buNone/>
            </a:pPr>
            <a:r>
              <a:rPr lang="fr-CA" sz="1800" dirty="0">
                <a:latin typeface="Verdana" panose="020B0604030504040204" pitchFamily="34" charset="0"/>
                <a:ea typeface="Calibri" panose="020F0502020204030204" pitchFamily="34" charset="0"/>
                <a:cs typeface="Arial" panose="020B0604020202020204" pitchFamily="34" charset="0"/>
              </a:rPr>
              <a:t>OU critères « nature » actif incorporel </a:t>
            </a:r>
            <a:r>
              <a:rPr lang="fr-CA" sz="1800" i="1" dirty="0">
                <a:latin typeface="Verdana" panose="020B0604030504040204" pitchFamily="34" charset="0"/>
                <a:ea typeface="Calibri" panose="020F0502020204030204" pitchFamily="34" charset="0"/>
                <a:cs typeface="Arial" panose="020B0604020202020204" pitchFamily="34" charset="0"/>
              </a:rPr>
              <a:t>(page suivante)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1379FE14-C627-87F8-F7D3-93A0CF01037E}"/>
              </a:ext>
            </a:extLst>
          </p:cNvPr>
          <p:cNvSpPr>
            <a:spLocks noGrp="1"/>
          </p:cNvSpPr>
          <p:nvPr>
            <p:ph type="sldNum" sz="quarter" idx="12"/>
          </p:nvPr>
        </p:nvSpPr>
        <p:spPr/>
        <p:txBody>
          <a:bodyPr/>
          <a:lstStyle/>
          <a:p>
            <a:fld id="{F1FCC400-9845-4852-A9C9-E1406FDA319A}" type="slidenum">
              <a:rPr lang="fr-FR" smtClean="0"/>
              <a:t>16</a:t>
            </a:fld>
            <a:endParaRPr lang="fr-FR" dirty="0"/>
          </a:p>
        </p:txBody>
      </p:sp>
    </p:spTree>
    <p:extLst>
      <p:ext uri="{BB962C8B-B14F-4D97-AF65-F5344CB8AC3E}">
        <p14:creationId xmlns:p14="http://schemas.microsoft.com/office/powerpoint/2010/main" val="3911513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1075BAF-6AE2-668B-06FF-99603A4F43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527A18-A09E-DD20-72A3-01B5F3272565}"/>
              </a:ext>
            </a:extLst>
          </p:cNvPr>
          <p:cNvSpPr>
            <a:spLocks noGrp="1"/>
          </p:cNvSpPr>
          <p:nvPr>
            <p:ph type="title"/>
          </p:nvPr>
        </p:nvSpPr>
        <p:spPr/>
        <p:txBody>
          <a:bodyPr/>
          <a:lstStyle/>
          <a:p>
            <a:r>
              <a:rPr lang="fr-CA" sz="4000" dirty="0"/>
              <a:t>2- Pertes d'opérations et Poursuite</a:t>
            </a:r>
            <a:endParaRPr lang="fr-FR" dirty="0"/>
          </a:p>
        </p:txBody>
      </p:sp>
      <p:sp>
        <p:nvSpPr>
          <p:cNvPr id="3" name="Espace réservé du contenu 2">
            <a:extLst>
              <a:ext uri="{FF2B5EF4-FFF2-40B4-BE49-F238E27FC236}">
                <a16:creationId xmlns:a16="http://schemas.microsoft.com/office/drawing/2014/main" id="{E041B902-F0D5-30D8-8B90-4F5FC25B07D2}"/>
              </a:ext>
            </a:extLst>
          </p:cNvPr>
          <p:cNvSpPr>
            <a:spLocks noGrp="1"/>
          </p:cNvSpPr>
          <p:nvPr>
            <p:ph idx="1"/>
          </p:nvPr>
        </p:nvSpPr>
        <p:spPr>
          <a:xfrm>
            <a:off x="838200" y="1404257"/>
            <a:ext cx="10515600" cy="5236029"/>
          </a:xfrm>
        </p:spPr>
        <p:txBody>
          <a:bodyPr>
            <a:normAutofit fontScale="70000" lnSpcReduction="20000"/>
          </a:bodyPr>
          <a:lstStyle/>
          <a:p>
            <a:pPr marL="0" indent="0" algn="just">
              <a:buNone/>
            </a:pPr>
            <a:r>
              <a:rPr lang="fr-CA" sz="1800" b="1" dirty="0">
                <a:effectLst/>
                <a:latin typeface="Verdana" panose="020B0604030504040204" pitchFamily="34" charset="0"/>
                <a:ea typeface="Calibri" panose="020F0502020204030204" pitchFamily="34" charset="0"/>
                <a:cs typeface="Arial" panose="020B0604020202020204" pitchFamily="34" charset="0"/>
              </a:rPr>
              <a:t>Pertes d’opérations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Selon IAS 38</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12     Un actif est identifiable s'il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(a)     est séparable, c'est-à-dire susceptible d'être séparé ou dissocié de l'entité et d'être vendu, cédé, concédé par licence, loué ou échangé, soit individuellement, soit conjointement avec un contrat, un actif identifiable ou un passif identifiable y afférents, peu importe si l'entité entend ou non en arriver là ; ou</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(b)     résulte de droits contractuels ou d'autres droits légaux, que ces droits soient ou non cessibles ou séparables de l'entité ou d'autres droits et obligations.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FR" sz="1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dirty="0">
                <a:solidFill>
                  <a:srgbClr val="0070C0"/>
                </a:solidFill>
                <a:effectLst/>
                <a:latin typeface="Verdana" panose="020B0604030504040204" pitchFamily="34" charset="0"/>
                <a:ea typeface="Calibri" panose="020F0502020204030204" pitchFamily="34" charset="0"/>
                <a:cs typeface="Arial" panose="020B0604020202020204" pitchFamily="34" charset="0"/>
              </a:rPr>
              <a:t>Contrôle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13       Une entité contrôle un actif si elle a le pouvoir d'obtenir les avantages économiques futurs découlant de la ressource sous-jacente et si elle peut également restreindre l'accès des tiers à ces avantages. La capacité d'une entité à contrôler les avantages économiques futurs découlant d'une immobilisation incorporelle résulte normalement de droits établis qu'elle peut faire appliquer par un tribunal. En l'absence de droits établis, la démonstration du contrôle est plus difficile. Toutefois, la possibilité de faire appliquer juridiquement un droit ne constitue pas une condition nécessaire du contrôle dans la mesure où une entité peut être à même de contrôler les avantages économiques futurs de quelque autre façon.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0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 </a:t>
            </a:r>
            <a:endParaRPr lang="fr-FR" sz="1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90"/>
              </a:spcBef>
              <a:spcAft>
                <a:spcPts val="290"/>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Avantages économiques futurs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17     Les avantages économiques futurs résultant d'une immobilisation incorporelle peuvent inclure les produits découlant de la vente de biens ou de services, les économies de coûts ou d'autres avantages résultant de l'utilisation de l'actif par l'entité. Par exemple, l'utilisation d'une propriété intellectuelle dans le cadre d'un processus de production peut réduire les coûts futurs de production plutôt qu'augmenter les produits futurs.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latin typeface="Verdana" panose="020B0604030504040204" pitchFamily="34" charset="0"/>
                <a:ea typeface="Calibri" panose="020F0502020204030204" pitchFamily="34" charset="0"/>
                <a:cs typeface="Arial" panose="020B0604020202020204" pitchFamily="34" charset="0"/>
              </a:rPr>
              <a:t>NON, p</a:t>
            </a:r>
            <a:r>
              <a:rPr lang="fr-CA" sz="1800" dirty="0">
                <a:effectLst/>
                <a:latin typeface="Verdana" panose="020B0604030504040204" pitchFamily="34" charset="0"/>
                <a:ea typeface="Calibri" panose="020F0502020204030204" pitchFamily="34" charset="0"/>
                <a:cs typeface="Arial" panose="020B0604020202020204" pitchFamily="34" charset="0"/>
              </a:rPr>
              <a:t>as identifiable car pas distinct de l’entreprise ; NON, pas de contrôle car pas d’avantages clairs ; NON, pas d’avantages futurs clairs</a:t>
            </a: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IAS 38 ne permet pas de capitaliser des frais reportés.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F8DB9626-F23A-8FD5-8C34-F915FA760D7C}"/>
              </a:ext>
            </a:extLst>
          </p:cNvPr>
          <p:cNvSpPr>
            <a:spLocks noGrp="1"/>
          </p:cNvSpPr>
          <p:nvPr>
            <p:ph type="sldNum" sz="quarter" idx="12"/>
          </p:nvPr>
        </p:nvSpPr>
        <p:spPr/>
        <p:txBody>
          <a:bodyPr/>
          <a:lstStyle/>
          <a:p>
            <a:fld id="{F1FCC400-9845-4852-A9C9-E1406FDA319A}" type="slidenum">
              <a:rPr lang="fr-FR" smtClean="0"/>
              <a:t>17</a:t>
            </a:fld>
            <a:endParaRPr lang="fr-FR" dirty="0"/>
          </a:p>
        </p:txBody>
      </p:sp>
    </p:spTree>
    <p:extLst>
      <p:ext uri="{BB962C8B-B14F-4D97-AF65-F5344CB8AC3E}">
        <p14:creationId xmlns:p14="http://schemas.microsoft.com/office/powerpoint/2010/main" val="4223375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0C5B414-4856-AC01-DF29-0EB84DB6EA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0C9242-1FC2-3B6C-2DDB-A21E8514DDDD}"/>
              </a:ext>
            </a:extLst>
          </p:cNvPr>
          <p:cNvSpPr>
            <a:spLocks noGrp="1"/>
          </p:cNvSpPr>
          <p:nvPr>
            <p:ph type="title"/>
          </p:nvPr>
        </p:nvSpPr>
        <p:spPr/>
        <p:txBody>
          <a:bodyPr/>
          <a:lstStyle/>
          <a:p>
            <a:r>
              <a:rPr lang="fr-CA" sz="4000" dirty="0"/>
              <a:t>2- Pertes d'opérations et Poursuite</a:t>
            </a:r>
            <a:endParaRPr lang="fr-FR" dirty="0"/>
          </a:p>
        </p:txBody>
      </p:sp>
      <p:sp>
        <p:nvSpPr>
          <p:cNvPr id="3" name="Espace réservé du contenu 2">
            <a:extLst>
              <a:ext uri="{FF2B5EF4-FFF2-40B4-BE49-F238E27FC236}">
                <a16:creationId xmlns:a16="http://schemas.microsoft.com/office/drawing/2014/main" id="{3660209E-5C41-3A9A-5E33-2716420DB223}"/>
              </a:ext>
            </a:extLst>
          </p:cNvPr>
          <p:cNvSpPr>
            <a:spLocks noGrp="1"/>
          </p:cNvSpPr>
          <p:nvPr>
            <p:ph idx="1"/>
          </p:nvPr>
        </p:nvSpPr>
        <p:spPr>
          <a:xfrm>
            <a:off x="838200" y="1404257"/>
            <a:ext cx="10515600" cy="5236029"/>
          </a:xfrm>
        </p:spPr>
        <p:txBody>
          <a:bodyPr>
            <a:normAutofit fontScale="85000" lnSpcReduction="20000"/>
          </a:bodyPr>
          <a:lstStyle/>
          <a:p>
            <a:pPr marL="0" indent="0" algn="just">
              <a:buNone/>
            </a:pPr>
            <a:r>
              <a:rPr lang="fr-CA" sz="1800" b="1" dirty="0">
                <a:effectLst/>
                <a:latin typeface="Verdana" panose="020B0604030504040204" pitchFamily="34" charset="0"/>
                <a:ea typeface="Calibri" panose="020F0502020204030204" pitchFamily="34" charset="0"/>
                <a:cs typeface="Arial" panose="020B0604020202020204" pitchFamily="34" charset="0"/>
              </a:rPr>
              <a:t>Poursuite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Selon IAS 37</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14     Une provision doit être comptabilisée lorsque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a) une entité a une obligation actuelle (juridique ou implicite) résultant d'un événement passé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40640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OUI, chute a eu lieu le 15 novembre 2024</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b) il est probable qu'une sortie de ressources représentatives d'avantages économiques sera nécessaire pour éteindre l'obligation ; 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40640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OUI, Alexandre a accepté de tenter un règlement hors cour – l’avocat estime la probabilité à plus de 95 % d’avoir un règlement de cette façon, ce qui impliquera une sortie de trésorerie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c) le montant de l'obligation peut être estimé de manière fiable.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40640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OUI, l’avocat estime le coût du règlement entre 3 000 $ et 5 000 $.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     Si ces conditions ne sont pas réunies, aucune provision ne doit être comptabilisée.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Une provision doit donc être comptabilisée.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15     En de rares cas, l'existence d'une obligation actuelle n'apparaît pas clairement. Dans ces cas, un événement passé est considéré créer une obligation actuelle si, compte tenu de toutes les indications disponibles, il est plus probable qu'improbable qu'une obligation actuelle existe à la fin de la période de présentation de l'information financière.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Le par. 15 vient supporter que l’obligation existe, bien qu’il s’agisse d’une éventualité. Probabilité de 95 % est plus élevée que 50 % + 1.</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DB533067-FC85-CD4C-A9E5-9ED4A3168BC7}"/>
              </a:ext>
            </a:extLst>
          </p:cNvPr>
          <p:cNvSpPr>
            <a:spLocks noGrp="1"/>
          </p:cNvSpPr>
          <p:nvPr>
            <p:ph type="sldNum" sz="quarter" idx="12"/>
          </p:nvPr>
        </p:nvSpPr>
        <p:spPr/>
        <p:txBody>
          <a:bodyPr/>
          <a:lstStyle/>
          <a:p>
            <a:fld id="{F1FCC400-9845-4852-A9C9-E1406FDA319A}" type="slidenum">
              <a:rPr lang="fr-FR" smtClean="0"/>
              <a:t>18</a:t>
            </a:fld>
            <a:endParaRPr lang="fr-FR" dirty="0"/>
          </a:p>
        </p:txBody>
      </p:sp>
    </p:spTree>
    <p:extLst>
      <p:ext uri="{BB962C8B-B14F-4D97-AF65-F5344CB8AC3E}">
        <p14:creationId xmlns:p14="http://schemas.microsoft.com/office/powerpoint/2010/main" val="63346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D61C291-569D-4046-E18A-C793DEFDD1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C9AB144-D67B-E1F7-A13A-074FA2E13925}"/>
              </a:ext>
            </a:extLst>
          </p:cNvPr>
          <p:cNvSpPr>
            <a:spLocks noGrp="1"/>
          </p:cNvSpPr>
          <p:nvPr>
            <p:ph type="title"/>
          </p:nvPr>
        </p:nvSpPr>
        <p:spPr/>
        <p:txBody>
          <a:bodyPr/>
          <a:lstStyle/>
          <a:p>
            <a:r>
              <a:rPr lang="fr-CA" sz="4000" dirty="0"/>
              <a:t>2- Pertes d'opérations et Poursuite</a:t>
            </a:r>
            <a:endParaRPr lang="fr-FR" dirty="0"/>
          </a:p>
        </p:txBody>
      </p:sp>
      <p:sp>
        <p:nvSpPr>
          <p:cNvPr id="3" name="Espace réservé du contenu 2">
            <a:extLst>
              <a:ext uri="{FF2B5EF4-FFF2-40B4-BE49-F238E27FC236}">
                <a16:creationId xmlns:a16="http://schemas.microsoft.com/office/drawing/2014/main" id="{C6B63B6C-5225-69D4-95C6-477E06A8370A}"/>
              </a:ext>
            </a:extLst>
          </p:cNvPr>
          <p:cNvSpPr>
            <a:spLocks noGrp="1"/>
          </p:cNvSpPr>
          <p:nvPr>
            <p:ph idx="1"/>
          </p:nvPr>
        </p:nvSpPr>
        <p:spPr>
          <a:xfrm>
            <a:off x="838200" y="1404257"/>
            <a:ext cx="10515600" cy="5236029"/>
          </a:xfrm>
        </p:spPr>
        <p:txBody>
          <a:bodyPr>
            <a:normAutofit fontScale="85000" lnSpcReduction="10000"/>
          </a:bodyPr>
          <a:lstStyle/>
          <a:p>
            <a:pPr marL="0" indent="0" algn="just">
              <a:buNone/>
            </a:pPr>
            <a:r>
              <a:rPr lang="fr-CA" sz="1800" b="1" dirty="0">
                <a:effectLst/>
                <a:latin typeface="Verdana" panose="020B0604030504040204" pitchFamily="34" charset="0"/>
                <a:ea typeface="Calibri" panose="020F0502020204030204" pitchFamily="34" charset="0"/>
                <a:cs typeface="Arial" panose="020B0604020202020204" pitchFamily="34" charset="0"/>
              </a:rPr>
              <a:t>Poursuite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Mesure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Arial" panose="020B0604020202020204" pitchFamily="34" charset="0"/>
              </a:rPr>
              <a:t>39       Les incertitudes relatives au montant à comptabiliser en provision sont traitées par des moyens différents selon les circonstances. Lorsque la provision à évaluer comprend une population nombreuse d'éléments, l'obligation est estimée en pondérant tous les résultats possibles en fonction de leur probabilité. Cette méthode statistique d'estimation est appelée « méthode de l'espérance mathématique ». La provision sera donc différente selon que la probabilité de la perte d'un montant donné sera, par exemple, de 60 % ou de 90 %. Lorsque les résultats possibles sont équiprobables dans un intervalle continu, le milieu de l'intervalle est retenu.</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Selon l’avocat, « le coût du règlement s’élèvera entre 3 000 $ et 5 000 $ ». Selon le par. 39, il faut prendre le milieu de l’intervalle quant les résultats possibles sont équiprobables, soit 4 000 $. </a:t>
            </a:r>
            <a:r>
              <a:rPr lang="fr-CA" sz="1800" i="1" dirty="0">
                <a:effectLst/>
                <a:latin typeface="Verdana" panose="020B0604030504040204" pitchFamily="34" charset="0"/>
                <a:ea typeface="Calibri" panose="020F0502020204030204" pitchFamily="34" charset="0"/>
                <a:cs typeface="Arial" panose="020B0604020202020204" pitchFamily="34" charset="0"/>
              </a:rPr>
              <a:t>Correct si pondère le 4 000 $ par 95 %.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Donc, une provision au montant de 4 000 $ aurait dû être comptabilisée dans les états financiers 2024.</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Charge – divers	4 000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spcBef>
                <a:spcPts val="0"/>
              </a:spcBef>
              <a:buNone/>
            </a:pPr>
            <a:r>
              <a:rPr lang="fr-CA" sz="1800" dirty="0">
                <a:effectLst/>
                <a:latin typeface="Verdana" panose="020B0604030504040204" pitchFamily="34" charset="0"/>
                <a:ea typeface="Calibri" panose="020F0502020204030204" pitchFamily="34" charset="0"/>
                <a:cs typeface="Arial" panose="020B0604020202020204" pitchFamily="34" charset="0"/>
              </a:rPr>
              <a:t>@ Provision 			4 000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Arial" panose="020B0604020202020204" pitchFamily="34" charset="0"/>
              </a:rPr>
              <a:t>Une note doit être ajoutée décrivant l’événement de même que la mention que la poursuite s’élève à 25 000 $ et que le montant du règlement pourrait être plus élevé que le montant comptabilisé en provision.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BFE84B38-EA50-0375-A34E-1CCEA1FDDE15}"/>
              </a:ext>
            </a:extLst>
          </p:cNvPr>
          <p:cNvSpPr>
            <a:spLocks noGrp="1"/>
          </p:cNvSpPr>
          <p:nvPr>
            <p:ph type="sldNum" sz="quarter" idx="12"/>
          </p:nvPr>
        </p:nvSpPr>
        <p:spPr/>
        <p:txBody>
          <a:bodyPr/>
          <a:lstStyle/>
          <a:p>
            <a:fld id="{F1FCC400-9845-4852-A9C9-E1406FDA319A}" type="slidenum">
              <a:rPr lang="fr-FR" smtClean="0"/>
              <a:t>19</a:t>
            </a:fld>
            <a:endParaRPr lang="fr-FR" dirty="0"/>
          </a:p>
        </p:txBody>
      </p:sp>
    </p:spTree>
    <p:extLst>
      <p:ext uri="{BB962C8B-B14F-4D97-AF65-F5344CB8AC3E}">
        <p14:creationId xmlns:p14="http://schemas.microsoft.com/office/powerpoint/2010/main" val="19958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9FABEAAF-762B-46ED-E5A2-71789BEA2A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41004C-3B0F-6FDE-97AD-50FC8B6AB37F}"/>
              </a:ext>
            </a:extLst>
          </p:cNvPr>
          <p:cNvSpPr>
            <a:spLocks noGrp="1"/>
          </p:cNvSpPr>
          <p:nvPr>
            <p:ph type="title"/>
          </p:nvPr>
        </p:nvSpPr>
        <p:spPr/>
        <p:txBody>
          <a:bodyPr/>
          <a:lstStyle/>
          <a:p>
            <a:r>
              <a:rPr lang="fr-CA" sz="4000" dirty="0"/>
              <a:t>Indicateur 2 : Pertes d'opérations et Poursuite</a:t>
            </a:r>
            <a:endParaRPr lang="fr-FR" dirty="0"/>
          </a:p>
        </p:txBody>
      </p:sp>
      <p:sp>
        <p:nvSpPr>
          <p:cNvPr id="3" name="Espace réservé du contenu 2">
            <a:extLst>
              <a:ext uri="{FF2B5EF4-FFF2-40B4-BE49-F238E27FC236}">
                <a16:creationId xmlns:a16="http://schemas.microsoft.com/office/drawing/2014/main" id="{741215BF-E257-7C1E-0972-98C5D3EBBA57}"/>
              </a:ext>
            </a:extLst>
          </p:cNvPr>
          <p:cNvSpPr>
            <a:spLocks noGrp="1"/>
          </p:cNvSpPr>
          <p:nvPr>
            <p:ph idx="1"/>
          </p:nvPr>
        </p:nvSpPr>
        <p:spPr/>
        <p:txBody>
          <a:bodyPr>
            <a:normAutofit/>
          </a:bodyPr>
          <a:lstStyle/>
          <a:p>
            <a:r>
              <a:rPr lang="fr-CA" sz="2400" dirty="0"/>
              <a:t>EVC – 3 pts : Analyse Pertes d'opération OU Poursuite OU les deux mais avec petites erreurs, norme et application au cas</a:t>
            </a:r>
            <a:endParaRPr lang="fr-CA" sz="2400" dirty="0">
              <a:effectLst/>
              <a:latin typeface="Arial Narrow" panose="020B0606020202030204" pitchFamily="34" charset="0"/>
              <a:ea typeface="Calibri" panose="020F0502020204030204" pitchFamily="34" charset="0"/>
              <a:cs typeface="Arial" panose="020B0604020202020204" pitchFamily="34" charset="0"/>
            </a:endParaRP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Pertes d'opération Et Poursuite - norme et application au cas </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Pertes d'opération Et Poursuite - norme et application au cas   ET écriture de correction</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C  (5 pts)</a:t>
            </a:r>
          </a:p>
          <a:p>
            <a:pPr marL="0" indent="0">
              <a:buNone/>
            </a:pPr>
            <a:r>
              <a:rPr lang="fr-FR" sz="2400" i="1" dirty="0">
                <a:solidFill>
                  <a:srgbClr val="FF0000"/>
                </a:solidFill>
              </a:rPr>
              <a:t>Moyenne : 4,23</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E4456AF8-DAEA-67DC-968A-DC91B4987869}"/>
              </a:ext>
            </a:extLst>
          </p:cNvPr>
          <p:cNvSpPr>
            <a:spLocks noGrp="1"/>
          </p:cNvSpPr>
          <p:nvPr>
            <p:ph type="sldNum" sz="quarter" idx="12"/>
          </p:nvPr>
        </p:nvSpPr>
        <p:spPr/>
        <p:txBody>
          <a:bodyPr/>
          <a:lstStyle/>
          <a:p>
            <a:fld id="{F1FCC400-9845-4852-A9C9-E1406FDA319A}" type="slidenum">
              <a:rPr lang="fr-FR" smtClean="0"/>
              <a:t>20</a:t>
            </a:fld>
            <a:endParaRPr lang="fr-FR"/>
          </a:p>
        </p:txBody>
      </p:sp>
    </p:spTree>
    <p:extLst>
      <p:ext uri="{BB962C8B-B14F-4D97-AF65-F5344CB8AC3E}">
        <p14:creationId xmlns:p14="http://schemas.microsoft.com/office/powerpoint/2010/main" val="3161186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0622D75D-0673-851A-AD2E-D950536EE0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646DF9D-8C30-8A82-E49A-0D8FF39AD6A3}"/>
              </a:ext>
            </a:extLst>
          </p:cNvPr>
          <p:cNvSpPr>
            <a:spLocks noGrp="1"/>
          </p:cNvSpPr>
          <p:nvPr>
            <p:ph type="title"/>
          </p:nvPr>
        </p:nvSpPr>
        <p:spPr/>
        <p:txBody>
          <a:bodyPr>
            <a:normAutofit/>
          </a:bodyPr>
          <a:lstStyle/>
          <a:p>
            <a:r>
              <a:rPr lang="fr-CA" sz="4000" dirty="0"/>
              <a:t>Indicateur 2 : Pertes d'opérations et Poursuite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A142F25D-7FB6-18C5-A850-ED17B5384B77}"/>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8D2981C6-2EBD-7FBF-E330-A6395A696169}"/>
              </a:ext>
            </a:extLst>
          </p:cNvPr>
          <p:cNvSpPr>
            <a:spLocks noGrp="1"/>
          </p:cNvSpPr>
          <p:nvPr>
            <p:ph type="sldNum" sz="quarter" idx="12"/>
          </p:nvPr>
        </p:nvSpPr>
        <p:spPr/>
        <p:txBody>
          <a:bodyPr/>
          <a:lstStyle/>
          <a:p>
            <a:fld id="{F1FCC400-9845-4852-A9C9-E1406FDA319A}" type="slidenum">
              <a:rPr lang="fr-FR" smtClean="0"/>
              <a:t>21</a:t>
            </a:fld>
            <a:endParaRPr lang="fr-FR"/>
          </a:p>
        </p:txBody>
      </p:sp>
      <p:sp>
        <p:nvSpPr>
          <p:cNvPr id="5" name="ZoneTexte 4">
            <a:extLst>
              <a:ext uri="{FF2B5EF4-FFF2-40B4-BE49-F238E27FC236}">
                <a16:creationId xmlns:a16="http://schemas.microsoft.com/office/drawing/2014/main" id="{5A3F83A7-27D5-1027-3097-06612BE8F7AF}"/>
              </a:ext>
            </a:extLst>
          </p:cNvPr>
          <p:cNvSpPr txBox="1"/>
          <p:nvPr/>
        </p:nvSpPr>
        <p:spPr>
          <a:xfrm>
            <a:off x="1008668" y="2196445"/>
            <a:ext cx="10345132" cy="830997"/>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T</a:t>
            </a:r>
            <a:r>
              <a:rPr lang="fr-FR" sz="2400" dirty="0">
                <a:effectLst/>
                <a:latin typeface="Aptos" panose="020B0004020202020204" pitchFamily="34" charset="0"/>
                <a:ea typeface="Times New Roman" panose="02020603050405020304" pitchFamily="18" charset="0"/>
                <a:cs typeface="Aptos" panose="020B0004020202020204" pitchFamily="34" charset="0"/>
              </a:rPr>
              <a:t>rès bien réussi, sauf pour ceux qui ont vu un contrat déficitaire. Assez facile d’avoir CD.</a:t>
            </a:r>
            <a:endParaRPr lang="fr-FR" sz="1800" dirty="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96166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BE73F892-080F-55C2-BE3A-DA6C13C7A5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654F47-B2E4-B6EC-C426-C84BBBE78F79}"/>
              </a:ext>
            </a:extLst>
          </p:cNvPr>
          <p:cNvSpPr>
            <a:spLocks noGrp="1"/>
          </p:cNvSpPr>
          <p:nvPr>
            <p:ph type="title"/>
          </p:nvPr>
        </p:nvSpPr>
        <p:spPr/>
        <p:txBody>
          <a:bodyPr>
            <a:normAutofit/>
          </a:bodyPr>
          <a:lstStyle/>
          <a:p>
            <a:r>
              <a:rPr lang="fr-CA" sz="4000" dirty="0">
                <a:solidFill>
                  <a:srgbClr val="FF0000"/>
                </a:solidFill>
              </a:rPr>
              <a:t>3- Entente particulière - vente de produits</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EC6595B1-0A75-073A-175C-67854171B927}"/>
              </a:ext>
            </a:extLst>
          </p:cNvPr>
          <p:cNvSpPr>
            <a:spLocks noGrp="1"/>
          </p:cNvSpPr>
          <p:nvPr>
            <p:ph idx="1"/>
          </p:nvPr>
        </p:nvSpPr>
        <p:spPr>
          <a:xfrm>
            <a:off x="838200" y="1197204"/>
            <a:ext cx="10515600" cy="5456112"/>
          </a:xfrm>
        </p:spPr>
        <p:txBody>
          <a:bodyPr>
            <a:noAutofit/>
          </a:bodyPr>
          <a:lstStyle/>
          <a:p>
            <a:pPr marL="0" indent="0" algn="just">
              <a:lnSpc>
                <a:spcPct val="115000"/>
              </a:lnSpc>
              <a:buNone/>
            </a:pPr>
            <a:r>
              <a:rPr lang="fr-CA" sz="22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Transactions particulières reliées aux ventes</a:t>
            </a:r>
            <a:endParaRPr lang="fr-FR" sz="22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2200" dirty="0">
                <a:effectLst/>
                <a:latin typeface="Arial" panose="020B0604020202020204" pitchFamily="34" charset="0"/>
                <a:ea typeface="Times New Roman" panose="02020603050405020304" pitchFamily="18" charset="0"/>
                <a:cs typeface="Arial" panose="020B0604020202020204" pitchFamily="34" charset="0"/>
              </a:rPr>
              <a:t>En attendant le développement de son réseau de vente, PSI a conclu une entente avec un regroupement de cinq (5) dépanneurs, Ouvert Inc. (Ouvert), des dépanneurs qui sont ouverts de 6h00 jusqu’à 23h00. Alexandre est très fier de l’entente bien qu’il ait dû faire quelques concessions : Ouvert </a:t>
            </a:r>
            <a:r>
              <a:rPr lang="fr-CA" sz="2200" u="sng" dirty="0">
                <a:effectLst/>
                <a:latin typeface="Arial" panose="020B0604020202020204" pitchFamily="34" charset="0"/>
                <a:ea typeface="Times New Roman" panose="02020603050405020304" pitchFamily="18" charset="0"/>
                <a:cs typeface="Arial" panose="020B0604020202020204" pitchFamily="34" charset="0"/>
              </a:rPr>
              <a:t>n’aura pas à payer pour les fruits et légumes qui deviennent périmés ni ceux qui seraient volés ou endommagés en magasin</a:t>
            </a:r>
            <a:r>
              <a:rPr lang="fr-CA" sz="2200" dirty="0">
                <a:effectLst/>
                <a:latin typeface="Arial" panose="020B0604020202020204" pitchFamily="34" charset="0"/>
                <a:ea typeface="Times New Roman" panose="02020603050405020304" pitchFamily="18" charset="0"/>
                <a:cs typeface="Arial" panose="020B0604020202020204" pitchFamily="34" charset="0"/>
              </a:rPr>
              <a:t>. Cependant, </a:t>
            </a:r>
            <a:r>
              <a:rPr lang="fr-CA" sz="2200" u="sng" dirty="0">
                <a:effectLst/>
                <a:latin typeface="Arial" panose="020B0604020202020204" pitchFamily="34" charset="0"/>
                <a:ea typeface="Times New Roman" panose="02020603050405020304" pitchFamily="18" charset="0"/>
                <a:cs typeface="Arial" panose="020B0604020202020204" pitchFamily="34" charset="0"/>
              </a:rPr>
              <a:t>PSI a obtenu le droit de décider quels fruits et légumes seraient livrés ainsi que le droit de reprendre à son gré des fruits et légumes préalablement livrés</a:t>
            </a:r>
            <a:r>
              <a:rPr lang="fr-CA" sz="2200" dirty="0">
                <a:effectLst/>
                <a:latin typeface="Arial" panose="020B0604020202020204" pitchFamily="34" charset="0"/>
                <a:ea typeface="Times New Roman" panose="02020603050405020304" pitchFamily="18" charset="0"/>
                <a:cs typeface="Arial" panose="020B0604020202020204" pitchFamily="34" charset="0"/>
              </a:rPr>
              <a:t>.</a:t>
            </a:r>
            <a:endParaRPr lang="fr-FR" sz="22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spcBef>
                <a:spcPts val="0"/>
              </a:spcBef>
              <a:buNone/>
            </a:pPr>
            <a:endParaRPr lang="fr-FR" sz="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r>
              <a:rPr lang="fr-CA" sz="2200" kern="0" dirty="0">
                <a:effectLst/>
                <a:latin typeface="Arial" panose="020B0604020202020204" pitchFamily="34" charset="0"/>
                <a:ea typeface="Times New Roman" panose="02020603050405020304" pitchFamily="18" charset="0"/>
              </a:rPr>
              <a:t>De plus, Ouvert ne paie PSI que 15 jours après la fin du mois au cours duquel Ouvert a vendu les fruits et légumes de PSI à ses clients. En date du 31 décembre 2024, il restait des fruits et légumes non vendus par Ouvert qui avaient été facturés par PSI à 8 520 $, sachant que PSI fait une marge de 10 % sur ses ventes. PSI comptabilise les ventes au moment de la livraison.</a:t>
            </a:r>
            <a:endParaRPr lang="fr-FR" sz="2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74DDE56A-A24D-6698-FAE5-A1B71C059339}"/>
              </a:ext>
            </a:extLst>
          </p:cNvPr>
          <p:cNvSpPr>
            <a:spLocks noGrp="1"/>
          </p:cNvSpPr>
          <p:nvPr>
            <p:ph type="sldNum" sz="quarter" idx="12"/>
          </p:nvPr>
        </p:nvSpPr>
        <p:spPr/>
        <p:txBody>
          <a:bodyPr/>
          <a:lstStyle/>
          <a:p>
            <a:fld id="{F1FCC400-9845-4852-A9C9-E1406FDA319A}" type="slidenum">
              <a:rPr lang="fr-FR" smtClean="0"/>
              <a:t>22</a:t>
            </a:fld>
            <a:endParaRPr lang="fr-FR"/>
          </a:p>
        </p:txBody>
      </p:sp>
    </p:spTree>
    <p:extLst>
      <p:ext uri="{BB962C8B-B14F-4D97-AF65-F5344CB8AC3E}">
        <p14:creationId xmlns:p14="http://schemas.microsoft.com/office/powerpoint/2010/main" val="93237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21A31787-05E3-E80F-D771-A32570F0E6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C91D17-5F11-7107-2CDD-7DAAD6C7EF12}"/>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2867B04B-6F41-C2B7-AF78-2BC2CE7DA0A8}"/>
              </a:ext>
            </a:extLst>
          </p:cNvPr>
          <p:cNvSpPr>
            <a:spLocks noGrp="1"/>
          </p:cNvSpPr>
          <p:nvPr>
            <p:ph idx="1"/>
          </p:nvPr>
        </p:nvSpPr>
        <p:spPr>
          <a:xfrm>
            <a:off x="838200" y="1404257"/>
            <a:ext cx="10515600" cy="5236029"/>
          </a:xfrm>
        </p:spPr>
        <p:txBody>
          <a:bodyPr>
            <a:normAutofit fontScale="850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1 : Identification du contrat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Il y a un contrat car il y a une entente sur les modalités de paiement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i="1" dirty="0">
                <a:effectLst/>
                <a:latin typeface="Verdana" panose="020B0604030504040204" pitchFamily="34" charset="0"/>
                <a:ea typeface="Calibri" panose="020F0502020204030204" pitchFamily="34" charset="0"/>
                <a:cs typeface="Times New Roman" panose="02020603050405020304" pitchFamily="18" charset="0"/>
              </a:rPr>
              <a:t>Pas nécessaire l’analyse des critères par. 09, car cette étape n’est pas problématique selon l’information de l’énoncé.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2 : Identification des obligations de prestation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r>
              <a:rPr lang="fr-CA" sz="1800" dirty="0">
                <a:solidFill>
                  <a:srgbClr val="0070C0"/>
                </a:solidFill>
                <a:effectLst/>
                <a:latin typeface="Arial" panose="020B0604020202020204" pitchFamily="34" charset="0"/>
                <a:ea typeface="Times New Roman" panose="02020603050405020304" pitchFamily="18" charset="0"/>
              </a:rPr>
              <a:t>22     À la passation d'un contrat avec un client, l'entité doit apprécier les biens ou les services promis dans le contrat et identifier comme une obligation de prestation chaque promesse de fournir au client :</a:t>
            </a:r>
            <a:endParaRPr lang="fr-FR" sz="1800" dirty="0">
              <a:effectLst/>
              <a:latin typeface="Times New Roman" panose="02020603050405020304" pitchFamily="18" charset="0"/>
              <a:ea typeface="Times New Roman" panose="02020603050405020304" pitchFamily="18" charset="0"/>
            </a:endParaRPr>
          </a:p>
          <a:p>
            <a:pPr marL="0" indent="0">
              <a:spcBef>
                <a:spcPts val="325"/>
              </a:spcBef>
              <a:spcAft>
                <a:spcPts val="325"/>
              </a:spcAft>
              <a:buNone/>
            </a:pPr>
            <a:r>
              <a:rPr lang="fr-CA" sz="1800" dirty="0">
                <a:solidFill>
                  <a:srgbClr val="0070C0"/>
                </a:solidFill>
                <a:effectLst/>
                <a:latin typeface="Arial" panose="020B0604020202020204" pitchFamily="34" charset="0"/>
                <a:ea typeface="Times New Roman" panose="02020603050405020304" pitchFamily="18" charset="0"/>
              </a:rPr>
              <a:t>(a)     soit un bien ou un service (ou un groupe de biens ou services) distinct ;</a:t>
            </a:r>
            <a:endParaRPr lang="fr-FR" sz="1800" dirty="0">
              <a:effectLst/>
              <a:latin typeface="Times New Roman" panose="02020603050405020304" pitchFamily="18" charset="0"/>
              <a:ea typeface="Times New Roman" panose="02020603050405020304" pitchFamily="18" charset="0"/>
            </a:endParaRPr>
          </a:p>
          <a:p>
            <a:pPr marL="0" indent="0">
              <a:spcBef>
                <a:spcPts val="325"/>
              </a:spcBef>
              <a:spcAft>
                <a:spcPts val="325"/>
              </a:spcAft>
              <a:buNone/>
            </a:pPr>
            <a:r>
              <a:rPr lang="fr-CA" sz="1800" dirty="0">
                <a:solidFill>
                  <a:srgbClr val="0070C0"/>
                </a:solidFill>
                <a:effectLst/>
                <a:latin typeface="Arial" panose="020B0604020202020204" pitchFamily="34" charset="0"/>
                <a:ea typeface="Times New Roman" panose="02020603050405020304" pitchFamily="18" charset="0"/>
              </a:rPr>
              <a:t>(b)     soit une série de biens ou de services distincts qui sont essentiellement les mêmes et qui sont fournis au client au même rythme (voir paragraphe 23).</a:t>
            </a:r>
            <a:endParaRPr lang="fr-FR" sz="1800" dirty="0">
              <a:effectLst/>
              <a:latin typeface="Times New Roman" panose="02020603050405020304" pitchFamily="18" charset="0"/>
              <a:ea typeface="Times New Roman" panose="02020603050405020304" pitchFamily="18" charset="0"/>
            </a:endParaRPr>
          </a:p>
          <a:p>
            <a:pPr marL="0" indent="0">
              <a:spcBef>
                <a:spcPts val="325"/>
              </a:spcBef>
              <a:spcAft>
                <a:spcPts val="325"/>
              </a:spcAft>
              <a:buNone/>
            </a:pPr>
            <a:r>
              <a:rPr lang="fr-CA" sz="1800" dirty="0">
                <a:solidFill>
                  <a:srgbClr val="000000"/>
                </a:solidFill>
                <a:effectLst/>
                <a:latin typeface="Arial" panose="020B0604020202020204" pitchFamily="34" charset="0"/>
                <a:ea typeface="Times New Roman" panose="02020603050405020304" pitchFamily="18" charset="0"/>
              </a:rPr>
              <a:t>PSI livre de multiples fruits et légumes.</a:t>
            </a:r>
            <a:endParaRPr lang="fr-FR" sz="1800" dirty="0">
              <a:effectLst/>
              <a:latin typeface="Times New Roman" panose="02020603050405020304" pitchFamily="18" charset="0"/>
              <a:ea typeface="Times New Roman" panose="02020603050405020304" pitchFamily="18" charset="0"/>
            </a:endParaRPr>
          </a:p>
          <a:p>
            <a:pPr marL="0" indent="0">
              <a:buNone/>
            </a:pPr>
            <a:r>
              <a:rPr lang="fr-CA" sz="1800" dirty="0">
                <a:solidFill>
                  <a:srgbClr val="0070C0"/>
                </a:solidFill>
                <a:effectLst/>
                <a:latin typeface="Arial" panose="020B0604020202020204" pitchFamily="34" charset="0"/>
                <a:ea typeface="Times New Roman" panose="02020603050405020304" pitchFamily="18" charset="0"/>
              </a:rPr>
              <a:t>27       Un bien ou un service promis à un client est distinct dès lors que les deux conditions ci-dessous sont remplies :</a:t>
            </a:r>
            <a:endParaRPr lang="fr-FR" sz="1800" dirty="0">
              <a:effectLst/>
              <a:latin typeface="Times New Roman" panose="02020603050405020304" pitchFamily="18" charset="0"/>
              <a:ea typeface="Times New Roman" panose="02020603050405020304" pitchFamily="18" charset="0"/>
            </a:endParaRPr>
          </a:p>
          <a:p>
            <a:pPr marL="0" indent="0">
              <a:spcBef>
                <a:spcPts val="500"/>
              </a:spcBef>
              <a:buNone/>
            </a:pPr>
            <a:r>
              <a:rPr lang="fr-CA" sz="1800" dirty="0">
                <a:solidFill>
                  <a:srgbClr val="0070C0"/>
                </a:solidFill>
                <a:effectLst/>
                <a:latin typeface="Arial" panose="020B0604020202020204" pitchFamily="34" charset="0"/>
                <a:ea typeface="Times New Roman" panose="02020603050405020304" pitchFamily="18" charset="0"/>
              </a:rPr>
              <a:t>a) le client peut tirer parti du bien ou du service pris isolément ou en le combinant avec d'autres ressources aisément disponibles (c'est-à-dire que le bien ou le service peut exister de façon distincte) ;</a:t>
            </a:r>
            <a:endParaRPr lang="fr-FR" sz="1800" dirty="0">
              <a:effectLst/>
              <a:latin typeface="Times New Roman" panose="02020603050405020304" pitchFamily="18" charset="0"/>
              <a:ea typeface="Times New Roman" panose="02020603050405020304" pitchFamily="18" charset="0"/>
            </a:endParaRPr>
          </a:p>
          <a:p>
            <a:pPr marL="297180" indent="0">
              <a:buNone/>
            </a:pPr>
            <a:r>
              <a:rPr lang="fr-CA" sz="1800" dirty="0">
                <a:effectLst/>
                <a:latin typeface="Arial" panose="020B0604020202020204" pitchFamily="34" charset="0"/>
                <a:ea typeface="Times New Roman" panose="02020603050405020304" pitchFamily="18" charset="0"/>
              </a:rPr>
              <a:t>OUI, le client peut tirer parti des différents fruits et légumes isolément, pouvant les vendre à la pièce</a:t>
            </a:r>
            <a:endParaRPr lang="fr-FR" sz="1800" dirty="0">
              <a:effectLst/>
              <a:latin typeface="Times New Roman" panose="02020603050405020304" pitchFamily="18" charset="0"/>
              <a:ea typeface="Times New Roman" panose="02020603050405020304" pitchFamily="18" charset="0"/>
            </a:endParaRPr>
          </a:p>
          <a:p>
            <a:pPr marL="0" indent="0">
              <a:spcBef>
                <a:spcPts val="500"/>
              </a:spcBef>
              <a:buNone/>
            </a:pPr>
            <a:r>
              <a:rPr lang="fr-CA" sz="1800" dirty="0">
                <a:solidFill>
                  <a:srgbClr val="0070C0"/>
                </a:solidFill>
                <a:effectLst/>
                <a:latin typeface="Arial" panose="020B0604020202020204" pitchFamily="34" charset="0"/>
                <a:ea typeface="Times New Roman" panose="02020603050405020304" pitchFamily="18" charset="0"/>
              </a:rPr>
              <a:t>b) la promesse de l'entité de fournir le bien ou le service au client peut être identifiée séparément des autres promesses contenues dans le contrat (c'est-à-dire que la promesse de fournir le bien ou service est distincte à l'intérieur du contrat).</a:t>
            </a:r>
            <a:endParaRPr lang="fr-FR" sz="1800" dirty="0">
              <a:effectLst/>
              <a:latin typeface="Times New Roman" panose="02020603050405020304" pitchFamily="18" charset="0"/>
              <a:ea typeface="Times New Roman" panose="02020603050405020304" pitchFamily="18" charset="0"/>
            </a:endParaRPr>
          </a:p>
          <a:p>
            <a:pPr marL="297180" indent="0">
              <a:buNone/>
            </a:pPr>
            <a:r>
              <a:rPr lang="fr-CA" sz="1800" dirty="0">
                <a:effectLst/>
                <a:latin typeface="Arial" panose="020B0604020202020204" pitchFamily="34" charset="0"/>
                <a:ea typeface="Times New Roman" panose="02020603050405020304" pitchFamily="18" charset="0"/>
              </a:rPr>
              <a:t>OUI, les factures sont établies selon les différents fruits et légumes livrés.</a:t>
            </a:r>
          </a:p>
          <a:p>
            <a:pPr marL="0" indent="0">
              <a:buNone/>
            </a:pPr>
            <a:r>
              <a:rPr lang="fr-CA" sz="1800" dirty="0">
                <a:latin typeface="Arial" panose="020B0604020202020204" pitchFamily="34" charset="0"/>
                <a:ea typeface="Times New Roman" panose="02020603050405020304" pitchFamily="18" charset="0"/>
              </a:rPr>
              <a:t>Donc, multiples OP – « chaque » fruit/légume</a:t>
            </a:r>
            <a:endParaRPr lang="fr-FR" sz="1800" dirty="0">
              <a:effectLst/>
              <a:latin typeface="Times New Roman" panose="02020603050405020304" pitchFamily="18" charset="0"/>
              <a:ea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537F8C8-8892-364A-7B92-7558C6ADA7D9}"/>
              </a:ext>
            </a:extLst>
          </p:cNvPr>
          <p:cNvSpPr>
            <a:spLocks noGrp="1"/>
          </p:cNvSpPr>
          <p:nvPr>
            <p:ph type="sldNum" sz="quarter" idx="12"/>
          </p:nvPr>
        </p:nvSpPr>
        <p:spPr/>
        <p:txBody>
          <a:bodyPr/>
          <a:lstStyle/>
          <a:p>
            <a:fld id="{F1FCC400-9845-4852-A9C9-E1406FDA319A}" type="slidenum">
              <a:rPr lang="fr-FR" smtClean="0"/>
              <a:t>23</a:t>
            </a:fld>
            <a:endParaRPr lang="fr-FR"/>
          </a:p>
        </p:txBody>
      </p:sp>
    </p:spTree>
    <p:extLst>
      <p:ext uri="{BB962C8B-B14F-4D97-AF65-F5344CB8AC3E}">
        <p14:creationId xmlns:p14="http://schemas.microsoft.com/office/powerpoint/2010/main" val="2977023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9ED8D5B-010E-E58B-35BD-3E728D97BD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CD4327-56E2-15CC-72C6-8ADC2FAFB4ED}"/>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E1BE6FFB-D247-A1AB-AACE-7D668D4B144A}"/>
              </a:ext>
            </a:extLst>
          </p:cNvPr>
          <p:cNvSpPr>
            <a:spLocks noGrp="1"/>
          </p:cNvSpPr>
          <p:nvPr>
            <p:ph idx="1"/>
          </p:nvPr>
        </p:nvSpPr>
        <p:spPr>
          <a:xfrm>
            <a:off x="838200" y="1404257"/>
            <a:ext cx="10515600" cy="5236029"/>
          </a:xfrm>
        </p:spPr>
        <p:txBody>
          <a:bodyPr>
            <a:normAutofit/>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3 : Évaluation – mesure de la transaction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l’énoncé, les fruits et légumes non vendus par Ouvert totalisent 8 520 $</a:t>
            </a:r>
          </a:p>
          <a:p>
            <a:pPr marL="0" indent="0" algn="just">
              <a:buNone/>
            </a:pPr>
            <a:r>
              <a:rPr lang="fr-CA" sz="1800" i="1" dirty="0">
                <a:latin typeface="Verdana" panose="020B0604030504040204" pitchFamily="34" charset="0"/>
                <a:ea typeface="Calibri" panose="020F0502020204030204" pitchFamily="34" charset="0"/>
                <a:cs typeface="Times New Roman" panose="02020603050405020304" pitchFamily="18" charset="0"/>
              </a:rPr>
              <a:t>Ceux qui ont été revendus par Ouvert ne sont pas un enjeu </a:t>
            </a:r>
            <a:endParaRPr lang="fr-FR" sz="1800" i="1"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4 : Répartition du prix de transaction entre les obligations de prestation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Nous n’avons pas l’information mais sur les factures les prix des différents fruits et légumes sont mentionnés, ce qui a permis d’arriver avec le total de 8 520 $.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323543E6-B873-9BE2-DD03-A360A9A72E01}"/>
              </a:ext>
            </a:extLst>
          </p:cNvPr>
          <p:cNvSpPr>
            <a:spLocks noGrp="1"/>
          </p:cNvSpPr>
          <p:nvPr>
            <p:ph type="sldNum" sz="quarter" idx="12"/>
          </p:nvPr>
        </p:nvSpPr>
        <p:spPr/>
        <p:txBody>
          <a:bodyPr/>
          <a:lstStyle/>
          <a:p>
            <a:fld id="{F1FCC400-9845-4852-A9C9-E1406FDA319A}" type="slidenum">
              <a:rPr lang="fr-FR" smtClean="0"/>
              <a:t>24</a:t>
            </a:fld>
            <a:endParaRPr lang="fr-FR"/>
          </a:p>
        </p:txBody>
      </p:sp>
    </p:spTree>
    <p:extLst>
      <p:ext uri="{BB962C8B-B14F-4D97-AF65-F5344CB8AC3E}">
        <p14:creationId xmlns:p14="http://schemas.microsoft.com/office/powerpoint/2010/main" val="658497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96B92550-1BE1-3283-B1B4-8B2513A6E2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A5B984D-AFB9-4DF2-6C9F-0889C9BD9154}"/>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6317053F-7E27-7E16-9F01-A4896DF30750}"/>
              </a:ext>
            </a:extLst>
          </p:cNvPr>
          <p:cNvSpPr>
            <a:spLocks noGrp="1"/>
          </p:cNvSpPr>
          <p:nvPr>
            <p:ph idx="1"/>
          </p:nvPr>
        </p:nvSpPr>
        <p:spPr>
          <a:xfrm>
            <a:off x="838200" y="1404257"/>
            <a:ext cx="10515600" cy="5236029"/>
          </a:xfrm>
        </p:spPr>
        <p:txBody>
          <a:bodyPr>
            <a:normAutofit fontScale="850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5 : moment de comptabilisation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algn="just"/>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31     L'entité doit comptabiliser des produits des activités ordinaires lorsqu'elle a rempli (ou à mesure qu'elle remplit) une obligation de prestation en fournissant au client un bien ou un service (c'est-à-dire en transférant un actif) promis. Un actif est transféré lorsque le client en a obtenu (ou à mesure qu'il en obtient) le contrôle.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38       Si une obligation de prestation n'est pas remplie progressivement selon les paragraphes 35 à 37, c'est que l'entité la remplit à un moment précis. Pour déterminer le moment précis où le client obtient le contrôle d'un actif promis et où l'entité remplit de ce fait une obligation de prestation, l'entité doit tenir compte des dispositions visant le contrôle énoncées aux paragraphes 31 à 34. De plus, elle doit prendre en compte les éléments indicatifs d'un transfert de contrôle, qui comprennent notamment les suivants.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42900" lvl="0" indent="-342900" algn="just">
              <a:buFont typeface="+mj-lt"/>
              <a:buAutoNum type="alphaLcParenBoth"/>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L'entité a un droit actuel à un paiement au titre de l'actif — Si le client est actuellement tenu de payer l'actif, cela peut indiquer qu'il a obtenu en échange la capacité de décider de l'utilisation de l'actif et d'en tirer la quasi-totalité des avantages restants.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paiement dû 15 jours après la fin du mois au cours duquel Ouvert a vendu les fruits et légumes de PSI à ses clients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Le client a le titre de propriété de l'actif — Le titre de propriété peut indiquer quelle partie a la capacité de décider de l'utilisation de l'actif et d'en obtenir la quasi-totalité des avantages restants, ou de restreindre l'accès d'autres entités à ces avantages. De ce fait, le transfert du titre de propriété peut indiquer que le client a obtenu le contrôle de l'actif. Si l'entité conserve le titre de propriété à seule fin de se protéger contre un défaut de paiement de la part du client, les droits ainsi conservés n'empêchent pas le client d'obtenir le contrôle de l'actif en cause.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Pas d’information précise à ce sujet dans l’énoncé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33AD960-ACCB-9689-D359-0ECF516AC24D}"/>
              </a:ext>
            </a:extLst>
          </p:cNvPr>
          <p:cNvSpPr>
            <a:spLocks noGrp="1"/>
          </p:cNvSpPr>
          <p:nvPr>
            <p:ph type="sldNum" sz="quarter" idx="12"/>
          </p:nvPr>
        </p:nvSpPr>
        <p:spPr/>
        <p:txBody>
          <a:bodyPr/>
          <a:lstStyle/>
          <a:p>
            <a:fld id="{F1FCC400-9845-4852-A9C9-E1406FDA319A}" type="slidenum">
              <a:rPr lang="fr-FR" smtClean="0"/>
              <a:t>25</a:t>
            </a:fld>
            <a:endParaRPr lang="fr-FR"/>
          </a:p>
        </p:txBody>
      </p:sp>
    </p:spTree>
    <p:extLst>
      <p:ext uri="{BB962C8B-B14F-4D97-AF65-F5344CB8AC3E}">
        <p14:creationId xmlns:p14="http://schemas.microsoft.com/office/powerpoint/2010/main" val="461882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E019126-93BE-61B2-1F95-50527FD2B2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E2ED6F-2F14-CF79-E420-3F0D7BF56D10}"/>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597697A0-2E74-C9BF-87B4-0356DBE0BB5A}"/>
              </a:ext>
            </a:extLst>
          </p:cNvPr>
          <p:cNvSpPr>
            <a:spLocks noGrp="1"/>
          </p:cNvSpPr>
          <p:nvPr>
            <p:ph idx="1"/>
          </p:nvPr>
        </p:nvSpPr>
        <p:spPr>
          <a:xfrm>
            <a:off x="838200" y="1404257"/>
            <a:ext cx="10515600" cy="5236029"/>
          </a:xfrm>
        </p:spPr>
        <p:txBody>
          <a:bodyPr>
            <a:normAutofit fontScale="850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5 : moment de comptabilisation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algn="just"/>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 L'entité a transféré la possession matérielle de l'actif — Le fait que le client a la possession matérielle de l'actif peut indiquer qu'il a la capacité de décider de l'utilisation de celui-ci et d'en obtenir la quasi-totalité des avantages restants, ou de restreindre l'accès d'autres entités à ces avantages. Cependant, il se peut que la possession matérielle ne coïncide pas avec le contrôle d'un actif. Par exemple, dans le cadre de certains accords de rachat et de certains accords de consignation, il se peut qu'un client ou un consignataire ait la possession matérielle d'un actif dont l'entité a le contrôle. À l'inverse, dans le cadre de certaines ventes à livrer, il se peut que l'entité ait la possession matérielle d'un actif dont le client a le contrôle. Les paragraphes B64 à B76, B77 et B78, et B79 à B82 fournissent, respectivement, des indications sur la comptabilisation des accords de rachat, des accords de consignation et des ventes à livrer.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PSI se garde le droit de reprendre à son gré des fruits et légumes préalablement livré.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 Le client a les risques et avantages importants inhérents à la propriété de l'actif — Le transfert au client des risques et avantages importants inhérents à la propriété de l'actif peut indiquer que le client a obtenu la capacité de décider de l'utilisation de l'actif et d'en obtenir la quasi-totalité des avantages restants. Toutefois, lorsqu'elle évalue les risques et avantages inhérents à la propriété de l'actif promis, l'entité ne doit pas tenir compte des risques susceptibles de donner naissance à une obligation de prestation distincte s'ajoutant à l'obligation de transférer l'actif. Par exemple, l'entité peut avoir transféré le contrôle de l'actif à un client sans avoir encore rempli une obligation de prestation additionnelle consistant à fournir des services de maintenance de l'actif transféré.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Ouvert n’aura pas à payer pour les fruits et légumes qui deviennent périmés ni ceux qui seraient volés ou endommagés en magasin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009C88B-8043-8A7C-5396-CF01CE6C908F}"/>
              </a:ext>
            </a:extLst>
          </p:cNvPr>
          <p:cNvSpPr>
            <a:spLocks noGrp="1"/>
          </p:cNvSpPr>
          <p:nvPr>
            <p:ph type="sldNum" sz="quarter" idx="12"/>
          </p:nvPr>
        </p:nvSpPr>
        <p:spPr/>
        <p:txBody>
          <a:bodyPr/>
          <a:lstStyle/>
          <a:p>
            <a:fld id="{F1FCC400-9845-4852-A9C9-E1406FDA319A}" type="slidenum">
              <a:rPr lang="fr-FR" smtClean="0"/>
              <a:t>26</a:t>
            </a:fld>
            <a:endParaRPr lang="fr-FR"/>
          </a:p>
        </p:txBody>
      </p:sp>
    </p:spTree>
    <p:extLst>
      <p:ext uri="{BB962C8B-B14F-4D97-AF65-F5344CB8AC3E}">
        <p14:creationId xmlns:p14="http://schemas.microsoft.com/office/powerpoint/2010/main" val="4087330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2084312-C20D-1489-E7C9-BCDBDBBCE3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D99ADA-6FD2-DC76-1ED2-542E9D875FD4}"/>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03CF7554-92BD-966D-7FED-3B363C967F96}"/>
              </a:ext>
            </a:extLst>
          </p:cNvPr>
          <p:cNvSpPr>
            <a:spLocks noGrp="1"/>
          </p:cNvSpPr>
          <p:nvPr>
            <p:ph idx="1"/>
          </p:nvPr>
        </p:nvSpPr>
        <p:spPr>
          <a:xfrm>
            <a:off x="838200" y="1404257"/>
            <a:ext cx="10515600" cy="5236029"/>
          </a:xfrm>
        </p:spPr>
        <p:txBody>
          <a:bodyPr>
            <a:normAutofit fontScale="850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5 : moment de comptabilisation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algn="just"/>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 L'entité a transféré la possession matérielle de l'actif — Le fait que le client a la possession matérielle de l'actif peut indiquer qu'il a la capacité de décider de l'utilisation de celui-ci et d'en obtenir la quasi-totalité des avantages restants, ou de restreindre l'accès d'autres entités à ces avantages. Cependant, il se peut que la possession matérielle ne coïncide pas avec le contrôle d'un actif. Par exemple, dans le cadre de certains accords de rachat et de certains accords de consignation, il se peut qu'un client ou un consignataire ait la possession matérielle d'un actif dont l'entité a le contrôle. À l'inverse, dans le cadre de certaines ventes à livrer, il se peut que l'entité ait la possession matérielle d'un actif dont le client a le contrôle. Les paragraphes B64 à B76, B77 et B78, et B79 à B82 fournissent, respectivement, des indications sur la comptabilisation des accords de rachat, des accords de consignation et des ventes à livrer.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PSI se garde le droit de reprendre à son gré des fruits et légumes préalablement livré.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 Le client a les risques et avantages importants inhérents à la propriété de l'actif — Le transfert au client des risques et avantages importants inhérents à la propriété de l'actif peut indiquer que le client a obtenu la capacité de décider de l'utilisation de l'actif et d'en obtenir la quasi-totalité des avantages restants. Toutefois, lorsqu'elle évalue les risques et avantages inhérents à la propriété de l'actif promis, l'entité ne doit pas tenir compte des risques susceptibles de donner naissance à une obligation de prestation distincte s'ajoutant à l'obligation de transférer l'actif. Par exemple, l'entité peut avoir transféré le contrôle de l'actif à un client sans avoir encore rempli une obligation de prestation additionnelle consistant à fournir des services de maintenance de l'actif transféré.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Ouvert n’aura pas à payer pour les fruits et légumes qui deviennent périmés ni ceux qui seraient volés ou endommagés en magasin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A7C43D0C-30DD-6A3D-E6C4-09357AF6DB03}"/>
              </a:ext>
            </a:extLst>
          </p:cNvPr>
          <p:cNvSpPr>
            <a:spLocks noGrp="1"/>
          </p:cNvSpPr>
          <p:nvPr>
            <p:ph type="sldNum" sz="quarter" idx="12"/>
          </p:nvPr>
        </p:nvSpPr>
        <p:spPr/>
        <p:txBody>
          <a:bodyPr/>
          <a:lstStyle/>
          <a:p>
            <a:fld id="{F1FCC400-9845-4852-A9C9-E1406FDA319A}" type="slidenum">
              <a:rPr lang="fr-FR" smtClean="0"/>
              <a:t>27</a:t>
            </a:fld>
            <a:endParaRPr lang="fr-FR"/>
          </a:p>
        </p:txBody>
      </p:sp>
    </p:spTree>
    <p:extLst>
      <p:ext uri="{BB962C8B-B14F-4D97-AF65-F5344CB8AC3E}">
        <p14:creationId xmlns:p14="http://schemas.microsoft.com/office/powerpoint/2010/main" val="2704466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A60BE01-147E-B68B-6054-AE21318DD53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E38AF7-EBD7-2A85-E766-A36D35D6E9EA}"/>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55D2DD5C-379F-DA36-1948-83DE10E233F5}"/>
              </a:ext>
            </a:extLst>
          </p:cNvPr>
          <p:cNvSpPr>
            <a:spLocks noGrp="1"/>
          </p:cNvSpPr>
          <p:nvPr>
            <p:ph idx="1"/>
          </p:nvPr>
        </p:nvSpPr>
        <p:spPr>
          <a:xfrm>
            <a:off x="838200" y="1404257"/>
            <a:ext cx="10515600" cy="5236029"/>
          </a:xfrm>
        </p:spPr>
        <p:txBody>
          <a:bodyPr>
            <a:normAutofit/>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dirty="0">
                <a:effectLst/>
                <a:latin typeface="Verdana" panose="020B0604030504040204" pitchFamily="34" charset="0"/>
                <a:ea typeface="Calibri" panose="020F0502020204030204" pitchFamily="34" charset="0"/>
                <a:cs typeface="Times New Roman" panose="02020603050405020304" pitchFamily="18" charset="0"/>
              </a:rPr>
              <a:t>Étape 5 : moment de comptabilisation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algn="just"/>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e) Le client a accepté l'actif — L'acceptation d'un actif par le client peut indiquer que ce dernier a obtenu la capacité de décider de l'utilisation de l'actif et d'en obtenir la quasi-totalité des avantages restants. Pour évaluer l'effet d'une clause contractuelle d'acceptation par le client sur la détermination du moment où le contrôle d'un actif est transféré, l'entité doit tenir compte des indications fournies dans les paragraphes B83 à B86.</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NON, il ne semble pas il y avoir de clause d’acceptation de l’actif</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81000" indent="0" algn="just">
              <a:buNone/>
            </a:pPr>
            <a:endParaRPr lang="fr-FR" sz="1800" dirty="0">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puisque les critères ne sont pas respectés, PSI ne peut comptabiliser la vente au moment de la livraison.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3F8AE1E-08F0-8D59-7DC7-A6248043FC6F}"/>
              </a:ext>
            </a:extLst>
          </p:cNvPr>
          <p:cNvSpPr>
            <a:spLocks noGrp="1"/>
          </p:cNvSpPr>
          <p:nvPr>
            <p:ph type="sldNum" sz="quarter" idx="12"/>
          </p:nvPr>
        </p:nvSpPr>
        <p:spPr/>
        <p:txBody>
          <a:bodyPr/>
          <a:lstStyle/>
          <a:p>
            <a:fld id="{F1FCC400-9845-4852-A9C9-E1406FDA319A}" type="slidenum">
              <a:rPr lang="fr-FR" smtClean="0"/>
              <a:t>28</a:t>
            </a:fld>
            <a:endParaRPr lang="fr-FR"/>
          </a:p>
        </p:txBody>
      </p:sp>
    </p:spTree>
    <p:extLst>
      <p:ext uri="{BB962C8B-B14F-4D97-AF65-F5344CB8AC3E}">
        <p14:creationId xmlns:p14="http://schemas.microsoft.com/office/powerpoint/2010/main" val="396174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88B3581-E8D1-A16C-A0C7-7718840DFA4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93AC62-2C96-37A5-93E6-74396D8D56AA}"/>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E7931071-765C-ABD1-F147-0FA050E15F73}"/>
              </a:ext>
            </a:extLst>
          </p:cNvPr>
          <p:cNvSpPr>
            <a:spLocks noGrp="1"/>
          </p:cNvSpPr>
          <p:nvPr>
            <p:ph idx="1"/>
          </p:nvPr>
        </p:nvSpPr>
        <p:spPr>
          <a:xfrm>
            <a:off x="838200" y="1404257"/>
            <a:ext cx="10515600" cy="5236029"/>
          </a:xfrm>
        </p:spPr>
        <p:txBody>
          <a:bodyPr>
            <a:normAutofit fontScale="775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15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CA" sz="1800" b="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Accords de consignation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B77    Lorsque l'entité livre un produit à un tiers (par exemple un distributeur ou un grossiste) pour vente aux clients finaux, elle doit évaluer si le tiers obtient le contrôle du produit à ce moment-là. Le produit livré à un tiers peut être détenu en vertu d'un accord de consignation si le tiers n'en obtient pas le contrôle. Par conséquent</a:t>
            </a: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 l'entité ne doit pas comptabiliser de produits des activités ordinaires au moment de la livraison au tiers si le produit livré est détenu en consignation.</a:t>
            </a:r>
          </a:p>
          <a:p>
            <a:pPr marL="0" indent="0" algn="just">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B78    Les indicateurs qu'un accord est un accord de consignation sont notamment les suivants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42900" lvl="0" indent="-342900" algn="just">
              <a:buFont typeface="+mj-lt"/>
              <a:buAutoNum type="alphaLcParenBoth"/>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le produit est contrôlé par l'entité jusqu'à ce que se produise un événement spécifié, par exemple la vente du produit à un client du distributeur, ou jusqu'au terme d'une période déterminée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7465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OUI, PSI a obtenu le droit de reprendre des fruits et légumes préalablement livrés à son gré, avant la vente à un client de Ouvert.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l'entité est en mesure d'exiger que le produit lui soit rendu ou de le transférer à un tiers (comme un autre distributeur)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7465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OUI, PSI a obtenu le droit de décider quels fruits et légumes seraient livrés ainsi que le droit de reprendre des fruits et légumes préalablement livrés à son gré.</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 le distributeur n'a pas l'obligation inconditionnelle de payer le produit (même si un acompte peut être exigé de sa part).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37465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OUI, paiement retardé à 15 jours après la fin du mois au cours duquel Ouvert a vendu les fruits et légumes.</a:t>
            </a:r>
          </a:p>
          <a:p>
            <a:pPr marL="374650" indent="-37465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il s’agit d’un accord de consignation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1D9A18BC-782A-4687-3BFD-8877CFC04DB3}"/>
              </a:ext>
            </a:extLst>
          </p:cNvPr>
          <p:cNvSpPr>
            <a:spLocks noGrp="1"/>
          </p:cNvSpPr>
          <p:nvPr>
            <p:ph type="sldNum" sz="quarter" idx="12"/>
          </p:nvPr>
        </p:nvSpPr>
        <p:spPr/>
        <p:txBody>
          <a:bodyPr/>
          <a:lstStyle/>
          <a:p>
            <a:fld id="{F1FCC400-9845-4852-A9C9-E1406FDA319A}" type="slidenum">
              <a:rPr lang="fr-FR" smtClean="0"/>
              <a:t>29</a:t>
            </a:fld>
            <a:endParaRPr lang="fr-FR"/>
          </a:p>
        </p:txBody>
      </p:sp>
    </p:spTree>
    <p:extLst>
      <p:ext uri="{BB962C8B-B14F-4D97-AF65-F5344CB8AC3E}">
        <p14:creationId xmlns:p14="http://schemas.microsoft.com/office/powerpoint/2010/main" val="2151589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DE76F6B-0F0D-176E-0372-9B3AFDCDD5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929627-3450-ECEA-3F0B-46AA6B298A35}"/>
              </a:ext>
            </a:extLst>
          </p:cNvPr>
          <p:cNvSpPr>
            <a:spLocks noGrp="1"/>
          </p:cNvSpPr>
          <p:nvPr>
            <p:ph type="title"/>
          </p:nvPr>
        </p:nvSpPr>
        <p:spPr/>
        <p:txBody>
          <a:bodyPr/>
          <a:lstStyle/>
          <a:p>
            <a:r>
              <a:rPr lang="fr-CA" sz="4000" dirty="0"/>
              <a:t>3- Entente particulière - vente de produits</a:t>
            </a:r>
            <a:endParaRPr lang="fr-FR" dirty="0"/>
          </a:p>
        </p:txBody>
      </p:sp>
      <p:sp>
        <p:nvSpPr>
          <p:cNvPr id="3" name="Espace réservé du contenu 2">
            <a:extLst>
              <a:ext uri="{FF2B5EF4-FFF2-40B4-BE49-F238E27FC236}">
                <a16:creationId xmlns:a16="http://schemas.microsoft.com/office/drawing/2014/main" id="{0502FB46-E3A8-D5DD-9CB4-D824815336AA}"/>
              </a:ext>
            </a:extLst>
          </p:cNvPr>
          <p:cNvSpPr>
            <a:spLocks noGrp="1"/>
          </p:cNvSpPr>
          <p:nvPr>
            <p:ph idx="1"/>
          </p:nvPr>
        </p:nvSpPr>
        <p:spPr>
          <a:xfrm>
            <a:off x="838200" y="1498862"/>
            <a:ext cx="10515600" cy="5141424"/>
          </a:xfrm>
        </p:spPr>
        <p:txBody>
          <a:bodyPr>
            <a:normAutofit fontScale="85000" lnSpcReduction="10000"/>
          </a:bodyPr>
          <a:lstStyle/>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Conclusion</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encaissements découlant de la vente à Ouvert ne sont pas des produits de la période si non revendus par Ouvert. Au moment de l'encaissement, PSI a donc un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passif</a:t>
            </a:r>
            <a:r>
              <a:rPr lang="fr-CA" sz="1800" dirty="0">
                <a:effectLst/>
                <a:latin typeface="Verdana" panose="020B0604030504040204" pitchFamily="34" charset="0"/>
                <a:ea typeface="Calibri" panose="020F0502020204030204" pitchFamily="34" charset="0"/>
                <a:cs typeface="Times New Roman" panose="02020603050405020304" pitchFamily="18" charset="0"/>
              </a:rPr>
              <a:t>, ou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produit différé</a:t>
            </a:r>
            <a:r>
              <a:rPr lang="fr-CA" sz="1800" dirty="0">
                <a:effectLst/>
                <a:latin typeface="Verdana" panose="020B0604030504040204" pitchFamily="34" charset="0"/>
                <a:ea typeface="Calibri" panose="020F0502020204030204" pitchFamily="34" charset="0"/>
                <a:cs typeface="Times New Roman" panose="02020603050405020304" pitchFamily="18" charset="0"/>
              </a:rPr>
              <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 produit différé sera annulé et les sommes seront comptabilisées en produit </a:t>
            </a:r>
            <a:r>
              <a:rPr lang="fr-CA" sz="1800" u="sng" dirty="0">
                <a:effectLst/>
                <a:latin typeface="Verdana" panose="020B0604030504040204" pitchFamily="34" charset="0"/>
                <a:ea typeface="Calibri" panose="020F0502020204030204" pitchFamily="34" charset="0"/>
                <a:cs typeface="Times New Roman" panose="02020603050405020304" pitchFamily="18" charset="0"/>
              </a:rPr>
              <a:t>uniquement</a:t>
            </a:r>
            <a:r>
              <a:rPr lang="fr-CA" sz="1800" dirty="0">
                <a:effectLst/>
                <a:latin typeface="Verdana" panose="020B0604030504040204" pitchFamily="34" charset="0"/>
                <a:ea typeface="Calibri" panose="020F0502020204030204" pitchFamily="34" charset="0"/>
                <a:cs typeface="Times New Roman" panose="02020603050405020304" pitchFamily="18" charset="0"/>
              </a:rPr>
              <a:t> lorsque Ouvert revend les fruits et légumes à ses clients.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En date du 31 décembre 2024, il restait des fruits et légumes non vendus par Ouvert qui avaient été facturés par PSI à 8 520 $, sachant que PSI fait une marge de 10 % sur ses ventes.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Écriture de correction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Produits			8 520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Comptes à recevoir		8 520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Stocks			7 668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Coût des ventes			7 668</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D206E34-8D39-EC7D-D534-A0704A9A2F14}"/>
              </a:ext>
            </a:extLst>
          </p:cNvPr>
          <p:cNvSpPr>
            <a:spLocks noGrp="1"/>
          </p:cNvSpPr>
          <p:nvPr>
            <p:ph type="sldNum" sz="quarter" idx="12"/>
          </p:nvPr>
        </p:nvSpPr>
        <p:spPr/>
        <p:txBody>
          <a:bodyPr/>
          <a:lstStyle/>
          <a:p>
            <a:fld id="{F1FCC400-9845-4852-A9C9-E1406FDA319A}" type="slidenum">
              <a:rPr lang="fr-FR" smtClean="0"/>
              <a:t>30</a:t>
            </a:fld>
            <a:endParaRPr lang="fr-FR"/>
          </a:p>
        </p:txBody>
      </p:sp>
    </p:spTree>
    <p:extLst>
      <p:ext uri="{BB962C8B-B14F-4D97-AF65-F5344CB8AC3E}">
        <p14:creationId xmlns:p14="http://schemas.microsoft.com/office/powerpoint/2010/main" val="1855417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9E83EFE-566D-90AE-92FD-C9DED4101F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FAC73E-B447-6C78-4CFA-2C80F7934895}"/>
              </a:ext>
            </a:extLst>
          </p:cNvPr>
          <p:cNvSpPr>
            <a:spLocks noGrp="1"/>
          </p:cNvSpPr>
          <p:nvPr>
            <p:ph type="title"/>
          </p:nvPr>
        </p:nvSpPr>
        <p:spPr/>
        <p:txBody>
          <a:bodyPr/>
          <a:lstStyle/>
          <a:p>
            <a:r>
              <a:rPr lang="fr-CA" sz="4000" dirty="0"/>
              <a:t>Indicateur 3- Entente particulière - vente de produits</a:t>
            </a:r>
            <a:endParaRPr lang="fr-FR" dirty="0"/>
          </a:p>
        </p:txBody>
      </p:sp>
      <p:sp>
        <p:nvSpPr>
          <p:cNvPr id="3" name="Espace réservé du contenu 2">
            <a:extLst>
              <a:ext uri="{FF2B5EF4-FFF2-40B4-BE49-F238E27FC236}">
                <a16:creationId xmlns:a16="http://schemas.microsoft.com/office/drawing/2014/main" id="{C5CE4E0E-B72C-35AE-0828-D3171814C295}"/>
              </a:ext>
            </a:extLst>
          </p:cNvPr>
          <p:cNvSpPr>
            <a:spLocks noGrp="1"/>
          </p:cNvSpPr>
          <p:nvPr>
            <p:ph idx="1"/>
          </p:nvPr>
        </p:nvSpPr>
        <p:spPr/>
        <p:txBody>
          <a:bodyPr>
            <a:normAutofit/>
          </a:bodyPr>
          <a:lstStyle/>
          <a:p>
            <a:r>
              <a:rPr lang="fr-CA" sz="2400" dirty="0"/>
              <a:t>EVC – 3 pts : Analyse adéquatement  Moment, norme et application au cas</a:t>
            </a:r>
            <a:endParaRPr lang="fr-CA" sz="2400" dirty="0">
              <a:effectLst/>
              <a:latin typeface="Arial Narrow" panose="020B0606020202030204" pitchFamily="34" charset="0"/>
              <a:ea typeface="Calibri" panose="020F0502020204030204" pitchFamily="34" charset="0"/>
              <a:cs typeface="Arial" panose="020B0604020202020204" pitchFamily="34" charset="0"/>
            </a:endParaRP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Couvre les 5 étapes ET  Analyse correctement Moment, norme et application au cas</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Couvre les 5 étapes ET Analyse correctement Moment   ET écritures de correction</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C  (5 pts)</a:t>
            </a:r>
          </a:p>
          <a:p>
            <a:pPr marL="0" indent="0">
              <a:buNone/>
            </a:pPr>
            <a:r>
              <a:rPr lang="fr-FR" sz="2400" i="1" dirty="0">
                <a:solidFill>
                  <a:srgbClr val="FF0000"/>
                </a:solidFill>
              </a:rPr>
              <a:t>Moyenne : 2,79</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D2D628E1-1B01-2508-31EA-18AF83338AF0}"/>
              </a:ext>
            </a:extLst>
          </p:cNvPr>
          <p:cNvSpPr>
            <a:spLocks noGrp="1"/>
          </p:cNvSpPr>
          <p:nvPr>
            <p:ph type="sldNum" sz="quarter" idx="12"/>
          </p:nvPr>
        </p:nvSpPr>
        <p:spPr/>
        <p:txBody>
          <a:bodyPr/>
          <a:lstStyle/>
          <a:p>
            <a:fld id="{F1FCC400-9845-4852-A9C9-E1406FDA319A}" type="slidenum">
              <a:rPr lang="fr-FR" smtClean="0"/>
              <a:t>31</a:t>
            </a:fld>
            <a:endParaRPr lang="fr-FR"/>
          </a:p>
        </p:txBody>
      </p:sp>
    </p:spTree>
    <p:extLst>
      <p:ext uri="{BB962C8B-B14F-4D97-AF65-F5344CB8AC3E}">
        <p14:creationId xmlns:p14="http://schemas.microsoft.com/office/powerpoint/2010/main" val="3782476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B3521912-06E1-96ED-C978-33E19B4FABB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CED706-A370-0AB0-EC5F-D6E0FB0D0965}"/>
              </a:ext>
            </a:extLst>
          </p:cNvPr>
          <p:cNvSpPr>
            <a:spLocks noGrp="1"/>
          </p:cNvSpPr>
          <p:nvPr>
            <p:ph type="title"/>
          </p:nvPr>
        </p:nvSpPr>
        <p:spPr/>
        <p:txBody>
          <a:bodyPr>
            <a:normAutofit/>
          </a:bodyPr>
          <a:lstStyle/>
          <a:p>
            <a:r>
              <a:rPr lang="fr-CA" sz="4000" dirty="0"/>
              <a:t>Indicateur 3- Entente particulière - vente de produits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3580437C-84AB-7E5F-1578-75DD65803863}"/>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5957DF63-F1F7-EDF7-EB94-81F5AC36C7FD}"/>
              </a:ext>
            </a:extLst>
          </p:cNvPr>
          <p:cNvSpPr>
            <a:spLocks noGrp="1"/>
          </p:cNvSpPr>
          <p:nvPr>
            <p:ph type="sldNum" sz="quarter" idx="12"/>
          </p:nvPr>
        </p:nvSpPr>
        <p:spPr/>
        <p:txBody>
          <a:bodyPr/>
          <a:lstStyle/>
          <a:p>
            <a:fld id="{F1FCC400-9845-4852-A9C9-E1406FDA319A}" type="slidenum">
              <a:rPr lang="fr-FR" smtClean="0"/>
              <a:t>32</a:t>
            </a:fld>
            <a:endParaRPr lang="fr-FR"/>
          </a:p>
        </p:txBody>
      </p:sp>
      <p:sp>
        <p:nvSpPr>
          <p:cNvPr id="5" name="ZoneTexte 4">
            <a:extLst>
              <a:ext uri="{FF2B5EF4-FFF2-40B4-BE49-F238E27FC236}">
                <a16:creationId xmlns:a16="http://schemas.microsoft.com/office/drawing/2014/main" id="{D20F4FC6-CDFE-4A8B-656E-59354C6F35CA}"/>
              </a:ext>
            </a:extLst>
          </p:cNvPr>
          <p:cNvSpPr txBox="1"/>
          <p:nvPr/>
        </p:nvSpPr>
        <p:spPr>
          <a:xfrm>
            <a:off x="980388" y="2281287"/>
            <a:ext cx="10373412" cy="830997"/>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T</a:t>
            </a:r>
            <a:r>
              <a:rPr lang="fr-FR" sz="2400" dirty="0">
                <a:effectLst/>
                <a:latin typeface="Aptos" panose="020B0004020202020204" pitchFamily="34" charset="0"/>
                <a:ea typeface="Times New Roman" panose="02020603050405020304" pitchFamily="18" charset="0"/>
                <a:cs typeface="Aptos" panose="020B0004020202020204" pitchFamily="34" charset="0"/>
              </a:rPr>
              <a:t>ous ont vu le bon moment, mais peu ont vu la consignation. Beaucoup on fait un produit différé dans la correction </a:t>
            </a:r>
            <a:endParaRPr lang="fr-FR" sz="1800" dirty="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1681596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2A1EBC26-265C-29FD-D955-9892A8EA11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15BEA7-3FAE-296B-16A7-ACB4B45CD199}"/>
              </a:ext>
            </a:extLst>
          </p:cNvPr>
          <p:cNvSpPr>
            <a:spLocks noGrp="1"/>
          </p:cNvSpPr>
          <p:nvPr>
            <p:ph type="title"/>
          </p:nvPr>
        </p:nvSpPr>
        <p:spPr/>
        <p:txBody>
          <a:bodyPr>
            <a:normAutofit/>
          </a:bodyPr>
          <a:lstStyle/>
          <a:p>
            <a:r>
              <a:rPr lang="fr-CA" sz="4000" dirty="0">
                <a:solidFill>
                  <a:srgbClr val="FF0000"/>
                </a:solidFill>
              </a:rPr>
              <a:t>4- Immeuble de bureaux</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CA7D3C17-6F5D-43E2-5F90-909CF44019D1}"/>
              </a:ext>
            </a:extLst>
          </p:cNvPr>
          <p:cNvSpPr>
            <a:spLocks noGrp="1"/>
          </p:cNvSpPr>
          <p:nvPr>
            <p:ph idx="1"/>
          </p:nvPr>
        </p:nvSpPr>
        <p:spPr>
          <a:xfrm>
            <a:off x="838200" y="1197204"/>
            <a:ext cx="10515600" cy="5456112"/>
          </a:xfrm>
        </p:spPr>
        <p:txBody>
          <a:bodyPr>
            <a:noAutofit/>
          </a:bodyPr>
          <a:lstStyle/>
          <a:p>
            <a:pPr marL="0" indent="0" algn="just">
              <a:lnSpc>
                <a:spcPct val="107000"/>
              </a:lnSpc>
              <a:buNone/>
            </a:pPr>
            <a:r>
              <a:rPr lang="fr-CA" sz="19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Acquisition d’un immeuble de bureaux</a:t>
            </a:r>
            <a:endParaRPr lang="fr-FR" sz="19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900" dirty="0">
                <a:effectLst/>
                <a:latin typeface="Arial" panose="020B0604020202020204" pitchFamily="34" charset="0"/>
                <a:ea typeface="Times New Roman" panose="02020603050405020304" pitchFamily="18" charset="0"/>
                <a:cs typeface="Arial" panose="020B0604020202020204" pitchFamily="34" charset="0"/>
              </a:rPr>
              <a:t>Le 5 juillet 2024, PSI a acquis un immeuble de bureaux qu’elle a payé 4 000 000 $. Alexandre souhaite diversifier le risque de son entreprise et cet immeuble ne pouvait être acquis partiellement n’ayant qu’un enregistrement auprès de la municipalité (numéro de lot). Il prévoit revendre l’immeuble dans quelques années et espère faire un gain à la revente. Il croit avoir fait une excellente affaire. Le courtier qu’il a embauché a trouvé cette rare opportunité : le prix payé est inférieur au rapport d’évaluation préparé par un évaluateur agréé indépendant ; il établissait la valeur de l’immeuble à 4 400 000 $ au 30 juin 2024. Toutefois, les héritiers de Madame Thibault étaient pressés d’obtenir le règlement de la succession et ont accepté l’offre d’une valeur moindre. Alexandre considère que les honoraires de 2 % du prix de la transaction payés à son courtier étaient finalement justifiés et souhaite qu’ils soient ajoutés au coût de l’immeuble, idem pour les frais du notaire qui se sont élevés à 3 000 $. Ces frais sont actuellement présentés en charge. Alexandre est conscient qu’il devra payer des honoraires de 7 % à un courtier pour faciliter la revente lorsque le temps sera venu. En décembre 2024, un immeuble « pareil » au sien du même quartier a été vendu pour 4 450 000 $, ce qui confirme les données qui prédisent une hausse du marché immobilier pour les prochaines années. </a:t>
            </a:r>
            <a:endParaRPr lang="fr-FR" sz="19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ABCE068-7AA8-DB85-0F28-A47102264C61}"/>
              </a:ext>
            </a:extLst>
          </p:cNvPr>
          <p:cNvSpPr>
            <a:spLocks noGrp="1"/>
          </p:cNvSpPr>
          <p:nvPr>
            <p:ph type="sldNum" sz="quarter" idx="12"/>
          </p:nvPr>
        </p:nvSpPr>
        <p:spPr/>
        <p:txBody>
          <a:bodyPr/>
          <a:lstStyle/>
          <a:p>
            <a:fld id="{F1FCC400-9845-4852-A9C9-E1406FDA319A}" type="slidenum">
              <a:rPr lang="fr-FR" smtClean="0"/>
              <a:t>33</a:t>
            </a:fld>
            <a:endParaRPr lang="fr-FR"/>
          </a:p>
        </p:txBody>
      </p:sp>
    </p:spTree>
    <p:extLst>
      <p:ext uri="{BB962C8B-B14F-4D97-AF65-F5344CB8AC3E}">
        <p14:creationId xmlns:p14="http://schemas.microsoft.com/office/powerpoint/2010/main" val="2314312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600ACB8F-D84D-914D-035F-903A7B4300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FB97A2-969A-A25B-7200-4D3593791056}"/>
              </a:ext>
            </a:extLst>
          </p:cNvPr>
          <p:cNvSpPr>
            <a:spLocks noGrp="1"/>
          </p:cNvSpPr>
          <p:nvPr>
            <p:ph type="title"/>
          </p:nvPr>
        </p:nvSpPr>
        <p:spPr/>
        <p:txBody>
          <a:bodyPr>
            <a:normAutofit/>
          </a:bodyPr>
          <a:lstStyle/>
          <a:p>
            <a:r>
              <a:rPr lang="fr-CA" sz="4000" dirty="0">
                <a:solidFill>
                  <a:srgbClr val="FF0000"/>
                </a:solidFill>
              </a:rPr>
              <a:t>4- Immeuble de bureaux</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5AFC82F3-2983-7EAD-31C0-63C62043B489}"/>
              </a:ext>
            </a:extLst>
          </p:cNvPr>
          <p:cNvSpPr>
            <a:spLocks noGrp="1"/>
          </p:cNvSpPr>
          <p:nvPr>
            <p:ph idx="1"/>
          </p:nvPr>
        </p:nvSpPr>
        <p:spPr>
          <a:xfrm>
            <a:off x="838200" y="1602556"/>
            <a:ext cx="10515600" cy="5050759"/>
          </a:xfrm>
        </p:spPr>
        <p:txBody>
          <a:bodyPr>
            <a:noAutofit/>
          </a:bodyPr>
          <a:lstStyle/>
          <a:p>
            <a:pPr marL="0" indent="0" algn="just">
              <a:lnSpc>
                <a:spcPct val="107000"/>
              </a:lnSpc>
              <a:spcAft>
                <a:spcPts val="800"/>
              </a:spcAft>
              <a:buNone/>
            </a:pPr>
            <a:r>
              <a:rPr lang="fr-CA" sz="1900" b="1" cap="small"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Acquisition d’un immeuble de bureaux  </a:t>
            </a:r>
            <a:r>
              <a:rPr lang="fr-CA" sz="1900" i="1" cap="small" dirty="0">
                <a:solidFill>
                  <a:srgbClr val="000000"/>
                </a:solidFill>
                <a:latin typeface="Arial" panose="020B0604020202020204" pitchFamily="34" charset="0"/>
                <a:ea typeface="Times New Roman" panose="02020603050405020304" pitchFamily="18" charset="0"/>
                <a:cs typeface="Arial" panose="020B0604020202020204" pitchFamily="34" charset="0"/>
              </a:rPr>
              <a:t>(suite)</a:t>
            </a:r>
            <a:endParaRPr lang="fr-FR" sz="19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900" dirty="0">
                <a:effectLst/>
                <a:latin typeface="Arial" panose="020B0604020202020204" pitchFamily="34" charset="0"/>
                <a:ea typeface="Times New Roman" panose="02020603050405020304" pitchFamily="18" charset="0"/>
                <a:cs typeface="Arial" panose="020B0604020202020204" pitchFamily="34" charset="0"/>
              </a:rPr>
              <a:t>Alexandre a décidé d’occuper un local qui était vide au moment de l’acquisition afin de regrouper dans un emplacement le personnel « bureau » de PSI. L’immeuble compte 25 locaux de superficie similaire.</a:t>
            </a:r>
            <a:endParaRPr lang="fr-FR" sz="19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0D0C260-1CBB-52A9-6801-BFCF57851AB0}"/>
              </a:ext>
            </a:extLst>
          </p:cNvPr>
          <p:cNvSpPr>
            <a:spLocks noGrp="1"/>
          </p:cNvSpPr>
          <p:nvPr>
            <p:ph type="sldNum" sz="quarter" idx="12"/>
          </p:nvPr>
        </p:nvSpPr>
        <p:spPr/>
        <p:txBody>
          <a:bodyPr/>
          <a:lstStyle/>
          <a:p>
            <a:fld id="{F1FCC400-9845-4852-A9C9-E1406FDA319A}" type="slidenum">
              <a:rPr lang="fr-FR" smtClean="0"/>
              <a:t>34</a:t>
            </a:fld>
            <a:endParaRPr lang="fr-FR"/>
          </a:p>
        </p:txBody>
      </p:sp>
    </p:spTree>
    <p:extLst>
      <p:ext uri="{BB962C8B-B14F-4D97-AF65-F5344CB8AC3E}">
        <p14:creationId xmlns:p14="http://schemas.microsoft.com/office/powerpoint/2010/main" val="3106670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4D8F2A4-795B-E16C-5677-9F27242F73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761E52-C331-CD83-D639-87E267D5CCD3}"/>
              </a:ext>
            </a:extLst>
          </p:cNvPr>
          <p:cNvSpPr>
            <a:spLocks noGrp="1"/>
          </p:cNvSpPr>
          <p:nvPr>
            <p:ph type="title"/>
          </p:nvPr>
        </p:nvSpPr>
        <p:spPr/>
        <p:txBody>
          <a:bodyPr/>
          <a:lstStyle/>
          <a:p>
            <a:r>
              <a:rPr lang="fr-CA" sz="4000" dirty="0"/>
              <a:t>4- Immeuble de bureaux</a:t>
            </a:r>
            <a:endParaRPr lang="fr-FR" dirty="0"/>
          </a:p>
        </p:txBody>
      </p:sp>
      <p:sp>
        <p:nvSpPr>
          <p:cNvPr id="3" name="Espace réservé du contenu 2">
            <a:extLst>
              <a:ext uri="{FF2B5EF4-FFF2-40B4-BE49-F238E27FC236}">
                <a16:creationId xmlns:a16="http://schemas.microsoft.com/office/drawing/2014/main" id="{0318C615-C6B9-4E95-A8CF-94425A9C4639}"/>
              </a:ext>
            </a:extLst>
          </p:cNvPr>
          <p:cNvSpPr>
            <a:spLocks noGrp="1"/>
          </p:cNvSpPr>
          <p:nvPr>
            <p:ph idx="1"/>
          </p:nvPr>
        </p:nvSpPr>
        <p:spPr>
          <a:xfrm>
            <a:off x="838200" y="1404257"/>
            <a:ext cx="10515600" cy="5236029"/>
          </a:xfrm>
        </p:spPr>
        <p:txBody>
          <a:bodyPr>
            <a:normAutofit fontScale="85000" lnSpcReduction="10000"/>
          </a:bodyPr>
          <a:lstStyle/>
          <a:p>
            <a:pPr algn="l">
              <a:buNone/>
            </a:pPr>
            <a:r>
              <a:rPr lang="fr-CA" sz="1800" b="1" dirty="0">
                <a:solidFill>
                  <a:srgbClr val="000000"/>
                </a:solidFill>
                <a:effectLst/>
                <a:highlight>
                  <a:srgbClr val="FFFF00"/>
                </a:highlight>
                <a:latin typeface="Aptos" panose="020B0004020202020204" pitchFamily="34" charset="0"/>
                <a:ea typeface="Arial" panose="020B0604020202020204" pitchFamily="34" charset="0"/>
                <a:cs typeface="Arial" panose="020B0604020202020204" pitchFamily="34" charset="0"/>
              </a:rPr>
              <a:t>Enjeu : Nature</a:t>
            </a:r>
            <a:endParaRPr lang="fr-FR" sz="1800" dirty="0">
              <a:effectLst/>
              <a:highlight>
                <a:srgbClr val="FFFF00"/>
              </a:highligh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Selon IAS 40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spcBef>
                <a:spcPts val="305"/>
              </a:spcBef>
              <a:spcAft>
                <a:spcPts val="305"/>
              </a:spcAft>
              <a:buNone/>
            </a:pPr>
            <a:r>
              <a:rPr lang="fr-CA" sz="1800" b="1" dirty="0">
                <a:solidFill>
                  <a:srgbClr val="0070C0"/>
                </a:solidFill>
                <a:effectLst/>
                <a:latin typeface="&amp;quot"/>
                <a:ea typeface="Times New Roman" panose="02020603050405020304" pitchFamily="18" charset="0"/>
              </a:rPr>
              <a:t>Classement d'un bien comme immeuble de placement ou comme bien immobilier occupé par son propriétaire</a:t>
            </a:r>
            <a:endParaRPr lang="fr-FR" sz="1800" dirty="0">
              <a:effectLst/>
              <a:latin typeface="Times New Roman" panose="02020603050405020304" pitchFamily="18" charset="0"/>
              <a:ea typeface="Times New Roman" panose="02020603050405020304" pitchFamily="18" charset="0"/>
            </a:endParaRPr>
          </a:p>
          <a:p>
            <a:pPr marL="0" indent="0">
              <a:spcBef>
                <a:spcPts val="285"/>
              </a:spcBef>
              <a:spcAft>
                <a:spcPts val="285"/>
              </a:spcAft>
              <a:buNone/>
            </a:pPr>
            <a:r>
              <a:rPr lang="fr-CA" sz="1800" dirty="0">
                <a:solidFill>
                  <a:srgbClr val="0070C0"/>
                </a:solidFill>
                <a:effectLst/>
                <a:highlight>
                  <a:srgbClr val="FFFF00"/>
                </a:highlight>
                <a:latin typeface="&amp;quot"/>
                <a:ea typeface="Times New Roman" panose="02020603050405020304" pitchFamily="18" charset="0"/>
              </a:rPr>
              <a:t>7     Un immeuble de placement est détenu pour en retirer des loyers, pour réaliser une plus-value en capital ou les deux.</a:t>
            </a:r>
            <a:r>
              <a:rPr lang="fr-CA" sz="1800" dirty="0">
                <a:solidFill>
                  <a:srgbClr val="0070C0"/>
                </a:solidFill>
                <a:effectLst/>
                <a:latin typeface="&amp;quot"/>
                <a:ea typeface="Times New Roman" panose="02020603050405020304" pitchFamily="18" charset="0"/>
              </a:rPr>
              <a:t> Par conséquent, un immeuble de placement génère des flux de trésorerie largement indépendants des autres actifs détenus par l'entité. Ceci distingue un immeuble de placement d'un bien immobilier occupé par son propriétaire. La production ou la fourniture de biens ou de services (ou l'utilisation d'un bien immobilier à des fins administratives) génère des flux de trésorerie qui sont attribuables non seulement au bien immobilier, mais aussi à d'autres actifs utilisés dans le processus de production ou de fourniture. </a:t>
            </a:r>
            <a:r>
              <a:rPr lang="fr-CA" sz="1800" u="sng" dirty="0">
                <a:solidFill>
                  <a:srgbClr val="0070C0"/>
                </a:solidFill>
                <a:effectLst/>
                <a:latin typeface="&amp;quot"/>
                <a:ea typeface="Times New Roman" panose="02020603050405020304" pitchFamily="18" charset="0"/>
              </a:rPr>
              <a:t>IAS 16</a:t>
            </a:r>
            <a:r>
              <a:rPr lang="fr-CA" sz="1800" dirty="0">
                <a:solidFill>
                  <a:srgbClr val="0070C0"/>
                </a:solidFill>
                <a:effectLst/>
                <a:latin typeface="&amp;quot"/>
                <a:ea typeface="Times New Roman" panose="02020603050405020304" pitchFamily="18" charset="0"/>
              </a:rPr>
              <a:t> s'applique aux biens immobiliers occupés par leur propriétaire qui sont détenus en propre et </a:t>
            </a:r>
            <a:r>
              <a:rPr lang="fr-CA" sz="1800" u="sng" dirty="0">
                <a:solidFill>
                  <a:srgbClr val="0070C0"/>
                </a:solidFill>
                <a:effectLst/>
                <a:latin typeface="&amp;quot"/>
                <a:ea typeface="Times New Roman" panose="02020603050405020304" pitchFamily="18" charset="0"/>
              </a:rPr>
              <a:t>IFRS 16</a:t>
            </a:r>
            <a:r>
              <a:rPr lang="fr-CA" sz="1800" dirty="0">
                <a:solidFill>
                  <a:srgbClr val="0070C0"/>
                </a:solidFill>
                <a:effectLst/>
                <a:latin typeface="&amp;quot"/>
                <a:ea typeface="Times New Roman" panose="02020603050405020304" pitchFamily="18" charset="0"/>
              </a:rPr>
              <a:t> s'applique aux biens immobiliers occupés par leur propriétaire qui sont détenus par le preneur en tant qu'actifs au titre des droits d'utilisation.</a:t>
            </a:r>
            <a:endParaRPr lang="fr-FR" sz="1800" dirty="0">
              <a:effectLst/>
              <a:latin typeface="Times New Roman" panose="02020603050405020304" pitchFamily="18" charset="0"/>
              <a:ea typeface="Times New Roman" panose="02020603050405020304" pitchFamily="18" charset="0"/>
            </a:endParaRPr>
          </a:p>
          <a:p>
            <a:pPr marL="0" indent="0" algn="l">
              <a:buNone/>
            </a:pPr>
            <a:r>
              <a:rPr lang="fr-CA" sz="9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fr-FR" sz="9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solidFill>
                  <a:srgbClr val="0070C0"/>
                </a:solidFill>
                <a:effectLst/>
                <a:latin typeface="Aptos" panose="020B0004020202020204" pitchFamily="34" charset="0"/>
                <a:ea typeface="Arial" panose="020B0604020202020204" pitchFamily="34" charset="0"/>
                <a:cs typeface="Arial" panose="020B0604020202020204" pitchFamily="34" charset="0"/>
              </a:rPr>
              <a:t>10       Certains biens immobiliers comprennent une partie qui est détenue pour en retirer des loyers ou réaliser une plus-value en capital et une autre partie qui est détenue pour être utilisée dans le processus de production ou de fourniture de biens ou de services ou à des fins administratives. Si ces deux parties peuvent être vendues séparément (ou louées séparément dans le cadre d'un contrat de location-financement), l'entité les comptabilise séparément. Si les deux parties ne peuvent être vendues séparément, le bien immobilier est un immeuble de placement seulement si la partie détenue pour être utilisée dans le processus de production ou de fourniture de biens ou de services à des fins administratives n'est pas significative.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solidFill>
                  <a:srgbClr val="0070C0"/>
                </a:solidFill>
                <a:effectLst/>
                <a:latin typeface="Aptos" panose="020B0004020202020204" pitchFamily="34" charset="0"/>
                <a:ea typeface="Arial" panose="020B060402020202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effectLst/>
                <a:latin typeface="Aptos" panose="020B0004020202020204" pitchFamily="34" charset="0"/>
                <a:ea typeface="Arial" panose="020B0604020202020204" pitchFamily="34" charset="0"/>
                <a:cs typeface="Arial" panose="020B0604020202020204" pitchFamily="34" charset="0"/>
              </a:rPr>
              <a:t>L’immeuble ne peut être vendu en partie, donc un classement pour l’ensemble de l’immeuble.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effectLst/>
                <a:latin typeface="Aptos" panose="020B0004020202020204" pitchFamily="34" charset="0"/>
                <a:ea typeface="Arial" panose="020B0604020202020204" pitchFamily="34" charset="0"/>
                <a:cs typeface="Arial" panose="020B0604020202020204" pitchFamily="34" charset="0"/>
              </a:rPr>
              <a:t>La partie occupée aux fins des activités de PSI représente 4 % de l’espace, soit 1 local sur 25, de superficie similaire.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r>
              <a:rPr lang="fr-CA" sz="1800" dirty="0">
                <a:effectLst/>
                <a:latin typeface="Aptos" panose="020B0004020202020204" pitchFamily="34" charset="0"/>
                <a:ea typeface="Arial" panose="020B0604020202020204" pitchFamily="34" charset="0"/>
                <a:cs typeface="Arial" panose="020B0604020202020204" pitchFamily="34" charset="0"/>
              </a:rPr>
              <a:t>Donc, cet immeuble sera classé comme un immeuble de placement.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2C3E9344-1070-599F-8D8B-5C0FE4EDC4EA}"/>
              </a:ext>
            </a:extLst>
          </p:cNvPr>
          <p:cNvSpPr>
            <a:spLocks noGrp="1"/>
          </p:cNvSpPr>
          <p:nvPr>
            <p:ph type="sldNum" sz="quarter" idx="12"/>
          </p:nvPr>
        </p:nvSpPr>
        <p:spPr/>
        <p:txBody>
          <a:bodyPr/>
          <a:lstStyle/>
          <a:p>
            <a:fld id="{F1FCC400-9845-4852-A9C9-E1406FDA319A}" type="slidenum">
              <a:rPr lang="fr-FR" smtClean="0"/>
              <a:t>35</a:t>
            </a:fld>
            <a:endParaRPr lang="fr-FR"/>
          </a:p>
        </p:txBody>
      </p:sp>
    </p:spTree>
    <p:extLst>
      <p:ext uri="{BB962C8B-B14F-4D97-AF65-F5344CB8AC3E}">
        <p14:creationId xmlns:p14="http://schemas.microsoft.com/office/powerpoint/2010/main" val="2797376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7DA033A-5C02-1D08-D74B-7B0B2E50C6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289460-26A2-2AB0-BC01-5319A235021A}"/>
              </a:ext>
            </a:extLst>
          </p:cNvPr>
          <p:cNvSpPr>
            <a:spLocks noGrp="1"/>
          </p:cNvSpPr>
          <p:nvPr>
            <p:ph type="title"/>
          </p:nvPr>
        </p:nvSpPr>
        <p:spPr/>
        <p:txBody>
          <a:bodyPr/>
          <a:lstStyle/>
          <a:p>
            <a:r>
              <a:rPr lang="fr-CA" sz="4000" dirty="0"/>
              <a:t>4- Immeuble de bureaux</a:t>
            </a:r>
            <a:endParaRPr lang="fr-FR" dirty="0"/>
          </a:p>
        </p:txBody>
      </p:sp>
      <p:sp>
        <p:nvSpPr>
          <p:cNvPr id="3" name="Espace réservé du contenu 2">
            <a:extLst>
              <a:ext uri="{FF2B5EF4-FFF2-40B4-BE49-F238E27FC236}">
                <a16:creationId xmlns:a16="http://schemas.microsoft.com/office/drawing/2014/main" id="{4BF46A1D-3982-EF47-5A58-A699E1624AD1}"/>
              </a:ext>
            </a:extLst>
          </p:cNvPr>
          <p:cNvSpPr>
            <a:spLocks noGrp="1"/>
          </p:cNvSpPr>
          <p:nvPr>
            <p:ph idx="1"/>
          </p:nvPr>
        </p:nvSpPr>
        <p:spPr>
          <a:xfrm>
            <a:off x="838200" y="1404257"/>
            <a:ext cx="10515600" cy="5236029"/>
          </a:xfrm>
        </p:spPr>
        <p:txBody>
          <a:bodyPr>
            <a:normAutofit/>
          </a:bodyPr>
          <a:lstStyle/>
          <a:p>
            <a:pPr marL="342900" lvl="0" indent="-342900" algn="l">
              <a:buFont typeface="+mj-lt"/>
              <a:buAutoNum type="arabicPeriod"/>
            </a:pPr>
            <a:r>
              <a:rPr lang="fr-CA" sz="1800" b="1" dirty="0">
                <a:solidFill>
                  <a:srgbClr val="000000"/>
                </a:solidFill>
                <a:effectLst/>
                <a:highlight>
                  <a:srgbClr val="FFFF00"/>
                </a:highlight>
                <a:latin typeface="Aptos" panose="020B0004020202020204" pitchFamily="34" charset="0"/>
                <a:ea typeface="Arial" panose="020B0604020202020204" pitchFamily="34" charset="0"/>
                <a:cs typeface="Arial" panose="020B0604020202020204" pitchFamily="34" charset="0"/>
              </a:rPr>
              <a:t>Enjeu Mesure initiale</a:t>
            </a:r>
          </a:p>
          <a:p>
            <a:pPr marL="0" lvl="0" indent="0" algn="l">
              <a:buNone/>
            </a:pPr>
            <a:endParaRPr lang="fr-FR" sz="1800" dirty="0">
              <a:effectLst/>
              <a:highlight>
                <a:srgbClr val="FFFF00"/>
              </a:highligh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Selon IAS 40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305"/>
              </a:spcBef>
              <a:spcAft>
                <a:spcPts val="305"/>
              </a:spcAft>
              <a:buNone/>
            </a:pPr>
            <a:r>
              <a:rPr lang="fr-CA" sz="1800" b="1" dirty="0">
                <a:solidFill>
                  <a:srgbClr val="0070C0"/>
                </a:solidFill>
                <a:effectLst/>
                <a:latin typeface="&amp;quot"/>
                <a:ea typeface="Times New Roman" panose="02020603050405020304" pitchFamily="18" charset="0"/>
                <a:cs typeface="Times New Roman" panose="02020603050405020304" pitchFamily="18" charset="0"/>
              </a:rPr>
              <a:t>Évaluation lors de la comptabilisation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20     Un immeuble de placement détenu en propre doit être évalué initialement à son coût. Les coûts de transaction doivent être inclus dans l'évaluation initiale.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85"/>
              </a:spcBef>
              <a:spcAft>
                <a:spcPts val="285"/>
              </a:spcAft>
              <a:buNone/>
            </a:pPr>
            <a:r>
              <a:rPr lang="fr-CA" sz="1800" dirty="0">
                <a:solidFill>
                  <a:srgbClr val="0070C0"/>
                </a:solidFill>
                <a:effectLst/>
                <a:latin typeface="&amp;quot"/>
                <a:ea typeface="Times New Roman" panose="02020603050405020304" pitchFamily="18" charset="0"/>
                <a:cs typeface="Times New Roman" panose="02020603050405020304" pitchFamily="18" charset="0"/>
              </a:rPr>
              <a:t>21     Le coût d'un immeuble de placement acheté comprend son prix d'achat et toutes les dépenses directement attribuables. Les dépenses directement attribuables sont, par exemple, les honoraires juridiques, les droits de mutation et autres coûts de transaction.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Il faut donc comptabiliser initialement l’immeuble à son coût d’acquisition (et non juste valeur) et il faut ajouter au coût de l’immeuble les honoraires du courtier de 2 %, soit 80 000 $ ainsi que les frais du notaire de 3 000 $ car il s’agit de dépenses directement attribuables à l’acquisition.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B883B24-01D4-69E3-BA07-F04F4F6FF476}"/>
              </a:ext>
            </a:extLst>
          </p:cNvPr>
          <p:cNvSpPr>
            <a:spLocks noGrp="1"/>
          </p:cNvSpPr>
          <p:nvPr>
            <p:ph type="sldNum" sz="quarter" idx="12"/>
          </p:nvPr>
        </p:nvSpPr>
        <p:spPr/>
        <p:txBody>
          <a:bodyPr/>
          <a:lstStyle/>
          <a:p>
            <a:fld id="{F1FCC400-9845-4852-A9C9-E1406FDA319A}" type="slidenum">
              <a:rPr lang="fr-FR" smtClean="0"/>
              <a:t>36</a:t>
            </a:fld>
            <a:endParaRPr lang="fr-FR"/>
          </a:p>
        </p:txBody>
      </p:sp>
    </p:spTree>
    <p:extLst>
      <p:ext uri="{BB962C8B-B14F-4D97-AF65-F5344CB8AC3E}">
        <p14:creationId xmlns:p14="http://schemas.microsoft.com/office/powerpoint/2010/main" val="39915115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9ACE6643-A104-D2D2-B82A-D44347A3DC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072AD1C-7A4F-EC76-1E26-DA22E40AB063}"/>
              </a:ext>
            </a:extLst>
          </p:cNvPr>
          <p:cNvSpPr>
            <a:spLocks noGrp="1"/>
          </p:cNvSpPr>
          <p:nvPr>
            <p:ph type="title"/>
          </p:nvPr>
        </p:nvSpPr>
        <p:spPr/>
        <p:txBody>
          <a:bodyPr/>
          <a:lstStyle/>
          <a:p>
            <a:r>
              <a:rPr lang="fr-CA" sz="4000" dirty="0"/>
              <a:t>4- Immeuble de bureaux</a:t>
            </a:r>
            <a:endParaRPr lang="fr-FR" dirty="0"/>
          </a:p>
        </p:txBody>
      </p:sp>
      <p:sp>
        <p:nvSpPr>
          <p:cNvPr id="3" name="Espace réservé du contenu 2">
            <a:extLst>
              <a:ext uri="{FF2B5EF4-FFF2-40B4-BE49-F238E27FC236}">
                <a16:creationId xmlns:a16="http://schemas.microsoft.com/office/drawing/2014/main" id="{5054A24F-7CF7-7ED4-4BA5-489EDC2EE680}"/>
              </a:ext>
            </a:extLst>
          </p:cNvPr>
          <p:cNvSpPr>
            <a:spLocks noGrp="1"/>
          </p:cNvSpPr>
          <p:nvPr>
            <p:ph idx="1"/>
          </p:nvPr>
        </p:nvSpPr>
        <p:spPr>
          <a:xfrm>
            <a:off x="838200" y="1404257"/>
            <a:ext cx="10515600" cy="5236029"/>
          </a:xfrm>
        </p:spPr>
        <p:txBody>
          <a:bodyPr>
            <a:normAutofit/>
          </a:bodyPr>
          <a:lstStyle/>
          <a:p>
            <a:pPr marL="0" lvl="0"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2. </a:t>
            </a:r>
            <a:r>
              <a:rPr lang="fr-CA" sz="1800" dirty="0">
                <a:solidFill>
                  <a:srgbClr val="000000"/>
                </a:solidFill>
                <a:effectLst/>
                <a:highlight>
                  <a:srgbClr val="FFFF00"/>
                </a:highlight>
                <a:latin typeface="Aptos" panose="020B0004020202020204" pitchFamily="34" charset="0"/>
                <a:ea typeface="Arial" panose="020B0604020202020204" pitchFamily="34" charset="0"/>
                <a:cs typeface="Arial" panose="020B0604020202020204" pitchFamily="34" charset="0"/>
              </a:rPr>
              <a:t>Mesure subséquente</a:t>
            </a:r>
            <a:endParaRPr lang="fr-FR" sz="1800" dirty="0">
              <a:effectLst/>
              <a:highlight>
                <a:srgbClr val="FFFF00"/>
              </a:highlight>
              <a:latin typeface="Verdana" panose="020B0604030504040204" pitchFamily="34" charset="0"/>
              <a:ea typeface="Calibri" panose="020F0502020204030204" pitchFamily="34" charset="0"/>
              <a:cs typeface="Times New Roman" panose="02020603050405020304" pitchFamily="18" charset="0"/>
            </a:endParaRPr>
          </a:p>
          <a:p>
            <a:pPr marL="0" indent="0">
              <a:spcBef>
                <a:spcPts val="305"/>
              </a:spcBef>
              <a:spcAft>
                <a:spcPts val="305"/>
              </a:spcAft>
              <a:buNone/>
            </a:pPr>
            <a:r>
              <a:rPr lang="fr-CA" sz="1800" b="1" dirty="0">
                <a:solidFill>
                  <a:srgbClr val="444444"/>
                </a:solidFill>
                <a:effectLst/>
                <a:latin typeface="&amp;quot"/>
                <a:ea typeface="Times New Roman" panose="02020603050405020304" pitchFamily="18" charset="0"/>
              </a:rPr>
              <a:t>Évaluation après comptabilisation</a:t>
            </a:r>
            <a:endParaRPr lang="fr-FR" sz="1800" dirty="0">
              <a:effectLst/>
              <a:latin typeface="Times New Roman" panose="02020603050405020304" pitchFamily="18" charset="0"/>
              <a:ea typeface="Times New Roman" panose="02020603050405020304" pitchFamily="18" charset="0"/>
            </a:endParaRPr>
          </a:p>
          <a:p>
            <a:pPr marL="0" indent="0">
              <a:spcBef>
                <a:spcPts val="305"/>
              </a:spcBef>
              <a:spcAft>
                <a:spcPts val="305"/>
              </a:spcAft>
              <a:buNone/>
            </a:pPr>
            <a:r>
              <a:rPr lang="fr-CA" sz="1800" dirty="0">
                <a:solidFill>
                  <a:srgbClr val="0070C0"/>
                </a:solidFill>
                <a:effectLst/>
                <a:latin typeface="&amp;quot"/>
                <a:ea typeface="Times New Roman" panose="02020603050405020304" pitchFamily="18" charset="0"/>
              </a:rPr>
              <a:t>Méthode comptable</a:t>
            </a:r>
            <a:endParaRPr lang="fr-FR" sz="1800" dirty="0">
              <a:effectLst/>
              <a:latin typeface="Times New Roman" panose="02020603050405020304" pitchFamily="18" charset="0"/>
              <a:ea typeface="Times New Roman" panose="02020603050405020304" pitchFamily="18" charset="0"/>
            </a:endParaRPr>
          </a:p>
          <a:p>
            <a:pPr marL="0" indent="0">
              <a:spcBef>
                <a:spcPts val="285"/>
              </a:spcBef>
              <a:spcAft>
                <a:spcPts val="285"/>
              </a:spcAft>
              <a:buNone/>
            </a:pPr>
            <a:r>
              <a:rPr lang="fr-CA" sz="1800" dirty="0">
                <a:solidFill>
                  <a:srgbClr val="0070C0"/>
                </a:solidFill>
                <a:effectLst/>
                <a:latin typeface="&amp;quot"/>
                <a:ea typeface="Times New Roman" panose="02020603050405020304" pitchFamily="18" charset="0"/>
              </a:rPr>
              <a:t>30     Sous réserve de l'exception prévue au paragraphe </a:t>
            </a:r>
            <a:r>
              <a:rPr lang="fr-CA" sz="1800" u="sng" dirty="0">
                <a:solidFill>
                  <a:srgbClr val="0070C0"/>
                </a:solidFill>
                <a:effectLst/>
                <a:latin typeface="&amp;quot"/>
                <a:ea typeface="Calibri" panose="020F0502020204030204" pitchFamily="34" charset="0"/>
              </a:rPr>
              <a:t>32A</a:t>
            </a:r>
            <a:r>
              <a:rPr lang="fr-CA" sz="1800" dirty="0">
                <a:solidFill>
                  <a:srgbClr val="0070C0"/>
                </a:solidFill>
                <a:effectLst/>
                <a:latin typeface="&amp;quot"/>
                <a:ea typeface="Times New Roman" panose="02020603050405020304" pitchFamily="18" charset="0"/>
              </a:rPr>
              <a:t>, une entité doit choisir comme méthode comptable soit le modèle de la juste valeur décrit aux paragraphes </a:t>
            </a:r>
            <a:r>
              <a:rPr lang="fr-CA" sz="1800" u="sng" dirty="0">
                <a:solidFill>
                  <a:srgbClr val="0070C0"/>
                </a:solidFill>
                <a:effectLst/>
                <a:latin typeface="&amp;quot"/>
                <a:ea typeface="Calibri" panose="020F0502020204030204" pitchFamily="34" charset="0"/>
              </a:rPr>
              <a:t>33</a:t>
            </a:r>
            <a:r>
              <a:rPr lang="fr-CA" sz="1800" dirty="0">
                <a:solidFill>
                  <a:srgbClr val="0070C0"/>
                </a:solidFill>
                <a:effectLst/>
                <a:latin typeface="&amp;quot"/>
                <a:ea typeface="Times New Roman" panose="02020603050405020304" pitchFamily="18" charset="0"/>
              </a:rPr>
              <a:t> à 55, soit le modèle du coût décrit au paragraphe </a:t>
            </a:r>
            <a:r>
              <a:rPr lang="fr-CA" sz="1800" u="sng" dirty="0">
                <a:solidFill>
                  <a:srgbClr val="0070C0"/>
                </a:solidFill>
                <a:effectLst/>
                <a:latin typeface="&amp;quot"/>
                <a:ea typeface="Calibri" panose="020F0502020204030204" pitchFamily="34" charset="0"/>
              </a:rPr>
              <a:t>56</a:t>
            </a:r>
            <a:r>
              <a:rPr lang="fr-CA" sz="1800" dirty="0">
                <a:solidFill>
                  <a:srgbClr val="0070C0"/>
                </a:solidFill>
                <a:effectLst/>
                <a:latin typeface="&amp;quot"/>
                <a:ea typeface="Times New Roman" panose="02020603050405020304" pitchFamily="18" charset="0"/>
              </a:rPr>
              <a:t>, et doit appliquer cette méthode à tous ses immeubles de placement.</a:t>
            </a:r>
            <a:endParaRPr lang="fr-FR" sz="1800" dirty="0">
              <a:effectLst/>
              <a:latin typeface="Times New Roman" panose="02020603050405020304" pitchFamily="18" charset="0"/>
              <a:ea typeface="Times New Roman" panose="02020603050405020304" pitchFamily="18" charset="0"/>
            </a:endParaRPr>
          </a:p>
          <a:p>
            <a:pPr indent="0" algn="l">
              <a:spcBef>
                <a:spcPts val="225"/>
              </a:spcBef>
              <a:spcAft>
                <a:spcPts val="225"/>
              </a:spcAft>
              <a:buNone/>
            </a:pPr>
            <a:r>
              <a:rPr lang="fr-CA" sz="1800" dirty="0">
                <a:effectLst/>
                <a:latin typeface="Aptos" panose="020B0004020202020204" pitchFamily="34" charset="0"/>
                <a:ea typeface="Arial" panose="020B0604020202020204" pitchFamily="34" charset="0"/>
                <a:cs typeface="Arial" panose="020B0604020202020204" pitchFamily="34" charset="0"/>
              </a:rPr>
              <a:t>Donc choix de méthode comptable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442913" lvl="0" indent="-179388" algn="l">
              <a:spcBef>
                <a:spcPts val="225"/>
              </a:spcBef>
              <a:spcAft>
                <a:spcPts val="225"/>
              </a:spcAft>
              <a:buFont typeface="Aptos" panose="020B0004020202020204" pitchFamily="34" charset="0"/>
              <a:buChar char="-"/>
            </a:pPr>
            <a:r>
              <a:rPr lang="fr-CA" sz="1800" dirty="0">
                <a:effectLst/>
                <a:latin typeface="Aptos" panose="020B0004020202020204" pitchFamily="34" charset="0"/>
                <a:ea typeface="Arial" panose="020B0604020202020204" pitchFamily="34" charset="0"/>
                <a:cs typeface="Arial" panose="020B0604020202020204" pitchFamily="34" charset="0"/>
              </a:rPr>
              <a:t>Modèle du coût qui présente l’actif au coût, net de l’amortissement cumulé et d’éventuelles dépréciations.</a:t>
            </a:r>
            <a:endParaRPr lang="fr-FR" sz="1800" dirty="0">
              <a:effectLst/>
              <a:latin typeface="Verdana" panose="020B0604030504040204" pitchFamily="34" charset="0"/>
              <a:ea typeface="Arial" panose="020B0604020202020204" pitchFamily="34" charset="0"/>
              <a:cs typeface="Arial" panose="020B0604020202020204" pitchFamily="34" charset="0"/>
            </a:endParaRPr>
          </a:p>
          <a:p>
            <a:pPr marL="442913" lvl="0" indent="-179388" algn="l">
              <a:spcBef>
                <a:spcPts val="225"/>
              </a:spcBef>
              <a:spcAft>
                <a:spcPts val="225"/>
              </a:spcAft>
              <a:buFont typeface="Aptos" panose="020B0004020202020204" pitchFamily="34" charset="0"/>
              <a:buChar char="-"/>
            </a:pPr>
            <a:r>
              <a:rPr lang="fr-CA" sz="1800" dirty="0">
                <a:effectLst/>
                <a:latin typeface="Aptos" panose="020B0004020202020204" pitchFamily="34" charset="0"/>
                <a:ea typeface="Arial" panose="020B0604020202020204" pitchFamily="34" charset="0"/>
                <a:cs typeface="Arial" panose="020B0604020202020204" pitchFamily="34" charset="0"/>
              </a:rPr>
              <a:t>Modèle de la juste valeur qui présente l’actif à la juste valeur, les gains/pertes sont présentés au résultat net, pas d’amortissement</a:t>
            </a:r>
            <a:endParaRPr lang="fr-FR" sz="1800" dirty="0">
              <a:effectLst/>
              <a:latin typeface="Verdana" panose="020B0604030504040204" pitchFamily="34" charset="0"/>
              <a:ea typeface="Arial" panose="020B0604020202020204" pitchFamily="34" charset="0"/>
              <a:cs typeface="Arial" panose="020B0604020202020204" pitchFamily="34" charset="0"/>
            </a:endParaRPr>
          </a:p>
          <a:p>
            <a:pPr indent="0" algn="l">
              <a:spcBef>
                <a:spcPts val="225"/>
              </a:spcBef>
              <a:spcAft>
                <a:spcPts val="225"/>
              </a:spcAft>
              <a:buNone/>
            </a:pPr>
            <a:endParaRPr lang="fr-FR" sz="1800" dirty="0">
              <a:latin typeface="Verdana" panose="020B0604030504040204" pitchFamily="34" charset="0"/>
              <a:ea typeface="Arial" panose="020B060402020202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Je recommande le modèle de la juste valeur </a:t>
            </a:r>
            <a:r>
              <a:rPr lang="fr-CA" sz="1800" u="sng" dirty="0">
                <a:solidFill>
                  <a:srgbClr val="000000"/>
                </a:solidFill>
                <a:effectLst/>
                <a:latin typeface="Aptos" panose="020B0004020202020204" pitchFamily="34" charset="0"/>
                <a:ea typeface="Arial" panose="020B0604020202020204" pitchFamily="34" charset="0"/>
                <a:cs typeface="Arial" panose="020B0604020202020204" pitchFamily="34" charset="0"/>
              </a:rPr>
              <a:t>car</a:t>
            </a: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selon l’énoncé : « Alexandre a mentionné que les choix de traitements comptables doivent viser à augmenter le résultat net lorsque possible, afin d’éventuellement intéresser un prêteur afin de financer l’expansion souhaitée. » Les données prédisent une hausse du marché immobilier pour les prochaines années, donc gains de valeur attendus, ce qui augmentera le résultat net.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74395916-F4C1-F88B-12C2-D5DFDC0A6788}"/>
              </a:ext>
            </a:extLst>
          </p:cNvPr>
          <p:cNvSpPr>
            <a:spLocks noGrp="1"/>
          </p:cNvSpPr>
          <p:nvPr>
            <p:ph type="sldNum" sz="quarter" idx="12"/>
          </p:nvPr>
        </p:nvSpPr>
        <p:spPr/>
        <p:txBody>
          <a:bodyPr/>
          <a:lstStyle/>
          <a:p>
            <a:fld id="{F1FCC400-9845-4852-A9C9-E1406FDA319A}" type="slidenum">
              <a:rPr lang="fr-FR" smtClean="0"/>
              <a:t>37</a:t>
            </a:fld>
            <a:endParaRPr lang="fr-FR"/>
          </a:p>
        </p:txBody>
      </p:sp>
    </p:spTree>
    <p:extLst>
      <p:ext uri="{BB962C8B-B14F-4D97-AF65-F5344CB8AC3E}">
        <p14:creationId xmlns:p14="http://schemas.microsoft.com/office/powerpoint/2010/main" val="4114614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79DDFFCF-A834-4CFA-750F-3A146130BB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DEBF92-67E9-0E2E-A3B9-DA99032BFE61}"/>
              </a:ext>
            </a:extLst>
          </p:cNvPr>
          <p:cNvSpPr>
            <a:spLocks noGrp="1"/>
          </p:cNvSpPr>
          <p:nvPr>
            <p:ph type="title"/>
          </p:nvPr>
        </p:nvSpPr>
        <p:spPr/>
        <p:txBody>
          <a:bodyPr/>
          <a:lstStyle/>
          <a:p>
            <a:r>
              <a:rPr lang="fr-CA" sz="4000" dirty="0"/>
              <a:t>4- Immeuble de bureaux</a:t>
            </a:r>
            <a:endParaRPr lang="fr-FR" dirty="0"/>
          </a:p>
        </p:txBody>
      </p:sp>
      <p:sp>
        <p:nvSpPr>
          <p:cNvPr id="3" name="Espace réservé du contenu 2">
            <a:extLst>
              <a:ext uri="{FF2B5EF4-FFF2-40B4-BE49-F238E27FC236}">
                <a16:creationId xmlns:a16="http://schemas.microsoft.com/office/drawing/2014/main" id="{33071983-F371-5E36-D3EC-8B4988749992}"/>
              </a:ext>
            </a:extLst>
          </p:cNvPr>
          <p:cNvSpPr>
            <a:spLocks noGrp="1"/>
          </p:cNvSpPr>
          <p:nvPr>
            <p:ph idx="1"/>
          </p:nvPr>
        </p:nvSpPr>
        <p:spPr>
          <a:xfrm>
            <a:off x="838200" y="1404257"/>
            <a:ext cx="10515600" cy="5236029"/>
          </a:xfrm>
        </p:spPr>
        <p:txBody>
          <a:bodyPr>
            <a:normAutofit fontScale="92500" lnSpcReduction="10000"/>
          </a:bodyPr>
          <a:lstStyle/>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Selon IFRS 13</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70C0"/>
                </a:solidFill>
                <a:effectLst/>
                <a:latin typeface="Verdana" panose="020B0604030504040204" pitchFamily="34" charset="0"/>
                <a:ea typeface="Times New Roman" panose="02020603050405020304" pitchFamily="18" charset="0"/>
                <a:cs typeface="Arial" panose="020B0604020202020204" pitchFamily="34" charset="0"/>
              </a:rPr>
              <a:t>25       Le prix sur le marché principal (ou le marché le plus avantageux) utilisé pour déterminer la juste valeur de l'actif ou du passif </a:t>
            </a:r>
            <a:r>
              <a:rPr lang="fr-CA" sz="1800" dirty="0">
                <a:solidFill>
                  <a:srgbClr val="0070C0"/>
                </a:solidFill>
                <a:effectLst/>
                <a:highlight>
                  <a:srgbClr val="FFFF00"/>
                </a:highlight>
                <a:latin typeface="Verdana" panose="020B0604030504040204" pitchFamily="34" charset="0"/>
                <a:ea typeface="Times New Roman" panose="02020603050405020304" pitchFamily="18" charset="0"/>
                <a:cs typeface="Arial" panose="020B0604020202020204" pitchFamily="34" charset="0"/>
              </a:rPr>
              <a:t>ne doit pas être ajusté en fonction des </a:t>
            </a:r>
            <a:r>
              <a:rPr lang="fr-CA" sz="1800" i="1" dirty="0">
                <a:solidFill>
                  <a:srgbClr val="0070C0"/>
                </a:solidFill>
                <a:effectLst/>
                <a:highlight>
                  <a:srgbClr val="FFFF00"/>
                </a:highlight>
                <a:latin typeface="Verdana" panose="020B0604030504040204" pitchFamily="34" charset="0"/>
                <a:ea typeface="Times New Roman" panose="02020603050405020304" pitchFamily="18" charset="0"/>
                <a:cs typeface="Arial" panose="020B0604020202020204" pitchFamily="34" charset="0"/>
              </a:rPr>
              <a:t>coûts de transaction</a:t>
            </a:r>
            <a:r>
              <a:rPr lang="fr-CA" sz="1800" dirty="0">
                <a:solidFill>
                  <a:srgbClr val="0070C0"/>
                </a:solidFill>
                <a:effectLst/>
                <a:latin typeface="Verdana" panose="020B0604030504040204" pitchFamily="34" charset="0"/>
                <a:ea typeface="Times New Roman" panose="02020603050405020304" pitchFamily="18" charset="0"/>
                <a:cs typeface="Arial" panose="020B0604020202020204" pitchFamily="34" charset="0"/>
              </a:rPr>
              <a:t>. Les coûts de transaction doivent être comptabilisés selon d'autres IFRS. Ils ne constituent pas une caractéristique d'un actif ou d'un passif ; ils sont plutôt propres à la transaction et diffèrent selon la façon dont l'entité conclut une transaction sur l'actif ou le passif.</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Juste valeur au 31 décembre : 4 450 000 $, et selon IFRS 13 par. 25 il ne faut pas déduire les frais de vente – honoraires du courtier prévus à 7 %.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Écritures de correction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5 juillet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Immeuble de placement		4 083 000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Immobilisation corporelle 		4 000 000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Charge – frais courtier et notaire	      83 000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31 décembre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Immeuble de placement		   367 000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l">
              <a:spcBef>
                <a:spcPts val="225"/>
              </a:spcBef>
              <a:spcAft>
                <a:spcPts val="225"/>
              </a:spcAft>
              <a:buNone/>
            </a:pPr>
            <a:r>
              <a:rPr lang="fr-CA" sz="1800" dirty="0">
                <a:solidFill>
                  <a:srgbClr val="000000"/>
                </a:solidFill>
                <a:effectLst/>
                <a:latin typeface="Aptos" panose="020B0004020202020204" pitchFamily="34" charset="0"/>
                <a:ea typeface="Arial" panose="020B0604020202020204" pitchFamily="34" charset="0"/>
                <a:cs typeface="Arial" panose="020B0604020202020204" pitchFamily="34" charset="0"/>
              </a:rPr>
              <a:t>@ Gain au résultat net			   367 000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73EB358A-E1E7-9B88-7941-FC122CE29EDF}"/>
              </a:ext>
            </a:extLst>
          </p:cNvPr>
          <p:cNvSpPr>
            <a:spLocks noGrp="1"/>
          </p:cNvSpPr>
          <p:nvPr>
            <p:ph type="sldNum" sz="quarter" idx="12"/>
          </p:nvPr>
        </p:nvSpPr>
        <p:spPr/>
        <p:txBody>
          <a:bodyPr/>
          <a:lstStyle/>
          <a:p>
            <a:fld id="{F1FCC400-9845-4852-A9C9-E1406FDA319A}" type="slidenum">
              <a:rPr lang="fr-FR" smtClean="0"/>
              <a:t>38</a:t>
            </a:fld>
            <a:endParaRPr lang="fr-FR"/>
          </a:p>
        </p:txBody>
      </p:sp>
    </p:spTree>
    <p:extLst>
      <p:ext uri="{BB962C8B-B14F-4D97-AF65-F5344CB8AC3E}">
        <p14:creationId xmlns:p14="http://schemas.microsoft.com/office/powerpoint/2010/main" val="2421145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99BB9104-B893-12B3-127E-85A35C1DBB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D474CF-8C2A-0451-507B-156F0E894D2F}"/>
              </a:ext>
            </a:extLst>
          </p:cNvPr>
          <p:cNvSpPr>
            <a:spLocks noGrp="1"/>
          </p:cNvSpPr>
          <p:nvPr>
            <p:ph type="title"/>
          </p:nvPr>
        </p:nvSpPr>
        <p:spPr/>
        <p:txBody>
          <a:bodyPr/>
          <a:lstStyle/>
          <a:p>
            <a:r>
              <a:rPr lang="fr-CA" sz="4000" dirty="0"/>
              <a:t>Indicateur 4- Immeuble de bureaux</a:t>
            </a:r>
            <a:endParaRPr lang="fr-FR" dirty="0"/>
          </a:p>
        </p:txBody>
      </p:sp>
      <p:sp>
        <p:nvSpPr>
          <p:cNvPr id="3" name="Espace réservé du contenu 2">
            <a:extLst>
              <a:ext uri="{FF2B5EF4-FFF2-40B4-BE49-F238E27FC236}">
                <a16:creationId xmlns:a16="http://schemas.microsoft.com/office/drawing/2014/main" id="{EA1ECAD9-FD8B-3889-1E08-524244CF37F4}"/>
              </a:ext>
            </a:extLst>
          </p:cNvPr>
          <p:cNvSpPr>
            <a:spLocks noGrp="1"/>
          </p:cNvSpPr>
          <p:nvPr>
            <p:ph idx="1"/>
          </p:nvPr>
        </p:nvSpPr>
        <p:spPr/>
        <p:txBody>
          <a:bodyPr>
            <a:normAutofit/>
          </a:bodyPr>
          <a:lstStyle/>
          <a:p>
            <a:r>
              <a:rPr lang="fr-CA" sz="2400" dirty="0"/>
              <a:t>EVC – 3 pts : Analyse Nature OU Mesure OU les deux avec petites erreurs</a:t>
            </a: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Nature ET Mesure, norme et application au cas, ok si petite erreur sur la juste valeur (considère frais courtier)</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Nature ET Mesure, norme et application au cas</a:t>
            </a:r>
          </a:p>
          <a:p>
            <a:pPr marL="0" indent="0">
              <a:buNone/>
            </a:pPr>
            <a:r>
              <a:rPr lang="fr-CA" sz="2400" dirty="0">
                <a:effectLst/>
                <a:latin typeface="Arial Narrow" panose="020B0606020202030204" pitchFamily="34" charset="0"/>
                <a:ea typeface="Calibri" panose="020F0502020204030204" pitchFamily="34" charset="0"/>
                <a:cs typeface="Arial" panose="020B0604020202020204" pitchFamily="34" charset="0"/>
              </a:rPr>
              <a:t>ET recommandation méthode comptable en lien avec demande d'Alexandre OU écritures de correction</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C  (5 pts)</a:t>
            </a:r>
          </a:p>
          <a:p>
            <a:pPr marL="0" indent="0">
              <a:buNone/>
            </a:pPr>
            <a:r>
              <a:rPr lang="fr-FR" sz="2400" i="1" dirty="0">
                <a:solidFill>
                  <a:srgbClr val="FF0000"/>
                </a:solidFill>
              </a:rPr>
              <a:t>Moyenne : 3,73</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671D987B-3AD6-7548-82FF-47C9430090AD}"/>
              </a:ext>
            </a:extLst>
          </p:cNvPr>
          <p:cNvSpPr>
            <a:spLocks noGrp="1"/>
          </p:cNvSpPr>
          <p:nvPr>
            <p:ph type="sldNum" sz="quarter" idx="12"/>
          </p:nvPr>
        </p:nvSpPr>
        <p:spPr/>
        <p:txBody>
          <a:bodyPr/>
          <a:lstStyle/>
          <a:p>
            <a:fld id="{F1FCC400-9845-4852-A9C9-E1406FDA319A}" type="slidenum">
              <a:rPr lang="fr-FR" smtClean="0"/>
              <a:t>39</a:t>
            </a:fld>
            <a:endParaRPr lang="fr-FR"/>
          </a:p>
        </p:txBody>
      </p:sp>
    </p:spTree>
    <p:extLst>
      <p:ext uri="{BB962C8B-B14F-4D97-AF65-F5344CB8AC3E}">
        <p14:creationId xmlns:p14="http://schemas.microsoft.com/office/powerpoint/2010/main" val="2205251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2D25589-DA1A-2B57-520A-3CC14F07E10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15B975-4E62-97F7-004A-185C9B895B1F}"/>
              </a:ext>
            </a:extLst>
          </p:cNvPr>
          <p:cNvSpPr>
            <a:spLocks noGrp="1"/>
          </p:cNvSpPr>
          <p:nvPr>
            <p:ph type="title"/>
          </p:nvPr>
        </p:nvSpPr>
        <p:spPr/>
        <p:txBody>
          <a:bodyPr>
            <a:normAutofit/>
          </a:bodyPr>
          <a:lstStyle/>
          <a:p>
            <a:r>
              <a:rPr lang="fr-CA" sz="4000" dirty="0"/>
              <a:t>Indicateur 4- Immeuble de bureaux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A193C271-B0C4-2B57-9BB4-87BDB5B8E6D8}"/>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26FB3188-D6E6-7F99-2578-A2732365F380}"/>
              </a:ext>
            </a:extLst>
          </p:cNvPr>
          <p:cNvSpPr>
            <a:spLocks noGrp="1"/>
          </p:cNvSpPr>
          <p:nvPr>
            <p:ph type="sldNum" sz="quarter" idx="12"/>
          </p:nvPr>
        </p:nvSpPr>
        <p:spPr/>
        <p:txBody>
          <a:bodyPr/>
          <a:lstStyle/>
          <a:p>
            <a:fld id="{F1FCC400-9845-4852-A9C9-E1406FDA319A}" type="slidenum">
              <a:rPr lang="fr-FR" smtClean="0"/>
              <a:t>40</a:t>
            </a:fld>
            <a:endParaRPr lang="fr-FR"/>
          </a:p>
        </p:txBody>
      </p:sp>
      <p:sp>
        <p:nvSpPr>
          <p:cNvPr id="5" name="ZoneTexte 4">
            <a:extLst>
              <a:ext uri="{FF2B5EF4-FFF2-40B4-BE49-F238E27FC236}">
                <a16:creationId xmlns:a16="http://schemas.microsoft.com/office/drawing/2014/main" id="{AA56CFFF-4421-C952-9149-C99513BD3898}"/>
              </a:ext>
            </a:extLst>
          </p:cNvPr>
          <p:cNvSpPr txBox="1"/>
          <p:nvPr/>
        </p:nvSpPr>
        <p:spPr>
          <a:xfrm>
            <a:off x="838200" y="2422689"/>
            <a:ext cx="10515600" cy="1569660"/>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N</a:t>
            </a:r>
            <a:r>
              <a:rPr lang="fr-FR" sz="2400" dirty="0">
                <a:effectLst/>
                <a:latin typeface="Aptos" panose="020B0004020202020204" pitchFamily="34" charset="0"/>
                <a:ea typeface="Times New Roman" panose="02020603050405020304" pitchFamily="18" charset="0"/>
                <a:cs typeface="Aptos" panose="020B0004020202020204" pitchFamily="34" charset="0"/>
              </a:rPr>
              <a:t>ature très bien réussi et bonne mesure initiale mais peu d’analyse des choix de méthode subséquente. Les étudiants ne voient pas qu’il faut analyser les options avant de conclure. La majorité saute à la conclusion tout de suite.</a:t>
            </a:r>
            <a:endParaRPr lang="fr-FR" sz="2400" dirty="0">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929655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14C48BD0-4CC7-1E12-7717-A7BB0654F2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8C610F-7BD1-C5A5-6855-7FF72843C502}"/>
              </a:ext>
            </a:extLst>
          </p:cNvPr>
          <p:cNvSpPr>
            <a:spLocks noGrp="1"/>
          </p:cNvSpPr>
          <p:nvPr>
            <p:ph type="title"/>
          </p:nvPr>
        </p:nvSpPr>
        <p:spPr/>
        <p:txBody>
          <a:bodyPr>
            <a:normAutofit/>
          </a:bodyPr>
          <a:lstStyle/>
          <a:p>
            <a:r>
              <a:rPr lang="fr-CA" sz="4000" dirty="0">
                <a:solidFill>
                  <a:srgbClr val="FF0000"/>
                </a:solidFill>
              </a:rPr>
              <a:t>5- Terres agricoles</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484E3666-68DD-01B0-45EE-3CC29D04BCBC}"/>
              </a:ext>
            </a:extLst>
          </p:cNvPr>
          <p:cNvSpPr>
            <a:spLocks noGrp="1"/>
          </p:cNvSpPr>
          <p:nvPr>
            <p:ph idx="1"/>
          </p:nvPr>
        </p:nvSpPr>
        <p:spPr>
          <a:xfrm>
            <a:off x="838200" y="1197204"/>
            <a:ext cx="10515600" cy="5456112"/>
          </a:xfrm>
        </p:spPr>
        <p:txBody>
          <a:bodyPr>
            <a:noAutofit/>
          </a:bodyPr>
          <a:lstStyle/>
          <a:p>
            <a:pPr marL="0" indent="0" algn="just">
              <a:lnSpc>
                <a:spcPct val="115000"/>
              </a:lnSpc>
              <a:buNone/>
            </a:pPr>
            <a:r>
              <a:rPr lang="fr-CA" sz="2000" dirty="0">
                <a:effectLst/>
                <a:latin typeface="Arial" panose="020B0604020202020204" pitchFamily="34" charset="0"/>
                <a:ea typeface="Times New Roman" panose="02020603050405020304" pitchFamily="18" charset="0"/>
                <a:cs typeface="Arial" panose="020B0604020202020204" pitchFamily="34" charset="0"/>
              </a:rPr>
              <a:t>Lors de la transaction, il a été mentionné à Alexandre que les terres de la ferme pourraient peut-être être présentées à leur juste valeur dans l’état de la situation financière de PSI. Alexandre s’est montré intéressé et a demandé à en savoir plus à ce sujet.</a:t>
            </a:r>
          </a:p>
          <a:p>
            <a:pPr marL="0" indent="0" algn="just">
              <a:lnSpc>
                <a:spcPct val="115000"/>
              </a:lnSpc>
              <a:buNone/>
            </a:pPr>
            <a:endParaRPr lang="fr-CA" sz="2000" dirty="0">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15000"/>
              </a:lnSpc>
              <a:buNone/>
            </a:pPr>
            <a:r>
              <a:rPr lang="fr-CA" sz="2000" i="1" dirty="0">
                <a:effectLst/>
                <a:latin typeface="Arial" panose="020B0604020202020204" pitchFamily="34" charset="0"/>
                <a:ea typeface="Times New Roman" panose="02020603050405020304" pitchFamily="18" charset="0"/>
                <a:cs typeface="Arial" panose="020B0604020202020204" pitchFamily="34" charset="0"/>
              </a:rPr>
              <a:t>Terres agricoles</a:t>
            </a:r>
            <a:endParaRPr lang="fr-FR" sz="20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2000" dirty="0">
                <a:effectLst/>
                <a:latin typeface="Arial" panose="020B0604020202020204" pitchFamily="34" charset="0"/>
                <a:ea typeface="Times New Roman" panose="02020603050405020304" pitchFamily="18" charset="0"/>
                <a:cs typeface="Arial" panose="020B0604020202020204" pitchFamily="34" charset="0"/>
              </a:rPr>
              <a:t>La ferme possède 200 hectares de terres agricoles qu’elle exploite pour l’élevage des animaux. PSI a acquis ces terres pour un montant de 3 000 000 $. Selon le rôle d’évaluation municipale de 2024, la valeur de ces terres zonées </a:t>
            </a:r>
            <a:r>
              <a:rPr lang="fr-CA" sz="2000" i="1" dirty="0">
                <a:effectLst/>
                <a:latin typeface="Arial" panose="020B0604020202020204" pitchFamily="34" charset="0"/>
                <a:ea typeface="Times New Roman" panose="02020603050405020304" pitchFamily="18" charset="0"/>
                <a:cs typeface="Arial" panose="020B0604020202020204" pitchFamily="34" charset="0"/>
              </a:rPr>
              <a:t>vert</a:t>
            </a:r>
            <a:r>
              <a:rPr lang="fr-CA" sz="2000" dirty="0">
                <a:effectLst/>
                <a:latin typeface="Arial" panose="020B0604020202020204" pitchFamily="34" charset="0"/>
                <a:ea typeface="Times New Roman" panose="02020603050405020304" pitchFamily="18" charset="0"/>
                <a:cs typeface="Arial" panose="020B0604020202020204" pitchFamily="34" charset="0"/>
              </a:rPr>
              <a:t> a été établie à 2 500 000 $. Il est toutefois connu dans l’industrie que les évaluations municipales sous-estiment la valeur réelle des terres agricoles. </a:t>
            </a:r>
            <a:endParaRPr lang="fr-FR" sz="20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2000" dirty="0">
                <a:effectLst/>
                <a:latin typeface="Arial" panose="020B0604020202020204" pitchFamily="34" charset="0"/>
                <a:ea typeface="Times New Roman" panose="02020603050405020304" pitchFamily="18" charset="0"/>
                <a:cs typeface="Arial" panose="020B0604020202020204" pitchFamily="34" charset="0"/>
              </a:rPr>
              <a:t>En décembre, PSI a refusé une offre écrite de 3 100 000 $ d’un voisin qui voyait d’un mauvais œil l’arrivée d’un étranger dans son environnement. Dans la région, le Fonds d’investissement agricole a acquis des terres agricoles de qualité équivalente, zonées </a:t>
            </a:r>
            <a:r>
              <a:rPr lang="fr-CA" sz="2000" i="1" dirty="0">
                <a:effectLst/>
                <a:latin typeface="Arial" panose="020B0604020202020204" pitchFamily="34" charset="0"/>
                <a:ea typeface="Times New Roman" panose="02020603050405020304" pitchFamily="18" charset="0"/>
                <a:cs typeface="Arial" panose="020B0604020202020204" pitchFamily="34" charset="0"/>
              </a:rPr>
              <a:t>vert</a:t>
            </a:r>
            <a:r>
              <a:rPr lang="fr-CA" sz="2000" dirty="0">
                <a:effectLst/>
                <a:latin typeface="Arial" panose="020B0604020202020204" pitchFamily="34" charset="0"/>
                <a:ea typeface="Times New Roman" panose="02020603050405020304" pitchFamily="18" charset="0"/>
                <a:cs typeface="Arial" panose="020B0604020202020204" pitchFamily="34" charset="0"/>
              </a:rPr>
              <a:t> également, au prix de 16 000 $ l’hectare, à la fin du mois de décembre 2024.</a:t>
            </a:r>
            <a:endParaRPr lang="fr-FR" sz="2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979E99B0-D076-AFFB-878B-F4F30C46943D}"/>
              </a:ext>
            </a:extLst>
          </p:cNvPr>
          <p:cNvSpPr>
            <a:spLocks noGrp="1"/>
          </p:cNvSpPr>
          <p:nvPr>
            <p:ph type="sldNum" sz="quarter" idx="12"/>
          </p:nvPr>
        </p:nvSpPr>
        <p:spPr/>
        <p:txBody>
          <a:bodyPr/>
          <a:lstStyle/>
          <a:p>
            <a:fld id="{F1FCC400-9845-4852-A9C9-E1406FDA319A}" type="slidenum">
              <a:rPr lang="fr-FR" smtClean="0"/>
              <a:t>41</a:t>
            </a:fld>
            <a:endParaRPr lang="fr-FR"/>
          </a:p>
        </p:txBody>
      </p:sp>
    </p:spTree>
    <p:extLst>
      <p:ext uri="{BB962C8B-B14F-4D97-AF65-F5344CB8AC3E}">
        <p14:creationId xmlns:p14="http://schemas.microsoft.com/office/powerpoint/2010/main" val="3963437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8F04B41-C3B9-5179-0122-AD214F683E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95A5AC-C337-D6BB-029E-FBD50D85D516}"/>
              </a:ext>
            </a:extLst>
          </p:cNvPr>
          <p:cNvSpPr>
            <a:spLocks noGrp="1"/>
          </p:cNvSpPr>
          <p:nvPr>
            <p:ph type="title"/>
          </p:nvPr>
        </p:nvSpPr>
        <p:spPr/>
        <p:txBody>
          <a:bodyPr/>
          <a:lstStyle/>
          <a:p>
            <a:r>
              <a:rPr lang="fr-CA" sz="4000" dirty="0"/>
              <a:t>5- Terres agricoles</a:t>
            </a:r>
            <a:endParaRPr lang="fr-FR" dirty="0"/>
          </a:p>
        </p:txBody>
      </p:sp>
      <p:sp>
        <p:nvSpPr>
          <p:cNvPr id="3" name="Espace réservé du contenu 2">
            <a:extLst>
              <a:ext uri="{FF2B5EF4-FFF2-40B4-BE49-F238E27FC236}">
                <a16:creationId xmlns:a16="http://schemas.microsoft.com/office/drawing/2014/main" id="{C4539612-CBB3-FC65-F985-CD36E6DB56FD}"/>
              </a:ext>
            </a:extLst>
          </p:cNvPr>
          <p:cNvSpPr>
            <a:spLocks noGrp="1"/>
          </p:cNvSpPr>
          <p:nvPr>
            <p:ph idx="1"/>
          </p:nvPr>
        </p:nvSpPr>
        <p:spPr>
          <a:xfrm>
            <a:off x="838200" y="1404257"/>
            <a:ext cx="10515600" cy="5236029"/>
          </a:xfrm>
        </p:spPr>
        <p:txBody>
          <a:bodyPr>
            <a:normAutofit/>
          </a:bodyPr>
          <a:lstStyle/>
          <a:p>
            <a:pPr marL="0" indent="0" algn="just">
              <a:buNone/>
            </a:pPr>
            <a:r>
              <a:rPr lang="fr-CA" sz="1800" b="1" u="sng" cap="small" dirty="0">
                <a:effectLst/>
                <a:latin typeface="Verdana" panose="020B0604030504040204" pitchFamily="34" charset="0"/>
                <a:ea typeface="Calibri" panose="020F0502020204030204" pitchFamily="34" charset="0"/>
                <a:cs typeface="Times New Roman" panose="02020603050405020304" pitchFamily="18" charset="0"/>
              </a:rPr>
              <a:t>nature</a:t>
            </a: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 des terres acquises</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terres agricoles ne sont pas visées par IAS 41, donc cette norme n’est pas applicable.  Le paragraphe IAS 41.2 dit clairement que </a:t>
            </a:r>
            <a:r>
              <a:rPr lang="fr-CA" sz="1800" dirty="0">
                <a:effectLst/>
                <a:latin typeface="Aptos" panose="020B0004020202020204" pitchFamily="34" charset="0"/>
                <a:ea typeface="Calibri" panose="020F0502020204030204" pitchFamily="34" charset="0"/>
                <a:cs typeface="Times New Roman" panose="02020603050405020304" pitchFamily="18" charset="0"/>
              </a:rPr>
              <a:t>« </a:t>
            </a:r>
            <a:r>
              <a:rPr lang="fr-CA" sz="1800" dirty="0">
                <a:solidFill>
                  <a:srgbClr val="0070C0"/>
                </a:solidFill>
                <a:effectLst/>
                <a:latin typeface="Aptos" panose="020B0004020202020204" pitchFamily="34" charset="0"/>
                <a:ea typeface="Calibri" panose="020F0502020204030204" pitchFamily="34" charset="0"/>
                <a:cs typeface="Times New Roman" panose="02020603050405020304" pitchFamily="18" charset="0"/>
              </a:rPr>
              <a:t>La présente norme ne s’applique pas aux terrains liés à une activité agricole </a:t>
            </a:r>
            <a:r>
              <a:rPr lang="fr-CA" sz="1800" dirty="0">
                <a:effectLst/>
                <a:latin typeface="Aptos" panose="020B0004020202020204" pitchFamily="34" charset="0"/>
                <a:ea typeface="Calibri" panose="020F0502020204030204" pitchFamily="34" charset="0"/>
                <a:cs typeface="Times New Roman" panose="02020603050405020304" pitchFamily="18" charset="0"/>
              </a:rPr>
              <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Aptos" panose="020B000402020202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Aptos" panose="020B0004020202020204" pitchFamily="34" charset="0"/>
                <a:ea typeface="Calibri" panose="020F0502020204030204" pitchFamily="34" charset="0"/>
                <a:cs typeface="Times New Roman" panose="02020603050405020304" pitchFamily="18" charset="0"/>
              </a:rPr>
              <a:t>Selon IAS 16</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Les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immobilisations corporelles</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sont des actifs corporels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qui sont détenus par une entité soit pour être utilisés dans la production ou la fourniture de biens ou de services, soit pour être loués à des tiers, soit à des fins administratives ; 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dont on s'attend à ce qu'ils soient utilisés sur plus d'une période.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PSI utilise les terres agricoles pour élever des animaux de boucherie et pour cultiver des céréales.  Comme PSI détient les terres pour produire des biens qui serviront à son exploitation et que ces terres seront utilisées sur plus d’une période, ces terres sont des immobilisations corporelles, donc référer à IAS 16.</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3DFBD2A0-B53C-A5AE-2F94-D69538F8C6D6}"/>
              </a:ext>
            </a:extLst>
          </p:cNvPr>
          <p:cNvSpPr>
            <a:spLocks noGrp="1"/>
          </p:cNvSpPr>
          <p:nvPr>
            <p:ph type="sldNum" sz="quarter" idx="12"/>
          </p:nvPr>
        </p:nvSpPr>
        <p:spPr/>
        <p:txBody>
          <a:bodyPr/>
          <a:lstStyle/>
          <a:p>
            <a:fld id="{F1FCC400-9845-4852-A9C9-E1406FDA319A}" type="slidenum">
              <a:rPr lang="fr-FR" smtClean="0"/>
              <a:t>42</a:t>
            </a:fld>
            <a:endParaRPr lang="fr-FR"/>
          </a:p>
        </p:txBody>
      </p:sp>
    </p:spTree>
    <p:extLst>
      <p:ext uri="{BB962C8B-B14F-4D97-AF65-F5344CB8AC3E}">
        <p14:creationId xmlns:p14="http://schemas.microsoft.com/office/powerpoint/2010/main" val="1210003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FB53B42-47E8-3B07-3AE8-ADAC83D489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32FB36-3BCF-35E1-2B35-9DBAA8369BA9}"/>
              </a:ext>
            </a:extLst>
          </p:cNvPr>
          <p:cNvSpPr>
            <a:spLocks noGrp="1"/>
          </p:cNvSpPr>
          <p:nvPr>
            <p:ph type="title"/>
          </p:nvPr>
        </p:nvSpPr>
        <p:spPr/>
        <p:txBody>
          <a:bodyPr/>
          <a:lstStyle/>
          <a:p>
            <a:r>
              <a:rPr lang="fr-CA" sz="4000" dirty="0"/>
              <a:t>5- Terres agricoles</a:t>
            </a:r>
            <a:endParaRPr lang="fr-FR" dirty="0"/>
          </a:p>
        </p:txBody>
      </p:sp>
      <p:sp>
        <p:nvSpPr>
          <p:cNvPr id="3" name="Espace réservé du contenu 2">
            <a:extLst>
              <a:ext uri="{FF2B5EF4-FFF2-40B4-BE49-F238E27FC236}">
                <a16:creationId xmlns:a16="http://schemas.microsoft.com/office/drawing/2014/main" id="{6A5394B1-B544-57FB-26E6-00150836B0C9}"/>
              </a:ext>
            </a:extLst>
          </p:cNvPr>
          <p:cNvSpPr>
            <a:spLocks noGrp="1"/>
          </p:cNvSpPr>
          <p:nvPr>
            <p:ph idx="1"/>
          </p:nvPr>
        </p:nvSpPr>
        <p:spPr>
          <a:xfrm>
            <a:off x="838200" y="1404257"/>
            <a:ext cx="10515600" cy="5236029"/>
          </a:xfrm>
        </p:spPr>
        <p:txBody>
          <a:bodyPr>
            <a:normAutofit fontScale="85000" lnSpcReduction="20000"/>
          </a:bodyPr>
          <a:lstStyle/>
          <a:p>
            <a:pPr marL="0" indent="0" algn="l">
              <a:buNone/>
            </a:pPr>
            <a:r>
              <a:rPr lang="fr-CA" sz="2000" b="1" u="sng" dirty="0">
                <a:effectLst/>
                <a:latin typeface="Verdana" panose="020B0604030504040204" pitchFamily="34" charset="0"/>
                <a:ea typeface="Calibri" panose="020F0502020204030204" pitchFamily="34" charset="0"/>
                <a:cs typeface="Times New Roman" panose="02020603050405020304" pitchFamily="18" charset="0"/>
              </a:rPr>
              <a:t>Mesure</a:t>
            </a:r>
            <a:r>
              <a:rPr lang="fr-CA" sz="2000" b="1" dirty="0">
                <a:effectLst/>
                <a:latin typeface="Verdana" panose="020B0604030504040204" pitchFamily="34" charset="0"/>
                <a:ea typeface="Calibri" panose="020F0502020204030204" pitchFamily="34" charset="0"/>
                <a:cs typeface="Times New Roman" panose="02020603050405020304" pitchFamily="18" charset="0"/>
              </a:rPr>
              <a:t> (évaluation) des terres acquises - </a:t>
            </a:r>
            <a:r>
              <a:rPr lang="fr-CA" sz="2000" dirty="0">
                <a:effectLst/>
                <a:latin typeface="Verdana" panose="020B0604030504040204" pitchFamily="34" charset="0"/>
                <a:ea typeface="Calibri" panose="020F0502020204030204" pitchFamily="34" charset="0"/>
                <a:cs typeface="Times New Roman" panose="02020603050405020304" pitchFamily="18" charset="0"/>
              </a:rPr>
              <a:t>ÉVALUATION (MESURE) INITIALE</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Évaluation lors de la comptabilisation</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15     Une immobilisation corporelle qui remplit les conditions de comptabilisation en tant qu'actif doit être évaluée à son coût.</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Donc, les terres seront comptabilisées au montant de 3 000 000 $ au moment de leur acquisition</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 </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ÉVALUATION (MESURE) SUBSÉQUENTE</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29     Une entité doit choisir pour méthode comptable soit le modèle du coût décrit au paragraphe 30, soit le modèle de la réévaluation décrit au paragraphe 31 ; elle doit appliquer cette méthode à l'ensemble d'une catégorie d'immobilisations corporelles.</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PSI a donc un choix de méthode comptable : le modèle du coût ou le modèle de la réévaluation</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 </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000" dirty="0">
                <a:effectLst/>
                <a:latin typeface="Verdana" panose="020B0604030504040204" pitchFamily="34" charset="0"/>
                <a:ea typeface="Calibri" panose="020F0502020204030204" pitchFamily="34" charset="0"/>
                <a:cs typeface="Times New Roman" panose="02020603050405020304" pitchFamily="18" charset="0"/>
              </a:rPr>
              <a:t>Parce que les terres agricoles sont des immobilisations corporelles distinctes des autres immobilisations corporelles que possède PSI actuellement, il est pertinent de se questionner sur leur évaluation (mesure). Une catégorie d'immobilisations corporelles est un </a:t>
            </a:r>
            <a:r>
              <a:rPr lang="fr-CA" sz="2000" u="sng" dirty="0">
                <a:effectLst/>
                <a:latin typeface="Verdana" panose="020B0604030504040204" pitchFamily="34" charset="0"/>
                <a:ea typeface="Calibri" panose="020F0502020204030204" pitchFamily="34" charset="0"/>
                <a:cs typeface="Times New Roman" panose="02020603050405020304" pitchFamily="18" charset="0"/>
              </a:rPr>
              <a:t>regroupement d'actifs de nature et d'usage similaires</a:t>
            </a:r>
            <a:r>
              <a:rPr lang="fr-CA" sz="2000" dirty="0">
                <a:effectLst/>
                <a:latin typeface="Verdana" panose="020B0604030504040204" pitchFamily="34" charset="0"/>
                <a:ea typeface="Calibri" panose="020F0502020204030204" pitchFamily="34" charset="0"/>
                <a:cs typeface="Times New Roman" panose="02020603050405020304" pitchFamily="18" charset="0"/>
              </a:rPr>
              <a:t> au sein de l'activité d'une entité.  Les terres agricoles sont suffisamment différentes des autres terrains pour qu’il soit acceptable de les considérer comme une catégorie distincte. </a:t>
            </a:r>
            <a:endParaRPr lang="fr-FR" sz="20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2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2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3E86FAC6-BBD8-6366-558D-5ED5B50FA4F6}"/>
              </a:ext>
            </a:extLst>
          </p:cNvPr>
          <p:cNvSpPr>
            <a:spLocks noGrp="1"/>
          </p:cNvSpPr>
          <p:nvPr>
            <p:ph type="sldNum" sz="quarter" idx="12"/>
          </p:nvPr>
        </p:nvSpPr>
        <p:spPr/>
        <p:txBody>
          <a:bodyPr/>
          <a:lstStyle/>
          <a:p>
            <a:fld id="{F1FCC400-9845-4852-A9C9-E1406FDA319A}" type="slidenum">
              <a:rPr lang="fr-FR" smtClean="0"/>
              <a:t>43</a:t>
            </a:fld>
            <a:endParaRPr lang="fr-FR"/>
          </a:p>
        </p:txBody>
      </p:sp>
    </p:spTree>
    <p:extLst>
      <p:ext uri="{BB962C8B-B14F-4D97-AF65-F5344CB8AC3E}">
        <p14:creationId xmlns:p14="http://schemas.microsoft.com/office/powerpoint/2010/main" val="7246050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5D0C063-F714-CCAA-7273-BAAD576E2B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5F67953-54A1-D981-2507-65ADF6CB41A0}"/>
              </a:ext>
            </a:extLst>
          </p:cNvPr>
          <p:cNvSpPr>
            <a:spLocks noGrp="1"/>
          </p:cNvSpPr>
          <p:nvPr>
            <p:ph type="title"/>
          </p:nvPr>
        </p:nvSpPr>
        <p:spPr/>
        <p:txBody>
          <a:bodyPr/>
          <a:lstStyle/>
          <a:p>
            <a:r>
              <a:rPr lang="fr-CA" sz="4000" dirty="0"/>
              <a:t>5- Terres agricoles</a:t>
            </a:r>
            <a:endParaRPr lang="fr-FR" dirty="0"/>
          </a:p>
        </p:txBody>
      </p:sp>
      <p:sp>
        <p:nvSpPr>
          <p:cNvPr id="3" name="Espace réservé du contenu 2">
            <a:extLst>
              <a:ext uri="{FF2B5EF4-FFF2-40B4-BE49-F238E27FC236}">
                <a16:creationId xmlns:a16="http://schemas.microsoft.com/office/drawing/2014/main" id="{0AF8D3AC-340C-7ABF-49C3-33682C484327}"/>
              </a:ext>
            </a:extLst>
          </p:cNvPr>
          <p:cNvSpPr>
            <a:spLocks noGrp="1"/>
          </p:cNvSpPr>
          <p:nvPr>
            <p:ph idx="1"/>
          </p:nvPr>
        </p:nvSpPr>
        <p:spPr>
          <a:xfrm>
            <a:off x="838200" y="1404257"/>
            <a:ext cx="10515600" cy="5236029"/>
          </a:xfrm>
        </p:spPr>
        <p:txBody>
          <a:bodyPr>
            <a:normAutofit fontScale="92500" lnSpcReduction="20000"/>
          </a:bodyPr>
          <a:lstStyle/>
          <a:p>
            <a:pPr marL="0" indent="0" algn="just">
              <a:buNone/>
            </a:pPr>
            <a:r>
              <a:rPr lang="fr-CA" sz="1800" i="1" dirty="0">
                <a:effectLst/>
                <a:latin typeface="Verdana" panose="020B0604030504040204" pitchFamily="34" charset="0"/>
                <a:ea typeface="Calibri" panose="020F0502020204030204" pitchFamily="34" charset="0"/>
                <a:cs typeface="Times New Roman" panose="02020603050405020304" pitchFamily="18" charset="0"/>
              </a:rPr>
              <a:t>Modèle du coût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Mêmes si elles sont exploitées, les terres ne sont pas des actifs sujets à l’amortissement, mais test dépréciation.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Ce modèle est peu coûteux car il ne sera pas obligatoire d’établir leur JV (l’IAS 16 </a:t>
            </a:r>
            <a:r>
              <a:rPr lang="fr-CA" sz="1800" i="1" dirty="0">
                <a:effectLst/>
                <a:latin typeface="Verdana" panose="020B0604030504040204" pitchFamily="34" charset="0"/>
                <a:ea typeface="Calibri" panose="020F0502020204030204" pitchFamily="34" charset="0"/>
                <a:cs typeface="Times New Roman" panose="02020603050405020304" pitchFamily="18" charset="0"/>
              </a:rPr>
              <a:t>suggère </a:t>
            </a:r>
            <a:r>
              <a:rPr lang="fr-CA" sz="1800" dirty="0">
                <a:effectLst/>
                <a:latin typeface="Verdana" panose="020B0604030504040204" pitchFamily="34" charset="0"/>
                <a:ea typeface="Calibri" panose="020F0502020204030204" pitchFamily="34" charset="0"/>
                <a:cs typeface="Times New Roman" panose="02020603050405020304" pitchFamily="18" charset="0"/>
              </a:rPr>
              <a:t>de divulguer la JV en note, mais ce n’est pas obligatoire).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Ce modèle est simple et compris de tous les utilisateurs.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endParaRPr lang="fr-CA" sz="1800" i="1" dirty="0">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i="1" dirty="0">
                <a:effectLst/>
                <a:latin typeface="Verdana" panose="020B0604030504040204" pitchFamily="34" charset="0"/>
                <a:ea typeface="Calibri" panose="020F0502020204030204" pitchFamily="34" charset="0"/>
                <a:cs typeface="Times New Roman" panose="02020603050405020304" pitchFamily="18" charset="0"/>
              </a:rPr>
              <a:t>Modèle de la réévaluation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39     Lorsque la valeur comptable d'un actif est augmentée à la suite d'une réévaluation, l'augmentation doit être comptabilisée dans les autres éléments du résultat global et cumulée avec les capitaux propres sous la rubrique écarts de réévaluation. Toutefois, l'augmentation doit être comptabilisée en résultat net dans la mesure où elle compense une diminution de réévaluation du même actif, précédemment comptabilisée en résultat net.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Si on choisit le modèle de la réévaluation, permet d’augmenter la valeur de l’actif, car les terres risquent de prendre graduellement de la valeur. Toutefois, l’augmentation de valeur ne contribuera pas à une augmentation du résultat net, comme le souhaite Alexandre, puisque le gain cumulé doit être présenté dans les AERG (capitaux propres).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 priori, des informations au sujet des acquisitions récentes pourraient fournir une base solide pour déterminer la juste valeur des terres agricoles.  Ou encore, il serait facile d’obtenir un rapport d’évaluation d’un expert, mais implique un coût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306BA491-52FD-E204-23FB-53963BB3740C}"/>
              </a:ext>
            </a:extLst>
          </p:cNvPr>
          <p:cNvSpPr>
            <a:spLocks noGrp="1"/>
          </p:cNvSpPr>
          <p:nvPr>
            <p:ph type="sldNum" sz="quarter" idx="12"/>
          </p:nvPr>
        </p:nvSpPr>
        <p:spPr/>
        <p:txBody>
          <a:bodyPr/>
          <a:lstStyle/>
          <a:p>
            <a:fld id="{F1FCC400-9845-4852-A9C9-E1406FDA319A}" type="slidenum">
              <a:rPr lang="fr-FR" smtClean="0"/>
              <a:t>44</a:t>
            </a:fld>
            <a:endParaRPr lang="fr-FR"/>
          </a:p>
        </p:txBody>
      </p:sp>
    </p:spTree>
    <p:extLst>
      <p:ext uri="{BB962C8B-B14F-4D97-AF65-F5344CB8AC3E}">
        <p14:creationId xmlns:p14="http://schemas.microsoft.com/office/powerpoint/2010/main" val="2227673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FA82A991-C55C-9B47-D0E1-01F81BF528C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0ED60A-EF33-F52A-193A-3813220D68F4}"/>
              </a:ext>
            </a:extLst>
          </p:cNvPr>
          <p:cNvSpPr>
            <a:spLocks noGrp="1"/>
          </p:cNvSpPr>
          <p:nvPr>
            <p:ph type="title"/>
          </p:nvPr>
        </p:nvSpPr>
        <p:spPr/>
        <p:txBody>
          <a:bodyPr/>
          <a:lstStyle/>
          <a:p>
            <a:r>
              <a:rPr lang="fr-CA" sz="4000" dirty="0"/>
              <a:t>5- Terres agricoles</a:t>
            </a:r>
            <a:endParaRPr lang="fr-FR" dirty="0"/>
          </a:p>
        </p:txBody>
      </p:sp>
      <p:sp>
        <p:nvSpPr>
          <p:cNvPr id="3" name="Espace réservé du contenu 2">
            <a:extLst>
              <a:ext uri="{FF2B5EF4-FFF2-40B4-BE49-F238E27FC236}">
                <a16:creationId xmlns:a16="http://schemas.microsoft.com/office/drawing/2014/main" id="{B5D140ED-F489-7AC5-9C75-6B8F0D5CAA79}"/>
              </a:ext>
            </a:extLst>
          </p:cNvPr>
          <p:cNvSpPr>
            <a:spLocks noGrp="1"/>
          </p:cNvSpPr>
          <p:nvPr>
            <p:ph idx="1"/>
          </p:nvPr>
        </p:nvSpPr>
        <p:spPr>
          <a:xfrm>
            <a:off x="838200" y="1404257"/>
            <a:ext cx="10515600" cy="5236029"/>
          </a:xfrm>
        </p:spPr>
        <p:txBody>
          <a:bodyPr>
            <a:normAutofit fontScale="550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13</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28       L'utilisation optimale d'un actif non financier est déterminée en tenant compte de l'utilisation physiquement possible, légalement admissible et financièrement faisable, comme suit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pour déterminer si une utilisation est physiquement possible, on tient compte des caractéristiques physiques de l'actif que les intervenants du marché prendraient en considération pour en fixer le prix (par exemple l'endroit où se trouve un bien immobilier, ou ses dimensions)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highlight>
                  <a:srgbClr val="FFFF00"/>
                </a:highlight>
                <a:latin typeface="Verdana" panose="020B0604030504040204" pitchFamily="34" charset="0"/>
                <a:ea typeface="Calibri" panose="020F0502020204030204" pitchFamily="34" charset="0"/>
                <a:cs typeface="Times New Roman" panose="02020603050405020304" pitchFamily="18" charset="0"/>
              </a:rPr>
              <a:t>(b)     pour déterminer si une utilisation est légalement admissible, on tient compte de toute restriction juridique grevant le cas échéant l'utilisation de l'actif, que les intervenants du marché prendraient en considération pour en fixer le prix (par exemple les règlements de zonage applicables à un bien immobilier)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     pour déterminer si une utilisation est financièrement faisable, on tient compte du fait que l'utilisation physiquement possible et légalement admissible d'un actif génère ou non des produits ou des flux de trésorerie qui soient suffisants (compte tenu des coûts nécessaires pour convertir l'actif à cette utilisation) pour produire le rendement sur investissement que les intervenants du marché exigeraient d'un investissement dans cet actif utilisé de cette façon.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500" dirty="0">
                <a:effectLst/>
                <a:latin typeface="Verdana" panose="020B0604030504040204" pitchFamily="34" charset="0"/>
                <a:ea typeface="Calibri" panose="020F0502020204030204" pitchFamily="34" charset="0"/>
                <a:cs typeface="Times New Roman" panose="02020603050405020304" pitchFamily="18" charset="0"/>
              </a:rPr>
              <a:t>Parce que ces terres sont zonées vert, la seule utilisation admissible est l’agriculture.  Leur </a:t>
            </a:r>
            <a:r>
              <a:rPr lang="fr-CA" sz="2500" b="1" dirty="0">
                <a:effectLst/>
                <a:latin typeface="Verdana" panose="020B0604030504040204" pitchFamily="34" charset="0"/>
                <a:ea typeface="Calibri" panose="020F0502020204030204" pitchFamily="34" charset="0"/>
                <a:cs typeface="Times New Roman" panose="02020603050405020304" pitchFamily="18" charset="0"/>
              </a:rPr>
              <a:t>utilisation optimale</a:t>
            </a:r>
            <a:r>
              <a:rPr lang="fr-CA" sz="2500" dirty="0">
                <a:effectLst/>
                <a:latin typeface="Verdana" panose="020B0604030504040204" pitchFamily="34" charset="0"/>
                <a:ea typeface="Calibri" panose="020F0502020204030204" pitchFamily="34" charset="0"/>
                <a:cs typeface="Times New Roman" panose="02020603050405020304" pitchFamily="18" charset="0"/>
              </a:rPr>
              <a:t> est donc l’agriculture.</a:t>
            </a:r>
            <a:endParaRPr lang="fr-FR" sz="25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11     L'évaluation d'une juste valeur porte sur un actif ou un passif spécifique. Par conséquent, lorsqu'elle détermine la juste valeur, l'entité doit prendre en compte les caractéristiques de l'actif ou du passif si c'est ce que feraient les intervenants du marché pour fixer le prix de l'actif ou du passif à la date d'évaluation. Ces caractéristiques comprennent notamment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l'état de l'actif et l'endroit où il se trouve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les restrictions, le cas échéant, sur la vente ou l'utilisation de l'actif.</a:t>
            </a:r>
          </a:p>
          <a:p>
            <a:pPr mar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Pour déterminer la juste valeur au 31 décembre : </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L’évaluation municipale n’est pas représentative de la juste valeur.</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L’offre du voisin a été faite pour des raisons particulières. Ce prix n’est pas représentatif du prix qui serait payé par un intervenant du marché bien informé.</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a:p>
            <a:pPr marL="0" lv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Acquisition en fin d’exercice des terres de qualité équivalente situées dans la même région au coût de 16 000 $ par hectare, ce qui chiffrerait la valeur des terres à 3 200 000 $. </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spcBef>
                <a:spcPts val="0"/>
              </a:spcBef>
              <a:buNone/>
            </a:pPr>
            <a:r>
              <a:rPr lang="fr-CA" sz="15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5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500" dirty="0">
                <a:effectLst/>
                <a:latin typeface="Verdana" panose="020B0604030504040204" pitchFamily="34" charset="0"/>
                <a:ea typeface="Calibri" panose="020F0502020204030204" pitchFamily="34" charset="0"/>
                <a:cs typeface="Times New Roman" panose="02020603050405020304" pitchFamily="18" charset="0"/>
              </a:rPr>
              <a:t>La valeur de 3 200 000 $ représente une transaction récente, sur un actif similaire (état) et dans la même région (localisation) et sujettes aux mêmes restrictions (zonage vert). Elle pourrait aisément faire office de comparable (juste valeur). </a:t>
            </a:r>
            <a:endParaRPr lang="fr-FR" sz="25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A1430E5E-409A-33EE-31ED-E21237B5B88B}"/>
              </a:ext>
            </a:extLst>
          </p:cNvPr>
          <p:cNvSpPr>
            <a:spLocks noGrp="1"/>
          </p:cNvSpPr>
          <p:nvPr>
            <p:ph type="sldNum" sz="quarter" idx="12"/>
          </p:nvPr>
        </p:nvSpPr>
        <p:spPr/>
        <p:txBody>
          <a:bodyPr/>
          <a:lstStyle/>
          <a:p>
            <a:fld id="{F1FCC400-9845-4852-A9C9-E1406FDA319A}" type="slidenum">
              <a:rPr lang="fr-FR" smtClean="0"/>
              <a:t>45</a:t>
            </a:fld>
            <a:endParaRPr lang="fr-FR" dirty="0"/>
          </a:p>
        </p:txBody>
      </p:sp>
    </p:spTree>
    <p:extLst>
      <p:ext uri="{BB962C8B-B14F-4D97-AF65-F5344CB8AC3E}">
        <p14:creationId xmlns:p14="http://schemas.microsoft.com/office/powerpoint/2010/main" val="779615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0443EED-4B03-F617-B532-E6B4DC5E3B1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0DC147-78B2-B723-753C-F55601C08827}"/>
              </a:ext>
            </a:extLst>
          </p:cNvPr>
          <p:cNvSpPr>
            <a:spLocks noGrp="1"/>
          </p:cNvSpPr>
          <p:nvPr>
            <p:ph type="title"/>
          </p:nvPr>
        </p:nvSpPr>
        <p:spPr/>
        <p:txBody>
          <a:bodyPr/>
          <a:lstStyle/>
          <a:p>
            <a:r>
              <a:rPr lang="fr-CA" sz="4000" dirty="0"/>
              <a:t>5- Terres agricoles</a:t>
            </a:r>
            <a:endParaRPr lang="fr-FR" dirty="0"/>
          </a:p>
        </p:txBody>
      </p:sp>
      <p:sp>
        <p:nvSpPr>
          <p:cNvPr id="3" name="Espace réservé du contenu 2">
            <a:extLst>
              <a:ext uri="{FF2B5EF4-FFF2-40B4-BE49-F238E27FC236}">
                <a16:creationId xmlns:a16="http://schemas.microsoft.com/office/drawing/2014/main" id="{F21ADD41-DD13-44F4-3B1F-87952B1BA933}"/>
              </a:ext>
            </a:extLst>
          </p:cNvPr>
          <p:cNvSpPr>
            <a:spLocks noGrp="1"/>
          </p:cNvSpPr>
          <p:nvPr>
            <p:ph idx="1"/>
          </p:nvPr>
        </p:nvSpPr>
        <p:spPr>
          <a:xfrm>
            <a:off x="838200" y="1404257"/>
            <a:ext cx="10515600" cy="5236029"/>
          </a:xfrm>
        </p:spPr>
        <p:txBody>
          <a:bodyPr>
            <a:normAutofit/>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Dans ce cas, PSI pourrait constater, dès 2024, un gain sur réévaluation de 200 000 $ dans son résultat global (AERG).</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Terres agricoles                200 000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Gain AERG                                200 000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Conclusion/recommandation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Je recommande que les terres agricoles soient comptabilisées selon le modèle de la réévaluation </a:t>
            </a:r>
            <a:r>
              <a:rPr lang="fr-CA" sz="1800" u="sng" dirty="0">
                <a:effectLst/>
                <a:latin typeface="Verdana" panose="020B0604030504040204" pitchFamily="34" charset="0"/>
                <a:ea typeface="Calibri" panose="020F0502020204030204" pitchFamily="34" charset="0"/>
                <a:cs typeface="Times New Roman" panose="02020603050405020304" pitchFamily="18" charset="0"/>
              </a:rPr>
              <a:t>afin de</a:t>
            </a:r>
            <a:r>
              <a:rPr lang="fr-CA" sz="1800" dirty="0">
                <a:effectLst/>
                <a:latin typeface="Verdana" panose="020B0604030504040204" pitchFamily="34" charset="0"/>
                <a:ea typeface="Calibri" panose="020F0502020204030204" pitchFamily="34" charset="0"/>
                <a:cs typeface="Times New Roman" panose="02020603050405020304" pitchFamily="18" charset="0"/>
              </a:rPr>
              <a:t> présenter un actif plus élevé pour attirer les banquiers / le modèle du coût car moins coûteux et pourrait mentionner la juste valeur en note. </a:t>
            </a:r>
            <a:r>
              <a:rPr lang="fr-CA" sz="1800" i="1" dirty="0">
                <a:effectLst/>
                <a:latin typeface="Verdana" panose="020B0604030504040204" pitchFamily="34" charset="0"/>
                <a:ea typeface="Calibri" panose="020F0502020204030204" pitchFamily="34" charset="0"/>
                <a:cs typeface="Times New Roman" panose="02020603050405020304" pitchFamily="18" charset="0"/>
              </a:rPr>
              <a:t>Ne peut être en lien avec demande d’Alexandre d’augmenter le résultat net, car même impact sur le résultat net pour les deux méthodes.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5888A21-45A7-B3E6-6B5E-FDBC60E5C6C2}"/>
              </a:ext>
            </a:extLst>
          </p:cNvPr>
          <p:cNvSpPr>
            <a:spLocks noGrp="1"/>
          </p:cNvSpPr>
          <p:nvPr>
            <p:ph type="sldNum" sz="quarter" idx="12"/>
          </p:nvPr>
        </p:nvSpPr>
        <p:spPr/>
        <p:txBody>
          <a:bodyPr/>
          <a:lstStyle/>
          <a:p>
            <a:fld id="{F1FCC400-9845-4852-A9C9-E1406FDA319A}" type="slidenum">
              <a:rPr lang="fr-FR" smtClean="0"/>
              <a:t>46</a:t>
            </a:fld>
            <a:endParaRPr lang="fr-FR" dirty="0"/>
          </a:p>
        </p:txBody>
      </p:sp>
    </p:spTree>
    <p:extLst>
      <p:ext uri="{BB962C8B-B14F-4D97-AF65-F5344CB8AC3E}">
        <p14:creationId xmlns:p14="http://schemas.microsoft.com/office/powerpoint/2010/main" val="4197794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817239E-EFD8-19C7-E6C3-5CCB04FEB4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446E548-7AD7-6C42-C323-00CEF2F6F0C6}"/>
              </a:ext>
            </a:extLst>
          </p:cNvPr>
          <p:cNvSpPr>
            <a:spLocks noGrp="1"/>
          </p:cNvSpPr>
          <p:nvPr>
            <p:ph type="title"/>
          </p:nvPr>
        </p:nvSpPr>
        <p:spPr/>
        <p:txBody>
          <a:bodyPr/>
          <a:lstStyle/>
          <a:p>
            <a:r>
              <a:rPr lang="fr-CA" sz="4000" dirty="0"/>
              <a:t>Indicateur 5- Terres agricoles</a:t>
            </a:r>
            <a:endParaRPr lang="fr-FR" dirty="0"/>
          </a:p>
        </p:txBody>
      </p:sp>
      <p:sp>
        <p:nvSpPr>
          <p:cNvPr id="3" name="Espace réservé du contenu 2">
            <a:extLst>
              <a:ext uri="{FF2B5EF4-FFF2-40B4-BE49-F238E27FC236}">
                <a16:creationId xmlns:a16="http://schemas.microsoft.com/office/drawing/2014/main" id="{806BE88B-3141-D3E3-1350-4492159708E8}"/>
              </a:ext>
            </a:extLst>
          </p:cNvPr>
          <p:cNvSpPr>
            <a:spLocks noGrp="1"/>
          </p:cNvSpPr>
          <p:nvPr>
            <p:ph idx="1"/>
          </p:nvPr>
        </p:nvSpPr>
        <p:spPr/>
        <p:txBody>
          <a:bodyPr>
            <a:normAutofit fontScale="92500" lnSpcReduction="10000"/>
          </a:bodyPr>
          <a:lstStyle/>
          <a:p>
            <a:r>
              <a:rPr lang="fr-CA" sz="2400" dirty="0"/>
              <a:t>EVC – 3 pts : Analyse adéquate de la mesure subséquente, peut contenir petites erreurs</a:t>
            </a: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évaluation subséquente, incluant l'analyse sommaire des deux méthodes ET détermination de la juste valeur</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en profondeur nature ET évaluation subséquente, incluant l'analyse sommaire des deux méthodes ET détermination de la juste valeur</a:t>
            </a:r>
          </a:p>
          <a:p>
            <a:r>
              <a:rPr lang="fr-CA" sz="2400" dirty="0">
                <a:effectLst/>
                <a:latin typeface="Arial Narrow" panose="020B0606020202030204" pitchFamily="34" charset="0"/>
                <a:ea typeface="Calibri" panose="020F0502020204030204" pitchFamily="34" charset="0"/>
                <a:cs typeface="Arial" panose="020B0604020202020204" pitchFamily="34" charset="0"/>
              </a:rPr>
              <a:t>ET recommandation avec justification, reconnait qu'aucune différence sur le résultat net peu importe la méthode retenue   ET recommandation méthode comptable en lien avec demande d'Alexandre OU écritures de correction</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C  (5 pts)</a:t>
            </a:r>
          </a:p>
          <a:p>
            <a:pPr marL="0" indent="0">
              <a:buNone/>
            </a:pPr>
            <a:r>
              <a:rPr lang="fr-FR" sz="2400" i="1" dirty="0">
                <a:solidFill>
                  <a:srgbClr val="FF0000"/>
                </a:solidFill>
              </a:rPr>
              <a:t>Moyenne : 2,46</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E3963669-4FBB-D8E6-3B4D-4CFF8A4529C9}"/>
              </a:ext>
            </a:extLst>
          </p:cNvPr>
          <p:cNvSpPr>
            <a:spLocks noGrp="1"/>
          </p:cNvSpPr>
          <p:nvPr>
            <p:ph type="sldNum" sz="quarter" idx="12"/>
          </p:nvPr>
        </p:nvSpPr>
        <p:spPr/>
        <p:txBody>
          <a:bodyPr/>
          <a:lstStyle/>
          <a:p>
            <a:fld id="{F1FCC400-9845-4852-A9C9-E1406FDA319A}" type="slidenum">
              <a:rPr lang="fr-FR" smtClean="0"/>
              <a:t>47</a:t>
            </a:fld>
            <a:endParaRPr lang="fr-FR"/>
          </a:p>
        </p:txBody>
      </p:sp>
    </p:spTree>
    <p:extLst>
      <p:ext uri="{BB962C8B-B14F-4D97-AF65-F5344CB8AC3E}">
        <p14:creationId xmlns:p14="http://schemas.microsoft.com/office/powerpoint/2010/main" val="3506773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37C792AF-F244-D43D-E841-6E41F6C358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B080947-5E33-F032-8CE8-14B381D2701D}"/>
              </a:ext>
            </a:extLst>
          </p:cNvPr>
          <p:cNvSpPr>
            <a:spLocks noGrp="1"/>
          </p:cNvSpPr>
          <p:nvPr>
            <p:ph type="title"/>
          </p:nvPr>
        </p:nvSpPr>
        <p:spPr/>
        <p:txBody>
          <a:bodyPr>
            <a:normAutofit/>
          </a:bodyPr>
          <a:lstStyle/>
          <a:p>
            <a:r>
              <a:rPr lang="fr-CA" sz="4000" dirty="0"/>
              <a:t>Indicateur 5- Terres agricoles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11B63FD5-77A3-B3CD-80B1-79D26D9312BB}"/>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80FEAD15-8575-03AD-1A43-50333EE550E4}"/>
              </a:ext>
            </a:extLst>
          </p:cNvPr>
          <p:cNvSpPr>
            <a:spLocks noGrp="1"/>
          </p:cNvSpPr>
          <p:nvPr>
            <p:ph type="sldNum" sz="quarter" idx="12"/>
          </p:nvPr>
        </p:nvSpPr>
        <p:spPr/>
        <p:txBody>
          <a:bodyPr/>
          <a:lstStyle/>
          <a:p>
            <a:fld id="{F1FCC400-9845-4852-A9C9-E1406FDA319A}" type="slidenum">
              <a:rPr lang="fr-FR" smtClean="0"/>
              <a:t>48</a:t>
            </a:fld>
            <a:endParaRPr lang="fr-FR"/>
          </a:p>
        </p:txBody>
      </p:sp>
      <p:sp>
        <p:nvSpPr>
          <p:cNvPr id="5" name="ZoneTexte 4">
            <a:extLst>
              <a:ext uri="{FF2B5EF4-FFF2-40B4-BE49-F238E27FC236}">
                <a16:creationId xmlns:a16="http://schemas.microsoft.com/office/drawing/2014/main" id="{8A29756A-BF13-7FB5-3E3A-CF50D6A77D17}"/>
              </a:ext>
            </a:extLst>
          </p:cNvPr>
          <p:cNvSpPr txBox="1"/>
          <p:nvPr/>
        </p:nvSpPr>
        <p:spPr>
          <a:xfrm>
            <a:off x="989814" y="2262433"/>
            <a:ext cx="10284644" cy="1569660"/>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P</a:t>
            </a:r>
            <a:r>
              <a:rPr lang="fr-FR" sz="2400" dirty="0">
                <a:effectLst/>
                <a:latin typeface="Aptos" panose="020B0004020202020204" pitchFamily="34" charset="0"/>
                <a:ea typeface="Times New Roman" panose="02020603050405020304" pitchFamily="18" charset="0"/>
                <a:cs typeface="Aptos" panose="020B0004020202020204" pitchFamily="34" charset="0"/>
              </a:rPr>
              <a:t>lusieurs analysent la mesure en prenant pour acquis la nature, dans une analyse minimum. Encore faiblesse au niveau de la mesure subséquente, comme en 4. Et aussi conclusion de la JV sans analyser les options. Bien que la majorité ont vu AERG.</a:t>
            </a:r>
            <a:endParaRPr lang="fr-FR" sz="2400" dirty="0"/>
          </a:p>
        </p:txBody>
      </p:sp>
    </p:spTree>
    <p:extLst>
      <p:ext uri="{BB962C8B-B14F-4D97-AF65-F5344CB8AC3E}">
        <p14:creationId xmlns:p14="http://schemas.microsoft.com/office/powerpoint/2010/main" val="3486796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DF368316-A453-BF81-5A4E-248377B89B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A9B7C8-2289-EE05-0A7C-0CBFF20D45AC}"/>
              </a:ext>
            </a:extLst>
          </p:cNvPr>
          <p:cNvSpPr>
            <a:spLocks noGrp="1"/>
          </p:cNvSpPr>
          <p:nvPr>
            <p:ph type="title"/>
          </p:nvPr>
        </p:nvSpPr>
        <p:spPr/>
        <p:txBody>
          <a:bodyPr>
            <a:normAutofit/>
          </a:bodyPr>
          <a:lstStyle/>
          <a:p>
            <a:r>
              <a:rPr lang="fr-CA" sz="4000" dirty="0">
                <a:solidFill>
                  <a:srgbClr val="FF0000"/>
                </a:solidFill>
              </a:rPr>
              <a:t>6 – Céréales - stocks</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F11A2B33-59E9-56E0-DC2A-D1F2E04EB6BD}"/>
              </a:ext>
            </a:extLst>
          </p:cNvPr>
          <p:cNvSpPr>
            <a:spLocks noGrp="1"/>
          </p:cNvSpPr>
          <p:nvPr>
            <p:ph idx="1"/>
          </p:nvPr>
        </p:nvSpPr>
        <p:spPr>
          <a:xfrm>
            <a:off x="838200" y="1197204"/>
            <a:ext cx="10515600" cy="5456112"/>
          </a:xfrm>
        </p:spPr>
        <p:txBody>
          <a:bodyPr>
            <a:noAutofit/>
          </a:bodyPr>
          <a:lstStyle/>
          <a:p>
            <a:pPr marL="0" indent="0">
              <a:lnSpc>
                <a:spcPct val="107000"/>
              </a:lnSpc>
              <a:spcAft>
                <a:spcPts val="800"/>
              </a:spcAft>
              <a:buNone/>
            </a:pPr>
            <a:r>
              <a:rPr lang="fr-CA" sz="1800" i="1" dirty="0">
                <a:effectLst/>
                <a:latin typeface="Arial" panose="020B0604020202020204" pitchFamily="34" charset="0"/>
                <a:ea typeface="Times New Roman" panose="02020603050405020304" pitchFamily="18" charset="0"/>
                <a:cs typeface="Arial" panose="020B0604020202020204" pitchFamily="34" charset="0"/>
              </a:rPr>
              <a:t>Production de céréales</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La ferme produit annuellement 25 000 boisseaux de céréales. Cette culture coûte environ 78 750 $ par année. La ferme ne vend pas de céréales sur le marché puisqu’elles servent à nourrir les bœufs qu’elle élève. Il y avait au </a:t>
            </a:r>
            <a:r>
              <a:rPr lang="fr-CA" sz="1800" u="sng" dirty="0">
                <a:effectLst/>
                <a:latin typeface="Arial" panose="020B0604020202020204" pitchFamily="34" charset="0"/>
                <a:ea typeface="Times New Roman" panose="02020603050405020304" pitchFamily="18" charset="0"/>
                <a:cs typeface="Arial" panose="020B0604020202020204" pitchFamily="34" charset="0"/>
              </a:rPr>
              <a:t>31 décembre </a:t>
            </a:r>
            <a:r>
              <a:rPr lang="fr-CA" sz="1800" dirty="0">
                <a:effectLst/>
                <a:latin typeface="Arial" panose="020B0604020202020204" pitchFamily="34" charset="0"/>
                <a:ea typeface="Times New Roman" panose="02020603050405020304" pitchFamily="18" charset="0"/>
                <a:cs typeface="Arial" panose="020B0604020202020204" pitchFamily="34" charset="0"/>
              </a:rPr>
              <a:t>18 750 boisseaux de céréales stockés dans les silos de la ferme. </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Sur le marché local que fréquente la ferme (car sa production annuelle est insuffisante pour combler ses besoins) un boisseau se transigeait au 31 décembre 2024 à 3,60 $, alors que le prix était de 3,50 $ au moment de la récolte en 2024, soit au mois d’août. Il y a des frais de 0,10 $ par boisseau pour le vendeur afin de transiger sur le marché local. À la bourse de Chicago, le même boisseau se transigeait à 3,43 $ au moment des récoltes et à 3,67 $ au 31 décembre. La bourse de Chicago est le marché ayant le plus gros volume de transaction. Toutefois, </a:t>
            </a:r>
            <a:r>
              <a:rPr lang="fr-CA" sz="1800" u="sng" dirty="0">
                <a:effectLst/>
                <a:latin typeface="Arial" panose="020B0604020202020204" pitchFamily="34" charset="0"/>
                <a:ea typeface="Times New Roman" panose="02020603050405020304" pitchFamily="18" charset="0"/>
                <a:cs typeface="Arial" panose="020B0604020202020204" pitchFamily="34" charset="0"/>
              </a:rPr>
              <a:t>la ferme n’a pas accès à ce marché</a:t>
            </a:r>
            <a:r>
              <a:rPr lang="fr-CA" sz="1800" dirty="0">
                <a:effectLst/>
                <a:latin typeface="Arial" panose="020B0604020202020204" pitchFamily="34" charset="0"/>
                <a:ea typeface="Times New Roman" panose="02020603050405020304" pitchFamily="18" charset="0"/>
                <a:cs typeface="Arial" panose="020B0604020202020204" pitchFamily="34" charset="0"/>
              </a:rPr>
              <a:t>. Des études ont démontré qu’il en coûte environ 3,13 $ au Québec pour produire un boisseau de céréales.</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Les céréales sont actuellement présentées au bilan à leur coût d’acquisition en juillet, montant établi à 40 000 $, Alexandre étant incertain du traitement comptable.</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r>
              <a:rPr lang="fr-CA" sz="1800" i="1" dirty="0">
                <a:effectLst/>
                <a:latin typeface="Arial" panose="020B0604020202020204" pitchFamily="34" charset="0"/>
                <a:ea typeface="Times New Roman" panose="02020603050405020304" pitchFamily="18" charset="0"/>
                <a:cs typeface="Times New Roman" panose="02020603050405020304" pitchFamily="18" charset="0"/>
              </a:rPr>
              <a:t>Un boisseau est une mesure de quantité pour les céréales. Un boisseau équivaut à 36 litres.</a:t>
            </a:r>
            <a:endParaRPr lang="fr-FR" sz="1800" i="1"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D4F9001B-5685-F2A4-82BD-5B7BFDB96085}"/>
              </a:ext>
            </a:extLst>
          </p:cNvPr>
          <p:cNvSpPr>
            <a:spLocks noGrp="1"/>
          </p:cNvSpPr>
          <p:nvPr>
            <p:ph type="sldNum" sz="quarter" idx="12"/>
          </p:nvPr>
        </p:nvSpPr>
        <p:spPr/>
        <p:txBody>
          <a:bodyPr/>
          <a:lstStyle/>
          <a:p>
            <a:fld id="{F1FCC400-9845-4852-A9C9-E1406FDA319A}" type="slidenum">
              <a:rPr lang="fr-FR" smtClean="0"/>
              <a:t>49</a:t>
            </a:fld>
            <a:endParaRPr lang="fr-FR"/>
          </a:p>
        </p:txBody>
      </p:sp>
    </p:spTree>
    <p:extLst>
      <p:ext uri="{BB962C8B-B14F-4D97-AF65-F5344CB8AC3E}">
        <p14:creationId xmlns:p14="http://schemas.microsoft.com/office/powerpoint/2010/main" val="3215976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9E9FF226-9E44-ED3A-9A8F-A93FC3CE3D5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37F85E7-E58E-EBFE-0998-6550F0F34A29}"/>
              </a:ext>
            </a:extLst>
          </p:cNvPr>
          <p:cNvSpPr>
            <a:spLocks noGrp="1"/>
          </p:cNvSpPr>
          <p:nvPr>
            <p:ph type="title"/>
          </p:nvPr>
        </p:nvSpPr>
        <p:spPr/>
        <p:txBody>
          <a:bodyPr/>
          <a:lstStyle/>
          <a:p>
            <a:r>
              <a:rPr lang="fr-CA" sz="4000" dirty="0"/>
              <a:t>6 – Céréales - stocks</a:t>
            </a:r>
            <a:endParaRPr lang="fr-FR" dirty="0"/>
          </a:p>
        </p:txBody>
      </p:sp>
      <p:sp>
        <p:nvSpPr>
          <p:cNvPr id="3" name="Espace réservé du contenu 2">
            <a:extLst>
              <a:ext uri="{FF2B5EF4-FFF2-40B4-BE49-F238E27FC236}">
                <a16:creationId xmlns:a16="http://schemas.microsoft.com/office/drawing/2014/main" id="{0C45BCA6-80D6-3D34-CED9-51AC7E5F3D68}"/>
              </a:ext>
            </a:extLst>
          </p:cNvPr>
          <p:cNvSpPr>
            <a:spLocks noGrp="1"/>
          </p:cNvSpPr>
          <p:nvPr>
            <p:ph idx="1"/>
          </p:nvPr>
        </p:nvSpPr>
        <p:spPr>
          <a:xfrm>
            <a:off x="838200" y="1404257"/>
            <a:ext cx="10515600" cy="5236029"/>
          </a:xfrm>
        </p:spPr>
        <p:txBody>
          <a:bodyPr>
            <a:normAutofit fontScale="775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En date de fin d’exercice, PSI possède des céréales ayant été récoltées en cours d’exercice.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dirty="0">
                <a:effectLst/>
                <a:latin typeface="Verdana" panose="020B0604030504040204" pitchFamily="34" charset="0"/>
                <a:ea typeface="Calibri" panose="020F0502020204030204" pitchFamily="34" charset="0"/>
                <a:cs typeface="Times New Roman" panose="02020603050405020304" pitchFamily="18" charset="0"/>
              </a:rPr>
              <a:t>Nature des céréales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IAS 41</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activité agricole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est la gestion par une entité de la transformation biologique et de la récolte d'actifs biologiques en vue de la vente ou de la transformation en produits agricoles ou en d'autres actifs biologiques.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la ferme se qualifie d’activité agricole – pour la production de céréales et l’élevage de bovins.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Un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actif biologique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est un animal vivant ou une plante vivante.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Pendant leur croissance, les céréales sont vivantes et sont donc des actifs biologiques (avant la récolte)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La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récolte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est le détachement de produits d'un actif biologique ou l'arrêt des processus vitaux d'un actif biologique.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Un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produit agricole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est un produit récolté des actifs biologiques de l'entité.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les céréales étaient des produits agricoles au moment de la récolte.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none" strike="noStrike"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13     Un produit agricole récolté à partir des actifs biologiques d'une entité doit être évalué à sa juste valeur diminuée des coûts de la vente au moment de la récolte. Cette évaluation est le coût à cette date selon IAS 2 </a:t>
            </a:r>
            <a:r>
              <a:rPr lang="fr-CA" sz="1800" i="1"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Stocks</a:t>
            </a:r>
            <a:r>
              <a:rPr lang="fr-CA" sz="1800"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ou selon une autre norme applicable.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céréales deviennent des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produits agricoles</a:t>
            </a:r>
            <a:r>
              <a:rPr lang="fr-CA" sz="1800" dirty="0">
                <a:effectLst/>
                <a:latin typeface="Verdana" panose="020B0604030504040204" pitchFamily="34" charset="0"/>
                <a:ea typeface="Calibri" panose="020F0502020204030204" pitchFamily="34" charset="0"/>
                <a:cs typeface="Times New Roman" panose="02020603050405020304" pitchFamily="18" charset="0"/>
              </a:rPr>
              <a:t> au moment de la récolte puis immédiatement des stocks.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céréales servent à nourrir les animaux de la ferme. Ce sont des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stocks </a:t>
            </a:r>
            <a:r>
              <a:rPr lang="fr-CA" sz="1800" dirty="0">
                <a:effectLst/>
                <a:latin typeface="Verdana" panose="020B0604030504040204" pitchFamily="34" charset="0"/>
                <a:ea typeface="Calibri" panose="020F0502020204030204" pitchFamily="34" charset="0"/>
                <a:cs typeface="Times New Roman" panose="02020603050405020304" pitchFamily="18" charset="0"/>
              </a:rPr>
              <a:t>selon IAS 2 après la récolte puisqu’ils sont « </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détenus sous forme de fournitures à être consommées dans le processus de production </a:t>
            </a:r>
            <a:r>
              <a:rPr lang="fr-CA" sz="1800" dirty="0">
                <a:effectLst/>
                <a:latin typeface="Verdana" panose="020B0604030504040204" pitchFamily="34" charset="0"/>
                <a:ea typeface="Calibri" panose="020F0502020204030204" pitchFamily="34" charset="0"/>
                <a:cs typeface="Times New Roman" panose="02020603050405020304" pitchFamily="18" charset="0"/>
              </a:rPr>
              <a:t>». (par.06)</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Les stocks acquis en même temps que les autres actifs de la ferme ont été consommés mais récolte en août.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123E2D7F-44C1-ABF5-CE70-C21912124134}"/>
              </a:ext>
            </a:extLst>
          </p:cNvPr>
          <p:cNvSpPr>
            <a:spLocks noGrp="1"/>
          </p:cNvSpPr>
          <p:nvPr>
            <p:ph type="sldNum" sz="quarter" idx="12"/>
          </p:nvPr>
        </p:nvSpPr>
        <p:spPr/>
        <p:txBody>
          <a:bodyPr/>
          <a:lstStyle/>
          <a:p>
            <a:fld id="{F1FCC400-9845-4852-A9C9-E1406FDA319A}" type="slidenum">
              <a:rPr lang="fr-FR" smtClean="0"/>
              <a:t>50</a:t>
            </a:fld>
            <a:endParaRPr lang="fr-FR"/>
          </a:p>
        </p:txBody>
      </p:sp>
    </p:spTree>
    <p:extLst>
      <p:ext uri="{BB962C8B-B14F-4D97-AF65-F5344CB8AC3E}">
        <p14:creationId xmlns:p14="http://schemas.microsoft.com/office/powerpoint/2010/main" val="25250114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21A77287-F5F6-49A7-100F-54376E86B2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404E2F-8248-21B2-95B7-31A89D7ACDE3}"/>
              </a:ext>
            </a:extLst>
          </p:cNvPr>
          <p:cNvSpPr>
            <a:spLocks noGrp="1"/>
          </p:cNvSpPr>
          <p:nvPr>
            <p:ph type="title"/>
          </p:nvPr>
        </p:nvSpPr>
        <p:spPr/>
        <p:txBody>
          <a:bodyPr/>
          <a:lstStyle/>
          <a:p>
            <a:r>
              <a:rPr lang="fr-CA" sz="4000" dirty="0"/>
              <a:t>6 – Céréales - stocks</a:t>
            </a:r>
            <a:endParaRPr lang="fr-FR" dirty="0"/>
          </a:p>
        </p:txBody>
      </p:sp>
      <p:sp>
        <p:nvSpPr>
          <p:cNvPr id="3" name="Espace réservé du contenu 2">
            <a:extLst>
              <a:ext uri="{FF2B5EF4-FFF2-40B4-BE49-F238E27FC236}">
                <a16:creationId xmlns:a16="http://schemas.microsoft.com/office/drawing/2014/main" id="{49636CB0-C913-8A6D-D3EC-040EDE06BD8B}"/>
              </a:ext>
            </a:extLst>
          </p:cNvPr>
          <p:cNvSpPr>
            <a:spLocks noGrp="1"/>
          </p:cNvSpPr>
          <p:nvPr>
            <p:ph idx="1"/>
          </p:nvPr>
        </p:nvSpPr>
        <p:spPr>
          <a:xfrm>
            <a:off x="838200" y="1404257"/>
            <a:ext cx="10515600" cy="5236029"/>
          </a:xfrm>
        </p:spPr>
        <p:txBody>
          <a:bodyPr>
            <a:normAutofit fontScale="92500" lnSpcReduction="10000"/>
          </a:bodyPr>
          <a:lstStyle/>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Évaluation (mesure) des céréales en stock</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Au moment de la comptabilisation initiale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Au moment de l’acquisition, en juillet 2024, les céréales étaient des actifs biologiques, mais nous n’avons pas de valeur à cette date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Nous avons toutefois une valeur au moment de la récolte, soit pour les produits agricoles.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13     Un produit agricole récolté à partir des actifs biologiques d'une entité doit être évalué à sa juste valeur diminuée des coûts de la vente au moment de la récolte. Cette évaluation est le coût à cette date selon IAS 2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Stocks</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ou selon une autre norme applicable.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0000"/>
                </a:solidFill>
                <a:effectLst/>
                <a:latin typeface="Verdana" panose="020B0604030504040204" pitchFamily="34" charset="0"/>
                <a:ea typeface="Calibri" panose="020F0502020204030204" pitchFamily="34" charset="0"/>
                <a:cs typeface="Arial" panose="020B0604020202020204" pitchFamily="34" charset="0"/>
              </a:rPr>
              <a:t>La juste valeur est déterminée en appliquant les directives d’</a:t>
            </a:r>
            <a:r>
              <a:rPr lang="fr-CA" sz="1800" b="1" dirty="0">
                <a:solidFill>
                  <a:srgbClr val="000000"/>
                </a:solidFill>
                <a:effectLst/>
                <a:latin typeface="Verdana" panose="020B0604030504040204" pitchFamily="34" charset="0"/>
                <a:ea typeface="Calibri" panose="020F0502020204030204" pitchFamily="34" charset="0"/>
                <a:cs typeface="Arial" panose="020B0604020202020204" pitchFamily="34" charset="0"/>
              </a:rPr>
              <a:t>IFRS 13 </a:t>
            </a:r>
            <a:r>
              <a:rPr lang="fr-CA" sz="1800" dirty="0">
                <a:solidFill>
                  <a:srgbClr val="000000"/>
                </a:solidFill>
                <a:effectLst/>
                <a:latin typeface="Verdana" panose="020B0604030504040204" pitchFamily="34" charset="0"/>
                <a:ea typeface="Calibri" panose="020F0502020204030204" pitchFamily="34" charset="0"/>
                <a:cs typeface="Arial" panose="020B0604020202020204" pitchFamily="34" charset="0"/>
              </a:rPr>
              <a:t>« Évaluation de la juste valeur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La bourse de Chicago représente le marché principal mais ce marché n’est pas accessible pour PSI.</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Toutefois, le marché local est accessible à la ferme. Au moment de la récolte le prix était de 3,50 $ le boisseau. Ce sera la valeur d’entrée dans les stocks selon le par. 13</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9DF84120-5C57-D4D7-7FF5-A0904F48A1AA}"/>
              </a:ext>
            </a:extLst>
          </p:cNvPr>
          <p:cNvSpPr>
            <a:spLocks noGrp="1"/>
          </p:cNvSpPr>
          <p:nvPr>
            <p:ph type="sldNum" sz="quarter" idx="12"/>
          </p:nvPr>
        </p:nvSpPr>
        <p:spPr/>
        <p:txBody>
          <a:bodyPr/>
          <a:lstStyle/>
          <a:p>
            <a:fld id="{F1FCC400-9845-4852-A9C9-E1406FDA319A}" type="slidenum">
              <a:rPr lang="fr-FR" smtClean="0"/>
              <a:t>51</a:t>
            </a:fld>
            <a:endParaRPr lang="fr-FR"/>
          </a:p>
        </p:txBody>
      </p:sp>
    </p:spTree>
    <p:extLst>
      <p:ext uri="{BB962C8B-B14F-4D97-AF65-F5344CB8AC3E}">
        <p14:creationId xmlns:p14="http://schemas.microsoft.com/office/powerpoint/2010/main" val="2589112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9A300E4-655C-FD40-DFC7-233F5B0433B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998B78-A469-BF7C-187D-5B4C94BC4F9E}"/>
              </a:ext>
            </a:extLst>
          </p:cNvPr>
          <p:cNvSpPr>
            <a:spLocks noGrp="1"/>
          </p:cNvSpPr>
          <p:nvPr>
            <p:ph type="title"/>
          </p:nvPr>
        </p:nvSpPr>
        <p:spPr/>
        <p:txBody>
          <a:bodyPr/>
          <a:lstStyle/>
          <a:p>
            <a:r>
              <a:rPr lang="fr-CA" sz="4000" dirty="0"/>
              <a:t>6 – Céréales - stocks</a:t>
            </a:r>
            <a:endParaRPr lang="fr-FR" dirty="0"/>
          </a:p>
        </p:txBody>
      </p:sp>
      <p:sp>
        <p:nvSpPr>
          <p:cNvPr id="3" name="Espace réservé du contenu 2">
            <a:extLst>
              <a:ext uri="{FF2B5EF4-FFF2-40B4-BE49-F238E27FC236}">
                <a16:creationId xmlns:a16="http://schemas.microsoft.com/office/drawing/2014/main" id="{B587FA74-ED30-8DF2-89A4-A5E5375C8C22}"/>
              </a:ext>
            </a:extLst>
          </p:cNvPr>
          <p:cNvSpPr>
            <a:spLocks noGrp="1"/>
          </p:cNvSpPr>
          <p:nvPr>
            <p:ph idx="1"/>
          </p:nvPr>
        </p:nvSpPr>
        <p:spPr>
          <a:xfrm>
            <a:off x="838200" y="1404257"/>
            <a:ext cx="10515600" cy="5236029"/>
          </a:xfrm>
        </p:spPr>
        <p:txBody>
          <a:bodyPr>
            <a:normAutofit fontScale="70000" lnSpcReduction="20000"/>
          </a:bodyPr>
          <a:lstStyle/>
          <a:p>
            <a:pPr marL="0" indent="0" algn="just">
              <a:buNone/>
              <a:tabLst>
                <a:tab pos="270510" algn="l"/>
              </a:tabLst>
            </a:pPr>
            <a:r>
              <a:rPr lang="fr-CA" sz="1800" b="1" dirty="0">
                <a:effectLst/>
                <a:latin typeface="Verdana" panose="020B0604030504040204" pitchFamily="34" charset="0"/>
                <a:ea typeface="Calibri" panose="020F0502020204030204" pitchFamily="34" charset="0"/>
                <a:cs typeface="Times New Roman" panose="02020603050405020304" pitchFamily="18" charset="0"/>
              </a:rPr>
              <a:t>Évaluation des stocks de céréales en fin d’exercice :</a:t>
            </a: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tabLst>
                <a:tab pos="270510" algn="l"/>
              </a:tabLst>
            </a:pPr>
            <a:r>
              <a:rPr lang="fr-CA" sz="1800" dirty="0">
                <a:effectLst/>
                <a:latin typeface="Verdana" panose="020B0604030504040204" pitchFamily="34" charset="0"/>
                <a:ea typeface="Calibri" panose="020F0502020204030204" pitchFamily="34" charset="0"/>
                <a:cs typeface="Times New Roman" panose="02020603050405020304" pitchFamily="18" charset="0"/>
              </a:rPr>
              <a:t>En fin d’exercice, selon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IAS 2</a:t>
            </a:r>
            <a:r>
              <a:rPr lang="fr-CA" sz="1800" dirty="0">
                <a:effectLst/>
                <a:latin typeface="Verdana" panose="020B0604030504040204" pitchFamily="34" charset="0"/>
                <a:ea typeface="Calibri" panose="020F0502020204030204" pitchFamily="34" charset="0"/>
                <a:cs typeface="Times New Roman" panose="02020603050405020304" pitchFamily="18" charset="0"/>
              </a:rPr>
              <a:t> « Stocks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tabLst>
                <a:tab pos="270510" algn="l"/>
              </a:tabLst>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9      Les stocks doivent être évalués au plus faible du coût et de la valeur nette de réalisation.</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tabLst>
                <a:tab pos="270510" algn="l"/>
              </a:tabLst>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La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valeur nette de réalisation</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est le prix de vente estimé dans le cours normal de l'activité, diminué des coûts estimés pour l'achèvement et des coûts estimés nécessaires pour réaliser la vente.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tabLst>
                <a:tab pos="270510" algn="l"/>
              </a:tabLst>
            </a:pPr>
            <a:r>
              <a:rPr lang="fr-CA" sz="1800" dirty="0">
                <a:effectLst/>
                <a:latin typeface="Verdana" panose="020B0604030504040204" pitchFamily="34" charset="0"/>
                <a:ea typeface="Calibri" panose="020F0502020204030204" pitchFamily="34" charset="0"/>
                <a:cs typeface="Times New Roman" panose="02020603050405020304" pitchFamily="18" charset="0"/>
              </a:rPr>
              <a:t>La VNR doit tenir compte des coûts à encourir pour réaliser la vente des stocks. Mais la VNR est une valeur spécifique à l’entité. Étant donné que PSI ne vendra pas ces céréales (elle les utilise pour nourrir ses animaux), il n’y a pas de coûts des ventes à considérer.</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0" i="1" u="none" strike="noStrike" cap="small"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Lors de l’acquisition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Actifs biologiques	40 000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Céréales			40 000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Au moment de la récolte : 25 000 boisseaux @ 3,40 $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Produits agricoles	85 000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Actifs biologiques		40 000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Gain – résultat net		45 000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i="1" dirty="0">
                <a:effectLst/>
                <a:latin typeface="Verdana" panose="020B0604030504040204" pitchFamily="34" charset="0"/>
                <a:ea typeface="Times New Roman" panose="02020603050405020304" pitchFamily="18" charset="0"/>
                <a:cs typeface="Arial" panose="020B0604020202020204" pitchFamily="34" charset="0"/>
              </a:rPr>
              <a:t>Il y a des frais de 0,10 $ par boisseau pour le vendeur afin de transiger sur le marché local. Donc, 3,50 $ - 0,10 $ = 3,40 $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Stocks		87 500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Produits agricoles		87 500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FD1CA010-2300-8775-9A6B-070E9BDF35F5}"/>
              </a:ext>
            </a:extLst>
          </p:cNvPr>
          <p:cNvSpPr>
            <a:spLocks noGrp="1"/>
          </p:cNvSpPr>
          <p:nvPr>
            <p:ph type="sldNum" sz="quarter" idx="12"/>
          </p:nvPr>
        </p:nvSpPr>
        <p:spPr/>
        <p:txBody>
          <a:bodyPr/>
          <a:lstStyle/>
          <a:p>
            <a:fld id="{F1FCC400-9845-4852-A9C9-E1406FDA319A}" type="slidenum">
              <a:rPr lang="fr-FR" smtClean="0"/>
              <a:t>52</a:t>
            </a:fld>
            <a:endParaRPr lang="fr-FR"/>
          </a:p>
        </p:txBody>
      </p:sp>
    </p:spTree>
    <p:extLst>
      <p:ext uri="{BB962C8B-B14F-4D97-AF65-F5344CB8AC3E}">
        <p14:creationId xmlns:p14="http://schemas.microsoft.com/office/powerpoint/2010/main" val="23100132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9524D7F-5575-FDAF-84B8-3CDBE85AAA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71F2EF-951D-5ACF-0539-F4B633BA5E9A}"/>
              </a:ext>
            </a:extLst>
          </p:cNvPr>
          <p:cNvSpPr>
            <a:spLocks noGrp="1"/>
          </p:cNvSpPr>
          <p:nvPr>
            <p:ph type="title"/>
          </p:nvPr>
        </p:nvSpPr>
        <p:spPr/>
        <p:txBody>
          <a:bodyPr/>
          <a:lstStyle/>
          <a:p>
            <a:r>
              <a:rPr lang="fr-CA" sz="4000" dirty="0"/>
              <a:t>6 – Céréales - stocks</a:t>
            </a:r>
            <a:endParaRPr lang="fr-FR" dirty="0"/>
          </a:p>
        </p:txBody>
      </p:sp>
      <p:sp>
        <p:nvSpPr>
          <p:cNvPr id="3" name="Espace réservé du contenu 2">
            <a:extLst>
              <a:ext uri="{FF2B5EF4-FFF2-40B4-BE49-F238E27FC236}">
                <a16:creationId xmlns:a16="http://schemas.microsoft.com/office/drawing/2014/main" id="{BEE89147-B3C5-A475-8C51-02EE722C9E65}"/>
              </a:ext>
            </a:extLst>
          </p:cNvPr>
          <p:cNvSpPr>
            <a:spLocks noGrp="1"/>
          </p:cNvSpPr>
          <p:nvPr>
            <p:ph idx="1"/>
          </p:nvPr>
        </p:nvSpPr>
        <p:spPr>
          <a:xfrm>
            <a:off x="838200" y="1404257"/>
            <a:ext cx="10515600" cy="5236029"/>
          </a:xfrm>
        </p:spPr>
        <p:txBody>
          <a:bodyPr>
            <a:normAutofit/>
          </a:bodyPr>
          <a:lstStyle/>
          <a:p>
            <a:pPr marL="0" indent="0" algn="just">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Au 31 décembre, il ne reste que 18 750 boisseaux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Charge </a:t>
            </a:r>
            <a:r>
              <a:rPr lang="fr-CA" sz="1800" dirty="0">
                <a:latin typeface="Verdana" panose="020B0604030504040204" pitchFamily="34" charset="0"/>
                <a:ea typeface="Calibri" panose="020F0502020204030204" pitchFamily="34" charset="0"/>
                <a:cs typeface="Times New Roman" panose="02020603050405020304" pitchFamily="18" charset="0"/>
              </a:rPr>
              <a:t>-</a:t>
            </a:r>
            <a:r>
              <a:rPr lang="fr-CA" sz="1800" dirty="0">
                <a:effectLst/>
                <a:latin typeface="Verdana" panose="020B0604030504040204" pitchFamily="34" charset="0"/>
                <a:ea typeface="Calibri" panose="020F0502020204030204" pitchFamily="34" charset="0"/>
                <a:cs typeface="Times New Roman" panose="02020603050405020304" pitchFamily="18" charset="0"/>
              </a:rPr>
              <a:t> céréales	21 250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Stocks			21 250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Puisque le prix du marché a augmenté depuis la récolte, la valeur comptable des stocks au 31 décembre est mesurée au coût, soit la JV au moment de la récolte.</a:t>
            </a: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Aucun ajustement de valeur pour les 18 750 boisseaux restants.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808F3C25-AD09-E130-942F-24B2E71B22B6}"/>
              </a:ext>
            </a:extLst>
          </p:cNvPr>
          <p:cNvSpPr>
            <a:spLocks noGrp="1"/>
          </p:cNvSpPr>
          <p:nvPr>
            <p:ph type="sldNum" sz="quarter" idx="12"/>
          </p:nvPr>
        </p:nvSpPr>
        <p:spPr/>
        <p:txBody>
          <a:bodyPr/>
          <a:lstStyle/>
          <a:p>
            <a:fld id="{F1FCC400-9845-4852-A9C9-E1406FDA319A}" type="slidenum">
              <a:rPr lang="fr-FR" smtClean="0"/>
              <a:t>53</a:t>
            </a:fld>
            <a:endParaRPr lang="fr-FR"/>
          </a:p>
        </p:txBody>
      </p:sp>
    </p:spTree>
    <p:extLst>
      <p:ext uri="{BB962C8B-B14F-4D97-AF65-F5344CB8AC3E}">
        <p14:creationId xmlns:p14="http://schemas.microsoft.com/office/powerpoint/2010/main" val="593158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F9FD50B-A2AE-540E-D1D4-DFBA298439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1088A4-FEAB-8370-5E3E-E87BDFD435C8}"/>
              </a:ext>
            </a:extLst>
          </p:cNvPr>
          <p:cNvSpPr>
            <a:spLocks noGrp="1"/>
          </p:cNvSpPr>
          <p:nvPr>
            <p:ph type="title"/>
          </p:nvPr>
        </p:nvSpPr>
        <p:spPr/>
        <p:txBody>
          <a:bodyPr/>
          <a:lstStyle/>
          <a:p>
            <a:r>
              <a:rPr lang="fr-CA" sz="4000" dirty="0"/>
              <a:t>Indicateur 6 – Céréales - stocks</a:t>
            </a:r>
            <a:endParaRPr lang="fr-FR" dirty="0"/>
          </a:p>
        </p:txBody>
      </p:sp>
      <p:sp>
        <p:nvSpPr>
          <p:cNvPr id="3" name="Espace réservé du contenu 2">
            <a:extLst>
              <a:ext uri="{FF2B5EF4-FFF2-40B4-BE49-F238E27FC236}">
                <a16:creationId xmlns:a16="http://schemas.microsoft.com/office/drawing/2014/main" id="{68116AFE-AD84-D88F-1E70-F8919383857C}"/>
              </a:ext>
            </a:extLst>
          </p:cNvPr>
          <p:cNvSpPr>
            <a:spLocks noGrp="1"/>
          </p:cNvSpPr>
          <p:nvPr>
            <p:ph idx="1"/>
          </p:nvPr>
        </p:nvSpPr>
        <p:spPr/>
        <p:txBody>
          <a:bodyPr>
            <a:normAutofit/>
          </a:bodyPr>
          <a:lstStyle/>
          <a:p>
            <a:r>
              <a:rPr lang="fr-CA" sz="2400" dirty="0"/>
              <a:t>EVC – 3 pts : Analyse adéquatement nature OU évaluation lors de la récolte OU évaluation au 31 décembre OU deux concepts avec petites erreurs</a:t>
            </a: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évaluation lors de la récolte ET évaluation au 31 décembre</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en profondeur nature ET évaluation subséquente, incluant l'analyse sommaire des deux méthodes ET détermination de la juste valeur</a:t>
            </a:r>
          </a:p>
          <a:p>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évaluation lors de la récolte ET évaluation au 31 décembre   ET écritures de correction </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EVC  (3 pts)</a:t>
            </a:r>
          </a:p>
          <a:p>
            <a:pPr marL="0" indent="0">
              <a:buNone/>
            </a:pPr>
            <a:r>
              <a:rPr lang="fr-FR" sz="2400" i="1" dirty="0">
                <a:solidFill>
                  <a:srgbClr val="FF0000"/>
                </a:solidFill>
              </a:rPr>
              <a:t>Moyenne : 2,23</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F5BFBD9B-BC28-9072-64C5-161421A72AD0}"/>
              </a:ext>
            </a:extLst>
          </p:cNvPr>
          <p:cNvSpPr>
            <a:spLocks noGrp="1"/>
          </p:cNvSpPr>
          <p:nvPr>
            <p:ph type="sldNum" sz="quarter" idx="12"/>
          </p:nvPr>
        </p:nvSpPr>
        <p:spPr/>
        <p:txBody>
          <a:bodyPr/>
          <a:lstStyle/>
          <a:p>
            <a:fld id="{F1FCC400-9845-4852-A9C9-E1406FDA319A}" type="slidenum">
              <a:rPr lang="fr-FR" smtClean="0"/>
              <a:t>54</a:t>
            </a:fld>
            <a:endParaRPr lang="fr-FR"/>
          </a:p>
        </p:txBody>
      </p:sp>
    </p:spTree>
    <p:extLst>
      <p:ext uri="{BB962C8B-B14F-4D97-AF65-F5344CB8AC3E}">
        <p14:creationId xmlns:p14="http://schemas.microsoft.com/office/powerpoint/2010/main" val="3869895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7BE2F2D-CF00-4BDA-38B0-038119017A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AC35F5-771B-A3EF-67FB-4B56326386CA}"/>
              </a:ext>
            </a:extLst>
          </p:cNvPr>
          <p:cNvSpPr>
            <a:spLocks noGrp="1"/>
          </p:cNvSpPr>
          <p:nvPr>
            <p:ph type="title"/>
          </p:nvPr>
        </p:nvSpPr>
        <p:spPr/>
        <p:txBody>
          <a:bodyPr>
            <a:normAutofit/>
          </a:bodyPr>
          <a:lstStyle/>
          <a:p>
            <a:r>
              <a:rPr lang="fr-CA" sz="4000" dirty="0"/>
              <a:t>Indicateur 6 – Céréales – stocks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B1E87FD4-D582-3C12-83C7-85FB39F5F43C}"/>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685152DF-CF7C-D92C-9B89-3D2A92D35F54}"/>
              </a:ext>
            </a:extLst>
          </p:cNvPr>
          <p:cNvSpPr>
            <a:spLocks noGrp="1"/>
          </p:cNvSpPr>
          <p:nvPr>
            <p:ph type="sldNum" sz="quarter" idx="12"/>
          </p:nvPr>
        </p:nvSpPr>
        <p:spPr/>
        <p:txBody>
          <a:bodyPr/>
          <a:lstStyle/>
          <a:p>
            <a:fld id="{F1FCC400-9845-4852-A9C9-E1406FDA319A}" type="slidenum">
              <a:rPr lang="fr-FR" smtClean="0"/>
              <a:t>55</a:t>
            </a:fld>
            <a:endParaRPr lang="fr-FR"/>
          </a:p>
        </p:txBody>
      </p:sp>
      <p:sp>
        <p:nvSpPr>
          <p:cNvPr id="5" name="ZoneTexte 4">
            <a:extLst>
              <a:ext uri="{FF2B5EF4-FFF2-40B4-BE49-F238E27FC236}">
                <a16:creationId xmlns:a16="http://schemas.microsoft.com/office/drawing/2014/main" id="{607E4A43-E81E-8367-8460-0AD839B7620D}"/>
              </a:ext>
            </a:extLst>
          </p:cNvPr>
          <p:cNvSpPr txBox="1"/>
          <p:nvPr/>
        </p:nvSpPr>
        <p:spPr>
          <a:xfrm>
            <a:off x="918720" y="2120753"/>
            <a:ext cx="10354559" cy="1200329"/>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M</a:t>
            </a:r>
            <a:r>
              <a:rPr lang="fr-FR" sz="2400" dirty="0">
                <a:effectLst/>
                <a:latin typeface="Aptos" panose="020B0004020202020204" pitchFamily="34" charset="0"/>
                <a:ea typeface="Times New Roman" panose="02020603050405020304" pitchFamily="18" charset="0"/>
                <a:cs typeface="Aptos" panose="020B0004020202020204" pitchFamily="34" charset="0"/>
              </a:rPr>
              <a:t>oins bien réussi. Rapide analyse de la nature. Plusieurs erreurs sur la JV, dans les calculs et les écritures. Peu traite du moment de la récolte et beaucoup ont des erreurs au 31 déc.</a:t>
            </a:r>
            <a:endParaRPr lang="fr-FR" dirty="0"/>
          </a:p>
        </p:txBody>
      </p:sp>
    </p:spTree>
    <p:extLst>
      <p:ext uri="{BB962C8B-B14F-4D97-AF65-F5344CB8AC3E}">
        <p14:creationId xmlns:p14="http://schemas.microsoft.com/office/powerpoint/2010/main" val="3561042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69F51C4D-1DA4-A6FF-0DD7-B8560E8C06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9BA7D4-BFF5-4C5B-B1C0-613C1E3920D4}"/>
              </a:ext>
            </a:extLst>
          </p:cNvPr>
          <p:cNvSpPr>
            <a:spLocks noGrp="1"/>
          </p:cNvSpPr>
          <p:nvPr>
            <p:ph type="title"/>
          </p:nvPr>
        </p:nvSpPr>
        <p:spPr/>
        <p:txBody>
          <a:bodyPr>
            <a:normAutofit/>
          </a:bodyPr>
          <a:lstStyle/>
          <a:p>
            <a:r>
              <a:rPr lang="fr-CA" sz="4000" dirty="0">
                <a:solidFill>
                  <a:srgbClr val="FF0000"/>
                </a:solidFill>
              </a:rPr>
              <a:t>7 – Veaux</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9371DD1A-20B9-E173-5056-B31C1B2527B8}"/>
              </a:ext>
            </a:extLst>
          </p:cNvPr>
          <p:cNvSpPr>
            <a:spLocks noGrp="1"/>
          </p:cNvSpPr>
          <p:nvPr>
            <p:ph idx="1"/>
          </p:nvPr>
        </p:nvSpPr>
        <p:spPr>
          <a:xfrm>
            <a:off x="838200" y="1338606"/>
            <a:ext cx="10515600" cy="5314710"/>
          </a:xfrm>
        </p:spPr>
        <p:txBody>
          <a:bodyPr>
            <a:noAutofit/>
          </a:bodyPr>
          <a:lstStyle/>
          <a:p>
            <a:pPr marL="0" indent="0" algn="just">
              <a:lnSpc>
                <a:spcPct val="115000"/>
              </a:lnSpc>
              <a:buNone/>
            </a:pPr>
            <a:r>
              <a:rPr lang="fr-CA" sz="1800" i="1" dirty="0">
                <a:effectLst/>
                <a:latin typeface="Arial" panose="020B0604020202020204" pitchFamily="34" charset="0"/>
                <a:ea typeface="Times New Roman" panose="02020603050405020304" pitchFamily="18" charset="0"/>
                <a:cs typeface="Arial" panose="020B0604020202020204" pitchFamily="34" charset="0"/>
              </a:rPr>
              <a:t>Bovins Highland</a:t>
            </a:r>
            <a:r>
              <a:rPr lang="fr-CA" sz="1800" dirty="0">
                <a:effectLst/>
                <a:latin typeface="Arial" panose="020B0604020202020204" pitchFamily="34" charset="0"/>
                <a:ea typeface="Times New Roman" panose="02020603050405020304" pitchFamily="18" charset="0"/>
                <a:cs typeface="Arial" panose="020B0604020202020204" pitchFamily="34" charset="0"/>
              </a:rPr>
              <a:t> </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Les bovins Highland sont bien adaptés au territoire québécois. Ils vivent dehors toute l’année et sont moins malades, ce qui élimine le recours aux antibiotiques. Il en résulte une viande unique sur le marché, ce qui se traduit par des prix de détail plus élevés de 20 % que celle du bœuf traditionnel. À l’abattoir, le bouvillon de boucherie se vend 10 % de plus qu’un animal élevé de manière traditionnelle.</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Une vache vêle en avril. Le veau est sevré à six (6) mois alors qu’il pèse environ 300 kilogrammes. Il suit sa mère dans les pâturages pendant tout l’été. Puis, il est nourri pendant deux (2) ans, toujours à l’extérieur.  </a:t>
            </a: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À un an, le veau pèse 400 kilogrammes en moyenne. Il existe un marché pour les veaux d’un an. D’après le site des enchères électroniques de la Fédération des producteurs de bovins du Québec, PSI pourrait en obtenir 250 $/100 kg. Ce prix ne tient pas compte du fait que le veau a été élevé dans une ferme biologique. Il faut également payer des frais pour chaque veau : l’inscription à 8,75 $, la commission à 9 $; les frais de pesée à 10 $, ainsi que le transport pour amener le veau au lieu de livraison des enchères à 75 $.</a:t>
            </a:r>
            <a:r>
              <a:rPr lang="fr-CA" sz="1800" dirty="0">
                <a:latin typeface="Arial" panose="020B0604020202020204" pitchFamily="34" charset="0"/>
                <a:ea typeface="Times New Roman" panose="02020603050405020304" pitchFamily="18" charset="0"/>
                <a:cs typeface="Arial" panose="020B0604020202020204" pitchFamily="34" charset="0"/>
              </a:rPr>
              <a:t> (…)</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04438AC3-CC76-B16C-B703-FFB40824F2EC}"/>
              </a:ext>
            </a:extLst>
          </p:cNvPr>
          <p:cNvSpPr>
            <a:spLocks noGrp="1"/>
          </p:cNvSpPr>
          <p:nvPr>
            <p:ph type="sldNum" sz="quarter" idx="12"/>
          </p:nvPr>
        </p:nvSpPr>
        <p:spPr/>
        <p:txBody>
          <a:bodyPr/>
          <a:lstStyle/>
          <a:p>
            <a:fld id="{F1FCC400-9845-4852-A9C9-E1406FDA319A}" type="slidenum">
              <a:rPr lang="fr-FR" smtClean="0"/>
              <a:t>56</a:t>
            </a:fld>
            <a:endParaRPr lang="fr-FR"/>
          </a:p>
        </p:txBody>
      </p:sp>
    </p:spTree>
    <p:extLst>
      <p:ext uri="{BB962C8B-B14F-4D97-AF65-F5344CB8AC3E}">
        <p14:creationId xmlns:p14="http://schemas.microsoft.com/office/powerpoint/2010/main" val="2276360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a:extLst>
            <a:ext uri="{FF2B5EF4-FFF2-40B4-BE49-F238E27FC236}">
              <a16:creationId xmlns:a16="http://schemas.microsoft.com/office/drawing/2014/main" id="{E246BBC2-50F0-86FB-4BDC-E61CB3C1AC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A29D2C-8DAD-C2A5-5F12-0494A47651E8}"/>
              </a:ext>
            </a:extLst>
          </p:cNvPr>
          <p:cNvSpPr>
            <a:spLocks noGrp="1"/>
          </p:cNvSpPr>
          <p:nvPr>
            <p:ph type="title"/>
          </p:nvPr>
        </p:nvSpPr>
        <p:spPr/>
        <p:txBody>
          <a:bodyPr>
            <a:normAutofit/>
          </a:bodyPr>
          <a:lstStyle/>
          <a:p>
            <a:r>
              <a:rPr lang="fr-CA" sz="4000" dirty="0">
                <a:solidFill>
                  <a:srgbClr val="FF0000"/>
                </a:solidFill>
              </a:rPr>
              <a:t>7 – Veaux</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E2911285-BE29-1D41-1146-FED56C5477AC}"/>
              </a:ext>
            </a:extLst>
          </p:cNvPr>
          <p:cNvSpPr>
            <a:spLocks noGrp="1"/>
          </p:cNvSpPr>
          <p:nvPr>
            <p:ph idx="1"/>
          </p:nvPr>
        </p:nvSpPr>
        <p:spPr>
          <a:xfrm>
            <a:off x="838200" y="1517714"/>
            <a:ext cx="10515600" cy="5135601"/>
          </a:xfrm>
        </p:spPr>
        <p:txBody>
          <a:bodyPr>
            <a:noAutofit/>
          </a:bodyPr>
          <a:lstStyle/>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 Ces enchères électroniques ne sont pas utilisées par les producteurs bios qui écoulent leur production directement auprès de supermarchés triés sur le volet, mais leur prix est basé sur ces enchères, bien qu’il soit par la suite bonifié pour refléter le facteur « bio ». Les ventes directes permettent de ne pas encourir les frais d’inscription et de commission, mais les frais de pesée doivent quand même être acquittés par le vendeur. Les frais de transport vers les abattoirs choisis par les supermarchés sont similaires à ceux vers les enchères.</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Au moment de l’acquisition de la ferme, l’inventaire du cheptel comptait 100 veaux. Le prix de chaque veau a été établi en reflétant le prix de 550 $ par tête, avant ajustement pour la caractéristique biologique, ce qui représentait le prix d’un veau de taille équivalente sur le site d’enchères électroniques auquel l’entreprise a accès et qui est le marché le plus utilisé par les agriculteurs. Au 31 décembre 2024, la valeur des veaux acquis s’est accrue d’approximativement 170 $ chacun si on omet la prime pour la caractéristique biologique.</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15000"/>
              </a:lnSpc>
              <a:buNone/>
            </a:pPr>
            <a:r>
              <a:rPr lang="fr-CA" sz="1800" dirty="0">
                <a:effectLst/>
                <a:latin typeface="Arial" panose="020B0604020202020204" pitchFamily="34" charset="0"/>
                <a:ea typeface="Times New Roman" panose="02020603050405020304" pitchFamily="18" charset="0"/>
                <a:cs typeface="Arial" panose="020B0604020202020204" pitchFamily="34" charset="0"/>
              </a:rPr>
              <a:t>Les veaux sont reflétés à leur coût d’acquisition dans l’état de la situation financière, au 31 décembre 2024.</a:t>
            </a:r>
            <a:endParaRPr lang="fr-FR" sz="18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2B41928-FBF8-21F1-95AE-DFF146ECE001}"/>
              </a:ext>
            </a:extLst>
          </p:cNvPr>
          <p:cNvSpPr>
            <a:spLocks noGrp="1"/>
          </p:cNvSpPr>
          <p:nvPr>
            <p:ph type="sldNum" sz="quarter" idx="12"/>
          </p:nvPr>
        </p:nvSpPr>
        <p:spPr/>
        <p:txBody>
          <a:bodyPr/>
          <a:lstStyle/>
          <a:p>
            <a:fld id="{F1FCC400-9845-4852-A9C9-E1406FDA319A}" type="slidenum">
              <a:rPr lang="fr-FR" smtClean="0"/>
              <a:t>57</a:t>
            </a:fld>
            <a:endParaRPr lang="fr-FR"/>
          </a:p>
        </p:txBody>
      </p:sp>
    </p:spTree>
    <p:extLst>
      <p:ext uri="{BB962C8B-B14F-4D97-AF65-F5344CB8AC3E}">
        <p14:creationId xmlns:p14="http://schemas.microsoft.com/office/powerpoint/2010/main" val="2618175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7A9BD52-1BB9-7DE5-0AFD-9C25BF4447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3CEC3D-0298-4C9F-D54D-685CC3AF8559}"/>
              </a:ext>
            </a:extLst>
          </p:cNvPr>
          <p:cNvSpPr>
            <a:spLocks noGrp="1"/>
          </p:cNvSpPr>
          <p:nvPr>
            <p:ph type="title"/>
          </p:nvPr>
        </p:nvSpPr>
        <p:spPr/>
        <p:txBody>
          <a:bodyPr/>
          <a:lstStyle/>
          <a:p>
            <a:r>
              <a:rPr lang="fr-CA" sz="4000" dirty="0"/>
              <a:t>7 – Veaux</a:t>
            </a:r>
            <a:endParaRPr lang="fr-FR" dirty="0"/>
          </a:p>
        </p:txBody>
      </p:sp>
      <p:sp>
        <p:nvSpPr>
          <p:cNvPr id="3" name="Espace réservé du contenu 2">
            <a:extLst>
              <a:ext uri="{FF2B5EF4-FFF2-40B4-BE49-F238E27FC236}">
                <a16:creationId xmlns:a16="http://schemas.microsoft.com/office/drawing/2014/main" id="{14866431-DA5D-D6FA-4CAD-3F820C13BEF8}"/>
              </a:ext>
            </a:extLst>
          </p:cNvPr>
          <p:cNvSpPr>
            <a:spLocks noGrp="1"/>
          </p:cNvSpPr>
          <p:nvPr>
            <p:ph idx="1"/>
          </p:nvPr>
        </p:nvSpPr>
        <p:spPr>
          <a:xfrm>
            <a:off x="838200" y="1404257"/>
            <a:ext cx="10515600" cy="5236029"/>
          </a:xfrm>
        </p:spPr>
        <p:txBody>
          <a:bodyPr>
            <a:normAutofit fontScale="62500" lnSpcReduction="20000"/>
          </a:bodyPr>
          <a:lstStyle/>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En date de fin d’exercice, PSI possède 100 veaux – les veaux naissent en avril, donc aucun veau additionnel.  </a:t>
            </a:r>
          </a:p>
          <a:p>
            <a:pPr marL="0" indent="0" algn="just">
              <a:spcBef>
                <a:spcPts val="0"/>
              </a:spcBef>
              <a:buNone/>
            </a:pPr>
            <a:endParaRPr lang="fr-FR" sz="15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Nature des veaux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IAS 41 les veaux sont des actifs biologiques - car ce sont des animaux vivants.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Évaluation (mesure) des veaux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1" cap="small" dirty="0">
                <a:effectLst/>
                <a:latin typeface="Verdana" panose="020B0604030504040204" pitchFamily="34" charset="0"/>
                <a:ea typeface="Calibri" panose="020F0502020204030204" pitchFamily="34" charset="0"/>
                <a:cs typeface="Times New Roman" panose="02020603050405020304" pitchFamily="18" charset="0"/>
              </a:rPr>
              <a:t>Au moment de la comptabilisation initiale : JV moins les coûts de la vente</a:t>
            </a:r>
            <a:endParaRPr lang="fr-FR" sz="1800" cap="small" dirty="0">
              <a:effectLst/>
              <a:latin typeface="Verdana" panose="020B0604030504040204" pitchFamily="34" charset="0"/>
              <a:ea typeface="Times New Roman" panose="02020603050405020304" pitchFamily="18"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Un actif biologique doit être évalué lors de la comptabilisation initiale et à la fin de chaque période de présentation de l'information financière à sa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juste valeur</a:t>
            </a: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diminuée des coûts de la vente </a:t>
            </a:r>
            <a:r>
              <a:rPr lang="fr-CA" sz="1800" dirty="0">
                <a:effectLst/>
                <a:latin typeface="Verdana" panose="020B0604030504040204" pitchFamily="34" charset="0"/>
                <a:ea typeface="Calibri" panose="020F0502020204030204" pitchFamily="34" charset="0"/>
                <a:cs typeface="Times New Roman" panose="02020603050405020304" pitchFamily="18" charset="0"/>
              </a:rPr>
              <a:t>(…) lorsque la juste valeur peut être évaluée de manière fiable. » (par.12)</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La JV doit être déterminée en tenant compte des indications de l’IFRS 13 « Évaluation de la juste valeur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spcBef>
                <a:spcPts val="0"/>
              </a:spcBef>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effectLst/>
                <a:latin typeface="Verdana" panose="020B0604030504040204" pitchFamily="34" charset="0"/>
                <a:ea typeface="Calibri" panose="020F0502020204030204" pitchFamily="34" charset="0"/>
                <a:cs typeface="Times New Roman" panose="02020603050405020304" pitchFamily="18" charset="0"/>
              </a:rPr>
              <a:t>Le marché actif pour les bovins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Il existe un marché actif au Québec pour les bovidés : les enchères électroniques de la Fédération des producteurs de bovins du Québec.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spcBef>
                <a:spcPts val="0"/>
              </a:spcBef>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Selon IFRS 13</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11     L'évaluation d'une juste valeur porte sur un actif ou un passif spécifique. Par conséquent, lorsqu'elle détermine la juste valeur, l'entité doit prendre en compte les caractéristiques de l'actif ou du passif si c'est ce que feraient les intervenants du marché pour fixer le prix de l'actif ou du passif à la date d'évaluation. Ces caractéristiques comprennent notamment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l'état de l'actif et l'endroit où il se trouve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les restrictions, le cas échéant, sur la vente ou l'utilisation de l'actif.</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La juste valeur devra tenir compte de </a:t>
            </a:r>
            <a:r>
              <a:rPr lang="fr-CA" sz="1800" b="1" u="dotted" dirty="0">
                <a:effectLst/>
                <a:latin typeface="Verdana" panose="020B0604030504040204" pitchFamily="34" charset="0"/>
                <a:ea typeface="Calibri" panose="020F0502020204030204" pitchFamily="34" charset="0"/>
                <a:cs typeface="Times New Roman" panose="02020603050405020304" pitchFamily="18" charset="0"/>
              </a:rPr>
              <a:t>l’état actuel</a:t>
            </a:r>
            <a:r>
              <a:rPr lang="fr-CA" sz="1800" dirty="0">
                <a:effectLst/>
                <a:latin typeface="Verdana" panose="020B0604030504040204" pitchFamily="34" charset="0"/>
                <a:ea typeface="Calibri" panose="020F0502020204030204" pitchFamily="34" charset="0"/>
                <a:cs typeface="Times New Roman" panose="02020603050405020304" pitchFamily="18" charset="0"/>
              </a:rPr>
              <a:t> des veaux.  Cela signifie qu’un veau naissant n’a pas la même valeur qu’un veau sevré ou qu’un bœuf de boucherie.  Cela signifie aussi qu’un animal élevé de manière traditionnelle n’a pas la même juste valeur qu’un animal élevé dans une ferme biologique.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Même si on ne transige pas des veaux bios sur le site des enchères électroniques, il sera possible de retenir cette « approche par le marché » </a:t>
            </a:r>
            <a:r>
              <a:rPr lang="fr-CA" sz="2200" b="1" dirty="0">
                <a:effectLst/>
                <a:latin typeface="Verdana" panose="020B0604030504040204" pitchFamily="34" charset="0"/>
                <a:ea typeface="Calibri" panose="020F0502020204030204" pitchFamily="34" charset="0"/>
                <a:cs typeface="Times New Roman" panose="02020603050405020304" pitchFamily="18" charset="0"/>
              </a:rPr>
              <a:t>en apportant des ajustements au prix coté - +10% </a:t>
            </a:r>
            <a:r>
              <a:rPr lang="fr-CA" sz="2200" i="1" dirty="0">
                <a:effectLst/>
                <a:latin typeface="Verdana" panose="020B0604030504040204" pitchFamily="34" charset="0"/>
                <a:ea typeface="Calibri" panose="020F0502020204030204" pitchFamily="34" charset="0"/>
                <a:cs typeface="Times New Roman" panose="02020603050405020304" pitchFamily="18" charset="0"/>
              </a:rPr>
              <a:t>(et non 20 % - marché détail).</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67CC65BE-CA6A-DA2D-BA84-6E32E997A2B0}"/>
              </a:ext>
            </a:extLst>
          </p:cNvPr>
          <p:cNvSpPr>
            <a:spLocks noGrp="1"/>
          </p:cNvSpPr>
          <p:nvPr>
            <p:ph type="sldNum" sz="quarter" idx="12"/>
          </p:nvPr>
        </p:nvSpPr>
        <p:spPr/>
        <p:txBody>
          <a:bodyPr/>
          <a:lstStyle/>
          <a:p>
            <a:fld id="{F1FCC400-9845-4852-A9C9-E1406FDA319A}" type="slidenum">
              <a:rPr lang="fr-FR" smtClean="0"/>
              <a:t>58</a:t>
            </a:fld>
            <a:endParaRPr lang="fr-FR"/>
          </a:p>
        </p:txBody>
      </p:sp>
    </p:spTree>
    <p:extLst>
      <p:ext uri="{BB962C8B-B14F-4D97-AF65-F5344CB8AC3E}">
        <p14:creationId xmlns:p14="http://schemas.microsoft.com/office/powerpoint/2010/main" val="18359831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C286C90-C07B-52E8-FCC0-33748CF4D9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01ACE2-82F7-C4BE-2D31-B2F6C6F0366B}"/>
              </a:ext>
            </a:extLst>
          </p:cNvPr>
          <p:cNvSpPr>
            <a:spLocks noGrp="1"/>
          </p:cNvSpPr>
          <p:nvPr>
            <p:ph type="title"/>
          </p:nvPr>
        </p:nvSpPr>
        <p:spPr/>
        <p:txBody>
          <a:bodyPr/>
          <a:lstStyle/>
          <a:p>
            <a:r>
              <a:rPr lang="fr-CA" sz="4000" dirty="0"/>
              <a:t>7 – Veaux</a:t>
            </a:r>
            <a:endParaRPr lang="fr-FR" dirty="0"/>
          </a:p>
        </p:txBody>
      </p:sp>
      <p:sp>
        <p:nvSpPr>
          <p:cNvPr id="3" name="Espace réservé du contenu 2">
            <a:extLst>
              <a:ext uri="{FF2B5EF4-FFF2-40B4-BE49-F238E27FC236}">
                <a16:creationId xmlns:a16="http://schemas.microsoft.com/office/drawing/2014/main" id="{9E9F461E-D302-E114-0BED-BBC391216899}"/>
              </a:ext>
            </a:extLst>
          </p:cNvPr>
          <p:cNvSpPr>
            <a:spLocks noGrp="1"/>
          </p:cNvSpPr>
          <p:nvPr>
            <p:ph idx="1"/>
          </p:nvPr>
        </p:nvSpPr>
        <p:spPr>
          <a:xfrm>
            <a:off x="838200" y="1404257"/>
            <a:ext cx="10515600" cy="5236029"/>
          </a:xfrm>
        </p:spPr>
        <p:txBody>
          <a:bodyPr>
            <a:normAutofit fontScale="92500" lnSpcReduction="20000"/>
          </a:bodyPr>
          <a:lstStyle/>
          <a:p>
            <a:pPr marL="0" indent="0" algn="just">
              <a:buNone/>
            </a:pPr>
            <a:r>
              <a:rPr lang="fr-CA" sz="1800" u="dotted" dirty="0">
                <a:effectLst/>
                <a:latin typeface="Verdana" panose="020B0604030504040204" pitchFamily="34" charset="0"/>
                <a:ea typeface="Calibri" panose="020F0502020204030204" pitchFamily="34" charset="0"/>
                <a:cs typeface="Times New Roman" panose="02020603050405020304" pitchFamily="18" charset="0"/>
              </a:rPr>
              <a:t>La </a:t>
            </a:r>
            <a:r>
              <a:rPr lang="fr-CA" sz="1800" b="1" u="dotted" dirty="0">
                <a:effectLst/>
                <a:latin typeface="Verdana" panose="020B0604030504040204" pitchFamily="34" charset="0"/>
                <a:ea typeface="Calibri" panose="020F0502020204030204" pitchFamily="34" charset="0"/>
                <a:cs typeface="Times New Roman" panose="02020603050405020304" pitchFamily="18" charset="0"/>
              </a:rPr>
              <a:t>juste valeur</a:t>
            </a:r>
            <a:r>
              <a:rPr lang="fr-CA" sz="1800" u="dotted" dirty="0">
                <a:effectLst/>
                <a:latin typeface="Verdana" panose="020B0604030504040204" pitchFamily="34" charset="0"/>
                <a:ea typeface="Calibri" panose="020F0502020204030204" pitchFamily="34" charset="0"/>
                <a:cs typeface="Times New Roman" panose="02020603050405020304" pitchFamily="18" charset="0"/>
              </a:rPr>
              <a:t> des veaux (selon IFRS 13)</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9      La présente norme définit la juste valeur comme le prix qui serait reçu pour la vente d'un actif ou payé pour le transfert d'un passif lors d'une transaction normale entre des intervenants du marché à la date d'évaluation.</a:t>
            </a:r>
            <a:endParaRPr lang="fr-CA"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none" strike="noStrike"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a:t>
            </a:r>
            <a:endParaRPr lang="fr-CA"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26       Les coûts de transaction ne comprennent pas les </a:t>
            </a:r>
            <a:r>
              <a:rPr lang="fr-CA" sz="1800" i="1"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frais de transport</a:t>
            </a:r>
            <a:r>
              <a:rPr lang="fr-CA" sz="1800" u="dotted"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Si l'endroit où se trouve l'actif est une caractéristique de celui-ci (ce qui pourrait être le cas pour une marchandise), le prix sur le marché principal (ou le marché le plus avantageux) doit être ajusté en fonction des coûts qui seraient engagés pour transporter l'actif de l'endroit où il se trouve jusqu'à ce marché.</a:t>
            </a:r>
            <a:endParaRPr lang="fr-CA"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Donc, la juste valeur du bétail est le prix qui serait reçu considérant qu’il s’agit d’un élevage biologique, moins les coûts de transport pour l’amener au marché.</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sng" strike="noStrike" dirty="0">
                <a:effectLst/>
                <a:latin typeface="Verdana" panose="020B0604030504040204" pitchFamily="34" charset="0"/>
                <a:ea typeface="Calibri" panose="020F0502020204030204" pitchFamily="34" charset="0"/>
                <a:cs typeface="Times New Roman" panose="02020603050405020304" pitchFamily="18" charset="0"/>
              </a:rPr>
              <a:t>Prix qui serait reçu</a:t>
            </a:r>
            <a:r>
              <a:rPr lang="fr-CA" sz="1800" u="dotted" strike="noStrike" dirty="0">
                <a:effectLst/>
                <a:latin typeface="Verdana" panose="020B0604030504040204" pitchFamily="34" charset="0"/>
                <a:ea typeface="Calibri" panose="020F0502020204030204" pitchFamily="34" charset="0"/>
                <a:cs typeface="Times New Roman" panose="02020603050405020304" pitchFamily="18" charset="0"/>
              </a:rPr>
              <a:t> pour les veaux, compte tenu de leur état </a:t>
            </a:r>
            <a:endParaRPr lang="fr-FR" sz="1800" u="none" strike="noStrike"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La ferme (PSI) élève les animaux de manière biologique pour ensuite les vendre directement aux supermarchés (et, éventuellement, dans ses magasins).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Au 31 décembre, on cherche à évaluer le veau vivant (en tant qu’actif biologique).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F5F4F041-97B3-177C-B254-2D7E9A16713A}"/>
              </a:ext>
            </a:extLst>
          </p:cNvPr>
          <p:cNvSpPr>
            <a:spLocks noGrp="1"/>
          </p:cNvSpPr>
          <p:nvPr>
            <p:ph type="sldNum" sz="quarter" idx="12"/>
          </p:nvPr>
        </p:nvSpPr>
        <p:spPr/>
        <p:txBody>
          <a:bodyPr/>
          <a:lstStyle/>
          <a:p>
            <a:fld id="{F1FCC400-9845-4852-A9C9-E1406FDA319A}" type="slidenum">
              <a:rPr lang="fr-FR" smtClean="0"/>
              <a:t>59</a:t>
            </a:fld>
            <a:endParaRPr lang="fr-FR"/>
          </a:p>
        </p:txBody>
      </p:sp>
    </p:spTree>
    <p:extLst>
      <p:ext uri="{BB962C8B-B14F-4D97-AF65-F5344CB8AC3E}">
        <p14:creationId xmlns:p14="http://schemas.microsoft.com/office/powerpoint/2010/main" val="4117200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52E0DF4-4D0F-A84A-0C5E-082713ADC7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D9DCEBA-DCAF-3EF6-4279-425E519835CA}"/>
              </a:ext>
            </a:extLst>
          </p:cNvPr>
          <p:cNvSpPr>
            <a:spLocks noGrp="1"/>
          </p:cNvSpPr>
          <p:nvPr>
            <p:ph type="title"/>
          </p:nvPr>
        </p:nvSpPr>
        <p:spPr/>
        <p:txBody>
          <a:bodyPr/>
          <a:lstStyle/>
          <a:p>
            <a:r>
              <a:rPr lang="fr-CA" sz="4000" dirty="0"/>
              <a:t>7 – Veaux</a:t>
            </a:r>
            <a:endParaRPr lang="fr-FR" dirty="0"/>
          </a:p>
        </p:txBody>
      </p:sp>
      <p:sp>
        <p:nvSpPr>
          <p:cNvPr id="3" name="Espace réservé du contenu 2">
            <a:extLst>
              <a:ext uri="{FF2B5EF4-FFF2-40B4-BE49-F238E27FC236}">
                <a16:creationId xmlns:a16="http://schemas.microsoft.com/office/drawing/2014/main" id="{4C21D7E3-50BB-8AA2-9919-BF320CB22570}"/>
              </a:ext>
            </a:extLst>
          </p:cNvPr>
          <p:cNvSpPr>
            <a:spLocks noGrp="1"/>
          </p:cNvSpPr>
          <p:nvPr>
            <p:ph idx="1"/>
          </p:nvPr>
        </p:nvSpPr>
        <p:spPr>
          <a:xfrm>
            <a:off x="838200" y="1404257"/>
            <a:ext cx="10515600" cy="5236029"/>
          </a:xfrm>
        </p:spPr>
        <p:txBody>
          <a:bodyPr>
            <a:normAutofit fontScale="62500" lnSpcReduction="20000"/>
          </a:bodyPr>
          <a:lstStyle/>
          <a:p>
            <a:pPr marL="0" indent="0" algn="just">
              <a:buNone/>
            </a:pPr>
            <a:r>
              <a:rPr lang="fr-CA" sz="1800" b="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Données d'entrée de niveau 2</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81       Les données d'entrée de niveau 2 sont des données concernant l'actif ou le passif, autres que les cours du marché inclus dans les données d'entrée de niveau 1, qui sont observables directement ou indirectement.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82       Si l'actif ou le passif a une échéance spécifiée (contractuelle), une donnée d'entrée de niveau 2 doit être observable pour la quasi-totalité de la durée de l'actif ou du passif. Les données d'entrée de niveau 2 comprennent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     les cours sur des marchés actifs pour des actifs ou des passifs similaires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(b)     les cours sur des marchés qui ne sont pas actifs pour des actifs ou des passifs identiques ou similaires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     les données d'entrée autres que les cours du marché qui sont observables pour l'actif ou le passif, par exemple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     les taux d'intérêt et les courbes de taux observables aux intervalles usuels,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(ii)    les volatilités implicites,</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(iii)   les écarts de crédit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     les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données d'entrée corroborées par le marché</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Il n’existe pas d’encan électronique pour les bœufs Highland élevés de manière biologique.  PSI utilisera le cours sur un marché actif pour des </a:t>
            </a:r>
            <a:r>
              <a:rPr lang="fr-CA" sz="1800" u="sng" dirty="0">
                <a:effectLst/>
                <a:latin typeface="Verdana" panose="020B0604030504040204" pitchFamily="34" charset="0"/>
                <a:ea typeface="Calibri" panose="020F0502020204030204" pitchFamily="34" charset="0"/>
                <a:cs typeface="Times New Roman" panose="02020603050405020304" pitchFamily="18" charset="0"/>
              </a:rPr>
              <a:t>actifs similaires</a:t>
            </a: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r>
              <a:rPr lang="fr-CA" sz="1800" u="sng" dirty="0">
                <a:effectLst/>
                <a:latin typeface="Verdana" panose="020B0604030504040204" pitchFamily="34" charset="0"/>
                <a:ea typeface="Calibri" panose="020F0502020204030204" pitchFamily="34" charset="0"/>
                <a:cs typeface="Times New Roman" panose="02020603050405020304" pitchFamily="18" charset="0"/>
              </a:rPr>
              <a:t>avec ajustement </a:t>
            </a:r>
            <a:r>
              <a:rPr lang="fr-CA" sz="1800" dirty="0">
                <a:effectLst/>
                <a:latin typeface="Verdana" panose="020B0604030504040204" pitchFamily="34" charset="0"/>
                <a:ea typeface="Calibri" panose="020F0502020204030204" pitchFamily="34" charset="0"/>
                <a:cs typeface="Times New Roman" panose="02020603050405020304" pitchFamily="18" charset="0"/>
              </a:rPr>
              <a:t>pour refléter le fait qu’il s’agit d’élevage biologique.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À l’abattoir, le bouvillon de boucherie biologique se vend 10 % de plus que celui élevé de manière traditionnelle.  PSI dispose de données pour procéder à un ajustement pertinent des données disponibles sur le site des enchères électroniques pour tenir compte de l’état actuel de ses actifs.  Il retiendra 10 % car c’est une prime représentative de la qualité de l’actif biologique dans son </a:t>
            </a:r>
            <a:r>
              <a:rPr lang="fr-CA" sz="1800" b="1" dirty="0">
                <a:effectLst/>
                <a:latin typeface="Verdana" panose="020B0604030504040204" pitchFamily="34" charset="0"/>
                <a:ea typeface="Calibri" panose="020F0502020204030204" pitchFamily="34" charset="0"/>
                <a:cs typeface="Times New Roman" panose="02020603050405020304" pitchFamily="18" charset="0"/>
              </a:rPr>
              <a:t>état actuel</a:t>
            </a:r>
            <a:r>
              <a:rPr lang="fr-CA" sz="1800" dirty="0">
                <a:effectLst/>
                <a:latin typeface="Verdana" panose="020B0604030504040204" pitchFamily="34" charset="0"/>
                <a:ea typeface="Calibri" panose="020F0502020204030204" pitchFamily="34" charset="0"/>
                <a:cs typeface="Times New Roman" panose="02020603050405020304" pitchFamily="18" charset="0"/>
              </a:rPr>
              <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2200" dirty="0">
                <a:effectLst/>
                <a:latin typeface="Verdana" panose="020B0604030504040204" pitchFamily="34" charset="0"/>
                <a:ea typeface="Calibri" panose="020F0502020204030204" pitchFamily="34" charset="0"/>
                <a:cs typeface="Times New Roman" panose="02020603050405020304" pitchFamily="18" charset="0"/>
              </a:rPr>
              <a:t>Donc, le </a:t>
            </a:r>
            <a:r>
              <a:rPr lang="fr-CA" sz="2200" u="dotted" dirty="0">
                <a:effectLst/>
                <a:latin typeface="Verdana" panose="020B0604030504040204" pitchFamily="34" charset="0"/>
                <a:ea typeface="Calibri" panose="020F0502020204030204" pitchFamily="34" charset="0"/>
                <a:cs typeface="Times New Roman" panose="02020603050405020304" pitchFamily="18" charset="0"/>
              </a:rPr>
              <a:t>prix sur le marché</a:t>
            </a:r>
            <a:r>
              <a:rPr lang="fr-CA" sz="2200" dirty="0">
                <a:effectLst/>
                <a:latin typeface="Verdana" panose="020B0604030504040204" pitchFamily="34" charset="0"/>
                <a:ea typeface="Calibri" panose="020F0502020204030204" pitchFamily="34" charset="0"/>
                <a:cs typeface="Times New Roman" panose="02020603050405020304" pitchFamily="18" charset="0"/>
              </a:rPr>
              <a:t> (ajusté de 10 %) = 720 $ X 1,10 </a:t>
            </a:r>
            <a:r>
              <a:rPr lang="fr-CA" sz="2200" b="1" dirty="0">
                <a:effectLst/>
                <a:latin typeface="Verdana" panose="020B0604030504040204" pitchFamily="34" charset="0"/>
                <a:ea typeface="Calibri" panose="020F0502020204030204" pitchFamily="34" charset="0"/>
                <a:cs typeface="Times New Roman" panose="02020603050405020304" pitchFamily="18" charset="0"/>
              </a:rPr>
              <a:t>=  792 $ par animal</a:t>
            </a:r>
            <a:endParaRPr lang="fr-FR" sz="22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i="1" dirty="0">
                <a:effectLst/>
                <a:latin typeface="Verdana" panose="020B0604030504040204" pitchFamily="34" charset="0"/>
                <a:ea typeface="Calibri" panose="020F0502020204030204" pitchFamily="34" charset="0"/>
                <a:cs typeface="Times New Roman" panose="02020603050405020304" pitchFamily="18" charset="0"/>
              </a:rPr>
              <a:t>Et non 20 % car c’est pour le marché de détail.</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52BF12B-2DBC-D2DA-A596-548D1E6DEA7F}"/>
              </a:ext>
            </a:extLst>
          </p:cNvPr>
          <p:cNvSpPr>
            <a:spLocks noGrp="1"/>
          </p:cNvSpPr>
          <p:nvPr>
            <p:ph type="sldNum" sz="quarter" idx="12"/>
          </p:nvPr>
        </p:nvSpPr>
        <p:spPr/>
        <p:txBody>
          <a:bodyPr/>
          <a:lstStyle/>
          <a:p>
            <a:fld id="{F1FCC400-9845-4852-A9C9-E1406FDA319A}" type="slidenum">
              <a:rPr lang="fr-FR" smtClean="0"/>
              <a:t>60</a:t>
            </a:fld>
            <a:endParaRPr lang="fr-FR"/>
          </a:p>
        </p:txBody>
      </p:sp>
    </p:spTree>
    <p:extLst>
      <p:ext uri="{BB962C8B-B14F-4D97-AF65-F5344CB8AC3E}">
        <p14:creationId xmlns:p14="http://schemas.microsoft.com/office/powerpoint/2010/main" val="8462273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2D2C204-5E72-32A0-1EF3-E5E28314A3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4B2FFB0-1C79-79A8-9A97-0FB54BEF1026}"/>
              </a:ext>
            </a:extLst>
          </p:cNvPr>
          <p:cNvSpPr>
            <a:spLocks noGrp="1"/>
          </p:cNvSpPr>
          <p:nvPr>
            <p:ph type="title"/>
          </p:nvPr>
        </p:nvSpPr>
        <p:spPr/>
        <p:txBody>
          <a:bodyPr/>
          <a:lstStyle/>
          <a:p>
            <a:r>
              <a:rPr lang="fr-CA" sz="4000" dirty="0"/>
              <a:t>7 – Veaux</a:t>
            </a:r>
            <a:endParaRPr lang="fr-FR" dirty="0"/>
          </a:p>
        </p:txBody>
      </p:sp>
      <p:sp>
        <p:nvSpPr>
          <p:cNvPr id="3" name="Espace réservé du contenu 2">
            <a:extLst>
              <a:ext uri="{FF2B5EF4-FFF2-40B4-BE49-F238E27FC236}">
                <a16:creationId xmlns:a16="http://schemas.microsoft.com/office/drawing/2014/main" id="{FDA6A7F1-5E9D-1C35-DBF0-68D31A3E663B}"/>
              </a:ext>
            </a:extLst>
          </p:cNvPr>
          <p:cNvSpPr>
            <a:spLocks noGrp="1"/>
          </p:cNvSpPr>
          <p:nvPr>
            <p:ph idx="1"/>
          </p:nvPr>
        </p:nvSpPr>
        <p:spPr>
          <a:xfrm>
            <a:off x="838200" y="1404257"/>
            <a:ext cx="10515600" cy="5236029"/>
          </a:xfrm>
        </p:spPr>
        <p:txBody>
          <a:bodyPr>
            <a:normAutofit fontScale="70000" lnSpcReduction="20000"/>
          </a:bodyPr>
          <a:lstStyle/>
          <a:p>
            <a:pPr marL="0" lvl="0" indent="0" algn="just">
              <a:buNone/>
            </a:pPr>
            <a:r>
              <a:rPr lang="fr-CA" sz="1800" u="dotted" strike="noStrike" dirty="0">
                <a:effectLst/>
                <a:latin typeface="Verdana" panose="020B0604030504040204" pitchFamily="34" charset="0"/>
                <a:ea typeface="Calibri" panose="020F0502020204030204" pitchFamily="34" charset="0"/>
                <a:cs typeface="Times New Roman" panose="02020603050405020304" pitchFamily="18" charset="0"/>
              </a:rPr>
              <a:t>2) Frais de transport pour amener les veaux au marché</a:t>
            </a:r>
            <a:r>
              <a:rPr lang="fr-CA" sz="1800" u="none" strike="noStrike" dirty="0">
                <a:effectLst/>
                <a:latin typeface="Verdana" panose="020B0604030504040204" pitchFamily="34" charset="0"/>
                <a:ea typeface="Calibri" panose="020F0502020204030204" pitchFamily="34" charset="0"/>
                <a:cs typeface="Times New Roman" panose="02020603050405020304" pitchFamily="18" charset="0"/>
              </a:rPr>
              <a:t> = </a:t>
            </a:r>
            <a:r>
              <a:rPr lang="fr-CA" sz="1800" b="1" u="none" strike="noStrike" dirty="0">
                <a:effectLst/>
                <a:latin typeface="Verdana" panose="020B0604030504040204" pitchFamily="34" charset="0"/>
                <a:ea typeface="Calibri" panose="020F0502020204030204" pitchFamily="34" charset="0"/>
                <a:cs typeface="Times New Roman" panose="02020603050405020304" pitchFamily="18" charset="0"/>
              </a:rPr>
              <a:t>75.00 $ par animal</a:t>
            </a:r>
            <a:endParaRPr lang="fr-FR" sz="1800" u="none" strike="noStrike"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l">
              <a:buNone/>
            </a:pP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effectLst/>
                <a:latin typeface="Verdana" panose="020B0604030504040204" pitchFamily="34" charset="0"/>
                <a:ea typeface="Calibri" panose="020F0502020204030204" pitchFamily="34" charset="0"/>
                <a:cs typeface="Times New Roman" panose="02020603050405020304" pitchFamily="18" charset="0"/>
              </a:rPr>
              <a:t>Les coûts de la vente</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u="dotted" dirty="0">
                <a:effectLst/>
                <a:latin typeface="Verdana" panose="020B0604030504040204" pitchFamily="34" charset="0"/>
                <a:ea typeface="Calibri" panose="020F0502020204030204" pitchFamily="34" charset="0"/>
                <a:cs typeface="Times New Roman" panose="02020603050405020304" pitchFamily="18" charset="0"/>
              </a:rPr>
              <a:t>Selon IAS 41</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Les </a:t>
            </a:r>
            <a:r>
              <a:rPr lang="fr-CA" sz="1800" i="1"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coûts de la vente</a:t>
            </a:r>
            <a:r>
              <a:rPr lang="fr-CA" sz="1800" dirty="0">
                <a:solidFill>
                  <a:srgbClr val="0070C0"/>
                </a:solidFill>
                <a:effectLst/>
                <a:latin typeface="Verdana" panose="020B0604030504040204" pitchFamily="34" charset="0"/>
                <a:ea typeface="Calibri" panose="020F0502020204030204" pitchFamily="34" charset="0"/>
                <a:cs typeface="Times New Roman" panose="02020603050405020304" pitchFamily="18" charset="0"/>
              </a:rPr>
              <a:t> sont les coûts marginaux directement attribuables à la cession d'un actif, à l'exclusion des charges financières et de l'impôt sur le résultat.</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Pour l’évaluation, il faut aussi tenir compte des coûts de la vente. Cependant, puisque PSI ne passe pas par les enchères électroniques, elle n’encourt pas de frais d’enchère, de frais d’inscription aux enchères mais aura des frais de pesée.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0" cap="small" dirty="0">
                <a:effectLst/>
                <a:latin typeface="Verdana" panose="020B0604030504040204" pitchFamily="34" charset="0"/>
                <a:ea typeface="Calibri" panose="020F0502020204030204" pitchFamily="34" charset="0"/>
                <a:cs typeface="Times New Roman" panose="02020603050405020304" pitchFamily="18" charset="0"/>
              </a:rPr>
              <a:t>Juste valeur :    720 $ X 1,10 =  792 $ par animal</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0" cap="small" dirty="0">
                <a:effectLst/>
                <a:latin typeface="Verdana" panose="020B0604030504040204" pitchFamily="34" charset="0"/>
                <a:ea typeface="Calibri" panose="020F0502020204030204" pitchFamily="34" charset="0"/>
                <a:cs typeface="Times New Roman" panose="02020603050405020304" pitchFamily="18" charset="0"/>
              </a:rPr>
              <a:t>moins : frais de transport : 75 $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0" cap="small" dirty="0">
                <a:effectLst/>
                <a:latin typeface="Verdana" panose="020B0604030504040204" pitchFamily="34" charset="0"/>
                <a:ea typeface="Calibri" panose="020F0502020204030204" pitchFamily="34" charset="0"/>
                <a:cs typeface="Times New Roman" panose="02020603050405020304" pitchFamily="18" charset="0"/>
              </a:rPr>
              <a:t>moins les coûts de la vente – pesée : 10 $</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b="0" cap="small" dirty="0">
                <a:effectLst/>
                <a:latin typeface="Verdana" panose="020B0604030504040204" pitchFamily="34" charset="0"/>
                <a:ea typeface="Calibri" panose="020F0502020204030204" pitchFamily="34" charset="0"/>
                <a:cs typeface="Times New Roman" panose="02020603050405020304" pitchFamily="18" charset="0"/>
              </a:rPr>
              <a:t>= 707 $ par animal</a:t>
            </a:r>
            <a:endParaRPr lang="fr-FR" sz="1800" b="1" cap="small"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Écriture de correction :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Coût d’acquisition : 550 $ + 10 % = 605 $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Actif biologique		10 200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dirty="0">
                <a:effectLst/>
                <a:latin typeface="Verdana" panose="020B0604030504040204" pitchFamily="34" charset="0"/>
                <a:ea typeface="Calibri" panose="020F0502020204030204" pitchFamily="34" charset="0"/>
                <a:cs typeface="Times New Roman" panose="02020603050405020304" pitchFamily="18" charset="0"/>
              </a:rPr>
              <a:t>@ Gain – résultat net			10 200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a:p>
            <a:pPr marL="0" indent="0" algn="just">
              <a:buNone/>
            </a:pPr>
            <a:r>
              <a:rPr lang="fr-CA" sz="1800" i="1" dirty="0">
                <a:effectLst/>
                <a:latin typeface="Verdana" panose="020B0604030504040204" pitchFamily="34" charset="0"/>
                <a:ea typeface="Calibri" panose="020F0502020204030204" pitchFamily="34" charset="0"/>
                <a:cs typeface="Times New Roman" panose="02020603050405020304" pitchFamily="18" charset="0"/>
              </a:rPr>
              <a:t>(707 – 605) * 100 veaux = 10 200</a:t>
            </a:r>
            <a:endParaRPr lang="fr-FR" sz="1800" dirty="0">
              <a:effectLst/>
              <a:latin typeface="Verdana" panose="020B060403050404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DCE505E8-C402-FE9D-5902-1FB1E903357E}"/>
              </a:ext>
            </a:extLst>
          </p:cNvPr>
          <p:cNvSpPr>
            <a:spLocks noGrp="1"/>
          </p:cNvSpPr>
          <p:nvPr>
            <p:ph type="sldNum" sz="quarter" idx="12"/>
          </p:nvPr>
        </p:nvSpPr>
        <p:spPr/>
        <p:txBody>
          <a:bodyPr/>
          <a:lstStyle/>
          <a:p>
            <a:fld id="{F1FCC400-9845-4852-A9C9-E1406FDA319A}" type="slidenum">
              <a:rPr lang="fr-FR" smtClean="0"/>
              <a:t>61</a:t>
            </a:fld>
            <a:endParaRPr lang="fr-FR"/>
          </a:p>
        </p:txBody>
      </p:sp>
    </p:spTree>
    <p:extLst>
      <p:ext uri="{BB962C8B-B14F-4D97-AF65-F5344CB8AC3E}">
        <p14:creationId xmlns:p14="http://schemas.microsoft.com/office/powerpoint/2010/main" val="10331207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89130466-1151-9661-F079-331B5642B0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B1187F0-87F4-A7CB-1946-3D4DC487D36F}"/>
              </a:ext>
            </a:extLst>
          </p:cNvPr>
          <p:cNvSpPr>
            <a:spLocks noGrp="1"/>
          </p:cNvSpPr>
          <p:nvPr>
            <p:ph type="title"/>
          </p:nvPr>
        </p:nvSpPr>
        <p:spPr/>
        <p:txBody>
          <a:bodyPr/>
          <a:lstStyle/>
          <a:p>
            <a:r>
              <a:rPr lang="fr-CA" sz="4000" dirty="0"/>
              <a:t>Indicateur 7 – Veaux</a:t>
            </a:r>
            <a:endParaRPr lang="fr-FR" dirty="0"/>
          </a:p>
        </p:txBody>
      </p:sp>
      <p:sp>
        <p:nvSpPr>
          <p:cNvPr id="3" name="Espace réservé du contenu 2">
            <a:extLst>
              <a:ext uri="{FF2B5EF4-FFF2-40B4-BE49-F238E27FC236}">
                <a16:creationId xmlns:a16="http://schemas.microsoft.com/office/drawing/2014/main" id="{994465C3-8C1A-562E-A37D-9397B50D67DA}"/>
              </a:ext>
            </a:extLst>
          </p:cNvPr>
          <p:cNvSpPr>
            <a:spLocks noGrp="1"/>
          </p:cNvSpPr>
          <p:nvPr>
            <p:ph idx="1"/>
          </p:nvPr>
        </p:nvSpPr>
        <p:spPr/>
        <p:txBody>
          <a:bodyPr>
            <a:normAutofit/>
          </a:bodyPr>
          <a:lstStyle/>
          <a:p>
            <a:r>
              <a:rPr lang="fr-CA" sz="2400" dirty="0"/>
              <a:t>EVC – 3 pts : Analyse la mesure au 31 décembre, peut avoir de petites erreurs</a:t>
            </a: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mesure  -ok pour une petite erreur au niveau de la mesure</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nature et mesure   ET écritures de correction </a:t>
            </a:r>
          </a:p>
          <a:p>
            <a:pPr marL="0" indent="0">
              <a:buNone/>
            </a:pPr>
            <a:endParaRPr lang="fr-CA" sz="2400" dirty="0">
              <a:solidFill>
                <a:srgbClr val="FF0000"/>
              </a:solidFill>
              <a:latin typeface="Arial Narrow" panose="020B0606020202030204" pitchFamily="34" charset="0"/>
              <a:cs typeface="Arial" panose="020B0604020202020204" pitchFamily="34" charset="0"/>
            </a:endParaRPr>
          </a:p>
          <a:p>
            <a:pPr marL="0" indent="0">
              <a:buNone/>
            </a:pPr>
            <a:r>
              <a:rPr lang="fr-FR" dirty="0">
                <a:solidFill>
                  <a:srgbClr val="FF0000"/>
                </a:solidFill>
              </a:rPr>
              <a:t>Pour 100 % : EVC  (3 pts)</a:t>
            </a:r>
          </a:p>
          <a:p>
            <a:pPr marL="0" indent="0">
              <a:buNone/>
            </a:pPr>
            <a:r>
              <a:rPr lang="fr-FR" sz="2400" i="1" dirty="0">
                <a:solidFill>
                  <a:srgbClr val="FF0000"/>
                </a:solidFill>
              </a:rPr>
              <a:t>Moyenne : 2,01</a:t>
            </a:r>
            <a:endParaRPr lang="fr-FR" i="1" dirty="0">
              <a:solidFill>
                <a:srgbClr val="FF0000"/>
              </a:solidFill>
            </a:endParaRPr>
          </a:p>
        </p:txBody>
      </p:sp>
      <p:sp>
        <p:nvSpPr>
          <p:cNvPr id="4" name="Espace réservé du numéro de diapositive 3">
            <a:extLst>
              <a:ext uri="{FF2B5EF4-FFF2-40B4-BE49-F238E27FC236}">
                <a16:creationId xmlns:a16="http://schemas.microsoft.com/office/drawing/2014/main" id="{4433BBCE-5827-FDD3-0FC7-E1C2684F1728}"/>
              </a:ext>
            </a:extLst>
          </p:cNvPr>
          <p:cNvSpPr>
            <a:spLocks noGrp="1"/>
          </p:cNvSpPr>
          <p:nvPr>
            <p:ph type="sldNum" sz="quarter" idx="12"/>
          </p:nvPr>
        </p:nvSpPr>
        <p:spPr/>
        <p:txBody>
          <a:bodyPr/>
          <a:lstStyle/>
          <a:p>
            <a:fld id="{F1FCC400-9845-4852-A9C9-E1406FDA319A}" type="slidenum">
              <a:rPr lang="fr-FR" smtClean="0"/>
              <a:t>62</a:t>
            </a:fld>
            <a:endParaRPr lang="fr-FR"/>
          </a:p>
        </p:txBody>
      </p:sp>
    </p:spTree>
    <p:extLst>
      <p:ext uri="{BB962C8B-B14F-4D97-AF65-F5344CB8AC3E}">
        <p14:creationId xmlns:p14="http://schemas.microsoft.com/office/powerpoint/2010/main" val="36799959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917846C-D744-BB48-9505-2B495A86122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469BD2-8F47-B417-BC95-15FBB525A3A4}"/>
              </a:ext>
            </a:extLst>
          </p:cNvPr>
          <p:cNvSpPr>
            <a:spLocks noGrp="1"/>
          </p:cNvSpPr>
          <p:nvPr>
            <p:ph type="title"/>
          </p:nvPr>
        </p:nvSpPr>
        <p:spPr/>
        <p:txBody>
          <a:bodyPr>
            <a:normAutofit/>
          </a:bodyPr>
          <a:lstStyle/>
          <a:p>
            <a:r>
              <a:rPr lang="fr-CA" sz="4000" dirty="0"/>
              <a:t>Indicateur 7 – Veaux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5F449921-B16C-F9FF-1B01-33E7573D180D}"/>
              </a:ext>
            </a:extLst>
          </p:cNvPr>
          <p:cNvSpPr>
            <a:spLocks noGrp="1"/>
          </p:cNvSpPr>
          <p:nvPr>
            <p:ph idx="1"/>
          </p:nvPr>
        </p:nvSpPr>
        <p:spPr/>
        <p:txBody>
          <a:bodyPr>
            <a:normAutofit/>
          </a:bodyPr>
          <a:lstStyle/>
          <a:p>
            <a:pPr algn="l" fontAlgn="base"/>
            <a:endParaRPr lang="fr-FR" sz="2400" b="0" i="0" dirty="0">
              <a:solidFill>
                <a:srgbClr val="000000"/>
              </a:solidFill>
              <a:latin typeface="Calibri" panose="020F0502020204030204" pitchFamily="34" charset="0"/>
            </a:endParaRPr>
          </a:p>
          <a:p>
            <a:pPr algn="l" fontAlgn="base"/>
            <a:endParaRPr lang="fr-CA" sz="2400" b="0" i="0" dirty="0">
              <a:solidFill>
                <a:srgbClr val="000000"/>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FD2B5473-F016-722A-1610-C7A9F5C4B5A6}"/>
              </a:ext>
            </a:extLst>
          </p:cNvPr>
          <p:cNvSpPr>
            <a:spLocks noGrp="1"/>
          </p:cNvSpPr>
          <p:nvPr>
            <p:ph type="sldNum" sz="quarter" idx="12"/>
          </p:nvPr>
        </p:nvSpPr>
        <p:spPr/>
        <p:txBody>
          <a:bodyPr/>
          <a:lstStyle/>
          <a:p>
            <a:fld id="{F1FCC400-9845-4852-A9C9-E1406FDA319A}" type="slidenum">
              <a:rPr lang="fr-FR" smtClean="0"/>
              <a:t>63</a:t>
            </a:fld>
            <a:endParaRPr lang="fr-FR"/>
          </a:p>
        </p:txBody>
      </p:sp>
      <p:sp>
        <p:nvSpPr>
          <p:cNvPr id="5" name="ZoneTexte 4">
            <a:extLst>
              <a:ext uri="{FF2B5EF4-FFF2-40B4-BE49-F238E27FC236}">
                <a16:creationId xmlns:a16="http://schemas.microsoft.com/office/drawing/2014/main" id="{9ACE56DC-2DBF-D5A6-A86F-FDAD0EFA9D9A}"/>
              </a:ext>
            </a:extLst>
          </p:cNvPr>
          <p:cNvSpPr txBox="1"/>
          <p:nvPr/>
        </p:nvSpPr>
        <p:spPr>
          <a:xfrm>
            <a:off x="961534" y="2318994"/>
            <a:ext cx="10392266" cy="1200329"/>
          </a:xfrm>
          <a:prstGeom prst="rect">
            <a:avLst/>
          </a:prstGeom>
          <a:noFill/>
        </p:spPr>
        <p:txBody>
          <a:bodyPr wrap="square" rtlCol="0">
            <a:spAutoFit/>
          </a:bodyPr>
          <a:lstStyle/>
          <a:p>
            <a:pPr marL="285750" indent="-285750">
              <a:buFont typeface="Arial" panose="020B0604020202020204" pitchFamily="34" charset="0"/>
              <a:buChar char="•"/>
            </a:pPr>
            <a:r>
              <a:rPr lang="fr-FR" sz="2400" dirty="0">
                <a:latin typeface="Aptos" panose="020B0004020202020204" pitchFamily="34" charset="0"/>
                <a:ea typeface="Times New Roman" panose="02020603050405020304" pitchFamily="18" charset="0"/>
                <a:cs typeface="Aptos" panose="020B0004020202020204" pitchFamily="34" charset="0"/>
              </a:rPr>
              <a:t>E</a:t>
            </a:r>
            <a:r>
              <a:rPr lang="fr-FR" sz="2400" dirty="0">
                <a:effectLst/>
                <a:latin typeface="Aptos" panose="020B0004020202020204" pitchFamily="34" charset="0"/>
                <a:ea typeface="Times New Roman" panose="02020603050405020304" pitchFamily="18" charset="0"/>
                <a:cs typeface="Aptos" panose="020B0004020202020204" pitchFamily="34" charset="0"/>
              </a:rPr>
              <a:t>ncore pas super bien réussi. Bonne conclusion sur la nature mais jamais justifié.  Rarement de justification sur les calculs et beaucoup d’erreurs, ils incluent des coûts non requis. </a:t>
            </a:r>
            <a:endParaRPr lang="fr-FR" dirty="0"/>
          </a:p>
        </p:txBody>
      </p:sp>
    </p:spTree>
    <p:extLst>
      <p:ext uri="{BB962C8B-B14F-4D97-AF65-F5344CB8AC3E}">
        <p14:creationId xmlns:p14="http://schemas.microsoft.com/office/powerpoint/2010/main" val="2665413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9ECEA0-60C1-E849-3CDC-1D803A8DF848}"/>
              </a:ext>
            </a:extLst>
          </p:cNvPr>
          <p:cNvSpPr>
            <a:spLocks noGrp="1"/>
          </p:cNvSpPr>
          <p:nvPr>
            <p:ph type="title"/>
          </p:nvPr>
        </p:nvSpPr>
        <p:spPr>
          <a:xfrm>
            <a:off x="838200" y="365126"/>
            <a:ext cx="10515600" cy="883812"/>
          </a:xfrm>
        </p:spPr>
        <p:txBody>
          <a:bodyPr/>
          <a:lstStyle/>
          <a:p>
            <a:r>
              <a:rPr lang="fr-CA" dirty="0"/>
              <a:t>En général</a:t>
            </a:r>
            <a:endParaRPr lang="fr-FR" dirty="0"/>
          </a:p>
        </p:txBody>
      </p:sp>
      <p:sp>
        <p:nvSpPr>
          <p:cNvPr id="3" name="Espace réservé du contenu 2">
            <a:extLst>
              <a:ext uri="{FF2B5EF4-FFF2-40B4-BE49-F238E27FC236}">
                <a16:creationId xmlns:a16="http://schemas.microsoft.com/office/drawing/2014/main" id="{8B812FC4-0C32-B941-D7B7-5EA9D6A375DE}"/>
              </a:ext>
            </a:extLst>
          </p:cNvPr>
          <p:cNvSpPr>
            <a:spLocks noGrp="1"/>
          </p:cNvSpPr>
          <p:nvPr>
            <p:ph idx="1"/>
          </p:nvPr>
        </p:nvSpPr>
        <p:spPr>
          <a:xfrm>
            <a:off x="838200" y="1597890"/>
            <a:ext cx="10515600" cy="5059387"/>
          </a:xfrm>
        </p:spPr>
        <p:txBody>
          <a:bodyPr>
            <a:normAutofit/>
          </a:bodyPr>
          <a:lstStyle/>
          <a:p>
            <a:r>
              <a:rPr lang="fr-CA" sz="2400" dirty="0">
                <a:effectLst/>
                <a:latin typeface="Calibri Light" panose="020F0302020204030204" pitchFamily="34" charset="0"/>
                <a:ea typeface="Calibri" panose="020F0502020204030204" pitchFamily="34" charset="0"/>
              </a:rPr>
              <a:t>Structure à travailler pour certains – aiderait pour une analyse plus complète</a:t>
            </a:r>
          </a:p>
          <a:p>
            <a:r>
              <a:rPr lang="fr-CA" sz="2400" dirty="0">
                <a:effectLst/>
                <a:latin typeface="Calibri Light" panose="020F0302020204030204" pitchFamily="34" charset="0"/>
                <a:ea typeface="Calibri" panose="020F0502020204030204" pitchFamily="34" charset="0"/>
              </a:rPr>
              <a:t>En général</a:t>
            </a:r>
            <a:r>
              <a:rPr lang="fr-CA" sz="2400" dirty="0">
                <a:latin typeface="Calibri Light" panose="020F0302020204030204" pitchFamily="34" charset="0"/>
                <a:ea typeface="Calibri" panose="020F0502020204030204" pitchFamily="34" charset="0"/>
              </a:rPr>
              <a:t>, bonne intégration des normes dans les analyses</a:t>
            </a:r>
          </a:p>
          <a:p>
            <a:r>
              <a:rPr lang="fr-CA" sz="2400" dirty="0">
                <a:effectLst/>
                <a:latin typeface="Calibri Light" panose="020F0302020204030204" pitchFamily="34" charset="0"/>
                <a:ea typeface="Calibri" panose="020F0502020204030204" pitchFamily="34" charset="0"/>
              </a:rPr>
              <a:t>Plusieurs erreurs au nive</a:t>
            </a:r>
            <a:r>
              <a:rPr lang="fr-CA" sz="2400" dirty="0">
                <a:latin typeface="Calibri Light" panose="020F0302020204030204" pitchFamily="34" charset="0"/>
                <a:ea typeface="Calibri" panose="020F0502020204030204" pitchFamily="34" charset="0"/>
              </a:rPr>
              <a:t>au des écritures </a:t>
            </a:r>
          </a:p>
          <a:p>
            <a:r>
              <a:rPr lang="fr-CA" sz="2400" dirty="0">
                <a:latin typeface="Calibri Light" panose="020F0302020204030204" pitchFamily="34" charset="0"/>
                <a:ea typeface="Calibri" panose="020F0502020204030204" pitchFamily="34" charset="0"/>
              </a:rPr>
              <a:t>Pour certains, il semblait il y avoir un e</a:t>
            </a:r>
            <a:r>
              <a:rPr lang="fr-CA" sz="2400" dirty="0">
                <a:effectLst/>
                <a:latin typeface="Calibri Light" panose="020F0302020204030204" pitchFamily="34" charset="0"/>
                <a:ea typeface="Calibri" panose="020F0502020204030204" pitchFamily="34" charset="0"/>
              </a:rPr>
              <a:t>njeu avec la gestion du temps</a:t>
            </a:r>
            <a:r>
              <a:rPr lang="fr-CA" sz="2400" dirty="0">
                <a:latin typeface="Calibri Light" panose="020F0302020204030204" pitchFamily="34" charset="0"/>
                <a:ea typeface="Calibri" panose="020F0502020204030204" pitchFamily="34" charset="0"/>
              </a:rPr>
              <a:t> – les deux derniers enjeux semblent avoir été complétés plus sommairement</a:t>
            </a:r>
            <a:endParaRPr lang="fr-CA" sz="1800" dirty="0">
              <a:solidFill>
                <a:srgbClr val="00B0F0"/>
              </a:solidFill>
              <a:effectLst/>
              <a:latin typeface="Calibri Light" panose="020F0302020204030204" pitchFamily="34" charset="0"/>
              <a:ea typeface="Calibri" panose="020F0502020204030204" pitchFamily="34" charset="0"/>
            </a:endParaRPr>
          </a:p>
          <a:p>
            <a:endParaRPr lang="fr-CA" sz="1800" dirty="0">
              <a:solidFill>
                <a:srgbClr val="00B0F0"/>
              </a:solidFill>
              <a:latin typeface="Calibri Light" panose="020F0302020204030204" pitchFamily="34" charset="0"/>
              <a:ea typeface="Calibri" panose="020F0502020204030204" pitchFamily="34" charset="0"/>
            </a:endParaRPr>
          </a:p>
          <a:p>
            <a:endParaRPr lang="fr-CA" sz="1800" dirty="0">
              <a:effectLst/>
              <a:latin typeface="Calibri Light" panose="020F0302020204030204" pitchFamily="34" charset="0"/>
              <a:ea typeface="Calibri" panose="020F0502020204030204" pitchFamily="34" charset="0"/>
            </a:endParaRPr>
          </a:p>
          <a:p>
            <a:endParaRPr lang="fr-FR" sz="2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6044556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AE9E5B-400A-478A-A0B6-79D281830C54}"/>
              </a:ext>
            </a:extLst>
          </p:cNvPr>
          <p:cNvSpPr>
            <a:spLocks noGrp="1"/>
          </p:cNvSpPr>
          <p:nvPr>
            <p:ph type="title"/>
          </p:nvPr>
        </p:nvSpPr>
        <p:spPr/>
        <p:txBody>
          <a:bodyPr/>
          <a:lstStyle/>
          <a:p>
            <a:r>
              <a:rPr lang="fr-CA" dirty="0"/>
              <a:t>Correction</a:t>
            </a:r>
            <a:endParaRPr lang="fr-FR" dirty="0"/>
          </a:p>
        </p:txBody>
      </p:sp>
      <p:sp>
        <p:nvSpPr>
          <p:cNvPr id="3" name="Espace réservé du contenu 2">
            <a:extLst>
              <a:ext uri="{FF2B5EF4-FFF2-40B4-BE49-F238E27FC236}">
                <a16:creationId xmlns:a16="http://schemas.microsoft.com/office/drawing/2014/main" id="{C4E826AA-BA25-4ACC-8789-CC8166AB053C}"/>
              </a:ext>
            </a:extLst>
          </p:cNvPr>
          <p:cNvSpPr>
            <a:spLocks noGrp="1"/>
          </p:cNvSpPr>
          <p:nvPr>
            <p:ph idx="1"/>
          </p:nvPr>
        </p:nvSpPr>
        <p:spPr/>
        <p:txBody>
          <a:bodyPr/>
          <a:lstStyle/>
          <a:p>
            <a:r>
              <a:rPr lang="fr-CA" dirty="0"/>
              <a:t>Sur 29 </a:t>
            </a:r>
            <a:r>
              <a:rPr lang="fr-CA" i="1" dirty="0"/>
              <a:t>(pour 100 %)  </a:t>
            </a:r>
            <a:r>
              <a:rPr lang="fr-CA" dirty="0">
                <a:solidFill>
                  <a:srgbClr val="0070C0"/>
                </a:solidFill>
              </a:rPr>
              <a:t>Les différents seuils présentés pour chaque indicateur totalisent 31, ajustement arbitraire de 2 points</a:t>
            </a:r>
          </a:p>
          <a:p>
            <a:r>
              <a:rPr lang="fr-CA" dirty="0"/>
              <a:t>Puis pondération de 40 % de la note finale</a:t>
            </a:r>
          </a:p>
          <a:p>
            <a:r>
              <a:rPr lang="fr-CA" dirty="0"/>
              <a:t>Moyenne pour l’ensemble des groupes : 69,1 % </a:t>
            </a:r>
          </a:p>
          <a:p>
            <a:endParaRPr lang="fr-CA" dirty="0"/>
          </a:p>
          <a:p>
            <a:pPr>
              <a:buFont typeface="Wingdings" panose="05000000000000000000" pitchFamily="2" charset="2"/>
              <a:buChar char="Ø"/>
            </a:pPr>
            <a:r>
              <a:rPr lang="fr-CA" dirty="0"/>
              <a:t> </a:t>
            </a:r>
            <a:r>
              <a:rPr lang="fr-CA" i="1" dirty="0"/>
              <a:t>Lors de l’étude, mettre l’emphase sur la compréhension des concepts</a:t>
            </a:r>
            <a:endParaRPr lang="fr-FR" i="1" dirty="0"/>
          </a:p>
        </p:txBody>
      </p:sp>
      <p:sp>
        <p:nvSpPr>
          <p:cNvPr id="4" name="Espace réservé du numéro de diapositive 3">
            <a:extLst>
              <a:ext uri="{FF2B5EF4-FFF2-40B4-BE49-F238E27FC236}">
                <a16:creationId xmlns:a16="http://schemas.microsoft.com/office/drawing/2014/main" id="{32CCB801-2DBF-48AD-A508-D8CB9FFE9E88}"/>
              </a:ext>
            </a:extLst>
          </p:cNvPr>
          <p:cNvSpPr>
            <a:spLocks noGrp="1"/>
          </p:cNvSpPr>
          <p:nvPr>
            <p:ph type="sldNum" sz="quarter" idx="12"/>
          </p:nvPr>
        </p:nvSpPr>
        <p:spPr/>
        <p:txBody>
          <a:bodyPr/>
          <a:lstStyle/>
          <a:p>
            <a:fld id="{F1FCC400-9845-4852-A9C9-E1406FDA319A}" type="slidenum">
              <a:rPr lang="fr-FR" smtClean="0"/>
              <a:t>65</a:t>
            </a:fld>
            <a:endParaRPr lang="fr-FR"/>
          </a:p>
        </p:txBody>
      </p:sp>
    </p:spTree>
    <p:extLst>
      <p:ext uri="{BB962C8B-B14F-4D97-AF65-F5344CB8AC3E}">
        <p14:creationId xmlns:p14="http://schemas.microsoft.com/office/powerpoint/2010/main" val="3132198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968DA9-99D5-4D2C-964B-6B859CF1425A}"/>
              </a:ext>
            </a:extLst>
          </p:cNvPr>
          <p:cNvSpPr>
            <a:spLocks noGrp="1"/>
          </p:cNvSpPr>
          <p:nvPr>
            <p:ph type="title"/>
          </p:nvPr>
        </p:nvSpPr>
        <p:spPr/>
        <p:txBody>
          <a:bodyPr/>
          <a:lstStyle/>
          <a:p>
            <a:r>
              <a:rPr lang="fr-CA" dirty="0"/>
              <a:t>Travail à la suite de l’intra</a:t>
            </a:r>
            <a:endParaRPr lang="fr-FR" dirty="0"/>
          </a:p>
        </p:txBody>
      </p:sp>
      <p:sp>
        <p:nvSpPr>
          <p:cNvPr id="3" name="Espace réservé du contenu 2">
            <a:extLst>
              <a:ext uri="{FF2B5EF4-FFF2-40B4-BE49-F238E27FC236}">
                <a16:creationId xmlns:a16="http://schemas.microsoft.com/office/drawing/2014/main" id="{22170DBA-A587-424F-8BB2-5E02374163FF}"/>
              </a:ext>
            </a:extLst>
          </p:cNvPr>
          <p:cNvSpPr>
            <a:spLocks noGrp="1"/>
          </p:cNvSpPr>
          <p:nvPr>
            <p:ph idx="1"/>
          </p:nvPr>
        </p:nvSpPr>
        <p:spPr/>
        <p:txBody>
          <a:bodyPr>
            <a:normAutofit fontScale="92500" lnSpcReduction="20000"/>
          </a:bodyPr>
          <a:lstStyle/>
          <a:p>
            <a:r>
              <a:rPr lang="fr-CA" dirty="0"/>
              <a:t>Retour sur intra : </a:t>
            </a:r>
            <a:r>
              <a:rPr lang="fr-CA" i="1" dirty="0">
                <a:solidFill>
                  <a:srgbClr val="0070C0"/>
                </a:solidFill>
              </a:rPr>
              <a:t>sur le document grille qui vous a été remis</a:t>
            </a:r>
            <a:endParaRPr lang="fr-CA" dirty="0">
              <a:solidFill>
                <a:srgbClr val="0070C0"/>
              </a:solidFill>
            </a:endParaRPr>
          </a:p>
          <a:p>
            <a:pPr lvl="1"/>
            <a:r>
              <a:rPr lang="fr-CA" sz="2800" dirty="0"/>
              <a:t>Réécrire les enjeux pour lesquels la cible n’a pas été atteinte</a:t>
            </a:r>
          </a:p>
          <a:p>
            <a:pPr lvl="2"/>
            <a:r>
              <a:rPr lang="fr-CA" sz="2400" i="1" dirty="0"/>
              <a:t>Vous pouvez aussi y coller un extrait d’un fichier </a:t>
            </a:r>
            <a:r>
              <a:rPr lang="fr-CA" sz="2400" i="1" dirty="0" err="1"/>
              <a:t>word</a:t>
            </a:r>
            <a:endParaRPr lang="fr-CA" sz="2400" i="1" dirty="0"/>
          </a:p>
          <a:p>
            <a:pPr lvl="1"/>
            <a:r>
              <a:rPr lang="fr-CA" sz="2800" dirty="0"/>
              <a:t>Préparer une section points forts, points à améliorer, plan d’action</a:t>
            </a:r>
          </a:p>
          <a:p>
            <a:pPr lvl="2"/>
            <a:r>
              <a:rPr lang="fr-CA" sz="2800" dirty="0"/>
              <a:t>Sur approche cas (norme et application, conclusion explicite, écriture de correction…), sur certains indicateurs</a:t>
            </a:r>
          </a:p>
          <a:p>
            <a:pPr lvl="2"/>
            <a:r>
              <a:rPr lang="fr-CA" sz="2800" dirty="0"/>
              <a:t>Plan d’action doit être réaliste et vous aider à progresser</a:t>
            </a:r>
          </a:p>
          <a:p>
            <a:pPr lvl="3"/>
            <a:endParaRPr lang="fr-CA" sz="2400" i="1" dirty="0">
              <a:solidFill>
                <a:srgbClr val="0070C0"/>
              </a:solidFill>
            </a:endParaRPr>
          </a:p>
          <a:p>
            <a:pPr lvl="3">
              <a:buFont typeface="Wingdings" panose="05000000000000000000" pitchFamily="2" charset="2"/>
              <a:buChar char="Ø"/>
            </a:pPr>
            <a:r>
              <a:rPr lang="fr-CA" sz="2400" i="1" dirty="0">
                <a:solidFill>
                  <a:srgbClr val="0070C0"/>
                </a:solidFill>
              </a:rPr>
              <a:t>Sera corrigé en fonction de la qualité du travail de rétro, et non en fonction de la note de l’intra </a:t>
            </a:r>
          </a:p>
          <a:p>
            <a:pPr marL="0" indent="0">
              <a:buNone/>
            </a:pPr>
            <a:endParaRPr lang="fr-CA" dirty="0"/>
          </a:p>
          <a:p>
            <a:r>
              <a:rPr lang="fr-CA" i="1" dirty="0"/>
              <a:t>1 point</a:t>
            </a:r>
            <a:endParaRPr lang="fr-FR" dirty="0"/>
          </a:p>
        </p:txBody>
      </p:sp>
      <p:sp>
        <p:nvSpPr>
          <p:cNvPr id="4" name="Espace réservé du numéro de diapositive 3">
            <a:extLst>
              <a:ext uri="{FF2B5EF4-FFF2-40B4-BE49-F238E27FC236}">
                <a16:creationId xmlns:a16="http://schemas.microsoft.com/office/drawing/2014/main" id="{076D0778-B50A-4E21-A37F-EF87FD77F767}"/>
              </a:ext>
            </a:extLst>
          </p:cNvPr>
          <p:cNvSpPr>
            <a:spLocks noGrp="1"/>
          </p:cNvSpPr>
          <p:nvPr>
            <p:ph type="sldNum" sz="quarter" idx="12"/>
          </p:nvPr>
        </p:nvSpPr>
        <p:spPr/>
        <p:txBody>
          <a:bodyPr/>
          <a:lstStyle/>
          <a:p>
            <a:fld id="{F1FCC400-9845-4852-A9C9-E1406FDA319A}" type="slidenum">
              <a:rPr lang="fr-FR" smtClean="0"/>
              <a:t>66</a:t>
            </a:fld>
            <a:endParaRPr lang="fr-FR"/>
          </a:p>
        </p:txBody>
      </p:sp>
    </p:spTree>
    <p:extLst>
      <p:ext uri="{BB962C8B-B14F-4D97-AF65-F5344CB8AC3E}">
        <p14:creationId xmlns:p14="http://schemas.microsoft.com/office/powerpoint/2010/main" val="13243449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968DA9-99D5-4D2C-964B-6B859CF1425A}"/>
              </a:ext>
            </a:extLst>
          </p:cNvPr>
          <p:cNvSpPr>
            <a:spLocks noGrp="1"/>
          </p:cNvSpPr>
          <p:nvPr>
            <p:ph type="title"/>
          </p:nvPr>
        </p:nvSpPr>
        <p:spPr/>
        <p:txBody>
          <a:bodyPr/>
          <a:lstStyle/>
          <a:p>
            <a:r>
              <a:rPr lang="fr-CA" dirty="0"/>
              <a:t>cas </a:t>
            </a:r>
            <a:r>
              <a:rPr lang="fr-CA" dirty="0" err="1"/>
              <a:t>Electronic</a:t>
            </a:r>
            <a:r>
              <a:rPr lang="fr-CA" dirty="0"/>
              <a:t> Games </a:t>
            </a:r>
            <a:r>
              <a:rPr lang="fr-CA" dirty="0" err="1"/>
              <a:t>inc.</a:t>
            </a:r>
            <a:endParaRPr lang="fr-FR" dirty="0"/>
          </a:p>
        </p:txBody>
      </p:sp>
      <p:sp>
        <p:nvSpPr>
          <p:cNvPr id="3" name="Espace réservé du contenu 2">
            <a:extLst>
              <a:ext uri="{FF2B5EF4-FFF2-40B4-BE49-F238E27FC236}">
                <a16:creationId xmlns:a16="http://schemas.microsoft.com/office/drawing/2014/main" id="{22170DBA-A587-424F-8BB2-5E02374163FF}"/>
              </a:ext>
            </a:extLst>
          </p:cNvPr>
          <p:cNvSpPr>
            <a:spLocks noGrp="1"/>
          </p:cNvSpPr>
          <p:nvPr>
            <p:ph idx="1"/>
          </p:nvPr>
        </p:nvSpPr>
        <p:spPr/>
        <p:txBody>
          <a:bodyPr/>
          <a:lstStyle/>
          <a:p>
            <a:r>
              <a:rPr lang="fr-CA" dirty="0"/>
              <a:t>Rédaction à remettre</a:t>
            </a:r>
          </a:p>
          <a:p>
            <a:pPr lvl="1"/>
            <a:r>
              <a:rPr lang="fr-CA" dirty="0"/>
              <a:t>Vous pouvez vous consulter, mais tous doivent rédiger leur version</a:t>
            </a:r>
          </a:p>
          <a:p>
            <a:pPr lvl="2"/>
            <a:r>
              <a:rPr lang="fr-CA" sz="2200" dirty="0"/>
              <a:t>Donc pas deux documents identiques</a:t>
            </a:r>
          </a:p>
          <a:p>
            <a:r>
              <a:rPr lang="fr-CA" i="1" dirty="0"/>
              <a:t>1 point</a:t>
            </a:r>
          </a:p>
          <a:p>
            <a:endParaRPr lang="fr-CA" i="1" dirty="0"/>
          </a:p>
          <a:p>
            <a:r>
              <a:rPr lang="fr-CA" i="1" dirty="0"/>
              <a:t>Au besoin revoir vos notions du cours Regroupement avant cette rédaction</a:t>
            </a:r>
            <a:endParaRPr lang="fr-FR" dirty="0"/>
          </a:p>
        </p:txBody>
      </p:sp>
      <p:sp>
        <p:nvSpPr>
          <p:cNvPr id="4" name="Espace réservé du numéro de diapositive 3">
            <a:extLst>
              <a:ext uri="{FF2B5EF4-FFF2-40B4-BE49-F238E27FC236}">
                <a16:creationId xmlns:a16="http://schemas.microsoft.com/office/drawing/2014/main" id="{076D0778-B50A-4E21-A37F-EF87FD77F767}"/>
              </a:ext>
            </a:extLst>
          </p:cNvPr>
          <p:cNvSpPr>
            <a:spLocks noGrp="1"/>
          </p:cNvSpPr>
          <p:nvPr>
            <p:ph type="sldNum" sz="quarter" idx="12"/>
          </p:nvPr>
        </p:nvSpPr>
        <p:spPr/>
        <p:txBody>
          <a:bodyPr/>
          <a:lstStyle/>
          <a:p>
            <a:fld id="{F1FCC400-9845-4852-A9C9-E1406FDA319A}" type="slidenum">
              <a:rPr lang="fr-FR" smtClean="0"/>
              <a:t>67</a:t>
            </a:fld>
            <a:endParaRPr lang="fr-FR"/>
          </a:p>
        </p:txBody>
      </p:sp>
    </p:spTree>
    <p:extLst>
      <p:ext uri="{BB962C8B-B14F-4D97-AF65-F5344CB8AC3E}">
        <p14:creationId xmlns:p14="http://schemas.microsoft.com/office/powerpoint/2010/main" val="319004350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1174</TotalTime>
  <Words>12101</Words>
  <Application>Microsoft Office PowerPoint</Application>
  <PresentationFormat>Grand écran</PresentationFormat>
  <Paragraphs>696</Paragraphs>
  <Slides>67</Slides>
  <Notes>12</Notes>
  <HiddenSlides>0</HiddenSlides>
  <MMClips>0</MMClips>
  <ScaleCrop>false</ScaleCrop>
  <HeadingPairs>
    <vt:vector size="8" baseType="variant">
      <vt:variant>
        <vt:lpstr>Polices utilisées</vt:lpstr>
      </vt:variant>
      <vt:variant>
        <vt:i4>12</vt:i4>
      </vt:variant>
      <vt:variant>
        <vt:lpstr>Thème</vt:lpstr>
      </vt:variant>
      <vt:variant>
        <vt:i4>1</vt:i4>
      </vt:variant>
      <vt:variant>
        <vt:lpstr>Serveurs OLE incorporés</vt:lpstr>
      </vt:variant>
      <vt:variant>
        <vt:i4>1</vt:i4>
      </vt:variant>
      <vt:variant>
        <vt:lpstr>Titres des diapositives</vt:lpstr>
      </vt:variant>
      <vt:variant>
        <vt:i4>67</vt:i4>
      </vt:variant>
    </vt:vector>
  </HeadingPairs>
  <TitlesOfParts>
    <vt:vector size="81" baseType="lpstr">
      <vt:lpstr>&amp;quot</vt:lpstr>
      <vt:lpstr>Aptos</vt:lpstr>
      <vt:lpstr>Aptos Display</vt:lpstr>
      <vt:lpstr>Arial</vt:lpstr>
      <vt:lpstr>Arial Narrow</vt:lpstr>
      <vt:lpstr>Calibri</vt:lpstr>
      <vt:lpstr>Calibri Light</vt:lpstr>
      <vt:lpstr>Gotham-Book</vt:lpstr>
      <vt:lpstr>Segoe UI</vt:lpstr>
      <vt:lpstr>Times New Roman</vt:lpstr>
      <vt:lpstr>Verdana</vt:lpstr>
      <vt:lpstr>Wingdings</vt:lpstr>
      <vt:lpstr>Thème Office</vt:lpstr>
      <vt:lpstr>Worksheet</vt:lpstr>
      <vt:lpstr>40938 Intra Hiver 2025 - rétro</vt:lpstr>
      <vt:lpstr>Préoccupation Santé Inc. - contexte</vt:lpstr>
      <vt:lpstr>Fermes V&amp;F inc. - mandat</vt:lpstr>
      <vt:lpstr>1- Actions privilégiées</vt:lpstr>
      <vt:lpstr>1- Actions privilégiées</vt:lpstr>
      <vt:lpstr>1- Actions privilégiées</vt:lpstr>
      <vt:lpstr>1- Actions privilégiées</vt:lpstr>
      <vt:lpstr>1- Actions privilégiées</vt:lpstr>
      <vt:lpstr>1- Actions privilégiées</vt:lpstr>
      <vt:lpstr>1- Actions privilégiées</vt:lpstr>
      <vt:lpstr>Indicateur 1 : Actions privilégiées</vt:lpstr>
      <vt:lpstr>Indicateur 1 : Actions privilégiées – commentaires des correcteurs</vt:lpstr>
      <vt:lpstr>2- Pertes d'opérations et Poursuite</vt:lpstr>
      <vt:lpstr>2- Pertes d'opérations et Poursuite</vt:lpstr>
      <vt:lpstr>2- Pertes d'opérations et Poursuite</vt:lpstr>
      <vt:lpstr>2- Pertes d'opérations et Poursuite</vt:lpstr>
      <vt:lpstr>2- Pertes d'opérations et Poursuite</vt:lpstr>
      <vt:lpstr>2- Pertes d'opérations et Poursuite</vt:lpstr>
      <vt:lpstr>2- Pertes d'opérations et Poursuite</vt:lpstr>
      <vt:lpstr>Indicateur 2 : Pertes d'opérations et Poursuite</vt:lpstr>
      <vt:lpstr>Indicateur 2 : Pertes d'opérations et Poursuite – commentaires des correcteurs</vt:lpstr>
      <vt:lpstr>3- Entente particulière - vente de produits</vt:lpstr>
      <vt:lpstr>3- Entente particulière - vente de produits</vt:lpstr>
      <vt:lpstr>3- Entente particulière - vente de produits</vt:lpstr>
      <vt:lpstr>3- Entente particulière - vente de produits</vt:lpstr>
      <vt:lpstr>3- Entente particulière - vente de produits</vt:lpstr>
      <vt:lpstr>3- Entente particulière - vente de produits</vt:lpstr>
      <vt:lpstr>3- Entente particulière - vente de produits</vt:lpstr>
      <vt:lpstr>3- Entente particulière - vente de produits</vt:lpstr>
      <vt:lpstr>3- Entente particulière - vente de produits</vt:lpstr>
      <vt:lpstr>Indicateur 3- Entente particulière - vente de produits</vt:lpstr>
      <vt:lpstr>Indicateur 3- Entente particulière - vente de produits – commentaires des correcteurs</vt:lpstr>
      <vt:lpstr>4- Immeuble de bureaux</vt:lpstr>
      <vt:lpstr>4- Immeuble de bureaux</vt:lpstr>
      <vt:lpstr>4- Immeuble de bureaux</vt:lpstr>
      <vt:lpstr>4- Immeuble de bureaux</vt:lpstr>
      <vt:lpstr>4- Immeuble de bureaux</vt:lpstr>
      <vt:lpstr>4- Immeuble de bureaux</vt:lpstr>
      <vt:lpstr>Indicateur 4- Immeuble de bureaux</vt:lpstr>
      <vt:lpstr>Indicateur 4- Immeuble de bureaux – commentaires des correcteurs</vt:lpstr>
      <vt:lpstr>5- Terres agricoles</vt:lpstr>
      <vt:lpstr>5- Terres agricoles</vt:lpstr>
      <vt:lpstr>5- Terres agricoles</vt:lpstr>
      <vt:lpstr>5- Terres agricoles</vt:lpstr>
      <vt:lpstr>5- Terres agricoles</vt:lpstr>
      <vt:lpstr>5- Terres agricoles</vt:lpstr>
      <vt:lpstr>Indicateur 5- Terres agricoles</vt:lpstr>
      <vt:lpstr>Indicateur 5- Terres agricoles – commentaires des correcteurs</vt:lpstr>
      <vt:lpstr>6 – Céréales - stocks</vt:lpstr>
      <vt:lpstr>6 – Céréales - stocks</vt:lpstr>
      <vt:lpstr>6 – Céréales - stocks</vt:lpstr>
      <vt:lpstr>6 – Céréales - stocks</vt:lpstr>
      <vt:lpstr>6 – Céréales - stocks</vt:lpstr>
      <vt:lpstr>Indicateur 6 – Céréales - stocks</vt:lpstr>
      <vt:lpstr>Indicateur 6 – Céréales – stocks – commentaires des correcteurs</vt:lpstr>
      <vt:lpstr>7 – Veaux</vt:lpstr>
      <vt:lpstr>7 – Veaux</vt:lpstr>
      <vt:lpstr>7 – Veaux</vt:lpstr>
      <vt:lpstr>7 – Veaux</vt:lpstr>
      <vt:lpstr>7 – Veaux</vt:lpstr>
      <vt:lpstr>7 – Veaux</vt:lpstr>
      <vt:lpstr>Indicateur 7 – Veaux</vt:lpstr>
      <vt:lpstr>Indicateur 7 – Veaux – commentaires des correcteurs</vt:lpstr>
      <vt:lpstr>En général</vt:lpstr>
      <vt:lpstr>Correction</vt:lpstr>
      <vt:lpstr>Travail à la suite de l’intra</vt:lpstr>
      <vt:lpstr>cas Electronic Games inc.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Louise Overbeek</dc:creator>
  <cp:lastModifiedBy>SOKRI Marzouk</cp:lastModifiedBy>
  <cp:revision>9</cp:revision>
  <dcterms:created xsi:type="dcterms:W3CDTF">2025-02-26T20:24:49Z</dcterms:created>
  <dcterms:modified xsi:type="dcterms:W3CDTF">2025-03-11T14:13:14Z</dcterms:modified>
</cp:coreProperties>
</file>