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0" autoAdjust="0"/>
    <p:restoredTop sz="95501" autoAdjust="0"/>
  </p:normalViewPr>
  <p:slideViewPr>
    <p:cSldViewPr snapToGrid="0">
      <p:cViewPr varScale="1">
        <p:scale>
          <a:sx n="100" d="100"/>
          <a:sy n="100" d="100"/>
        </p:scale>
        <p:origin x="5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590C4-4F80-4074-BAAD-1CBE51953CAC}" type="datetimeFigureOut">
              <a:rPr lang="fr-CA" smtClean="0"/>
              <a:t>2020-08-19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E8ECD-F393-4AE7-A045-62D9DCF923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489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E8ECD-F393-4AE7-A045-62D9DCF923F5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1064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6FA3-E8D3-4BDD-BA8B-99137EA37F03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0174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C1F4-F4EF-4CFA-B111-72154C28418B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979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E464-118C-4E90-9D4A-643284FA21F8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4765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C7B6-9479-448B-98D2-515A67D86864}" type="datetime1">
              <a:rPr lang="fr-CA" smtClean="0"/>
              <a:t>2020-08-19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578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FA1-6875-4CD6-9B57-772E363904EB}" type="datetime1">
              <a:rPr lang="fr-CA" smtClean="0"/>
              <a:t>2020-08-19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193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D797-E5F1-4873-B8B2-16864D76A20E}" type="datetime1">
              <a:rPr lang="fr-CA" smtClean="0"/>
              <a:t>2020-08-19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480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BB87-EFCA-456E-B2C9-B13EA14CB87B}" type="datetime1">
              <a:rPr lang="fr-CA" smtClean="0"/>
              <a:t>2020-08-19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042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56F8-4D58-4F13-B48F-7190EBD0A425}" type="datetime1">
              <a:rPr lang="fr-CA" smtClean="0"/>
              <a:t>2020-08-19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393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BEEC-EFA5-471A-9372-5B83C6CED652}" type="datetime1">
              <a:rPr lang="fr-CA" smtClean="0"/>
              <a:t>2020-08-19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083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0262-AFAF-4962-9410-810CDD9E349C}" type="datetime1">
              <a:rPr lang="fr-CA" smtClean="0"/>
              <a:t>2020-08-19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437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1B0-6625-48F6-B805-544B249D376D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529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6A67-7B5B-47DF-9BF7-8C6A81314DA7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324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68832-CEFE-4820-8895-C42BE727380F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5595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68AB-68A8-475A-874E-3A72DABC7196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2271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9958-11C6-4485-A935-24E3B6EAF863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6868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E47CE-4DFC-4435-AC5B-9A8EB25EED14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732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76BB-1510-482A-A690-47D096F018DE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677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5849B5-0907-4D77-9B34-E662FBCF927B}" type="datetime1">
              <a:rPr lang="fr-CA" smtClean="0"/>
              <a:t>2020-08-19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832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Rôles et mandats en comptabilité professionnelle COMP40911</a:t>
            </a:r>
            <a:endParaRPr lang="fr-CA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>
          <a:xfrm>
            <a:off x="3566161" y="3996267"/>
            <a:ext cx="7936862" cy="1388534"/>
          </a:xfrm>
        </p:spPr>
        <p:txBody>
          <a:bodyPr/>
          <a:lstStyle/>
          <a:p>
            <a:endParaRPr lang="fr-CA" dirty="0" smtClean="0"/>
          </a:p>
          <a:p>
            <a:r>
              <a:rPr lang="fr-CA" sz="2400" b="1" dirty="0" smtClean="0"/>
              <a:t>Le traitement des options</a:t>
            </a:r>
            <a:endParaRPr lang="fr-CA" sz="2400" b="1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 smtClean="0"/>
              <a:t>© Hugo Lesley - HEC Montréal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5260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 traitement des options</a:t>
            </a:r>
            <a:endParaRPr lang="fr-CA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 smtClean="0"/>
              <a:t>Assurez-vous qu’il s’agit vraiment d’options pour votre destinataire.</a:t>
            </a:r>
            <a:endParaRPr lang="fr-CA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2</a:t>
            </a:fld>
            <a:endParaRPr lang="fr-CA" noProof="0" dirty="0"/>
          </a:p>
        </p:txBody>
      </p:sp>
      <p:pic>
        <p:nvPicPr>
          <p:cNvPr id="1026" name="Picture 2" descr="Choix, Flèches, Point D'Interrogation, Chem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895" y="614414"/>
            <a:ext cx="5079365" cy="285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2274570" y="3348645"/>
            <a:ext cx="2731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100" i="1" dirty="0" smtClean="0"/>
              <a:t>Crédit photo : </a:t>
            </a:r>
            <a:r>
              <a:rPr lang="fr-CA" sz="1100" i="1" dirty="0" err="1" smtClean="0"/>
              <a:t>Pixabay</a:t>
            </a:r>
            <a:endParaRPr lang="fr-CA" sz="1100" i="1" dirty="0"/>
          </a:p>
        </p:txBody>
      </p:sp>
    </p:spTree>
    <p:extLst>
      <p:ext uri="{BB962C8B-B14F-4D97-AF65-F5344CB8AC3E}">
        <p14:creationId xmlns:p14="http://schemas.microsoft.com/office/powerpoint/2010/main" val="157431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2475750" y="1466849"/>
            <a:ext cx="8931390" cy="4602481"/>
          </a:xfrm>
        </p:spPr>
        <p:txBody>
          <a:bodyPr>
            <a:normAutofit/>
          </a:bodyPr>
          <a:lstStyle/>
          <a:p>
            <a:r>
              <a:rPr lang="fr-CA" dirty="0" smtClean="0"/>
              <a:t>L’analyse d’options doit être neutre. On s’attend qu’un CPA présente une analyse équilibrée.</a:t>
            </a:r>
          </a:p>
          <a:p>
            <a:r>
              <a:rPr lang="fr-CA" dirty="0" smtClean="0"/>
              <a:t>Votre interlocuteur a assurément un parti pris (biais). Vous devez lui présenter les deux côtés de la médaille afin qu’il puisse prendre une décision éclairée.</a:t>
            </a:r>
            <a:endParaRPr lang="fr-CA" dirty="0"/>
          </a:p>
          <a:p>
            <a:r>
              <a:rPr lang="fr-CA" dirty="0" smtClean="0"/>
              <a:t>Idéalement, il faut viser 2-3 avantages et 2-3 inconvénients par options et conclure par une recommandation.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3</a:t>
            </a:fld>
            <a:endParaRPr lang="fr-CA" noProof="0" dirty="0"/>
          </a:p>
        </p:txBody>
      </p:sp>
      <p:sp>
        <p:nvSpPr>
          <p:cNvPr id="5" name="Titre 6"/>
          <p:cNvSpPr>
            <a:spLocks noGrp="1"/>
          </p:cNvSpPr>
          <p:nvPr>
            <p:ph type="title"/>
          </p:nvPr>
        </p:nvSpPr>
        <p:spPr>
          <a:xfrm>
            <a:off x="1484311" y="-285750"/>
            <a:ext cx="10018713" cy="1752599"/>
          </a:xfrm>
        </p:spPr>
        <p:txBody>
          <a:bodyPr/>
          <a:lstStyle/>
          <a:p>
            <a:r>
              <a:rPr lang="fr-CA" dirty="0" smtClean="0"/>
              <a:t>Traitement des options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9809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EC05-AB38-4F58-9609-FFF4AA167839}" type="slidenum">
              <a:rPr lang="fr-CA" smtClean="0"/>
              <a:t>4</a:t>
            </a:fld>
            <a:endParaRPr lang="fr-CA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069207" y="44724"/>
            <a:ext cx="9823680" cy="1201146"/>
          </a:xfrm>
        </p:spPr>
        <p:txBody>
          <a:bodyPr>
            <a:normAutofit fontScale="90000"/>
          </a:bodyPr>
          <a:lstStyle/>
          <a:p>
            <a:r>
              <a:rPr lang="fr-CA" dirty="0"/>
              <a:t>Traitement des </a:t>
            </a:r>
            <a:r>
              <a:rPr lang="fr-CA" dirty="0" smtClean="0"/>
              <a:t>options</a:t>
            </a:r>
            <a:br>
              <a:rPr lang="fr-CA" dirty="0" smtClean="0"/>
            </a:br>
            <a:r>
              <a:rPr lang="fr-CA" dirty="0" smtClean="0">
                <a:solidFill>
                  <a:srgbClr val="FF0000"/>
                </a:solidFill>
              </a:rPr>
              <a:t>(un mauvais exemple)</a:t>
            </a:r>
            <a:endParaRPr lang="fr-CA" dirty="0"/>
          </a:p>
        </p:txBody>
      </p:sp>
      <p:sp>
        <p:nvSpPr>
          <p:cNvPr id="5" name="Rectangle 4"/>
          <p:cNvSpPr/>
          <p:nvPr/>
        </p:nvSpPr>
        <p:spPr>
          <a:xfrm>
            <a:off x="2717587" y="1551667"/>
            <a:ext cx="5134823" cy="4498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1480" indent="-41148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fr-CA" sz="168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Déterminer la meilleure option de financement</a:t>
            </a:r>
            <a:endParaRPr lang="fr-CA" sz="168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960"/>
              </a:spcAft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960"/>
              </a:spcAft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1 – Proposition  A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Avantages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Peu </a:t>
            </a:r>
            <a:r>
              <a:rPr lang="fr-CA" sz="168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coûteuse </a:t>
            </a: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Couvre tous les besoins ;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Inconvénients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Aucun</a:t>
            </a:r>
          </a:p>
          <a:p>
            <a:pPr lvl="2" algn="just">
              <a:lnSpc>
                <a:spcPct val="107000"/>
              </a:lnSpc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2 –  Proposition B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endParaRPr lang="fr-CA" sz="168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Inconvénients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68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Plus </a:t>
            </a:r>
            <a:r>
              <a:rPr lang="fr-CA" sz="168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coûteuse</a:t>
            </a:r>
            <a:endParaRPr lang="fr-CA" sz="168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fr-CA" sz="168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fr-CA" sz="168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: Je recommande l’option 1</a:t>
            </a:r>
            <a:endParaRPr lang="fr-CA" sz="168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Interdite, Interdit, Aucun, Panneau De Signalisa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060" y="2712607"/>
            <a:ext cx="2176145" cy="217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9585970" y="4888752"/>
            <a:ext cx="2731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100" i="1" dirty="0" smtClean="0"/>
              <a:t>Crédit photo : </a:t>
            </a:r>
            <a:r>
              <a:rPr lang="fr-CA" sz="1100" i="1" dirty="0" err="1" smtClean="0"/>
              <a:t>Pixabay</a:t>
            </a:r>
            <a:endParaRPr lang="fr-CA" sz="1100" i="1" dirty="0"/>
          </a:p>
        </p:txBody>
      </p:sp>
    </p:spTree>
    <p:extLst>
      <p:ext uri="{BB962C8B-B14F-4D97-AF65-F5344CB8AC3E}">
        <p14:creationId xmlns:p14="http://schemas.microsoft.com/office/powerpoint/2010/main" val="134833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EC05-AB38-4F58-9609-FFF4AA167839}" type="slidenum">
              <a:rPr lang="fr-CA" smtClean="0"/>
              <a:t>5</a:t>
            </a:fld>
            <a:endParaRPr lang="fr-CA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537837" y="-172446"/>
            <a:ext cx="9823680" cy="988033"/>
          </a:xfrm>
        </p:spPr>
        <p:txBody>
          <a:bodyPr>
            <a:normAutofit/>
          </a:bodyPr>
          <a:lstStyle/>
          <a:p>
            <a:r>
              <a:rPr lang="fr-CA" dirty="0"/>
              <a:t>Traitement des </a:t>
            </a:r>
            <a:r>
              <a:rPr lang="fr-CA" dirty="0" smtClean="0"/>
              <a:t>options </a:t>
            </a:r>
            <a:r>
              <a:rPr lang="fr-CA" dirty="0"/>
              <a:t> </a:t>
            </a:r>
            <a:r>
              <a:rPr lang="fr-CA" dirty="0" smtClean="0"/>
              <a:t>- </a:t>
            </a:r>
            <a:r>
              <a:rPr lang="fr-CA" dirty="0" smtClean="0">
                <a:solidFill>
                  <a:srgbClr val="FF0000"/>
                </a:solidFill>
              </a:rPr>
              <a:t>(un bon exemple)</a:t>
            </a:r>
            <a:endParaRPr lang="fr-CA" dirty="0"/>
          </a:p>
        </p:txBody>
      </p:sp>
      <p:sp>
        <p:nvSpPr>
          <p:cNvPr id="5" name="Rectangle 4"/>
          <p:cNvSpPr/>
          <p:nvPr/>
        </p:nvSpPr>
        <p:spPr>
          <a:xfrm>
            <a:off x="1661051" y="666997"/>
            <a:ext cx="9437576" cy="6149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fr-CA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Objectif :  Déterminer la gamme de produits à abandonner</a:t>
            </a:r>
            <a:endParaRPr lang="fr-CA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960"/>
              </a:spcAft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CA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1 – Gamme A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Avantages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L’application technologique est la nouvelle </a:t>
            </a: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voie d’avenir dans le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secteur – l’abandon pourrait nuire au développement à long terme.</a:t>
            </a:r>
            <a:endParaRPr lang="fr-CA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Demande en croissance rapide en raison de la notoriété de la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porte-parole – ce qui assure une bonne croissance des ventes </a:t>
            </a: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Inconvénients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Problème au niveau des relations avec la porte-parole et c’est elle qui fait la notoriété de la gamme, il y a donc un risque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 – un conflit médiatisé pourrait nuire aux ventes futures ainsi qu’à la notoriété de l’entreprise </a:t>
            </a: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Quantitatif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cas d’abandon, l’impact négatif serait de : 206 000 $</a:t>
            </a:r>
          </a:p>
          <a:p>
            <a:pPr lvl="2" algn="just">
              <a:lnSpc>
                <a:spcPct val="107000"/>
              </a:lnSpc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</a:pPr>
            <a:r>
              <a:rPr lang="fr-CA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2 – Gamme B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Avantages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Popularité croissante en raison du vieillissement de la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 – ceci assure une certaine demande </a:t>
            </a: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Synergies possibles en lien avec l’acquisition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il pourrait y avoir des économies de coûts lors de l’intégration des activités ;</a:t>
            </a:r>
            <a:endParaRPr lang="fr-CA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Subventions disponibles (25 000 $ annuellement)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afin de réduire les coûts ;</a:t>
            </a:r>
            <a:endParaRPr lang="fr-CA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Inconvénients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Difficultés de la clientèle cible à s’adapter aux éventuels changements technologiques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ceci pourrait être un frein à la croissance des ventes</a:t>
            </a:r>
            <a:endParaRPr lang="fr-CA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Quantitatif</a:t>
            </a:r>
          </a:p>
          <a:p>
            <a:pPr marL="1371600" lvl="2" indent="-27432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cas d’abandon, l’impact négatif serait de : 180 000 $ </a:t>
            </a:r>
          </a:p>
          <a:p>
            <a:pPr marL="756666" algn="just">
              <a:lnSpc>
                <a:spcPct val="107000"/>
              </a:lnSpc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</a:pPr>
            <a:r>
              <a:rPr lang="fr-CA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fr-CA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L’abandon de la gamme B est celle qui engendrera la perte la moins importante sur toute l’année, soit une perte de 180 000$. De son côté, l’abandon de la gamme A entraine une perte de 206 000$. Quantitativement, c’est la gamme B qui devrait être abandonnée.</a:t>
            </a:r>
          </a:p>
          <a:p>
            <a:pPr marL="891540" lvl="1" indent="-34290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Toutefois, je recommande </a:t>
            </a: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l’abandon de la gamme A, puisque les revenus de cette gamme sont très dépendants de la notoriété de la porte </a:t>
            </a:r>
            <a:r>
              <a:rPr lang="fr-CA" sz="1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parole qui est hors de votre contrôle. </a:t>
            </a:r>
            <a:r>
              <a:rPr lang="fr-CA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 surplus, si l’on retranche la subvention, la perte serait alors de 205 000$, ce qui est très comparable avec la perte qui serait subie en cas d’abandon de la gamme A. Par conséquent, nous recommandons l’abandon de la gamme A.</a:t>
            </a:r>
          </a:p>
        </p:txBody>
      </p:sp>
    </p:spTree>
    <p:extLst>
      <p:ext uri="{BB962C8B-B14F-4D97-AF65-F5344CB8AC3E}">
        <p14:creationId xmlns:p14="http://schemas.microsoft.com/office/powerpoint/2010/main" val="21323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smtClean="0"/>
              <a:t>© Hugo Lesley - HEC Montréal</a:t>
            </a:r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6</a:t>
            </a:fld>
            <a:endParaRPr lang="fr-CA"/>
          </a:p>
        </p:txBody>
      </p:sp>
      <p:pic>
        <p:nvPicPr>
          <p:cNvPr id="3074" name="Picture 2" descr="Échelle, Balance De La Justice, Cour, La Just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40" y="510449"/>
            <a:ext cx="5108297" cy="510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4930468" y="3777917"/>
            <a:ext cx="1362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b="1" dirty="0" smtClean="0"/>
              <a:t>Qualité</a:t>
            </a:r>
            <a:endParaRPr lang="fr-CA" sz="20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7606923" y="3220454"/>
            <a:ext cx="1362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b="1" dirty="0" smtClean="0"/>
              <a:t>Quantité</a:t>
            </a:r>
            <a:endParaRPr lang="fr-CA" sz="20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7982652" y="5357137"/>
            <a:ext cx="2731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100" i="1" dirty="0" smtClean="0"/>
              <a:t>Crédit photo : </a:t>
            </a:r>
            <a:r>
              <a:rPr lang="fr-CA" sz="1100" i="1" dirty="0" err="1" smtClean="0"/>
              <a:t>Pixabay</a:t>
            </a:r>
            <a:endParaRPr lang="fr-CA" sz="1100" i="1" dirty="0"/>
          </a:p>
        </p:txBody>
      </p:sp>
    </p:spTree>
    <p:extLst>
      <p:ext uri="{BB962C8B-B14F-4D97-AF65-F5344CB8AC3E}">
        <p14:creationId xmlns:p14="http://schemas.microsoft.com/office/powerpoint/2010/main" val="370162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al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Parallaxe</Template>
  <TotalTime>5478</TotalTime>
  <Words>148</Words>
  <Application>Microsoft Office PowerPoint</Application>
  <PresentationFormat>Grand écran</PresentationFormat>
  <Paragraphs>63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Corbel</vt:lpstr>
      <vt:lpstr>Courier New</vt:lpstr>
      <vt:lpstr>Times New Roman</vt:lpstr>
      <vt:lpstr>Wingdings</vt:lpstr>
      <vt:lpstr>Parallaxe</vt:lpstr>
      <vt:lpstr>Rôles et mandats en comptabilité professionnelle COMP40911</vt:lpstr>
      <vt:lpstr>Le traitement des options</vt:lpstr>
      <vt:lpstr>Traitement des options</vt:lpstr>
      <vt:lpstr>Traitement des options (un mauvais exemple)</vt:lpstr>
      <vt:lpstr>Traitement des options  - (un bon exemple)</vt:lpstr>
      <vt:lpstr>Présentation PowerPoint</vt:lpstr>
    </vt:vector>
  </TitlesOfParts>
  <Company>HEC Montréal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Rôle et mandats en comptabilité professionnelle COMP40911</dc:title>
  <dc:creator>hugo lesley</dc:creator>
  <cp:lastModifiedBy>Hugo Lesley</cp:lastModifiedBy>
  <cp:revision>55</cp:revision>
  <dcterms:created xsi:type="dcterms:W3CDTF">2020-03-31T19:23:16Z</dcterms:created>
  <dcterms:modified xsi:type="dcterms:W3CDTF">2020-08-19T17:40:51Z</dcterms:modified>
</cp:coreProperties>
</file>