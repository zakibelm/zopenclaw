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64" r:id="rId3"/>
    <p:sldId id="265" r:id="rId4"/>
    <p:sldId id="266" r:id="rId5"/>
    <p:sldId id="267" r:id="rId6"/>
    <p:sldId id="268"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0" autoAdjust="0"/>
    <p:restoredTop sz="95501" autoAdjust="0"/>
  </p:normalViewPr>
  <p:slideViewPr>
    <p:cSldViewPr snapToGrid="0">
      <p:cViewPr varScale="1">
        <p:scale>
          <a:sx n="100" d="100"/>
          <a:sy n="100" d="100"/>
        </p:scale>
        <p:origin x="58"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22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4590C4-4F80-4074-BAAD-1CBE51953CAC}" type="datetimeFigureOut">
              <a:rPr lang="fr-CA" smtClean="0"/>
              <a:t>2020-08-19</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4E8ECD-F393-4AE7-A045-62D9DCF923F5}" type="slidenum">
              <a:rPr lang="fr-CA" smtClean="0"/>
              <a:t>‹N°›</a:t>
            </a:fld>
            <a:endParaRPr lang="fr-CA"/>
          </a:p>
        </p:txBody>
      </p:sp>
    </p:spTree>
    <p:extLst>
      <p:ext uri="{BB962C8B-B14F-4D97-AF65-F5344CB8AC3E}">
        <p14:creationId xmlns:p14="http://schemas.microsoft.com/office/powerpoint/2010/main" val="228489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D54E8ECD-F393-4AE7-A045-62D9DCF923F5}" type="slidenum">
              <a:rPr lang="fr-CA" smtClean="0"/>
              <a:t>1</a:t>
            </a:fld>
            <a:endParaRPr lang="fr-CA"/>
          </a:p>
        </p:txBody>
      </p:sp>
    </p:spTree>
    <p:extLst>
      <p:ext uri="{BB962C8B-B14F-4D97-AF65-F5344CB8AC3E}">
        <p14:creationId xmlns:p14="http://schemas.microsoft.com/office/powerpoint/2010/main" val="1071064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fr-FR" smtClean="0"/>
              <a:t>Modifiez le style du titre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4" name="Date Placeholder 3"/>
          <p:cNvSpPr>
            <a:spLocks noGrp="1"/>
          </p:cNvSpPr>
          <p:nvPr>
            <p:ph type="dt" sz="half" idx="10"/>
          </p:nvPr>
        </p:nvSpPr>
        <p:spPr/>
        <p:txBody>
          <a:bodyPr/>
          <a:lstStyle/>
          <a:p>
            <a:fld id="{89196FA3-E8D3-4BDD-BA8B-99137EA37F03}" type="datetime1">
              <a:rPr lang="fr-CA" smtClean="0"/>
              <a:t>2020-08-19</a:t>
            </a:fld>
            <a:endParaRPr lang="fr-CA"/>
          </a:p>
        </p:txBody>
      </p:sp>
      <p:sp>
        <p:nvSpPr>
          <p:cNvPr id="5" name="Footer Placeholder 4"/>
          <p:cNvSpPr>
            <a:spLocks noGrp="1"/>
          </p:cNvSpPr>
          <p:nvPr>
            <p:ph type="ftr" sz="quarter" idx="11"/>
          </p:nvPr>
        </p:nvSpPr>
        <p:spPr>
          <a:xfrm>
            <a:off x="5332412" y="5883275"/>
            <a:ext cx="4324044" cy="365125"/>
          </a:xfrm>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150174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nchor="ct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0D2AC1F4-F4EF-4CFA-B111-72154C28418B}"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a:xfrm>
            <a:off x="10951856" y="5867131"/>
            <a:ext cx="551167" cy="365125"/>
          </a:xfrm>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4149796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fr-FR" smtClean="0"/>
              <a:t>Modifiez le style du titre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79C1E464-118C-4E90-9D4A-643284FA21F8}"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1347659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fr-FR" smtClean="0"/>
              <a:t>Modifiez le style du titre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BFA1C7B6-9479-448B-98D2-515A67D86864}" type="datetime1">
              <a:rPr lang="fr-CA" smtClean="0"/>
              <a:t>2020-08-19</a:t>
            </a:fld>
            <a:endParaRPr lang="fr-CA"/>
          </a:p>
        </p:txBody>
      </p:sp>
      <p:sp>
        <p:nvSpPr>
          <p:cNvPr id="6" name="Footer Placeholder 5"/>
          <p:cNvSpPr>
            <a:spLocks noGrp="1"/>
          </p:cNvSpPr>
          <p:nvPr>
            <p:ph type="ftr" sz="quarter" idx="11"/>
          </p:nvPr>
        </p:nvSpPr>
        <p:spPr/>
        <p:txBody>
          <a:bodyPr/>
          <a:lstStyle/>
          <a:p>
            <a:r>
              <a:rPr lang="fr-CA" smtClean="0"/>
              <a:t>© Hugo Lesley - HEC Montréal</a:t>
            </a:r>
            <a:endParaRPr lang="fr-CA"/>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2765784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5BE1FFA1-6875-4CD6-9B57-772E363904EB}" type="datetime1">
              <a:rPr lang="fr-CA" smtClean="0"/>
              <a:t>2020-08-19</a:t>
            </a:fld>
            <a:endParaRPr lang="fr-CA"/>
          </a:p>
        </p:txBody>
      </p:sp>
      <p:sp>
        <p:nvSpPr>
          <p:cNvPr id="8" name="Footer Placeholder 7"/>
          <p:cNvSpPr>
            <a:spLocks noGrp="1"/>
          </p:cNvSpPr>
          <p:nvPr>
            <p:ph type="ftr" sz="quarter" idx="11"/>
          </p:nvPr>
        </p:nvSpPr>
        <p:spPr/>
        <p:txBody>
          <a:bodyPr/>
          <a:lstStyle/>
          <a:p>
            <a:r>
              <a:rPr lang="fr-CA" smtClean="0"/>
              <a:t>© Hugo Lesley - HEC Montréal</a:t>
            </a:r>
            <a:endParaRPr lang="fr-CA"/>
          </a:p>
        </p:txBody>
      </p:sp>
      <p:sp>
        <p:nvSpPr>
          <p:cNvPr id="9" name="Slide Number Placeholder 8"/>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371938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CA8FD797-E5F1-4873-B8B2-16864D76A20E}" type="datetime1">
              <a:rPr lang="fr-CA" smtClean="0"/>
              <a:t>2020-08-19</a:t>
            </a:fld>
            <a:endParaRPr lang="fr-CA"/>
          </a:p>
        </p:txBody>
      </p:sp>
      <p:sp>
        <p:nvSpPr>
          <p:cNvPr id="4" name="Footer Placeholder 3"/>
          <p:cNvSpPr>
            <a:spLocks noGrp="1"/>
          </p:cNvSpPr>
          <p:nvPr>
            <p:ph type="ftr" sz="quarter" idx="11"/>
          </p:nvPr>
        </p:nvSpPr>
        <p:spPr/>
        <p:txBody>
          <a:bodyPr/>
          <a:lstStyle/>
          <a:p>
            <a:r>
              <a:rPr lang="fr-CA" smtClean="0"/>
              <a:t>© Hugo Lesley - HEC Montréal</a:t>
            </a:r>
            <a:endParaRPr lang="fr-CA"/>
          </a:p>
        </p:txBody>
      </p:sp>
      <p:sp>
        <p:nvSpPr>
          <p:cNvPr id="5" name="Slide Number Placeholder 4"/>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1904804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FCBB87-EFCA-456E-B2C9-B13EA14CB87B}" type="datetime1">
              <a:rPr lang="fr-CA" smtClean="0"/>
              <a:t>2020-08-19</a:t>
            </a:fld>
            <a:endParaRPr lang="fr-CA"/>
          </a:p>
        </p:txBody>
      </p:sp>
      <p:sp>
        <p:nvSpPr>
          <p:cNvPr id="3" name="Footer Placeholder 2"/>
          <p:cNvSpPr>
            <a:spLocks noGrp="1"/>
          </p:cNvSpPr>
          <p:nvPr>
            <p:ph type="ftr" sz="quarter" idx="11"/>
          </p:nvPr>
        </p:nvSpPr>
        <p:spPr/>
        <p:txBody>
          <a:bodyPr/>
          <a:lstStyle/>
          <a:p>
            <a:r>
              <a:rPr lang="fr-CA" smtClean="0"/>
              <a:t>© Hugo Lesley - HEC Montréal</a:t>
            </a:r>
            <a:endParaRPr lang="fr-CA"/>
          </a:p>
        </p:txBody>
      </p:sp>
      <p:sp>
        <p:nvSpPr>
          <p:cNvPr id="4" name="Slide Number Placeholder 3"/>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930420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fr-FR" smtClean="0"/>
              <a:t>Modifiez le style du titre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7A1056F8-4D58-4F13-B48F-7190EBD0A425}" type="datetime1">
              <a:rPr lang="fr-CA" smtClean="0"/>
              <a:t>2020-08-19</a:t>
            </a:fld>
            <a:endParaRPr lang="fr-CA"/>
          </a:p>
        </p:txBody>
      </p:sp>
      <p:sp>
        <p:nvSpPr>
          <p:cNvPr id="6" name="Footer Placeholder 5"/>
          <p:cNvSpPr>
            <a:spLocks noGrp="1"/>
          </p:cNvSpPr>
          <p:nvPr>
            <p:ph type="ftr" sz="quarter" idx="11"/>
          </p:nvPr>
        </p:nvSpPr>
        <p:spPr/>
        <p:txBody>
          <a:bodyPr/>
          <a:lstStyle/>
          <a:p>
            <a:r>
              <a:rPr lang="fr-CA" smtClean="0"/>
              <a:t>© Hugo Lesley - HEC Montréal</a:t>
            </a:r>
            <a:endParaRPr lang="fr-CA"/>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573939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fr-FR" smtClean="0"/>
              <a:t>Modifiez le style du titre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9BC8BEEC-EFA5-471A-9372-5B83C6CED652}" type="datetime1">
              <a:rPr lang="fr-CA" smtClean="0"/>
              <a:t>2020-08-19</a:t>
            </a:fld>
            <a:endParaRPr lang="fr-CA"/>
          </a:p>
        </p:txBody>
      </p:sp>
      <p:sp>
        <p:nvSpPr>
          <p:cNvPr id="6" name="Footer Placeholder 5"/>
          <p:cNvSpPr>
            <a:spLocks noGrp="1"/>
          </p:cNvSpPr>
          <p:nvPr>
            <p:ph type="ftr" sz="quarter" idx="11"/>
          </p:nvPr>
        </p:nvSpPr>
        <p:spPr/>
        <p:txBody>
          <a:bodyPr/>
          <a:lstStyle/>
          <a:p>
            <a:r>
              <a:rPr lang="fr-CA" smtClean="0"/>
              <a:t>© Hugo Lesley - HEC Montréal</a:t>
            </a:r>
            <a:endParaRPr lang="fr-CA"/>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580833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0A940262-AFAF-4962-9410-810CDD9E349C}" type="datetime1">
              <a:rPr lang="fr-CA" smtClean="0"/>
              <a:t>2020-08-19</a:t>
            </a:fld>
            <a:endParaRPr lang="fr-CA"/>
          </a:p>
        </p:txBody>
      </p:sp>
      <p:sp>
        <p:nvSpPr>
          <p:cNvPr id="6" name="Footer Placeholder 5"/>
          <p:cNvSpPr>
            <a:spLocks noGrp="1"/>
          </p:cNvSpPr>
          <p:nvPr>
            <p:ph type="ftr" sz="quarter" idx="11"/>
          </p:nvPr>
        </p:nvSpPr>
        <p:spPr/>
        <p:txBody>
          <a:bodyPr/>
          <a:lstStyle/>
          <a:p>
            <a:r>
              <a:rPr lang="fr-CA" smtClean="0"/>
              <a:t>© Hugo Lesley - HEC Montréal</a:t>
            </a:r>
            <a:endParaRPr lang="fr-CA"/>
          </a:p>
        </p:txBody>
      </p:sp>
      <p:sp>
        <p:nvSpPr>
          <p:cNvPr id="7" name="Slide Number Placeholder 6"/>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2714379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307091B0-6625-48F6-B805-544B249D376D}"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12352946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smtClean="0"/>
              <a:t>Modifiez les styles du texte du masque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2F4F6A67-7B5B-47DF-9BF7-8C6A81314DA7}"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723240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fr-FR" smtClean="0"/>
              <a:t>Modifiez le style du titre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06A68832-CEFE-4820-8895-C42BE727380F}"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4135595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fr-FR" smtClean="0"/>
              <a:t>Modifiez le style du titre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fr-FR" smtClean="0"/>
              <a:t>Modifiez les styles du texte du masque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776668AB-68A8-475A-874E-3A72DABC7196}"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172271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fr-FR" smtClean="0"/>
              <a:t>Modifiez le style du titre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fr-FR" smtClean="0"/>
              <a:t>Modifiez les styles du texte du masque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3B179958-11C6-4485-A935-24E3B6EAF863}"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23168684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D17E47CE-4DFC-4435-AC5B-9A8EB25EED14}"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157329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15B276BB-1510-482A-A690-47D096F018DE}" type="datetime1">
              <a:rPr lang="fr-CA" smtClean="0"/>
              <a:t>2020-08-19</a:t>
            </a:fld>
            <a:endParaRPr lang="fr-CA"/>
          </a:p>
        </p:txBody>
      </p:sp>
      <p:sp>
        <p:nvSpPr>
          <p:cNvPr id="5" name="Footer Placeholder 4"/>
          <p:cNvSpPr>
            <a:spLocks noGrp="1"/>
          </p:cNvSpPr>
          <p:nvPr>
            <p:ph type="ftr" sz="quarter" idx="11"/>
          </p:nvPr>
        </p:nvSpPr>
        <p:spPr/>
        <p:txBody>
          <a:bodyPr/>
          <a:lstStyle/>
          <a:p>
            <a:r>
              <a:rPr lang="fr-CA" smtClean="0"/>
              <a:t>© Hugo Lesley - HEC Montréal</a:t>
            </a:r>
            <a:endParaRPr lang="fr-CA"/>
          </a:p>
        </p:txBody>
      </p:sp>
      <p:sp>
        <p:nvSpPr>
          <p:cNvPr id="6" name="Slide Number Placeholder 5"/>
          <p:cNvSpPr>
            <a:spLocks noGrp="1"/>
          </p:cNvSpPr>
          <p:nvPr>
            <p:ph type="sldNum" sz="quarter" idx="12"/>
          </p:nvPr>
        </p:nvSpPr>
        <p:spPr/>
        <p:txBody>
          <a:bodyPr/>
          <a:lstStyle/>
          <a:p>
            <a:fld id="{925D5ECB-3EB5-46B4-A765-5958C79DB1EF}" type="slidenum">
              <a:rPr lang="fr-CA" smtClean="0"/>
              <a:t>‹N°›</a:t>
            </a:fld>
            <a:endParaRPr lang="fr-CA"/>
          </a:p>
        </p:txBody>
      </p:sp>
    </p:spTree>
    <p:extLst>
      <p:ext uri="{BB962C8B-B14F-4D97-AF65-F5344CB8AC3E}">
        <p14:creationId xmlns:p14="http://schemas.microsoft.com/office/powerpoint/2010/main" val="3986778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75849B5-0907-4D77-9B34-E662FBCF927B}" type="datetime1">
              <a:rPr lang="fr-CA" smtClean="0"/>
              <a:t>2020-08-19</a:t>
            </a:fld>
            <a:endParaRPr lang="fr-CA"/>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fr-CA" smtClean="0"/>
              <a:t>© Hugo Lesley - HEC Montréal</a:t>
            </a:r>
            <a:endParaRPr lang="fr-CA"/>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5D5ECB-3EB5-46B4-A765-5958C79DB1EF}" type="slidenum">
              <a:rPr lang="fr-CA" smtClean="0"/>
              <a:t>‹N°›</a:t>
            </a:fld>
            <a:endParaRPr lang="fr-CA"/>
          </a:p>
        </p:txBody>
      </p:sp>
    </p:spTree>
    <p:extLst>
      <p:ext uri="{BB962C8B-B14F-4D97-AF65-F5344CB8AC3E}">
        <p14:creationId xmlns:p14="http://schemas.microsoft.com/office/powerpoint/2010/main" val="5283207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normAutofit fontScale="90000"/>
          </a:bodyPr>
          <a:lstStyle/>
          <a:p>
            <a:r>
              <a:rPr lang="fr-CA" dirty="0" smtClean="0"/>
              <a:t>Rôles et mandats en comptabilité professionnelle COMP40911</a:t>
            </a:r>
            <a:endParaRPr lang="fr-CA" dirty="0"/>
          </a:p>
        </p:txBody>
      </p:sp>
      <p:sp>
        <p:nvSpPr>
          <p:cNvPr id="4" name="Sous-titre 3"/>
          <p:cNvSpPr>
            <a:spLocks noGrp="1"/>
          </p:cNvSpPr>
          <p:nvPr>
            <p:ph type="subTitle" idx="1"/>
          </p:nvPr>
        </p:nvSpPr>
        <p:spPr/>
        <p:txBody>
          <a:bodyPr>
            <a:normAutofit/>
          </a:bodyPr>
          <a:lstStyle/>
          <a:p>
            <a:endParaRPr lang="fr-CA" dirty="0" smtClean="0"/>
          </a:p>
          <a:p>
            <a:r>
              <a:rPr lang="fr-CA" sz="2400" b="1" dirty="0" smtClean="0"/>
              <a:t>Préparation d’une lettre de recommandation</a:t>
            </a:r>
            <a:endParaRPr lang="fr-CA" sz="2400" b="1" dirty="0"/>
          </a:p>
        </p:txBody>
      </p:sp>
      <p:sp>
        <p:nvSpPr>
          <p:cNvPr id="5" name="Espace réservé du pied de page 4"/>
          <p:cNvSpPr>
            <a:spLocks noGrp="1"/>
          </p:cNvSpPr>
          <p:nvPr>
            <p:ph type="ftr" sz="quarter" idx="11"/>
          </p:nvPr>
        </p:nvSpPr>
        <p:spPr/>
        <p:txBody>
          <a:bodyPr/>
          <a:lstStyle/>
          <a:p>
            <a:r>
              <a:rPr lang="fr-CA" dirty="0" smtClean="0"/>
              <a:t>© Hugo Lesley - HEC Montréal</a:t>
            </a:r>
            <a:endParaRPr lang="fr-CA" dirty="0"/>
          </a:p>
        </p:txBody>
      </p:sp>
      <p:sp>
        <p:nvSpPr>
          <p:cNvPr id="6" name="Espace réservé du numéro de diapositive 5"/>
          <p:cNvSpPr>
            <a:spLocks noGrp="1"/>
          </p:cNvSpPr>
          <p:nvPr>
            <p:ph type="sldNum" sz="quarter" idx="12"/>
          </p:nvPr>
        </p:nvSpPr>
        <p:spPr/>
        <p:txBody>
          <a:bodyPr/>
          <a:lstStyle/>
          <a:p>
            <a:fld id="{925D5ECB-3EB5-46B4-A765-5958C79DB1EF}" type="slidenum">
              <a:rPr lang="fr-CA" smtClean="0"/>
              <a:t>1</a:t>
            </a:fld>
            <a:endParaRPr lang="fr-CA"/>
          </a:p>
        </p:txBody>
      </p:sp>
    </p:spTree>
    <p:extLst>
      <p:ext uri="{BB962C8B-B14F-4D97-AF65-F5344CB8AC3E}">
        <p14:creationId xmlns:p14="http://schemas.microsoft.com/office/powerpoint/2010/main" val="2752601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2172229" y="3771899"/>
            <a:ext cx="8779627" cy="1565551"/>
          </a:xfrm>
        </p:spPr>
        <p:txBody>
          <a:bodyPr/>
          <a:lstStyle/>
          <a:p>
            <a:r>
              <a:rPr lang="fr-CA" b="1" dirty="0" smtClean="0"/>
              <a:t>Préparation d’une lettre de recommandation</a:t>
            </a:r>
            <a:endParaRPr lang="fr-CA" b="1" dirty="0"/>
          </a:p>
        </p:txBody>
      </p:sp>
      <p:sp>
        <p:nvSpPr>
          <p:cNvPr id="6" name="Espace réservé du texte 5"/>
          <p:cNvSpPr>
            <a:spLocks noGrp="1"/>
          </p:cNvSpPr>
          <p:nvPr>
            <p:ph type="body" idx="1"/>
          </p:nvPr>
        </p:nvSpPr>
        <p:spPr>
          <a:xfrm>
            <a:off x="2172228" y="5337451"/>
            <a:ext cx="8930748" cy="860400"/>
          </a:xfrm>
        </p:spPr>
        <p:txBody>
          <a:bodyPr/>
          <a:lstStyle/>
          <a:p>
            <a:r>
              <a:rPr lang="fr-CA" dirty="0" smtClean="0"/>
              <a:t>Développer une technique de rédaction efficiente.</a:t>
            </a:r>
            <a:endParaRPr lang="fr-CA" dirty="0"/>
          </a:p>
        </p:txBody>
      </p:sp>
      <p:sp>
        <p:nvSpPr>
          <p:cNvPr id="3" name="Espace réservé du numéro de diapositive 2"/>
          <p:cNvSpPr>
            <a:spLocks noGrp="1"/>
          </p:cNvSpPr>
          <p:nvPr>
            <p:ph type="sldNum" sz="quarter" idx="12"/>
          </p:nvPr>
        </p:nvSpPr>
        <p:spPr/>
        <p:txBody>
          <a:bodyPr/>
          <a:lstStyle/>
          <a:p>
            <a:fld id="{77B8E65F-5E3F-4E73-B056-4D0181456FB2}" type="slidenum">
              <a:rPr lang="fr-CA" noProof="0" smtClean="0"/>
              <a:pPr/>
              <a:t>2</a:t>
            </a:fld>
            <a:endParaRPr lang="fr-CA" noProof="0" dirty="0"/>
          </a:p>
        </p:txBody>
      </p:sp>
      <p:pic>
        <p:nvPicPr>
          <p:cNvPr id="1026" name="Picture 2" descr="L'Homme, Silhouette, Schreibtischnetz, Mise En Résea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0095" y="523134"/>
            <a:ext cx="4450715" cy="2967144"/>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p:cNvSpPr txBox="1"/>
          <p:nvPr/>
        </p:nvSpPr>
        <p:spPr>
          <a:xfrm>
            <a:off x="1897380" y="3490278"/>
            <a:ext cx="2514600" cy="261610"/>
          </a:xfrm>
          <a:prstGeom prst="rect">
            <a:avLst/>
          </a:prstGeom>
          <a:noFill/>
        </p:spPr>
        <p:txBody>
          <a:bodyPr wrap="square" rtlCol="0">
            <a:spAutoFit/>
          </a:bodyPr>
          <a:lstStyle/>
          <a:p>
            <a:r>
              <a:rPr lang="fr-CA" sz="1100" i="1" dirty="0" smtClean="0"/>
              <a:t>Crédit photo : </a:t>
            </a:r>
            <a:r>
              <a:rPr lang="fr-CA" sz="1100" i="1" dirty="0" err="1" smtClean="0"/>
              <a:t>Pixabay</a:t>
            </a:r>
            <a:endParaRPr lang="fr-CA" sz="1100" i="1" dirty="0"/>
          </a:p>
        </p:txBody>
      </p:sp>
    </p:spTree>
    <p:extLst>
      <p:ext uri="{BB962C8B-B14F-4D97-AF65-F5344CB8AC3E}">
        <p14:creationId xmlns:p14="http://schemas.microsoft.com/office/powerpoint/2010/main" val="39867305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189687" y="1829592"/>
            <a:ext cx="9726524" cy="4465169"/>
          </a:xfrm>
        </p:spPr>
        <p:txBody>
          <a:bodyPr>
            <a:noAutofit/>
          </a:bodyPr>
          <a:lstStyle/>
          <a:p>
            <a:pPr marL="61721" indent="0">
              <a:buNone/>
            </a:pPr>
            <a:r>
              <a:rPr lang="fr-CA" sz="2160" b="1" u="sng" dirty="0"/>
              <a:t>Rédaction en trois étapes</a:t>
            </a:r>
            <a:r>
              <a:rPr lang="fr-CA" sz="2160" b="1" dirty="0"/>
              <a:t> :</a:t>
            </a:r>
          </a:p>
          <a:p>
            <a:pPr marL="61721" indent="0">
              <a:buNone/>
            </a:pPr>
            <a:endParaRPr lang="fr-CA" sz="960" b="1" u="sng" dirty="0"/>
          </a:p>
          <a:p>
            <a:pPr marL="740635" lvl="1" indent="-411464">
              <a:buFont typeface="+mj-lt"/>
              <a:buAutoNum type="arabicPeriod"/>
            </a:pPr>
            <a:r>
              <a:rPr lang="fr-CA" sz="2400" dirty="0"/>
              <a:t>Présentez le problème (un à la fois)</a:t>
            </a:r>
          </a:p>
          <a:p>
            <a:pPr marL="987512" lvl="2" indent="-411464">
              <a:buFont typeface="Wingdings" panose="05000000000000000000" pitchFamily="2" charset="2"/>
              <a:buChar char="Ø"/>
            </a:pPr>
            <a:r>
              <a:rPr lang="fr-CA" sz="1920" dirty="0"/>
              <a:t>Phrase courte, souvent prise directement dans l’énoncé de la simulation.</a:t>
            </a:r>
          </a:p>
          <a:p>
            <a:pPr marL="740635" lvl="1" indent="-411464">
              <a:buFont typeface="+mj-lt"/>
              <a:buAutoNum type="arabicPeriod"/>
            </a:pPr>
            <a:r>
              <a:rPr lang="fr-CA" sz="2400" dirty="0"/>
              <a:t>Expliquez une conséquence de ce problème</a:t>
            </a:r>
          </a:p>
          <a:p>
            <a:pPr marL="987512" lvl="2" indent="-411464">
              <a:buFont typeface="Wingdings" panose="05000000000000000000" pitchFamily="2" charset="2"/>
              <a:buChar char="Ø"/>
            </a:pPr>
            <a:r>
              <a:rPr lang="fr-CA" sz="1920" dirty="0"/>
              <a:t>Une phrase très spécifique sur ce qui s’est passé (faits à l’appui) ou ce qui pourrait se passer. Une deuxième phrase si nécessaire.</a:t>
            </a:r>
          </a:p>
          <a:p>
            <a:pPr marL="987512" lvl="2" indent="-411464">
              <a:buFont typeface="Wingdings" panose="05000000000000000000" pitchFamily="2" charset="2"/>
              <a:buChar char="Ø"/>
            </a:pPr>
            <a:r>
              <a:rPr lang="fr-CA" sz="1920" dirty="0"/>
              <a:t>Le lecteur doit comprendre pourquoi il s’agit d’un problème sans avoir de précision à demander. La simple lecture doit suffire. </a:t>
            </a:r>
          </a:p>
          <a:p>
            <a:pPr marL="740635" lvl="1" indent="-411464">
              <a:buFont typeface="+mj-lt"/>
              <a:buAutoNum type="arabicPeriod"/>
            </a:pPr>
            <a:r>
              <a:rPr lang="fr-CA" sz="2400" dirty="0"/>
              <a:t>Recommandez une solution</a:t>
            </a:r>
          </a:p>
          <a:p>
            <a:pPr marL="987512" lvl="2" indent="-411464">
              <a:buFont typeface="Wingdings" panose="05000000000000000000" pitchFamily="2" charset="2"/>
              <a:buChar char="Ø"/>
            </a:pPr>
            <a:r>
              <a:rPr lang="fr-CA" sz="1920" dirty="0"/>
              <a:t>Vous devez trouver une façon de régler le problème.</a:t>
            </a:r>
          </a:p>
          <a:p>
            <a:pPr marL="987512" lvl="2" indent="-411464">
              <a:buFont typeface="Wingdings" panose="05000000000000000000" pitchFamily="2" charset="2"/>
              <a:buChar char="Ø"/>
            </a:pPr>
            <a:r>
              <a:rPr lang="fr-CA" sz="1920" dirty="0"/>
              <a:t>La solution doit être réaliste et applicable.</a:t>
            </a:r>
          </a:p>
          <a:p>
            <a:pPr marL="987512" lvl="2" indent="-411464">
              <a:buFont typeface="Wingdings" panose="05000000000000000000" pitchFamily="2" charset="2"/>
              <a:buChar char="Ø"/>
            </a:pPr>
            <a:r>
              <a:rPr lang="fr-CA" sz="1920" dirty="0"/>
              <a:t>Le lecteur doit exactement savoir quoi faire sans avoir de précision à demander. Encore une fois, la simple lecture doit suffire.</a:t>
            </a:r>
          </a:p>
          <a:p>
            <a:pPr marL="987512" lvl="2" indent="-411464">
              <a:buFont typeface="Wingdings" panose="05000000000000000000" pitchFamily="2" charset="2"/>
              <a:buChar char="Ø"/>
            </a:pPr>
            <a:endParaRPr lang="fr-CA" sz="1920" dirty="0"/>
          </a:p>
        </p:txBody>
      </p:sp>
      <p:sp>
        <p:nvSpPr>
          <p:cNvPr id="5" name="Espace réservé du numéro de diapositive 4"/>
          <p:cNvSpPr>
            <a:spLocks noGrp="1"/>
          </p:cNvSpPr>
          <p:nvPr>
            <p:ph type="sldNum" sz="quarter" idx="12"/>
          </p:nvPr>
        </p:nvSpPr>
        <p:spPr/>
        <p:txBody>
          <a:bodyPr/>
          <a:lstStyle/>
          <a:p>
            <a:fld id="{BB5DEC05-AB38-4F58-9609-FFF4AA167839}" type="slidenum">
              <a:rPr lang="fr-CA" smtClean="0"/>
              <a:t>3</a:t>
            </a:fld>
            <a:endParaRPr lang="fr-CA"/>
          </a:p>
        </p:txBody>
      </p:sp>
      <p:sp>
        <p:nvSpPr>
          <p:cNvPr id="6" name="Titre 1"/>
          <p:cNvSpPr>
            <a:spLocks noGrp="1"/>
          </p:cNvSpPr>
          <p:nvPr>
            <p:ph type="title"/>
          </p:nvPr>
        </p:nvSpPr>
        <p:spPr>
          <a:xfrm>
            <a:off x="1563712" y="0"/>
            <a:ext cx="10174897" cy="889230"/>
          </a:xfrm>
        </p:spPr>
        <p:txBody>
          <a:bodyPr>
            <a:normAutofit/>
          </a:bodyPr>
          <a:lstStyle/>
          <a:p>
            <a:r>
              <a:rPr lang="fr-CA" b="1" dirty="0" smtClean="0"/>
              <a:t>Préparation d’une lettre de recommandation</a:t>
            </a:r>
            <a:endParaRPr lang="fr-CA" b="1" dirty="0"/>
          </a:p>
        </p:txBody>
      </p:sp>
    </p:spTree>
    <p:extLst>
      <p:ext uri="{BB962C8B-B14F-4D97-AF65-F5344CB8AC3E}">
        <p14:creationId xmlns:p14="http://schemas.microsoft.com/office/powerpoint/2010/main" val="2102334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marL="61721" indent="0">
              <a:buNone/>
            </a:pPr>
            <a:endParaRPr lang="fr-CA" sz="2800" b="1" u="sng" dirty="0" smtClean="0"/>
          </a:p>
          <a:p>
            <a:pPr marL="740635" lvl="1" indent="-411464">
              <a:buFont typeface="+mj-lt"/>
              <a:buAutoNum type="arabicPeriod"/>
            </a:pPr>
            <a:r>
              <a:rPr lang="fr-CA" sz="2400" b="1" u="sng" dirty="0" smtClean="0"/>
              <a:t>Problème</a:t>
            </a:r>
            <a:r>
              <a:rPr lang="fr-CA" sz="2400" dirty="0" smtClean="0"/>
              <a:t> : Il existe un problème de séparation des fonctions.</a:t>
            </a:r>
          </a:p>
          <a:p>
            <a:pPr marL="740651" lvl="1" indent="-411480">
              <a:buFont typeface="+mj-lt"/>
              <a:buAutoNum type="arabicPeriod"/>
            </a:pPr>
            <a:endParaRPr lang="fr-CA" sz="2400" dirty="0" smtClean="0"/>
          </a:p>
          <a:p>
            <a:pPr marL="740635" lvl="1" indent="-411464">
              <a:buFont typeface="+mj-lt"/>
              <a:buAutoNum type="arabicPeriod"/>
            </a:pPr>
            <a:r>
              <a:rPr lang="fr-CA" sz="2400" b="1" u="sng" dirty="0" smtClean="0"/>
              <a:t>Impact</a:t>
            </a:r>
            <a:r>
              <a:rPr lang="fr-CA" sz="2400" dirty="0" smtClean="0"/>
              <a:t> : Une fraude pourrait être commise.</a:t>
            </a:r>
          </a:p>
          <a:p>
            <a:pPr marL="740635" lvl="1" indent="-411464">
              <a:buFont typeface="+mj-lt"/>
              <a:buAutoNum type="arabicPeriod"/>
            </a:pPr>
            <a:endParaRPr lang="fr-CA" sz="2400" b="1" u="sng" dirty="0" smtClean="0"/>
          </a:p>
          <a:p>
            <a:pPr marL="740635" lvl="1" indent="-411464">
              <a:buFont typeface="+mj-lt"/>
              <a:buAutoNum type="arabicPeriod"/>
            </a:pPr>
            <a:r>
              <a:rPr lang="fr-CA" sz="2400" b="1" u="sng" dirty="0" smtClean="0"/>
              <a:t>Recommandation</a:t>
            </a:r>
            <a:r>
              <a:rPr lang="fr-CA" sz="2400" dirty="0" smtClean="0"/>
              <a:t> : Séparez les fonctions.</a:t>
            </a:r>
            <a:endParaRPr lang="fr-CA" sz="2400" dirty="0"/>
          </a:p>
        </p:txBody>
      </p:sp>
      <p:sp>
        <p:nvSpPr>
          <p:cNvPr id="5" name="Espace réservé du numéro de diapositive 4"/>
          <p:cNvSpPr>
            <a:spLocks noGrp="1"/>
          </p:cNvSpPr>
          <p:nvPr>
            <p:ph type="sldNum" sz="quarter" idx="12"/>
          </p:nvPr>
        </p:nvSpPr>
        <p:spPr/>
        <p:txBody>
          <a:bodyPr/>
          <a:lstStyle/>
          <a:p>
            <a:fld id="{BB5DEC05-AB38-4F58-9609-FFF4AA167839}" type="slidenum">
              <a:rPr lang="fr-CA" smtClean="0"/>
              <a:t>4</a:t>
            </a:fld>
            <a:endParaRPr lang="fr-CA"/>
          </a:p>
        </p:txBody>
      </p:sp>
      <p:sp>
        <p:nvSpPr>
          <p:cNvPr id="7" name="Titre 1"/>
          <p:cNvSpPr>
            <a:spLocks noGrp="1"/>
          </p:cNvSpPr>
          <p:nvPr>
            <p:ph type="title"/>
          </p:nvPr>
        </p:nvSpPr>
        <p:spPr/>
        <p:txBody>
          <a:bodyPr/>
          <a:lstStyle/>
          <a:p>
            <a:r>
              <a:rPr lang="fr-CA" dirty="0" smtClean="0"/>
              <a:t>EXEMPLE D’UNE </a:t>
            </a:r>
            <a:r>
              <a:rPr lang="fr-CA" b="1" u="sng" dirty="0" smtClean="0"/>
              <a:t>MAUVAISE</a:t>
            </a:r>
            <a:r>
              <a:rPr lang="fr-CA" dirty="0" smtClean="0"/>
              <a:t> RÉPONSE</a:t>
            </a:r>
            <a:endParaRPr lang="fr-CA" dirty="0"/>
          </a:p>
        </p:txBody>
      </p:sp>
    </p:spTree>
    <p:extLst>
      <p:ext uri="{BB962C8B-B14F-4D97-AF65-F5344CB8AC3E}">
        <p14:creationId xmlns:p14="http://schemas.microsoft.com/office/powerpoint/2010/main" val="260449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228525" y="1323514"/>
            <a:ext cx="10236517" cy="4732932"/>
          </a:xfrm>
        </p:spPr>
        <p:txBody>
          <a:bodyPr>
            <a:normAutofit/>
          </a:bodyPr>
          <a:lstStyle/>
          <a:p>
            <a:pPr marL="329172" lvl="1" indent="0" algn="just">
              <a:buNone/>
            </a:pPr>
            <a:r>
              <a:rPr lang="fr-CA" b="1" u="sng" dirty="0" smtClean="0"/>
              <a:t>Problème</a:t>
            </a:r>
            <a:r>
              <a:rPr lang="fr-CA" dirty="0" smtClean="0"/>
              <a:t> : Le commis comptable reçoit l’argent des dépôts et effectue la caisse recette</a:t>
            </a:r>
            <a:r>
              <a:rPr lang="fr-CA" dirty="0"/>
              <a:t>. Du point de vue des contrôles financiers, ces deux tâches sont incompatibles. </a:t>
            </a:r>
            <a:endParaRPr lang="fr-CA" dirty="0" smtClean="0"/>
          </a:p>
          <a:p>
            <a:pPr marL="329172" lvl="1" indent="0" algn="just">
              <a:buNone/>
            </a:pPr>
            <a:endParaRPr lang="fr-CA" dirty="0" smtClean="0"/>
          </a:p>
          <a:p>
            <a:pPr marL="329172" lvl="1" indent="0" algn="just">
              <a:buNone/>
            </a:pPr>
            <a:r>
              <a:rPr lang="fr-CA" b="1" u="sng" dirty="0" smtClean="0"/>
              <a:t>Impact</a:t>
            </a:r>
            <a:r>
              <a:rPr lang="fr-CA" dirty="0" smtClean="0"/>
              <a:t> : Le commis pourrait détourner les dépôts à son profit et reporter l’enregistrement de la caisse recette. Il pourrait dissimuler sa fraude en appliquant un dépôt ultérieur contre la créance débitrice. Il s’agit de la fraude par reports différés.</a:t>
            </a:r>
          </a:p>
          <a:p>
            <a:pPr marL="329172" lvl="1" indent="0" algn="just">
              <a:buNone/>
            </a:pPr>
            <a:endParaRPr lang="fr-CA" dirty="0" smtClean="0"/>
          </a:p>
          <a:p>
            <a:pPr marL="329172" lvl="1" indent="0" algn="just">
              <a:buNone/>
            </a:pPr>
            <a:r>
              <a:rPr lang="fr-CA" b="1" u="sng" dirty="0" smtClean="0"/>
              <a:t>Recommandation</a:t>
            </a:r>
            <a:r>
              <a:rPr lang="fr-CA" dirty="0" smtClean="0"/>
              <a:t> : Confiez la réception des paiements ainsi que toutes les étapes entourant le dépôt à des employés qui n’ont pas de pouvoirs d’enregistrement comptable notamment celui d’effectuer une caisse recette. Le commis comptable pourrait effectuer les caisses recettes à partir du bordereau de dépôt détaillé.</a:t>
            </a:r>
            <a:endParaRPr lang="fr-CA" dirty="0"/>
          </a:p>
        </p:txBody>
      </p:sp>
      <p:sp>
        <p:nvSpPr>
          <p:cNvPr id="5" name="Espace réservé du numéro de diapositive 4"/>
          <p:cNvSpPr>
            <a:spLocks noGrp="1"/>
          </p:cNvSpPr>
          <p:nvPr>
            <p:ph type="sldNum" sz="quarter" idx="12"/>
          </p:nvPr>
        </p:nvSpPr>
        <p:spPr/>
        <p:txBody>
          <a:bodyPr/>
          <a:lstStyle/>
          <a:p>
            <a:fld id="{BB5DEC05-AB38-4F58-9609-FFF4AA167839}" type="slidenum">
              <a:rPr lang="fr-CA" smtClean="0"/>
              <a:t>5</a:t>
            </a:fld>
            <a:endParaRPr lang="fr-CA"/>
          </a:p>
        </p:txBody>
      </p:sp>
      <p:sp>
        <p:nvSpPr>
          <p:cNvPr id="4" name="Titre 3"/>
          <p:cNvSpPr>
            <a:spLocks noGrp="1"/>
          </p:cNvSpPr>
          <p:nvPr>
            <p:ph type="title"/>
          </p:nvPr>
        </p:nvSpPr>
        <p:spPr>
          <a:xfrm>
            <a:off x="1484311" y="-72189"/>
            <a:ext cx="10018713" cy="1752599"/>
          </a:xfrm>
        </p:spPr>
        <p:txBody>
          <a:bodyPr/>
          <a:lstStyle/>
          <a:p>
            <a:r>
              <a:rPr lang="fr-CA" dirty="0"/>
              <a:t>EXEMPLE D’UNE </a:t>
            </a:r>
            <a:r>
              <a:rPr lang="fr-CA" b="1" u="sng" dirty="0" smtClean="0"/>
              <a:t>BONNE</a:t>
            </a:r>
            <a:r>
              <a:rPr lang="fr-CA" dirty="0" smtClean="0"/>
              <a:t> RÉPONSE</a:t>
            </a:r>
            <a:endParaRPr lang="fr-CA" dirty="0"/>
          </a:p>
        </p:txBody>
      </p:sp>
    </p:spTree>
    <p:extLst>
      <p:ext uri="{BB962C8B-B14F-4D97-AF65-F5344CB8AC3E}">
        <p14:creationId xmlns:p14="http://schemas.microsoft.com/office/powerpoint/2010/main" val="127454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l"/>
            <a:r>
              <a:rPr lang="fr-CA" sz="5400" b="1" dirty="0" smtClean="0"/>
              <a:t>À retenir :</a:t>
            </a:r>
            <a:endParaRPr lang="fr-CA" sz="5400" b="1" dirty="0"/>
          </a:p>
        </p:txBody>
      </p:sp>
      <p:sp>
        <p:nvSpPr>
          <p:cNvPr id="3" name="Espace réservé du contenu 2"/>
          <p:cNvSpPr>
            <a:spLocks noGrp="1"/>
          </p:cNvSpPr>
          <p:nvPr>
            <p:ph idx="1"/>
          </p:nvPr>
        </p:nvSpPr>
        <p:spPr>
          <a:xfrm>
            <a:off x="1484310" y="2666999"/>
            <a:ext cx="10460040" cy="3124201"/>
          </a:xfrm>
        </p:spPr>
        <p:txBody>
          <a:bodyPr/>
          <a:lstStyle/>
          <a:p>
            <a:pPr marL="457200" indent="-457200">
              <a:buFont typeface="+mj-lt"/>
              <a:buAutoNum type="arabicPeriod"/>
            </a:pPr>
            <a:r>
              <a:rPr lang="fr-CA" dirty="0" smtClean="0"/>
              <a:t>Ne présentez qu’un problème à la fois ;</a:t>
            </a:r>
          </a:p>
          <a:p>
            <a:pPr marL="457200" indent="-457200">
              <a:buFont typeface="+mj-lt"/>
              <a:buAutoNum type="arabicPeriod"/>
            </a:pPr>
            <a:r>
              <a:rPr lang="fr-CA" dirty="0" smtClean="0"/>
              <a:t>Ayez une technique de rédaction efficiente en ayant en tête l’Approche CPA ;</a:t>
            </a:r>
          </a:p>
          <a:p>
            <a:pPr marL="457200" indent="-457200">
              <a:buFont typeface="+mj-lt"/>
              <a:buAutoNum type="arabicPeriod"/>
            </a:pPr>
            <a:r>
              <a:rPr lang="fr-CA" dirty="0" smtClean="0"/>
              <a:t>Mieux vaut traiter moins de problèmes qu’en traiter plus d’une manière superficielle. Misez sur la qualité et non la quantité.</a:t>
            </a:r>
            <a:endParaRPr lang="fr-CA" dirty="0"/>
          </a:p>
        </p:txBody>
      </p:sp>
      <p:sp>
        <p:nvSpPr>
          <p:cNvPr id="4" name="Espace réservé du pied de page 3"/>
          <p:cNvSpPr>
            <a:spLocks noGrp="1"/>
          </p:cNvSpPr>
          <p:nvPr>
            <p:ph type="ftr" sz="quarter" idx="11"/>
          </p:nvPr>
        </p:nvSpPr>
        <p:spPr/>
        <p:txBody>
          <a:bodyPr/>
          <a:lstStyle/>
          <a:p>
            <a:r>
              <a:rPr lang="fr-CA" smtClean="0"/>
              <a:t>© Hugo Lesley - HEC Montréal</a:t>
            </a:r>
            <a:endParaRPr lang="fr-CA"/>
          </a:p>
        </p:txBody>
      </p:sp>
      <p:sp>
        <p:nvSpPr>
          <p:cNvPr id="5" name="Espace réservé du numéro de diapositive 4"/>
          <p:cNvSpPr>
            <a:spLocks noGrp="1"/>
          </p:cNvSpPr>
          <p:nvPr>
            <p:ph type="sldNum" sz="quarter" idx="12"/>
          </p:nvPr>
        </p:nvSpPr>
        <p:spPr/>
        <p:txBody>
          <a:bodyPr/>
          <a:lstStyle/>
          <a:p>
            <a:fld id="{925D5ECB-3EB5-46B4-A765-5958C79DB1EF}" type="slidenum">
              <a:rPr lang="fr-CA" smtClean="0"/>
              <a:t>6</a:t>
            </a:fld>
            <a:endParaRPr lang="fr-CA"/>
          </a:p>
        </p:txBody>
      </p:sp>
    </p:spTree>
    <p:extLst>
      <p:ext uri="{BB962C8B-B14F-4D97-AF65-F5344CB8AC3E}">
        <p14:creationId xmlns:p14="http://schemas.microsoft.com/office/powerpoint/2010/main" val="273032717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e">
  <a:themeElements>
    <a:clrScheme name="Bleu">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Parallaxe">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e">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Parallaxe</Template>
  <TotalTime>5466</TotalTime>
  <Words>377</Words>
  <Application>Microsoft Office PowerPoint</Application>
  <PresentationFormat>Grand écran</PresentationFormat>
  <Paragraphs>44</Paragraphs>
  <Slides>6</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vt:i4>
      </vt:variant>
    </vt:vector>
  </HeadingPairs>
  <TitlesOfParts>
    <vt:vector size="11" baseType="lpstr">
      <vt:lpstr>Arial</vt:lpstr>
      <vt:lpstr>Calibri</vt:lpstr>
      <vt:lpstr>Corbel</vt:lpstr>
      <vt:lpstr>Wingdings</vt:lpstr>
      <vt:lpstr>Parallaxe</vt:lpstr>
      <vt:lpstr>Rôles et mandats en comptabilité professionnelle COMP40911</vt:lpstr>
      <vt:lpstr>Préparation d’une lettre de recommandation</vt:lpstr>
      <vt:lpstr>Préparation d’une lettre de recommandation</vt:lpstr>
      <vt:lpstr>EXEMPLE D’UNE MAUVAISE RÉPONSE</vt:lpstr>
      <vt:lpstr>EXEMPLE D’UNE BONNE RÉPONSE</vt:lpstr>
      <vt:lpstr>À retenir :</vt:lpstr>
    </vt:vector>
  </TitlesOfParts>
  <Company>HEC Montréal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Rôle et mandats en comptabilité professionnelle COMP40911</dc:title>
  <dc:creator>hugo lesley</dc:creator>
  <cp:lastModifiedBy>Hugo Lesley</cp:lastModifiedBy>
  <cp:revision>52</cp:revision>
  <dcterms:created xsi:type="dcterms:W3CDTF">2020-03-31T19:23:16Z</dcterms:created>
  <dcterms:modified xsi:type="dcterms:W3CDTF">2020-08-19T17:38:59Z</dcterms:modified>
</cp:coreProperties>
</file>