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1" r:id="rId3"/>
    <p:sldId id="262" r:id="rId4"/>
    <p:sldId id="264" r:id="rId5"/>
    <p:sldId id="263" r:id="rId6"/>
    <p:sldId id="265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0" autoAdjust="0"/>
    <p:restoredTop sz="95501" autoAdjust="0"/>
  </p:normalViewPr>
  <p:slideViewPr>
    <p:cSldViewPr snapToGrid="0">
      <p:cViewPr varScale="1">
        <p:scale>
          <a:sx n="91" d="100"/>
          <a:sy n="91" d="100"/>
        </p:scale>
        <p:origin x="139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590C4-4F80-4074-BAAD-1CBE51953CAC}" type="datetimeFigureOut">
              <a:rPr lang="fr-CA" smtClean="0"/>
              <a:t>2025-01-18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E8ECD-F393-4AE7-A045-62D9DCF923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489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E8ECD-F393-4AE7-A045-62D9DCF923F5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106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6FA3-E8D3-4BDD-BA8B-99137EA37F03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174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C1F4-F4EF-4CFA-B111-72154C28418B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97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E464-118C-4E90-9D4A-643284FA21F8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4765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C7B6-9479-448B-98D2-515A67D86864}" type="datetime1">
              <a:rPr lang="fr-CA" smtClean="0"/>
              <a:t>2025-01-18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57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FA1-6875-4CD6-9B57-772E363904EB}" type="datetime1">
              <a:rPr lang="fr-CA" smtClean="0"/>
              <a:t>2025-01-18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193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D797-E5F1-4873-B8B2-16864D76A20E}" type="datetime1">
              <a:rPr lang="fr-CA" smtClean="0"/>
              <a:t>2025-01-18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480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B87-EFCA-456E-B2C9-B13EA14CB87B}" type="datetime1">
              <a:rPr lang="fr-CA" smtClean="0"/>
              <a:t>2025-01-18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042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56F8-4D58-4F13-B48F-7190EBD0A425}" type="datetime1">
              <a:rPr lang="fr-CA" smtClean="0"/>
              <a:t>2025-01-18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393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BEEC-EFA5-471A-9372-5B83C6CED652}" type="datetime1">
              <a:rPr lang="fr-CA" smtClean="0"/>
              <a:t>2025-01-18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083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0262-AFAF-4962-9410-810CDD9E349C}" type="datetime1">
              <a:rPr lang="fr-CA" smtClean="0"/>
              <a:t>2025-01-18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437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1B0-6625-48F6-B805-544B249D376D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529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6A67-7B5B-47DF-9BF7-8C6A81314DA7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324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68832-CEFE-4820-8895-C42BE727380F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5595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68AB-68A8-475A-874E-3A72DABC7196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2271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9958-11C6-4485-A935-24E3B6EAF863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6868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E47CE-4DFC-4435-AC5B-9A8EB25EED14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732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76BB-1510-482A-A690-47D096F018DE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677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5849B5-0907-4D77-9B34-E662FBCF927B}" type="datetime1">
              <a:rPr lang="fr-CA" smtClean="0"/>
              <a:t>2025-01-18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832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Rôles et mandats en comptabilité professionnelle COMP40911</a:t>
            </a:r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dirty="0"/>
          </a:p>
          <a:p>
            <a:r>
              <a:rPr lang="fr-CA" sz="2400" b="1" dirty="0"/>
              <a:t>Traitement des analyses chiffrées à l’aide d’Excel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© Hugo Lesley -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5260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1669340" y="1622105"/>
            <a:ext cx="9823680" cy="4245026"/>
          </a:xfrm>
        </p:spPr>
        <p:txBody>
          <a:bodyPr>
            <a:normAutofit fontScale="92500" lnSpcReduction="10000"/>
          </a:bodyPr>
          <a:lstStyle/>
          <a:p>
            <a:r>
              <a:rPr lang="fr-CA" dirty="0"/>
              <a:t>L’utilisation d’Excel est le plus grand piège des simulations de type Jour 3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fr-CA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CA" dirty="0"/>
              <a:t>Consommation importante de temps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dirty="0"/>
              <a:t>Organisation des idées. On calcule quoi?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dirty="0"/>
              <a:t>Où est le résultat final ?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fr-CA" dirty="0"/>
          </a:p>
          <a:p>
            <a:r>
              <a:rPr lang="fr-CA" dirty="0"/>
              <a:t>Il n’y a rien de pire pour un correcteur qu’une série de chiffres aléatoires placés au hasard dans un tableur. </a:t>
            </a:r>
          </a:p>
          <a:p>
            <a:r>
              <a:rPr lang="fr-CA" dirty="0"/>
              <a:t>Un correcteur qui doit constamment passer d’un fichier Word au fichier Excel pour déchiffrer un tableur s’impatiente assez rapidement et constate la présence d’un rapport peu professionnel et d’une faible utilité.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EC05-AB38-4F58-9609-FFF4AA167839}" type="slidenum">
              <a:rPr lang="fr-CA" smtClean="0"/>
              <a:t>2</a:t>
            </a:fld>
            <a:endParaRPr lang="fr-CA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47151" y="-171450"/>
            <a:ext cx="10018713" cy="1752599"/>
          </a:xfrm>
        </p:spPr>
        <p:txBody>
          <a:bodyPr>
            <a:normAutofit/>
          </a:bodyPr>
          <a:lstStyle/>
          <a:p>
            <a:r>
              <a:rPr lang="fr-CA" dirty="0"/>
              <a:t>Structure de réponse quantitative </a:t>
            </a:r>
            <a:br>
              <a:rPr lang="fr-CA" dirty="0"/>
            </a:br>
            <a:r>
              <a:rPr lang="fr-CA" dirty="0"/>
              <a:t>Utilisation d’Excel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23" y="2114550"/>
            <a:ext cx="3169920" cy="178308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0294631" y="3845401"/>
            <a:ext cx="14058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00" i="1" dirty="0"/>
              <a:t>Crédit photo : </a:t>
            </a:r>
            <a:r>
              <a:rPr lang="fr-CA" sz="1000" i="1" dirty="0" err="1"/>
              <a:t>Pixabay</a:t>
            </a:r>
            <a:endParaRPr lang="fr-CA" sz="1000" i="1" dirty="0"/>
          </a:p>
        </p:txBody>
      </p:sp>
    </p:spTree>
    <p:extLst>
      <p:ext uri="{BB962C8B-B14F-4D97-AF65-F5344CB8AC3E}">
        <p14:creationId xmlns:p14="http://schemas.microsoft.com/office/powerpoint/2010/main" val="241319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EC05-AB38-4F58-9609-FFF4AA167839}" type="slidenum">
              <a:rPr lang="fr-CA" smtClean="0"/>
              <a:t>3</a:t>
            </a:fld>
            <a:endParaRPr lang="fr-CA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51510" y="128998"/>
            <a:ext cx="11067419" cy="988033"/>
          </a:xfrm>
        </p:spPr>
        <p:txBody>
          <a:bodyPr>
            <a:normAutofit fontScale="90000"/>
          </a:bodyPr>
          <a:lstStyle/>
          <a:p>
            <a:pPr algn="ctr"/>
            <a:r>
              <a:rPr lang="fr-CA" dirty="0"/>
              <a:t>Structure de réponse quantitative </a:t>
            </a:r>
            <a:br>
              <a:rPr lang="fr-CA" dirty="0"/>
            </a:br>
            <a:r>
              <a:rPr lang="fr-CA" dirty="0"/>
              <a:t>Utilisation d’Excel </a:t>
            </a:r>
            <a:r>
              <a:rPr lang="fr-CA" dirty="0">
                <a:solidFill>
                  <a:srgbClr val="FF0000"/>
                </a:solidFill>
              </a:rPr>
              <a:t>(un mauvais exemple)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19603"/>
              </p:ext>
            </p:extLst>
          </p:nvPr>
        </p:nvGraphicFramePr>
        <p:xfrm>
          <a:off x="3525229" y="1633069"/>
          <a:ext cx="5722456" cy="51300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5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53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1069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CA" sz="1200" u="none" strike="noStrike" dirty="0">
                          <a:effectLst/>
                        </a:rPr>
                        <a:t>Annexe 1:</a:t>
                      </a:r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200" u="none" strike="noStrike">
                          <a:effectLst/>
                        </a:rPr>
                        <a:t>PBR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60000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828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50000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45000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75000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230000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575000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345000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77625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069">
                <a:tc gridSpan="6">
                  <a:txBody>
                    <a:bodyPr/>
                    <a:lstStyle/>
                    <a:p>
                      <a:pPr algn="l" fontAlgn="b"/>
                      <a:r>
                        <a:rPr lang="fr-CA" sz="1200" u="none" strike="noStrike" dirty="0">
                          <a:effectLst/>
                        </a:rPr>
                        <a:t>hypothèse: 45% taux d'impôt</a:t>
                      </a:r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828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r>
                        <a:rPr lang="fr-CA" sz="1200" u="none" strike="noStrike">
                          <a:effectLst/>
                        </a:rPr>
                        <a:t>REER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2000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13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26000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1500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7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10500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36500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1069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CA" sz="1200" u="none" strike="noStrike" dirty="0">
                          <a:effectLst/>
                        </a:rPr>
                        <a:t>indemnité</a:t>
                      </a:r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200000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r>
                        <a:rPr lang="fr-CA" sz="1200" u="none" strike="noStrike">
                          <a:effectLst/>
                        </a:rPr>
                        <a:t>REER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-36500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8828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163500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73575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151200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200" u="none" strike="noStrike">
                          <a:effectLst/>
                        </a:rPr>
                        <a:t>48800</a:t>
                      </a:r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91069"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CA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9" marR="8189" marT="8189" marB="0" anchor="b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89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4</a:t>
            </a:fld>
            <a:endParaRPr lang="fr-CA"/>
          </a:p>
        </p:txBody>
      </p:sp>
      <p:sp>
        <p:nvSpPr>
          <p:cNvPr id="8" name="Titre 6"/>
          <p:cNvSpPr>
            <a:spLocks noGrp="1"/>
          </p:cNvSpPr>
          <p:nvPr>
            <p:ph type="title"/>
          </p:nvPr>
        </p:nvSpPr>
        <p:spPr>
          <a:xfrm>
            <a:off x="7132320" y="2118359"/>
            <a:ext cx="4610736" cy="2110382"/>
          </a:xfrm>
        </p:spPr>
        <p:txBody>
          <a:bodyPr>
            <a:normAutofit fontScale="90000"/>
          </a:bodyPr>
          <a:lstStyle/>
          <a:p>
            <a:pPr algn="ctr"/>
            <a:r>
              <a:rPr lang="fr-CA" dirty="0"/>
              <a:t>Structure de réponse quantitative </a:t>
            </a:r>
            <a:br>
              <a:rPr lang="fr-CA" dirty="0"/>
            </a:br>
            <a:r>
              <a:rPr lang="fr-CA" dirty="0"/>
              <a:t>Utilisation d’Excel</a:t>
            </a:r>
            <a:br>
              <a:rPr lang="fr-CA" dirty="0"/>
            </a:br>
            <a:r>
              <a:rPr lang="fr-CA" dirty="0">
                <a:solidFill>
                  <a:srgbClr val="FF0000"/>
                </a:solidFill>
              </a:rPr>
              <a:t>(un bon exemple)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14" y="1396185"/>
            <a:ext cx="4657170" cy="3554730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5474970" y="4905195"/>
            <a:ext cx="2857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50" i="1" dirty="0"/>
              <a:t>Crédit photo : </a:t>
            </a:r>
            <a:r>
              <a:rPr lang="fr-CA" sz="1050" i="1" dirty="0" err="1"/>
              <a:t>Pixabay</a:t>
            </a:r>
            <a:endParaRPr lang="fr-CA" sz="1050" i="1" dirty="0"/>
          </a:p>
        </p:txBody>
      </p:sp>
    </p:spTree>
    <p:extLst>
      <p:ext uri="{BB962C8B-B14F-4D97-AF65-F5344CB8AC3E}">
        <p14:creationId xmlns:p14="http://schemas.microsoft.com/office/powerpoint/2010/main" val="132280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EC05-AB38-4F58-9609-FFF4AA167839}" type="slidenum">
              <a:rPr lang="fr-CA" smtClean="0"/>
              <a:t>5</a:t>
            </a:fld>
            <a:endParaRPr lang="fr-CA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287" y="126853"/>
            <a:ext cx="8584883" cy="662827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280160" y="2617470"/>
            <a:ext cx="1691640" cy="1015663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fr-CA" sz="2000" b="1" dirty="0"/>
              <a:t>La lecture doit être conviviale</a:t>
            </a:r>
          </a:p>
        </p:txBody>
      </p:sp>
    </p:spTree>
    <p:extLst>
      <p:ext uri="{BB962C8B-B14F-4D97-AF65-F5344CB8AC3E}">
        <p14:creationId xmlns:p14="http://schemas.microsoft.com/office/powerpoint/2010/main" val="3081691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fr-CA" b="1" dirty="0"/>
              <a:t>Mise en garde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84310" y="1512569"/>
            <a:ext cx="10139999" cy="4370706"/>
          </a:xfrm>
        </p:spPr>
        <p:txBody>
          <a:bodyPr>
            <a:normAutofit/>
          </a:bodyPr>
          <a:lstStyle/>
          <a:p>
            <a:r>
              <a:rPr lang="fr-CA" dirty="0"/>
              <a:t>L’utilisation de gabarits préparés antérieurement au début d’une simulation et collés dans de nouveaux fichiers ou le fait de renommer un gabarit préparé antérieurement à une simulation est expressément interdite et constitue une infraction pédagogique selon le Règlement sur l’intégrité intellectuelle des étudiants de HEC Montréal.</a:t>
            </a:r>
          </a:p>
          <a:p>
            <a:endParaRPr lang="fr-CA" dirty="0"/>
          </a:p>
          <a:p>
            <a:r>
              <a:rPr lang="fr-CA" dirty="0"/>
              <a:t>HEC Montréal utilise des contrôles automatisés de détection à cet effet.</a:t>
            </a:r>
          </a:p>
          <a:p>
            <a:endParaRPr lang="fr-CA" dirty="0"/>
          </a:p>
          <a:p>
            <a:r>
              <a:rPr lang="fr-CA" dirty="0"/>
              <a:t>En d’autres mots, lorsque vous débutez une simulation à remettre, vous devez débuter des fichiers Word et Excel </a:t>
            </a:r>
            <a:r>
              <a:rPr lang="fr-CA" dirty="0">
                <a:highlight>
                  <a:srgbClr val="FFFF00"/>
                </a:highlight>
              </a:rPr>
              <a:t>vierges.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© Hugo Lesley -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661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al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Parallaxe</Template>
  <TotalTime>5497</TotalTime>
  <Words>287</Words>
  <Application>Microsoft Office PowerPoint</Application>
  <PresentationFormat>Grand écran</PresentationFormat>
  <Paragraphs>60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Wingdings</vt:lpstr>
      <vt:lpstr>Parallaxe</vt:lpstr>
      <vt:lpstr>Rôles et mandats en comptabilité professionnelle COMP40911</vt:lpstr>
      <vt:lpstr>Structure de réponse quantitative  Utilisation d’Excel</vt:lpstr>
      <vt:lpstr>Structure de réponse quantitative  Utilisation d’Excel (un mauvais exemple)</vt:lpstr>
      <vt:lpstr>Structure de réponse quantitative  Utilisation d’Excel (un bon exemple)</vt:lpstr>
      <vt:lpstr>Présentation PowerPoint</vt:lpstr>
      <vt:lpstr>Mise en garde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Rôle et mandats en comptabilité professionnelle COMP40911</dc:title>
  <dc:creator>hugo lesley</dc:creator>
  <cp:lastModifiedBy>SOKRI Marzouk</cp:lastModifiedBy>
  <cp:revision>58</cp:revision>
  <dcterms:created xsi:type="dcterms:W3CDTF">2020-03-31T19:23:16Z</dcterms:created>
  <dcterms:modified xsi:type="dcterms:W3CDTF">2025-01-18T20:15:01Z</dcterms:modified>
</cp:coreProperties>
</file>