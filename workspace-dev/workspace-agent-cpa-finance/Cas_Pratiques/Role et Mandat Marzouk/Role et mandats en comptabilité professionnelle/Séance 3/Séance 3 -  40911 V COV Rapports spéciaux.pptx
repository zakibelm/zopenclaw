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105_272F6368.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8"/>
  </p:notesMasterIdLst>
  <p:sldIdLst>
    <p:sldId id="256" r:id="rId2"/>
    <p:sldId id="257" r:id="rId3"/>
    <p:sldId id="258" r:id="rId4"/>
    <p:sldId id="261" r:id="rId5"/>
    <p:sldId id="259" r:id="rId6"/>
    <p:sldId id="260" r:id="rId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8FB975C-4C1D-EA33-8340-77B3D970F02F}" name="SOKRI Marzouk" initials="SM" userId="bca8937e5be247ac"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50" autoAdjust="0"/>
    <p:restoredTop sz="80904" autoAdjust="0"/>
  </p:normalViewPr>
  <p:slideViewPr>
    <p:cSldViewPr snapToGrid="0">
      <p:cViewPr varScale="1">
        <p:scale>
          <a:sx n="77" d="100"/>
          <a:sy n="77" d="100"/>
        </p:scale>
        <p:origin x="682" y="6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7" d="100"/>
          <a:sy n="67" d="100"/>
        </p:scale>
        <p:origin x="3228"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8/10/relationships/authors" Targe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omments/modernComment_105_272F6368.xml><?xml version="1.0" encoding="utf-8"?>
<p188:cmLst xmlns:a="http://schemas.openxmlformats.org/drawingml/2006/main" xmlns:r="http://schemas.openxmlformats.org/officeDocument/2006/relationships" xmlns:p188="http://schemas.microsoft.com/office/powerpoint/2018/8/main">
  <p188:cm id="{13ADEC74-8DA5-4C03-8D58-8D91E9EB6CA3}" authorId="{28FB975C-4C1D-EA33-8340-77B3D970F02F}" created="2025-01-18T19:56:01.282">
    <ac:txMkLst xmlns:ac="http://schemas.microsoft.com/office/drawing/2013/main/command">
      <pc:docMk xmlns:pc="http://schemas.microsoft.com/office/powerpoint/2013/main/command"/>
      <pc:sldMk xmlns:pc="http://schemas.microsoft.com/office/powerpoint/2013/main/command" cId="657417064" sldId="261"/>
      <ac:spMk id="141" creationId="{00000000-0000-0000-0000-000000000000}"/>
      <ac:txMk cp="22" len="9">
        <ac:context len="32" hash="3588712461"/>
      </ac:txMk>
    </ac:txMkLst>
    <p188:pos x="1841105" y="855154"/>
    <p188:replyLst>
      <p188:reply id="{C897E95D-AA4E-4EDC-8FE4-BA2F27298F17}" authorId="{28FB975C-4C1D-EA33-8340-77B3D970F02F}" created="2025-01-18T20:29:16.929">
        <p188:txBody>
          <a:bodyPr/>
          <a:lstStyle/>
          <a:p>
            <a:r>
              <a:rPr lang="fr-CA"/>
              <a:t>Peut être de nature financière ou non financière </a:t>
            </a:r>
          </a:p>
        </p188:txBody>
      </p188:reply>
      <p188:reply id="{D476DBDF-46A6-4E7B-B2BA-EE55E4024DD9}" authorId="{28FB975C-4C1D-EA33-8340-77B3D970F02F}" created="2025-01-18T20:36:02.694">
        <p188:txBody>
          <a:bodyPr/>
          <a:lstStyle/>
          <a:p>
            <a:r>
              <a:rPr lang="fr-CA"/>
              <a:t>Objet considéré </a:t>
            </a:r>
          </a:p>
        </p188:txBody>
      </p188:reply>
    </p188:replyLst>
    <p188:txBody>
      <a:bodyPr/>
      <a:lstStyle/>
      <a:p>
        <a:r>
          <a:rPr lang="fr-CA"/>
          <a:t>Norme canadienne de mission de certification </a:t>
        </a:r>
      </a:p>
    </p188:txBody>
  </p188:cm>
  <p188:cm id="{C0473875-B16C-4935-8096-C10FEF177297}" authorId="{28FB975C-4C1D-EA33-8340-77B3D970F02F}" created="2025-01-18T19:56:37.975">
    <ac:txMkLst xmlns:ac="http://schemas.microsoft.com/office/drawing/2013/main/command">
      <pc:docMk xmlns:pc="http://schemas.microsoft.com/office/powerpoint/2013/main/command"/>
      <pc:sldMk xmlns:pc="http://schemas.microsoft.com/office/powerpoint/2013/main/command" cId="657417064" sldId="261"/>
      <ac:spMk id="169" creationId="{00000000-0000-0000-0000-000000000000}"/>
      <ac:txMk cp="39" len="10">
        <ac:context len="71" hash="1410713253"/>
      </ac:txMk>
    </ac:txMkLst>
    <p188:pos x="5167300" y="292557"/>
    <p188:replyLst>
      <p188:reply id="{42AF1F76-4A2C-457A-98E5-B2269EDD8ED0}" authorId="{28FB975C-4C1D-EA33-8340-77B3D970F02F}" created="2025-01-18T20:26:27.158">
        <p188:txBody>
          <a:bodyPr/>
          <a:lstStyle/>
          <a:p>
            <a:r>
              <a:rPr lang="fr-CA"/>
              <a:t>Conformité par rapport aux exigence spécifiques (Critères applicables) </a:t>
            </a:r>
          </a:p>
        </p188:txBody>
      </p188:reply>
      <p188:reply id="{E9516CFD-590D-469A-83F6-9EFEF6335091}" authorId="{28FB975C-4C1D-EA33-8340-77B3D970F02F}" created="2025-01-18T20:38:48.369">
        <p188:txBody>
          <a:bodyPr/>
          <a:lstStyle/>
          <a:p>
            <a:r>
              <a:rPr lang="fr-CA"/>
              <a:t>Mesurer et évaluer l’objet consider </a:t>
            </a:r>
          </a:p>
        </p188:txBody>
      </p188:reply>
      <p188:reply id="{F8D358A1-2904-4CB2-A79A-FEA8CD158DF3}" authorId="{28FB975C-4C1D-EA33-8340-77B3D970F02F}" created="2025-01-18T20:44:23.656">
        <p188:txBody>
          <a:bodyPr/>
          <a:lstStyle/>
          <a:p>
            <a:r>
              <a:rPr lang="fr-CA"/>
              <a:t>Qui a fait la mesure ou l’évaluation de l’objet si personne donc on passe a NCMC 3001
</a:t>
            </a:r>
          </a:p>
        </p188:txBody>
      </p188:reply>
    </p188:replyLst>
    <p188:txBody>
      <a:bodyPr/>
      <a:lstStyle/>
      <a:p>
        <a:r>
          <a:rPr lang="fr-CA"/>
          <a:t>Norme canadienne des services connexes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A"/>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4590C4-4F80-4074-BAAD-1CBE51953CAC}" type="datetimeFigureOut">
              <a:rPr lang="fr-CA" smtClean="0"/>
              <a:t>2025-01-20</a:t>
            </a:fld>
            <a:endParaRPr lang="fr-CA"/>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4E8ECD-F393-4AE7-A045-62D9DCF923F5}" type="slidenum">
              <a:rPr lang="fr-CA" smtClean="0"/>
              <a:t>‹N°›</a:t>
            </a:fld>
            <a:endParaRPr lang="fr-CA"/>
          </a:p>
        </p:txBody>
      </p:sp>
    </p:spTree>
    <p:extLst>
      <p:ext uri="{BB962C8B-B14F-4D97-AF65-F5344CB8AC3E}">
        <p14:creationId xmlns:p14="http://schemas.microsoft.com/office/powerpoint/2010/main" val="22848971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10"/>
          </p:nvPr>
        </p:nvSpPr>
        <p:spPr/>
        <p:txBody>
          <a:bodyPr/>
          <a:lstStyle/>
          <a:p>
            <a:fld id="{D54E8ECD-F393-4AE7-A045-62D9DCF923F5}" type="slidenum">
              <a:rPr lang="fr-CA" smtClean="0"/>
              <a:t>1</a:t>
            </a:fld>
            <a:endParaRPr lang="fr-CA"/>
          </a:p>
        </p:txBody>
      </p:sp>
    </p:spTree>
    <p:extLst>
      <p:ext uri="{BB962C8B-B14F-4D97-AF65-F5344CB8AC3E}">
        <p14:creationId xmlns:p14="http://schemas.microsoft.com/office/powerpoint/2010/main" val="10710642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Quand on pas de norme spécifique on parte au chapitre 1000 pour les NCECF et le cadre conceptuel pour les IFRS </a:t>
            </a:r>
          </a:p>
          <a:p>
            <a:r>
              <a:rPr lang="fr-CA"/>
              <a:t>Juste jours 3 </a:t>
            </a:r>
          </a:p>
        </p:txBody>
      </p:sp>
      <p:sp>
        <p:nvSpPr>
          <p:cNvPr id="4" name="Espace réservé du numéro de diapositive 3"/>
          <p:cNvSpPr>
            <a:spLocks noGrp="1"/>
          </p:cNvSpPr>
          <p:nvPr>
            <p:ph type="sldNum" sz="quarter" idx="5"/>
          </p:nvPr>
        </p:nvSpPr>
        <p:spPr/>
        <p:txBody>
          <a:bodyPr/>
          <a:lstStyle/>
          <a:p>
            <a:fld id="{D54E8ECD-F393-4AE7-A045-62D9DCF923F5}" type="slidenum">
              <a:rPr lang="fr-CA" smtClean="0"/>
              <a:t>2</a:t>
            </a:fld>
            <a:endParaRPr lang="fr-CA"/>
          </a:p>
        </p:txBody>
      </p:sp>
    </p:spTree>
    <p:extLst>
      <p:ext uri="{BB962C8B-B14F-4D97-AF65-F5344CB8AC3E}">
        <p14:creationId xmlns:p14="http://schemas.microsoft.com/office/powerpoint/2010/main" val="20224387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CA" dirty="0"/>
              <a:t>Chapitre 4 6  chapitre 9 et 10  chapitre 16 unité de comptabilisation distincte    ici lorsque on parle de niveau d’</a:t>
            </a:r>
            <a:r>
              <a:rPr lang="fr-CA" dirty="0" err="1"/>
              <a:t>assuranc</a:t>
            </a:r>
            <a:r>
              <a:rPr lang="fr-CA" dirty="0"/>
              <a:t> soit audit et examen les NCA on parle des dollars par contre lorsque on fait la </a:t>
            </a:r>
            <a:r>
              <a:rPr lang="fr-CA" dirty="0" err="1"/>
              <a:t>cerification</a:t>
            </a:r>
            <a:r>
              <a:rPr lang="fr-CA" dirty="0"/>
              <a:t> de non IF on parle de NCMC norme canadienne de mission de certification lorsque on parle pas de l’IF par contre lorsque on parle de IF on parle de NCA norme canadienne d’audit </a:t>
            </a:r>
            <a:r>
              <a:rPr lang="fr-FR" dirty="0"/>
              <a:t>Tableau synoptique du Manuel de CPA Canada – Certification  donc on doit bien préparer le cas une deuxième fois on va bien préparer le cas ce weekend </a:t>
            </a:r>
          </a:p>
          <a:p>
            <a:r>
              <a:rPr lang="fr-FR" dirty="0"/>
              <a:t>Avant de commencer votre travail il faut bien comprendre bien ta question et n’oublie pas ton plan tous est dans les documents de zone cours tout est bien </a:t>
            </a:r>
            <a:r>
              <a:rPr lang="fr-FR" dirty="0" err="1"/>
              <a:t>structuer</a:t>
            </a:r>
            <a:r>
              <a:rPr lang="fr-FR" dirty="0"/>
              <a:t> par contre c’est le temps qui dérange le temps la solution est le travail et l’organisation et aussi l’entrainement </a:t>
            </a:r>
          </a:p>
          <a:p>
            <a:r>
              <a:rPr lang="fr-FR" dirty="0"/>
              <a:t>Attention pour l’exemple de burger on peut apprécier que le burger est le plus grand car on cannais pas les autres burgers lorsque il veut dit le </a:t>
            </a:r>
            <a:r>
              <a:rPr lang="fr-FR" dirty="0" err="1"/>
              <a:t>cliet</a:t>
            </a:r>
            <a:r>
              <a:rPr lang="fr-FR" dirty="0"/>
              <a:t> fait moi une certification que mon burger est le plus grand </a:t>
            </a:r>
            <a:endParaRPr lang="fr-CA" dirty="0"/>
          </a:p>
        </p:txBody>
      </p:sp>
      <p:sp>
        <p:nvSpPr>
          <p:cNvPr id="4" name="Espace réservé du numéro de diapositive 3"/>
          <p:cNvSpPr>
            <a:spLocks noGrp="1"/>
          </p:cNvSpPr>
          <p:nvPr>
            <p:ph type="sldNum" sz="quarter" idx="10"/>
          </p:nvPr>
        </p:nvSpPr>
        <p:spPr/>
        <p:txBody>
          <a:bodyPr/>
          <a:lstStyle/>
          <a:p>
            <a:fld id="{D54E8ECD-F393-4AE7-A045-62D9DCF923F5}" type="slidenum">
              <a:rPr lang="fr-CA" smtClean="0"/>
              <a:t>4</a:t>
            </a:fld>
            <a:endParaRPr lang="fr-CA"/>
          </a:p>
        </p:txBody>
      </p:sp>
    </p:spTree>
    <p:extLst>
      <p:ext uri="{BB962C8B-B14F-4D97-AF65-F5344CB8AC3E}">
        <p14:creationId xmlns:p14="http://schemas.microsoft.com/office/powerpoint/2010/main" val="8362305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fr-FR"/>
              <a:t>Modifiez le style du titre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0C77BE67-9E18-4016-93F5-228531E395CA}" type="datetime1">
              <a:rPr lang="fr-CA" smtClean="0"/>
              <a:t>2025-01-20</a:t>
            </a:fld>
            <a:endParaRPr lang="fr-CA"/>
          </a:p>
        </p:txBody>
      </p:sp>
      <p:sp>
        <p:nvSpPr>
          <p:cNvPr id="5" name="Footer Placeholder 4"/>
          <p:cNvSpPr>
            <a:spLocks noGrp="1"/>
          </p:cNvSpPr>
          <p:nvPr>
            <p:ph type="ftr" sz="quarter" idx="11"/>
          </p:nvPr>
        </p:nvSpPr>
        <p:spPr>
          <a:xfrm>
            <a:off x="5332412" y="5883275"/>
            <a:ext cx="4324044" cy="365125"/>
          </a:xfrm>
        </p:spPr>
        <p:txBody>
          <a:bodyPr/>
          <a:lstStyle/>
          <a:p>
            <a:r>
              <a:rPr lang="fr-CA"/>
              <a:t>© Hugo Lesley - HEC Montréal</a:t>
            </a:r>
          </a:p>
        </p:txBody>
      </p:sp>
      <p:sp>
        <p:nvSpPr>
          <p:cNvPr id="6" name="Slide Number Placeholder 5"/>
          <p:cNvSpPr>
            <a:spLocks noGrp="1"/>
          </p:cNvSpPr>
          <p:nvPr>
            <p:ph type="sldNum" sz="quarter" idx="12"/>
          </p:nvPr>
        </p:nvSpPr>
        <p:spPr/>
        <p:txBody>
          <a:bodyPr/>
          <a:lstStyle/>
          <a:p>
            <a:fld id="{925D5ECB-3EB5-46B4-A765-5958C79DB1EF}" type="slidenum">
              <a:rPr lang="fr-CA" smtClean="0"/>
              <a:t>‹N°›</a:t>
            </a:fld>
            <a:endParaRPr lang="fr-CA"/>
          </a:p>
        </p:txBody>
      </p:sp>
    </p:spTree>
    <p:extLst>
      <p:ext uri="{BB962C8B-B14F-4D97-AF65-F5344CB8AC3E}">
        <p14:creationId xmlns:p14="http://schemas.microsoft.com/office/powerpoint/2010/main" val="5839312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nchor="ct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6E60245B-5F7D-4772-B403-9755CD1C734C}" type="datetime1">
              <a:rPr lang="fr-CA" smtClean="0"/>
              <a:t>2025-01-20</a:t>
            </a:fld>
            <a:endParaRPr lang="fr-CA"/>
          </a:p>
        </p:txBody>
      </p:sp>
      <p:sp>
        <p:nvSpPr>
          <p:cNvPr id="5" name="Footer Placeholder 4"/>
          <p:cNvSpPr>
            <a:spLocks noGrp="1"/>
          </p:cNvSpPr>
          <p:nvPr>
            <p:ph type="ftr" sz="quarter" idx="11"/>
          </p:nvPr>
        </p:nvSpPr>
        <p:spPr/>
        <p:txBody>
          <a:bodyPr/>
          <a:lstStyle/>
          <a:p>
            <a:r>
              <a:rPr lang="fr-CA"/>
              <a:t>© Hugo Lesley - HEC Montréal</a:t>
            </a:r>
          </a:p>
        </p:txBody>
      </p:sp>
      <p:sp>
        <p:nvSpPr>
          <p:cNvPr id="6" name="Slide Number Placeholder 5"/>
          <p:cNvSpPr>
            <a:spLocks noGrp="1"/>
          </p:cNvSpPr>
          <p:nvPr>
            <p:ph type="sldNum" sz="quarter" idx="12"/>
          </p:nvPr>
        </p:nvSpPr>
        <p:spPr>
          <a:xfrm>
            <a:off x="10951856" y="5867131"/>
            <a:ext cx="551167" cy="365125"/>
          </a:xfrm>
        </p:spPr>
        <p:txBody>
          <a:bodyPr/>
          <a:lstStyle/>
          <a:p>
            <a:fld id="{925D5ECB-3EB5-46B4-A765-5958C79DB1EF}" type="slidenum">
              <a:rPr lang="fr-CA" smtClean="0"/>
              <a:t>‹N°›</a:t>
            </a:fld>
            <a:endParaRPr lang="fr-CA"/>
          </a:p>
        </p:txBody>
      </p:sp>
    </p:spTree>
    <p:extLst>
      <p:ext uri="{BB962C8B-B14F-4D97-AF65-F5344CB8AC3E}">
        <p14:creationId xmlns:p14="http://schemas.microsoft.com/office/powerpoint/2010/main" val="10662449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fr-FR"/>
              <a:t>Modifiez le style du titre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4" name="Date Placeholder 3"/>
          <p:cNvSpPr>
            <a:spLocks noGrp="1"/>
          </p:cNvSpPr>
          <p:nvPr>
            <p:ph type="dt" sz="half" idx="10"/>
          </p:nvPr>
        </p:nvSpPr>
        <p:spPr/>
        <p:txBody>
          <a:bodyPr/>
          <a:lstStyle/>
          <a:p>
            <a:fld id="{E9F258D2-8D59-42E9-AF86-680B2F82F215}" type="datetime1">
              <a:rPr lang="fr-CA" smtClean="0"/>
              <a:t>2025-01-20</a:t>
            </a:fld>
            <a:endParaRPr lang="fr-CA"/>
          </a:p>
        </p:txBody>
      </p:sp>
      <p:sp>
        <p:nvSpPr>
          <p:cNvPr id="5" name="Footer Placeholder 4"/>
          <p:cNvSpPr>
            <a:spLocks noGrp="1"/>
          </p:cNvSpPr>
          <p:nvPr>
            <p:ph type="ftr" sz="quarter" idx="11"/>
          </p:nvPr>
        </p:nvSpPr>
        <p:spPr/>
        <p:txBody>
          <a:bodyPr/>
          <a:lstStyle/>
          <a:p>
            <a:r>
              <a:rPr lang="fr-CA"/>
              <a:t>© Hugo Lesley - HEC Montréal</a:t>
            </a:r>
          </a:p>
        </p:txBody>
      </p:sp>
      <p:sp>
        <p:nvSpPr>
          <p:cNvPr id="6" name="Slide Number Placeholder 5"/>
          <p:cNvSpPr>
            <a:spLocks noGrp="1"/>
          </p:cNvSpPr>
          <p:nvPr>
            <p:ph type="sldNum" sz="quarter" idx="12"/>
          </p:nvPr>
        </p:nvSpPr>
        <p:spPr/>
        <p:txBody>
          <a:bodyPr/>
          <a:lstStyle/>
          <a:p>
            <a:fld id="{925D5ECB-3EB5-46B4-A765-5958C79DB1EF}" type="slidenum">
              <a:rPr lang="fr-CA" smtClean="0"/>
              <a:t>‹N°›</a:t>
            </a:fld>
            <a:endParaRPr lang="fr-CA"/>
          </a:p>
        </p:txBody>
      </p:sp>
    </p:spTree>
    <p:extLst>
      <p:ext uri="{BB962C8B-B14F-4D97-AF65-F5344CB8AC3E}">
        <p14:creationId xmlns:p14="http://schemas.microsoft.com/office/powerpoint/2010/main" val="28841965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fr-FR"/>
              <a:t>Modifiez le style du titre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E2095A65-5581-478A-9FAA-465A4B30FB07}" type="datetime1">
              <a:rPr lang="fr-CA" smtClean="0"/>
              <a:t>2025-01-20</a:t>
            </a:fld>
            <a:endParaRPr lang="fr-CA"/>
          </a:p>
        </p:txBody>
      </p:sp>
      <p:sp>
        <p:nvSpPr>
          <p:cNvPr id="6" name="Footer Placeholder 5"/>
          <p:cNvSpPr>
            <a:spLocks noGrp="1"/>
          </p:cNvSpPr>
          <p:nvPr>
            <p:ph type="ftr" sz="quarter" idx="11"/>
          </p:nvPr>
        </p:nvSpPr>
        <p:spPr/>
        <p:txBody>
          <a:bodyPr/>
          <a:lstStyle/>
          <a:p>
            <a:r>
              <a:rPr lang="fr-CA"/>
              <a:t>© Hugo Lesley - HEC Montréal</a:t>
            </a:r>
          </a:p>
        </p:txBody>
      </p:sp>
      <p:sp>
        <p:nvSpPr>
          <p:cNvPr id="7" name="Slide Number Placeholder 6"/>
          <p:cNvSpPr>
            <a:spLocks noGrp="1"/>
          </p:cNvSpPr>
          <p:nvPr>
            <p:ph type="sldNum" sz="quarter" idx="12"/>
          </p:nvPr>
        </p:nvSpPr>
        <p:spPr/>
        <p:txBody>
          <a:bodyPr/>
          <a:lstStyle/>
          <a:p>
            <a:fld id="{925D5ECB-3EB5-46B4-A765-5958C79DB1EF}" type="slidenum">
              <a:rPr lang="fr-CA" smtClean="0"/>
              <a:t>‹N°›</a:t>
            </a:fld>
            <a:endParaRPr lang="fr-CA"/>
          </a:p>
        </p:txBody>
      </p:sp>
    </p:spTree>
    <p:extLst>
      <p:ext uri="{BB962C8B-B14F-4D97-AF65-F5344CB8AC3E}">
        <p14:creationId xmlns:p14="http://schemas.microsoft.com/office/powerpoint/2010/main" val="23172540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9522E213-B6D2-41F7-AB40-02BF23BBB426}" type="datetime1">
              <a:rPr lang="fr-CA" smtClean="0"/>
              <a:t>2025-01-20</a:t>
            </a:fld>
            <a:endParaRPr lang="fr-CA"/>
          </a:p>
        </p:txBody>
      </p:sp>
      <p:sp>
        <p:nvSpPr>
          <p:cNvPr id="8" name="Footer Placeholder 7"/>
          <p:cNvSpPr>
            <a:spLocks noGrp="1"/>
          </p:cNvSpPr>
          <p:nvPr>
            <p:ph type="ftr" sz="quarter" idx="11"/>
          </p:nvPr>
        </p:nvSpPr>
        <p:spPr/>
        <p:txBody>
          <a:bodyPr/>
          <a:lstStyle/>
          <a:p>
            <a:r>
              <a:rPr lang="fr-CA"/>
              <a:t>© Hugo Lesley - HEC Montréal</a:t>
            </a:r>
          </a:p>
        </p:txBody>
      </p:sp>
      <p:sp>
        <p:nvSpPr>
          <p:cNvPr id="9" name="Slide Number Placeholder 8"/>
          <p:cNvSpPr>
            <a:spLocks noGrp="1"/>
          </p:cNvSpPr>
          <p:nvPr>
            <p:ph type="sldNum" sz="quarter" idx="12"/>
          </p:nvPr>
        </p:nvSpPr>
        <p:spPr/>
        <p:txBody>
          <a:bodyPr/>
          <a:lstStyle/>
          <a:p>
            <a:fld id="{925D5ECB-3EB5-46B4-A765-5958C79DB1EF}" type="slidenum">
              <a:rPr lang="fr-CA" smtClean="0"/>
              <a:t>‹N°›</a:t>
            </a:fld>
            <a:endParaRPr lang="fr-CA"/>
          </a:p>
        </p:txBody>
      </p:sp>
    </p:spTree>
    <p:extLst>
      <p:ext uri="{BB962C8B-B14F-4D97-AF65-F5344CB8AC3E}">
        <p14:creationId xmlns:p14="http://schemas.microsoft.com/office/powerpoint/2010/main" val="39485359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E464C6B2-84A7-4899-BE8B-F4D28219F358}" type="datetime1">
              <a:rPr lang="fr-CA" smtClean="0"/>
              <a:t>2025-01-20</a:t>
            </a:fld>
            <a:endParaRPr lang="fr-CA"/>
          </a:p>
        </p:txBody>
      </p:sp>
      <p:sp>
        <p:nvSpPr>
          <p:cNvPr id="4" name="Footer Placeholder 3"/>
          <p:cNvSpPr>
            <a:spLocks noGrp="1"/>
          </p:cNvSpPr>
          <p:nvPr>
            <p:ph type="ftr" sz="quarter" idx="11"/>
          </p:nvPr>
        </p:nvSpPr>
        <p:spPr/>
        <p:txBody>
          <a:bodyPr/>
          <a:lstStyle/>
          <a:p>
            <a:r>
              <a:rPr lang="fr-CA"/>
              <a:t>© Hugo Lesley - HEC Montréal</a:t>
            </a:r>
          </a:p>
        </p:txBody>
      </p:sp>
      <p:sp>
        <p:nvSpPr>
          <p:cNvPr id="5" name="Slide Number Placeholder 4"/>
          <p:cNvSpPr>
            <a:spLocks noGrp="1"/>
          </p:cNvSpPr>
          <p:nvPr>
            <p:ph type="sldNum" sz="quarter" idx="12"/>
          </p:nvPr>
        </p:nvSpPr>
        <p:spPr/>
        <p:txBody>
          <a:bodyPr/>
          <a:lstStyle/>
          <a:p>
            <a:fld id="{925D5ECB-3EB5-46B4-A765-5958C79DB1EF}" type="slidenum">
              <a:rPr lang="fr-CA" smtClean="0"/>
              <a:t>‹N°›</a:t>
            </a:fld>
            <a:endParaRPr lang="fr-CA"/>
          </a:p>
        </p:txBody>
      </p:sp>
    </p:spTree>
    <p:extLst>
      <p:ext uri="{BB962C8B-B14F-4D97-AF65-F5344CB8AC3E}">
        <p14:creationId xmlns:p14="http://schemas.microsoft.com/office/powerpoint/2010/main" val="20333743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A3CD6E-0E97-4D38-B47B-F9794532DCA5}" type="datetime1">
              <a:rPr lang="fr-CA" smtClean="0"/>
              <a:t>2025-01-20</a:t>
            </a:fld>
            <a:endParaRPr lang="fr-CA"/>
          </a:p>
        </p:txBody>
      </p:sp>
      <p:sp>
        <p:nvSpPr>
          <p:cNvPr id="3" name="Footer Placeholder 2"/>
          <p:cNvSpPr>
            <a:spLocks noGrp="1"/>
          </p:cNvSpPr>
          <p:nvPr>
            <p:ph type="ftr" sz="quarter" idx="11"/>
          </p:nvPr>
        </p:nvSpPr>
        <p:spPr/>
        <p:txBody>
          <a:bodyPr/>
          <a:lstStyle/>
          <a:p>
            <a:r>
              <a:rPr lang="fr-CA"/>
              <a:t>© Hugo Lesley - HEC Montréal</a:t>
            </a:r>
          </a:p>
        </p:txBody>
      </p:sp>
      <p:sp>
        <p:nvSpPr>
          <p:cNvPr id="4" name="Slide Number Placeholder 3"/>
          <p:cNvSpPr>
            <a:spLocks noGrp="1"/>
          </p:cNvSpPr>
          <p:nvPr>
            <p:ph type="sldNum" sz="quarter" idx="12"/>
          </p:nvPr>
        </p:nvSpPr>
        <p:spPr/>
        <p:txBody>
          <a:bodyPr/>
          <a:lstStyle/>
          <a:p>
            <a:fld id="{925D5ECB-3EB5-46B4-A765-5958C79DB1EF}" type="slidenum">
              <a:rPr lang="fr-CA" smtClean="0"/>
              <a:t>‹N°›</a:t>
            </a:fld>
            <a:endParaRPr lang="fr-CA"/>
          </a:p>
        </p:txBody>
      </p:sp>
    </p:spTree>
    <p:extLst>
      <p:ext uri="{BB962C8B-B14F-4D97-AF65-F5344CB8AC3E}">
        <p14:creationId xmlns:p14="http://schemas.microsoft.com/office/powerpoint/2010/main" val="23907100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fr-FR"/>
              <a:t>Modifiez le style du titre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Date Placeholder 4"/>
          <p:cNvSpPr>
            <a:spLocks noGrp="1"/>
          </p:cNvSpPr>
          <p:nvPr>
            <p:ph type="dt" sz="half" idx="10"/>
          </p:nvPr>
        </p:nvSpPr>
        <p:spPr/>
        <p:txBody>
          <a:bodyPr/>
          <a:lstStyle/>
          <a:p>
            <a:fld id="{E21D4259-7010-4DA2-9C4F-EEF9B15D7D78}" type="datetime1">
              <a:rPr lang="fr-CA" smtClean="0"/>
              <a:t>2025-01-20</a:t>
            </a:fld>
            <a:endParaRPr lang="fr-CA"/>
          </a:p>
        </p:txBody>
      </p:sp>
      <p:sp>
        <p:nvSpPr>
          <p:cNvPr id="6" name="Footer Placeholder 5"/>
          <p:cNvSpPr>
            <a:spLocks noGrp="1"/>
          </p:cNvSpPr>
          <p:nvPr>
            <p:ph type="ftr" sz="quarter" idx="11"/>
          </p:nvPr>
        </p:nvSpPr>
        <p:spPr/>
        <p:txBody>
          <a:bodyPr/>
          <a:lstStyle/>
          <a:p>
            <a:r>
              <a:rPr lang="fr-CA"/>
              <a:t>© Hugo Lesley - HEC Montréal</a:t>
            </a:r>
          </a:p>
        </p:txBody>
      </p:sp>
      <p:sp>
        <p:nvSpPr>
          <p:cNvPr id="7" name="Slide Number Placeholder 6"/>
          <p:cNvSpPr>
            <a:spLocks noGrp="1"/>
          </p:cNvSpPr>
          <p:nvPr>
            <p:ph type="sldNum" sz="quarter" idx="12"/>
          </p:nvPr>
        </p:nvSpPr>
        <p:spPr/>
        <p:txBody>
          <a:bodyPr/>
          <a:lstStyle/>
          <a:p>
            <a:fld id="{925D5ECB-3EB5-46B4-A765-5958C79DB1EF}" type="slidenum">
              <a:rPr lang="fr-CA" smtClean="0"/>
              <a:t>‹N°›</a:t>
            </a:fld>
            <a:endParaRPr lang="fr-CA"/>
          </a:p>
        </p:txBody>
      </p:sp>
    </p:spTree>
    <p:extLst>
      <p:ext uri="{BB962C8B-B14F-4D97-AF65-F5344CB8AC3E}">
        <p14:creationId xmlns:p14="http://schemas.microsoft.com/office/powerpoint/2010/main" val="40894721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fr-FR"/>
              <a:t>Modifiez le style du titre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Date Placeholder 4"/>
          <p:cNvSpPr>
            <a:spLocks noGrp="1"/>
          </p:cNvSpPr>
          <p:nvPr>
            <p:ph type="dt" sz="half" idx="10"/>
          </p:nvPr>
        </p:nvSpPr>
        <p:spPr/>
        <p:txBody>
          <a:bodyPr/>
          <a:lstStyle/>
          <a:p>
            <a:fld id="{CF268ECB-75C2-4407-956E-834A775FAA49}" type="datetime1">
              <a:rPr lang="fr-CA" smtClean="0"/>
              <a:t>2025-01-20</a:t>
            </a:fld>
            <a:endParaRPr lang="fr-CA"/>
          </a:p>
        </p:txBody>
      </p:sp>
      <p:sp>
        <p:nvSpPr>
          <p:cNvPr id="6" name="Footer Placeholder 5"/>
          <p:cNvSpPr>
            <a:spLocks noGrp="1"/>
          </p:cNvSpPr>
          <p:nvPr>
            <p:ph type="ftr" sz="quarter" idx="11"/>
          </p:nvPr>
        </p:nvSpPr>
        <p:spPr/>
        <p:txBody>
          <a:bodyPr/>
          <a:lstStyle/>
          <a:p>
            <a:r>
              <a:rPr lang="fr-CA"/>
              <a:t>© Hugo Lesley - HEC Montréal</a:t>
            </a:r>
          </a:p>
        </p:txBody>
      </p:sp>
      <p:sp>
        <p:nvSpPr>
          <p:cNvPr id="7" name="Slide Number Placeholder 6"/>
          <p:cNvSpPr>
            <a:spLocks noGrp="1"/>
          </p:cNvSpPr>
          <p:nvPr>
            <p:ph type="sldNum" sz="quarter" idx="12"/>
          </p:nvPr>
        </p:nvSpPr>
        <p:spPr/>
        <p:txBody>
          <a:bodyPr/>
          <a:lstStyle/>
          <a:p>
            <a:fld id="{925D5ECB-3EB5-46B4-A765-5958C79DB1EF}" type="slidenum">
              <a:rPr lang="fr-CA" smtClean="0"/>
              <a:t>‹N°›</a:t>
            </a:fld>
            <a:endParaRPr lang="fr-CA"/>
          </a:p>
        </p:txBody>
      </p:sp>
    </p:spTree>
    <p:extLst>
      <p:ext uri="{BB962C8B-B14F-4D97-AF65-F5344CB8AC3E}">
        <p14:creationId xmlns:p14="http://schemas.microsoft.com/office/powerpoint/2010/main" val="11888868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Date Placeholder 4"/>
          <p:cNvSpPr>
            <a:spLocks noGrp="1"/>
          </p:cNvSpPr>
          <p:nvPr>
            <p:ph type="dt" sz="half" idx="10"/>
          </p:nvPr>
        </p:nvSpPr>
        <p:spPr/>
        <p:txBody>
          <a:bodyPr/>
          <a:lstStyle/>
          <a:p>
            <a:fld id="{2CBA91E1-4112-47D6-AA9B-FCBB103A8B59}" type="datetime1">
              <a:rPr lang="fr-CA" smtClean="0"/>
              <a:t>2025-01-20</a:t>
            </a:fld>
            <a:endParaRPr lang="fr-CA"/>
          </a:p>
        </p:txBody>
      </p:sp>
      <p:sp>
        <p:nvSpPr>
          <p:cNvPr id="6" name="Footer Placeholder 5"/>
          <p:cNvSpPr>
            <a:spLocks noGrp="1"/>
          </p:cNvSpPr>
          <p:nvPr>
            <p:ph type="ftr" sz="quarter" idx="11"/>
          </p:nvPr>
        </p:nvSpPr>
        <p:spPr/>
        <p:txBody>
          <a:bodyPr/>
          <a:lstStyle/>
          <a:p>
            <a:r>
              <a:rPr lang="fr-CA"/>
              <a:t>© Hugo Lesley - HEC Montréal</a:t>
            </a:r>
          </a:p>
        </p:txBody>
      </p:sp>
      <p:sp>
        <p:nvSpPr>
          <p:cNvPr id="7" name="Slide Number Placeholder 6"/>
          <p:cNvSpPr>
            <a:spLocks noGrp="1"/>
          </p:cNvSpPr>
          <p:nvPr>
            <p:ph type="sldNum" sz="quarter" idx="12"/>
          </p:nvPr>
        </p:nvSpPr>
        <p:spPr/>
        <p:txBody>
          <a:bodyPr/>
          <a:lstStyle/>
          <a:p>
            <a:fld id="{925D5ECB-3EB5-46B4-A765-5958C79DB1EF}" type="slidenum">
              <a:rPr lang="fr-CA" smtClean="0"/>
              <a:t>‹N°›</a:t>
            </a:fld>
            <a:endParaRPr lang="fr-CA"/>
          </a:p>
        </p:txBody>
      </p:sp>
    </p:spTree>
    <p:extLst>
      <p:ext uri="{BB962C8B-B14F-4D97-AF65-F5344CB8AC3E}">
        <p14:creationId xmlns:p14="http://schemas.microsoft.com/office/powerpoint/2010/main" val="40205234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fr-FR"/>
              <a:t>Modifiez le style du titre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4" name="Date Placeholder 3"/>
          <p:cNvSpPr>
            <a:spLocks noGrp="1"/>
          </p:cNvSpPr>
          <p:nvPr>
            <p:ph type="dt" sz="half" idx="10"/>
          </p:nvPr>
        </p:nvSpPr>
        <p:spPr/>
        <p:txBody>
          <a:bodyPr/>
          <a:lstStyle/>
          <a:p>
            <a:fld id="{AEA98B2F-70EC-41E9-9AB6-188039BA5856}" type="datetime1">
              <a:rPr lang="fr-CA" smtClean="0"/>
              <a:t>2025-01-20</a:t>
            </a:fld>
            <a:endParaRPr lang="fr-CA"/>
          </a:p>
        </p:txBody>
      </p:sp>
      <p:sp>
        <p:nvSpPr>
          <p:cNvPr id="5" name="Footer Placeholder 4"/>
          <p:cNvSpPr>
            <a:spLocks noGrp="1"/>
          </p:cNvSpPr>
          <p:nvPr>
            <p:ph type="ftr" sz="quarter" idx="11"/>
          </p:nvPr>
        </p:nvSpPr>
        <p:spPr/>
        <p:txBody>
          <a:bodyPr/>
          <a:lstStyle/>
          <a:p>
            <a:r>
              <a:rPr lang="fr-CA"/>
              <a:t>© Hugo Lesley - HEC Montréal</a:t>
            </a:r>
          </a:p>
        </p:txBody>
      </p:sp>
      <p:sp>
        <p:nvSpPr>
          <p:cNvPr id="6" name="Slide Number Placeholder 5"/>
          <p:cNvSpPr>
            <a:spLocks noGrp="1"/>
          </p:cNvSpPr>
          <p:nvPr>
            <p:ph type="sldNum" sz="quarter" idx="12"/>
          </p:nvPr>
        </p:nvSpPr>
        <p:spPr/>
        <p:txBody>
          <a:bodyPr/>
          <a:lstStyle/>
          <a:p>
            <a:fld id="{925D5ECB-3EB5-46B4-A765-5958C79DB1EF}" type="slidenum">
              <a:rPr lang="fr-CA" smtClean="0"/>
              <a:t>‹N°›</a:t>
            </a:fld>
            <a:endParaRPr lang="fr-CA"/>
          </a:p>
        </p:txBody>
      </p:sp>
    </p:spTree>
    <p:extLst>
      <p:ext uri="{BB962C8B-B14F-4D97-AF65-F5344CB8AC3E}">
        <p14:creationId xmlns:p14="http://schemas.microsoft.com/office/powerpoint/2010/main" val="14056520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fr-FR"/>
              <a:t>Modifiez le style du titre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Modifiez les styles du texte du masque</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4" name="Date Placeholder 3"/>
          <p:cNvSpPr>
            <a:spLocks noGrp="1"/>
          </p:cNvSpPr>
          <p:nvPr>
            <p:ph type="dt" sz="half" idx="10"/>
          </p:nvPr>
        </p:nvSpPr>
        <p:spPr/>
        <p:txBody>
          <a:bodyPr/>
          <a:lstStyle/>
          <a:p>
            <a:fld id="{1E351407-ED9E-4B04-91AB-19914991BA5D}" type="datetime1">
              <a:rPr lang="fr-CA" smtClean="0"/>
              <a:t>2025-01-20</a:t>
            </a:fld>
            <a:endParaRPr lang="fr-CA"/>
          </a:p>
        </p:txBody>
      </p:sp>
      <p:sp>
        <p:nvSpPr>
          <p:cNvPr id="5" name="Footer Placeholder 4"/>
          <p:cNvSpPr>
            <a:spLocks noGrp="1"/>
          </p:cNvSpPr>
          <p:nvPr>
            <p:ph type="ftr" sz="quarter" idx="11"/>
          </p:nvPr>
        </p:nvSpPr>
        <p:spPr/>
        <p:txBody>
          <a:bodyPr/>
          <a:lstStyle/>
          <a:p>
            <a:r>
              <a:rPr lang="fr-CA"/>
              <a:t>© Hugo Lesley - HEC Montréal</a:t>
            </a:r>
          </a:p>
        </p:txBody>
      </p:sp>
      <p:sp>
        <p:nvSpPr>
          <p:cNvPr id="6" name="Slide Number Placeholder 5"/>
          <p:cNvSpPr>
            <a:spLocks noGrp="1"/>
          </p:cNvSpPr>
          <p:nvPr>
            <p:ph type="sldNum" sz="quarter" idx="12"/>
          </p:nvPr>
        </p:nvSpPr>
        <p:spPr/>
        <p:txBody>
          <a:bodyPr/>
          <a:lstStyle/>
          <a:p>
            <a:fld id="{925D5ECB-3EB5-46B4-A765-5958C79DB1EF}" type="slidenum">
              <a:rPr lang="fr-CA" smtClean="0"/>
              <a:t>‹N°›</a:t>
            </a:fld>
            <a:endParaRPr lang="fr-CA"/>
          </a:p>
        </p:txBody>
      </p:sp>
    </p:spTree>
    <p:extLst>
      <p:ext uri="{BB962C8B-B14F-4D97-AF65-F5344CB8AC3E}">
        <p14:creationId xmlns:p14="http://schemas.microsoft.com/office/powerpoint/2010/main" val="31073173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fr-FR"/>
              <a:t>Modifiez le style du titre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4" name="Date Placeholder 3"/>
          <p:cNvSpPr>
            <a:spLocks noGrp="1"/>
          </p:cNvSpPr>
          <p:nvPr>
            <p:ph type="dt" sz="half" idx="10"/>
          </p:nvPr>
        </p:nvSpPr>
        <p:spPr/>
        <p:txBody>
          <a:bodyPr/>
          <a:lstStyle/>
          <a:p>
            <a:fld id="{26FE7764-C5F1-406A-A40C-8A5ED481F080}" type="datetime1">
              <a:rPr lang="fr-CA" smtClean="0"/>
              <a:t>2025-01-20</a:t>
            </a:fld>
            <a:endParaRPr lang="fr-CA"/>
          </a:p>
        </p:txBody>
      </p:sp>
      <p:sp>
        <p:nvSpPr>
          <p:cNvPr id="5" name="Footer Placeholder 4"/>
          <p:cNvSpPr>
            <a:spLocks noGrp="1"/>
          </p:cNvSpPr>
          <p:nvPr>
            <p:ph type="ftr" sz="quarter" idx="11"/>
          </p:nvPr>
        </p:nvSpPr>
        <p:spPr/>
        <p:txBody>
          <a:bodyPr/>
          <a:lstStyle/>
          <a:p>
            <a:r>
              <a:rPr lang="fr-CA"/>
              <a:t>© Hugo Lesley - HEC Montréal</a:t>
            </a:r>
          </a:p>
        </p:txBody>
      </p:sp>
      <p:sp>
        <p:nvSpPr>
          <p:cNvPr id="6" name="Slide Number Placeholder 5"/>
          <p:cNvSpPr>
            <a:spLocks noGrp="1"/>
          </p:cNvSpPr>
          <p:nvPr>
            <p:ph type="sldNum" sz="quarter" idx="12"/>
          </p:nvPr>
        </p:nvSpPr>
        <p:spPr/>
        <p:txBody>
          <a:bodyPr/>
          <a:lstStyle/>
          <a:p>
            <a:fld id="{925D5ECB-3EB5-46B4-A765-5958C79DB1EF}" type="slidenum">
              <a:rPr lang="fr-CA" smtClean="0"/>
              <a:t>‹N°›</a:t>
            </a:fld>
            <a:endParaRPr lang="fr-CA"/>
          </a:p>
        </p:txBody>
      </p:sp>
    </p:spTree>
    <p:extLst>
      <p:ext uri="{BB962C8B-B14F-4D97-AF65-F5344CB8AC3E}">
        <p14:creationId xmlns:p14="http://schemas.microsoft.com/office/powerpoint/2010/main" val="4753190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fr-FR"/>
              <a:t>Modifiez le style du titre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fr-FR"/>
              <a:t>Modifiez les styles du texte du masque</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4" name="Date Placeholder 3"/>
          <p:cNvSpPr>
            <a:spLocks noGrp="1"/>
          </p:cNvSpPr>
          <p:nvPr>
            <p:ph type="dt" sz="half" idx="10"/>
          </p:nvPr>
        </p:nvSpPr>
        <p:spPr/>
        <p:txBody>
          <a:bodyPr/>
          <a:lstStyle/>
          <a:p>
            <a:fld id="{13F25F80-211B-472E-9616-DADF82078E29}" type="datetime1">
              <a:rPr lang="fr-CA" smtClean="0"/>
              <a:t>2025-01-20</a:t>
            </a:fld>
            <a:endParaRPr lang="fr-CA"/>
          </a:p>
        </p:txBody>
      </p:sp>
      <p:sp>
        <p:nvSpPr>
          <p:cNvPr id="5" name="Footer Placeholder 4"/>
          <p:cNvSpPr>
            <a:spLocks noGrp="1"/>
          </p:cNvSpPr>
          <p:nvPr>
            <p:ph type="ftr" sz="quarter" idx="11"/>
          </p:nvPr>
        </p:nvSpPr>
        <p:spPr/>
        <p:txBody>
          <a:bodyPr/>
          <a:lstStyle/>
          <a:p>
            <a:r>
              <a:rPr lang="fr-CA"/>
              <a:t>© Hugo Lesley - HEC Montréal</a:t>
            </a:r>
          </a:p>
        </p:txBody>
      </p:sp>
      <p:sp>
        <p:nvSpPr>
          <p:cNvPr id="6" name="Slide Number Placeholder 5"/>
          <p:cNvSpPr>
            <a:spLocks noGrp="1"/>
          </p:cNvSpPr>
          <p:nvPr>
            <p:ph type="sldNum" sz="quarter" idx="12"/>
          </p:nvPr>
        </p:nvSpPr>
        <p:spPr/>
        <p:txBody>
          <a:bodyPr/>
          <a:lstStyle/>
          <a:p>
            <a:fld id="{925D5ECB-3EB5-46B4-A765-5958C79DB1EF}" type="slidenum">
              <a:rPr lang="fr-CA" smtClean="0"/>
              <a:t>‹N°›</a:t>
            </a:fld>
            <a:endParaRPr lang="fr-CA"/>
          </a:p>
        </p:txBody>
      </p:sp>
    </p:spTree>
    <p:extLst>
      <p:ext uri="{BB962C8B-B14F-4D97-AF65-F5344CB8AC3E}">
        <p14:creationId xmlns:p14="http://schemas.microsoft.com/office/powerpoint/2010/main" val="31399750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fr-FR"/>
              <a:t>Modifiez le style du titre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fr-FR"/>
              <a:t>Modifiez les styles du texte du masque</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4" name="Date Placeholder 3"/>
          <p:cNvSpPr>
            <a:spLocks noGrp="1"/>
          </p:cNvSpPr>
          <p:nvPr>
            <p:ph type="dt" sz="half" idx="10"/>
          </p:nvPr>
        </p:nvSpPr>
        <p:spPr/>
        <p:txBody>
          <a:bodyPr/>
          <a:lstStyle/>
          <a:p>
            <a:fld id="{85A5A3F3-1BFB-4B30-8693-5D8F2F385D34}" type="datetime1">
              <a:rPr lang="fr-CA" smtClean="0"/>
              <a:t>2025-01-20</a:t>
            </a:fld>
            <a:endParaRPr lang="fr-CA"/>
          </a:p>
        </p:txBody>
      </p:sp>
      <p:sp>
        <p:nvSpPr>
          <p:cNvPr id="5" name="Footer Placeholder 4"/>
          <p:cNvSpPr>
            <a:spLocks noGrp="1"/>
          </p:cNvSpPr>
          <p:nvPr>
            <p:ph type="ftr" sz="quarter" idx="11"/>
          </p:nvPr>
        </p:nvSpPr>
        <p:spPr/>
        <p:txBody>
          <a:bodyPr/>
          <a:lstStyle/>
          <a:p>
            <a:r>
              <a:rPr lang="fr-CA"/>
              <a:t>© Hugo Lesley - HEC Montréal</a:t>
            </a:r>
          </a:p>
        </p:txBody>
      </p:sp>
      <p:sp>
        <p:nvSpPr>
          <p:cNvPr id="6" name="Slide Number Placeholder 5"/>
          <p:cNvSpPr>
            <a:spLocks noGrp="1"/>
          </p:cNvSpPr>
          <p:nvPr>
            <p:ph type="sldNum" sz="quarter" idx="12"/>
          </p:nvPr>
        </p:nvSpPr>
        <p:spPr/>
        <p:txBody>
          <a:bodyPr/>
          <a:lstStyle/>
          <a:p>
            <a:fld id="{925D5ECB-3EB5-46B4-A765-5958C79DB1EF}" type="slidenum">
              <a:rPr lang="fr-CA" smtClean="0"/>
              <a:t>‹N°›</a:t>
            </a:fld>
            <a:endParaRPr lang="fr-CA"/>
          </a:p>
        </p:txBody>
      </p:sp>
    </p:spTree>
    <p:extLst>
      <p:ext uri="{BB962C8B-B14F-4D97-AF65-F5344CB8AC3E}">
        <p14:creationId xmlns:p14="http://schemas.microsoft.com/office/powerpoint/2010/main" val="33542382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A07679C9-70D2-4669-BF0D-9130EA9E8D89}" type="datetime1">
              <a:rPr lang="fr-CA" smtClean="0"/>
              <a:t>2025-01-20</a:t>
            </a:fld>
            <a:endParaRPr lang="fr-CA"/>
          </a:p>
        </p:txBody>
      </p:sp>
      <p:sp>
        <p:nvSpPr>
          <p:cNvPr id="5" name="Footer Placeholder 4"/>
          <p:cNvSpPr>
            <a:spLocks noGrp="1"/>
          </p:cNvSpPr>
          <p:nvPr>
            <p:ph type="ftr" sz="quarter" idx="11"/>
          </p:nvPr>
        </p:nvSpPr>
        <p:spPr/>
        <p:txBody>
          <a:bodyPr/>
          <a:lstStyle/>
          <a:p>
            <a:r>
              <a:rPr lang="fr-CA"/>
              <a:t>© Hugo Lesley - HEC Montréal</a:t>
            </a:r>
          </a:p>
        </p:txBody>
      </p:sp>
      <p:sp>
        <p:nvSpPr>
          <p:cNvPr id="6" name="Slide Number Placeholder 5"/>
          <p:cNvSpPr>
            <a:spLocks noGrp="1"/>
          </p:cNvSpPr>
          <p:nvPr>
            <p:ph type="sldNum" sz="quarter" idx="12"/>
          </p:nvPr>
        </p:nvSpPr>
        <p:spPr/>
        <p:txBody>
          <a:bodyPr/>
          <a:lstStyle/>
          <a:p>
            <a:fld id="{925D5ECB-3EB5-46B4-A765-5958C79DB1EF}" type="slidenum">
              <a:rPr lang="fr-CA" smtClean="0"/>
              <a:t>‹N°›</a:t>
            </a:fld>
            <a:endParaRPr lang="fr-CA"/>
          </a:p>
        </p:txBody>
      </p:sp>
    </p:spTree>
    <p:extLst>
      <p:ext uri="{BB962C8B-B14F-4D97-AF65-F5344CB8AC3E}">
        <p14:creationId xmlns:p14="http://schemas.microsoft.com/office/powerpoint/2010/main" val="8069081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8DB2A07F-FAAD-4434-A5B5-1AA6AC44C966}" type="datetime1">
              <a:rPr lang="fr-CA" smtClean="0"/>
              <a:t>2025-01-20</a:t>
            </a:fld>
            <a:endParaRPr lang="fr-CA"/>
          </a:p>
        </p:txBody>
      </p:sp>
      <p:sp>
        <p:nvSpPr>
          <p:cNvPr id="5" name="Footer Placeholder 4"/>
          <p:cNvSpPr>
            <a:spLocks noGrp="1"/>
          </p:cNvSpPr>
          <p:nvPr>
            <p:ph type="ftr" sz="quarter" idx="11"/>
          </p:nvPr>
        </p:nvSpPr>
        <p:spPr/>
        <p:txBody>
          <a:bodyPr/>
          <a:lstStyle/>
          <a:p>
            <a:r>
              <a:rPr lang="fr-CA"/>
              <a:t>© Hugo Lesley - HEC Montréal</a:t>
            </a:r>
          </a:p>
        </p:txBody>
      </p:sp>
      <p:sp>
        <p:nvSpPr>
          <p:cNvPr id="6" name="Slide Number Placeholder 5"/>
          <p:cNvSpPr>
            <a:spLocks noGrp="1"/>
          </p:cNvSpPr>
          <p:nvPr>
            <p:ph type="sldNum" sz="quarter" idx="12"/>
          </p:nvPr>
        </p:nvSpPr>
        <p:spPr/>
        <p:txBody>
          <a:bodyPr/>
          <a:lstStyle/>
          <a:p>
            <a:fld id="{925D5ECB-3EB5-46B4-A765-5958C79DB1EF}" type="slidenum">
              <a:rPr lang="fr-CA" smtClean="0"/>
              <a:t>‹N°›</a:t>
            </a:fld>
            <a:endParaRPr lang="fr-CA"/>
          </a:p>
        </p:txBody>
      </p:sp>
    </p:spTree>
    <p:extLst>
      <p:ext uri="{BB962C8B-B14F-4D97-AF65-F5344CB8AC3E}">
        <p14:creationId xmlns:p14="http://schemas.microsoft.com/office/powerpoint/2010/main" val="8037799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FF2A727-7824-4600-966D-DFEBF614BDA8}" type="datetime1">
              <a:rPr lang="fr-CA" smtClean="0"/>
              <a:t>2025-01-20</a:t>
            </a:fld>
            <a:endParaRPr lang="fr-CA"/>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r>
              <a:rPr lang="fr-CA"/>
              <a:t>© Hugo Lesley - HEC Montréal</a:t>
            </a:r>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25D5ECB-3EB5-46B4-A765-5958C79DB1EF}" type="slidenum">
              <a:rPr lang="fr-CA" smtClean="0"/>
              <a:t>‹N°›</a:t>
            </a:fld>
            <a:endParaRPr lang="fr-CA"/>
          </a:p>
        </p:txBody>
      </p:sp>
    </p:spTree>
    <p:extLst>
      <p:ext uri="{BB962C8B-B14F-4D97-AF65-F5344CB8AC3E}">
        <p14:creationId xmlns:p14="http://schemas.microsoft.com/office/powerpoint/2010/main" val="2717747624"/>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hf hdr="0" dt="0"/>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18/10/relationships/comments" Target="../comments/modernComment_105_272F6368.xml"/><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normAutofit fontScale="90000"/>
          </a:bodyPr>
          <a:lstStyle/>
          <a:p>
            <a:r>
              <a:rPr lang="fr-CA" dirty="0"/>
              <a:t>Rôles et mandats en comptabilité professionnelle COMP40911</a:t>
            </a:r>
          </a:p>
        </p:txBody>
      </p:sp>
      <p:sp>
        <p:nvSpPr>
          <p:cNvPr id="4" name="Sous-titre 3"/>
          <p:cNvSpPr>
            <a:spLocks noGrp="1"/>
          </p:cNvSpPr>
          <p:nvPr>
            <p:ph type="subTitle" idx="1"/>
          </p:nvPr>
        </p:nvSpPr>
        <p:spPr>
          <a:xfrm>
            <a:off x="3566161" y="3996267"/>
            <a:ext cx="7936862" cy="1388534"/>
          </a:xfrm>
        </p:spPr>
        <p:txBody>
          <a:bodyPr/>
          <a:lstStyle/>
          <a:p>
            <a:endParaRPr lang="fr-CA" dirty="0"/>
          </a:p>
          <a:p>
            <a:r>
              <a:rPr lang="fr-CA" sz="2400" b="1" dirty="0"/>
              <a:t>Les rapports spéciaux – comment s’y retrouver ?</a:t>
            </a:r>
          </a:p>
        </p:txBody>
      </p:sp>
      <p:sp>
        <p:nvSpPr>
          <p:cNvPr id="5" name="Espace réservé du pied de page 4"/>
          <p:cNvSpPr>
            <a:spLocks noGrp="1"/>
          </p:cNvSpPr>
          <p:nvPr>
            <p:ph type="ftr" sz="quarter" idx="11"/>
          </p:nvPr>
        </p:nvSpPr>
        <p:spPr/>
        <p:txBody>
          <a:bodyPr/>
          <a:lstStyle/>
          <a:p>
            <a:r>
              <a:rPr lang="fr-CA" dirty="0"/>
              <a:t>© Hugo Lesley - HEC Montréal</a:t>
            </a:r>
          </a:p>
        </p:txBody>
      </p:sp>
      <p:sp>
        <p:nvSpPr>
          <p:cNvPr id="6" name="Espace réservé du numéro de diapositive 5"/>
          <p:cNvSpPr>
            <a:spLocks noGrp="1"/>
          </p:cNvSpPr>
          <p:nvPr>
            <p:ph type="sldNum" sz="quarter" idx="12"/>
          </p:nvPr>
        </p:nvSpPr>
        <p:spPr/>
        <p:txBody>
          <a:bodyPr/>
          <a:lstStyle/>
          <a:p>
            <a:fld id="{925D5ECB-3EB5-46B4-A765-5958C79DB1EF}" type="slidenum">
              <a:rPr lang="fr-CA" smtClean="0"/>
              <a:t>1</a:t>
            </a:fld>
            <a:endParaRPr lang="fr-CA"/>
          </a:p>
        </p:txBody>
      </p:sp>
    </p:spTree>
    <p:extLst>
      <p:ext uri="{BB962C8B-B14F-4D97-AF65-F5344CB8AC3E}">
        <p14:creationId xmlns:p14="http://schemas.microsoft.com/office/powerpoint/2010/main" val="27526014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title"/>
          </p:nvPr>
        </p:nvSpPr>
        <p:spPr/>
        <p:txBody>
          <a:bodyPr/>
          <a:lstStyle/>
          <a:p>
            <a:r>
              <a:rPr lang="fr-CA" sz="5760" dirty="0"/>
              <a:t>Le cas des rapports spéciaux </a:t>
            </a:r>
            <a:br>
              <a:rPr lang="fr-CA" sz="5760" dirty="0"/>
            </a:br>
            <a:r>
              <a:rPr lang="fr-CA" sz="5760" dirty="0"/>
              <a:t>en certification</a:t>
            </a:r>
            <a:endParaRPr lang="fr-CA" dirty="0"/>
          </a:p>
        </p:txBody>
      </p:sp>
      <p:sp>
        <p:nvSpPr>
          <p:cNvPr id="3" name="Espace réservé du numéro de diapositive 2"/>
          <p:cNvSpPr>
            <a:spLocks noGrp="1"/>
          </p:cNvSpPr>
          <p:nvPr>
            <p:ph type="sldNum" sz="quarter" idx="12"/>
          </p:nvPr>
        </p:nvSpPr>
        <p:spPr/>
        <p:txBody>
          <a:bodyPr/>
          <a:lstStyle/>
          <a:p>
            <a:fld id="{77B8E65F-5E3F-4E73-B056-4D0181456FB2}" type="slidenum">
              <a:rPr lang="fr-CA" noProof="0" smtClean="0"/>
              <a:pPr/>
              <a:t>2</a:t>
            </a:fld>
            <a:endParaRPr lang="fr-CA" noProof="0" dirty="0"/>
          </a:p>
        </p:txBody>
      </p:sp>
      <p:sp>
        <p:nvSpPr>
          <p:cNvPr id="2" name="Espace réservé du pied de page 1"/>
          <p:cNvSpPr>
            <a:spLocks noGrp="1"/>
          </p:cNvSpPr>
          <p:nvPr>
            <p:ph type="ftr" sz="quarter" idx="11"/>
          </p:nvPr>
        </p:nvSpPr>
        <p:spPr/>
        <p:txBody>
          <a:bodyPr/>
          <a:lstStyle/>
          <a:p>
            <a:r>
              <a:rPr lang="fr-CA"/>
              <a:t>© Hugo Lesley - HEC Montréal</a:t>
            </a:r>
          </a:p>
        </p:txBody>
      </p:sp>
    </p:spTree>
    <p:extLst>
      <p:ext uri="{BB962C8B-B14F-4D97-AF65-F5344CB8AC3E}">
        <p14:creationId xmlns:p14="http://schemas.microsoft.com/office/powerpoint/2010/main" val="23653891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6"/>
          <p:cNvSpPr>
            <a:spLocks noGrp="1"/>
          </p:cNvSpPr>
          <p:nvPr>
            <p:ph type="title"/>
          </p:nvPr>
        </p:nvSpPr>
        <p:spPr>
          <a:xfrm>
            <a:off x="1735771" y="185563"/>
            <a:ext cx="10018713" cy="1207423"/>
          </a:xfrm>
        </p:spPr>
        <p:txBody>
          <a:bodyPr/>
          <a:lstStyle/>
          <a:p>
            <a:r>
              <a:rPr lang="fr-CA" dirty="0"/>
              <a:t>Structure de réponse – rapports spéciaux</a:t>
            </a:r>
          </a:p>
        </p:txBody>
      </p:sp>
      <p:sp>
        <p:nvSpPr>
          <p:cNvPr id="2" name="Espace réservé du contenu 1"/>
          <p:cNvSpPr>
            <a:spLocks noGrp="1"/>
          </p:cNvSpPr>
          <p:nvPr>
            <p:ph idx="1"/>
          </p:nvPr>
        </p:nvSpPr>
        <p:spPr>
          <a:xfrm>
            <a:off x="5212079" y="1417319"/>
            <a:ext cx="6217921" cy="5257801"/>
          </a:xfrm>
        </p:spPr>
        <p:txBody>
          <a:bodyPr>
            <a:normAutofit/>
          </a:bodyPr>
          <a:lstStyle/>
          <a:p>
            <a:r>
              <a:rPr lang="fr-CA" sz="2000" dirty="0"/>
              <a:t>Tout </a:t>
            </a:r>
            <a:r>
              <a:rPr lang="fr-CA" sz="2000" b="1" u="sng" dirty="0"/>
              <a:t>professionnel en exercice de la profession</a:t>
            </a:r>
            <a:r>
              <a:rPr lang="fr-CA" sz="2000" dirty="0"/>
              <a:t> accompagne ses travaux d’un rapport </a:t>
            </a:r>
            <a:r>
              <a:rPr lang="fr-CA" sz="2000" b="1" dirty="0">
                <a:solidFill>
                  <a:srgbClr val="FF0000"/>
                </a:solidFill>
                <a:highlight>
                  <a:srgbClr val="FFFF00"/>
                </a:highlight>
              </a:rPr>
              <a:t>normé.</a:t>
            </a:r>
          </a:p>
          <a:p>
            <a:r>
              <a:rPr lang="fr-CA" sz="2000" dirty="0"/>
              <a:t>Lorsque possible, proposez des options en fonction des divers niveaux d’assurance disponibles. (assurance raisonnable, limitée ou aucune forme d’assurance).</a:t>
            </a:r>
          </a:p>
          <a:p>
            <a:r>
              <a:rPr lang="fr-CA" sz="2000" dirty="0"/>
              <a:t>Le client a-t-il réellement besoin d’une assurance quelconque ? Considérez le besoin des utilisateurs ainsi que l’importance des décisions à prendre.</a:t>
            </a:r>
          </a:p>
          <a:p>
            <a:r>
              <a:rPr lang="fr-CA" sz="2000" dirty="0"/>
              <a:t>S’il faut planifier le mandat (risques, seuils si applicable, exemples de procédures)</a:t>
            </a:r>
          </a:p>
          <a:p>
            <a:endParaRPr lang="fr-CA" sz="2000" dirty="0"/>
          </a:p>
          <a:p>
            <a:endParaRPr lang="fr-CA" sz="2000" dirty="0"/>
          </a:p>
        </p:txBody>
      </p:sp>
      <p:sp>
        <p:nvSpPr>
          <p:cNvPr id="3" name="Espace réservé du numéro de diapositive 2"/>
          <p:cNvSpPr>
            <a:spLocks noGrp="1"/>
          </p:cNvSpPr>
          <p:nvPr>
            <p:ph type="sldNum" sz="quarter" idx="12"/>
          </p:nvPr>
        </p:nvSpPr>
        <p:spPr/>
        <p:txBody>
          <a:bodyPr/>
          <a:lstStyle/>
          <a:p>
            <a:fld id="{77B8E65F-5E3F-4E73-B056-4D0181456FB2}" type="slidenum">
              <a:rPr lang="fr-CA" noProof="0" smtClean="0"/>
              <a:pPr/>
              <a:t>3</a:t>
            </a:fld>
            <a:endParaRPr lang="fr-CA" noProof="0" dirty="0"/>
          </a:p>
        </p:txBody>
      </p:sp>
      <p:pic>
        <p:nvPicPr>
          <p:cNvPr id="1026" name="Picture 2" descr="Document, Graphique, Rapport, Approb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1516" y="1795067"/>
            <a:ext cx="2594474" cy="3669983"/>
          </a:xfrm>
          <a:prstGeom prst="rect">
            <a:avLst/>
          </a:prstGeom>
          <a:noFill/>
          <a:extLst>
            <a:ext uri="{909E8E84-426E-40DD-AFC4-6F175D3DCCD1}">
              <a14:hiddenFill xmlns:a14="http://schemas.microsoft.com/office/drawing/2010/main">
                <a:solidFill>
                  <a:srgbClr val="FFFFFF"/>
                </a:solidFill>
              </a14:hiddenFill>
            </a:ext>
          </a:extLst>
        </p:spPr>
      </p:pic>
      <p:sp>
        <p:nvSpPr>
          <p:cNvPr id="7" name="ZoneTexte 6"/>
          <p:cNvSpPr txBox="1"/>
          <p:nvPr/>
        </p:nvSpPr>
        <p:spPr>
          <a:xfrm>
            <a:off x="1961516" y="5203440"/>
            <a:ext cx="2731770" cy="261610"/>
          </a:xfrm>
          <a:prstGeom prst="rect">
            <a:avLst/>
          </a:prstGeom>
          <a:noFill/>
        </p:spPr>
        <p:txBody>
          <a:bodyPr wrap="square" rtlCol="0">
            <a:spAutoFit/>
          </a:bodyPr>
          <a:lstStyle/>
          <a:p>
            <a:r>
              <a:rPr lang="fr-CA" sz="1100" i="1" dirty="0"/>
              <a:t>Crédit photo : </a:t>
            </a:r>
            <a:r>
              <a:rPr lang="fr-CA" sz="1100" i="1" dirty="0" err="1"/>
              <a:t>Pixabay</a:t>
            </a:r>
            <a:endParaRPr lang="fr-CA" sz="1100" i="1" dirty="0"/>
          </a:p>
        </p:txBody>
      </p:sp>
      <p:sp>
        <p:nvSpPr>
          <p:cNvPr id="4" name="Espace réservé du pied de page 3"/>
          <p:cNvSpPr>
            <a:spLocks noGrp="1"/>
          </p:cNvSpPr>
          <p:nvPr>
            <p:ph type="ftr" sz="quarter" idx="11"/>
          </p:nvPr>
        </p:nvSpPr>
        <p:spPr/>
        <p:txBody>
          <a:bodyPr/>
          <a:lstStyle/>
          <a:p>
            <a:r>
              <a:rPr lang="fr-CA"/>
              <a:t>© Hugo Lesley - HEC Montréal</a:t>
            </a:r>
          </a:p>
        </p:txBody>
      </p:sp>
    </p:spTree>
    <p:extLst>
      <p:ext uri="{BB962C8B-B14F-4D97-AF65-F5344CB8AC3E}">
        <p14:creationId xmlns:p14="http://schemas.microsoft.com/office/powerpoint/2010/main" val="2994738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p:cNvSpPr>
            <a:spLocks noGrp="1"/>
          </p:cNvSpPr>
          <p:nvPr>
            <p:ph type="title"/>
          </p:nvPr>
        </p:nvSpPr>
        <p:spPr>
          <a:xfrm>
            <a:off x="65218" y="50413"/>
            <a:ext cx="3316331" cy="788670"/>
          </a:xfrm>
          <a:solidFill>
            <a:srgbClr val="FF0000"/>
          </a:solidFill>
        </p:spPr>
        <p:style>
          <a:lnRef idx="0">
            <a:scrgbClr r="0" g="0" b="0"/>
          </a:lnRef>
          <a:fillRef idx="1003">
            <a:schemeClr val="dk2"/>
          </a:fillRef>
          <a:effectRef idx="0">
            <a:scrgbClr r="0" g="0" b="0"/>
          </a:effectRef>
          <a:fontRef idx="major"/>
        </p:style>
        <p:txBody>
          <a:bodyPr>
            <a:normAutofit/>
          </a:bodyPr>
          <a:lstStyle/>
          <a:p>
            <a:pPr algn="ctr"/>
            <a:r>
              <a:rPr lang="fr-CA" sz="3200" b="1" dirty="0"/>
              <a:t>Aide à la décision</a:t>
            </a:r>
          </a:p>
        </p:txBody>
      </p:sp>
      <p:sp>
        <p:nvSpPr>
          <p:cNvPr id="4" name="Espace réservé du pied de page 3"/>
          <p:cNvSpPr>
            <a:spLocks noGrp="1"/>
          </p:cNvSpPr>
          <p:nvPr>
            <p:ph type="ftr" sz="quarter" idx="11"/>
          </p:nvPr>
        </p:nvSpPr>
        <p:spPr>
          <a:xfrm>
            <a:off x="10391135" y="6522793"/>
            <a:ext cx="1800865" cy="365125"/>
          </a:xfrm>
        </p:spPr>
        <p:txBody>
          <a:bodyPr/>
          <a:lstStyle/>
          <a:p>
            <a:r>
              <a:rPr lang="fr-CA" dirty="0"/>
              <a:t>© Hugo Lesley - HEC Montréal</a:t>
            </a:r>
          </a:p>
        </p:txBody>
      </p:sp>
      <p:sp>
        <p:nvSpPr>
          <p:cNvPr id="5" name="Espace réservé du numéro de diapositive 4"/>
          <p:cNvSpPr>
            <a:spLocks noGrp="1"/>
          </p:cNvSpPr>
          <p:nvPr>
            <p:ph type="sldNum" sz="quarter" idx="12"/>
          </p:nvPr>
        </p:nvSpPr>
        <p:spPr/>
        <p:txBody>
          <a:bodyPr/>
          <a:lstStyle/>
          <a:p>
            <a:fld id="{925D5ECB-3EB5-46B4-A765-5958C79DB1EF}" type="slidenum">
              <a:rPr lang="fr-CA" smtClean="0"/>
              <a:t>4</a:t>
            </a:fld>
            <a:endParaRPr lang="fr-CA"/>
          </a:p>
        </p:txBody>
      </p:sp>
      <p:sp>
        <p:nvSpPr>
          <p:cNvPr id="7" name="Rectangle 6"/>
          <p:cNvSpPr/>
          <p:nvPr/>
        </p:nvSpPr>
        <p:spPr>
          <a:xfrm>
            <a:off x="4359419" y="374572"/>
            <a:ext cx="3669916" cy="7086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b="1" dirty="0"/>
              <a:t>Critères disponibles et connus ?</a:t>
            </a:r>
          </a:p>
        </p:txBody>
      </p:sp>
      <p:cxnSp>
        <p:nvCxnSpPr>
          <p:cNvPr id="9" name="Connecteur droit avec flèche 8"/>
          <p:cNvCxnSpPr>
            <a:stCxn id="7" idx="2"/>
            <a:endCxn id="12" idx="0"/>
          </p:cNvCxnSpPr>
          <p:nvPr/>
        </p:nvCxnSpPr>
        <p:spPr>
          <a:xfrm flipH="1">
            <a:off x="3092767" y="1083232"/>
            <a:ext cx="3101610" cy="3029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Connecteur droit avec flèche 10"/>
          <p:cNvCxnSpPr>
            <a:stCxn id="7" idx="2"/>
            <a:endCxn id="13" idx="0"/>
          </p:cNvCxnSpPr>
          <p:nvPr/>
        </p:nvCxnSpPr>
        <p:spPr>
          <a:xfrm>
            <a:off x="6194377" y="1083232"/>
            <a:ext cx="3076145" cy="3115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406318" y="1386204"/>
            <a:ext cx="5372898" cy="38862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CA" dirty="0"/>
              <a:t>OUI</a:t>
            </a:r>
          </a:p>
        </p:txBody>
      </p:sp>
      <p:sp>
        <p:nvSpPr>
          <p:cNvPr id="13" name="Rectangle 12"/>
          <p:cNvSpPr/>
          <p:nvPr/>
        </p:nvSpPr>
        <p:spPr>
          <a:xfrm>
            <a:off x="6588191" y="1394777"/>
            <a:ext cx="5364662" cy="38862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CA" dirty="0"/>
              <a:t>NON</a:t>
            </a:r>
          </a:p>
        </p:txBody>
      </p:sp>
      <p:sp>
        <p:nvSpPr>
          <p:cNvPr id="14" name="Rectangle 13"/>
          <p:cNvSpPr/>
          <p:nvPr/>
        </p:nvSpPr>
        <p:spPr>
          <a:xfrm>
            <a:off x="406318" y="1925955"/>
            <a:ext cx="5372898" cy="331470"/>
          </a:xfrm>
          <a:prstGeom prst="rect">
            <a:avLst/>
          </a:prstGeom>
        </p:spPr>
        <p:style>
          <a:lnRef idx="3">
            <a:schemeClr val="lt1"/>
          </a:lnRef>
          <a:fillRef idx="1">
            <a:schemeClr val="dk1"/>
          </a:fillRef>
          <a:effectRef idx="1">
            <a:schemeClr val="dk1"/>
          </a:effectRef>
          <a:fontRef idx="minor">
            <a:schemeClr val="lt1"/>
          </a:fontRef>
        </p:style>
        <p:txBody>
          <a:bodyPr rtlCol="0" anchor="ctr"/>
          <a:lstStyle/>
          <a:p>
            <a:pPr algn="ctr"/>
            <a:r>
              <a:rPr lang="fr-CA" b="1" dirty="0"/>
              <a:t>Rapports de conformité</a:t>
            </a:r>
          </a:p>
        </p:txBody>
      </p:sp>
      <p:sp>
        <p:nvSpPr>
          <p:cNvPr id="15" name="Rectangle 14"/>
          <p:cNvSpPr/>
          <p:nvPr/>
        </p:nvSpPr>
        <p:spPr>
          <a:xfrm>
            <a:off x="406318" y="2507299"/>
            <a:ext cx="5372898" cy="387033"/>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CA" dirty="0"/>
              <a:t>Qui effectue la mesure / l’évaluation ?</a:t>
            </a:r>
          </a:p>
        </p:txBody>
      </p:sp>
      <p:sp>
        <p:nvSpPr>
          <p:cNvPr id="16" name="Rectangle 15"/>
          <p:cNvSpPr/>
          <p:nvPr/>
        </p:nvSpPr>
        <p:spPr>
          <a:xfrm>
            <a:off x="406319" y="3141032"/>
            <a:ext cx="2372960" cy="3429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CA" dirty="0"/>
              <a:t>Partie autre</a:t>
            </a:r>
          </a:p>
        </p:txBody>
      </p:sp>
      <p:sp>
        <p:nvSpPr>
          <p:cNvPr id="17" name="ZoneTexte 16"/>
          <p:cNvSpPr txBox="1"/>
          <p:nvPr/>
        </p:nvSpPr>
        <p:spPr>
          <a:xfrm>
            <a:off x="3381549" y="3141032"/>
            <a:ext cx="2389431"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fr-CA" dirty="0"/>
              <a:t>CPA</a:t>
            </a:r>
          </a:p>
        </p:txBody>
      </p:sp>
      <p:cxnSp>
        <p:nvCxnSpPr>
          <p:cNvPr id="19" name="Connecteur droit avec flèche 18"/>
          <p:cNvCxnSpPr>
            <a:stCxn id="12" idx="2"/>
            <a:endCxn id="14" idx="0"/>
          </p:cNvCxnSpPr>
          <p:nvPr/>
        </p:nvCxnSpPr>
        <p:spPr>
          <a:xfrm>
            <a:off x="3092767" y="1774824"/>
            <a:ext cx="0" cy="1511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Connecteur droit avec flèche 20"/>
          <p:cNvCxnSpPr>
            <a:stCxn id="14" idx="2"/>
            <a:endCxn id="15" idx="0"/>
          </p:cNvCxnSpPr>
          <p:nvPr/>
        </p:nvCxnSpPr>
        <p:spPr>
          <a:xfrm>
            <a:off x="3092767" y="2257425"/>
            <a:ext cx="0" cy="249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necteur droit avec flèche 22"/>
          <p:cNvCxnSpPr>
            <a:stCxn id="15" idx="2"/>
            <a:endCxn id="16" idx="0"/>
          </p:cNvCxnSpPr>
          <p:nvPr/>
        </p:nvCxnSpPr>
        <p:spPr>
          <a:xfrm flipH="1">
            <a:off x="1592799" y="2894332"/>
            <a:ext cx="1499968" cy="2467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Connecteur droit avec flèche 24"/>
          <p:cNvCxnSpPr>
            <a:stCxn id="15" idx="2"/>
            <a:endCxn id="17" idx="0"/>
          </p:cNvCxnSpPr>
          <p:nvPr/>
        </p:nvCxnSpPr>
        <p:spPr>
          <a:xfrm>
            <a:off x="3092767" y="2894332"/>
            <a:ext cx="1483498" cy="2467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Rectangle 25"/>
          <p:cNvSpPr/>
          <p:nvPr/>
        </p:nvSpPr>
        <p:spPr>
          <a:xfrm>
            <a:off x="406319" y="3755077"/>
            <a:ext cx="2372960" cy="1210777"/>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fr-CA" b="1" dirty="0"/>
              <a:t>Rapport sur la conformité - mission d’attestation</a:t>
            </a:r>
          </a:p>
          <a:p>
            <a:pPr algn="ctr"/>
            <a:r>
              <a:rPr lang="fr-CA" b="1" dirty="0"/>
              <a:t>NCMC 3530</a:t>
            </a:r>
          </a:p>
        </p:txBody>
      </p:sp>
      <p:sp>
        <p:nvSpPr>
          <p:cNvPr id="27" name="Rectangle 26"/>
          <p:cNvSpPr/>
          <p:nvPr/>
        </p:nvSpPr>
        <p:spPr>
          <a:xfrm>
            <a:off x="3389786" y="3752071"/>
            <a:ext cx="2389431" cy="1207844"/>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fr-CA" b="1" dirty="0"/>
              <a:t>Rapport sur la conformité - mission d’appréciation directe</a:t>
            </a:r>
          </a:p>
          <a:p>
            <a:pPr algn="ctr"/>
            <a:r>
              <a:rPr lang="fr-CA" b="1" dirty="0"/>
              <a:t>NCMC 3531</a:t>
            </a:r>
          </a:p>
        </p:txBody>
      </p:sp>
      <p:cxnSp>
        <p:nvCxnSpPr>
          <p:cNvPr id="43" name="Connecteur droit avec flèche 42"/>
          <p:cNvCxnSpPr>
            <a:stCxn id="16" idx="2"/>
            <a:endCxn id="26" idx="0"/>
          </p:cNvCxnSpPr>
          <p:nvPr/>
        </p:nvCxnSpPr>
        <p:spPr>
          <a:xfrm>
            <a:off x="1592799" y="3483932"/>
            <a:ext cx="0" cy="2711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Connecteur droit avec flèche 44"/>
          <p:cNvCxnSpPr>
            <a:stCxn id="17" idx="2"/>
            <a:endCxn id="27" idx="0"/>
          </p:cNvCxnSpPr>
          <p:nvPr/>
        </p:nvCxnSpPr>
        <p:spPr>
          <a:xfrm>
            <a:off x="4576265" y="3510364"/>
            <a:ext cx="8237" cy="2417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7" name="Rectangle 46"/>
          <p:cNvSpPr/>
          <p:nvPr/>
        </p:nvSpPr>
        <p:spPr>
          <a:xfrm>
            <a:off x="406318" y="5164609"/>
            <a:ext cx="2372961" cy="40767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CA" dirty="0"/>
              <a:t>Niveau d’assurance</a:t>
            </a:r>
          </a:p>
        </p:txBody>
      </p:sp>
      <p:sp>
        <p:nvSpPr>
          <p:cNvPr id="48" name="Rectangle 47"/>
          <p:cNvSpPr/>
          <p:nvPr/>
        </p:nvSpPr>
        <p:spPr>
          <a:xfrm>
            <a:off x="3389784" y="5197236"/>
            <a:ext cx="2389433" cy="40767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CA" dirty="0"/>
              <a:t>Niveau d’assurance</a:t>
            </a:r>
          </a:p>
        </p:txBody>
      </p:sp>
      <p:sp>
        <p:nvSpPr>
          <p:cNvPr id="49" name="Rectangle 48"/>
          <p:cNvSpPr/>
          <p:nvPr/>
        </p:nvSpPr>
        <p:spPr>
          <a:xfrm>
            <a:off x="389849" y="5815493"/>
            <a:ext cx="1344931" cy="3429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CA" dirty="0"/>
              <a:t>Raisonnable</a:t>
            </a:r>
          </a:p>
        </p:txBody>
      </p:sp>
      <p:sp>
        <p:nvSpPr>
          <p:cNvPr id="50" name="Rectangle 49"/>
          <p:cNvSpPr/>
          <p:nvPr/>
        </p:nvSpPr>
        <p:spPr>
          <a:xfrm>
            <a:off x="1796014" y="5814858"/>
            <a:ext cx="969091" cy="3429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CA" dirty="0"/>
              <a:t>Limitée</a:t>
            </a:r>
          </a:p>
        </p:txBody>
      </p:sp>
      <p:cxnSp>
        <p:nvCxnSpPr>
          <p:cNvPr id="52" name="Connecteur droit avec flèche 51"/>
          <p:cNvCxnSpPr>
            <a:stCxn id="47" idx="2"/>
            <a:endCxn id="49" idx="0"/>
          </p:cNvCxnSpPr>
          <p:nvPr/>
        </p:nvCxnSpPr>
        <p:spPr>
          <a:xfrm flipH="1">
            <a:off x="1062315" y="5572279"/>
            <a:ext cx="530484" cy="2432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Connecteur droit avec flèche 53"/>
          <p:cNvCxnSpPr>
            <a:stCxn id="47" idx="2"/>
            <a:endCxn id="50" idx="0"/>
          </p:cNvCxnSpPr>
          <p:nvPr/>
        </p:nvCxnSpPr>
        <p:spPr>
          <a:xfrm>
            <a:off x="1592799" y="5572279"/>
            <a:ext cx="687761" cy="2425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5" name="Rectangle 54"/>
          <p:cNvSpPr/>
          <p:nvPr/>
        </p:nvSpPr>
        <p:spPr>
          <a:xfrm>
            <a:off x="3389785" y="5822641"/>
            <a:ext cx="1344931" cy="3429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CA" dirty="0"/>
              <a:t>Raisonnable</a:t>
            </a:r>
          </a:p>
        </p:txBody>
      </p:sp>
      <p:sp>
        <p:nvSpPr>
          <p:cNvPr id="56" name="Rectangle 55"/>
          <p:cNvSpPr/>
          <p:nvPr/>
        </p:nvSpPr>
        <p:spPr>
          <a:xfrm>
            <a:off x="4810127" y="5822641"/>
            <a:ext cx="969091" cy="3429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CA" dirty="0"/>
              <a:t>Limitée</a:t>
            </a:r>
          </a:p>
        </p:txBody>
      </p:sp>
      <p:cxnSp>
        <p:nvCxnSpPr>
          <p:cNvPr id="111" name="Connecteur droit avec flèche 110"/>
          <p:cNvCxnSpPr>
            <a:stCxn id="26" idx="2"/>
            <a:endCxn id="47" idx="0"/>
          </p:cNvCxnSpPr>
          <p:nvPr/>
        </p:nvCxnSpPr>
        <p:spPr>
          <a:xfrm>
            <a:off x="1592799" y="4965854"/>
            <a:ext cx="0" cy="1987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3" name="Connecteur droit avec flèche 112"/>
          <p:cNvCxnSpPr>
            <a:stCxn id="27" idx="2"/>
            <a:endCxn id="48" idx="0"/>
          </p:cNvCxnSpPr>
          <p:nvPr/>
        </p:nvCxnSpPr>
        <p:spPr>
          <a:xfrm flipH="1">
            <a:off x="4584501" y="4959915"/>
            <a:ext cx="1" cy="2373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5" name="Connecteur droit avec flèche 114"/>
          <p:cNvCxnSpPr>
            <a:stCxn id="48" idx="2"/>
            <a:endCxn id="55" idx="0"/>
          </p:cNvCxnSpPr>
          <p:nvPr/>
        </p:nvCxnSpPr>
        <p:spPr>
          <a:xfrm flipH="1">
            <a:off x="4062251" y="5604906"/>
            <a:ext cx="522250" cy="2177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7" name="Connecteur droit avec flèche 116"/>
          <p:cNvCxnSpPr>
            <a:stCxn id="48" idx="2"/>
            <a:endCxn id="56" idx="0"/>
          </p:cNvCxnSpPr>
          <p:nvPr/>
        </p:nvCxnSpPr>
        <p:spPr>
          <a:xfrm>
            <a:off x="4584501" y="5604906"/>
            <a:ext cx="710172" cy="2177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6" name="Rectangle 135"/>
          <p:cNvSpPr/>
          <p:nvPr/>
        </p:nvSpPr>
        <p:spPr>
          <a:xfrm>
            <a:off x="6588191" y="2511109"/>
            <a:ext cx="5372898" cy="387033"/>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CA" dirty="0"/>
              <a:t>Qui effectue la mesure / l’évaluation ?</a:t>
            </a:r>
          </a:p>
        </p:txBody>
      </p:sp>
      <p:sp>
        <p:nvSpPr>
          <p:cNvPr id="137" name="Rectangle 136"/>
          <p:cNvSpPr/>
          <p:nvPr/>
        </p:nvSpPr>
        <p:spPr>
          <a:xfrm>
            <a:off x="6588192" y="3144842"/>
            <a:ext cx="2372960" cy="3429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CA" dirty="0"/>
              <a:t>Partie autre</a:t>
            </a:r>
          </a:p>
        </p:txBody>
      </p:sp>
      <p:sp>
        <p:nvSpPr>
          <p:cNvPr id="138" name="ZoneTexte 137"/>
          <p:cNvSpPr txBox="1"/>
          <p:nvPr/>
        </p:nvSpPr>
        <p:spPr>
          <a:xfrm>
            <a:off x="9563422" y="3144842"/>
            <a:ext cx="2389431"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fr-CA" dirty="0"/>
              <a:t>CPA</a:t>
            </a:r>
          </a:p>
        </p:txBody>
      </p:sp>
      <p:cxnSp>
        <p:nvCxnSpPr>
          <p:cNvPr id="139" name="Connecteur droit avec flèche 138"/>
          <p:cNvCxnSpPr>
            <a:stCxn id="136" idx="2"/>
            <a:endCxn id="137" idx="0"/>
          </p:cNvCxnSpPr>
          <p:nvPr/>
        </p:nvCxnSpPr>
        <p:spPr>
          <a:xfrm flipH="1">
            <a:off x="7774672" y="2898142"/>
            <a:ext cx="1499968" cy="2467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0" name="Connecteur droit avec flèche 139"/>
          <p:cNvCxnSpPr>
            <a:stCxn id="136" idx="2"/>
            <a:endCxn id="138" idx="0"/>
          </p:cNvCxnSpPr>
          <p:nvPr/>
        </p:nvCxnSpPr>
        <p:spPr>
          <a:xfrm>
            <a:off x="9274640" y="2898142"/>
            <a:ext cx="1483498" cy="2467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1" name="Rectangle 140"/>
          <p:cNvSpPr/>
          <p:nvPr/>
        </p:nvSpPr>
        <p:spPr>
          <a:xfrm>
            <a:off x="6588192" y="3758887"/>
            <a:ext cx="2372960" cy="1210777"/>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fr-CA" b="1" dirty="0"/>
              <a:t>Mission d’</a:t>
            </a:r>
            <a:r>
              <a:rPr lang="fr-CA" b="1" dirty="0">
                <a:solidFill>
                  <a:srgbClr val="FF0000"/>
                </a:solidFill>
              </a:rPr>
              <a:t>attestation</a:t>
            </a:r>
          </a:p>
          <a:p>
            <a:pPr algn="ctr"/>
            <a:r>
              <a:rPr lang="fr-CA" b="1" dirty="0"/>
              <a:t>NCMC 3000</a:t>
            </a:r>
          </a:p>
        </p:txBody>
      </p:sp>
      <p:sp>
        <p:nvSpPr>
          <p:cNvPr id="142" name="Rectangle 141"/>
          <p:cNvSpPr/>
          <p:nvPr/>
        </p:nvSpPr>
        <p:spPr>
          <a:xfrm>
            <a:off x="9571659" y="3755881"/>
            <a:ext cx="2389431" cy="1207844"/>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fr-CA" b="1" dirty="0"/>
              <a:t>Mission d’</a:t>
            </a:r>
            <a:r>
              <a:rPr lang="fr-CA" b="1" dirty="0">
                <a:solidFill>
                  <a:srgbClr val="FF0000"/>
                </a:solidFill>
              </a:rPr>
              <a:t>appréciation </a:t>
            </a:r>
            <a:r>
              <a:rPr lang="fr-CA" b="1" dirty="0"/>
              <a:t>directe</a:t>
            </a:r>
          </a:p>
          <a:p>
            <a:pPr algn="ctr"/>
            <a:r>
              <a:rPr lang="fr-CA" b="1" dirty="0"/>
              <a:t>NCMC 3001</a:t>
            </a:r>
          </a:p>
        </p:txBody>
      </p:sp>
      <p:cxnSp>
        <p:nvCxnSpPr>
          <p:cNvPr id="143" name="Connecteur droit avec flèche 142"/>
          <p:cNvCxnSpPr>
            <a:stCxn id="137" idx="2"/>
            <a:endCxn id="141" idx="0"/>
          </p:cNvCxnSpPr>
          <p:nvPr/>
        </p:nvCxnSpPr>
        <p:spPr>
          <a:xfrm>
            <a:off x="7774672" y="3487742"/>
            <a:ext cx="0" cy="2711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4" name="Connecteur droit avec flèche 143"/>
          <p:cNvCxnSpPr>
            <a:stCxn id="138" idx="2"/>
            <a:endCxn id="142" idx="0"/>
          </p:cNvCxnSpPr>
          <p:nvPr/>
        </p:nvCxnSpPr>
        <p:spPr>
          <a:xfrm>
            <a:off x="10758138" y="3514174"/>
            <a:ext cx="8237" cy="2417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5" name="Rectangle 144"/>
          <p:cNvSpPr/>
          <p:nvPr/>
        </p:nvSpPr>
        <p:spPr>
          <a:xfrm>
            <a:off x="6588191" y="5168419"/>
            <a:ext cx="2372961" cy="40767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CA" dirty="0"/>
              <a:t>Niveau d’assurance</a:t>
            </a:r>
          </a:p>
        </p:txBody>
      </p:sp>
      <p:sp>
        <p:nvSpPr>
          <p:cNvPr id="146" name="Rectangle 145"/>
          <p:cNvSpPr/>
          <p:nvPr/>
        </p:nvSpPr>
        <p:spPr>
          <a:xfrm>
            <a:off x="9571657" y="5201046"/>
            <a:ext cx="2389433" cy="40767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CA" dirty="0"/>
              <a:t>Niveau d’assurance</a:t>
            </a:r>
          </a:p>
        </p:txBody>
      </p:sp>
      <p:sp>
        <p:nvSpPr>
          <p:cNvPr id="147" name="Rectangle 146"/>
          <p:cNvSpPr/>
          <p:nvPr/>
        </p:nvSpPr>
        <p:spPr>
          <a:xfrm>
            <a:off x="6571722" y="5819303"/>
            <a:ext cx="1344931" cy="3429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CA" dirty="0"/>
              <a:t>Raisonnable</a:t>
            </a:r>
          </a:p>
        </p:txBody>
      </p:sp>
      <p:sp>
        <p:nvSpPr>
          <p:cNvPr id="148" name="Rectangle 147"/>
          <p:cNvSpPr/>
          <p:nvPr/>
        </p:nvSpPr>
        <p:spPr>
          <a:xfrm>
            <a:off x="7977887" y="5818668"/>
            <a:ext cx="969091" cy="3429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CA" dirty="0"/>
              <a:t>Limitée</a:t>
            </a:r>
          </a:p>
        </p:txBody>
      </p:sp>
      <p:cxnSp>
        <p:nvCxnSpPr>
          <p:cNvPr id="149" name="Connecteur droit avec flèche 148"/>
          <p:cNvCxnSpPr>
            <a:stCxn id="145" idx="2"/>
            <a:endCxn id="147" idx="0"/>
          </p:cNvCxnSpPr>
          <p:nvPr/>
        </p:nvCxnSpPr>
        <p:spPr>
          <a:xfrm flipH="1">
            <a:off x="7244188" y="5576089"/>
            <a:ext cx="530484" cy="2432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0" name="Connecteur droit avec flèche 149"/>
          <p:cNvCxnSpPr>
            <a:stCxn id="145" idx="2"/>
            <a:endCxn id="148" idx="0"/>
          </p:cNvCxnSpPr>
          <p:nvPr/>
        </p:nvCxnSpPr>
        <p:spPr>
          <a:xfrm>
            <a:off x="7774672" y="5576089"/>
            <a:ext cx="687761" cy="2425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1" name="Rectangle 150"/>
          <p:cNvSpPr/>
          <p:nvPr/>
        </p:nvSpPr>
        <p:spPr>
          <a:xfrm>
            <a:off x="9571658" y="5826451"/>
            <a:ext cx="1344931" cy="3429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CA" dirty="0"/>
              <a:t>Raisonnable</a:t>
            </a:r>
          </a:p>
        </p:txBody>
      </p:sp>
      <p:sp>
        <p:nvSpPr>
          <p:cNvPr id="152" name="Rectangle 151"/>
          <p:cNvSpPr/>
          <p:nvPr/>
        </p:nvSpPr>
        <p:spPr>
          <a:xfrm>
            <a:off x="10992000" y="5826451"/>
            <a:ext cx="969091" cy="3429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CA" dirty="0"/>
              <a:t>Limitée</a:t>
            </a:r>
          </a:p>
        </p:txBody>
      </p:sp>
      <p:cxnSp>
        <p:nvCxnSpPr>
          <p:cNvPr id="153" name="Connecteur droit avec flèche 152"/>
          <p:cNvCxnSpPr>
            <a:stCxn id="141" idx="2"/>
            <a:endCxn id="145" idx="0"/>
          </p:cNvCxnSpPr>
          <p:nvPr/>
        </p:nvCxnSpPr>
        <p:spPr>
          <a:xfrm>
            <a:off x="7774672" y="4969664"/>
            <a:ext cx="0" cy="1987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4" name="Connecteur droit avec flèche 153"/>
          <p:cNvCxnSpPr>
            <a:stCxn id="142" idx="2"/>
            <a:endCxn id="146" idx="0"/>
          </p:cNvCxnSpPr>
          <p:nvPr/>
        </p:nvCxnSpPr>
        <p:spPr>
          <a:xfrm flipH="1">
            <a:off x="10766374" y="4963725"/>
            <a:ext cx="1" cy="2373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5" name="Connecteur droit avec flèche 154"/>
          <p:cNvCxnSpPr>
            <a:stCxn id="146" idx="2"/>
            <a:endCxn id="151" idx="0"/>
          </p:cNvCxnSpPr>
          <p:nvPr/>
        </p:nvCxnSpPr>
        <p:spPr>
          <a:xfrm flipH="1">
            <a:off x="10244124" y="5608716"/>
            <a:ext cx="522250" cy="2177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6" name="Connecteur droit avec flèche 155"/>
          <p:cNvCxnSpPr>
            <a:stCxn id="146" idx="2"/>
            <a:endCxn id="152" idx="0"/>
          </p:cNvCxnSpPr>
          <p:nvPr/>
        </p:nvCxnSpPr>
        <p:spPr>
          <a:xfrm>
            <a:off x="10766374" y="5608716"/>
            <a:ext cx="710172" cy="2177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9" name="ZoneTexte 168"/>
          <p:cNvSpPr txBox="1"/>
          <p:nvPr/>
        </p:nvSpPr>
        <p:spPr>
          <a:xfrm>
            <a:off x="2526272" y="6328960"/>
            <a:ext cx="7349248"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fr-CA" b="1" dirty="0"/>
              <a:t>Si aucune assurance requise : proposez NCSC 4400 (ancien 9100 et 9110)</a:t>
            </a:r>
          </a:p>
        </p:txBody>
      </p:sp>
      <p:cxnSp>
        <p:nvCxnSpPr>
          <p:cNvPr id="171" name="Connecteur droit avec flèche 170"/>
          <p:cNvCxnSpPr>
            <a:stCxn id="13" idx="2"/>
            <a:endCxn id="136" idx="0"/>
          </p:cNvCxnSpPr>
          <p:nvPr/>
        </p:nvCxnSpPr>
        <p:spPr>
          <a:xfrm>
            <a:off x="9270522" y="1783397"/>
            <a:ext cx="4118" cy="7277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7417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1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7"/>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1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52"/>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5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9"/>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50"/>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15"/>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117"/>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55"/>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56"/>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69"/>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171"/>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36"/>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139"/>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140"/>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37"/>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138"/>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143"/>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141"/>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144"/>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142"/>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nodeType="clickEffect">
                                  <p:stCondLst>
                                    <p:cond delay="0"/>
                                  </p:stCondLst>
                                  <p:childTnLst>
                                    <p:set>
                                      <p:cBhvr>
                                        <p:cTn id="108" dur="1" fill="hold">
                                          <p:stCondLst>
                                            <p:cond delay="0"/>
                                          </p:stCondLst>
                                        </p:cTn>
                                        <p:tgtEl>
                                          <p:spTgt spid="153"/>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154"/>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145"/>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146"/>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149"/>
                                        </p:tgtEl>
                                        <p:attrNameLst>
                                          <p:attrName>style.visibility</p:attrName>
                                        </p:attrNameLst>
                                      </p:cBhvr>
                                      <p:to>
                                        <p:strVal val="visible"/>
                                      </p:to>
                                    </p:set>
                                  </p:childTnLst>
                                </p:cTn>
                              </p:par>
                              <p:par>
                                <p:cTn id="117" presetID="1" presetClass="entr" presetSubtype="0" fill="hold" nodeType="withEffect">
                                  <p:stCondLst>
                                    <p:cond delay="0"/>
                                  </p:stCondLst>
                                  <p:childTnLst>
                                    <p:set>
                                      <p:cBhvr>
                                        <p:cTn id="118" dur="1" fill="hold">
                                          <p:stCondLst>
                                            <p:cond delay="0"/>
                                          </p:stCondLst>
                                        </p:cTn>
                                        <p:tgtEl>
                                          <p:spTgt spid="150"/>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147"/>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148"/>
                                        </p:tgtEl>
                                        <p:attrNameLst>
                                          <p:attrName>style.visibility</p:attrName>
                                        </p:attrNameLst>
                                      </p:cBhvr>
                                      <p:to>
                                        <p:strVal val="visible"/>
                                      </p:to>
                                    </p:set>
                                  </p:childTnLst>
                                </p:cTn>
                              </p:par>
                              <p:par>
                                <p:cTn id="123" presetID="1" presetClass="entr" presetSubtype="0" fill="hold" nodeType="withEffect">
                                  <p:stCondLst>
                                    <p:cond delay="0"/>
                                  </p:stCondLst>
                                  <p:childTnLst>
                                    <p:set>
                                      <p:cBhvr>
                                        <p:cTn id="124" dur="1" fill="hold">
                                          <p:stCondLst>
                                            <p:cond delay="0"/>
                                          </p:stCondLst>
                                        </p:cTn>
                                        <p:tgtEl>
                                          <p:spTgt spid="155"/>
                                        </p:tgtEl>
                                        <p:attrNameLst>
                                          <p:attrName>style.visibility</p:attrName>
                                        </p:attrNameLst>
                                      </p:cBhvr>
                                      <p:to>
                                        <p:strVal val="visible"/>
                                      </p:to>
                                    </p:set>
                                  </p:childTnLst>
                                </p:cTn>
                              </p:par>
                              <p:par>
                                <p:cTn id="125" presetID="1" presetClass="entr" presetSubtype="0" fill="hold" nodeType="withEffect">
                                  <p:stCondLst>
                                    <p:cond delay="0"/>
                                  </p:stCondLst>
                                  <p:childTnLst>
                                    <p:set>
                                      <p:cBhvr>
                                        <p:cTn id="126" dur="1" fill="hold">
                                          <p:stCondLst>
                                            <p:cond delay="0"/>
                                          </p:stCondLst>
                                        </p:cTn>
                                        <p:tgtEl>
                                          <p:spTgt spid="156"/>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151"/>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1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2" grpId="0" animBg="1"/>
      <p:bldP spid="13" grpId="0" animBg="1"/>
      <p:bldP spid="14" grpId="0" animBg="1"/>
      <p:bldP spid="15" grpId="0" animBg="1"/>
      <p:bldP spid="16" grpId="0" animBg="1"/>
      <p:bldP spid="17" grpId="0" animBg="1"/>
      <p:bldP spid="26" grpId="0" animBg="1"/>
      <p:bldP spid="27" grpId="0" animBg="1"/>
      <p:bldP spid="47" grpId="0" animBg="1"/>
      <p:bldP spid="48" grpId="0" animBg="1"/>
      <p:bldP spid="49" grpId="0" animBg="1"/>
      <p:bldP spid="50" grpId="0" animBg="1"/>
      <p:bldP spid="55" grpId="0" animBg="1"/>
      <p:bldP spid="56" grpId="0" animBg="1"/>
      <p:bldP spid="136" grpId="0" animBg="1"/>
      <p:bldP spid="137" grpId="0" animBg="1"/>
      <p:bldP spid="138" grpId="0" animBg="1"/>
      <p:bldP spid="141" grpId="0" animBg="1"/>
      <p:bldP spid="142" grpId="0" animBg="1"/>
      <p:bldP spid="145" grpId="0" animBg="1"/>
      <p:bldP spid="146" grpId="0" animBg="1"/>
      <p:bldP spid="147" grpId="0" animBg="1"/>
      <p:bldP spid="148" grpId="0" animBg="1"/>
      <p:bldP spid="151" grpId="0" animBg="1"/>
      <p:bldP spid="152" grpId="0" animBg="1"/>
      <p:bldP spid="169" grpId="0" animBg="1"/>
    </p:bldLst>
  </p:timing>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6"/>
          <p:cNvSpPr>
            <a:spLocks noGrp="1"/>
          </p:cNvSpPr>
          <p:nvPr>
            <p:ph type="title"/>
          </p:nvPr>
        </p:nvSpPr>
        <p:spPr>
          <a:xfrm>
            <a:off x="1184160" y="142485"/>
            <a:ext cx="9823680" cy="988033"/>
          </a:xfrm>
        </p:spPr>
        <p:txBody>
          <a:bodyPr>
            <a:normAutofit fontScale="90000"/>
          </a:bodyPr>
          <a:lstStyle/>
          <a:p>
            <a:pPr algn="ctr"/>
            <a:r>
              <a:rPr lang="fr-CA" b="1" dirty="0"/>
              <a:t>Structure de réponse – rapports spéciaux</a:t>
            </a:r>
            <a:br>
              <a:rPr lang="fr-CA" b="1" dirty="0"/>
            </a:br>
            <a:r>
              <a:rPr lang="fr-CA" b="1" dirty="0">
                <a:solidFill>
                  <a:srgbClr val="FF0000"/>
                </a:solidFill>
              </a:rPr>
              <a:t>(mauvais exemple)</a:t>
            </a:r>
            <a:endParaRPr lang="fr-CA" b="1" dirty="0"/>
          </a:p>
        </p:txBody>
      </p:sp>
      <p:sp>
        <p:nvSpPr>
          <p:cNvPr id="4" name="Espace réservé du numéro de diapositive 3"/>
          <p:cNvSpPr>
            <a:spLocks noGrp="1"/>
          </p:cNvSpPr>
          <p:nvPr>
            <p:ph type="sldNum" sz="quarter" idx="12"/>
          </p:nvPr>
        </p:nvSpPr>
        <p:spPr/>
        <p:txBody>
          <a:bodyPr/>
          <a:lstStyle/>
          <a:p>
            <a:fld id="{BB5DEC05-AB38-4F58-9609-FFF4AA167839}" type="slidenum">
              <a:rPr lang="fr-CA" smtClean="0"/>
              <a:t>5</a:t>
            </a:fld>
            <a:endParaRPr lang="fr-CA"/>
          </a:p>
        </p:txBody>
      </p:sp>
      <p:sp>
        <p:nvSpPr>
          <p:cNvPr id="5" name="Rectangle 4"/>
          <p:cNvSpPr/>
          <p:nvPr/>
        </p:nvSpPr>
        <p:spPr>
          <a:xfrm>
            <a:off x="2295330" y="1325817"/>
            <a:ext cx="5390260" cy="5466561"/>
          </a:xfrm>
          <a:prstGeom prst="rect">
            <a:avLst/>
          </a:prstGeom>
        </p:spPr>
        <p:txBody>
          <a:bodyPr wrap="square">
            <a:spAutoFit/>
          </a:bodyPr>
          <a:lstStyle/>
          <a:p>
            <a:pPr algn="just">
              <a:lnSpc>
                <a:spcPct val="107000"/>
              </a:lnSpc>
            </a:pPr>
            <a:r>
              <a:rPr lang="fr-CA" sz="2400" b="1" dirty="0">
                <a:latin typeface="Calibri" panose="020F0502020204030204" pitchFamily="34" charset="0"/>
                <a:ea typeface="Calibri" panose="020F0502020204030204" pitchFamily="34" charset="0"/>
                <a:cs typeface="Times New Roman" panose="02020603050405020304" pitchFamily="18" charset="0"/>
              </a:rPr>
              <a:t>Certification anti-allergène</a:t>
            </a:r>
          </a:p>
          <a:p>
            <a:pPr marL="411480" indent="-411480" algn="just">
              <a:lnSpc>
                <a:spcPct val="107000"/>
              </a:lnSpc>
              <a:buFont typeface="Wingdings" panose="05000000000000000000" pitchFamily="2" charset="2"/>
              <a:buChar char=""/>
            </a:pPr>
            <a:endParaRPr lang="fr-CA" sz="1680" b="1"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pPr>
            <a:r>
              <a:rPr lang="fr-CA" sz="1680" dirty="0">
                <a:latin typeface="Calibri" panose="020F0502020204030204" pitchFamily="34" charset="0"/>
                <a:ea typeface="Calibri" panose="020F0502020204030204" pitchFamily="34" charset="0"/>
                <a:cs typeface="Times New Roman" panose="02020603050405020304" pitchFamily="18" charset="0"/>
              </a:rPr>
              <a:t>Afin de vous assurer que votre produit n’engendra pas de réaction allergique, nous proposons deux niveaux d’assurance en fonction de la norme 3530.</a:t>
            </a:r>
          </a:p>
          <a:p>
            <a:pPr algn="just">
              <a:lnSpc>
                <a:spcPct val="107000"/>
              </a:lnSpc>
            </a:pPr>
            <a:endParaRPr lang="fr-CA" sz="168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pPr>
            <a:r>
              <a:rPr lang="fr-CA" sz="1680" dirty="0">
                <a:latin typeface="Calibri" panose="020F0502020204030204" pitchFamily="34" charset="0"/>
                <a:ea typeface="Calibri" panose="020F0502020204030204" pitchFamily="34" charset="0"/>
                <a:cs typeface="Times New Roman" panose="02020603050405020304" pitchFamily="18" charset="0"/>
              </a:rPr>
              <a:t>Option 1 : 3530 – Assurance raisonnable</a:t>
            </a:r>
          </a:p>
          <a:p>
            <a:pPr algn="just">
              <a:lnSpc>
                <a:spcPct val="107000"/>
              </a:lnSpc>
            </a:pPr>
            <a:r>
              <a:rPr lang="fr-CA" sz="1680" dirty="0">
                <a:latin typeface="Calibri" panose="020F0502020204030204" pitchFamily="34" charset="0"/>
                <a:ea typeface="Calibri" panose="020F0502020204030204" pitchFamily="34" charset="0"/>
                <a:cs typeface="Times New Roman" panose="02020603050405020304" pitchFamily="18" charset="0"/>
              </a:rPr>
              <a:t>	Avantages</a:t>
            </a:r>
          </a:p>
          <a:p>
            <a:pPr marL="1440180" lvl="2" indent="-342900" algn="just">
              <a:lnSpc>
                <a:spcPct val="107000"/>
              </a:lnSpc>
              <a:buFont typeface="Arial" panose="020B0604020202020204" pitchFamily="34" charset="0"/>
              <a:buChar char="•"/>
            </a:pPr>
            <a:r>
              <a:rPr lang="fr-CA" sz="1680" dirty="0">
                <a:latin typeface="Calibri" panose="020F0502020204030204" pitchFamily="34" charset="0"/>
                <a:ea typeface="Calibri" panose="020F0502020204030204" pitchFamily="34" charset="0"/>
                <a:cs typeface="Times New Roman" panose="02020603050405020304" pitchFamily="18" charset="0"/>
              </a:rPr>
              <a:t>Assurance élevée</a:t>
            </a:r>
          </a:p>
          <a:p>
            <a:pPr lvl="2" algn="just">
              <a:lnSpc>
                <a:spcPct val="107000"/>
              </a:lnSpc>
            </a:pPr>
            <a:r>
              <a:rPr lang="fr-CA" sz="1680" dirty="0">
                <a:latin typeface="Calibri" panose="020F0502020204030204" pitchFamily="34" charset="0"/>
                <a:ea typeface="Calibri" panose="020F0502020204030204" pitchFamily="34" charset="0"/>
                <a:cs typeface="Times New Roman" panose="02020603050405020304" pitchFamily="18" charset="0"/>
              </a:rPr>
              <a:t>Désavantages</a:t>
            </a:r>
          </a:p>
          <a:p>
            <a:pPr marL="1440180" lvl="2" indent="-342900" algn="just">
              <a:lnSpc>
                <a:spcPct val="107000"/>
              </a:lnSpc>
              <a:buFont typeface="Arial" panose="020B0604020202020204" pitchFamily="34" charset="0"/>
              <a:buChar char="•"/>
            </a:pPr>
            <a:r>
              <a:rPr lang="fr-CA" sz="1680" dirty="0">
                <a:latin typeface="Calibri" panose="020F0502020204030204" pitchFamily="34" charset="0"/>
                <a:ea typeface="Calibri" panose="020F0502020204030204" pitchFamily="34" charset="0"/>
                <a:cs typeface="Times New Roman" panose="02020603050405020304" pitchFamily="18" charset="0"/>
              </a:rPr>
              <a:t>Beaucoup de procédures</a:t>
            </a:r>
          </a:p>
          <a:p>
            <a:pPr marL="1440180" lvl="2" indent="-342900" algn="just">
              <a:lnSpc>
                <a:spcPct val="107000"/>
              </a:lnSpc>
              <a:buFont typeface="Arial" panose="020B0604020202020204" pitchFamily="34" charset="0"/>
              <a:buChar char="•"/>
            </a:pPr>
            <a:r>
              <a:rPr lang="fr-CA" sz="1680" dirty="0">
                <a:latin typeface="Calibri" panose="020F0502020204030204" pitchFamily="34" charset="0"/>
                <a:ea typeface="Calibri" panose="020F0502020204030204" pitchFamily="34" charset="0"/>
                <a:cs typeface="Times New Roman" panose="02020603050405020304" pitchFamily="18" charset="0"/>
              </a:rPr>
              <a:t>Coûteux</a:t>
            </a:r>
          </a:p>
          <a:p>
            <a:pPr algn="just">
              <a:lnSpc>
                <a:spcPct val="107000"/>
              </a:lnSpc>
            </a:pPr>
            <a:r>
              <a:rPr lang="fr-CA" sz="1680" dirty="0">
                <a:latin typeface="Calibri" panose="020F0502020204030204" pitchFamily="34" charset="0"/>
                <a:ea typeface="Calibri" panose="020F0502020204030204" pitchFamily="34" charset="0"/>
                <a:cs typeface="Times New Roman" panose="02020603050405020304" pitchFamily="18" charset="0"/>
              </a:rPr>
              <a:t>Option 2 : 3530 – Assurance limitée</a:t>
            </a:r>
          </a:p>
          <a:p>
            <a:pPr algn="just">
              <a:lnSpc>
                <a:spcPct val="107000"/>
              </a:lnSpc>
            </a:pPr>
            <a:r>
              <a:rPr lang="fr-CA" sz="1680" dirty="0">
                <a:latin typeface="Calibri" panose="020F0502020204030204" pitchFamily="34" charset="0"/>
                <a:ea typeface="Calibri" panose="020F0502020204030204" pitchFamily="34" charset="0"/>
                <a:cs typeface="Times New Roman" panose="02020603050405020304" pitchFamily="18" charset="0"/>
              </a:rPr>
              <a:t> 	Avantages</a:t>
            </a:r>
          </a:p>
          <a:p>
            <a:pPr marL="1440180" lvl="2" indent="-342900" algn="just">
              <a:lnSpc>
                <a:spcPct val="107000"/>
              </a:lnSpc>
              <a:buFont typeface="Arial" panose="020B0604020202020204" pitchFamily="34" charset="0"/>
              <a:buChar char="•"/>
            </a:pPr>
            <a:r>
              <a:rPr lang="fr-CA" sz="1680" dirty="0">
                <a:latin typeface="Calibri" panose="020F0502020204030204" pitchFamily="34" charset="0"/>
                <a:ea typeface="Calibri" panose="020F0502020204030204" pitchFamily="34" charset="0"/>
                <a:cs typeface="Times New Roman" panose="02020603050405020304" pitchFamily="18" charset="0"/>
              </a:rPr>
              <a:t>Moins cher</a:t>
            </a:r>
          </a:p>
          <a:p>
            <a:pPr marL="1440180" lvl="2" indent="-342900" algn="just">
              <a:lnSpc>
                <a:spcPct val="107000"/>
              </a:lnSpc>
              <a:buFont typeface="Arial" panose="020B0604020202020204" pitchFamily="34" charset="0"/>
              <a:buChar char="•"/>
            </a:pPr>
            <a:r>
              <a:rPr lang="fr-CA" sz="1680" dirty="0">
                <a:latin typeface="Calibri" panose="020F0502020204030204" pitchFamily="34" charset="0"/>
                <a:ea typeface="Calibri" panose="020F0502020204030204" pitchFamily="34" charset="0"/>
                <a:cs typeface="Times New Roman" panose="02020603050405020304" pitchFamily="18" charset="0"/>
              </a:rPr>
              <a:t>Moins de procédures</a:t>
            </a:r>
          </a:p>
          <a:p>
            <a:pPr lvl="2" algn="just">
              <a:lnSpc>
                <a:spcPct val="107000"/>
              </a:lnSpc>
            </a:pPr>
            <a:r>
              <a:rPr lang="fr-CA" sz="1680" dirty="0">
                <a:latin typeface="Calibri" panose="020F0502020204030204" pitchFamily="34" charset="0"/>
                <a:ea typeface="Calibri" panose="020F0502020204030204" pitchFamily="34" charset="0"/>
                <a:cs typeface="Times New Roman" panose="02020603050405020304" pitchFamily="18" charset="0"/>
              </a:rPr>
              <a:t>Désavantages</a:t>
            </a:r>
          </a:p>
          <a:p>
            <a:pPr marL="1440180" lvl="2" indent="-342900" algn="just">
              <a:lnSpc>
                <a:spcPct val="107000"/>
              </a:lnSpc>
              <a:buFont typeface="Arial" panose="020B0604020202020204" pitchFamily="34" charset="0"/>
              <a:buChar char="•"/>
            </a:pPr>
            <a:r>
              <a:rPr lang="fr-CA" sz="1680" dirty="0">
                <a:latin typeface="Calibri" panose="020F0502020204030204" pitchFamily="34" charset="0"/>
                <a:ea typeface="Calibri" panose="020F0502020204030204" pitchFamily="34" charset="0"/>
                <a:cs typeface="Times New Roman" panose="02020603050405020304" pitchFamily="18" charset="0"/>
              </a:rPr>
              <a:t>Assurance faible</a:t>
            </a:r>
            <a:endParaRPr lang="fr-CA" sz="1680" b="1"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pPr>
            <a:r>
              <a:rPr lang="fr-CA" sz="1680" b="1" dirty="0">
                <a:latin typeface="Calibri" panose="020F0502020204030204" pitchFamily="34" charset="0"/>
                <a:ea typeface="Calibri" panose="020F0502020204030204" pitchFamily="34" charset="0"/>
                <a:cs typeface="Times New Roman" panose="02020603050405020304" pitchFamily="18" charset="0"/>
              </a:rPr>
              <a:t>Conclusion : Je recommande l’option 1</a:t>
            </a:r>
            <a:endParaRPr lang="fr-CA" sz="168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2" descr="Interdite, Interdit, Aucun, Panneau De Signalisatio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4060" y="2712607"/>
            <a:ext cx="2176145" cy="2176145"/>
          </a:xfrm>
          <a:prstGeom prst="rect">
            <a:avLst/>
          </a:prstGeom>
          <a:noFill/>
          <a:extLst>
            <a:ext uri="{909E8E84-426E-40DD-AFC4-6F175D3DCCD1}">
              <a14:hiddenFill xmlns:a14="http://schemas.microsoft.com/office/drawing/2010/main">
                <a:solidFill>
                  <a:srgbClr val="FFFFFF"/>
                </a:solidFill>
              </a14:hiddenFill>
            </a:ext>
          </a:extLst>
        </p:spPr>
      </p:pic>
      <p:sp>
        <p:nvSpPr>
          <p:cNvPr id="7" name="ZoneTexte 6"/>
          <p:cNvSpPr txBox="1"/>
          <p:nvPr/>
        </p:nvSpPr>
        <p:spPr>
          <a:xfrm>
            <a:off x="9585970" y="4888752"/>
            <a:ext cx="2731770" cy="261610"/>
          </a:xfrm>
          <a:prstGeom prst="rect">
            <a:avLst/>
          </a:prstGeom>
          <a:noFill/>
        </p:spPr>
        <p:txBody>
          <a:bodyPr wrap="square" rtlCol="0">
            <a:spAutoFit/>
          </a:bodyPr>
          <a:lstStyle/>
          <a:p>
            <a:r>
              <a:rPr lang="fr-CA" sz="1100" i="1" dirty="0"/>
              <a:t>Crédit photo : </a:t>
            </a:r>
            <a:r>
              <a:rPr lang="fr-CA" sz="1100" i="1" dirty="0" err="1"/>
              <a:t>Pixabay</a:t>
            </a:r>
            <a:endParaRPr lang="fr-CA" sz="1100" i="1" dirty="0"/>
          </a:p>
        </p:txBody>
      </p:sp>
      <p:sp>
        <p:nvSpPr>
          <p:cNvPr id="2" name="Espace réservé du pied de page 1"/>
          <p:cNvSpPr>
            <a:spLocks noGrp="1"/>
          </p:cNvSpPr>
          <p:nvPr>
            <p:ph type="ftr" sz="quarter" idx="11"/>
          </p:nvPr>
        </p:nvSpPr>
        <p:spPr>
          <a:xfrm>
            <a:off x="10037951" y="6470841"/>
            <a:ext cx="2048542" cy="365125"/>
          </a:xfrm>
        </p:spPr>
        <p:txBody>
          <a:bodyPr/>
          <a:lstStyle/>
          <a:p>
            <a:r>
              <a:rPr lang="fr-CA" dirty="0"/>
              <a:t>© Hugo Lesley - HEC Montréal</a:t>
            </a:r>
          </a:p>
        </p:txBody>
      </p:sp>
    </p:spTree>
    <p:extLst>
      <p:ext uri="{BB962C8B-B14F-4D97-AF65-F5344CB8AC3E}">
        <p14:creationId xmlns:p14="http://schemas.microsoft.com/office/powerpoint/2010/main" val="2262208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6"/>
          <p:cNvSpPr>
            <a:spLocks noGrp="1"/>
          </p:cNvSpPr>
          <p:nvPr>
            <p:ph type="title"/>
          </p:nvPr>
        </p:nvSpPr>
        <p:spPr>
          <a:xfrm>
            <a:off x="1184160" y="131791"/>
            <a:ext cx="9823680" cy="988033"/>
          </a:xfrm>
        </p:spPr>
        <p:txBody>
          <a:bodyPr>
            <a:normAutofit fontScale="90000"/>
          </a:bodyPr>
          <a:lstStyle/>
          <a:p>
            <a:pPr algn="ctr"/>
            <a:r>
              <a:rPr lang="fr-CA" b="1" dirty="0"/>
              <a:t>Structure de réponse – rapports spéciaux</a:t>
            </a:r>
            <a:br>
              <a:rPr lang="fr-CA" b="1" dirty="0"/>
            </a:br>
            <a:r>
              <a:rPr lang="fr-CA" b="1" dirty="0">
                <a:solidFill>
                  <a:srgbClr val="FF0000"/>
                </a:solidFill>
              </a:rPr>
              <a:t>(bon exemple)</a:t>
            </a:r>
            <a:endParaRPr lang="fr-CA" b="1" dirty="0"/>
          </a:p>
        </p:txBody>
      </p:sp>
      <p:sp>
        <p:nvSpPr>
          <p:cNvPr id="4" name="Espace réservé du numéro de diapositive 3"/>
          <p:cNvSpPr>
            <a:spLocks noGrp="1"/>
          </p:cNvSpPr>
          <p:nvPr>
            <p:ph type="sldNum" sz="quarter" idx="12"/>
          </p:nvPr>
        </p:nvSpPr>
        <p:spPr>
          <a:xfrm>
            <a:off x="11443956" y="6330118"/>
            <a:ext cx="551167" cy="365125"/>
          </a:xfrm>
        </p:spPr>
        <p:txBody>
          <a:bodyPr/>
          <a:lstStyle/>
          <a:p>
            <a:fld id="{BB5DEC05-AB38-4F58-9609-FFF4AA167839}" type="slidenum">
              <a:rPr lang="fr-CA" smtClean="0"/>
              <a:t>6</a:t>
            </a:fld>
            <a:endParaRPr lang="fr-CA"/>
          </a:p>
        </p:txBody>
      </p:sp>
      <p:sp>
        <p:nvSpPr>
          <p:cNvPr id="5" name="Rectangle 4"/>
          <p:cNvSpPr/>
          <p:nvPr/>
        </p:nvSpPr>
        <p:spPr>
          <a:xfrm>
            <a:off x="1499106" y="1473836"/>
            <a:ext cx="10496017" cy="4390369"/>
          </a:xfrm>
          <a:prstGeom prst="rect">
            <a:avLst/>
          </a:prstGeom>
        </p:spPr>
        <p:txBody>
          <a:bodyPr wrap="square">
            <a:spAutoFit/>
          </a:bodyPr>
          <a:lstStyle/>
          <a:p>
            <a:pPr algn="just">
              <a:lnSpc>
                <a:spcPct val="107000"/>
              </a:lnSpc>
            </a:pPr>
            <a:r>
              <a:rPr lang="fr-CA" sz="2160" b="1" dirty="0">
                <a:latin typeface="Calibri" panose="020F0502020204030204" pitchFamily="34" charset="0"/>
                <a:ea typeface="Calibri" panose="020F0502020204030204" pitchFamily="34" charset="0"/>
                <a:cs typeface="Times New Roman" panose="02020603050405020304" pitchFamily="18" charset="0"/>
              </a:rPr>
              <a:t>Certification anti-allergène</a:t>
            </a:r>
          </a:p>
          <a:p>
            <a:pPr marL="411480" indent="-411480" algn="just">
              <a:lnSpc>
                <a:spcPct val="107000"/>
              </a:lnSpc>
              <a:buFont typeface="Wingdings" panose="05000000000000000000" pitchFamily="2" charset="2"/>
              <a:buChar char=""/>
            </a:pPr>
            <a:endParaRPr lang="fr-CA" sz="1260" b="1"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pPr>
            <a:r>
              <a:rPr lang="fr-CA" sz="1260" dirty="0">
                <a:latin typeface="Calibri" panose="020F0502020204030204" pitchFamily="34" charset="0"/>
                <a:ea typeface="Calibri" panose="020F0502020204030204" pitchFamily="34" charset="0"/>
                <a:cs typeface="Times New Roman" panose="02020603050405020304" pitchFamily="18" charset="0"/>
              </a:rPr>
              <a:t>Afin de vous assurer que votre produit n’engendra pas de réaction allergique, nous proposons deux niveaux d’assurance en fonction de la norme 3531.</a:t>
            </a:r>
          </a:p>
          <a:p>
            <a:pPr algn="just">
              <a:lnSpc>
                <a:spcPct val="107000"/>
              </a:lnSpc>
            </a:pPr>
            <a:endParaRPr lang="fr-CA" sz="126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pPr>
            <a:r>
              <a:rPr lang="fr-CA" sz="1260" dirty="0">
                <a:latin typeface="Calibri" panose="020F0502020204030204" pitchFamily="34" charset="0"/>
                <a:ea typeface="Calibri" panose="020F0502020204030204" pitchFamily="34" charset="0"/>
                <a:cs typeface="Times New Roman" panose="02020603050405020304" pitchFamily="18" charset="0"/>
              </a:rPr>
              <a:t>Option 1 : 3531 – Assurance raisonnable</a:t>
            </a:r>
          </a:p>
          <a:p>
            <a:pPr algn="just">
              <a:lnSpc>
                <a:spcPct val="107000"/>
              </a:lnSpc>
            </a:pPr>
            <a:endParaRPr lang="fr-CA" sz="126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pPr>
            <a:r>
              <a:rPr lang="fr-CA" sz="1260" dirty="0">
                <a:latin typeface="Calibri" panose="020F0502020204030204" pitchFamily="34" charset="0"/>
                <a:ea typeface="Calibri" panose="020F0502020204030204" pitchFamily="34" charset="0"/>
                <a:cs typeface="Times New Roman" panose="02020603050405020304" pitchFamily="18" charset="0"/>
              </a:rPr>
              <a:t>Bien qu’il s’agisse du produit le plus coûteux, il s’agit du rapport qui vous donnera le plus haut niveau d’assurance. Comme les réactions allergiques peuvent être mortelles, il y a lieu de considérer le meilleur niveau d’assurance disponible. Certainement, le quantité de travail sera importante mais elle permettra de s’assurer que chacun des critères pouvant déclencher une réaction allergique sera testé d’une manière appropriée et suffisante afin d’étayer notre opinion. Par exemple, des échantillons de produits seront envoyés pour analyse dans des laboratoires indépendants que nous aurons soigneusement sélectionnés.</a:t>
            </a:r>
          </a:p>
          <a:p>
            <a:pPr algn="just">
              <a:lnSpc>
                <a:spcPct val="107000"/>
              </a:lnSpc>
            </a:pPr>
            <a:r>
              <a:rPr lang="fr-CA" sz="1260" dirty="0">
                <a:latin typeface="Calibri" panose="020F0502020204030204" pitchFamily="34" charset="0"/>
                <a:ea typeface="Calibri" panose="020F0502020204030204" pitchFamily="34" charset="0"/>
                <a:cs typeface="Times New Roman" panose="02020603050405020304" pitchFamily="18" charset="0"/>
              </a:rPr>
              <a:t>	</a:t>
            </a:r>
          </a:p>
          <a:p>
            <a:pPr algn="just">
              <a:lnSpc>
                <a:spcPct val="107000"/>
              </a:lnSpc>
            </a:pPr>
            <a:r>
              <a:rPr lang="fr-CA" sz="1260" dirty="0">
                <a:latin typeface="Calibri" panose="020F0502020204030204" pitchFamily="34" charset="0"/>
                <a:ea typeface="Calibri" panose="020F0502020204030204" pitchFamily="34" charset="0"/>
                <a:cs typeface="Times New Roman" panose="02020603050405020304" pitchFamily="18" charset="0"/>
              </a:rPr>
              <a:t>Option 2 : 3531 – Assurance limitée</a:t>
            </a:r>
          </a:p>
          <a:p>
            <a:pPr algn="just">
              <a:lnSpc>
                <a:spcPct val="107000"/>
              </a:lnSpc>
            </a:pPr>
            <a:endParaRPr lang="fr-CA" sz="126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pPr>
            <a:r>
              <a:rPr lang="fr-CA" sz="1260" dirty="0">
                <a:latin typeface="Calibri" panose="020F0502020204030204" pitchFamily="34" charset="0"/>
                <a:ea typeface="Calibri" panose="020F0502020204030204" pitchFamily="34" charset="0"/>
                <a:cs typeface="Times New Roman" panose="02020603050405020304" pitchFamily="18" charset="0"/>
              </a:rPr>
              <a:t>Cette option est beaucoup moins couteuse que la précédente et elle fournirait un niveau d’assurance plus faible. Dans ce cas, le travail du praticien en exercice vise a valider le caractère raisonnable des moyens que vous mettez en place afin de vous assurer de l’absence d’allergène. Par exemple, nous allons discuter avec le personnel clé de votre entreprise afin qu’ils nous expliquent comment ils s’y prennent pour respecter les divers critères. Nous allons également consulter vos processus internes et discuter avec vos gens du contrôle de la qualité afin apprécier les résultats de leurs travaux.</a:t>
            </a:r>
          </a:p>
          <a:p>
            <a:pPr algn="just">
              <a:lnSpc>
                <a:spcPct val="107000"/>
              </a:lnSpc>
            </a:pPr>
            <a:endParaRPr lang="fr-CA" sz="1260" b="1"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pPr>
            <a:r>
              <a:rPr lang="fr-CA" sz="1260" b="1" dirty="0">
                <a:latin typeface="Calibri" panose="020F0502020204030204" pitchFamily="34" charset="0"/>
                <a:ea typeface="Calibri" panose="020F0502020204030204" pitchFamily="34" charset="0"/>
                <a:cs typeface="Times New Roman" panose="02020603050405020304" pitchFamily="18" charset="0"/>
              </a:rPr>
              <a:t>Recommandation : Compte tenu de l’ampleur des dommages réputationnels que pourraient engendrés la mise en marché d’un produit sans allergène qui causerait une réaction allergique, nous vous recommandons fortement l’option 1 puisque celle-ci vous donnera le plus haut niveau d’assurance possible. .</a:t>
            </a:r>
            <a:endParaRPr lang="fr-CA" sz="1260" dirty="0">
              <a:latin typeface="Calibri" panose="020F0502020204030204" pitchFamily="34" charset="0"/>
              <a:ea typeface="Calibri" panose="020F0502020204030204" pitchFamily="34" charset="0"/>
              <a:cs typeface="Times New Roman" panose="02020603050405020304" pitchFamily="18" charset="0"/>
            </a:endParaRPr>
          </a:p>
        </p:txBody>
      </p:sp>
      <p:sp>
        <p:nvSpPr>
          <p:cNvPr id="2" name="Espace réservé du pied de page 1"/>
          <p:cNvSpPr>
            <a:spLocks noGrp="1"/>
          </p:cNvSpPr>
          <p:nvPr>
            <p:ph type="ftr" sz="quarter" idx="11"/>
          </p:nvPr>
        </p:nvSpPr>
        <p:spPr>
          <a:xfrm>
            <a:off x="9783308" y="6512680"/>
            <a:ext cx="1814526" cy="365125"/>
          </a:xfrm>
        </p:spPr>
        <p:txBody>
          <a:bodyPr/>
          <a:lstStyle/>
          <a:p>
            <a:r>
              <a:rPr lang="fr-CA" dirty="0"/>
              <a:t>© Hugo Lesley - HEC Montréal</a:t>
            </a:r>
          </a:p>
        </p:txBody>
      </p:sp>
    </p:spTree>
    <p:extLst>
      <p:ext uri="{BB962C8B-B14F-4D97-AF65-F5344CB8AC3E}">
        <p14:creationId xmlns:p14="http://schemas.microsoft.com/office/powerpoint/2010/main" val="3672380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e">
  <a:themeElements>
    <a:clrScheme name="Bleu">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Parallaxe">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e">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Parallaxe</Template>
  <TotalTime>11896</TotalTime>
  <Words>831</Words>
  <Application>Microsoft Office PowerPoint</Application>
  <PresentationFormat>Grand écran</PresentationFormat>
  <Paragraphs>95</Paragraphs>
  <Slides>6</Slides>
  <Notes>3</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6</vt:i4>
      </vt:variant>
    </vt:vector>
  </HeadingPairs>
  <TitlesOfParts>
    <vt:vector size="11" baseType="lpstr">
      <vt:lpstr>Arial</vt:lpstr>
      <vt:lpstr>Calibri</vt:lpstr>
      <vt:lpstr>Corbel</vt:lpstr>
      <vt:lpstr>Wingdings</vt:lpstr>
      <vt:lpstr>Parallaxe</vt:lpstr>
      <vt:lpstr>Rôles et mandats en comptabilité professionnelle COMP40911</vt:lpstr>
      <vt:lpstr>Le cas des rapports spéciaux  en certification</vt:lpstr>
      <vt:lpstr>Structure de réponse – rapports spéciaux</vt:lpstr>
      <vt:lpstr>Aide à la décision</vt:lpstr>
      <vt:lpstr>Structure de réponse – rapports spéciaux (mauvais exemple)</vt:lpstr>
      <vt:lpstr>Structure de réponse – rapports spéciaux (bon exemple)</vt:lpstr>
    </vt:vector>
  </TitlesOfParts>
  <Company>HEC Montréal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Rôle et mandats en comptabilité professionnelle COMP40911</dc:title>
  <dc:creator>hugo lesley</dc:creator>
  <cp:lastModifiedBy>SOKRI Marzouk</cp:lastModifiedBy>
  <cp:revision>75</cp:revision>
  <dcterms:created xsi:type="dcterms:W3CDTF">2020-03-31T19:23:16Z</dcterms:created>
  <dcterms:modified xsi:type="dcterms:W3CDTF">2025-01-20T19:19:50Z</dcterms:modified>
</cp:coreProperties>
</file>