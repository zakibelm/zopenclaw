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xml" ContentType="application/vnd.openxmlformats-officedocument.presentationml.tags+xml"/>
  <Override PartName="/ppt/notesSlides/notesSlide26.xml" ContentType="application/vnd.openxmlformats-officedocument.presentationml.notesSlide+xml"/>
  <Override PartName="/ppt/tags/tag2.xml" ContentType="application/vnd.openxmlformats-officedocument.presentationml.tags+xml"/>
  <Override PartName="/ppt/notesSlides/notesSlide27.xml" ContentType="application/vnd.openxmlformats-officedocument.presentationml.notesSlide+xml"/>
  <Override PartName="/ppt/tags/tag3.xml" ContentType="application/vnd.openxmlformats-officedocument.presentationml.tags+xml"/>
  <Override PartName="/ppt/notesSlides/notesSlide2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9" r:id="rId1"/>
  </p:sldMasterIdLst>
  <p:notesMasterIdLst>
    <p:notesMasterId r:id="rId98"/>
  </p:notesMasterIdLst>
  <p:sldIdLst>
    <p:sldId id="256" r:id="rId2"/>
    <p:sldId id="540" r:id="rId3"/>
    <p:sldId id="541" r:id="rId4"/>
    <p:sldId id="257" r:id="rId5"/>
    <p:sldId id="1221" r:id="rId6"/>
    <p:sldId id="543" r:id="rId7"/>
    <p:sldId id="545" r:id="rId8"/>
    <p:sldId id="1251" r:id="rId9"/>
    <p:sldId id="621" r:id="rId10"/>
    <p:sldId id="622" r:id="rId11"/>
    <p:sldId id="623" r:id="rId12"/>
    <p:sldId id="624" r:id="rId13"/>
    <p:sldId id="625" r:id="rId14"/>
    <p:sldId id="626" r:id="rId15"/>
    <p:sldId id="627" r:id="rId16"/>
    <p:sldId id="1210" r:id="rId17"/>
    <p:sldId id="590" r:id="rId18"/>
    <p:sldId id="589" r:id="rId19"/>
    <p:sldId id="1212" r:id="rId20"/>
    <p:sldId id="1214" r:id="rId21"/>
    <p:sldId id="548" r:id="rId22"/>
    <p:sldId id="344" r:id="rId23"/>
    <p:sldId id="501" r:id="rId24"/>
    <p:sldId id="445" r:id="rId25"/>
    <p:sldId id="446" r:id="rId26"/>
    <p:sldId id="447" r:id="rId27"/>
    <p:sldId id="549" r:id="rId28"/>
    <p:sldId id="1211" r:id="rId29"/>
    <p:sldId id="358" r:id="rId30"/>
    <p:sldId id="602" r:id="rId31"/>
    <p:sldId id="611" r:id="rId32"/>
    <p:sldId id="1250" r:id="rId33"/>
    <p:sldId id="1233" r:id="rId34"/>
    <p:sldId id="608" r:id="rId35"/>
    <p:sldId id="610" r:id="rId36"/>
    <p:sldId id="262" r:id="rId37"/>
    <p:sldId id="377" r:id="rId38"/>
    <p:sldId id="378" r:id="rId39"/>
    <p:sldId id="1230" r:id="rId40"/>
    <p:sldId id="379" r:id="rId41"/>
    <p:sldId id="618" r:id="rId42"/>
    <p:sldId id="452" r:id="rId43"/>
    <p:sldId id="453" r:id="rId44"/>
    <p:sldId id="454" r:id="rId45"/>
    <p:sldId id="440" r:id="rId46"/>
    <p:sldId id="1219" r:id="rId47"/>
    <p:sldId id="455" r:id="rId48"/>
    <p:sldId id="456" r:id="rId49"/>
    <p:sldId id="441" r:id="rId50"/>
    <p:sldId id="637" r:id="rId51"/>
    <p:sldId id="561" r:id="rId52"/>
    <p:sldId id="539" r:id="rId53"/>
    <p:sldId id="550" r:id="rId54"/>
    <p:sldId id="292" r:id="rId55"/>
    <p:sldId id="442" r:id="rId56"/>
    <p:sldId id="552" r:id="rId57"/>
    <p:sldId id="1217" r:id="rId58"/>
    <p:sldId id="1218" r:id="rId59"/>
    <p:sldId id="609" r:id="rId60"/>
    <p:sldId id="555" r:id="rId61"/>
    <p:sldId id="474" r:id="rId62"/>
    <p:sldId id="1246" r:id="rId63"/>
    <p:sldId id="1247" r:id="rId64"/>
    <p:sldId id="1248" r:id="rId65"/>
    <p:sldId id="1249" r:id="rId66"/>
    <p:sldId id="560" r:id="rId67"/>
    <p:sldId id="482" r:id="rId68"/>
    <p:sldId id="483" r:id="rId69"/>
    <p:sldId id="587" r:id="rId70"/>
    <p:sldId id="1252" r:id="rId71"/>
    <p:sldId id="485" r:id="rId72"/>
    <p:sldId id="487" r:id="rId73"/>
    <p:sldId id="488" r:id="rId74"/>
    <p:sldId id="699" r:id="rId75"/>
    <p:sldId id="701" r:id="rId76"/>
    <p:sldId id="700" r:id="rId77"/>
    <p:sldId id="1207" r:id="rId78"/>
    <p:sldId id="1209" r:id="rId79"/>
    <p:sldId id="1020" r:id="rId80"/>
    <p:sldId id="761" r:id="rId81"/>
    <p:sldId id="915" r:id="rId82"/>
    <p:sldId id="916" r:id="rId83"/>
    <p:sldId id="1208" r:id="rId84"/>
    <p:sldId id="764" r:id="rId85"/>
    <p:sldId id="1216" r:id="rId86"/>
    <p:sldId id="1224" r:id="rId87"/>
    <p:sldId id="805" r:id="rId88"/>
    <p:sldId id="808" r:id="rId89"/>
    <p:sldId id="983" r:id="rId90"/>
    <p:sldId id="595" r:id="rId91"/>
    <p:sldId id="632" r:id="rId92"/>
    <p:sldId id="596" r:id="rId93"/>
    <p:sldId id="634" r:id="rId94"/>
    <p:sldId id="1240" r:id="rId95"/>
    <p:sldId id="1225" r:id="rId96"/>
    <p:sldId id="1227" r:id="rId9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945"/>
    <a:srgbClr val="FFC55B"/>
    <a:srgbClr val="FFD5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43" autoAdjust="0"/>
    <p:restoredTop sz="90847" autoAdjust="0"/>
  </p:normalViewPr>
  <p:slideViewPr>
    <p:cSldViewPr snapToGrid="0">
      <p:cViewPr>
        <p:scale>
          <a:sx n="87" d="100"/>
          <a:sy n="87" d="100"/>
        </p:scale>
        <p:origin x="398" y="58"/>
      </p:cViewPr>
      <p:guideLst/>
    </p:cSldViewPr>
  </p:slideViewPr>
  <p:outlineViewPr>
    <p:cViewPr>
      <p:scale>
        <a:sx n="33" d="100"/>
        <a:sy n="33" d="100"/>
      </p:scale>
      <p:origin x="0" y="-65936"/>
    </p:cViewPr>
  </p:outlineViewPr>
  <p:notesTextViewPr>
    <p:cViewPr>
      <p:scale>
        <a:sx n="1" d="1"/>
        <a:sy n="1" d="1"/>
      </p:scale>
      <p:origin x="0" y="0"/>
    </p:cViewPr>
  </p:notesTextViewPr>
  <p:sorterViewPr>
    <p:cViewPr varScale="1">
      <p:scale>
        <a:sx n="140" d="100"/>
        <a:sy n="14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B1EA85-991B-47BA-AD2D-F2084F49ABEA}"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fr-CA"/>
        </a:p>
      </dgm:t>
    </dgm:pt>
    <dgm:pt modelId="{D3EBC51A-9950-4F7D-94A7-294A59ECC79B}">
      <dgm:prSet phldrT="[Texte]" custT="1"/>
      <dgm:spPr/>
      <dgm:t>
        <a:bodyPr/>
        <a:lstStyle/>
        <a:p>
          <a:r>
            <a:rPr lang="fr-CA" sz="2400" b="1" dirty="0">
              <a:solidFill>
                <a:schemeClr val="bg1"/>
              </a:solidFill>
            </a:rPr>
            <a:t>Tolérable</a:t>
          </a:r>
          <a:endParaRPr lang="fr-CA" sz="1800" b="1" dirty="0">
            <a:solidFill>
              <a:schemeClr val="bg1"/>
            </a:solidFill>
          </a:endParaRPr>
        </a:p>
      </dgm:t>
    </dgm:pt>
    <dgm:pt modelId="{7A8C774D-B8A9-41DB-A11E-8840EFA2A117}" type="parTrans" cxnId="{84ABF50C-BBE4-45E4-BD1D-37B926B997D9}">
      <dgm:prSet/>
      <dgm:spPr/>
      <dgm:t>
        <a:bodyPr/>
        <a:lstStyle/>
        <a:p>
          <a:endParaRPr lang="fr-CA" sz="4000">
            <a:solidFill>
              <a:schemeClr val="bg2"/>
            </a:solidFill>
          </a:endParaRPr>
        </a:p>
      </dgm:t>
    </dgm:pt>
    <dgm:pt modelId="{6EA30436-58C4-4897-8D7F-E951B18889B2}" type="sibTrans" cxnId="{84ABF50C-BBE4-45E4-BD1D-37B926B997D9}">
      <dgm:prSet/>
      <dgm:spPr/>
      <dgm:t>
        <a:bodyPr/>
        <a:lstStyle/>
        <a:p>
          <a:endParaRPr lang="fr-CA" sz="4000">
            <a:solidFill>
              <a:schemeClr val="bg2"/>
            </a:solidFill>
          </a:endParaRPr>
        </a:p>
      </dgm:t>
    </dgm:pt>
    <dgm:pt modelId="{43086739-06C3-4611-A738-5EFE898CF30A}">
      <dgm:prSet phldrT="[Texte]" custT="1"/>
      <dgm:spPr>
        <a:solidFill>
          <a:schemeClr val="bg1">
            <a:lumMod val="85000"/>
          </a:schemeClr>
        </a:solidFill>
      </dgm:spPr>
      <dgm:t>
        <a:bodyPr/>
        <a:lstStyle/>
        <a:p>
          <a:r>
            <a:rPr lang="fr-CA" sz="1600" b="1" dirty="0">
              <a:solidFill>
                <a:schemeClr val="tx1">
                  <a:lumMod val="95000"/>
                  <a:lumOff val="5000"/>
                </a:schemeClr>
              </a:solidFill>
            </a:rPr>
            <a:t>Zone grise (éthique)</a:t>
          </a:r>
        </a:p>
      </dgm:t>
    </dgm:pt>
    <dgm:pt modelId="{E079681B-8E85-40BF-A5AF-0CDD48880CF9}" type="parTrans" cxnId="{38C68237-36A2-4C77-A6A9-E89CB65DB724}">
      <dgm:prSet/>
      <dgm:spPr/>
      <dgm:t>
        <a:bodyPr/>
        <a:lstStyle/>
        <a:p>
          <a:endParaRPr lang="fr-CA" sz="4000">
            <a:solidFill>
              <a:schemeClr val="bg2"/>
            </a:solidFill>
          </a:endParaRPr>
        </a:p>
      </dgm:t>
    </dgm:pt>
    <dgm:pt modelId="{809C500B-21D1-4282-B9EA-A33D69562955}" type="sibTrans" cxnId="{38C68237-36A2-4C77-A6A9-E89CB65DB724}">
      <dgm:prSet/>
      <dgm:spPr/>
      <dgm:t>
        <a:bodyPr/>
        <a:lstStyle/>
        <a:p>
          <a:endParaRPr lang="fr-CA" sz="4000">
            <a:solidFill>
              <a:schemeClr val="bg2"/>
            </a:solidFill>
          </a:endParaRPr>
        </a:p>
      </dgm:t>
    </dgm:pt>
    <dgm:pt modelId="{32A29ACF-D385-45E2-B034-74EA0AF922A0}">
      <dgm:prSet phldrT="[Texte]" custT="1"/>
      <dgm:spPr/>
      <dgm:t>
        <a:bodyPr/>
        <a:lstStyle/>
        <a:p>
          <a:r>
            <a:rPr lang="fr-CA" sz="1800" b="1" dirty="0">
              <a:solidFill>
                <a:schemeClr val="bg1"/>
              </a:solidFill>
            </a:rPr>
            <a:t>Intolérable (déontologie)</a:t>
          </a:r>
        </a:p>
      </dgm:t>
    </dgm:pt>
    <dgm:pt modelId="{6D2F60F6-64E1-4116-80FD-6DDCA84A2F1B}" type="parTrans" cxnId="{C2F509FC-D79B-47A1-BB92-B8EA55A8F3F3}">
      <dgm:prSet/>
      <dgm:spPr/>
      <dgm:t>
        <a:bodyPr/>
        <a:lstStyle/>
        <a:p>
          <a:endParaRPr lang="fr-CA" sz="4000">
            <a:solidFill>
              <a:schemeClr val="bg2"/>
            </a:solidFill>
          </a:endParaRPr>
        </a:p>
      </dgm:t>
    </dgm:pt>
    <dgm:pt modelId="{A41968C1-53D7-4194-8CA6-F84065D24367}" type="sibTrans" cxnId="{C2F509FC-D79B-47A1-BB92-B8EA55A8F3F3}">
      <dgm:prSet/>
      <dgm:spPr/>
      <dgm:t>
        <a:bodyPr/>
        <a:lstStyle/>
        <a:p>
          <a:endParaRPr lang="fr-CA" sz="4000">
            <a:solidFill>
              <a:schemeClr val="bg2"/>
            </a:solidFill>
          </a:endParaRPr>
        </a:p>
      </dgm:t>
    </dgm:pt>
    <dgm:pt modelId="{13427B59-E26B-4E01-B238-9B634AB1993F}" type="pres">
      <dgm:prSet presAssocID="{EBB1EA85-991B-47BA-AD2D-F2084F49ABEA}" presName="Name0" presStyleCnt="0">
        <dgm:presLayoutVars>
          <dgm:chMax val="7"/>
          <dgm:resizeHandles val="exact"/>
        </dgm:presLayoutVars>
      </dgm:prSet>
      <dgm:spPr/>
    </dgm:pt>
    <dgm:pt modelId="{A12087E6-9DBB-406B-A45D-BED400D11BDC}" type="pres">
      <dgm:prSet presAssocID="{EBB1EA85-991B-47BA-AD2D-F2084F49ABEA}" presName="comp1" presStyleCnt="0"/>
      <dgm:spPr/>
    </dgm:pt>
    <dgm:pt modelId="{783C137D-9226-42D6-9D40-400D7911A13E}" type="pres">
      <dgm:prSet presAssocID="{EBB1EA85-991B-47BA-AD2D-F2084F49ABEA}" presName="circle1" presStyleLbl="node1" presStyleIdx="0" presStyleCnt="3" custScaleX="297807" custLinFactNeighborX="1349" custLinFactNeighborY="4600"/>
      <dgm:spPr/>
    </dgm:pt>
    <dgm:pt modelId="{E6D513EB-415E-4D96-B196-BAA48DDB305F}" type="pres">
      <dgm:prSet presAssocID="{EBB1EA85-991B-47BA-AD2D-F2084F49ABEA}" presName="c1text" presStyleLbl="node1" presStyleIdx="0" presStyleCnt="3">
        <dgm:presLayoutVars>
          <dgm:bulletEnabled val="1"/>
        </dgm:presLayoutVars>
      </dgm:prSet>
      <dgm:spPr/>
    </dgm:pt>
    <dgm:pt modelId="{8FD5A461-62CB-4DBE-B7AB-11C52332CBFB}" type="pres">
      <dgm:prSet presAssocID="{EBB1EA85-991B-47BA-AD2D-F2084F49ABEA}" presName="comp2" presStyleCnt="0"/>
      <dgm:spPr/>
    </dgm:pt>
    <dgm:pt modelId="{9665AAEF-74EB-4B2E-BC85-56449F736D64}" type="pres">
      <dgm:prSet presAssocID="{EBB1EA85-991B-47BA-AD2D-F2084F49ABEA}" presName="circle2" presStyleLbl="node1" presStyleIdx="1" presStyleCnt="3" custScaleX="343910" custScaleY="79342" custLinFactNeighborX="-651" custLinFactNeighborY="-16589"/>
      <dgm:spPr/>
    </dgm:pt>
    <dgm:pt modelId="{33FC44DB-4B3B-4650-939E-0308BC0C7538}" type="pres">
      <dgm:prSet presAssocID="{EBB1EA85-991B-47BA-AD2D-F2084F49ABEA}" presName="c2text" presStyleLbl="node1" presStyleIdx="1" presStyleCnt="3">
        <dgm:presLayoutVars>
          <dgm:bulletEnabled val="1"/>
        </dgm:presLayoutVars>
      </dgm:prSet>
      <dgm:spPr/>
    </dgm:pt>
    <dgm:pt modelId="{F3DA3B64-BD28-4C49-95FD-DD62536BB732}" type="pres">
      <dgm:prSet presAssocID="{EBB1EA85-991B-47BA-AD2D-F2084F49ABEA}" presName="comp3" presStyleCnt="0"/>
      <dgm:spPr/>
    </dgm:pt>
    <dgm:pt modelId="{6AFA096A-2F2F-4968-A619-9B71A1E72FF3}" type="pres">
      <dgm:prSet presAssocID="{EBB1EA85-991B-47BA-AD2D-F2084F49ABEA}" presName="circle3" presStyleLbl="node1" presStyleIdx="2" presStyleCnt="3" custScaleX="434925" custScaleY="58551" custLinFactNeighborX="396" custLinFactNeighborY="-47475"/>
      <dgm:spPr/>
    </dgm:pt>
    <dgm:pt modelId="{4DEB607B-FB6B-41C6-9105-BA98BA397D86}" type="pres">
      <dgm:prSet presAssocID="{EBB1EA85-991B-47BA-AD2D-F2084F49ABEA}" presName="c3text" presStyleLbl="node1" presStyleIdx="2" presStyleCnt="3">
        <dgm:presLayoutVars>
          <dgm:bulletEnabled val="1"/>
        </dgm:presLayoutVars>
      </dgm:prSet>
      <dgm:spPr/>
    </dgm:pt>
  </dgm:ptLst>
  <dgm:cxnLst>
    <dgm:cxn modelId="{84ABF50C-BBE4-45E4-BD1D-37B926B997D9}" srcId="{EBB1EA85-991B-47BA-AD2D-F2084F49ABEA}" destId="{D3EBC51A-9950-4F7D-94A7-294A59ECC79B}" srcOrd="0" destOrd="0" parTransId="{7A8C774D-B8A9-41DB-A11E-8840EFA2A117}" sibTransId="{6EA30436-58C4-4897-8D7F-E951B18889B2}"/>
    <dgm:cxn modelId="{6FBCEA29-682C-0544-B944-F4033019C804}" type="presOf" srcId="{43086739-06C3-4611-A738-5EFE898CF30A}" destId="{9665AAEF-74EB-4B2E-BC85-56449F736D64}" srcOrd="0" destOrd="0" presId="urn:microsoft.com/office/officeart/2005/8/layout/venn2"/>
    <dgm:cxn modelId="{095A9131-D989-7E4F-83EB-B6BECC0F7744}" type="presOf" srcId="{EBB1EA85-991B-47BA-AD2D-F2084F49ABEA}" destId="{13427B59-E26B-4E01-B238-9B634AB1993F}" srcOrd="0" destOrd="0" presId="urn:microsoft.com/office/officeart/2005/8/layout/venn2"/>
    <dgm:cxn modelId="{38C68237-36A2-4C77-A6A9-E89CB65DB724}" srcId="{EBB1EA85-991B-47BA-AD2D-F2084F49ABEA}" destId="{43086739-06C3-4611-A738-5EFE898CF30A}" srcOrd="1" destOrd="0" parTransId="{E079681B-8E85-40BF-A5AF-0CDD48880CF9}" sibTransId="{809C500B-21D1-4282-B9EA-A33D69562955}"/>
    <dgm:cxn modelId="{63D0E45E-33C8-C64E-8205-8447C2EA3770}" type="presOf" srcId="{32A29ACF-D385-45E2-B034-74EA0AF922A0}" destId="{4DEB607B-FB6B-41C6-9105-BA98BA397D86}" srcOrd="1" destOrd="0" presId="urn:microsoft.com/office/officeart/2005/8/layout/venn2"/>
    <dgm:cxn modelId="{8E4F9C64-2EBA-1945-8C5F-C5EC857F6ECF}" type="presOf" srcId="{32A29ACF-D385-45E2-B034-74EA0AF922A0}" destId="{6AFA096A-2F2F-4968-A619-9B71A1E72FF3}" srcOrd="0" destOrd="0" presId="urn:microsoft.com/office/officeart/2005/8/layout/venn2"/>
    <dgm:cxn modelId="{4B34D24D-4E95-8544-8E72-98030BFA3E0D}" type="presOf" srcId="{D3EBC51A-9950-4F7D-94A7-294A59ECC79B}" destId="{E6D513EB-415E-4D96-B196-BAA48DDB305F}" srcOrd="1" destOrd="0" presId="urn:microsoft.com/office/officeart/2005/8/layout/venn2"/>
    <dgm:cxn modelId="{E9FE6353-EF9B-6F4B-8915-9436DCB5EF36}" type="presOf" srcId="{43086739-06C3-4611-A738-5EFE898CF30A}" destId="{33FC44DB-4B3B-4650-939E-0308BC0C7538}" srcOrd="1" destOrd="0" presId="urn:microsoft.com/office/officeart/2005/8/layout/venn2"/>
    <dgm:cxn modelId="{10683DF0-DA67-7B4D-9D57-AD4AA3F383B6}" type="presOf" srcId="{D3EBC51A-9950-4F7D-94A7-294A59ECC79B}" destId="{783C137D-9226-42D6-9D40-400D7911A13E}" srcOrd="0" destOrd="0" presId="urn:microsoft.com/office/officeart/2005/8/layout/venn2"/>
    <dgm:cxn modelId="{C2F509FC-D79B-47A1-BB92-B8EA55A8F3F3}" srcId="{EBB1EA85-991B-47BA-AD2D-F2084F49ABEA}" destId="{32A29ACF-D385-45E2-B034-74EA0AF922A0}" srcOrd="2" destOrd="0" parTransId="{6D2F60F6-64E1-4116-80FD-6DDCA84A2F1B}" sibTransId="{A41968C1-53D7-4194-8CA6-F84065D24367}"/>
    <dgm:cxn modelId="{5D24DDD1-8748-7044-8C8C-B355C994DB3A}" type="presParOf" srcId="{13427B59-E26B-4E01-B238-9B634AB1993F}" destId="{A12087E6-9DBB-406B-A45D-BED400D11BDC}" srcOrd="0" destOrd="0" presId="urn:microsoft.com/office/officeart/2005/8/layout/venn2"/>
    <dgm:cxn modelId="{D201147A-C364-AA4D-8770-E8752BED613E}" type="presParOf" srcId="{A12087E6-9DBB-406B-A45D-BED400D11BDC}" destId="{783C137D-9226-42D6-9D40-400D7911A13E}" srcOrd="0" destOrd="0" presId="urn:microsoft.com/office/officeart/2005/8/layout/venn2"/>
    <dgm:cxn modelId="{A916F9A2-514C-E842-AFC6-9953505EA03D}" type="presParOf" srcId="{A12087E6-9DBB-406B-A45D-BED400D11BDC}" destId="{E6D513EB-415E-4D96-B196-BAA48DDB305F}" srcOrd="1" destOrd="0" presId="urn:microsoft.com/office/officeart/2005/8/layout/venn2"/>
    <dgm:cxn modelId="{521C3D2A-1035-6D46-B4A0-85B7220B6527}" type="presParOf" srcId="{13427B59-E26B-4E01-B238-9B634AB1993F}" destId="{8FD5A461-62CB-4DBE-B7AB-11C52332CBFB}" srcOrd="1" destOrd="0" presId="urn:microsoft.com/office/officeart/2005/8/layout/venn2"/>
    <dgm:cxn modelId="{14EEE26B-4063-4D4A-9351-5931CB3F5827}" type="presParOf" srcId="{8FD5A461-62CB-4DBE-B7AB-11C52332CBFB}" destId="{9665AAEF-74EB-4B2E-BC85-56449F736D64}" srcOrd="0" destOrd="0" presId="urn:microsoft.com/office/officeart/2005/8/layout/venn2"/>
    <dgm:cxn modelId="{811FE00B-1ABA-7B43-8224-EC65F67CBD00}" type="presParOf" srcId="{8FD5A461-62CB-4DBE-B7AB-11C52332CBFB}" destId="{33FC44DB-4B3B-4650-939E-0308BC0C7538}" srcOrd="1" destOrd="0" presId="urn:microsoft.com/office/officeart/2005/8/layout/venn2"/>
    <dgm:cxn modelId="{65557C7E-7D8A-DC46-B010-75AC691AB10B}" type="presParOf" srcId="{13427B59-E26B-4E01-B238-9B634AB1993F}" destId="{F3DA3B64-BD28-4C49-95FD-DD62536BB732}" srcOrd="2" destOrd="0" presId="urn:microsoft.com/office/officeart/2005/8/layout/venn2"/>
    <dgm:cxn modelId="{016B0AAC-13E9-E347-946D-4BE85DC84F62}" type="presParOf" srcId="{F3DA3B64-BD28-4C49-95FD-DD62536BB732}" destId="{6AFA096A-2F2F-4968-A619-9B71A1E72FF3}" srcOrd="0" destOrd="0" presId="urn:microsoft.com/office/officeart/2005/8/layout/venn2"/>
    <dgm:cxn modelId="{B733D778-CBF4-6848-B3F2-0C8A10E2CF7C}" type="presParOf" srcId="{F3DA3B64-BD28-4C49-95FD-DD62536BB732}" destId="{4DEB607B-FB6B-41C6-9105-BA98BA397D86}" srcOrd="1" destOrd="0" presId="urn:microsoft.com/office/officeart/2005/8/layout/ven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62AF6B0-1484-4F41-92D4-8FDA3E61973D}" type="doc">
      <dgm:prSet loTypeId="urn:microsoft.com/office/officeart/2005/8/layout/vProcess5" loCatId="process" qsTypeId="urn:microsoft.com/office/officeart/2005/8/quickstyle/simple4" qsCatId="simple" csTypeId="urn:microsoft.com/office/officeart/2005/8/colors/colorful5" csCatId="colorful" phldr="1"/>
      <dgm:spPr/>
      <dgm:t>
        <a:bodyPr/>
        <a:lstStyle/>
        <a:p>
          <a:endParaRPr lang="fr-CA"/>
        </a:p>
      </dgm:t>
    </dgm:pt>
    <dgm:pt modelId="{1C7457EA-3005-4511-8BB4-B7AB72C84A4C}">
      <dgm:prSet phldrT="[Texte]" custT="1"/>
      <dgm:spPr>
        <a:solidFill>
          <a:srgbClr val="00B050"/>
        </a:solidFill>
      </dgm:spPr>
      <dgm:t>
        <a:bodyPr/>
        <a:lstStyle/>
        <a:p>
          <a:r>
            <a:rPr lang="fr-CA" sz="3200" dirty="0"/>
            <a:t>ÉVÈNEMENTS ou SITUATIONS ?</a:t>
          </a:r>
        </a:p>
      </dgm:t>
    </dgm:pt>
    <dgm:pt modelId="{592998BA-5203-4066-B773-E1317A58E088}" type="parTrans" cxnId="{37AD6BD9-2F4C-4CA4-A065-127EEFCE728D}">
      <dgm:prSet/>
      <dgm:spPr/>
      <dgm:t>
        <a:bodyPr/>
        <a:lstStyle/>
        <a:p>
          <a:endParaRPr lang="fr-CA"/>
        </a:p>
      </dgm:t>
    </dgm:pt>
    <dgm:pt modelId="{ED3ABD3B-2306-4576-8091-52B05C1FC2B2}" type="sibTrans" cxnId="{37AD6BD9-2F4C-4CA4-A065-127EEFCE728D}">
      <dgm:prSet/>
      <dgm:spPr/>
      <dgm:t>
        <a:bodyPr/>
        <a:lstStyle/>
        <a:p>
          <a:endParaRPr lang="fr-CA"/>
        </a:p>
      </dgm:t>
    </dgm:pt>
    <dgm:pt modelId="{807DD67D-198E-4A46-92E4-65A8BC0A396F}">
      <dgm:prSet phldrT="[Texte]" custT="1"/>
      <dgm:spPr>
        <a:solidFill>
          <a:srgbClr val="FFA945"/>
        </a:solidFill>
      </dgm:spPr>
      <dgm:t>
        <a:bodyPr/>
        <a:lstStyle/>
        <a:p>
          <a:r>
            <a:rPr lang="fr-CA" sz="3200" dirty="0"/>
            <a:t>INCERTITUDES SIGNIFICATIVES ?</a:t>
          </a:r>
        </a:p>
      </dgm:t>
    </dgm:pt>
    <dgm:pt modelId="{EFAC84BB-4F47-4ECF-9144-2CC4FC85C376}" type="parTrans" cxnId="{63AF27E2-598D-42AD-B497-7AA73E2AC8BE}">
      <dgm:prSet/>
      <dgm:spPr/>
      <dgm:t>
        <a:bodyPr/>
        <a:lstStyle/>
        <a:p>
          <a:endParaRPr lang="fr-CA"/>
        </a:p>
      </dgm:t>
    </dgm:pt>
    <dgm:pt modelId="{AA95E282-511F-4262-8934-797178EC8AB0}" type="sibTrans" cxnId="{63AF27E2-598D-42AD-B497-7AA73E2AC8BE}">
      <dgm:prSet/>
      <dgm:spPr/>
      <dgm:t>
        <a:bodyPr/>
        <a:lstStyle/>
        <a:p>
          <a:endParaRPr lang="fr-CA"/>
        </a:p>
      </dgm:t>
    </dgm:pt>
    <dgm:pt modelId="{7B7E58FF-6BF8-47B5-AF4D-CBB17EEB4DEA}">
      <dgm:prSet phldrT="[Texte]" custT="1"/>
      <dgm:spPr>
        <a:solidFill>
          <a:srgbClr val="FF0000"/>
        </a:solidFill>
      </dgm:spPr>
      <dgm:t>
        <a:bodyPr/>
        <a:lstStyle/>
        <a:p>
          <a:r>
            <a:rPr lang="fr-CA" sz="3200" dirty="0"/>
            <a:t>APPLICATION INAPPROPRIÉE DE L’HCE ?</a:t>
          </a:r>
        </a:p>
      </dgm:t>
    </dgm:pt>
    <dgm:pt modelId="{16634289-E256-46DE-AA35-0EC9A3538933}" type="sibTrans" cxnId="{2FBA7159-4E5B-424F-A351-0CC25492A2B7}">
      <dgm:prSet/>
      <dgm:spPr/>
      <dgm:t>
        <a:bodyPr/>
        <a:lstStyle/>
        <a:p>
          <a:endParaRPr lang="fr-CA"/>
        </a:p>
      </dgm:t>
    </dgm:pt>
    <dgm:pt modelId="{C69AB8A2-A6C2-400E-9CAF-552C6D2860B2}" type="parTrans" cxnId="{2FBA7159-4E5B-424F-A351-0CC25492A2B7}">
      <dgm:prSet/>
      <dgm:spPr/>
      <dgm:t>
        <a:bodyPr/>
        <a:lstStyle/>
        <a:p>
          <a:endParaRPr lang="fr-CA"/>
        </a:p>
      </dgm:t>
    </dgm:pt>
    <dgm:pt modelId="{38CEAE0A-39DA-40D5-854E-9D3FFF0B7893}" type="pres">
      <dgm:prSet presAssocID="{362AF6B0-1484-4F41-92D4-8FDA3E61973D}" presName="outerComposite" presStyleCnt="0">
        <dgm:presLayoutVars>
          <dgm:chMax val="5"/>
          <dgm:dir/>
          <dgm:resizeHandles val="exact"/>
        </dgm:presLayoutVars>
      </dgm:prSet>
      <dgm:spPr/>
    </dgm:pt>
    <dgm:pt modelId="{09BB6A94-3F56-4550-9817-D23A66F7CE19}" type="pres">
      <dgm:prSet presAssocID="{362AF6B0-1484-4F41-92D4-8FDA3E61973D}" presName="dummyMaxCanvas" presStyleCnt="0">
        <dgm:presLayoutVars/>
      </dgm:prSet>
      <dgm:spPr/>
    </dgm:pt>
    <dgm:pt modelId="{0C1E43A3-6381-4C58-BBFA-FD2A39D1C31D}" type="pres">
      <dgm:prSet presAssocID="{362AF6B0-1484-4F41-92D4-8FDA3E61973D}" presName="ThreeNodes_1" presStyleLbl="node1" presStyleIdx="0" presStyleCnt="3" custScaleY="85201">
        <dgm:presLayoutVars>
          <dgm:bulletEnabled val="1"/>
        </dgm:presLayoutVars>
      </dgm:prSet>
      <dgm:spPr/>
    </dgm:pt>
    <dgm:pt modelId="{B3107042-4F5E-43BB-A203-E40BEBDE5C05}" type="pres">
      <dgm:prSet presAssocID="{362AF6B0-1484-4F41-92D4-8FDA3E61973D}" presName="ThreeNodes_2" presStyleLbl="node1" presStyleIdx="1" presStyleCnt="3" custScaleY="91837" custLinFactNeighborX="-1320" custLinFactNeighborY="1862">
        <dgm:presLayoutVars>
          <dgm:bulletEnabled val="1"/>
        </dgm:presLayoutVars>
      </dgm:prSet>
      <dgm:spPr/>
    </dgm:pt>
    <dgm:pt modelId="{0B315467-52AE-4E98-A517-4C5B1C7F84D0}" type="pres">
      <dgm:prSet presAssocID="{362AF6B0-1484-4F41-92D4-8FDA3E61973D}" presName="ThreeNodes_3" presStyleLbl="node1" presStyleIdx="2" presStyleCnt="3" custScaleX="102846" custScaleY="89435">
        <dgm:presLayoutVars>
          <dgm:bulletEnabled val="1"/>
        </dgm:presLayoutVars>
      </dgm:prSet>
      <dgm:spPr/>
    </dgm:pt>
    <dgm:pt modelId="{7A9FEA9D-73EA-4B05-9AAB-0E6B1F5B7BF5}" type="pres">
      <dgm:prSet presAssocID="{362AF6B0-1484-4F41-92D4-8FDA3E61973D}" presName="ThreeConn_1-2" presStyleLbl="fgAccFollowNode1" presStyleIdx="0" presStyleCnt="2">
        <dgm:presLayoutVars>
          <dgm:bulletEnabled val="1"/>
        </dgm:presLayoutVars>
      </dgm:prSet>
      <dgm:spPr/>
    </dgm:pt>
    <dgm:pt modelId="{05081BD2-B7C6-4D2B-8421-F366FD73BC13}" type="pres">
      <dgm:prSet presAssocID="{362AF6B0-1484-4F41-92D4-8FDA3E61973D}" presName="ThreeConn_2-3" presStyleLbl="fgAccFollowNode1" presStyleIdx="1" presStyleCnt="2">
        <dgm:presLayoutVars>
          <dgm:bulletEnabled val="1"/>
        </dgm:presLayoutVars>
      </dgm:prSet>
      <dgm:spPr/>
    </dgm:pt>
    <dgm:pt modelId="{8D900B11-CA56-4E01-AACF-B1EFE411228D}" type="pres">
      <dgm:prSet presAssocID="{362AF6B0-1484-4F41-92D4-8FDA3E61973D}" presName="ThreeNodes_1_text" presStyleLbl="node1" presStyleIdx="2" presStyleCnt="3">
        <dgm:presLayoutVars>
          <dgm:bulletEnabled val="1"/>
        </dgm:presLayoutVars>
      </dgm:prSet>
      <dgm:spPr/>
    </dgm:pt>
    <dgm:pt modelId="{ABAC2C1F-42FD-4057-87E9-CD566B949A5C}" type="pres">
      <dgm:prSet presAssocID="{362AF6B0-1484-4F41-92D4-8FDA3E61973D}" presName="ThreeNodes_2_text" presStyleLbl="node1" presStyleIdx="2" presStyleCnt="3">
        <dgm:presLayoutVars>
          <dgm:bulletEnabled val="1"/>
        </dgm:presLayoutVars>
      </dgm:prSet>
      <dgm:spPr/>
    </dgm:pt>
    <dgm:pt modelId="{664C044E-CD49-483A-A589-F86430A64A85}" type="pres">
      <dgm:prSet presAssocID="{362AF6B0-1484-4F41-92D4-8FDA3E61973D}" presName="ThreeNodes_3_text" presStyleLbl="node1" presStyleIdx="2" presStyleCnt="3">
        <dgm:presLayoutVars>
          <dgm:bulletEnabled val="1"/>
        </dgm:presLayoutVars>
      </dgm:prSet>
      <dgm:spPr/>
    </dgm:pt>
  </dgm:ptLst>
  <dgm:cxnLst>
    <dgm:cxn modelId="{1F157A0F-0A2C-4247-A5A2-74321D2389F6}" type="presOf" srcId="{7B7E58FF-6BF8-47B5-AF4D-CBB17EEB4DEA}" destId="{664C044E-CD49-483A-A589-F86430A64A85}" srcOrd="1" destOrd="0" presId="urn:microsoft.com/office/officeart/2005/8/layout/vProcess5"/>
    <dgm:cxn modelId="{923FAA1E-ACB1-493F-843F-B38282FCABCF}" type="presOf" srcId="{362AF6B0-1484-4F41-92D4-8FDA3E61973D}" destId="{38CEAE0A-39DA-40D5-854E-9D3FFF0B7893}" srcOrd="0" destOrd="0" presId="urn:microsoft.com/office/officeart/2005/8/layout/vProcess5"/>
    <dgm:cxn modelId="{3B2F1A32-4EAE-463A-B2D4-486483134320}" type="presOf" srcId="{7B7E58FF-6BF8-47B5-AF4D-CBB17EEB4DEA}" destId="{0B315467-52AE-4E98-A517-4C5B1C7F84D0}" srcOrd="0" destOrd="0" presId="urn:microsoft.com/office/officeart/2005/8/layout/vProcess5"/>
    <dgm:cxn modelId="{CA5D0433-3430-4193-9720-981D67A929A6}" type="presOf" srcId="{807DD67D-198E-4A46-92E4-65A8BC0A396F}" destId="{B3107042-4F5E-43BB-A203-E40BEBDE5C05}" srcOrd="0" destOrd="0" presId="urn:microsoft.com/office/officeart/2005/8/layout/vProcess5"/>
    <dgm:cxn modelId="{2FBA7159-4E5B-424F-A351-0CC25492A2B7}" srcId="{362AF6B0-1484-4F41-92D4-8FDA3E61973D}" destId="{7B7E58FF-6BF8-47B5-AF4D-CBB17EEB4DEA}" srcOrd="2" destOrd="0" parTransId="{C69AB8A2-A6C2-400E-9CAF-552C6D2860B2}" sibTransId="{16634289-E256-46DE-AA35-0EC9A3538933}"/>
    <dgm:cxn modelId="{2434625A-45EB-4E06-8338-9EA087038E56}" type="presOf" srcId="{1C7457EA-3005-4511-8BB4-B7AB72C84A4C}" destId="{0C1E43A3-6381-4C58-BBFA-FD2A39D1C31D}" srcOrd="0" destOrd="0" presId="urn:microsoft.com/office/officeart/2005/8/layout/vProcess5"/>
    <dgm:cxn modelId="{8568D07A-B4BA-4B91-9FFD-C876C13985E6}" type="presOf" srcId="{807DD67D-198E-4A46-92E4-65A8BC0A396F}" destId="{ABAC2C1F-42FD-4057-87E9-CD566B949A5C}" srcOrd="1" destOrd="0" presId="urn:microsoft.com/office/officeart/2005/8/layout/vProcess5"/>
    <dgm:cxn modelId="{CB2D2EA6-F922-46F0-AA8B-3D41F06B5263}" type="presOf" srcId="{1C7457EA-3005-4511-8BB4-B7AB72C84A4C}" destId="{8D900B11-CA56-4E01-AACF-B1EFE411228D}" srcOrd="1" destOrd="0" presId="urn:microsoft.com/office/officeart/2005/8/layout/vProcess5"/>
    <dgm:cxn modelId="{32BF5AB9-55A4-4CBE-829C-E48D5A25BBF2}" type="presOf" srcId="{ED3ABD3B-2306-4576-8091-52B05C1FC2B2}" destId="{7A9FEA9D-73EA-4B05-9AAB-0E6B1F5B7BF5}" srcOrd="0" destOrd="0" presId="urn:microsoft.com/office/officeart/2005/8/layout/vProcess5"/>
    <dgm:cxn modelId="{FE49A2C2-DC28-4F44-8C6F-AAF43695CC80}" type="presOf" srcId="{AA95E282-511F-4262-8934-797178EC8AB0}" destId="{05081BD2-B7C6-4D2B-8421-F366FD73BC13}" srcOrd="0" destOrd="0" presId="urn:microsoft.com/office/officeart/2005/8/layout/vProcess5"/>
    <dgm:cxn modelId="{37AD6BD9-2F4C-4CA4-A065-127EEFCE728D}" srcId="{362AF6B0-1484-4F41-92D4-8FDA3E61973D}" destId="{1C7457EA-3005-4511-8BB4-B7AB72C84A4C}" srcOrd="0" destOrd="0" parTransId="{592998BA-5203-4066-B773-E1317A58E088}" sibTransId="{ED3ABD3B-2306-4576-8091-52B05C1FC2B2}"/>
    <dgm:cxn modelId="{63AF27E2-598D-42AD-B497-7AA73E2AC8BE}" srcId="{362AF6B0-1484-4F41-92D4-8FDA3E61973D}" destId="{807DD67D-198E-4A46-92E4-65A8BC0A396F}" srcOrd="1" destOrd="0" parTransId="{EFAC84BB-4F47-4ECF-9144-2CC4FC85C376}" sibTransId="{AA95E282-511F-4262-8934-797178EC8AB0}"/>
    <dgm:cxn modelId="{16C9A3FB-0D2A-4D86-A5D6-8FD5026A802C}" type="presParOf" srcId="{38CEAE0A-39DA-40D5-854E-9D3FFF0B7893}" destId="{09BB6A94-3F56-4550-9817-D23A66F7CE19}" srcOrd="0" destOrd="0" presId="urn:microsoft.com/office/officeart/2005/8/layout/vProcess5"/>
    <dgm:cxn modelId="{6F7D0E77-D3A2-4CAF-962C-2FB1503C2815}" type="presParOf" srcId="{38CEAE0A-39DA-40D5-854E-9D3FFF0B7893}" destId="{0C1E43A3-6381-4C58-BBFA-FD2A39D1C31D}" srcOrd="1" destOrd="0" presId="urn:microsoft.com/office/officeart/2005/8/layout/vProcess5"/>
    <dgm:cxn modelId="{9FD10FA0-E05B-4A1C-801F-6EF647E348D4}" type="presParOf" srcId="{38CEAE0A-39DA-40D5-854E-9D3FFF0B7893}" destId="{B3107042-4F5E-43BB-A203-E40BEBDE5C05}" srcOrd="2" destOrd="0" presId="urn:microsoft.com/office/officeart/2005/8/layout/vProcess5"/>
    <dgm:cxn modelId="{F0D77EB3-7B6D-4DE5-AC42-5E0EBB182433}" type="presParOf" srcId="{38CEAE0A-39DA-40D5-854E-9D3FFF0B7893}" destId="{0B315467-52AE-4E98-A517-4C5B1C7F84D0}" srcOrd="3" destOrd="0" presId="urn:microsoft.com/office/officeart/2005/8/layout/vProcess5"/>
    <dgm:cxn modelId="{D6CD94E2-85B8-422C-A82D-9E629351039D}" type="presParOf" srcId="{38CEAE0A-39DA-40D5-854E-9D3FFF0B7893}" destId="{7A9FEA9D-73EA-4B05-9AAB-0E6B1F5B7BF5}" srcOrd="4" destOrd="0" presId="urn:microsoft.com/office/officeart/2005/8/layout/vProcess5"/>
    <dgm:cxn modelId="{84C2C601-B7F2-4988-B79A-05E6A8B0DD88}" type="presParOf" srcId="{38CEAE0A-39DA-40D5-854E-9D3FFF0B7893}" destId="{05081BD2-B7C6-4D2B-8421-F366FD73BC13}" srcOrd="5" destOrd="0" presId="urn:microsoft.com/office/officeart/2005/8/layout/vProcess5"/>
    <dgm:cxn modelId="{C838147B-0FC8-41DE-8211-31B7D907E76C}" type="presParOf" srcId="{38CEAE0A-39DA-40D5-854E-9D3FFF0B7893}" destId="{8D900B11-CA56-4E01-AACF-B1EFE411228D}" srcOrd="6" destOrd="0" presId="urn:microsoft.com/office/officeart/2005/8/layout/vProcess5"/>
    <dgm:cxn modelId="{E55DD8F8-D202-4122-90C6-D1335622E7CA}" type="presParOf" srcId="{38CEAE0A-39DA-40D5-854E-9D3FFF0B7893}" destId="{ABAC2C1F-42FD-4057-87E9-CD566B949A5C}" srcOrd="7" destOrd="0" presId="urn:microsoft.com/office/officeart/2005/8/layout/vProcess5"/>
    <dgm:cxn modelId="{7A106254-6845-471C-A4F9-58EE3C41D761}" type="presParOf" srcId="{38CEAE0A-39DA-40D5-854E-9D3FFF0B7893}" destId="{664C044E-CD49-483A-A589-F86430A64A85}"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3C137D-9226-42D6-9D40-400D7911A13E}">
      <dsp:nvSpPr>
        <dsp:cNvPr id="0" name=""/>
        <dsp:cNvSpPr/>
      </dsp:nvSpPr>
      <dsp:spPr>
        <a:xfrm>
          <a:off x="-1" y="0"/>
          <a:ext cx="5735992" cy="192607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fr-CA" sz="2400" b="1" kern="1200" dirty="0">
              <a:solidFill>
                <a:schemeClr val="bg1"/>
              </a:solidFill>
            </a:rPr>
            <a:t>Tolérable</a:t>
          </a:r>
          <a:endParaRPr lang="fr-CA" sz="1800" b="1" kern="1200" dirty="0">
            <a:solidFill>
              <a:schemeClr val="bg1"/>
            </a:solidFill>
          </a:endParaRPr>
        </a:p>
      </dsp:txBody>
      <dsp:txXfrm>
        <a:off x="1865629" y="96303"/>
        <a:ext cx="2004729" cy="288911"/>
      </dsp:txXfrm>
    </dsp:sp>
    <dsp:sp modelId="{9665AAEF-74EB-4B2E-BC85-56449F736D64}">
      <dsp:nvSpPr>
        <dsp:cNvPr id="0" name=""/>
        <dsp:cNvSpPr/>
      </dsp:nvSpPr>
      <dsp:spPr>
        <a:xfrm>
          <a:off x="374601" y="391089"/>
          <a:ext cx="4967978" cy="1146141"/>
        </a:xfrm>
        <a:prstGeom prst="ellipse">
          <a:avLst/>
        </a:prstGeom>
        <a:solidFill>
          <a:schemeClr val="bg1">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fr-CA" sz="1600" b="1" kern="1200" dirty="0">
              <a:solidFill>
                <a:schemeClr val="tx1">
                  <a:lumMod val="95000"/>
                  <a:lumOff val="5000"/>
                </a:schemeClr>
              </a:solidFill>
            </a:rPr>
            <a:t>Zone grise (éthique)</a:t>
          </a:r>
        </a:p>
      </dsp:txBody>
      <dsp:txXfrm>
        <a:off x="1701051" y="462723"/>
        <a:ext cx="2315078" cy="214901"/>
      </dsp:txXfrm>
    </dsp:sp>
    <dsp:sp modelId="{6AFA096A-2F2F-4968-A619-9B71A1E72FF3}">
      <dsp:nvSpPr>
        <dsp:cNvPr id="0" name=""/>
        <dsp:cNvSpPr/>
      </dsp:nvSpPr>
      <dsp:spPr>
        <a:xfrm>
          <a:off x="777560" y="705420"/>
          <a:ext cx="4188495" cy="56386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fr-CA" sz="1800" b="1" kern="1200" dirty="0">
              <a:solidFill>
                <a:schemeClr val="bg1"/>
              </a:solidFill>
            </a:rPr>
            <a:t>Intolérable (déontologie)</a:t>
          </a:r>
        </a:p>
      </dsp:txBody>
      <dsp:txXfrm>
        <a:off x="1390951" y="846388"/>
        <a:ext cx="2961713" cy="2819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1E43A3-6381-4C58-BBFA-FD2A39D1C31D}">
      <dsp:nvSpPr>
        <dsp:cNvPr id="0" name=""/>
        <dsp:cNvSpPr/>
      </dsp:nvSpPr>
      <dsp:spPr>
        <a:xfrm>
          <a:off x="-71429" y="109173"/>
          <a:ext cx="10039349" cy="1257074"/>
        </a:xfrm>
        <a:prstGeom prst="roundRect">
          <a:avLst>
            <a:gd name="adj" fmla="val 10000"/>
          </a:avLst>
        </a:prstGeom>
        <a:solidFill>
          <a:srgbClr val="00B050"/>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fr-CA" sz="3200" kern="1200" dirty="0"/>
            <a:t>ÉVÈNEMENTS ou SITUATIONS ?</a:t>
          </a:r>
        </a:p>
      </dsp:txBody>
      <dsp:txXfrm>
        <a:off x="-34611" y="145991"/>
        <a:ext cx="8460044" cy="1183438"/>
      </dsp:txXfrm>
    </dsp:sp>
    <dsp:sp modelId="{B3107042-4F5E-43BB-A203-E40BEBDE5C05}">
      <dsp:nvSpPr>
        <dsp:cNvPr id="0" name=""/>
        <dsp:cNvSpPr/>
      </dsp:nvSpPr>
      <dsp:spPr>
        <a:xfrm>
          <a:off x="681875" y="1809017"/>
          <a:ext cx="10039349" cy="1354983"/>
        </a:xfrm>
        <a:prstGeom prst="roundRect">
          <a:avLst>
            <a:gd name="adj" fmla="val 10000"/>
          </a:avLst>
        </a:prstGeom>
        <a:solidFill>
          <a:srgbClr val="FFA945"/>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fr-CA" sz="3200" kern="1200" dirty="0"/>
            <a:t>INCERTITUDES SIGNIFICATIVES ?</a:t>
          </a:r>
        </a:p>
      </dsp:txBody>
      <dsp:txXfrm>
        <a:off x="721561" y="1848703"/>
        <a:ext cx="8115127" cy="1275611"/>
      </dsp:txXfrm>
    </dsp:sp>
    <dsp:sp modelId="{0B315467-52AE-4E98-A517-4C5B1C7F84D0}">
      <dsp:nvSpPr>
        <dsp:cNvPr id="0" name=""/>
        <dsp:cNvSpPr/>
      </dsp:nvSpPr>
      <dsp:spPr>
        <a:xfrm>
          <a:off x="1557359" y="3520591"/>
          <a:ext cx="10325069" cy="1319544"/>
        </a:xfrm>
        <a:prstGeom prst="roundRect">
          <a:avLst>
            <a:gd name="adj" fmla="val 10000"/>
          </a:avLst>
        </a:prstGeom>
        <a:solidFill>
          <a:srgbClr val="FF0000"/>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fr-CA" sz="3200" kern="1200" dirty="0"/>
            <a:t>APPLICATION INAPPROPRIÉE DE L’HCE ?</a:t>
          </a:r>
        </a:p>
      </dsp:txBody>
      <dsp:txXfrm>
        <a:off x="1596007" y="3559239"/>
        <a:ext cx="8350419" cy="1242248"/>
      </dsp:txXfrm>
    </dsp:sp>
    <dsp:sp modelId="{7A9FEA9D-73EA-4B05-9AAB-0E6B1F5B7BF5}">
      <dsp:nvSpPr>
        <dsp:cNvPr id="0" name=""/>
        <dsp:cNvSpPr/>
      </dsp:nvSpPr>
      <dsp:spPr>
        <a:xfrm>
          <a:off x="9008894" y="1118862"/>
          <a:ext cx="959024" cy="959024"/>
        </a:xfrm>
        <a:prstGeom prst="downArrow">
          <a:avLst>
            <a:gd name="adj1" fmla="val 55000"/>
            <a:gd name="adj2" fmla="val 45000"/>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fr-CA" sz="3600" kern="1200"/>
        </a:p>
      </dsp:txBody>
      <dsp:txXfrm>
        <a:off x="9224674" y="1118862"/>
        <a:ext cx="527464" cy="721666"/>
      </dsp:txXfrm>
    </dsp:sp>
    <dsp:sp modelId="{05081BD2-B7C6-4D2B-8421-F366FD73BC13}">
      <dsp:nvSpPr>
        <dsp:cNvPr id="0" name=""/>
        <dsp:cNvSpPr/>
      </dsp:nvSpPr>
      <dsp:spPr>
        <a:xfrm>
          <a:off x="9894719" y="2830352"/>
          <a:ext cx="959024" cy="959024"/>
        </a:xfrm>
        <a:prstGeom prst="downArrow">
          <a:avLst>
            <a:gd name="adj1" fmla="val 55000"/>
            <a:gd name="adj2" fmla="val 45000"/>
          </a:avLst>
        </a:prstGeom>
        <a:solidFill>
          <a:schemeClr val="accent5">
            <a:tint val="40000"/>
            <a:alpha val="90000"/>
            <a:hueOff val="2048203"/>
            <a:satOff val="-18675"/>
            <a:lumOff val="-1825"/>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fr-CA" sz="3600" kern="1200"/>
        </a:p>
      </dsp:txBody>
      <dsp:txXfrm>
        <a:off x="10110499" y="2830352"/>
        <a:ext cx="527464" cy="721666"/>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FDF615-18DC-4046-A79F-D5A4ACD6FEB4}" type="datetimeFigureOut">
              <a:rPr lang="en-CA" smtClean="0"/>
              <a:t>2025-02-27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A235F7-ECB6-4252-B890-D80E02B7ACC4}" type="slidenum">
              <a:rPr lang="en-CA" smtClean="0"/>
              <a:t>‹N°›</a:t>
            </a:fld>
            <a:endParaRPr lang="en-CA"/>
          </a:p>
        </p:txBody>
      </p:sp>
    </p:spTree>
    <p:extLst>
      <p:ext uri="{BB962C8B-B14F-4D97-AF65-F5344CB8AC3E}">
        <p14:creationId xmlns:p14="http://schemas.microsoft.com/office/powerpoint/2010/main" val="3085939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F7A235F7-ECB6-4252-B890-D80E02B7ACC4}" type="slidenum">
              <a:rPr lang="en-CA" smtClean="0"/>
              <a:t>1</a:t>
            </a:fld>
            <a:endParaRPr lang="en-CA"/>
          </a:p>
        </p:txBody>
      </p:sp>
    </p:spTree>
    <p:extLst>
      <p:ext uri="{BB962C8B-B14F-4D97-AF65-F5344CB8AC3E}">
        <p14:creationId xmlns:p14="http://schemas.microsoft.com/office/powerpoint/2010/main" val="1995437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F7A235F7-ECB6-4252-B890-D80E02B7ACC4}" type="slidenum">
              <a:rPr lang="en-CA" smtClean="0"/>
              <a:t>4</a:t>
            </a:fld>
            <a:endParaRPr lang="en-CA"/>
          </a:p>
        </p:txBody>
      </p:sp>
    </p:spTree>
    <p:extLst>
      <p:ext uri="{BB962C8B-B14F-4D97-AF65-F5344CB8AC3E}">
        <p14:creationId xmlns:p14="http://schemas.microsoft.com/office/powerpoint/2010/main" val="676970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F7A235F7-ECB6-4252-B890-D80E02B7ACC4}" type="slidenum">
              <a:rPr lang="en-CA" smtClean="0"/>
              <a:t>5</a:t>
            </a:fld>
            <a:endParaRPr lang="en-CA"/>
          </a:p>
        </p:txBody>
      </p:sp>
    </p:spTree>
    <p:extLst>
      <p:ext uri="{BB962C8B-B14F-4D97-AF65-F5344CB8AC3E}">
        <p14:creationId xmlns:p14="http://schemas.microsoft.com/office/powerpoint/2010/main" val="6407730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xfrm>
            <a:off x="465138" y="785813"/>
            <a:ext cx="6400800" cy="3600450"/>
          </a:xfrm>
          <a:ln/>
        </p:spPr>
      </p:sp>
      <p:sp>
        <p:nvSpPr>
          <p:cNvPr id="634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CA" altLang="fr-FR" sz="1000" dirty="0">
              <a:latin typeface="Arial" panose="020B0604020202020204" pitchFamily="34" charset="0"/>
            </a:endParaRPr>
          </a:p>
        </p:txBody>
      </p:sp>
      <p:sp>
        <p:nvSpPr>
          <p:cNvPr id="2" name="Espace réservé du pied de page 1">
            <a:extLst>
              <a:ext uri="{FF2B5EF4-FFF2-40B4-BE49-F238E27FC236}">
                <a16:creationId xmlns:a16="http://schemas.microsoft.com/office/drawing/2014/main" id="{CFDF4F12-F7CD-4211-B264-6D1CD6007BC7}"/>
              </a:ext>
            </a:extLst>
          </p:cNvPr>
          <p:cNvSpPr>
            <a:spLocks noGrp="1"/>
          </p:cNvSpPr>
          <p:nvPr>
            <p:ph type="ftr" sz="quarter" idx="10"/>
          </p:nvPr>
        </p:nvSpPr>
        <p:spPr/>
        <p:txBody>
          <a:bodyPr/>
          <a:lstStyle/>
          <a:p>
            <a:r>
              <a:rPr lang="fr-CA"/>
              <a:t>Simon Dermarkar</a:t>
            </a:r>
          </a:p>
        </p:txBody>
      </p:sp>
    </p:spTree>
    <p:extLst>
      <p:ext uri="{BB962C8B-B14F-4D97-AF65-F5344CB8AC3E}">
        <p14:creationId xmlns:p14="http://schemas.microsoft.com/office/powerpoint/2010/main" val="4608039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90525" y="719138"/>
            <a:ext cx="6402388" cy="3600450"/>
          </a:xfrm>
        </p:spPr>
      </p:sp>
      <p:sp>
        <p:nvSpPr>
          <p:cNvPr id="3" name="Espace réservé des commentaires 2"/>
          <p:cNvSpPr>
            <a:spLocks noGrp="1"/>
          </p:cNvSpPr>
          <p:nvPr>
            <p:ph type="body" idx="1"/>
          </p:nvPr>
        </p:nvSpPr>
        <p:spPr/>
        <p:txBody>
          <a:bodyPr>
            <a:normAutofit/>
          </a:bodyPr>
          <a:lstStyle/>
          <a:p>
            <a:endParaRPr lang="fr-CA" dirty="0"/>
          </a:p>
        </p:txBody>
      </p:sp>
      <p:sp>
        <p:nvSpPr>
          <p:cNvPr id="4" name="Espace réservé du numéro de diapositive 3"/>
          <p:cNvSpPr>
            <a:spLocks noGrp="1"/>
          </p:cNvSpPr>
          <p:nvPr>
            <p:ph type="sldNum" sz="quarter" idx="10"/>
          </p:nvPr>
        </p:nvSpPr>
        <p:spPr/>
        <p:txBody>
          <a:bodyPr/>
          <a:lstStyle/>
          <a:p>
            <a:pPr defTabSz="948507">
              <a:defRPr/>
            </a:pPr>
            <a:fld id="{EEF78602-2A8E-4D71-8179-81A0EFCA03BD}" type="slidenum">
              <a:rPr lang="fr-CA">
                <a:solidFill>
                  <a:prstClr val="black"/>
                </a:solidFill>
                <a:latin typeface="Calibri" panose="020F0502020204030204"/>
              </a:rPr>
              <a:pPr defTabSz="948507">
                <a:defRPr/>
              </a:pPr>
              <a:t>11</a:t>
            </a:fld>
            <a:endParaRPr lang="fr-CA">
              <a:solidFill>
                <a:prstClr val="black"/>
              </a:solidFill>
              <a:latin typeface="Calibri" panose="020F0502020204030204"/>
            </a:endParaRPr>
          </a:p>
        </p:txBody>
      </p:sp>
      <p:sp>
        <p:nvSpPr>
          <p:cNvPr id="5" name="Espace réservé du pied de page 4">
            <a:extLst>
              <a:ext uri="{FF2B5EF4-FFF2-40B4-BE49-F238E27FC236}">
                <a16:creationId xmlns:a16="http://schemas.microsoft.com/office/drawing/2014/main" id="{7C460E7E-04C8-4DB1-9440-58E0609A068A}"/>
              </a:ext>
            </a:extLst>
          </p:cNvPr>
          <p:cNvSpPr>
            <a:spLocks noGrp="1"/>
          </p:cNvSpPr>
          <p:nvPr>
            <p:ph type="ftr" sz="quarter" idx="11"/>
          </p:nvPr>
        </p:nvSpPr>
        <p:spPr/>
        <p:txBody>
          <a:bodyPr/>
          <a:lstStyle/>
          <a:p>
            <a:r>
              <a:rPr lang="fr-CA"/>
              <a:t>Simon Dermarkar</a:t>
            </a:r>
          </a:p>
        </p:txBody>
      </p:sp>
    </p:spTree>
    <p:extLst>
      <p:ext uri="{BB962C8B-B14F-4D97-AF65-F5344CB8AC3E}">
        <p14:creationId xmlns:p14="http://schemas.microsoft.com/office/powerpoint/2010/main" val="8074609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90525" y="719138"/>
            <a:ext cx="6402388" cy="3600450"/>
          </a:xfrm>
        </p:spPr>
      </p:sp>
      <p:sp>
        <p:nvSpPr>
          <p:cNvPr id="3" name="Espace réservé des commentaires 2"/>
          <p:cNvSpPr>
            <a:spLocks noGrp="1"/>
          </p:cNvSpPr>
          <p:nvPr>
            <p:ph type="body" idx="1"/>
          </p:nvPr>
        </p:nvSpPr>
        <p:spPr/>
        <p:txBody>
          <a:bodyPr>
            <a:normAutofit/>
          </a:bodyPr>
          <a:lstStyle/>
          <a:p>
            <a:pPr marL="239731" indent="-239731"/>
            <a:endParaRPr lang="en-US" dirty="0"/>
          </a:p>
        </p:txBody>
      </p:sp>
      <p:sp>
        <p:nvSpPr>
          <p:cNvPr id="4" name="Espace réservé du numéro de diapositive 3"/>
          <p:cNvSpPr>
            <a:spLocks noGrp="1"/>
          </p:cNvSpPr>
          <p:nvPr>
            <p:ph type="sldNum" sz="quarter" idx="10"/>
          </p:nvPr>
        </p:nvSpPr>
        <p:spPr/>
        <p:txBody>
          <a:bodyPr/>
          <a:lstStyle/>
          <a:p>
            <a:pPr defTabSz="948507">
              <a:defRPr/>
            </a:pPr>
            <a:fld id="{EEF78602-2A8E-4D71-8179-81A0EFCA03BD}" type="slidenum">
              <a:rPr lang="fr-CA">
                <a:solidFill>
                  <a:prstClr val="black"/>
                </a:solidFill>
                <a:latin typeface="Calibri" panose="020F0502020204030204"/>
              </a:rPr>
              <a:pPr defTabSz="948507">
                <a:defRPr/>
              </a:pPr>
              <a:t>12</a:t>
            </a:fld>
            <a:endParaRPr lang="fr-CA">
              <a:solidFill>
                <a:prstClr val="black"/>
              </a:solidFill>
              <a:latin typeface="Calibri" panose="020F0502020204030204"/>
            </a:endParaRPr>
          </a:p>
        </p:txBody>
      </p:sp>
      <p:sp>
        <p:nvSpPr>
          <p:cNvPr id="5" name="Espace réservé du pied de page 4">
            <a:extLst>
              <a:ext uri="{FF2B5EF4-FFF2-40B4-BE49-F238E27FC236}">
                <a16:creationId xmlns:a16="http://schemas.microsoft.com/office/drawing/2014/main" id="{340E82C0-4EE8-416B-9C5C-88FB01780F32}"/>
              </a:ext>
            </a:extLst>
          </p:cNvPr>
          <p:cNvSpPr>
            <a:spLocks noGrp="1"/>
          </p:cNvSpPr>
          <p:nvPr>
            <p:ph type="ftr" sz="quarter" idx="11"/>
          </p:nvPr>
        </p:nvSpPr>
        <p:spPr/>
        <p:txBody>
          <a:bodyPr/>
          <a:lstStyle/>
          <a:p>
            <a:r>
              <a:rPr lang="fr-CA"/>
              <a:t>Simon Dermarkar</a:t>
            </a:r>
          </a:p>
        </p:txBody>
      </p:sp>
    </p:spTree>
    <p:extLst>
      <p:ext uri="{BB962C8B-B14F-4D97-AF65-F5344CB8AC3E}">
        <p14:creationId xmlns:p14="http://schemas.microsoft.com/office/powerpoint/2010/main" val="156756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390525" y="719138"/>
            <a:ext cx="6402388" cy="3600450"/>
          </a:xfrm>
          <a:ln/>
        </p:spPr>
      </p:sp>
      <p:sp>
        <p:nvSpPr>
          <p:cNvPr id="97283" name="Rectangle 3"/>
          <p:cNvSpPr>
            <a:spLocks noGrp="1" noChangeArrowheads="1"/>
          </p:cNvSpPr>
          <p:nvPr>
            <p:ph type="body" idx="1"/>
          </p:nvPr>
        </p:nvSpPr>
        <p:spPr>
          <a:xfrm>
            <a:off x="209267" y="4428755"/>
            <a:ext cx="6837629" cy="49083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CA" sz="1000" dirty="0">
              <a:cs typeface="Times New Roman" panose="02020603050405020304" pitchFamily="18" charset="0"/>
            </a:endParaRPr>
          </a:p>
        </p:txBody>
      </p:sp>
      <p:sp>
        <p:nvSpPr>
          <p:cNvPr id="2" name="Espace réservé du pied de page 1">
            <a:extLst>
              <a:ext uri="{FF2B5EF4-FFF2-40B4-BE49-F238E27FC236}">
                <a16:creationId xmlns:a16="http://schemas.microsoft.com/office/drawing/2014/main" id="{FE4766B1-908E-4120-9E6B-E6539449E2DE}"/>
              </a:ext>
            </a:extLst>
          </p:cNvPr>
          <p:cNvSpPr>
            <a:spLocks noGrp="1"/>
          </p:cNvSpPr>
          <p:nvPr>
            <p:ph type="ftr" sz="quarter" idx="10"/>
          </p:nvPr>
        </p:nvSpPr>
        <p:spPr/>
        <p:txBody>
          <a:bodyPr/>
          <a:lstStyle/>
          <a:p>
            <a:r>
              <a:rPr lang="fr-CA"/>
              <a:t>Simon Dermarkar</a:t>
            </a:r>
          </a:p>
        </p:txBody>
      </p:sp>
    </p:spTree>
    <p:extLst>
      <p:ext uri="{BB962C8B-B14F-4D97-AF65-F5344CB8AC3E}">
        <p14:creationId xmlns:p14="http://schemas.microsoft.com/office/powerpoint/2010/main" val="2114909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90525" y="719138"/>
            <a:ext cx="6402388" cy="3600450"/>
          </a:xfrm>
        </p:spPr>
      </p:sp>
      <p:sp>
        <p:nvSpPr>
          <p:cNvPr id="3" name="Espace réservé des commentaires 2"/>
          <p:cNvSpPr>
            <a:spLocks noGrp="1"/>
          </p:cNvSpPr>
          <p:nvPr>
            <p:ph type="body" idx="1"/>
          </p:nvPr>
        </p:nvSpPr>
        <p:spPr/>
        <p:txBody>
          <a:bodyPr>
            <a:normAutofit/>
          </a:bodyPr>
          <a:lstStyle/>
          <a:p>
            <a:pPr marL="239731" indent="-239731" defTabSz="958921">
              <a:defRPr/>
            </a:pPr>
            <a:endParaRPr lang="fr-CA" dirty="0"/>
          </a:p>
        </p:txBody>
      </p:sp>
      <p:sp>
        <p:nvSpPr>
          <p:cNvPr id="4" name="Espace réservé du numéro de diapositive 3"/>
          <p:cNvSpPr>
            <a:spLocks noGrp="1"/>
          </p:cNvSpPr>
          <p:nvPr>
            <p:ph type="sldNum" sz="quarter" idx="10"/>
          </p:nvPr>
        </p:nvSpPr>
        <p:spPr/>
        <p:txBody>
          <a:bodyPr/>
          <a:lstStyle/>
          <a:p>
            <a:pPr defTabSz="948507">
              <a:defRPr/>
            </a:pPr>
            <a:fld id="{EEF78602-2A8E-4D71-8179-81A0EFCA03BD}" type="slidenum">
              <a:rPr lang="fr-CA">
                <a:solidFill>
                  <a:prstClr val="black"/>
                </a:solidFill>
                <a:latin typeface="Calibri" panose="020F0502020204030204"/>
              </a:rPr>
              <a:pPr defTabSz="948507">
                <a:defRPr/>
              </a:pPr>
              <a:t>14</a:t>
            </a:fld>
            <a:endParaRPr lang="fr-CA">
              <a:solidFill>
                <a:prstClr val="black"/>
              </a:solidFill>
              <a:latin typeface="Calibri" panose="020F0502020204030204"/>
            </a:endParaRPr>
          </a:p>
        </p:txBody>
      </p:sp>
      <p:sp>
        <p:nvSpPr>
          <p:cNvPr id="5" name="Espace réservé du pied de page 4">
            <a:extLst>
              <a:ext uri="{FF2B5EF4-FFF2-40B4-BE49-F238E27FC236}">
                <a16:creationId xmlns:a16="http://schemas.microsoft.com/office/drawing/2014/main" id="{5DFFE0B1-A6FB-4281-801D-F24AF0DC7605}"/>
              </a:ext>
            </a:extLst>
          </p:cNvPr>
          <p:cNvSpPr>
            <a:spLocks noGrp="1"/>
          </p:cNvSpPr>
          <p:nvPr>
            <p:ph type="ftr" sz="quarter" idx="11"/>
          </p:nvPr>
        </p:nvSpPr>
        <p:spPr/>
        <p:txBody>
          <a:bodyPr/>
          <a:lstStyle/>
          <a:p>
            <a:r>
              <a:rPr lang="fr-CA"/>
              <a:t>Simon Dermarkar</a:t>
            </a:r>
          </a:p>
        </p:txBody>
      </p:sp>
    </p:spTree>
    <p:extLst>
      <p:ext uri="{BB962C8B-B14F-4D97-AF65-F5344CB8AC3E}">
        <p14:creationId xmlns:p14="http://schemas.microsoft.com/office/powerpoint/2010/main" val="1422582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90525" y="719138"/>
            <a:ext cx="6402388" cy="3600450"/>
          </a:xfrm>
        </p:spPr>
      </p:sp>
      <p:sp>
        <p:nvSpPr>
          <p:cNvPr id="3" name="Espace réservé des commentaires 2"/>
          <p:cNvSpPr>
            <a:spLocks noGrp="1"/>
          </p:cNvSpPr>
          <p:nvPr>
            <p:ph type="body" idx="1"/>
          </p:nvPr>
        </p:nvSpPr>
        <p:spPr>
          <a:xfrm>
            <a:off x="272925" y="4560570"/>
            <a:ext cx="6559773" cy="4925272"/>
          </a:xfrm>
        </p:spPr>
        <p:txBody>
          <a:bodyPr>
            <a:noAutofit/>
          </a:bodyPr>
          <a:lstStyle/>
          <a:p>
            <a:endParaRPr lang="fr-CA" sz="1100" dirty="0">
              <a:cs typeface="Times New Roman" panose="02020603050405020304" pitchFamily="18" charset="0"/>
            </a:endParaRPr>
          </a:p>
        </p:txBody>
      </p:sp>
      <p:sp>
        <p:nvSpPr>
          <p:cNvPr id="4" name="Espace réservé du numéro de diapositive 3"/>
          <p:cNvSpPr>
            <a:spLocks noGrp="1"/>
          </p:cNvSpPr>
          <p:nvPr>
            <p:ph type="sldNum" sz="quarter" idx="10"/>
          </p:nvPr>
        </p:nvSpPr>
        <p:spPr>
          <a:xfrm>
            <a:off x="4069247" y="9105320"/>
            <a:ext cx="3111776" cy="480060"/>
          </a:xfrm>
        </p:spPr>
        <p:txBody>
          <a:bodyPr/>
          <a:lstStyle/>
          <a:p>
            <a:pPr marL="0" marR="0" lvl="0" indent="0" algn="r" defTabSz="948507" rtl="0" eaLnBrk="1" fontAlgn="auto" latinLnBrk="0" hangingPunct="1">
              <a:lnSpc>
                <a:spcPct val="100000"/>
              </a:lnSpc>
              <a:spcBef>
                <a:spcPts val="0"/>
              </a:spcBef>
              <a:spcAft>
                <a:spcPts val="0"/>
              </a:spcAft>
              <a:buClrTx/>
              <a:buSzTx/>
              <a:buFontTx/>
              <a:buNone/>
              <a:tabLst/>
              <a:defRPr/>
            </a:pPr>
            <a:fld id="{EEF78602-2A8E-4D71-8179-81A0EFCA03BD}" type="slidenum">
              <a:rPr kumimoji="0" lang="fr-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48507" rtl="0" eaLnBrk="1" fontAlgn="auto" latinLnBrk="0" hangingPunct="1">
                <a:lnSpc>
                  <a:spcPct val="100000"/>
                </a:lnSpc>
                <a:spcBef>
                  <a:spcPts val="0"/>
                </a:spcBef>
                <a:spcAft>
                  <a:spcPts val="0"/>
                </a:spcAft>
                <a:buClrTx/>
                <a:buSzTx/>
                <a:buFontTx/>
                <a:buNone/>
                <a:tabLst/>
                <a:defRPr/>
              </a:pPr>
              <a:t>15</a:t>
            </a:fld>
            <a:endParaRPr kumimoji="0" lang="fr-CA"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Espace réservé du pied de page 4">
            <a:extLst>
              <a:ext uri="{FF2B5EF4-FFF2-40B4-BE49-F238E27FC236}">
                <a16:creationId xmlns:a16="http://schemas.microsoft.com/office/drawing/2014/main" id="{B4620751-DAB5-417E-8571-27EE87C0F02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prstClr val="black"/>
                </a:solidFill>
                <a:effectLst/>
                <a:uLnTx/>
                <a:uFillTx/>
                <a:latin typeface="Calibri" panose="020F0502020204030204"/>
                <a:ea typeface="+mn-ea"/>
                <a:cs typeface="+mn-cs"/>
              </a:rPr>
              <a:t>Simon Dermarkar</a:t>
            </a:r>
          </a:p>
        </p:txBody>
      </p:sp>
    </p:spTree>
    <p:extLst>
      <p:ext uri="{BB962C8B-B14F-4D97-AF65-F5344CB8AC3E}">
        <p14:creationId xmlns:p14="http://schemas.microsoft.com/office/powerpoint/2010/main" val="2114002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e l'en-tête 3"/>
          <p:cNvSpPr>
            <a:spLocks noGrp="1"/>
          </p:cNvSpPr>
          <p:nvPr>
            <p:ph type="hdr" sz="quarter" idx="10"/>
          </p:nvPr>
        </p:nvSpPr>
        <p:spPr/>
        <p:txBody>
          <a:bodyPr/>
          <a:lstStyle/>
          <a:p>
            <a:endParaRPr lang="fr-CA"/>
          </a:p>
        </p:txBody>
      </p:sp>
      <p:sp>
        <p:nvSpPr>
          <p:cNvPr id="5" name="Espace réservé du pied de page 4"/>
          <p:cNvSpPr>
            <a:spLocks noGrp="1"/>
          </p:cNvSpPr>
          <p:nvPr>
            <p:ph type="ftr" sz="quarter" idx="11"/>
          </p:nvPr>
        </p:nvSpPr>
        <p:spPr/>
        <p:txBody>
          <a:bodyPr/>
          <a:lstStyle/>
          <a:p>
            <a:r>
              <a:rPr lang="fr-CA"/>
              <a:t>Andrée Lavigne, CPA auditrice, CA, Audit et autres missions de certification externe - DESS CPA automne 2017 </a:t>
            </a:r>
          </a:p>
        </p:txBody>
      </p:sp>
      <p:sp>
        <p:nvSpPr>
          <p:cNvPr id="6" name="Espace réservé du numéro de diapositive 5"/>
          <p:cNvSpPr>
            <a:spLocks noGrp="1"/>
          </p:cNvSpPr>
          <p:nvPr>
            <p:ph type="sldNum" sz="quarter" idx="12"/>
          </p:nvPr>
        </p:nvSpPr>
        <p:spPr/>
        <p:txBody>
          <a:bodyPr/>
          <a:lstStyle/>
          <a:p>
            <a:fld id="{BC887482-05D9-4D32-9364-6613339E3323}" type="slidenum">
              <a:rPr lang="fr-CA" smtClean="0"/>
              <a:t>18</a:t>
            </a:fld>
            <a:endParaRPr lang="fr-CA"/>
          </a:p>
        </p:txBody>
      </p:sp>
    </p:spTree>
    <p:extLst>
      <p:ext uri="{BB962C8B-B14F-4D97-AF65-F5344CB8AC3E}">
        <p14:creationId xmlns:p14="http://schemas.microsoft.com/office/powerpoint/2010/main" val="13311661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e l'en-tête 3"/>
          <p:cNvSpPr>
            <a:spLocks noGrp="1"/>
          </p:cNvSpPr>
          <p:nvPr>
            <p:ph type="hdr" sz="quarter" idx="10"/>
          </p:nvPr>
        </p:nvSpPr>
        <p:spPr/>
        <p:txBody>
          <a:bodyPr/>
          <a:lstStyle/>
          <a:p>
            <a:endParaRPr lang="fr-CA"/>
          </a:p>
        </p:txBody>
      </p:sp>
      <p:sp>
        <p:nvSpPr>
          <p:cNvPr id="5" name="Espace réservé du pied de page 4"/>
          <p:cNvSpPr>
            <a:spLocks noGrp="1"/>
          </p:cNvSpPr>
          <p:nvPr>
            <p:ph type="ftr" sz="quarter" idx="11"/>
          </p:nvPr>
        </p:nvSpPr>
        <p:spPr/>
        <p:txBody>
          <a:bodyPr/>
          <a:lstStyle/>
          <a:p>
            <a:r>
              <a:rPr lang="fr-CA"/>
              <a:t>Andrée Lavigne, CPA auditrice, CA, Audit et autres missions de certification externe - DESS CPA automne 2017 </a:t>
            </a:r>
          </a:p>
        </p:txBody>
      </p:sp>
      <p:sp>
        <p:nvSpPr>
          <p:cNvPr id="6" name="Espace réservé du numéro de diapositive 5"/>
          <p:cNvSpPr>
            <a:spLocks noGrp="1"/>
          </p:cNvSpPr>
          <p:nvPr>
            <p:ph type="sldNum" sz="quarter" idx="12"/>
          </p:nvPr>
        </p:nvSpPr>
        <p:spPr/>
        <p:txBody>
          <a:bodyPr/>
          <a:lstStyle/>
          <a:p>
            <a:fld id="{BC887482-05D9-4D32-9364-6613339E3323}" type="slidenum">
              <a:rPr lang="fr-CA" smtClean="0"/>
              <a:t>20</a:t>
            </a:fld>
            <a:endParaRPr lang="fr-CA"/>
          </a:p>
        </p:txBody>
      </p:sp>
    </p:spTree>
    <p:extLst>
      <p:ext uri="{BB962C8B-B14F-4D97-AF65-F5344CB8AC3E}">
        <p14:creationId xmlns:p14="http://schemas.microsoft.com/office/powerpoint/2010/main" val="20506025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F7A235F7-ECB6-4252-B890-D80E02B7ACC4}" type="slidenum">
              <a:rPr lang="en-CA" smtClean="0"/>
              <a:t>23</a:t>
            </a:fld>
            <a:endParaRPr lang="en-CA"/>
          </a:p>
        </p:txBody>
      </p:sp>
    </p:spTree>
    <p:extLst>
      <p:ext uri="{BB962C8B-B14F-4D97-AF65-F5344CB8AC3E}">
        <p14:creationId xmlns:p14="http://schemas.microsoft.com/office/powerpoint/2010/main" val="1401416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F7A235F7-ECB6-4252-B890-D80E02B7ACC4}" type="slidenum">
              <a:rPr lang="en-CA" smtClean="0"/>
              <a:t>24</a:t>
            </a:fld>
            <a:endParaRPr lang="en-CA"/>
          </a:p>
        </p:txBody>
      </p:sp>
    </p:spTree>
    <p:extLst>
      <p:ext uri="{BB962C8B-B14F-4D97-AF65-F5344CB8AC3E}">
        <p14:creationId xmlns:p14="http://schemas.microsoft.com/office/powerpoint/2010/main" val="31747740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717550" y="1195388"/>
            <a:ext cx="5576888" cy="3136900"/>
          </a:xfrm>
        </p:spPr>
      </p:sp>
      <p:sp>
        <p:nvSpPr>
          <p:cNvPr id="3" name="Espace réservé des commentaires 2"/>
          <p:cNvSpPr>
            <a:spLocks noGrp="1"/>
          </p:cNvSpPr>
          <p:nvPr>
            <p:ph type="body" idx="1"/>
          </p:nvPr>
        </p:nvSpPr>
        <p:spPr>
          <a:xfrm>
            <a:off x="701041" y="4473892"/>
            <a:ext cx="5608320" cy="4417624"/>
          </a:xfrm>
        </p:spPr>
        <p:txBody>
          <a:bodyPr/>
          <a:lstStyle/>
          <a:p>
            <a:endParaRPr lang="fr-CA" dirty="0"/>
          </a:p>
        </p:txBody>
      </p:sp>
      <p:sp>
        <p:nvSpPr>
          <p:cNvPr id="4" name="Espace réservé du pied de page 3"/>
          <p:cNvSpPr>
            <a:spLocks noGrp="1"/>
          </p:cNvSpPr>
          <p:nvPr>
            <p:ph type="ftr" sz="quarter" idx="12"/>
          </p:nvPr>
        </p:nvSpPr>
        <p:spPr/>
        <p:txBody>
          <a:bodyPr/>
          <a:lstStyle/>
          <a:p>
            <a:r>
              <a:rPr lang="fr-CA"/>
              <a:t>Andrée Lavigne, CPA auditrice, CA, Audit et autres missions de certification externe - DESS CPA automne 2017 </a:t>
            </a:r>
          </a:p>
        </p:txBody>
      </p:sp>
      <p:sp>
        <p:nvSpPr>
          <p:cNvPr id="6" name="Espace réservé de l'en-tête 5"/>
          <p:cNvSpPr>
            <a:spLocks noGrp="1"/>
          </p:cNvSpPr>
          <p:nvPr>
            <p:ph type="hdr" sz="quarter" idx="13"/>
          </p:nvPr>
        </p:nvSpPr>
        <p:spPr/>
        <p:txBody>
          <a:bodyPr/>
          <a:lstStyle/>
          <a:p>
            <a:endParaRPr lang="fr-CA"/>
          </a:p>
        </p:txBody>
      </p:sp>
      <p:sp>
        <p:nvSpPr>
          <p:cNvPr id="7" name="Espace réservé du numéro de diapositive 6"/>
          <p:cNvSpPr>
            <a:spLocks noGrp="1"/>
          </p:cNvSpPr>
          <p:nvPr>
            <p:ph type="sldNum" sz="quarter" idx="14"/>
          </p:nvPr>
        </p:nvSpPr>
        <p:spPr/>
        <p:txBody>
          <a:bodyPr/>
          <a:lstStyle/>
          <a:p>
            <a:fld id="{BC887482-05D9-4D32-9364-6613339E3323}" type="slidenum">
              <a:rPr lang="fr-CA" smtClean="0"/>
              <a:t>30</a:t>
            </a:fld>
            <a:endParaRPr lang="fr-CA"/>
          </a:p>
        </p:txBody>
      </p:sp>
    </p:spTree>
    <p:extLst>
      <p:ext uri="{BB962C8B-B14F-4D97-AF65-F5344CB8AC3E}">
        <p14:creationId xmlns:p14="http://schemas.microsoft.com/office/powerpoint/2010/main" val="8830931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506402" y="4432949"/>
            <a:ext cx="6125219" cy="4397020"/>
          </a:xfrm>
        </p:spPr>
        <p:txBody>
          <a:bodyPr/>
          <a:lstStyle/>
          <a:p>
            <a:endParaRPr lang="fr-CA" dirty="0"/>
          </a:p>
        </p:txBody>
      </p:sp>
      <p:sp>
        <p:nvSpPr>
          <p:cNvPr id="4" name="Espace réservé du pied de page 3"/>
          <p:cNvSpPr>
            <a:spLocks noGrp="1"/>
          </p:cNvSpPr>
          <p:nvPr>
            <p:ph type="ftr" sz="quarter" idx="10"/>
          </p:nvPr>
        </p:nvSpPr>
        <p:spPr>
          <a:xfrm>
            <a:off x="1" y="8829970"/>
            <a:ext cx="6833211" cy="466433"/>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prstClr val="black"/>
                </a:solidFill>
                <a:effectLst/>
                <a:uLnTx/>
                <a:uFillTx/>
                <a:latin typeface="Calibri" panose="020F0502020204030204"/>
                <a:ea typeface="+mn-ea"/>
                <a:cs typeface="+mn-cs"/>
              </a:rPr>
              <a:t>Simon Dermarkar</a:t>
            </a:r>
            <a:endParaRPr kumimoji="0" lang="fr-CA"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Espace réservé du numéro de diapositive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87482-05D9-4D32-9364-6613339E33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2645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739775" y="1162050"/>
            <a:ext cx="5575300" cy="3136900"/>
          </a:xfrm>
        </p:spPr>
      </p:sp>
      <p:sp>
        <p:nvSpPr>
          <p:cNvPr id="3" name="Espace réservé des commentaires 2"/>
          <p:cNvSpPr>
            <a:spLocks noGrp="1"/>
          </p:cNvSpPr>
          <p:nvPr>
            <p:ph type="body" idx="1"/>
          </p:nvPr>
        </p:nvSpPr>
        <p:spPr>
          <a:xfrm>
            <a:off x="506402" y="4432949"/>
            <a:ext cx="6125219" cy="4397020"/>
          </a:xfrm>
        </p:spPr>
        <p:txBody>
          <a:bodyPr/>
          <a:lstStyle/>
          <a:p>
            <a:endParaRPr lang="fr-CA" sz="1100" dirty="0"/>
          </a:p>
        </p:txBody>
      </p:sp>
      <p:sp>
        <p:nvSpPr>
          <p:cNvPr id="4" name="Espace réservé du pied de page 3"/>
          <p:cNvSpPr>
            <a:spLocks noGrp="1"/>
          </p:cNvSpPr>
          <p:nvPr>
            <p:ph type="ftr" sz="quarter" idx="10"/>
          </p:nvPr>
        </p:nvSpPr>
        <p:spPr>
          <a:xfrm>
            <a:off x="1" y="8829970"/>
            <a:ext cx="6833211" cy="466433"/>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prstClr val="black"/>
                </a:solidFill>
                <a:effectLst/>
                <a:uLnTx/>
                <a:uFillTx/>
                <a:latin typeface="Calibri" panose="020F0502020204030204"/>
                <a:ea typeface="+mn-ea"/>
                <a:cs typeface="+mn-cs"/>
              </a:rPr>
              <a:t>Simon Dermarkar</a:t>
            </a:r>
            <a:endParaRPr kumimoji="0" lang="fr-CA"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Espace réservé du numéro de diapositive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87482-05D9-4D32-9364-6613339E33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65554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739775" y="1162050"/>
            <a:ext cx="5575300" cy="3136900"/>
          </a:xfrm>
        </p:spPr>
      </p:sp>
      <p:sp>
        <p:nvSpPr>
          <p:cNvPr id="3" name="Espace réservé des commentaires 2"/>
          <p:cNvSpPr>
            <a:spLocks noGrp="1"/>
          </p:cNvSpPr>
          <p:nvPr>
            <p:ph type="body" idx="1"/>
          </p:nvPr>
        </p:nvSpPr>
        <p:spPr>
          <a:xfrm>
            <a:off x="506402" y="4432949"/>
            <a:ext cx="6125219" cy="4397020"/>
          </a:xfrm>
        </p:spPr>
        <p:txBody>
          <a:bodyPr/>
          <a:lstStyle/>
          <a:p>
            <a:endParaRPr lang="fr-CA" sz="1100" dirty="0"/>
          </a:p>
        </p:txBody>
      </p:sp>
      <p:sp>
        <p:nvSpPr>
          <p:cNvPr id="4" name="Espace réservé du pied de page 3"/>
          <p:cNvSpPr>
            <a:spLocks noGrp="1"/>
          </p:cNvSpPr>
          <p:nvPr>
            <p:ph type="ftr" sz="quarter" idx="10"/>
          </p:nvPr>
        </p:nvSpPr>
        <p:spPr>
          <a:xfrm>
            <a:off x="1" y="8829970"/>
            <a:ext cx="6833211" cy="466433"/>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prstClr val="black"/>
                </a:solidFill>
                <a:effectLst/>
                <a:uLnTx/>
                <a:uFillTx/>
                <a:latin typeface="Calibri" panose="020F0502020204030204"/>
                <a:ea typeface="+mn-ea"/>
                <a:cs typeface="+mn-cs"/>
              </a:rPr>
              <a:t>Simon Dermarkar</a:t>
            </a:r>
            <a:endParaRPr kumimoji="0" lang="fr-CA"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Espace réservé du numéro de diapositive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87482-05D9-4D32-9364-6613339E33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28370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739775" y="1162050"/>
            <a:ext cx="5575300" cy="3136900"/>
          </a:xfrm>
        </p:spPr>
      </p:sp>
      <p:sp>
        <p:nvSpPr>
          <p:cNvPr id="3" name="Espace réservé des commentaires 2"/>
          <p:cNvSpPr>
            <a:spLocks noGrp="1"/>
          </p:cNvSpPr>
          <p:nvPr>
            <p:ph type="body" idx="1"/>
          </p:nvPr>
        </p:nvSpPr>
        <p:spPr>
          <a:xfrm>
            <a:off x="506402" y="4432949"/>
            <a:ext cx="6125219" cy="4397020"/>
          </a:xfrm>
        </p:spPr>
        <p:txBody>
          <a:bodyPr/>
          <a:lstStyle/>
          <a:p>
            <a:endParaRPr lang="fr-CA" dirty="0"/>
          </a:p>
        </p:txBody>
      </p:sp>
      <p:sp>
        <p:nvSpPr>
          <p:cNvPr id="4" name="Espace réservé du pied de page 3"/>
          <p:cNvSpPr>
            <a:spLocks noGrp="1"/>
          </p:cNvSpPr>
          <p:nvPr>
            <p:ph type="ftr" sz="quarter" idx="10"/>
          </p:nvPr>
        </p:nvSpPr>
        <p:spPr>
          <a:xfrm>
            <a:off x="1" y="8829970"/>
            <a:ext cx="6833211" cy="466433"/>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prstClr val="black"/>
                </a:solidFill>
                <a:effectLst/>
                <a:uLnTx/>
                <a:uFillTx/>
                <a:latin typeface="Calibri" panose="020F0502020204030204"/>
                <a:ea typeface="+mn-ea"/>
                <a:cs typeface="+mn-cs"/>
              </a:rPr>
              <a:t>Simon Dermarkar</a:t>
            </a:r>
            <a:endParaRPr kumimoji="0" lang="fr-CA"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Espace réservé du numéro de diapositive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87482-05D9-4D32-9364-6613339E33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5613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u pied de page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prstClr val="black"/>
                </a:solidFill>
                <a:effectLst/>
                <a:uLnTx/>
                <a:uFillTx/>
                <a:latin typeface="Calibri" panose="020F0502020204030204"/>
                <a:ea typeface="+mn-ea"/>
                <a:cs typeface="+mn-cs"/>
              </a:rPr>
              <a:t>Simon Dermarkar</a:t>
            </a:r>
          </a:p>
        </p:txBody>
      </p:sp>
      <p:sp>
        <p:nvSpPr>
          <p:cNvPr id="5" name="Espace réservé du numéro de diapositive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87482-05D9-4D32-9364-6613339E33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6716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F7A235F7-ECB6-4252-B890-D80E02B7ACC4}" type="slidenum">
              <a:rPr lang="en-CA" smtClean="0"/>
              <a:t>43</a:t>
            </a:fld>
            <a:endParaRPr lang="en-CA"/>
          </a:p>
        </p:txBody>
      </p:sp>
    </p:spTree>
    <p:extLst>
      <p:ext uri="{BB962C8B-B14F-4D97-AF65-F5344CB8AC3E}">
        <p14:creationId xmlns:p14="http://schemas.microsoft.com/office/powerpoint/2010/main" val="6960950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F7A235F7-ECB6-4252-B890-D80E02B7ACC4}" type="slidenum">
              <a:rPr lang="en-CA" smtClean="0"/>
              <a:t>46</a:t>
            </a:fld>
            <a:endParaRPr lang="en-CA"/>
          </a:p>
        </p:txBody>
      </p:sp>
    </p:spTree>
    <p:extLst>
      <p:ext uri="{BB962C8B-B14F-4D97-AF65-F5344CB8AC3E}">
        <p14:creationId xmlns:p14="http://schemas.microsoft.com/office/powerpoint/2010/main" val="25464544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F7A235F7-ECB6-4252-B890-D80E02B7ACC4}" type="slidenum">
              <a:rPr lang="en-CA" smtClean="0"/>
              <a:t>54</a:t>
            </a:fld>
            <a:endParaRPr lang="en-CA"/>
          </a:p>
        </p:txBody>
      </p:sp>
    </p:spTree>
    <p:extLst>
      <p:ext uri="{BB962C8B-B14F-4D97-AF65-F5344CB8AC3E}">
        <p14:creationId xmlns:p14="http://schemas.microsoft.com/office/powerpoint/2010/main" val="1128419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F7A235F7-ECB6-4252-B890-D80E02B7ACC4}" type="slidenum">
              <a:rPr lang="en-CA" smtClean="0"/>
              <a:t>55</a:t>
            </a:fld>
            <a:endParaRPr lang="en-CA"/>
          </a:p>
        </p:txBody>
      </p:sp>
    </p:spTree>
    <p:extLst>
      <p:ext uri="{BB962C8B-B14F-4D97-AF65-F5344CB8AC3E}">
        <p14:creationId xmlns:p14="http://schemas.microsoft.com/office/powerpoint/2010/main" val="35360888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F7A235F7-ECB6-4252-B890-D80E02B7ACC4}" type="slidenum">
              <a:rPr lang="en-CA" smtClean="0"/>
              <a:t>56</a:t>
            </a:fld>
            <a:endParaRPr lang="en-CA"/>
          </a:p>
        </p:txBody>
      </p:sp>
    </p:spTree>
    <p:extLst>
      <p:ext uri="{BB962C8B-B14F-4D97-AF65-F5344CB8AC3E}">
        <p14:creationId xmlns:p14="http://schemas.microsoft.com/office/powerpoint/2010/main" val="38972848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739775" y="1162050"/>
            <a:ext cx="5575300" cy="3136900"/>
          </a:xfrm>
        </p:spPr>
      </p:sp>
      <p:sp>
        <p:nvSpPr>
          <p:cNvPr id="3" name="Espace réservé des commentaires 2"/>
          <p:cNvSpPr>
            <a:spLocks noGrp="1"/>
          </p:cNvSpPr>
          <p:nvPr>
            <p:ph type="body" idx="1"/>
          </p:nvPr>
        </p:nvSpPr>
        <p:spPr>
          <a:xfrm>
            <a:off x="506402" y="4432949"/>
            <a:ext cx="6125219" cy="4397020"/>
          </a:xfrm>
        </p:spPr>
        <p:txBody>
          <a:bodyPr/>
          <a:lstStyle/>
          <a:p>
            <a:endParaRPr lang="fr-CA" dirty="0"/>
          </a:p>
        </p:txBody>
      </p:sp>
      <p:sp>
        <p:nvSpPr>
          <p:cNvPr id="4" name="Espace réservé du pied de page 3"/>
          <p:cNvSpPr>
            <a:spLocks noGrp="1"/>
          </p:cNvSpPr>
          <p:nvPr>
            <p:ph type="ftr" sz="quarter" idx="10"/>
          </p:nvPr>
        </p:nvSpPr>
        <p:spPr>
          <a:xfrm>
            <a:off x="1" y="8829970"/>
            <a:ext cx="6833211" cy="466433"/>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prstClr val="black"/>
                </a:solidFill>
                <a:effectLst/>
                <a:uLnTx/>
                <a:uFillTx/>
                <a:latin typeface="Calibri" panose="020F0502020204030204"/>
                <a:ea typeface="+mn-ea"/>
                <a:cs typeface="+mn-cs"/>
              </a:rPr>
              <a:t>Simon Dermarkar</a:t>
            </a:r>
            <a:endParaRPr kumimoji="0" lang="fr-CA"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Espace réservé du numéro de diapositive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87482-05D9-4D32-9364-6613339E33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31968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xfrm>
            <a:off x="209632" y="4343400"/>
            <a:ext cx="6149880" cy="4800600"/>
          </a:xfrm>
          <a:noFill/>
          <a:ln/>
        </p:spPr>
        <p:txBody>
          <a:bodyPr>
            <a:noAutofit/>
          </a:bodyPr>
          <a:lstStyle/>
          <a:p>
            <a:pPr marL="180975" indent="-180975"/>
            <a:endParaRPr lang="fr-CA" dirty="0"/>
          </a:p>
        </p:txBody>
      </p:sp>
      <p:sp>
        <p:nvSpPr>
          <p:cNvPr id="3" name="Espace réservé de l'en-tête 2"/>
          <p:cNvSpPr>
            <a:spLocks noGrp="1"/>
          </p:cNvSpPr>
          <p:nvPr>
            <p:ph type="hdr" sz="quarter" idx="11"/>
          </p:nvPr>
        </p:nvSpPr>
        <p:spPr>
          <a:xfrm>
            <a:off x="2" y="0"/>
            <a:ext cx="2971800" cy="466434"/>
          </a:xfrm>
          <a:prstGeom prst="rect">
            <a:avLst/>
          </a:prstGeom>
        </p:spPr>
        <p:txBody>
          <a:bodyPr/>
          <a:lstStyle/>
          <a:p>
            <a:endParaRPr lang="fr-CA"/>
          </a:p>
        </p:txBody>
      </p:sp>
      <p:sp>
        <p:nvSpPr>
          <p:cNvPr id="4" name="Espace réservé du numéro de diapositive 3"/>
          <p:cNvSpPr>
            <a:spLocks noGrp="1"/>
          </p:cNvSpPr>
          <p:nvPr>
            <p:ph type="sldNum" sz="quarter" idx="12"/>
          </p:nvPr>
        </p:nvSpPr>
        <p:spPr/>
        <p:txBody>
          <a:bodyPr/>
          <a:lstStyle/>
          <a:p>
            <a:fld id="{BC887482-05D9-4D32-9364-6613339E3323}" type="slidenum">
              <a:rPr lang="fr-CA" smtClean="0"/>
              <a:t>74</a:t>
            </a:fld>
            <a:endParaRPr lang="fr-CA"/>
          </a:p>
        </p:txBody>
      </p:sp>
    </p:spTree>
    <p:extLst>
      <p:ext uri="{BB962C8B-B14F-4D97-AF65-F5344CB8AC3E}">
        <p14:creationId xmlns:p14="http://schemas.microsoft.com/office/powerpoint/2010/main" val="41212499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xfrm>
            <a:off x="209632" y="4343400"/>
            <a:ext cx="6149880" cy="4800600"/>
          </a:xfrm>
          <a:noFill/>
          <a:ln/>
        </p:spPr>
        <p:txBody>
          <a:bodyPr>
            <a:noAutofit/>
          </a:bodyPr>
          <a:lstStyle/>
          <a:p>
            <a:pPr marL="180975" indent="-180975"/>
            <a:endParaRPr lang="fr-CA" dirty="0"/>
          </a:p>
        </p:txBody>
      </p:sp>
      <p:sp>
        <p:nvSpPr>
          <p:cNvPr id="2" name="Espace réservé du pied de page 1"/>
          <p:cNvSpPr>
            <a:spLocks noGrp="1"/>
          </p:cNvSpPr>
          <p:nvPr>
            <p:ph type="ftr" sz="quarter" idx="10"/>
          </p:nvPr>
        </p:nvSpPr>
        <p:spPr>
          <a:xfrm>
            <a:off x="2" y="8829973"/>
            <a:ext cx="2971800" cy="466433"/>
          </a:xfrm>
          <a:prstGeom prst="rect">
            <a:avLst/>
          </a:prstGeom>
        </p:spPr>
        <p:txBody>
          <a:bodyPr/>
          <a:lstStyle/>
          <a:p>
            <a:endParaRPr lang="fr-CA"/>
          </a:p>
        </p:txBody>
      </p:sp>
      <p:sp>
        <p:nvSpPr>
          <p:cNvPr id="3" name="Espace réservé de l'en-tête 2"/>
          <p:cNvSpPr>
            <a:spLocks noGrp="1"/>
          </p:cNvSpPr>
          <p:nvPr>
            <p:ph type="hdr" sz="quarter" idx="11"/>
          </p:nvPr>
        </p:nvSpPr>
        <p:spPr>
          <a:xfrm>
            <a:off x="2" y="0"/>
            <a:ext cx="2971800" cy="466434"/>
          </a:xfrm>
          <a:prstGeom prst="rect">
            <a:avLst/>
          </a:prstGeom>
        </p:spPr>
        <p:txBody>
          <a:bodyPr/>
          <a:lstStyle/>
          <a:p>
            <a:endParaRPr lang="fr-CA"/>
          </a:p>
        </p:txBody>
      </p:sp>
      <p:sp>
        <p:nvSpPr>
          <p:cNvPr id="4" name="Espace réservé du numéro de diapositive 3"/>
          <p:cNvSpPr>
            <a:spLocks noGrp="1"/>
          </p:cNvSpPr>
          <p:nvPr>
            <p:ph type="sldNum" sz="quarter" idx="12"/>
          </p:nvPr>
        </p:nvSpPr>
        <p:spPr/>
        <p:txBody>
          <a:bodyPr/>
          <a:lstStyle/>
          <a:p>
            <a:fld id="{BC887482-05D9-4D32-9364-6613339E3323}" type="slidenum">
              <a:rPr lang="fr-CA" smtClean="0"/>
              <a:t>75</a:t>
            </a:fld>
            <a:endParaRPr lang="fr-CA"/>
          </a:p>
        </p:txBody>
      </p:sp>
    </p:spTree>
    <p:extLst>
      <p:ext uri="{BB962C8B-B14F-4D97-AF65-F5344CB8AC3E}">
        <p14:creationId xmlns:p14="http://schemas.microsoft.com/office/powerpoint/2010/main" val="3094222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xfrm>
            <a:off x="209632" y="4343400"/>
            <a:ext cx="6149880" cy="4800600"/>
          </a:xfrm>
          <a:noFill/>
          <a:ln/>
        </p:spPr>
        <p:txBody>
          <a:bodyPr>
            <a:noAutofit/>
          </a:bodyPr>
          <a:lstStyle/>
          <a:p>
            <a:pPr marL="180975" indent="-180975"/>
            <a:endParaRPr lang="fr-CA" b="1" dirty="0">
              <a:latin typeface="Times New Roman" panose="02020603050405020304" pitchFamily="18" charset="0"/>
              <a:cs typeface="Times New Roman" panose="02020603050405020304" pitchFamily="18" charset="0"/>
            </a:endParaRPr>
          </a:p>
        </p:txBody>
      </p:sp>
      <p:sp>
        <p:nvSpPr>
          <p:cNvPr id="2" name="Espace réservé du pied de page 1"/>
          <p:cNvSpPr>
            <a:spLocks noGrp="1"/>
          </p:cNvSpPr>
          <p:nvPr>
            <p:ph type="ftr" sz="quarter" idx="10"/>
          </p:nvPr>
        </p:nvSpPr>
        <p:spPr>
          <a:xfrm>
            <a:off x="2" y="8829973"/>
            <a:ext cx="2971800" cy="466433"/>
          </a:xfrm>
          <a:prstGeom prst="rect">
            <a:avLst/>
          </a:prstGeom>
        </p:spPr>
        <p:txBody>
          <a:bodyPr/>
          <a:lstStyle/>
          <a:p>
            <a:endParaRPr lang="fr-CA"/>
          </a:p>
        </p:txBody>
      </p:sp>
      <p:sp>
        <p:nvSpPr>
          <p:cNvPr id="3" name="Espace réservé de l'en-tête 2"/>
          <p:cNvSpPr>
            <a:spLocks noGrp="1"/>
          </p:cNvSpPr>
          <p:nvPr>
            <p:ph type="hdr" sz="quarter" idx="11"/>
          </p:nvPr>
        </p:nvSpPr>
        <p:spPr>
          <a:xfrm>
            <a:off x="2" y="0"/>
            <a:ext cx="2971800" cy="466434"/>
          </a:xfrm>
          <a:prstGeom prst="rect">
            <a:avLst/>
          </a:prstGeom>
        </p:spPr>
        <p:txBody>
          <a:bodyPr/>
          <a:lstStyle/>
          <a:p>
            <a:endParaRPr lang="fr-CA"/>
          </a:p>
        </p:txBody>
      </p:sp>
      <p:sp>
        <p:nvSpPr>
          <p:cNvPr id="4" name="Espace réservé du numéro de diapositive 3"/>
          <p:cNvSpPr>
            <a:spLocks noGrp="1"/>
          </p:cNvSpPr>
          <p:nvPr>
            <p:ph type="sldNum" sz="quarter" idx="12"/>
          </p:nvPr>
        </p:nvSpPr>
        <p:spPr/>
        <p:txBody>
          <a:bodyPr/>
          <a:lstStyle/>
          <a:p>
            <a:fld id="{BC887482-05D9-4D32-9364-6613339E3323}" type="slidenum">
              <a:rPr lang="fr-CA" smtClean="0"/>
              <a:t>76</a:t>
            </a:fld>
            <a:endParaRPr lang="fr-CA"/>
          </a:p>
        </p:txBody>
      </p:sp>
    </p:spTree>
    <p:extLst>
      <p:ext uri="{BB962C8B-B14F-4D97-AF65-F5344CB8AC3E}">
        <p14:creationId xmlns:p14="http://schemas.microsoft.com/office/powerpoint/2010/main" val="28267193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pied de page 3"/>
          <p:cNvSpPr>
            <a:spLocks noGrp="1"/>
          </p:cNvSpPr>
          <p:nvPr>
            <p:ph type="ftr" sz="quarter" idx="10"/>
          </p:nvPr>
        </p:nvSpPr>
        <p:spPr/>
        <p:txBody>
          <a:bodyPr/>
          <a:lstStyle/>
          <a:p>
            <a:r>
              <a:rPr lang="fr-CA"/>
              <a:t>Simon Dermarkar</a:t>
            </a:r>
          </a:p>
        </p:txBody>
      </p:sp>
      <p:sp>
        <p:nvSpPr>
          <p:cNvPr id="5" name="Espace réservé du numéro de diapositive 4"/>
          <p:cNvSpPr>
            <a:spLocks noGrp="1"/>
          </p:cNvSpPr>
          <p:nvPr>
            <p:ph type="sldNum" sz="quarter" idx="11"/>
          </p:nvPr>
        </p:nvSpPr>
        <p:spPr/>
        <p:txBody>
          <a:bodyPr/>
          <a:lstStyle/>
          <a:p>
            <a:fld id="{BC887482-05D9-4D32-9364-6613339E3323}" type="slidenum">
              <a:rPr lang="fr-CA" smtClean="0"/>
              <a:t>80</a:t>
            </a:fld>
            <a:endParaRPr lang="fr-CA"/>
          </a:p>
        </p:txBody>
      </p:sp>
    </p:spTree>
    <p:extLst>
      <p:ext uri="{BB962C8B-B14F-4D97-AF65-F5344CB8AC3E}">
        <p14:creationId xmlns:p14="http://schemas.microsoft.com/office/powerpoint/2010/main" val="40300183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pied de page 3"/>
          <p:cNvSpPr>
            <a:spLocks noGrp="1"/>
          </p:cNvSpPr>
          <p:nvPr>
            <p:ph type="ftr" sz="quarter" idx="10"/>
          </p:nvPr>
        </p:nvSpPr>
        <p:spPr/>
        <p:txBody>
          <a:bodyPr/>
          <a:lstStyle/>
          <a:p>
            <a:r>
              <a:rPr lang="fr-CA"/>
              <a:t>Simon Dermarkar</a:t>
            </a:r>
          </a:p>
        </p:txBody>
      </p:sp>
      <p:sp>
        <p:nvSpPr>
          <p:cNvPr id="5" name="Espace réservé du numéro de diapositive 4"/>
          <p:cNvSpPr>
            <a:spLocks noGrp="1"/>
          </p:cNvSpPr>
          <p:nvPr>
            <p:ph type="sldNum" sz="quarter" idx="11"/>
          </p:nvPr>
        </p:nvSpPr>
        <p:spPr/>
        <p:txBody>
          <a:bodyPr/>
          <a:lstStyle/>
          <a:p>
            <a:fld id="{BC887482-05D9-4D32-9364-6613339E3323}" type="slidenum">
              <a:rPr lang="fr-CA" smtClean="0"/>
              <a:t>81</a:t>
            </a:fld>
            <a:endParaRPr lang="fr-CA"/>
          </a:p>
        </p:txBody>
      </p:sp>
    </p:spTree>
    <p:extLst>
      <p:ext uri="{BB962C8B-B14F-4D97-AF65-F5344CB8AC3E}">
        <p14:creationId xmlns:p14="http://schemas.microsoft.com/office/powerpoint/2010/main" val="30495724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pied de page 3"/>
          <p:cNvSpPr>
            <a:spLocks noGrp="1"/>
          </p:cNvSpPr>
          <p:nvPr>
            <p:ph type="ftr" sz="quarter" idx="10"/>
          </p:nvPr>
        </p:nvSpPr>
        <p:spPr/>
        <p:txBody>
          <a:bodyPr/>
          <a:lstStyle/>
          <a:p>
            <a:r>
              <a:rPr lang="fr-CA"/>
              <a:t>Simon Dermarkar</a:t>
            </a:r>
          </a:p>
        </p:txBody>
      </p:sp>
      <p:sp>
        <p:nvSpPr>
          <p:cNvPr id="5" name="Espace réservé du numéro de diapositive 4"/>
          <p:cNvSpPr>
            <a:spLocks noGrp="1"/>
          </p:cNvSpPr>
          <p:nvPr>
            <p:ph type="sldNum" sz="quarter" idx="11"/>
          </p:nvPr>
        </p:nvSpPr>
        <p:spPr/>
        <p:txBody>
          <a:bodyPr/>
          <a:lstStyle/>
          <a:p>
            <a:fld id="{BC887482-05D9-4D32-9364-6613339E3323}" type="slidenum">
              <a:rPr lang="fr-CA" smtClean="0"/>
              <a:t>82</a:t>
            </a:fld>
            <a:endParaRPr lang="fr-CA"/>
          </a:p>
        </p:txBody>
      </p:sp>
    </p:spTree>
    <p:extLst>
      <p:ext uri="{BB962C8B-B14F-4D97-AF65-F5344CB8AC3E}">
        <p14:creationId xmlns:p14="http://schemas.microsoft.com/office/powerpoint/2010/main" val="26075441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pied de page 3"/>
          <p:cNvSpPr>
            <a:spLocks noGrp="1"/>
          </p:cNvSpPr>
          <p:nvPr>
            <p:ph type="ftr" sz="quarter" idx="10"/>
          </p:nvPr>
        </p:nvSpPr>
        <p:spPr/>
        <p:txBody>
          <a:bodyPr/>
          <a:lstStyle/>
          <a:p>
            <a:r>
              <a:rPr lang="fr-CA"/>
              <a:t>Simon Dermarkar</a:t>
            </a:r>
          </a:p>
        </p:txBody>
      </p:sp>
      <p:sp>
        <p:nvSpPr>
          <p:cNvPr id="5" name="Espace réservé du numéro de diapositive 4"/>
          <p:cNvSpPr>
            <a:spLocks noGrp="1"/>
          </p:cNvSpPr>
          <p:nvPr>
            <p:ph type="sldNum" sz="quarter" idx="11"/>
          </p:nvPr>
        </p:nvSpPr>
        <p:spPr/>
        <p:txBody>
          <a:bodyPr/>
          <a:lstStyle/>
          <a:p>
            <a:fld id="{BC887482-05D9-4D32-9364-6613339E3323}" type="slidenum">
              <a:rPr lang="fr-CA" smtClean="0"/>
              <a:t>83</a:t>
            </a:fld>
            <a:endParaRPr lang="fr-CA"/>
          </a:p>
        </p:txBody>
      </p:sp>
    </p:spTree>
    <p:extLst>
      <p:ext uri="{BB962C8B-B14F-4D97-AF65-F5344CB8AC3E}">
        <p14:creationId xmlns:p14="http://schemas.microsoft.com/office/powerpoint/2010/main" val="28435163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pied de page 3"/>
          <p:cNvSpPr>
            <a:spLocks noGrp="1"/>
          </p:cNvSpPr>
          <p:nvPr>
            <p:ph type="ftr" sz="quarter" idx="10"/>
          </p:nvPr>
        </p:nvSpPr>
        <p:spPr/>
        <p:txBody>
          <a:bodyPr/>
          <a:lstStyle/>
          <a:p>
            <a:r>
              <a:rPr lang="fr-CA"/>
              <a:t>Simon Dermarkar</a:t>
            </a:r>
          </a:p>
        </p:txBody>
      </p:sp>
      <p:sp>
        <p:nvSpPr>
          <p:cNvPr id="5" name="Espace réservé du numéro de diapositive 4"/>
          <p:cNvSpPr>
            <a:spLocks noGrp="1"/>
          </p:cNvSpPr>
          <p:nvPr>
            <p:ph type="sldNum" sz="quarter" idx="11"/>
          </p:nvPr>
        </p:nvSpPr>
        <p:spPr/>
        <p:txBody>
          <a:bodyPr/>
          <a:lstStyle/>
          <a:p>
            <a:fld id="{BC887482-05D9-4D32-9364-6613339E3323}" type="slidenum">
              <a:rPr lang="fr-CA" smtClean="0"/>
              <a:t>84</a:t>
            </a:fld>
            <a:endParaRPr lang="fr-CA"/>
          </a:p>
        </p:txBody>
      </p:sp>
    </p:spTree>
    <p:extLst>
      <p:ext uri="{BB962C8B-B14F-4D97-AF65-F5344CB8AC3E}">
        <p14:creationId xmlns:p14="http://schemas.microsoft.com/office/powerpoint/2010/main" val="11589156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e l'en-tête 3"/>
          <p:cNvSpPr>
            <a:spLocks noGrp="1"/>
          </p:cNvSpPr>
          <p:nvPr>
            <p:ph type="hdr" sz="quarter" idx="10"/>
          </p:nvPr>
        </p:nvSpPr>
        <p:spPr/>
        <p:txBody>
          <a:bodyPr/>
          <a:lstStyle/>
          <a:p>
            <a:endParaRPr lang="fr-CA"/>
          </a:p>
        </p:txBody>
      </p:sp>
      <p:sp>
        <p:nvSpPr>
          <p:cNvPr id="5" name="Espace réservé du pied de page 4"/>
          <p:cNvSpPr>
            <a:spLocks noGrp="1"/>
          </p:cNvSpPr>
          <p:nvPr>
            <p:ph type="ftr" sz="quarter" idx="11"/>
          </p:nvPr>
        </p:nvSpPr>
        <p:spPr/>
        <p:txBody>
          <a:bodyPr/>
          <a:lstStyle/>
          <a:p>
            <a:r>
              <a:rPr lang="fr-CA"/>
              <a:t>Andrée Lavigne, CPA auditrice, CA, Audit et autres missions de certification externe - DESS CPA automne 2017 </a:t>
            </a:r>
          </a:p>
        </p:txBody>
      </p:sp>
      <p:sp>
        <p:nvSpPr>
          <p:cNvPr id="6" name="Espace réservé du numéro de diapositive 5"/>
          <p:cNvSpPr>
            <a:spLocks noGrp="1"/>
          </p:cNvSpPr>
          <p:nvPr>
            <p:ph type="sldNum" sz="quarter" idx="12"/>
          </p:nvPr>
        </p:nvSpPr>
        <p:spPr/>
        <p:txBody>
          <a:bodyPr/>
          <a:lstStyle/>
          <a:p>
            <a:fld id="{BC887482-05D9-4D32-9364-6613339E3323}" type="slidenum">
              <a:rPr lang="fr-CA" smtClean="0"/>
              <a:t>91</a:t>
            </a:fld>
            <a:endParaRPr lang="fr-CA"/>
          </a:p>
        </p:txBody>
      </p:sp>
    </p:spTree>
    <p:extLst>
      <p:ext uri="{BB962C8B-B14F-4D97-AF65-F5344CB8AC3E}">
        <p14:creationId xmlns:p14="http://schemas.microsoft.com/office/powerpoint/2010/main" val="12356330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e l'en-tête 3"/>
          <p:cNvSpPr>
            <a:spLocks noGrp="1"/>
          </p:cNvSpPr>
          <p:nvPr>
            <p:ph type="hdr" sz="quarter" idx="10"/>
          </p:nvPr>
        </p:nvSpPr>
        <p:spPr/>
        <p:txBody>
          <a:bodyPr/>
          <a:lstStyle/>
          <a:p>
            <a:endParaRPr lang="fr-CA"/>
          </a:p>
        </p:txBody>
      </p:sp>
      <p:sp>
        <p:nvSpPr>
          <p:cNvPr id="5" name="Espace réservé du pied de page 4"/>
          <p:cNvSpPr>
            <a:spLocks noGrp="1"/>
          </p:cNvSpPr>
          <p:nvPr>
            <p:ph type="ftr" sz="quarter" idx="11"/>
          </p:nvPr>
        </p:nvSpPr>
        <p:spPr/>
        <p:txBody>
          <a:bodyPr/>
          <a:lstStyle/>
          <a:p>
            <a:r>
              <a:rPr lang="fr-CA"/>
              <a:t>Andrée Lavigne, CPA auditrice, CA, Audit et autres missions de certification externe - DESS CPA automne 2017 </a:t>
            </a:r>
          </a:p>
        </p:txBody>
      </p:sp>
      <p:sp>
        <p:nvSpPr>
          <p:cNvPr id="6" name="Espace réservé du numéro de diapositive 5"/>
          <p:cNvSpPr>
            <a:spLocks noGrp="1"/>
          </p:cNvSpPr>
          <p:nvPr>
            <p:ph type="sldNum" sz="quarter" idx="12"/>
          </p:nvPr>
        </p:nvSpPr>
        <p:spPr/>
        <p:txBody>
          <a:bodyPr/>
          <a:lstStyle/>
          <a:p>
            <a:fld id="{BC887482-05D9-4D32-9364-6613339E3323}" type="slidenum">
              <a:rPr lang="fr-CA" smtClean="0"/>
              <a:t>93</a:t>
            </a:fld>
            <a:endParaRPr lang="fr-CA"/>
          </a:p>
        </p:txBody>
      </p:sp>
    </p:spTree>
    <p:extLst>
      <p:ext uri="{BB962C8B-B14F-4D97-AF65-F5344CB8AC3E}">
        <p14:creationId xmlns:p14="http://schemas.microsoft.com/office/powerpoint/2010/main" val="26585665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9" name="Imag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38" y="1719405"/>
            <a:ext cx="10916125" cy="4554308"/>
          </a:xfrm>
          <a:prstGeom prst="rect">
            <a:avLst/>
          </a:prstGeom>
        </p:spPr>
      </p:pic>
      <p:sp>
        <p:nvSpPr>
          <p:cNvPr id="2" name="Titre 1"/>
          <p:cNvSpPr>
            <a:spLocks noGrp="1"/>
          </p:cNvSpPr>
          <p:nvPr>
            <p:ph type="ctrTitle"/>
          </p:nvPr>
        </p:nvSpPr>
        <p:spPr>
          <a:xfrm>
            <a:off x="638400" y="1715040"/>
            <a:ext cx="7032000" cy="1749600"/>
          </a:xfrm>
          <a:solidFill>
            <a:schemeClr val="accent5">
              <a:alpha val="80000"/>
            </a:schemeClr>
          </a:solidFill>
        </p:spPr>
        <p:txBody>
          <a:bodyPr bIns="72000">
            <a:normAutofit/>
          </a:bodyPr>
          <a:lstStyle>
            <a:lvl1pPr>
              <a:defRPr sz="4320">
                <a:solidFill>
                  <a:schemeClr val="accent2"/>
                </a:solidFill>
              </a:defRPr>
            </a:lvl1pPr>
          </a:lstStyle>
          <a:p>
            <a:r>
              <a:rPr lang="fr-FR" noProof="0"/>
              <a:t>Cliquez et modifiez le titre</a:t>
            </a:r>
            <a:endParaRPr lang="fr-CA" noProof="0" dirty="0"/>
          </a:p>
        </p:txBody>
      </p:sp>
      <p:sp>
        <p:nvSpPr>
          <p:cNvPr id="3" name="Sous-titre 2"/>
          <p:cNvSpPr>
            <a:spLocks noGrp="1"/>
          </p:cNvSpPr>
          <p:nvPr>
            <p:ph type="subTitle" idx="1"/>
          </p:nvPr>
        </p:nvSpPr>
        <p:spPr>
          <a:xfrm>
            <a:off x="638400" y="3555187"/>
            <a:ext cx="7022400" cy="482803"/>
          </a:xfrm>
          <a:solidFill>
            <a:schemeClr val="accent5">
              <a:alpha val="80000"/>
            </a:schemeClr>
          </a:solidFill>
        </p:spPr>
        <p:txBody>
          <a:bodyPr anchor="ctr" anchorCtr="0">
            <a:normAutofit/>
          </a:bodyPr>
          <a:lstStyle>
            <a:lvl1pPr marL="0" indent="0" algn="l">
              <a:buNone/>
              <a:defRPr sz="2400">
                <a:solidFill>
                  <a:schemeClr val="accent2"/>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fr-FR" noProof="0"/>
              <a:t>Cliquez pour modifier le style des sous-titres du masque</a:t>
            </a:r>
            <a:endParaRPr lang="fr-CA" noProof="0" dirty="0"/>
          </a:p>
        </p:txBody>
      </p:sp>
      <p:sp>
        <p:nvSpPr>
          <p:cNvPr id="6" name="Espace réservé du numéro de diapositive 5"/>
          <p:cNvSpPr>
            <a:spLocks noGrp="1"/>
          </p:cNvSpPr>
          <p:nvPr>
            <p:ph type="sldNum" sz="quarter" idx="12"/>
          </p:nvPr>
        </p:nvSpPr>
        <p:spPr>
          <a:xfrm>
            <a:off x="10934400" y="6462720"/>
            <a:ext cx="619200" cy="164160"/>
          </a:xfrm>
        </p:spPr>
        <p:txBody>
          <a:bodyPr vert="horz" lIns="91440" tIns="45720" rIns="91440" bIns="45720" rtlCol="0" anchor="ctr"/>
          <a:lstStyle>
            <a:lvl1pPr marL="0" algn="r" defTabSz="1097280" rtl="0" eaLnBrk="1" latinLnBrk="0" hangingPunct="1">
              <a:defRPr lang="fr-CA" sz="804" kern="1200" smtClean="0">
                <a:solidFill>
                  <a:schemeClr val="accent2"/>
                </a:solidFill>
                <a:latin typeface="+mn-lt"/>
                <a:ea typeface="+mn-ea"/>
                <a:cs typeface="+mn-cs"/>
              </a:defRPr>
            </a:lvl1pPr>
          </a:lstStyle>
          <a:p>
            <a:fld id="{D57F1E4F-1CFF-5643-939E-02111984F565}" type="slidenum">
              <a:rPr lang="en-US" smtClean="0"/>
              <a:t>‹N°›</a:t>
            </a:fld>
            <a:endParaRPr lang="en-US" dirty="0"/>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892" y="280875"/>
            <a:ext cx="7043697" cy="978868"/>
          </a:xfrm>
          <a:prstGeom prst="rect">
            <a:avLst/>
          </a:prstGeom>
        </p:spPr>
      </p:pic>
      <p:sp>
        <p:nvSpPr>
          <p:cNvPr id="11" name="Espace réservé du pied de page 10"/>
          <p:cNvSpPr>
            <a:spLocks noGrp="1"/>
          </p:cNvSpPr>
          <p:nvPr>
            <p:ph type="ftr" sz="quarter" idx="14"/>
          </p:nvPr>
        </p:nvSpPr>
        <p:spPr>
          <a:xfrm>
            <a:off x="637938" y="6033953"/>
            <a:ext cx="2865599" cy="240066"/>
          </a:xfrm>
          <a:solidFill>
            <a:schemeClr val="accent5"/>
          </a:solidFill>
        </p:spPr>
        <p:txBody>
          <a:bodyPr/>
          <a:lstStyle>
            <a:lvl1pPr algn="l">
              <a:defRPr sz="1560" cap="all" baseline="0">
                <a:solidFill>
                  <a:schemeClr val="bg1"/>
                </a:solidFill>
              </a:defRPr>
            </a:lvl1pPr>
          </a:lstStyle>
          <a:p>
            <a:r>
              <a:rPr lang="fr-CA"/>
              <a:t>Préparé par Anne-Marie Hubert, CPA auditrice, CA.  2017</a:t>
            </a:r>
            <a:endParaRPr lang="en-US" dirty="0"/>
          </a:p>
        </p:txBody>
      </p:sp>
      <p:sp>
        <p:nvSpPr>
          <p:cNvPr id="13" name="Espace réservé de la date 12"/>
          <p:cNvSpPr>
            <a:spLocks noGrp="1"/>
          </p:cNvSpPr>
          <p:nvPr>
            <p:ph type="dt" sz="half" idx="15"/>
          </p:nvPr>
        </p:nvSpPr>
        <p:spPr/>
        <p:txBody>
          <a:bodyPr/>
          <a:lstStyle/>
          <a:p>
            <a:fld id="{7BF3FD48-DAEA-2D45-9143-D6007A2FB430}" type="datetime1">
              <a:rPr lang="fr-CA" smtClean="0"/>
              <a:t>2025-02-27</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638400" y="575623"/>
            <a:ext cx="10915200" cy="987552"/>
          </a:xfrm>
        </p:spPr>
        <p:txBody>
          <a:bodyPr/>
          <a:lstStyle/>
          <a:p>
            <a:r>
              <a:rPr lang="fr-CA" noProof="0" dirty="0"/>
              <a:t>Click to </a:t>
            </a:r>
            <a:r>
              <a:rPr lang="fr-CA" noProof="0" dirty="0" err="1"/>
              <a:t>edit</a:t>
            </a:r>
            <a:r>
              <a:rPr lang="fr-CA" noProof="0" dirty="0"/>
              <a:t> </a:t>
            </a:r>
            <a:r>
              <a:rPr lang="fr-CA" noProof="0" dirty="0" err="1"/>
              <a:t>title</a:t>
            </a:r>
            <a:r>
              <a:rPr lang="fr-CA" noProof="0" dirty="0"/>
              <a:t> style</a:t>
            </a:r>
          </a:p>
        </p:txBody>
      </p:sp>
      <p:sp>
        <p:nvSpPr>
          <p:cNvPr id="3" name="Espace réservé du contenu 2"/>
          <p:cNvSpPr>
            <a:spLocks noGrp="1"/>
          </p:cNvSpPr>
          <p:nvPr>
            <p:ph idx="1"/>
          </p:nvPr>
        </p:nvSpPr>
        <p:spPr>
          <a:xfrm>
            <a:off x="638400" y="1893224"/>
            <a:ext cx="10915200" cy="3825587"/>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e la date 3"/>
          <p:cNvSpPr>
            <a:spLocks noGrp="1"/>
          </p:cNvSpPr>
          <p:nvPr>
            <p:ph type="dt" sz="half" idx="10"/>
          </p:nvPr>
        </p:nvSpPr>
        <p:spPr/>
        <p:txBody>
          <a:bodyPr/>
          <a:lstStyle/>
          <a:p>
            <a:fld id="{9BC7D48E-FB93-E946-8D3F-3F581D60A378}" type="datetime1">
              <a:rPr lang="fr-CA" smtClean="0"/>
              <a:t>2025-02-27</a:t>
            </a:fld>
            <a:endParaRPr lang="en-US" dirty="0"/>
          </a:p>
        </p:txBody>
      </p:sp>
      <p:sp>
        <p:nvSpPr>
          <p:cNvPr id="5" name="Espace réservé du pied de page 4"/>
          <p:cNvSpPr>
            <a:spLocks noGrp="1"/>
          </p:cNvSpPr>
          <p:nvPr>
            <p:ph type="ftr" sz="quarter" idx="11"/>
          </p:nvPr>
        </p:nvSpPr>
        <p:spPr/>
        <p:txBody>
          <a:bodyPr/>
          <a:lstStyle/>
          <a:p>
            <a:r>
              <a:rPr lang="fr-CA"/>
              <a:t>Préparé par Anne-Marie Hubert, CPA auditrice, CA.  2017</a:t>
            </a:r>
            <a:endParaRPr lang="en-US" dirty="0"/>
          </a:p>
        </p:txBody>
      </p:sp>
      <p:sp>
        <p:nvSpPr>
          <p:cNvPr id="6" name="Espace réservé du numéro de diapositive 5"/>
          <p:cNvSpPr>
            <a:spLocks noGrp="1"/>
          </p:cNvSpPr>
          <p:nvPr>
            <p:ph type="sldNum" sz="quarter" idx="12"/>
          </p:nvPr>
        </p:nvSpPr>
        <p:spPr/>
        <p:txBody>
          <a:bodyPr/>
          <a:lstStyle/>
          <a:p>
            <a:fld id="{D57F1E4F-1CFF-5643-939E-02111984F565}" type="slidenum">
              <a:rPr lang="en-US" smtClean="0"/>
              <a:t>‹N°›</a:t>
            </a:fld>
            <a:endParaRPr lang="en-US" dirty="0"/>
          </a:p>
        </p:txBody>
      </p:sp>
      <p:sp>
        <p:nvSpPr>
          <p:cNvPr id="7" name="TextBox 6"/>
          <p:cNvSpPr txBox="1"/>
          <p:nvPr/>
        </p:nvSpPr>
        <p:spPr>
          <a:xfrm>
            <a:off x="461433" y="5718810"/>
            <a:ext cx="1219200" cy="1097280"/>
          </a:xfrm>
          <a:prstGeom prst="rect">
            <a:avLst/>
          </a:prstGeom>
        </p:spPr>
        <p:txBody>
          <a:bodyPr vert="horz" wrap="none" lIns="109728" tIns="54864" rIns="109728" bIns="54864" rtlCol="0">
            <a:normAutofit/>
          </a:bodyPr>
          <a:lstStyle/>
          <a:p>
            <a:pPr marL="185760" indent="-185760">
              <a:buClr>
                <a:schemeClr val="accent2"/>
              </a:buClr>
              <a:buSzPct val="125000"/>
              <a:buFont typeface="Arial" panose="020B0604020202020204" pitchFamily="34" charset="0"/>
              <a:buChar char="•"/>
            </a:pPr>
            <a:endParaRPr lang="fr-CA" sz="2004" noProof="0" dirty="0"/>
          </a:p>
        </p:txBody>
      </p:sp>
    </p:spTree>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4" name="Rectangle 3"/>
          <p:cNvSpPr/>
          <p:nvPr/>
        </p:nvSpPr>
        <p:spPr>
          <a:xfrm>
            <a:off x="2749419" y="4143768"/>
            <a:ext cx="8804180" cy="17337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160" noProof="0" dirty="0"/>
          </a:p>
        </p:txBody>
      </p:sp>
      <p:pic>
        <p:nvPicPr>
          <p:cNvPr id="8" name="Image 7"/>
          <p:cNvPicPr>
            <a:picLocks noChangeAspect="1"/>
          </p:cNvPicPr>
          <p:nvPr/>
        </p:nvPicPr>
        <p:blipFill rotWithShape="1">
          <a:blip r:embed="rId2" cstate="print">
            <a:extLst>
              <a:ext uri="{28A0092B-C50C-407E-A947-70E740481C1C}">
                <a14:useLocalDpi xmlns:a14="http://schemas.microsoft.com/office/drawing/2010/main" val="0"/>
              </a:ext>
            </a:extLst>
          </a:blip>
          <a:srcRect l="33863" t="-901" b="1413"/>
          <a:stretch/>
        </p:blipFill>
        <p:spPr>
          <a:xfrm>
            <a:off x="7787951" y="1685399"/>
            <a:ext cx="3766109" cy="2367820"/>
          </a:xfrm>
          <a:prstGeom prst="rect">
            <a:avLst/>
          </a:prstGeom>
        </p:spPr>
      </p:pic>
      <p:sp>
        <p:nvSpPr>
          <p:cNvPr id="2" name="Titre 1"/>
          <p:cNvSpPr>
            <a:spLocks noGrp="1"/>
          </p:cNvSpPr>
          <p:nvPr>
            <p:ph type="title"/>
          </p:nvPr>
        </p:nvSpPr>
        <p:spPr>
          <a:xfrm>
            <a:off x="638400" y="1715039"/>
            <a:ext cx="7032000" cy="1749600"/>
          </a:xfrm>
          <a:solidFill>
            <a:schemeClr val="accent5"/>
          </a:solidFill>
        </p:spPr>
        <p:txBody>
          <a:bodyPr vert="horz" lIns="91440" tIns="45720" rIns="91440" bIns="72000" rtlCol="0" anchor="ctr">
            <a:normAutofit/>
          </a:bodyPr>
          <a:lstStyle>
            <a:lvl1pPr algn="l" defTabSz="1097280" rtl="0" eaLnBrk="1" latinLnBrk="0" hangingPunct="1">
              <a:spcBef>
                <a:spcPct val="0"/>
              </a:spcBef>
              <a:buNone/>
              <a:defRPr lang="fr-CA" sz="4320" b="1" kern="1200" dirty="0">
                <a:solidFill>
                  <a:schemeClr val="accent2"/>
                </a:solidFill>
                <a:latin typeface="+mj-lt"/>
                <a:ea typeface="+mj-ea"/>
                <a:cs typeface="+mj-cs"/>
              </a:defRPr>
            </a:lvl1pPr>
          </a:lstStyle>
          <a:p>
            <a:r>
              <a:rPr lang="fr-FR" noProof="0"/>
              <a:t>Cliquez et modifiez le titre</a:t>
            </a:r>
            <a:endParaRPr lang="fr-CA" noProof="0" dirty="0"/>
          </a:p>
        </p:txBody>
      </p:sp>
      <p:sp>
        <p:nvSpPr>
          <p:cNvPr id="3" name="Espace réservé du texte 2"/>
          <p:cNvSpPr>
            <a:spLocks noGrp="1"/>
          </p:cNvSpPr>
          <p:nvPr>
            <p:ph type="body" idx="1"/>
          </p:nvPr>
        </p:nvSpPr>
        <p:spPr>
          <a:xfrm>
            <a:off x="638400" y="3555187"/>
            <a:ext cx="7022400" cy="482803"/>
          </a:xfrm>
          <a:solidFill>
            <a:schemeClr val="accent5"/>
          </a:solidFill>
        </p:spPr>
        <p:txBody>
          <a:bodyPr vert="horz" lIns="91440" tIns="45720" rIns="91440" bIns="45720" rtlCol="0" anchor="ctr" anchorCtr="0">
            <a:normAutofit/>
          </a:bodyPr>
          <a:lstStyle>
            <a:lvl1pPr marL="0" indent="0" algn="l" defTabSz="1097280" rtl="0" eaLnBrk="1" latinLnBrk="0" hangingPunct="1">
              <a:spcBef>
                <a:spcPct val="20000"/>
              </a:spcBef>
              <a:buClr>
                <a:schemeClr val="accent2"/>
              </a:buClr>
              <a:buSzPct val="125000"/>
              <a:buFont typeface="Arial" pitchFamily="34" charset="0"/>
              <a:buNone/>
              <a:defRPr lang="fr-FR" sz="2400" kern="1200" smtClean="0">
                <a:solidFill>
                  <a:schemeClr val="accent2"/>
                </a:solidFill>
                <a:latin typeface="+mn-lt"/>
                <a:ea typeface="+mn-ea"/>
                <a:cs typeface="+mn-cs"/>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fr-FR" noProof="0"/>
              <a:t>Cliquez pour modifier les styles du texte du masque</a:t>
            </a:r>
          </a:p>
        </p:txBody>
      </p:sp>
      <p:sp>
        <p:nvSpPr>
          <p:cNvPr id="6" name="Espace réservé du numéro de diapositive 5"/>
          <p:cNvSpPr>
            <a:spLocks noGrp="1"/>
          </p:cNvSpPr>
          <p:nvPr>
            <p:ph type="sldNum" sz="quarter" idx="12"/>
          </p:nvPr>
        </p:nvSpPr>
        <p:spPr/>
        <p:txBody>
          <a:bodyPr/>
          <a:lstStyle/>
          <a:p>
            <a:fld id="{D57F1E4F-1CFF-5643-939E-02111984F565}" type="slidenum">
              <a:rPr lang="en-US" smtClean="0"/>
              <a:t>‹N°›</a:t>
            </a:fld>
            <a:endParaRPr lang="en-US" dirty="0"/>
          </a:p>
        </p:txBody>
      </p:sp>
      <p:sp>
        <p:nvSpPr>
          <p:cNvPr id="10" name="Espace réservé de la date 9"/>
          <p:cNvSpPr>
            <a:spLocks noGrp="1"/>
          </p:cNvSpPr>
          <p:nvPr>
            <p:ph type="dt" sz="half" idx="13"/>
          </p:nvPr>
        </p:nvSpPr>
        <p:spPr/>
        <p:txBody>
          <a:bodyPr/>
          <a:lstStyle/>
          <a:p>
            <a:fld id="{5158F7AD-9B44-234A-B9A4-9711A4E7C886}" type="datetime1">
              <a:rPr lang="fr-CA" smtClean="0"/>
              <a:t>2025-02-27</a:t>
            </a:fld>
            <a:endParaRPr lang="en-US" dirty="0"/>
          </a:p>
        </p:txBody>
      </p:sp>
      <p:sp>
        <p:nvSpPr>
          <p:cNvPr id="11" name="Espace réservé du pied de page 10"/>
          <p:cNvSpPr>
            <a:spLocks noGrp="1"/>
          </p:cNvSpPr>
          <p:nvPr>
            <p:ph type="ftr" sz="quarter" idx="14"/>
          </p:nvPr>
        </p:nvSpPr>
        <p:spPr/>
        <p:txBody>
          <a:bodyPr/>
          <a:lstStyle/>
          <a:p>
            <a:r>
              <a:rPr lang="fr-CA"/>
              <a:t>Préparé par Anne-Marie Hubert, CPA auditrice, CA.  2017</a:t>
            </a:r>
            <a:endParaRPr lang="en-US" dirty="0"/>
          </a:p>
        </p:txBody>
      </p:sp>
      <p:pic>
        <p:nvPicPr>
          <p:cNvPr id="13" name="Image 7"/>
          <p:cNvPicPr>
            <a:picLocks noChangeAspect="1"/>
          </p:cNvPicPr>
          <p:nvPr/>
        </p:nvPicPr>
        <p:blipFill rotWithShape="1">
          <a:blip r:embed="rId3">
            <a:extLst>
              <a:ext uri="{28A0092B-C50C-407E-A947-70E740481C1C}">
                <a14:useLocalDpi xmlns:a14="http://schemas.microsoft.com/office/drawing/2010/main" val="0"/>
              </a:ext>
            </a:extLst>
          </a:blip>
          <a:srcRect l="32451" r="1"/>
          <a:stretch/>
        </p:blipFill>
        <p:spPr>
          <a:xfrm>
            <a:off x="7775511" y="1719405"/>
            <a:ext cx="3778552" cy="2333814"/>
          </a:xfrm>
          <a:prstGeom prst="rect">
            <a:avLst/>
          </a:prstGeom>
        </p:spPr>
      </p:pic>
      <p:sp>
        <p:nvSpPr>
          <p:cNvPr id="5" name="Rectangle 4"/>
          <p:cNvSpPr/>
          <p:nvPr/>
        </p:nvSpPr>
        <p:spPr>
          <a:xfrm>
            <a:off x="638400" y="4143767"/>
            <a:ext cx="2023936" cy="17448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160" noProof="0" dirty="0"/>
          </a:p>
        </p:txBody>
      </p:sp>
      <p:pic>
        <p:nvPicPr>
          <p:cNvPr id="12" name="Imag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89805" y="6038593"/>
            <a:ext cx="2053463" cy="255431"/>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638400" y="577216"/>
            <a:ext cx="10915200" cy="988033"/>
          </a:xfrm>
        </p:spPr>
        <p:txBody>
          <a:bodyPr/>
          <a:lstStyle/>
          <a:p>
            <a:r>
              <a:rPr lang="fr-FR" noProof="0"/>
              <a:t>Cliquez et modifiez le titre</a:t>
            </a:r>
            <a:endParaRPr lang="fr-CA" noProof="0" dirty="0"/>
          </a:p>
        </p:txBody>
      </p:sp>
      <p:sp>
        <p:nvSpPr>
          <p:cNvPr id="3" name="Espace réservé du contenu 2"/>
          <p:cNvSpPr>
            <a:spLocks noGrp="1"/>
          </p:cNvSpPr>
          <p:nvPr>
            <p:ph sz="half" idx="1"/>
          </p:nvPr>
        </p:nvSpPr>
        <p:spPr>
          <a:xfrm>
            <a:off x="609600" y="1821282"/>
            <a:ext cx="5384800" cy="3897529"/>
          </a:xfrm>
        </p:spPr>
        <p:txBody>
          <a:bodyPr>
            <a:normAutofit/>
          </a:bodyPr>
          <a:lstStyle>
            <a:lvl1pPr>
              <a:defRPr sz="2004"/>
            </a:lvl1pPr>
            <a:lvl2pPr>
              <a:defRPr sz="2004"/>
            </a:lvl2pPr>
            <a:lvl3pPr>
              <a:defRPr sz="2004"/>
            </a:lvl3pPr>
            <a:lvl4pPr>
              <a:defRPr sz="2004"/>
            </a:lvl4pPr>
            <a:lvl5pPr>
              <a:defRPr sz="2004"/>
            </a:lvl5pPr>
            <a:lvl6pPr>
              <a:defRPr sz="2160"/>
            </a:lvl6pPr>
            <a:lvl7pPr>
              <a:defRPr sz="2160"/>
            </a:lvl7pPr>
            <a:lvl8pPr>
              <a:defRPr sz="2160"/>
            </a:lvl8pPr>
            <a:lvl9pPr>
              <a:defRPr sz="216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contenu 3"/>
          <p:cNvSpPr>
            <a:spLocks noGrp="1"/>
          </p:cNvSpPr>
          <p:nvPr>
            <p:ph sz="half" idx="2"/>
          </p:nvPr>
        </p:nvSpPr>
        <p:spPr>
          <a:xfrm>
            <a:off x="6197600" y="1821282"/>
            <a:ext cx="5384800" cy="3897529"/>
          </a:xfrm>
        </p:spPr>
        <p:txBody>
          <a:bodyPr>
            <a:normAutofit/>
          </a:bodyPr>
          <a:lstStyle>
            <a:lvl1pPr>
              <a:defRPr sz="2004"/>
            </a:lvl1pPr>
            <a:lvl2pPr>
              <a:defRPr sz="2004"/>
            </a:lvl2pPr>
            <a:lvl3pPr>
              <a:defRPr sz="2004"/>
            </a:lvl3pPr>
            <a:lvl4pPr>
              <a:defRPr sz="2004"/>
            </a:lvl4pPr>
            <a:lvl5pPr>
              <a:defRPr sz="2004"/>
            </a:lvl5pPr>
            <a:lvl6pPr>
              <a:defRPr sz="2160"/>
            </a:lvl6pPr>
            <a:lvl7pPr>
              <a:defRPr sz="2160"/>
            </a:lvl7pPr>
            <a:lvl8pPr>
              <a:defRPr sz="2160"/>
            </a:lvl8pPr>
            <a:lvl9pPr>
              <a:defRPr sz="216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5" name="Espace réservé de la date 4"/>
          <p:cNvSpPr>
            <a:spLocks noGrp="1"/>
          </p:cNvSpPr>
          <p:nvPr>
            <p:ph type="dt" sz="half" idx="10"/>
          </p:nvPr>
        </p:nvSpPr>
        <p:spPr/>
        <p:txBody>
          <a:bodyPr/>
          <a:lstStyle/>
          <a:p>
            <a:fld id="{CA1EAE31-FCCB-AC4C-9E8F-B6FA432739CD}" type="datetime1">
              <a:rPr lang="fr-CA" smtClean="0"/>
              <a:t>2025-02-27</a:t>
            </a:fld>
            <a:endParaRPr lang="en-US" dirty="0"/>
          </a:p>
        </p:txBody>
      </p:sp>
      <p:sp>
        <p:nvSpPr>
          <p:cNvPr id="6" name="Espace réservé du pied de page 5"/>
          <p:cNvSpPr>
            <a:spLocks noGrp="1"/>
          </p:cNvSpPr>
          <p:nvPr>
            <p:ph type="ftr" sz="quarter" idx="11"/>
          </p:nvPr>
        </p:nvSpPr>
        <p:spPr/>
        <p:txBody>
          <a:bodyPr/>
          <a:lstStyle/>
          <a:p>
            <a:r>
              <a:rPr lang="fr-CA"/>
              <a:t>Préparé par Anne-Marie Hubert, CPA auditrice, CA.  2017</a:t>
            </a:r>
            <a:endParaRPr lang="en-US" dirty="0"/>
          </a:p>
        </p:txBody>
      </p:sp>
      <p:sp>
        <p:nvSpPr>
          <p:cNvPr id="7" name="Espace réservé du numéro de diapositive 6"/>
          <p:cNvSpPr>
            <a:spLocks noGrp="1"/>
          </p:cNvSpPr>
          <p:nvPr>
            <p:ph type="sldNum" sz="quarter" idx="12"/>
          </p:nvPr>
        </p:nvSpPr>
        <p:spPr/>
        <p:txBody>
          <a:bodyPr/>
          <a:lstStyle/>
          <a:p>
            <a:fld id="{D57F1E4F-1CFF-5643-939E-02111984F565}" type="slidenum">
              <a:rPr lang="en-US" smtClean="0"/>
              <a:t>‹N°›</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38400" y="574442"/>
            <a:ext cx="10915200" cy="984599"/>
          </a:xfrm>
        </p:spPr>
        <p:txBody>
          <a:bodyPr/>
          <a:lstStyle>
            <a:lvl1pPr>
              <a:defRPr/>
            </a:lvl1pPr>
          </a:lstStyle>
          <a:p>
            <a:r>
              <a:rPr lang="fr-FR" noProof="0"/>
              <a:t>Cliquez et modifiez le titre</a:t>
            </a:r>
            <a:endParaRPr lang="fr-CA" noProof="0" dirty="0"/>
          </a:p>
        </p:txBody>
      </p:sp>
      <p:sp>
        <p:nvSpPr>
          <p:cNvPr id="3" name="Espace réservé du texte 2"/>
          <p:cNvSpPr>
            <a:spLocks noGrp="1"/>
          </p:cNvSpPr>
          <p:nvPr>
            <p:ph type="body" idx="1"/>
          </p:nvPr>
        </p:nvSpPr>
        <p:spPr>
          <a:xfrm>
            <a:off x="609600" y="1813561"/>
            <a:ext cx="5386917" cy="639762"/>
          </a:xfrm>
        </p:spPr>
        <p:txBody>
          <a:bodyPr anchor="b">
            <a:noAutofit/>
          </a:bodyPr>
          <a:lstStyle>
            <a:lvl1pPr marL="0" indent="0">
              <a:buNone/>
              <a:defRPr sz="1800" b="1" cap="all" baseline="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fr-FR" noProof="0"/>
              <a:t>Cliquez pour modifier les styles du texte du masque</a:t>
            </a:r>
          </a:p>
        </p:txBody>
      </p:sp>
      <p:sp>
        <p:nvSpPr>
          <p:cNvPr id="4" name="Espace réservé du contenu 3"/>
          <p:cNvSpPr>
            <a:spLocks noGrp="1"/>
          </p:cNvSpPr>
          <p:nvPr>
            <p:ph sz="half" idx="2"/>
          </p:nvPr>
        </p:nvSpPr>
        <p:spPr>
          <a:xfrm>
            <a:off x="609600" y="2453323"/>
            <a:ext cx="5386917" cy="3265488"/>
          </a:xfrm>
        </p:spPr>
        <p:txBody>
          <a:bodyPr>
            <a:normAutofit/>
          </a:bodyPr>
          <a:lstStyle>
            <a:lvl1pPr>
              <a:defRPr sz="2004"/>
            </a:lvl1pPr>
            <a:lvl2pPr>
              <a:defRPr sz="2004"/>
            </a:lvl2pPr>
            <a:lvl3pPr>
              <a:defRPr sz="2004"/>
            </a:lvl3pPr>
            <a:lvl4pPr>
              <a:defRPr sz="2004"/>
            </a:lvl4pPr>
            <a:lvl5pPr>
              <a:defRPr sz="2004"/>
            </a:lvl5pPr>
            <a:lvl6pPr>
              <a:defRPr sz="1920"/>
            </a:lvl6pPr>
            <a:lvl7pPr>
              <a:defRPr sz="1920"/>
            </a:lvl7pPr>
            <a:lvl8pPr>
              <a:defRPr sz="1920"/>
            </a:lvl8pPr>
            <a:lvl9pPr>
              <a:defRPr sz="192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5" name="Espace réservé du texte 4"/>
          <p:cNvSpPr>
            <a:spLocks noGrp="1"/>
          </p:cNvSpPr>
          <p:nvPr>
            <p:ph type="body" sz="quarter" idx="3"/>
          </p:nvPr>
        </p:nvSpPr>
        <p:spPr>
          <a:xfrm>
            <a:off x="6193369" y="1813561"/>
            <a:ext cx="5389033" cy="639762"/>
          </a:xfrm>
        </p:spPr>
        <p:txBody>
          <a:bodyPr anchor="b">
            <a:noAutofit/>
          </a:bodyPr>
          <a:lstStyle>
            <a:lvl1pPr marL="0" indent="0">
              <a:buNone/>
              <a:defRPr sz="1800" b="1" cap="all" baseline="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fr-FR" noProof="0"/>
              <a:t>Cliquez pour modifier les styles du texte du masque</a:t>
            </a:r>
          </a:p>
        </p:txBody>
      </p:sp>
      <p:sp>
        <p:nvSpPr>
          <p:cNvPr id="6" name="Espace réservé du contenu 5"/>
          <p:cNvSpPr>
            <a:spLocks noGrp="1"/>
          </p:cNvSpPr>
          <p:nvPr>
            <p:ph sz="quarter" idx="4"/>
          </p:nvPr>
        </p:nvSpPr>
        <p:spPr>
          <a:xfrm>
            <a:off x="6193369" y="2453323"/>
            <a:ext cx="5389033" cy="3265488"/>
          </a:xfrm>
        </p:spPr>
        <p:txBody>
          <a:bodyPr>
            <a:normAutofit/>
          </a:bodyPr>
          <a:lstStyle>
            <a:lvl1pPr>
              <a:defRPr sz="2004"/>
            </a:lvl1pPr>
            <a:lvl2pPr>
              <a:defRPr sz="2004"/>
            </a:lvl2pPr>
            <a:lvl3pPr>
              <a:defRPr sz="2004"/>
            </a:lvl3pPr>
            <a:lvl4pPr>
              <a:defRPr sz="2004"/>
            </a:lvl4pPr>
            <a:lvl5pPr>
              <a:defRPr sz="2004"/>
            </a:lvl5pPr>
            <a:lvl6pPr>
              <a:defRPr sz="1920"/>
            </a:lvl6pPr>
            <a:lvl7pPr>
              <a:defRPr sz="1920"/>
            </a:lvl7pPr>
            <a:lvl8pPr>
              <a:defRPr sz="1920"/>
            </a:lvl8pPr>
            <a:lvl9pPr>
              <a:defRPr sz="192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7" name="Espace réservé de la date 6"/>
          <p:cNvSpPr>
            <a:spLocks noGrp="1"/>
          </p:cNvSpPr>
          <p:nvPr>
            <p:ph type="dt" sz="half" idx="10"/>
          </p:nvPr>
        </p:nvSpPr>
        <p:spPr/>
        <p:txBody>
          <a:bodyPr/>
          <a:lstStyle/>
          <a:p>
            <a:fld id="{4624FA42-E9D7-B548-A73F-1C78EE236DD3}" type="datetime1">
              <a:rPr lang="fr-CA" smtClean="0"/>
              <a:t>2025-02-27</a:t>
            </a:fld>
            <a:endParaRPr lang="en-US" dirty="0"/>
          </a:p>
        </p:txBody>
      </p:sp>
      <p:sp>
        <p:nvSpPr>
          <p:cNvPr id="8" name="Espace réservé du pied de page 7"/>
          <p:cNvSpPr>
            <a:spLocks noGrp="1"/>
          </p:cNvSpPr>
          <p:nvPr>
            <p:ph type="ftr" sz="quarter" idx="11"/>
          </p:nvPr>
        </p:nvSpPr>
        <p:spPr/>
        <p:txBody>
          <a:bodyPr/>
          <a:lstStyle/>
          <a:p>
            <a:r>
              <a:rPr lang="fr-CA"/>
              <a:t>Préparé par Anne-Marie Hubert, CPA auditrice, CA.  2017</a:t>
            </a:r>
            <a:endParaRPr lang="en-US" dirty="0"/>
          </a:p>
        </p:txBody>
      </p:sp>
      <p:sp>
        <p:nvSpPr>
          <p:cNvPr id="9" name="Espace réservé du numéro de diapositive 8"/>
          <p:cNvSpPr>
            <a:spLocks noGrp="1"/>
          </p:cNvSpPr>
          <p:nvPr>
            <p:ph type="sldNum" sz="quarter" idx="12"/>
          </p:nvPr>
        </p:nvSpPr>
        <p:spPr/>
        <p:txBody>
          <a:bodyPr/>
          <a:lstStyle/>
          <a:p>
            <a:fld id="{D57F1E4F-1CFF-5643-939E-02111984F565}" type="slidenum">
              <a:rPr lang="en-US" smtClean="0"/>
              <a:t>‹N°›</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638400" y="577216"/>
            <a:ext cx="10915200" cy="983730"/>
          </a:xfrm>
        </p:spPr>
        <p:txBody>
          <a:bodyPr/>
          <a:lstStyle/>
          <a:p>
            <a:r>
              <a:rPr lang="fr-FR" noProof="0"/>
              <a:t>Cliquez et modifiez le titre</a:t>
            </a:r>
            <a:endParaRPr lang="fr-CA" noProof="0" dirty="0"/>
          </a:p>
        </p:txBody>
      </p:sp>
      <p:sp>
        <p:nvSpPr>
          <p:cNvPr id="3" name="Espace réservé de la date 2"/>
          <p:cNvSpPr>
            <a:spLocks noGrp="1"/>
          </p:cNvSpPr>
          <p:nvPr>
            <p:ph type="dt" sz="half" idx="10"/>
          </p:nvPr>
        </p:nvSpPr>
        <p:spPr/>
        <p:txBody>
          <a:bodyPr/>
          <a:lstStyle/>
          <a:p>
            <a:fld id="{4FB751D9-2403-B849-9016-F2D52F318DA9}" type="datetime1">
              <a:rPr lang="fr-CA" smtClean="0"/>
              <a:t>2025-02-27</a:t>
            </a:fld>
            <a:endParaRPr lang="en-US" dirty="0"/>
          </a:p>
        </p:txBody>
      </p:sp>
      <p:sp>
        <p:nvSpPr>
          <p:cNvPr id="4" name="Espace réservé du pied de page 3"/>
          <p:cNvSpPr>
            <a:spLocks noGrp="1"/>
          </p:cNvSpPr>
          <p:nvPr>
            <p:ph type="ftr" sz="quarter" idx="11"/>
          </p:nvPr>
        </p:nvSpPr>
        <p:spPr/>
        <p:txBody>
          <a:bodyPr/>
          <a:lstStyle/>
          <a:p>
            <a:r>
              <a:rPr lang="fr-CA"/>
              <a:t>Préparé par Anne-Marie Hubert, CPA auditrice, CA.  2017</a:t>
            </a:r>
            <a:endParaRPr lang="en-US" dirty="0"/>
          </a:p>
        </p:txBody>
      </p:sp>
      <p:sp>
        <p:nvSpPr>
          <p:cNvPr id="5" name="Espace réservé du numéro de diapositive 4"/>
          <p:cNvSpPr>
            <a:spLocks noGrp="1"/>
          </p:cNvSpPr>
          <p:nvPr>
            <p:ph type="sldNum" sz="quarter" idx="12"/>
          </p:nvPr>
        </p:nvSpPr>
        <p:spPr/>
        <p:txBody>
          <a:bodyPr/>
          <a:lstStyle/>
          <a:p>
            <a:fld id="{D57F1E4F-1CFF-5643-939E-02111984F565}" type="slidenum">
              <a:rPr lang="en-US" smtClean="0"/>
              <a:t>‹N°›</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BAEAAC8-F807-134F-AA1E-2EA694B27C6C}" type="datetime1">
              <a:rPr lang="fr-CA" smtClean="0"/>
              <a:t>2025-02-27</a:t>
            </a:fld>
            <a:endParaRPr lang="en-US" dirty="0"/>
          </a:p>
        </p:txBody>
      </p:sp>
      <p:sp>
        <p:nvSpPr>
          <p:cNvPr id="3" name="Espace réservé du pied de page 2"/>
          <p:cNvSpPr>
            <a:spLocks noGrp="1"/>
          </p:cNvSpPr>
          <p:nvPr>
            <p:ph type="ftr" sz="quarter" idx="11"/>
          </p:nvPr>
        </p:nvSpPr>
        <p:spPr/>
        <p:txBody>
          <a:bodyPr/>
          <a:lstStyle/>
          <a:p>
            <a:r>
              <a:rPr lang="fr-CA"/>
              <a:t>Préparé par Anne-Marie Hubert, CPA auditrice, CA.  2017</a:t>
            </a:r>
            <a:endParaRPr lang="en-US" dirty="0"/>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38400" y="572631"/>
            <a:ext cx="10915200" cy="986410"/>
          </a:xfrm>
        </p:spPr>
        <p:txBody>
          <a:bodyPr anchor="ctr" anchorCtr="0"/>
          <a:lstStyle>
            <a:lvl1pPr algn="l">
              <a:defRPr sz="3120" b="1"/>
            </a:lvl1pPr>
          </a:lstStyle>
          <a:p>
            <a:r>
              <a:rPr lang="fr-FR" noProof="0"/>
              <a:t>Cliquez et modifiez le titre</a:t>
            </a:r>
            <a:endParaRPr lang="fr-CA" noProof="0" dirty="0"/>
          </a:p>
        </p:txBody>
      </p:sp>
      <p:sp>
        <p:nvSpPr>
          <p:cNvPr id="3" name="Espace réservé du contenu 2"/>
          <p:cNvSpPr>
            <a:spLocks noGrp="1"/>
          </p:cNvSpPr>
          <p:nvPr>
            <p:ph idx="1"/>
          </p:nvPr>
        </p:nvSpPr>
        <p:spPr>
          <a:xfrm>
            <a:off x="4747200" y="1805281"/>
            <a:ext cx="6796800" cy="3913530"/>
          </a:xfrm>
        </p:spPr>
        <p:txBody>
          <a:bodyPr>
            <a:normAutofit/>
          </a:bodyPr>
          <a:lstStyle>
            <a:lvl1pPr>
              <a:defRPr sz="2004"/>
            </a:lvl1pPr>
            <a:lvl2pPr>
              <a:defRPr sz="2004"/>
            </a:lvl2pPr>
            <a:lvl3pPr>
              <a:defRPr sz="2004"/>
            </a:lvl3pPr>
            <a:lvl4pPr>
              <a:defRPr sz="2004"/>
            </a:lvl4pPr>
            <a:lvl5pPr>
              <a:defRPr sz="2004"/>
            </a:lvl5pPr>
            <a:lvl6pPr>
              <a:defRPr sz="2400"/>
            </a:lvl6pPr>
            <a:lvl7pPr>
              <a:defRPr sz="2400"/>
            </a:lvl7pPr>
            <a:lvl8pPr>
              <a:defRPr sz="2400"/>
            </a:lvl8pPr>
            <a:lvl9pPr>
              <a:defRPr sz="24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texte 3"/>
          <p:cNvSpPr>
            <a:spLocks noGrp="1"/>
          </p:cNvSpPr>
          <p:nvPr>
            <p:ph type="body" sz="half" idx="2"/>
          </p:nvPr>
        </p:nvSpPr>
        <p:spPr>
          <a:xfrm>
            <a:off x="638400" y="1805281"/>
            <a:ext cx="3984000" cy="3913530"/>
          </a:xfrm>
        </p:spPr>
        <p:txBody>
          <a:bodyPr>
            <a:normAutofit/>
          </a:bodyPr>
          <a:lstStyle>
            <a:lvl1pPr marL="0" indent="0">
              <a:buNone/>
              <a:defRPr sz="1800" b="1" cap="all" baseline="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fr-FR" noProof="0"/>
              <a:t>Cliquez pour modifier les styles du texte du masque</a:t>
            </a:r>
          </a:p>
        </p:txBody>
      </p:sp>
      <p:sp>
        <p:nvSpPr>
          <p:cNvPr id="5" name="Espace réservé de la date 4"/>
          <p:cNvSpPr>
            <a:spLocks noGrp="1"/>
          </p:cNvSpPr>
          <p:nvPr>
            <p:ph type="dt" sz="half" idx="10"/>
          </p:nvPr>
        </p:nvSpPr>
        <p:spPr/>
        <p:txBody>
          <a:bodyPr/>
          <a:lstStyle/>
          <a:p>
            <a:fld id="{C078F3BE-8A39-3D43-BE12-114DB525BAAB}" type="datetime1">
              <a:rPr lang="fr-CA" smtClean="0"/>
              <a:t>2025-02-27</a:t>
            </a:fld>
            <a:endParaRPr lang="en-US" dirty="0"/>
          </a:p>
        </p:txBody>
      </p:sp>
      <p:sp>
        <p:nvSpPr>
          <p:cNvPr id="6" name="Espace réservé du pied de page 5"/>
          <p:cNvSpPr>
            <a:spLocks noGrp="1"/>
          </p:cNvSpPr>
          <p:nvPr>
            <p:ph type="ftr" sz="quarter" idx="11"/>
          </p:nvPr>
        </p:nvSpPr>
        <p:spPr/>
        <p:txBody>
          <a:bodyPr/>
          <a:lstStyle/>
          <a:p>
            <a:r>
              <a:rPr lang="fr-CA"/>
              <a:t>Préparé par Anne-Marie Hubert, CPA auditrice, CA.  2017</a:t>
            </a:r>
            <a:endParaRPr lang="en-US" dirty="0"/>
          </a:p>
        </p:txBody>
      </p:sp>
      <p:sp>
        <p:nvSpPr>
          <p:cNvPr id="7" name="Espace réservé du numéro de diapositive 6"/>
          <p:cNvSpPr>
            <a:spLocks noGrp="1"/>
          </p:cNvSpPr>
          <p:nvPr>
            <p:ph type="sldNum" sz="quarter" idx="12"/>
          </p:nvPr>
        </p:nvSpPr>
        <p:spPr/>
        <p:txBody>
          <a:bodyPr/>
          <a:lstStyle/>
          <a:p>
            <a:fld id="{D57F1E4F-1CFF-5643-939E-02111984F565}" type="slidenum">
              <a:rPr lang="en-US" smtClean="0"/>
              <a:t>‹N°›</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sous-titre">
    <p:spTree>
      <p:nvGrpSpPr>
        <p:cNvPr id="1" name=""/>
        <p:cNvGrpSpPr/>
        <p:nvPr/>
      </p:nvGrpSpPr>
      <p:grpSpPr>
        <a:xfrm>
          <a:off x="0" y="0"/>
          <a:ext cx="0" cy="0"/>
          <a:chOff x="0" y="0"/>
          <a:chExt cx="0" cy="0"/>
        </a:xfrm>
      </p:grpSpPr>
      <p:sp>
        <p:nvSpPr>
          <p:cNvPr id="2" name="Titre 1"/>
          <p:cNvSpPr>
            <a:spLocks noGrp="1"/>
          </p:cNvSpPr>
          <p:nvPr>
            <p:ph type="title"/>
          </p:nvPr>
        </p:nvSpPr>
        <p:spPr>
          <a:xfrm>
            <a:off x="638400" y="587672"/>
            <a:ext cx="10915200" cy="987540"/>
          </a:xfrm>
        </p:spPr>
        <p:txBody>
          <a:bodyPr anchor="ctr" anchorCtr="0"/>
          <a:lstStyle>
            <a:lvl1pPr algn="l">
              <a:defRPr sz="3120" b="1"/>
            </a:lvl1pPr>
          </a:lstStyle>
          <a:p>
            <a:r>
              <a:rPr lang="fr-FR" noProof="0"/>
              <a:t>Cliquez et modifiez le titre</a:t>
            </a:r>
            <a:endParaRPr lang="fr-CA" noProof="0" dirty="0"/>
          </a:p>
        </p:txBody>
      </p:sp>
      <p:sp>
        <p:nvSpPr>
          <p:cNvPr id="3" name="Espace réservé pour une image  2"/>
          <p:cNvSpPr>
            <a:spLocks noGrp="1"/>
          </p:cNvSpPr>
          <p:nvPr>
            <p:ph type="pic" idx="1"/>
          </p:nvPr>
        </p:nvSpPr>
        <p:spPr>
          <a:xfrm>
            <a:off x="638400" y="2478092"/>
            <a:ext cx="10905600" cy="3240718"/>
          </a:xfrm>
        </p:spPr>
        <p:txBody>
          <a:bodyPr>
            <a:normAutofit/>
          </a:bodyPr>
          <a:lstStyle>
            <a:lvl1pPr marL="0" indent="0">
              <a:buNone/>
              <a:defRPr sz="2004"/>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fr-FR" noProof="0"/>
              <a:t>Faire glisser l'image vers l'espace réservé ou cliquer sur l'icône pour l'ajouter</a:t>
            </a:r>
            <a:endParaRPr lang="fr-CA" noProof="0" dirty="0"/>
          </a:p>
        </p:txBody>
      </p:sp>
      <p:sp>
        <p:nvSpPr>
          <p:cNvPr id="4" name="Espace réservé du texte 3"/>
          <p:cNvSpPr>
            <a:spLocks noGrp="1"/>
          </p:cNvSpPr>
          <p:nvPr>
            <p:ph type="body" sz="half" idx="2"/>
          </p:nvPr>
        </p:nvSpPr>
        <p:spPr>
          <a:xfrm>
            <a:off x="638400" y="1821452"/>
            <a:ext cx="10905600" cy="626400"/>
          </a:xfrm>
        </p:spPr>
        <p:txBody>
          <a:bodyPr>
            <a:normAutofit/>
          </a:bodyPr>
          <a:lstStyle>
            <a:lvl1pPr marL="0" indent="0">
              <a:buNone/>
              <a:defRPr sz="1800" b="1" cap="all" baseline="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fr-FR" noProof="0"/>
              <a:t>Cliquez pour modifier les styles du texte du masque</a:t>
            </a:r>
          </a:p>
        </p:txBody>
      </p:sp>
      <p:sp>
        <p:nvSpPr>
          <p:cNvPr id="5" name="Espace réservé de la date 4"/>
          <p:cNvSpPr>
            <a:spLocks noGrp="1"/>
          </p:cNvSpPr>
          <p:nvPr>
            <p:ph type="dt" sz="half" idx="10"/>
          </p:nvPr>
        </p:nvSpPr>
        <p:spPr/>
        <p:txBody>
          <a:bodyPr/>
          <a:lstStyle/>
          <a:p>
            <a:fld id="{C92A4A65-69C2-8848-B3BB-B0BD7A04A0C5}" type="datetime1">
              <a:rPr lang="fr-CA" smtClean="0"/>
              <a:t>2025-02-27</a:t>
            </a:fld>
            <a:endParaRPr lang="en-US" dirty="0"/>
          </a:p>
        </p:txBody>
      </p:sp>
      <p:sp>
        <p:nvSpPr>
          <p:cNvPr id="6" name="Espace réservé du pied de page 5"/>
          <p:cNvSpPr>
            <a:spLocks noGrp="1"/>
          </p:cNvSpPr>
          <p:nvPr>
            <p:ph type="ftr" sz="quarter" idx="11"/>
          </p:nvPr>
        </p:nvSpPr>
        <p:spPr/>
        <p:txBody>
          <a:bodyPr/>
          <a:lstStyle/>
          <a:p>
            <a:r>
              <a:rPr lang="fr-CA"/>
              <a:t>Préparé par Anne-Marie Hubert, CPA auditrice, CA.  2017</a:t>
            </a:r>
            <a:endParaRPr lang="en-US" dirty="0"/>
          </a:p>
        </p:txBody>
      </p:sp>
      <p:sp>
        <p:nvSpPr>
          <p:cNvPr id="7" name="Espace réservé du numéro de diapositive 6"/>
          <p:cNvSpPr>
            <a:spLocks noGrp="1"/>
          </p:cNvSpPr>
          <p:nvPr>
            <p:ph type="sldNum" sz="quarter" idx="12"/>
          </p:nvPr>
        </p:nvSpPr>
        <p:spPr/>
        <p:txBody>
          <a:bodyPr/>
          <a:lstStyle/>
          <a:p>
            <a:fld id="{D57F1E4F-1CFF-5643-939E-02111984F565}" type="slidenum">
              <a:rPr lang="en-US" smtClean="0"/>
              <a:t>‹N°›</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portant">
    <p:spTree>
      <p:nvGrpSpPr>
        <p:cNvPr id="1" name=""/>
        <p:cNvGrpSpPr/>
        <p:nvPr/>
      </p:nvGrpSpPr>
      <p:grpSpPr>
        <a:xfrm>
          <a:off x="0" y="0"/>
          <a:ext cx="0" cy="0"/>
          <a:chOff x="0" y="0"/>
          <a:chExt cx="0" cy="0"/>
        </a:xfrm>
      </p:grpSpPr>
      <p:sp>
        <p:nvSpPr>
          <p:cNvPr id="2" name="Titre 1"/>
          <p:cNvSpPr>
            <a:spLocks noGrp="1"/>
          </p:cNvSpPr>
          <p:nvPr>
            <p:ph type="title"/>
          </p:nvPr>
        </p:nvSpPr>
        <p:spPr>
          <a:xfrm>
            <a:off x="391237" y="215000"/>
            <a:ext cx="9046678" cy="691142"/>
          </a:xfrm>
          <a:solidFill>
            <a:srgbClr val="029FDF"/>
          </a:solidFill>
        </p:spPr>
        <p:txBody>
          <a:bodyPr>
            <a:normAutofit/>
          </a:bodyPr>
          <a:lstStyle>
            <a:lvl1pPr>
              <a:defRPr sz="4000">
                <a:solidFill>
                  <a:schemeClr val="bg1"/>
                </a:solidFill>
                <a:latin typeface="Arial" charset="0"/>
                <a:ea typeface="Arial" charset="0"/>
                <a:cs typeface="Arial" charset="0"/>
              </a:defRPr>
            </a:lvl1pPr>
          </a:lstStyle>
          <a:p>
            <a:r>
              <a:rPr lang="fr-FR" dirty="0"/>
              <a:t>Cliquez et modifiez le titre</a:t>
            </a:r>
            <a:endParaRPr lang="fr-CA" dirty="0"/>
          </a:p>
        </p:txBody>
      </p:sp>
      <p:sp>
        <p:nvSpPr>
          <p:cNvPr id="5" name="Espace réservé de la date 4"/>
          <p:cNvSpPr>
            <a:spLocks noGrp="1"/>
          </p:cNvSpPr>
          <p:nvPr>
            <p:ph type="dt" sz="half" idx="10"/>
          </p:nvPr>
        </p:nvSpPr>
        <p:spPr/>
        <p:txBody>
          <a:bodyPr/>
          <a:lstStyle/>
          <a:p>
            <a:fld id="{5F916914-4B82-974F-B525-E70DAF33F986}" type="datetime1">
              <a:rPr lang="fr-CA" smtClean="0"/>
              <a:t>2025-02-27</a:t>
            </a:fld>
            <a:endParaRPr lang="fr-CA"/>
          </a:p>
        </p:txBody>
      </p:sp>
      <p:sp>
        <p:nvSpPr>
          <p:cNvPr id="6" name="Espace réservé du pied de page 5"/>
          <p:cNvSpPr>
            <a:spLocks noGrp="1"/>
          </p:cNvSpPr>
          <p:nvPr>
            <p:ph type="ftr" sz="quarter" idx="11"/>
          </p:nvPr>
        </p:nvSpPr>
        <p:spPr/>
        <p:txBody>
          <a:bodyPr/>
          <a:lstStyle/>
          <a:p>
            <a:r>
              <a:rPr lang="fr-CA"/>
              <a:t>Préparé par Anne-Marie Hubert, CPA auditrice, CA.  2017</a:t>
            </a:r>
          </a:p>
        </p:txBody>
      </p:sp>
      <p:sp>
        <p:nvSpPr>
          <p:cNvPr id="7" name="Espace réservé du numéro de diapositive 6"/>
          <p:cNvSpPr>
            <a:spLocks noGrp="1"/>
          </p:cNvSpPr>
          <p:nvPr>
            <p:ph type="sldNum" sz="quarter" idx="12"/>
          </p:nvPr>
        </p:nvSpPr>
        <p:spPr/>
        <p:txBody>
          <a:bodyPr/>
          <a:lstStyle/>
          <a:p>
            <a:fld id="{CB0E5D99-33F0-8E4B-A561-48D81EB9177A}" type="slidenum">
              <a:rPr lang="fr-CA" smtClean="0"/>
              <a:t>‹N°›</a:t>
            </a:fld>
            <a:endParaRPr lang="fr-CA"/>
          </a:p>
        </p:txBody>
      </p:sp>
      <p:sp>
        <p:nvSpPr>
          <p:cNvPr id="9" name="Espace réservé du contenu 2"/>
          <p:cNvSpPr>
            <a:spLocks noGrp="1"/>
          </p:cNvSpPr>
          <p:nvPr>
            <p:ph idx="1"/>
          </p:nvPr>
        </p:nvSpPr>
        <p:spPr>
          <a:xfrm>
            <a:off x="395785" y="1050878"/>
            <a:ext cx="8151676" cy="5160736"/>
          </a:xfrm>
        </p:spPr>
        <p:txBody>
          <a:bodyPr/>
          <a:lstStyle>
            <a:lvl1pPr>
              <a:defRPr>
                <a:latin typeface="Arial" charset="0"/>
                <a:ea typeface="Arial" charset="0"/>
                <a:cs typeface="Arial" charset="0"/>
              </a:defRPr>
            </a:lvl1pPr>
            <a:lvl2pPr>
              <a:defRPr>
                <a:latin typeface="Arial" charset="0"/>
                <a:ea typeface="Arial" charset="0"/>
                <a:cs typeface="Arial" charset="0"/>
              </a:defRPr>
            </a:lvl2pPr>
            <a:lvl3pPr>
              <a:defRPr>
                <a:latin typeface="Arial" charset="0"/>
                <a:ea typeface="Arial" charset="0"/>
                <a:cs typeface="Arial" charset="0"/>
              </a:defRPr>
            </a:lvl3pPr>
            <a:lvl4pPr>
              <a:defRPr>
                <a:latin typeface="Arial" charset="0"/>
                <a:ea typeface="Arial" charset="0"/>
                <a:cs typeface="Arial" charset="0"/>
              </a:defRPr>
            </a:lvl4pPr>
            <a:lvl5pPr>
              <a:defRPr>
                <a:latin typeface="Arial" charset="0"/>
                <a:ea typeface="Arial" charset="0"/>
                <a:cs typeface="Arial"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3" name="Rectangle 2"/>
          <p:cNvSpPr/>
          <p:nvPr userDrawn="1"/>
        </p:nvSpPr>
        <p:spPr>
          <a:xfrm>
            <a:off x="9640389" y="0"/>
            <a:ext cx="2551612" cy="6858000"/>
          </a:xfrm>
          <a:prstGeom prst="rect">
            <a:avLst/>
          </a:prstGeom>
          <a:solidFill>
            <a:srgbClr val="003D6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4" name="Ellipse 3"/>
          <p:cNvSpPr/>
          <p:nvPr userDrawn="1"/>
        </p:nvSpPr>
        <p:spPr>
          <a:xfrm>
            <a:off x="8547460" y="2349596"/>
            <a:ext cx="2194560" cy="2272938"/>
          </a:xfrm>
          <a:prstGeom prst="ellipse">
            <a:avLst/>
          </a:prstGeom>
          <a:solidFill>
            <a:srgbClr val="00BBD9"/>
          </a:solidFill>
          <a:ln w="63500" cmpd="db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10" name="Imag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78166" y="2494777"/>
            <a:ext cx="1733148" cy="1521921"/>
          </a:xfrm>
          <a:prstGeom prst="rect">
            <a:avLst/>
          </a:prstGeom>
        </p:spPr>
      </p:pic>
    </p:spTree>
    <p:extLst>
      <p:ext uri="{BB962C8B-B14F-4D97-AF65-F5344CB8AC3E}">
        <p14:creationId xmlns:p14="http://schemas.microsoft.com/office/powerpoint/2010/main" val="304521619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38400" y="582231"/>
            <a:ext cx="10915200" cy="992983"/>
          </a:xfrm>
          <a:prstGeom prst="rect">
            <a:avLst/>
          </a:prstGeom>
          <a:solidFill>
            <a:schemeClr val="accent1"/>
          </a:solidFill>
        </p:spPr>
        <p:txBody>
          <a:bodyPr vert="horz" lIns="91440" tIns="45720" rIns="91440" bIns="45720" rtlCol="0" anchor="ctr">
            <a:noAutofit/>
          </a:bodyPr>
          <a:lstStyle/>
          <a:p>
            <a:r>
              <a:rPr lang="fr-CA" noProof="0" dirty="0"/>
              <a:t>Cliquez pour modifier le style du titre</a:t>
            </a:r>
          </a:p>
        </p:txBody>
      </p:sp>
      <p:sp>
        <p:nvSpPr>
          <p:cNvPr id="3" name="Espace réservé du texte 2"/>
          <p:cNvSpPr>
            <a:spLocks noGrp="1"/>
          </p:cNvSpPr>
          <p:nvPr>
            <p:ph type="body" idx="1"/>
          </p:nvPr>
        </p:nvSpPr>
        <p:spPr>
          <a:xfrm>
            <a:off x="638400" y="1821452"/>
            <a:ext cx="10915200" cy="3897358"/>
          </a:xfrm>
          <a:prstGeom prst="rect">
            <a:avLst/>
          </a:prstGeom>
        </p:spPr>
        <p:txBody>
          <a:bodyPr vert="horz" lIns="91440" tIns="45720" rIns="91440" bIns="45720" rtlCol="0">
            <a:normAutofit/>
          </a:bodyPr>
          <a:lstStyle/>
          <a:p>
            <a:pPr lvl="0"/>
            <a:r>
              <a:rPr lang="fr-CA" noProof="0" dirty="0"/>
              <a:t>Cliquez pour modifier les styles du texte du masque</a:t>
            </a:r>
          </a:p>
          <a:p>
            <a:pPr lvl="1"/>
            <a:r>
              <a:rPr lang="fr-CA" noProof="0" dirty="0"/>
              <a:t>Deuxième niveau</a:t>
            </a:r>
          </a:p>
          <a:p>
            <a:pPr lvl="2"/>
            <a:r>
              <a:rPr lang="fr-CA" noProof="0" dirty="0"/>
              <a:t>Troisième niveau</a:t>
            </a:r>
          </a:p>
          <a:p>
            <a:pPr lvl="3"/>
            <a:r>
              <a:rPr lang="fr-CA" noProof="0" dirty="0"/>
              <a:t>Quatrième niveau</a:t>
            </a:r>
          </a:p>
          <a:p>
            <a:pPr lvl="4"/>
            <a:r>
              <a:rPr lang="fr-CA" noProof="0" dirty="0"/>
              <a:t>Cinquième niveau</a:t>
            </a:r>
          </a:p>
        </p:txBody>
      </p:sp>
      <p:sp>
        <p:nvSpPr>
          <p:cNvPr id="4" name="Espace réservé de la date 3"/>
          <p:cNvSpPr>
            <a:spLocks noGrp="1"/>
          </p:cNvSpPr>
          <p:nvPr>
            <p:ph type="dt" sz="half" idx="2"/>
          </p:nvPr>
        </p:nvSpPr>
        <p:spPr>
          <a:xfrm>
            <a:off x="652800" y="6461995"/>
            <a:ext cx="2844800" cy="164160"/>
          </a:xfrm>
          <a:prstGeom prst="rect">
            <a:avLst/>
          </a:prstGeom>
        </p:spPr>
        <p:txBody>
          <a:bodyPr vert="horz" lIns="91440" tIns="45720" rIns="91440" bIns="45720" rtlCol="0" anchor="ctr"/>
          <a:lstStyle>
            <a:lvl1pPr algn="l">
              <a:defRPr sz="804">
                <a:solidFill>
                  <a:schemeClr val="accent2"/>
                </a:solidFill>
              </a:defRPr>
            </a:lvl1pPr>
          </a:lstStyle>
          <a:p>
            <a:fld id="{2C88A6E7-0D82-F344-9F83-57699D17B6C5}" type="datetime1">
              <a:rPr lang="fr-CA" smtClean="0"/>
              <a:t>2025-02-27</a:t>
            </a:fld>
            <a:endParaRPr lang="en-US" dirty="0"/>
          </a:p>
        </p:txBody>
      </p:sp>
      <p:sp>
        <p:nvSpPr>
          <p:cNvPr id="5" name="Espace réservé du pied de page 4"/>
          <p:cNvSpPr>
            <a:spLocks noGrp="1"/>
          </p:cNvSpPr>
          <p:nvPr>
            <p:ph type="ftr" sz="quarter" idx="3"/>
          </p:nvPr>
        </p:nvSpPr>
        <p:spPr>
          <a:xfrm>
            <a:off x="4165600" y="6461995"/>
            <a:ext cx="3860800" cy="164160"/>
          </a:xfrm>
          <a:prstGeom prst="rect">
            <a:avLst/>
          </a:prstGeom>
        </p:spPr>
        <p:txBody>
          <a:bodyPr vert="horz" lIns="91440" tIns="45720" rIns="91440" bIns="45720" rtlCol="0" anchor="ctr"/>
          <a:lstStyle>
            <a:lvl1pPr algn="ctr">
              <a:defRPr sz="804">
                <a:solidFill>
                  <a:schemeClr val="accent2"/>
                </a:solidFill>
              </a:defRPr>
            </a:lvl1pPr>
          </a:lstStyle>
          <a:p>
            <a:r>
              <a:rPr lang="fr-CA"/>
              <a:t>Préparé par Anne-Marie Hubert, CPA auditrice, CA.  2017</a:t>
            </a:r>
            <a:endParaRPr lang="en-US" dirty="0"/>
          </a:p>
        </p:txBody>
      </p:sp>
      <p:sp>
        <p:nvSpPr>
          <p:cNvPr id="6" name="Espace réservé du numéro de diapositive 5"/>
          <p:cNvSpPr>
            <a:spLocks noGrp="1"/>
          </p:cNvSpPr>
          <p:nvPr>
            <p:ph type="sldNum" sz="quarter" idx="4"/>
          </p:nvPr>
        </p:nvSpPr>
        <p:spPr>
          <a:xfrm>
            <a:off x="10934400" y="6461995"/>
            <a:ext cx="619200" cy="164160"/>
          </a:xfrm>
          <a:prstGeom prst="rect">
            <a:avLst/>
          </a:prstGeom>
        </p:spPr>
        <p:txBody>
          <a:bodyPr vert="horz" lIns="91440" tIns="45720" rIns="91440" bIns="45720" rtlCol="0" anchor="ctr"/>
          <a:lstStyle>
            <a:lvl1pPr algn="r">
              <a:defRPr sz="804">
                <a:solidFill>
                  <a:schemeClr val="accent2"/>
                </a:solidFill>
              </a:defRPr>
            </a:lvl1pPr>
          </a:lstStyle>
          <a:p>
            <a:fld id="{D57F1E4F-1CFF-5643-939E-02111984F565}" type="slidenum">
              <a:rPr lang="en-US" smtClean="0"/>
              <a:t>‹N°›</a:t>
            </a:fld>
            <a:endParaRPr lang="en-US" dirty="0"/>
          </a:p>
        </p:txBody>
      </p:sp>
      <p:pic>
        <p:nvPicPr>
          <p:cNvPr id="7" name="Imag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589805" y="6038593"/>
            <a:ext cx="2053463" cy="255431"/>
          </a:xfrm>
          <a:prstGeom prst="rect">
            <a:avLst/>
          </a:prstGeom>
        </p:spPr>
      </p:pic>
    </p:spTree>
    <p:extLst>
      <p:ext uri="{BB962C8B-B14F-4D97-AF65-F5344CB8AC3E}">
        <p14:creationId xmlns:p14="http://schemas.microsoft.com/office/powerpoint/2010/main" val="1754076529"/>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Lst>
  <p:hf hdr="0" ftr="0" dt="0"/>
  <p:txStyles>
    <p:titleStyle>
      <a:lvl1pPr algn="l" defTabSz="1097280" rtl="0" eaLnBrk="1" latinLnBrk="0" hangingPunct="1">
        <a:spcBef>
          <a:spcPct val="0"/>
        </a:spcBef>
        <a:buNone/>
        <a:defRPr sz="3120" b="1" kern="1200">
          <a:solidFill>
            <a:schemeClr val="bg1"/>
          </a:solidFill>
          <a:latin typeface="+mj-lt"/>
          <a:ea typeface="+mj-ea"/>
          <a:cs typeface="+mj-cs"/>
        </a:defRPr>
      </a:lvl1pPr>
    </p:titleStyle>
    <p:bodyStyle>
      <a:lvl1pPr marL="18576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1pPr>
      <a:lvl2pPr marL="54432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2pPr>
      <a:lvl3pPr marL="90288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3pPr>
      <a:lvl4pPr marL="125712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4pPr>
      <a:lvl5pPr marL="1615680" indent="-185760" algn="l" defTabSz="1097280" rtl="0" eaLnBrk="1" latinLnBrk="0" hangingPunct="1">
        <a:spcBef>
          <a:spcPct val="20000"/>
        </a:spcBef>
        <a:buClr>
          <a:schemeClr val="accent2"/>
        </a:buClr>
        <a:buSzPct val="125000"/>
        <a:buFont typeface="Arial" pitchFamily="34" charset="0"/>
        <a:buChar char="•"/>
        <a:defRPr sz="2004" kern="1200">
          <a:solidFill>
            <a:schemeClr val="tx1"/>
          </a:solidFill>
          <a:latin typeface="+mn-lt"/>
          <a:ea typeface="+mn-ea"/>
          <a:cs typeface="+mn-cs"/>
        </a:defRPr>
      </a:lvl5pPr>
      <a:lvl6pPr marL="301752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616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480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3440" indent="-274320" algn="l" defTabSz="1097280"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38400" y="1715040"/>
            <a:ext cx="8764392" cy="1140303"/>
          </a:xfrm>
        </p:spPr>
        <p:txBody>
          <a:bodyPr/>
          <a:lstStyle/>
          <a:p>
            <a:r>
              <a:rPr lang="en-CA" dirty="0" err="1"/>
              <a:t>Révision</a:t>
            </a:r>
            <a:r>
              <a:rPr lang="en-CA" dirty="0"/>
              <a:t> </a:t>
            </a:r>
            <a:r>
              <a:rPr lang="en-CA" dirty="0" err="1"/>
              <a:t>en</a:t>
            </a:r>
            <a:r>
              <a:rPr lang="en-CA" dirty="0"/>
              <a:t> audit et certification</a:t>
            </a:r>
          </a:p>
        </p:txBody>
      </p:sp>
      <p:sp>
        <p:nvSpPr>
          <p:cNvPr id="3" name="Subtitle 2"/>
          <p:cNvSpPr>
            <a:spLocks noGrp="1"/>
          </p:cNvSpPr>
          <p:nvPr>
            <p:ph type="subTitle" idx="1"/>
          </p:nvPr>
        </p:nvSpPr>
        <p:spPr>
          <a:xfrm>
            <a:off x="638398" y="3034893"/>
            <a:ext cx="8764391" cy="788213"/>
          </a:xfrm>
        </p:spPr>
        <p:txBody>
          <a:bodyPr>
            <a:normAutofit fontScale="92500" lnSpcReduction="10000"/>
          </a:bodyPr>
          <a:lstStyle/>
          <a:p>
            <a:r>
              <a:rPr lang="fr-CA" noProof="0" dirty="0"/>
              <a:t>40911 – Rôles et mandats en comptabilité professionnelle</a:t>
            </a:r>
          </a:p>
          <a:p>
            <a:r>
              <a:rPr lang="fr-CA" noProof="0" dirty="0"/>
              <a:t>Présenté par Laurence Daoust, CPA auditrice</a:t>
            </a:r>
          </a:p>
        </p:txBody>
      </p:sp>
      <p:sp>
        <p:nvSpPr>
          <p:cNvPr id="4" name="ZoneTexte 3"/>
          <p:cNvSpPr txBox="1"/>
          <p:nvPr/>
        </p:nvSpPr>
        <p:spPr>
          <a:xfrm>
            <a:off x="638400" y="5538158"/>
            <a:ext cx="6866581" cy="663400"/>
          </a:xfrm>
          <a:prstGeom prst="rect">
            <a:avLst/>
          </a:prstGeom>
          <a:solidFill>
            <a:schemeClr val="accent5">
              <a:alpha val="80000"/>
            </a:schemeClr>
          </a:solidFill>
        </p:spPr>
        <p:txBody>
          <a:bodyPr vert="horz" lIns="91440" tIns="45720" rIns="91440" bIns="72000" rtlCol="0" anchor="ctr">
            <a:noAutofit/>
          </a:bodyPr>
          <a:lstStyle>
            <a:lvl1pPr defTabSz="1097280">
              <a:spcBef>
                <a:spcPct val="0"/>
              </a:spcBef>
              <a:buNone/>
              <a:defRPr sz="4320" b="1">
                <a:solidFill>
                  <a:schemeClr val="accent2"/>
                </a:solidFill>
                <a:latin typeface="+mj-lt"/>
                <a:ea typeface="+mj-ea"/>
                <a:cs typeface="+mj-cs"/>
              </a:defRPr>
            </a:lvl1pPr>
          </a:lstStyle>
          <a:p>
            <a:r>
              <a:rPr lang="fr-CA" sz="1200" b="0" dirty="0"/>
              <a:t>© Adaptation par Laurence Daoust et Céline </a:t>
            </a:r>
            <a:r>
              <a:rPr lang="fr-CA" sz="1200" b="0" dirty="0" err="1"/>
              <a:t>Gemmel</a:t>
            </a:r>
            <a:r>
              <a:rPr lang="fr-CA" sz="1200" b="0" dirty="0"/>
              <a:t> de la présentation d’Anne-Marie Hubert</a:t>
            </a:r>
          </a:p>
          <a:p>
            <a:endParaRPr lang="fr-CA" sz="1100" b="0" dirty="0"/>
          </a:p>
          <a:p>
            <a:r>
              <a:rPr lang="fr-CA" sz="1100" b="0" dirty="0"/>
              <a:t>Inspiré du matériel de Simon Dermarkar et Andrée Lavigne utilisé dans le cours de DESS COMP40920.</a:t>
            </a:r>
          </a:p>
        </p:txBody>
      </p:sp>
    </p:spTree>
    <p:extLst>
      <p:ext uri="{BB962C8B-B14F-4D97-AF65-F5344CB8AC3E}">
        <p14:creationId xmlns:p14="http://schemas.microsoft.com/office/powerpoint/2010/main" val="843322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Je me présente</a:t>
            </a:r>
          </a:p>
        </p:txBody>
      </p:sp>
      <p:sp>
        <p:nvSpPr>
          <p:cNvPr id="3" name="Espace réservé du contenu 2"/>
          <p:cNvSpPr>
            <a:spLocks noGrp="1"/>
          </p:cNvSpPr>
          <p:nvPr>
            <p:ph idx="1"/>
          </p:nvPr>
        </p:nvSpPr>
        <p:spPr>
          <a:xfrm>
            <a:off x="638400" y="1904799"/>
            <a:ext cx="10915200" cy="4377578"/>
          </a:xfrm>
        </p:spPr>
        <p:txBody>
          <a:bodyPr>
            <a:normAutofit lnSpcReduction="10000"/>
          </a:bodyPr>
          <a:lstStyle/>
          <a:p>
            <a:r>
              <a:rPr lang="fr-CA" dirty="0"/>
              <a:t>Laurence Daoust</a:t>
            </a:r>
          </a:p>
          <a:p>
            <a:r>
              <a:rPr lang="fr-CA" dirty="0"/>
              <a:t>Professeure adjointe à HEC</a:t>
            </a:r>
          </a:p>
          <a:p>
            <a:r>
              <a:rPr lang="fr-CA" dirty="0"/>
              <a:t>Ph. D. in Management, </a:t>
            </a:r>
            <a:r>
              <a:rPr lang="fr-CA" dirty="0" err="1"/>
              <a:t>Queen’s</a:t>
            </a:r>
            <a:r>
              <a:rPr lang="fr-CA" dirty="0"/>
              <a:t> University</a:t>
            </a:r>
          </a:p>
          <a:p>
            <a:r>
              <a:rPr lang="fr-CA" dirty="0"/>
              <a:t>M. Sc., D.E.S.S. et B.A.A. en comptabilité publique, HEC Montréal</a:t>
            </a:r>
          </a:p>
          <a:p>
            <a:r>
              <a:rPr lang="fr-CA" dirty="0"/>
              <a:t>CPA auditrice depuis 2014</a:t>
            </a:r>
          </a:p>
          <a:p>
            <a:r>
              <a:rPr lang="fr-CA" dirty="0"/>
              <a:t>Auditrice en cabinet comptable 2013-2014</a:t>
            </a:r>
          </a:p>
          <a:p>
            <a:r>
              <a:rPr lang="fr-CA" dirty="0"/>
              <a:t>Assistant Team Leader au centre de correction de CPA Canada</a:t>
            </a:r>
          </a:p>
          <a:p>
            <a:pPr lvl="1"/>
            <a:r>
              <a:rPr lang="fr-CA" dirty="0"/>
              <a:t>EFC, Jour 2, 2018 (Solar Panel Solutions)</a:t>
            </a:r>
          </a:p>
          <a:p>
            <a:r>
              <a:rPr lang="fr-CA" dirty="0"/>
              <a:t>Correctrice au centre de correction de CPA Canada </a:t>
            </a:r>
          </a:p>
          <a:p>
            <a:pPr lvl="1"/>
            <a:r>
              <a:rPr lang="fr-CA" dirty="0"/>
              <a:t>EFC, Jour 2, 2017 (Ferguson Real </a:t>
            </a:r>
            <a:r>
              <a:rPr lang="fr-CA" dirty="0" err="1"/>
              <a:t>Estate</a:t>
            </a:r>
            <a:r>
              <a:rPr lang="fr-CA" dirty="0"/>
              <a:t>)</a:t>
            </a:r>
          </a:p>
          <a:p>
            <a:pPr lvl="1"/>
            <a:r>
              <a:rPr lang="fr-CA" dirty="0"/>
              <a:t>EFC, Jour 2, 2019 (</a:t>
            </a:r>
            <a:r>
              <a:rPr lang="fr-CA" dirty="0" err="1"/>
              <a:t>Elcar</a:t>
            </a:r>
            <a:r>
              <a:rPr lang="fr-CA" dirty="0"/>
              <a:t>)</a:t>
            </a:r>
          </a:p>
          <a:p>
            <a:r>
              <a:rPr lang="fr-CA" dirty="0"/>
              <a:t>Coach et correctrice (privé et HEC) pour l’EFU en 2012 et 2013</a:t>
            </a:r>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2</a:t>
            </a:fld>
            <a:endParaRPr lang="en-US" dirty="0"/>
          </a:p>
        </p:txBody>
      </p:sp>
    </p:spTree>
    <p:extLst>
      <p:ext uri="{BB962C8B-B14F-4D97-AF65-F5344CB8AC3E}">
        <p14:creationId xmlns:p14="http://schemas.microsoft.com/office/powerpoint/2010/main" val="830839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Révision en audit et certification</a:t>
            </a:r>
          </a:p>
        </p:txBody>
      </p:sp>
      <p:sp>
        <p:nvSpPr>
          <p:cNvPr id="3" name="Espace réservé du contenu 2"/>
          <p:cNvSpPr>
            <a:spLocks noGrp="1"/>
          </p:cNvSpPr>
          <p:nvPr>
            <p:ph idx="1"/>
          </p:nvPr>
        </p:nvSpPr>
        <p:spPr>
          <a:xfrm>
            <a:off x="2907102" y="1893224"/>
            <a:ext cx="8646498" cy="4063693"/>
          </a:xfrm>
        </p:spPr>
        <p:txBody>
          <a:bodyPr>
            <a:normAutofit/>
          </a:bodyPr>
          <a:lstStyle/>
          <a:p>
            <a:pPr marL="0" lvl="5" indent="0">
              <a:buNone/>
            </a:pPr>
            <a:r>
              <a:rPr lang="fr-CA" sz="2200" dirty="0"/>
              <a:t>Attention! Le matériel présenté dans cette séance de révision en audit et certification n’est pas exhaustif. C’est simplement un rappel d’éléments théoriques importants. C’est votre responsabilité de revoir les connaissances théoriques vus dans les cours d’audit et de contrôle interne.</a:t>
            </a:r>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400" y="1885147"/>
            <a:ext cx="1993899" cy="1750892"/>
          </a:xfrm>
          <a:prstGeom prst="rect">
            <a:avLst/>
          </a:prstGeom>
        </p:spPr>
      </p:pic>
      <p:sp>
        <p:nvSpPr>
          <p:cNvPr id="4" name="Espace réservé du numéro de diapositive 3"/>
          <p:cNvSpPr>
            <a:spLocks noGrp="1"/>
          </p:cNvSpPr>
          <p:nvPr>
            <p:ph type="sldNum" sz="quarter" idx="12"/>
          </p:nvPr>
        </p:nvSpPr>
        <p:spPr/>
        <p:txBody>
          <a:bodyPr/>
          <a:lstStyle/>
          <a:p>
            <a:fld id="{D57F1E4F-1CFF-5643-939E-02111984F565}" type="slidenum">
              <a:rPr lang="en-US" smtClean="0"/>
              <a:t>3</a:t>
            </a:fld>
            <a:endParaRPr lang="en-US" dirty="0"/>
          </a:p>
        </p:txBody>
      </p:sp>
    </p:spTree>
    <p:extLst>
      <p:ext uri="{BB962C8B-B14F-4D97-AF65-F5344CB8AC3E}">
        <p14:creationId xmlns:p14="http://schemas.microsoft.com/office/powerpoint/2010/main" val="207367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Plan de la séance</a:t>
            </a:r>
          </a:p>
        </p:txBody>
      </p:sp>
      <p:sp>
        <p:nvSpPr>
          <p:cNvPr id="3" name="Content Placeholder 2"/>
          <p:cNvSpPr>
            <a:spLocks noGrp="1"/>
          </p:cNvSpPr>
          <p:nvPr>
            <p:ph idx="1"/>
          </p:nvPr>
        </p:nvSpPr>
        <p:spPr>
          <a:xfrm>
            <a:off x="638400" y="1875933"/>
            <a:ext cx="10915200" cy="4406444"/>
          </a:xfrm>
        </p:spPr>
        <p:txBody>
          <a:bodyPr numCol="2">
            <a:normAutofit fontScale="92500" lnSpcReduction="10000"/>
          </a:bodyPr>
          <a:lstStyle/>
          <a:p>
            <a:r>
              <a:rPr lang="fr-CA" sz="2600" dirty="0"/>
              <a:t>Éthique et indépendance</a:t>
            </a:r>
          </a:p>
          <a:p>
            <a:r>
              <a:rPr lang="fr-CA" sz="2600" dirty="0"/>
              <a:t>Tableau synthèse des normes</a:t>
            </a:r>
          </a:p>
          <a:p>
            <a:r>
              <a:rPr lang="fr-CA" sz="2600" dirty="0"/>
              <a:t>Audits d’</a:t>
            </a:r>
            <a:r>
              <a:rPr lang="fr-CA" sz="2600" dirty="0" err="1"/>
              <a:t>ÉFs</a:t>
            </a:r>
            <a:r>
              <a:rPr lang="fr-CA" sz="2600" dirty="0"/>
              <a:t> et d’autres informations financières historiques</a:t>
            </a:r>
          </a:p>
          <a:p>
            <a:pPr lvl="1"/>
            <a:r>
              <a:rPr lang="fr-CA" sz="2600" dirty="0"/>
              <a:t>Acceptation de la mission</a:t>
            </a:r>
          </a:p>
          <a:p>
            <a:pPr lvl="1"/>
            <a:r>
              <a:rPr lang="fr-CA" sz="2600" dirty="0"/>
              <a:t>Planification de la mission</a:t>
            </a:r>
          </a:p>
          <a:p>
            <a:pPr lvl="1"/>
            <a:r>
              <a:rPr lang="fr-CA" sz="2600" dirty="0"/>
              <a:t>Revue analytique préliminaire</a:t>
            </a:r>
          </a:p>
          <a:p>
            <a:pPr lvl="1"/>
            <a:r>
              <a:rPr lang="fr-CA" sz="2600" dirty="0"/>
              <a:t>Procédures d’audit</a:t>
            </a:r>
          </a:p>
          <a:p>
            <a:pPr lvl="1"/>
            <a:r>
              <a:rPr lang="fr-CA" sz="2600" dirty="0"/>
              <a:t>Révision du travail d’un autre auditeur</a:t>
            </a:r>
          </a:p>
          <a:p>
            <a:pPr lvl="1"/>
            <a:r>
              <a:rPr lang="fr-CA" sz="2600" dirty="0"/>
              <a:t>Utilisation par l’auditeur des travaux d’un expert</a:t>
            </a:r>
          </a:p>
          <a:p>
            <a:pPr lvl="1"/>
            <a:r>
              <a:rPr lang="fr-CA" sz="2600" dirty="0"/>
              <a:t>Conclusion de l’audit</a:t>
            </a:r>
          </a:p>
          <a:p>
            <a:pPr lvl="1"/>
            <a:r>
              <a:rPr lang="fr-CA" sz="2600" dirty="0"/>
              <a:t>Continuité de l’exploitation</a:t>
            </a:r>
          </a:p>
          <a:p>
            <a:pPr lvl="1"/>
            <a:r>
              <a:rPr lang="fr-CA" sz="2600" dirty="0"/>
              <a:t>Responsabilités concernant les fraudes</a:t>
            </a:r>
          </a:p>
          <a:p>
            <a:r>
              <a:rPr lang="fr-CA" sz="2600" dirty="0"/>
              <a:t>Missions d’examen et de compilation</a:t>
            </a:r>
          </a:p>
          <a:p>
            <a:r>
              <a:rPr lang="fr-CA" sz="2600" dirty="0"/>
              <a:t>Évaluation du contrôle interne</a:t>
            </a:r>
          </a:p>
          <a:p>
            <a:endParaRPr lang="fr-CA" sz="2600" dirty="0"/>
          </a:p>
          <a:p>
            <a:pPr lvl="1"/>
            <a:endParaRPr lang="en-CA" sz="2600" dirty="0"/>
          </a:p>
          <a:p>
            <a:pPr marL="0" indent="0">
              <a:buNone/>
            </a:pPr>
            <a:endParaRPr lang="en-CA" sz="2800" dirty="0"/>
          </a:p>
          <a:p>
            <a:endParaRPr lang="en-CA" dirty="0"/>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4</a:t>
            </a:fld>
            <a:endParaRPr lang="en-US" dirty="0"/>
          </a:p>
        </p:txBody>
      </p:sp>
    </p:spTree>
    <p:extLst>
      <p:ext uri="{BB962C8B-B14F-4D97-AF65-F5344CB8AC3E}">
        <p14:creationId xmlns:p14="http://schemas.microsoft.com/office/powerpoint/2010/main" val="1238205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Matériel </a:t>
            </a:r>
            <a:r>
              <a:rPr lang="en-CA" dirty="0" err="1"/>
              <a:t>supplémentaire</a:t>
            </a:r>
            <a:endParaRPr lang="en-CA" dirty="0"/>
          </a:p>
        </p:txBody>
      </p:sp>
      <p:sp>
        <p:nvSpPr>
          <p:cNvPr id="3" name="Content Placeholder 2"/>
          <p:cNvSpPr>
            <a:spLocks noGrp="1"/>
          </p:cNvSpPr>
          <p:nvPr>
            <p:ph idx="1"/>
          </p:nvPr>
        </p:nvSpPr>
        <p:spPr/>
        <p:txBody>
          <a:bodyPr>
            <a:normAutofit/>
          </a:bodyPr>
          <a:lstStyle/>
          <a:p>
            <a:r>
              <a:rPr lang="fr-CA" sz="2600" dirty="0"/>
              <a:t>Règle d’indépendance</a:t>
            </a:r>
          </a:p>
          <a:p>
            <a:r>
              <a:rPr lang="fr-CA" sz="2600" dirty="0"/>
              <a:t>Guide de CPA Canada sur la norme d’indépendance</a:t>
            </a:r>
          </a:p>
          <a:p>
            <a:r>
              <a:rPr lang="fr-CA" sz="2600" dirty="0"/>
              <a:t>Guide de procédures d’audit types</a:t>
            </a:r>
          </a:p>
          <a:p>
            <a:r>
              <a:rPr lang="fr-CA" sz="2600" dirty="0"/>
              <a:t>Résumé rapports spéciaux et services connexes</a:t>
            </a:r>
            <a:endParaRPr lang="fr-CA" sz="2800" dirty="0"/>
          </a:p>
          <a:p>
            <a:pPr lvl="1"/>
            <a:endParaRPr lang="en-CA" sz="2600" dirty="0"/>
          </a:p>
          <a:p>
            <a:endParaRPr lang="en-CA" dirty="0"/>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5</a:t>
            </a:fld>
            <a:endParaRPr lang="en-US" dirty="0"/>
          </a:p>
        </p:txBody>
      </p:sp>
    </p:spTree>
    <p:extLst>
      <p:ext uri="{BB962C8B-B14F-4D97-AF65-F5344CB8AC3E}">
        <p14:creationId xmlns:p14="http://schemas.microsoft.com/office/powerpoint/2010/main" val="4021369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Grille de compétences</a:t>
            </a:r>
          </a:p>
        </p:txBody>
      </p:sp>
      <p:sp>
        <p:nvSpPr>
          <p:cNvPr id="3" name="Espace réservé du texte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6</a:t>
            </a:fld>
            <a:endParaRPr lang="en-US" dirty="0"/>
          </a:p>
        </p:txBody>
      </p:sp>
    </p:spTree>
    <p:extLst>
      <p:ext uri="{BB962C8B-B14F-4D97-AF65-F5344CB8AC3E}">
        <p14:creationId xmlns:p14="http://schemas.microsoft.com/office/powerpoint/2010/main" val="1457701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Compétences en audit et certification</a:t>
            </a:r>
          </a:p>
        </p:txBody>
      </p:sp>
      <p:sp>
        <p:nvSpPr>
          <p:cNvPr id="3" name="Espace réservé du contenu 2"/>
          <p:cNvSpPr>
            <a:spLocks noGrp="1"/>
          </p:cNvSpPr>
          <p:nvPr>
            <p:ph idx="1"/>
          </p:nvPr>
        </p:nvSpPr>
        <p:spPr/>
        <p:txBody>
          <a:bodyPr>
            <a:normAutofit fontScale="92500" lnSpcReduction="10000"/>
          </a:bodyPr>
          <a:lstStyle/>
          <a:p>
            <a:r>
              <a:rPr lang="fr-CA" dirty="0"/>
              <a:t>Pages 129 à 136 de la grille </a:t>
            </a:r>
            <a:r>
              <a:rPr lang="fr-CA"/>
              <a:t>des compétences, partie 2</a:t>
            </a:r>
          </a:p>
          <a:p>
            <a:r>
              <a:rPr lang="fr-CA" dirty="0"/>
              <a:t>La plupart des sujets couverts dans cette séance sont de niveau A pour le rôle auditeur et de niveau B pour les modules communs</a:t>
            </a:r>
          </a:p>
          <a:p>
            <a:r>
              <a:rPr lang="fr-CA" dirty="0"/>
              <a:t>Pour le rôle auditeur :</a:t>
            </a:r>
          </a:p>
          <a:p>
            <a:pPr lvl="1"/>
            <a:r>
              <a:rPr lang="fr-CA" dirty="0"/>
              <a:t>Les compétences en audit et certification sont de niveaux de maîtrise A et B </a:t>
            </a:r>
          </a:p>
          <a:p>
            <a:r>
              <a:rPr lang="fr-CA" dirty="0"/>
              <a:t>Pour les modules communs :</a:t>
            </a:r>
          </a:p>
          <a:p>
            <a:pPr lvl="1"/>
            <a:r>
              <a:rPr lang="fr-CA" dirty="0"/>
              <a:t>Les processus d’évaluation des risques suivants sont au niveau de maîtrise A:</a:t>
            </a:r>
          </a:p>
          <a:p>
            <a:pPr lvl="2"/>
            <a:r>
              <a:rPr lang="fr-CA" dirty="0"/>
              <a:t>Risque d’entreprise</a:t>
            </a:r>
          </a:p>
          <a:p>
            <a:pPr lvl="2"/>
            <a:r>
              <a:rPr lang="fr-CA" dirty="0"/>
              <a:t>Continuité de l’exploitation</a:t>
            </a:r>
          </a:p>
          <a:p>
            <a:pPr lvl="2"/>
            <a:r>
              <a:rPr lang="fr-CA" dirty="0"/>
              <a:t>Caractère signification</a:t>
            </a:r>
          </a:p>
          <a:p>
            <a:pPr lvl="2"/>
            <a:r>
              <a:rPr lang="fr-CA" dirty="0"/>
              <a:t>Contrôle interne</a:t>
            </a:r>
          </a:p>
          <a:p>
            <a:pPr lvl="1"/>
            <a:r>
              <a:rPr lang="fr-CA" dirty="0"/>
              <a:t>Les autres compétences sont aux niveaux de maîtrise B et C</a:t>
            </a:r>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7</a:t>
            </a:fld>
            <a:endParaRPr lang="en-US" dirty="0"/>
          </a:p>
        </p:txBody>
      </p:sp>
    </p:spTree>
    <p:extLst>
      <p:ext uri="{BB962C8B-B14F-4D97-AF65-F5344CB8AC3E}">
        <p14:creationId xmlns:p14="http://schemas.microsoft.com/office/powerpoint/2010/main" val="922767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730360-C7A7-5457-B3FA-31AB51107F16}"/>
              </a:ext>
            </a:extLst>
          </p:cNvPr>
          <p:cNvSpPr>
            <a:spLocks noGrp="1"/>
          </p:cNvSpPr>
          <p:nvPr>
            <p:ph type="title"/>
          </p:nvPr>
        </p:nvSpPr>
        <p:spPr/>
        <p:txBody>
          <a:bodyPr/>
          <a:lstStyle/>
          <a:p>
            <a:r>
              <a:rPr lang="fr-CA" dirty="0"/>
              <a:t>Niveaux de maîtrise</a:t>
            </a:r>
          </a:p>
        </p:txBody>
      </p:sp>
      <p:sp>
        <p:nvSpPr>
          <p:cNvPr id="3" name="Espace réservé du contenu 2">
            <a:extLst>
              <a:ext uri="{FF2B5EF4-FFF2-40B4-BE49-F238E27FC236}">
                <a16:creationId xmlns:a16="http://schemas.microsoft.com/office/drawing/2014/main" id="{99E1DDCE-FE1E-7DCC-5A32-C8DECCF821FA}"/>
              </a:ext>
            </a:extLst>
          </p:cNvPr>
          <p:cNvSpPr>
            <a:spLocks noGrp="1"/>
          </p:cNvSpPr>
          <p:nvPr>
            <p:ph idx="1"/>
          </p:nvPr>
        </p:nvSpPr>
        <p:spPr>
          <a:xfrm>
            <a:off x="638400" y="1893225"/>
            <a:ext cx="10915200" cy="4266036"/>
          </a:xfrm>
        </p:spPr>
        <p:txBody>
          <a:bodyPr>
            <a:normAutofit fontScale="92500" lnSpcReduction="20000"/>
          </a:bodyPr>
          <a:lstStyle/>
          <a:p>
            <a:r>
              <a:rPr lang="fr-CA" dirty="0"/>
              <a:t>Niveau C : Pour atteindre le niveau de maîtrise C, le candidat doit démontrer qu’il sait où trouver l’information voulue et qu’il comprend les concepts, et il doit être en mesure d’expliquer, de décrire et de démontrer des connaissances dont le degré de complexité varie de faible à moyen dans des situations courantes.</a:t>
            </a:r>
          </a:p>
          <a:p>
            <a:r>
              <a:rPr lang="fr-CA" dirty="0"/>
              <a:t>Niveau B : Pour atteindre le niveau de maîtrise B, qui inclut le niveau C, le candidat doit démontrer ses connaissances, analyser les problèmes et formuler des conclusions logiques dans des situations courantes dont le degré de complexité varie de faible à moyen. Il doit être en mesure d’effectuer une analyse préliminaire d’une situation, mais son analyse doit être revue par un professionnel plus exercé qui lui donnera l’encadrement voulu pour lui permettre de terminer son travail.</a:t>
            </a:r>
          </a:p>
          <a:p>
            <a:r>
              <a:rPr lang="fr-CA" dirty="0"/>
              <a:t>Niveau A : Pour atteindre le niveau de maîtrise A, qui inclut les niveaux C et B, le candidat doit démontrer ses connaissances, analyser les problèmes de façon suffisamment approfondie et formuler des conclusions dans des situations courantes dont le degré de complexité varie de faible à moyen. Dans les situations non courantes de complexité moyenne, on attend du candidat qu’il puisse saisir quelques-unes, mais pas la totalité, des interrelations. Dans de telles situations, il a besoin de l’encadrement de professionnels plus expérimentés pour terminer le travail. </a:t>
            </a:r>
          </a:p>
        </p:txBody>
      </p:sp>
      <p:sp>
        <p:nvSpPr>
          <p:cNvPr id="4" name="Espace réservé du numéro de diapositive 3">
            <a:extLst>
              <a:ext uri="{FF2B5EF4-FFF2-40B4-BE49-F238E27FC236}">
                <a16:creationId xmlns:a16="http://schemas.microsoft.com/office/drawing/2014/main" id="{74AE9725-DF73-BB19-A32F-B390A3BC8F0B}"/>
              </a:ext>
            </a:extLst>
          </p:cNvPr>
          <p:cNvSpPr>
            <a:spLocks noGrp="1"/>
          </p:cNvSpPr>
          <p:nvPr>
            <p:ph type="sldNum" sz="quarter" idx="12"/>
          </p:nvPr>
        </p:nvSpPr>
        <p:spPr/>
        <p:txBody>
          <a:bodyPr/>
          <a:lstStyle/>
          <a:p>
            <a:fld id="{D57F1E4F-1CFF-5643-939E-02111984F565}" type="slidenum">
              <a:rPr lang="en-US" smtClean="0"/>
              <a:t>8</a:t>
            </a:fld>
            <a:endParaRPr lang="en-US" dirty="0"/>
          </a:p>
        </p:txBody>
      </p:sp>
    </p:spTree>
    <p:extLst>
      <p:ext uri="{BB962C8B-B14F-4D97-AF65-F5344CB8AC3E}">
        <p14:creationId xmlns:p14="http://schemas.microsoft.com/office/powerpoint/2010/main" val="214897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CA" dirty="0" err="1"/>
              <a:t>Éthique</a:t>
            </a:r>
            <a:r>
              <a:rPr lang="en-CA" dirty="0"/>
              <a:t> et </a:t>
            </a:r>
            <a:r>
              <a:rPr lang="en-CA" dirty="0" err="1"/>
              <a:t>indépendance</a:t>
            </a:r>
            <a:endParaRPr lang="en-CA" dirty="0"/>
          </a:p>
        </p:txBody>
      </p:sp>
      <p:sp>
        <p:nvSpPr>
          <p:cNvPr id="3" name="Espace réservé du texte 2"/>
          <p:cNvSpPr>
            <a:spLocks noGrp="1"/>
          </p:cNvSpPr>
          <p:nvPr>
            <p:ph type="body" idx="1"/>
          </p:nvPr>
        </p:nvSpPr>
        <p:spPr/>
        <p:txBody>
          <a:bodyPr/>
          <a:lstStyle/>
          <a:p>
            <a:endParaRPr lang="en-CA"/>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9</a:t>
            </a:fld>
            <a:endParaRPr lang="en-US" dirty="0"/>
          </a:p>
        </p:txBody>
      </p:sp>
    </p:spTree>
    <p:extLst>
      <p:ext uri="{BB962C8B-B14F-4D97-AF65-F5344CB8AC3E}">
        <p14:creationId xmlns:p14="http://schemas.microsoft.com/office/powerpoint/2010/main" val="1337734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47312" y="18784"/>
            <a:ext cx="11694695" cy="558894"/>
          </a:xfrm>
        </p:spPr>
        <p:txBody>
          <a:bodyPr>
            <a:noAutofit/>
          </a:bodyPr>
          <a:lstStyle/>
          <a:p>
            <a:pPr marL="46037">
              <a:lnSpc>
                <a:spcPct val="120000"/>
              </a:lnSpc>
              <a:spcBef>
                <a:spcPts val="0"/>
              </a:spcBef>
            </a:pPr>
            <a:r>
              <a:rPr lang="fr-FR" sz="3200" b="1" dirty="0"/>
              <a:t>Qu’est-ce que l’éthique ?</a:t>
            </a:r>
            <a:endParaRPr lang="fr-CA" sz="3200" dirty="0"/>
          </a:p>
        </p:txBody>
      </p:sp>
      <p:sp>
        <p:nvSpPr>
          <p:cNvPr id="3" name="Espace réservé du numéro de diapositive 2"/>
          <p:cNvSpPr>
            <a:spLocks noGrp="1"/>
          </p:cNvSpPr>
          <p:nvPr>
            <p:ph type="sldNum" sz="quarter" idx="12"/>
          </p:nvPr>
        </p:nvSpPr>
        <p:spPr>
          <a:xfrm>
            <a:off x="9577863" y="6588953"/>
            <a:ext cx="1706217" cy="269047"/>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60BA0E-20D0-4E7C-B286-26C960A6788F}" type="slidenum">
              <a:rPr kumimoji="0" lang="fr-CA" sz="1200" b="0" i="0" u="none" strike="noStrike" kern="1200" cap="none" spc="0" normalizeH="0" baseline="0" noProof="0" smtClean="0">
                <a:ln>
                  <a:noFill/>
                </a:ln>
                <a:solidFill>
                  <a:prstClr val="black">
                    <a:lumMod val="95000"/>
                    <a:lumOff val="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fr-CA" sz="1200" b="0" i="0" u="none" strike="noStrike" kern="1200" cap="none" spc="0" normalizeH="0" baseline="0" noProof="0" dirty="0">
              <a:ln>
                <a:noFill/>
              </a:ln>
              <a:solidFill>
                <a:prstClr val="black">
                  <a:lumMod val="95000"/>
                  <a:lumOff val="5000"/>
                </a:prstClr>
              </a:solidFill>
              <a:effectLst/>
              <a:uLnTx/>
              <a:uFillTx/>
              <a:latin typeface="Calibri" panose="020F0502020204030204"/>
              <a:ea typeface="+mn-ea"/>
              <a:cs typeface="+mn-cs"/>
            </a:endParaRPr>
          </a:p>
        </p:txBody>
      </p:sp>
      <p:sp>
        <p:nvSpPr>
          <p:cNvPr id="4" name="Content Placeholder 3"/>
          <p:cNvSpPr>
            <a:spLocks noGrp="1"/>
          </p:cNvSpPr>
          <p:nvPr>
            <p:ph idx="1"/>
          </p:nvPr>
        </p:nvSpPr>
        <p:spPr>
          <a:xfrm>
            <a:off x="311284" y="541422"/>
            <a:ext cx="11694695" cy="5850911"/>
          </a:xfrm>
        </p:spPr>
        <p:txBody>
          <a:bodyPr>
            <a:normAutofit/>
          </a:bodyPr>
          <a:lstStyle/>
          <a:p>
            <a:pPr marL="46037" indent="0">
              <a:lnSpc>
                <a:spcPct val="120000"/>
              </a:lnSpc>
              <a:spcBef>
                <a:spcPts val="0"/>
              </a:spcBef>
              <a:buNone/>
            </a:pPr>
            <a:r>
              <a:rPr lang="fr-CA" dirty="0"/>
              <a:t>L’éthique va au-delà du respect des lois, du code de déontologie et des normes</a:t>
            </a:r>
            <a:r>
              <a:rPr lang="en-CA" sz="2600" dirty="0"/>
              <a:t> </a:t>
            </a:r>
          </a:p>
          <a:p>
            <a:pPr marL="533400" indent="-487363">
              <a:lnSpc>
                <a:spcPct val="120000"/>
              </a:lnSpc>
            </a:pPr>
            <a:endParaRPr lang="en-CA" sz="3000" b="1" dirty="0"/>
          </a:p>
          <a:p>
            <a:pPr marL="533400" indent="-487363">
              <a:lnSpc>
                <a:spcPct val="120000"/>
              </a:lnSpc>
            </a:pPr>
            <a:endParaRPr lang="en-CA" sz="3000" b="1" dirty="0"/>
          </a:p>
          <a:p>
            <a:pPr marL="533400" indent="-487363">
              <a:lnSpc>
                <a:spcPct val="120000"/>
              </a:lnSpc>
            </a:pPr>
            <a:endParaRPr lang="en-CA" sz="3000" b="1" dirty="0"/>
          </a:p>
          <a:p>
            <a:pPr marL="46037" indent="0">
              <a:lnSpc>
                <a:spcPct val="120000"/>
              </a:lnSpc>
              <a:buNone/>
            </a:pPr>
            <a:endParaRPr lang="en-CA" sz="3000" b="1" dirty="0"/>
          </a:p>
          <a:p>
            <a:pPr marL="46037" indent="0">
              <a:lnSpc>
                <a:spcPct val="120000"/>
              </a:lnSpc>
              <a:buNone/>
            </a:pPr>
            <a:endParaRPr lang="en-CA" sz="3000" b="1" dirty="0"/>
          </a:p>
          <a:p>
            <a:pPr marL="46037" indent="0">
              <a:lnSpc>
                <a:spcPct val="120000"/>
              </a:lnSpc>
              <a:spcBef>
                <a:spcPts val="600"/>
              </a:spcBef>
              <a:buNone/>
            </a:pPr>
            <a:endParaRPr lang="en-CA" sz="2800" b="1" dirty="0"/>
          </a:p>
          <a:p>
            <a:pPr marL="46037" indent="0">
              <a:lnSpc>
                <a:spcPct val="120000"/>
              </a:lnSpc>
              <a:spcBef>
                <a:spcPts val="600"/>
              </a:spcBef>
              <a:buNone/>
            </a:pPr>
            <a:r>
              <a:rPr lang="fr-CA" sz="2400" b="1" dirty="0"/>
              <a:t>Encadrement de la profession de CPA</a:t>
            </a:r>
          </a:p>
          <a:p>
            <a:pPr marL="533400" indent="-487363">
              <a:lnSpc>
                <a:spcPct val="110000"/>
              </a:lnSpc>
              <a:spcBef>
                <a:spcPts val="0"/>
              </a:spcBef>
            </a:pPr>
            <a:r>
              <a:rPr lang="fr-CA" sz="2400" dirty="0"/>
              <a:t>Code des professions, loi sur les CPA, code de déontologie des CPA</a:t>
            </a:r>
            <a:r>
              <a:rPr lang="fr-CA" sz="1800" dirty="0"/>
              <a:t> </a:t>
            </a:r>
          </a:p>
          <a:p>
            <a:pPr marL="46037" indent="0">
              <a:lnSpc>
                <a:spcPct val="110000"/>
              </a:lnSpc>
              <a:spcBef>
                <a:spcPts val="0"/>
              </a:spcBef>
              <a:buNone/>
            </a:pPr>
            <a:r>
              <a:rPr lang="fr-CA" sz="1800" b="1" dirty="0">
                <a:solidFill>
                  <a:srgbClr val="C00000"/>
                </a:solidFill>
              </a:rPr>
              <a:t>	</a:t>
            </a:r>
            <a:r>
              <a:rPr lang="fr-CA" sz="2000" b="1" dirty="0">
                <a:solidFill>
                  <a:srgbClr val="C00000"/>
                </a:solidFill>
              </a:rPr>
              <a:t>+ Règle 204 sur l’indépendance</a:t>
            </a:r>
          </a:p>
        </p:txBody>
      </p:sp>
      <p:graphicFrame>
        <p:nvGraphicFramePr>
          <p:cNvPr id="6" name="Espace réservé du contenu 5"/>
          <p:cNvGraphicFramePr>
            <a:graphicFrameLocks/>
          </p:cNvGraphicFramePr>
          <p:nvPr/>
        </p:nvGraphicFramePr>
        <p:xfrm>
          <a:off x="6391909" y="1684479"/>
          <a:ext cx="5735989" cy="19260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ZoneTexte 6"/>
          <p:cNvSpPr txBox="1"/>
          <p:nvPr/>
        </p:nvSpPr>
        <p:spPr>
          <a:xfrm>
            <a:off x="7650714" y="3594099"/>
            <a:ext cx="4482714" cy="461665"/>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dirty="0">
                <a:ln>
                  <a:noFill/>
                </a:ln>
                <a:solidFill>
                  <a:prstClr val="black"/>
                </a:solidFill>
                <a:effectLst/>
                <a:uLnTx/>
                <a:uFillTx/>
                <a:latin typeface="Trebuchet MS" panose="020B0603020202020204"/>
                <a:ea typeface="+mn-ea"/>
                <a:cs typeface="+mn-cs"/>
              </a:rPr>
              <a:t>Source: Réal Labelle, notes de cours, Éthique et pratique professionnelle (490195), HEC Montréal, Automne 2013</a:t>
            </a:r>
          </a:p>
        </p:txBody>
      </p:sp>
      <p:sp>
        <p:nvSpPr>
          <p:cNvPr id="8" name="Rectangle 3"/>
          <p:cNvSpPr txBox="1">
            <a:spLocks noChangeArrowheads="1"/>
          </p:cNvSpPr>
          <p:nvPr/>
        </p:nvSpPr>
        <p:spPr>
          <a:xfrm>
            <a:off x="333060" y="1108479"/>
            <a:ext cx="7865069" cy="67103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fr-CA" altLang="fr-FR" sz="2100" b="0" i="0" u="none" strike="noStrike" kern="1200" cap="none" spc="0" normalizeH="0" baseline="0" noProof="0" dirty="0">
                <a:ln>
                  <a:noFill/>
                </a:ln>
                <a:solidFill>
                  <a:prstClr val="black"/>
                </a:solidFill>
                <a:effectLst/>
                <a:uLnTx/>
                <a:uFillTx/>
                <a:latin typeface="Calibri" panose="020F0502020204030204"/>
                <a:ea typeface="+mn-ea"/>
                <a:cs typeface="+mn-cs"/>
              </a:rPr>
              <a:t>L’éthique est un processus de </a:t>
            </a:r>
            <a:r>
              <a:rPr kumimoji="0" lang="fr-CA" altLang="fr-FR" sz="2100" b="1" i="0" u="none" strike="noStrike" kern="1200" cap="none" spc="0" normalizeH="0" baseline="0" noProof="0" dirty="0">
                <a:ln>
                  <a:noFill/>
                </a:ln>
                <a:solidFill>
                  <a:srgbClr val="FF0000"/>
                </a:solidFill>
                <a:effectLst/>
                <a:uLnTx/>
                <a:uFillTx/>
                <a:latin typeface="Calibri" panose="020F0502020204030204"/>
                <a:ea typeface="+mn-ea"/>
                <a:cs typeface="+mn-cs"/>
              </a:rPr>
              <a:t>réflexion critique </a:t>
            </a:r>
            <a:r>
              <a:rPr kumimoji="0" lang="fr-CA" altLang="fr-FR" sz="2100" b="0" i="0" u="none" strike="noStrike" kern="1200" cap="none" spc="0" normalizeH="0" baseline="0" noProof="0" dirty="0">
                <a:ln>
                  <a:noFill/>
                </a:ln>
                <a:solidFill>
                  <a:prstClr val="black"/>
                </a:solidFill>
                <a:effectLst/>
                <a:uLnTx/>
                <a:uFillTx/>
                <a:latin typeface="Calibri" panose="020F0502020204030204"/>
                <a:ea typeface="+mn-ea"/>
                <a:cs typeface="+mn-cs"/>
              </a:rPr>
              <a:t>qui, dans une situation donnée, aide à faire le mieux possible, en considérant ce qui suit :</a:t>
            </a:r>
            <a:endParaRPr kumimoji="0" lang="fr-CA" altLang="fr-FR"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Rectangle à coins arrondis 8"/>
          <p:cNvSpPr/>
          <p:nvPr/>
        </p:nvSpPr>
        <p:spPr>
          <a:xfrm>
            <a:off x="183835" y="4186556"/>
            <a:ext cx="11457379" cy="4192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prstClr val="white"/>
                </a:solidFill>
                <a:effectLst/>
                <a:uLnTx/>
                <a:uFillTx/>
                <a:latin typeface="Calibri" panose="020F0502020204030204"/>
                <a:ea typeface="+mn-ea"/>
                <a:cs typeface="+mn-cs"/>
              </a:rPr>
              <a:t>Le respect de tous les aspects légaux ne garantit pas un comportement éthique…</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3"/>
          <p:cNvSpPr txBox="1">
            <a:spLocks noChangeArrowheads="1"/>
          </p:cNvSpPr>
          <p:nvPr/>
        </p:nvSpPr>
        <p:spPr>
          <a:xfrm>
            <a:off x="70226" y="1864625"/>
            <a:ext cx="6584518" cy="196030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89000" marR="0" lvl="0" indent="-3476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CA" altLang="fr-FR" sz="2100" b="0" i="0" u="none" strike="noStrike" kern="1200" cap="none" spc="0" normalizeH="0" baseline="0" noProof="0" dirty="0">
                <a:ln>
                  <a:noFill/>
                </a:ln>
                <a:solidFill>
                  <a:prstClr val="black"/>
                </a:solidFill>
                <a:effectLst/>
                <a:uLnTx/>
                <a:uFillTx/>
                <a:latin typeface="Calibri" panose="020F0502020204030204"/>
                <a:ea typeface="+mn-ea"/>
                <a:cs typeface="+mn-cs"/>
              </a:rPr>
              <a:t>Mission et objectifs de l’organisation</a:t>
            </a:r>
          </a:p>
          <a:p>
            <a:pPr marL="889000" marR="0" lvl="0" indent="-3476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CA" altLang="fr-FR" sz="2100" b="0" i="0" u="none" strike="noStrike" kern="1200" cap="none" spc="0" normalizeH="0" baseline="0" noProof="0" dirty="0">
                <a:ln>
                  <a:noFill/>
                </a:ln>
                <a:solidFill>
                  <a:prstClr val="black"/>
                </a:solidFill>
                <a:effectLst/>
                <a:uLnTx/>
                <a:uFillTx/>
                <a:latin typeface="Calibri" panose="020F0502020204030204"/>
                <a:ea typeface="+mn-ea"/>
                <a:cs typeface="+mn-cs"/>
              </a:rPr>
              <a:t>Lois et normes applicables</a:t>
            </a:r>
          </a:p>
          <a:p>
            <a:pPr marL="889000" marR="0" lvl="0" indent="-3476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CA" altLang="fr-FR" sz="2100" b="0" i="0" u="none" strike="noStrike" kern="1200" cap="none" spc="0" normalizeH="0" baseline="0" noProof="0" dirty="0">
                <a:ln>
                  <a:noFill/>
                </a:ln>
                <a:solidFill>
                  <a:prstClr val="black"/>
                </a:solidFill>
                <a:effectLst/>
                <a:uLnTx/>
                <a:uFillTx/>
                <a:latin typeface="Calibri" panose="020F0502020204030204"/>
                <a:ea typeface="+mn-ea"/>
                <a:cs typeface="+mn-cs"/>
              </a:rPr>
              <a:t>Code de déontologie</a:t>
            </a:r>
          </a:p>
          <a:p>
            <a:pPr marL="889000" indent="-347663">
              <a:lnSpc>
                <a:spcPct val="100000"/>
              </a:lnSpc>
              <a:spcBef>
                <a:spcPts val="0"/>
              </a:spcBef>
              <a:defRPr/>
            </a:pPr>
            <a:r>
              <a:rPr lang="fr-CA" altLang="fr-FR" sz="2100" b="1" dirty="0">
                <a:solidFill>
                  <a:prstClr val="black"/>
                </a:solidFill>
                <a:latin typeface="Calibri" panose="020F0502020204030204"/>
              </a:rPr>
              <a:t>Valeurs et principes moraux</a:t>
            </a:r>
          </a:p>
          <a:p>
            <a:pPr marL="889000" indent="-347663">
              <a:lnSpc>
                <a:spcPct val="100000"/>
              </a:lnSpc>
              <a:spcBef>
                <a:spcPts val="0"/>
              </a:spcBef>
              <a:defRPr/>
            </a:pPr>
            <a:r>
              <a:rPr lang="fr-CA" altLang="fr-FR" sz="2100" b="1" dirty="0">
                <a:solidFill>
                  <a:prstClr val="black"/>
                </a:solidFill>
                <a:latin typeface="Calibri" panose="020F0502020204030204"/>
              </a:rPr>
              <a:t>Impact de nos actions sur les autres</a:t>
            </a:r>
          </a:p>
          <a:p>
            <a:pPr marL="889000" indent="-347663">
              <a:lnSpc>
                <a:spcPct val="100000"/>
              </a:lnSpc>
              <a:spcBef>
                <a:spcPts val="0"/>
              </a:spcBef>
              <a:defRPr/>
            </a:pPr>
            <a:r>
              <a:rPr lang="fr-CA" altLang="fr-FR" sz="2100" b="1" dirty="0">
                <a:solidFill>
                  <a:prstClr val="black"/>
                </a:solidFill>
                <a:latin typeface="Calibri" panose="020F0502020204030204"/>
              </a:rPr>
              <a:t>Attentes de la société à l’égard de nos activités</a:t>
            </a:r>
          </a:p>
        </p:txBody>
      </p:sp>
    </p:spTree>
    <p:extLst>
      <p:ext uri="{BB962C8B-B14F-4D97-AF65-F5344CB8AC3E}">
        <p14:creationId xmlns:p14="http://schemas.microsoft.com/office/powerpoint/2010/main" val="129155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CA" sz="3600" b="1" dirty="0"/>
              <a:t>Règle d’indépendance – Règle 204</a:t>
            </a:r>
          </a:p>
        </p:txBody>
      </p:sp>
      <p:sp>
        <p:nvSpPr>
          <p:cNvPr id="3" name="Espace réservé du numéro de diapositive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60BA0E-20D0-4E7C-B286-26C960A6788F}"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fr-CA"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Espace réservé du contenu 4"/>
          <p:cNvSpPr>
            <a:spLocks noGrp="1"/>
          </p:cNvSpPr>
          <p:nvPr>
            <p:ph idx="1"/>
          </p:nvPr>
        </p:nvSpPr>
        <p:spPr/>
        <p:txBody>
          <a:bodyPr>
            <a:normAutofit/>
          </a:bodyPr>
          <a:lstStyle/>
          <a:p>
            <a:pPr marL="0" indent="0">
              <a:buNone/>
            </a:pPr>
            <a:r>
              <a:rPr lang="fr-CA" altLang="fr-FR" sz="2400" b="1" dirty="0">
                <a:solidFill>
                  <a:srgbClr val="002060"/>
                </a:solidFill>
              </a:rPr>
              <a:t>Art 1. Champ d’application : certification et application de procédés </a:t>
            </a:r>
          </a:p>
          <a:p>
            <a:pPr marL="0" indent="0">
              <a:buNone/>
            </a:pPr>
            <a:r>
              <a:rPr lang="fr-CA" altLang="fr-FR" sz="2400" b="1" dirty="0">
                <a:solidFill>
                  <a:srgbClr val="002060"/>
                </a:solidFill>
              </a:rPr>
              <a:t>Art 3. Le membre ou le cabinet</a:t>
            </a:r>
            <a:r>
              <a:rPr lang="fr-CA" sz="2400" b="1" dirty="0">
                <a:solidFill>
                  <a:srgbClr val="002060"/>
                </a:solidFill>
              </a:rPr>
              <a:t> doit :</a:t>
            </a:r>
            <a:r>
              <a:rPr lang="fr-CA" altLang="fr-FR" sz="2400" b="1" dirty="0">
                <a:solidFill>
                  <a:srgbClr val="002060"/>
                </a:solidFill>
              </a:rPr>
              <a:t> </a:t>
            </a:r>
          </a:p>
          <a:p>
            <a:pPr marL="723900" indent="-449263">
              <a:lnSpc>
                <a:spcPct val="100000"/>
              </a:lnSpc>
              <a:spcBef>
                <a:spcPts val="0"/>
              </a:spcBef>
            </a:pPr>
            <a:r>
              <a:rPr lang="fr-CA" altLang="fr-FR" sz="2400" dirty="0"/>
              <a:t>Identifier les </a:t>
            </a:r>
            <a:r>
              <a:rPr lang="fr-CA" altLang="fr-FR" sz="2400" b="1" u="sng" dirty="0"/>
              <a:t>MENACES</a:t>
            </a:r>
            <a:r>
              <a:rPr lang="fr-CA" altLang="fr-FR" sz="2400" dirty="0"/>
              <a:t> pour l’indépendance, en apprécier la </a:t>
            </a:r>
            <a:r>
              <a:rPr lang="fr-CA" altLang="fr-FR" sz="2400" b="1" dirty="0"/>
              <a:t>gravité</a:t>
            </a:r>
            <a:endParaRPr lang="fr-CA" altLang="fr-FR" sz="2400" dirty="0"/>
          </a:p>
          <a:p>
            <a:pPr marL="723900" indent="-449263">
              <a:lnSpc>
                <a:spcPct val="100000"/>
              </a:lnSpc>
              <a:spcBef>
                <a:spcPts val="0"/>
              </a:spcBef>
            </a:pPr>
            <a:r>
              <a:rPr lang="fr-CA" altLang="fr-FR" sz="2400" dirty="0"/>
              <a:t>Si menaces non négligeables, mettre en place des </a:t>
            </a:r>
            <a:r>
              <a:rPr lang="fr-CA" altLang="fr-FR" sz="2400" b="1" dirty="0"/>
              <a:t>sauvegardes</a:t>
            </a:r>
            <a:endParaRPr lang="fr-CA" altLang="fr-FR" sz="2400" dirty="0"/>
          </a:p>
          <a:p>
            <a:pPr marL="723900" indent="-449263">
              <a:lnSpc>
                <a:spcPct val="100000"/>
              </a:lnSpc>
              <a:spcBef>
                <a:spcPts val="0"/>
              </a:spcBef>
            </a:pPr>
            <a:r>
              <a:rPr lang="fr-CA" altLang="fr-FR" sz="2400" dirty="0"/>
              <a:t>Si impossible de ramener les menaces à un niveau acceptable, il doit :</a:t>
            </a:r>
          </a:p>
          <a:p>
            <a:pPr marL="998220" lvl="2" indent="-449263">
              <a:lnSpc>
                <a:spcPct val="100000"/>
              </a:lnSpc>
            </a:pPr>
            <a:r>
              <a:rPr lang="fr-CA" altLang="fr-FR" sz="2400" dirty="0"/>
              <a:t>soit </a:t>
            </a:r>
            <a:r>
              <a:rPr lang="fr-CA" altLang="fr-FR" sz="2400" b="1" dirty="0"/>
              <a:t>éliminer</a:t>
            </a:r>
            <a:r>
              <a:rPr lang="fr-CA" altLang="fr-FR" sz="2400" dirty="0"/>
              <a:t> l’activité, les intérêts ou la relation à l’origine de la ou les menaces</a:t>
            </a:r>
          </a:p>
          <a:p>
            <a:pPr marL="998220" lvl="2" indent="-449263">
              <a:lnSpc>
                <a:spcPct val="100000"/>
              </a:lnSpc>
            </a:pPr>
            <a:r>
              <a:rPr lang="fr-CA" altLang="fr-FR" sz="2400" dirty="0"/>
              <a:t>soit </a:t>
            </a:r>
            <a:r>
              <a:rPr lang="fr-CA" altLang="fr-FR" sz="2400" b="1" dirty="0"/>
              <a:t>refuser</a:t>
            </a:r>
            <a:r>
              <a:rPr lang="fr-CA" altLang="fr-FR" sz="2400" dirty="0"/>
              <a:t> la mission ou refuser de la poursuivre</a:t>
            </a:r>
          </a:p>
        </p:txBody>
      </p:sp>
    </p:spTree>
    <p:extLst>
      <p:ext uri="{BB962C8B-B14F-4D97-AF65-F5344CB8AC3E}">
        <p14:creationId xmlns:p14="http://schemas.microsoft.com/office/powerpoint/2010/main" val="906343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3"/>
          <a:srcRect l="44104" t="831" r="22690" b="74192"/>
          <a:stretch/>
        </p:blipFill>
        <p:spPr>
          <a:xfrm>
            <a:off x="5791200" y="574238"/>
            <a:ext cx="3594234" cy="1617134"/>
          </a:xfrm>
          <a:prstGeom prst="rect">
            <a:avLst/>
          </a:prstGeom>
        </p:spPr>
      </p:pic>
      <p:pic>
        <p:nvPicPr>
          <p:cNvPr id="6" name="Image 5"/>
          <p:cNvPicPr>
            <a:picLocks noChangeAspect="1"/>
          </p:cNvPicPr>
          <p:nvPr/>
        </p:nvPicPr>
        <p:blipFill rotWithShape="1">
          <a:blip r:embed="rId4"/>
          <a:srcRect l="5625" t="340" r="62208" b="72418"/>
          <a:stretch/>
        </p:blipFill>
        <p:spPr>
          <a:xfrm>
            <a:off x="813005" y="497305"/>
            <a:ext cx="3350136" cy="1789111"/>
          </a:xfrm>
          <a:prstGeom prst="rect">
            <a:avLst/>
          </a:prstGeom>
        </p:spPr>
      </p:pic>
      <p:sp>
        <p:nvSpPr>
          <p:cNvPr id="5" name="Espace réservé du contenu 4"/>
          <p:cNvSpPr>
            <a:spLocks noGrp="1"/>
          </p:cNvSpPr>
          <p:nvPr>
            <p:ph idx="1"/>
          </p:nvPr>
        </p:nvSpPr>
        <p:spPr>
          <a:xfrm>
            <a:off x="1963590" y="1477584"/>
            <a:ext cx="7029237" cy="4507080"/>
          </a:xfrm>
        </p:spPr>
        <p:txBody>
          <a:bodyPr>
            <a:normAutofit/>
          </a:bodyPr>
          <a:lstStyle/>
          <a:p>
            <a:endParaRPr lang="fr-CA" sz="2400" b="1" dirty="0"/>
          </a:p>
          <a:p>
            <a:endParaRPr lang="fr-CA" dirty="0"/>
          </a:p>
          <a:p>
            <a:endParaRPr lang="fr-CA" dirty="0"/>
          </a:p>
          <a:p>
            <a:pPr marL="0" indent="0">
              <a:buNone/>
              <a:defRPr/>
            </a:pPr>
            <a:endParaRPr lang="fr-CA" dirty="0"/>
          </a:p>
        </p:txBody>
      </p:sp>
      <p:sp>
        <p:nvSpPr>
          <p:cNvPr id="9" name="Ellipse 8"/>
          <p:cNvSpPr/>
          <p:nvPr/>
        </p:nvSpPr>
        <p:spPr>
          <a:xfrm>
            <a:off x="721843" y="2965035"/>
            <a:ext cx="1424667" cy="1306457"/>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2000" b="1" i="0" u="none" strike="noStrike" kern="1200" cap="none" spc="0" normalizeH="0" baseline="0" noProof="0" dirty="0">
                <a:ln>
                  <a:noFill/>
                </a:ln>
                <a:solidFill>
                  <a:srgbClr val="FF0000"/>
                </a:solidFill>
                <a:effectLst/>
                <a:uLnTx/>
                <a:uFillTx/>
                <a:latin typeface="Calibri" panose="020F0502020204030204"/>
                <a:ea typeface="+mn-ea"/>
                <a:cs typeface="+mn-cs"/>
              </a:rPr>
              <a:t>OUI, visées par art 4</a:t>
            </a:r>
          </a:p>
        </p:txBody>
      </p:sp>
      <p:sp>
        <p:nvSpPr>
          <p:cNvPr id="12" name="Ellipse 11"/>
          <p:cNvSpPr/>
          <p:nvPr/>
        </p:nvSpPr>
        <p:spPr>
          <a:xfrm>
            <a:off x="8109710" y="726971"/>
            <a:ext cx="964893" cy="410276"/>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4400" b="1"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2</a:t>
            </a:r>
          </a:p>
        </p:txBody>
      </p:sp>
      <p:sp>
        <p:nvSpPr>
          <p:cNvPr id="13" name="Ellipse 12"/>
          <p:cNvSpPr/>
          <p:nvPr/>
        </p:nvSpPr>
        <p:spPr>
          <a:xfrm>
            <a:off x="241315" y="702752"/>
            <a:ext cx="1038294" cy="570178"/>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4400" b="1"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1</a:t>
            </a:r>
          </a:p>
        </p:txBody>
      </p:sp>
      <p:sp>
        <p:nvSpPr>
          <p:cNvPr id="4" name="Titre 3"/>
          <p:cNvSpPr>
            <a:spLocks noGrp="1"/>
          </p:cNvSpPr>
          <p:nvPr>
            <p:ph type="title"/>
          </p:nvPr>
        </p:nvSpPr>
        <p:spPr>
          <a:xfrm>
            <a:off x="0" y="0"/>
            <a:ext cx="12192000" cy="533482"/>
          </a:xfrm>
        </p:spPr>
        <p:txBody>
          <a:bodyPr>
            <a:noAutofit/>
          </a:bodyPr>
          <a:lstStyle/>
          <a:p>
            <a:r>
              <a:rPr lang="fr-CA" sz="2400" b="1" dirty="0"/>
              <a:t>Règle d’indépendance (204) : Arbre décisionnel</a:t>
            </a:r>
          </a:p>
        </p:txBody>
      </p:sp>
      <p:sp>
        <p:nvSpPr>
          <p:cNvPr id="3" name="Espace réservé du numéro de diapositive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6A126F-ECAD-40CF-950D-291D558E4DF6}" type="slidenum">
              <a:rPr kumimoji="0" lang="fr-C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fr-C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0" name="Image 9"/>
          <p:cNvPicPr>
            <a:picLocks noChangeAspect="1"/>
          </p:cNvPicPr>
          <p:nvPr/>
        </p:nvPicPr>
        <p:blipFill rotWithShape="1">
          <a:blip r:embed="rId3"/>
          <a:srcRect l="12261" t="90669" r="65156" b="46"/>
          <a:stretch/>
        </p:blipFill>
        <p:spPr>
          <a:xfrm>
            <a:off x="1733882" y="5284979"/>
            <a:ext cx="2548466" cy="601134"/>
          </a:xfrm>
          <a:prstGeom prst="rect">
            <a:avLst/>
          </a:prstGeom>
        </p:spPr>
      </p:pic>
      <p:cxnSp>
        <p:nvCxnSpPr>
          <p:cNvPr id="14" name="Connecteur droit avec flèche 13"/>
          <p:cNvCxnSpPr/>
          <p:nvPr/>
        </p:nvCxnSpPr>
        <p:spPr>
          <a:xfrm>
            <a:off x="2488073" y="2271969"/>
            <a:ext cx="0" cy="30130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Connecteur droit avec flèche 7"/>
          <p:cNvCxnSpPr/>
          <p:nvPr/>
        </p:nvCxnSpPr>
        <p:spPr>
          <a:xfrm>
            <a:off x="4163141" y="1364218"/>
            <a:ext cx="1684867" cy="6199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Ellipse 17"/>
          <p:cNvSpPr/>
          <p:nvPr/>
        </p:nvSpPr>
        <p:spPr>
          <a:xfrm>
            <a:off x="3685336" y="695772"/>
            <a:ext cx="2760477" cy="555923"/>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FF0000"/>
                </a:solidFill>
                <a:effectLst/>
                <a:uLnTx/>
                <a:uFillTx/>
                <a:latin typeface="Calibri" panose="020F0502020204030204"/>
                <a:ea typeface="+mn-ea"/>
                <a:cs typeface="+mn-cs"/>
              </a:rPr>
              <a:t>NON, art 3…</a:t>
            </a:r>
          </a:p>
        </p:txBody>
      </p:sp>
      <p:pic>
        <p:nvPicPr>
          <p:cNvPr id="19" name="Image 18"/>
          <p:cNvPicPr>
            <a:picLocks noChangeAspect="1"/>
          </p:cNvPicPr>
          <p:nvPr/>
        </p:nvPicPr>
        <p:blipFill rotWithShape="1">
          <a:blip r:embed="rId3"/>
          <a:srcRect l="39272" t="34046" r="17362" b="41370"/>
          <a:stretch/>
        </p:blipFill>
        <p:spPr>
          <a:xfrm>
            <a:off x="5325086" y="2761228"/>
            <a:ext cx="4521270" cy="1569996"/>
          </a:xfrm>
          <a:prstGeom prst="rect">
            <a:avLst/>
          </a:prstGeom>
        </p:spPr>
      </p:pic>
      <p:pic>
        <p:nvPicPr>
          <p:cNvPr id="20" name="Image 19"/>
          <p:cNvPicPr>
            <a:picLocks noChangeAspect="1"/>
          </p:cNvPicPr>
          <p:nvPr/>
        </p:nvPicPr>
        <p:blipFill rotWithShape="1">
          <a:blip r:embed="rId3"/>
          <a:srcRect l="44148" t="71054" r="20739" b="20838"/>
          <a:stretch/>
        </p:blipFill>
        <p:spPr>
          <a:xfrm>
            <a:off x="5432933" y="4969933"/>
            <a:ext cx="4477402" cy="593162"/>
          </a:xfrm>
          <a:prstGeom prst="rect">
            <a:avLst/>
          </a:prstGeom>
        </p:spPr>
      </p:pic>
      <p:pic>
        <p:nvPicPr>
          <p:cNvPr id="21" name="Image 20"/>
          <p:cNvPicPr>
            <a:picLocks noChangeAspect="1"/>
          </p:cNvPicPr>
          <p:nvPr/>
        </p:nvPicPr>
        <p:blipFill rotWithShape="1">
          <a:blip r:embed="rId3"/>
          <a:srcRect l="80311" t="90408"/>
          <a:stretch/>
        </p:blipFill>
        <p:spPr>
          <a:xfrm>
            <a:off x="9583768" y="6022768"/>
            <a:ext cx="2221804" cy="621056"/>
          </a:xfrm>
          <a:prstGeom prst="rect">
            <a:avLst/>
          </a:prstGeom>
        </p:spPr>
      </p:pic>
      <p:cxnSp>
        <p:nvCxnSpPr>
          <p:cNvPr id="23" name="Connecteur droit 22"/>
          <p:cNvCxnSpPr/>
          <p:nvPr/>
        </p:nvCxnSpPr>
        <p:spPr>
          <a:xfrm flipH="1">
            <a:off x="3869714" y="3437467"/>
            <a:ext cx="165901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4" name="Connecteur droit avec flèche 23"/>
          <p:cNvCxnSpPr/>
          <p:nvPr/>
        </p:nvCxnSpPr>
        <p:spPr>
          <a:xfrm flipH="1">
            <a:off x="3853228" y="3437467"/>
            <a:ext cx="32972" cy="186195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p:cNvCxnSpPr>
            <a:stCxn id="16" idx="2"/>
            <a:endCxn id="19" idx="0"/>
          </p:cNvCxnSpPr>
          <p:nvPr/>
        </p:nvCxnSpPr>
        <p:spPr>
          <a:xfrm flipH="1">
            <a:off x="7585721" y="2191372"/>
            <a:ext cx="2596" cy="56985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Ellipse 31"/>
          <p:cNvSpPr/>
          <p:nvPr/>
        </p:nvSpPr>
        <p:spPr>
          <a:xfrm>
            <a:off x="6308596" y="2286151"/>
            <a:ext cx="1019302" cy="361033"/>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2800" b="1" i="0" u="none" strike="noStrike" kern="1200" cap="none" spc="0" normalizeH="0" baseline="0" noProof="0" dirty="0">
                <a:ln>
                  <a:noFill/>
                </a:ln>
                <a:solidFill>
                  <a:srgbClr val="FF0000"/>
                </a:solidFill>
                <a:effectLst/>
                <a:uLnTx/>
                <a:uFillTx/>
                <a:latin typeface="Calibri" panose="020F0502020204030204"/>
                <a:ea typeface="+mn-ea"/>
                <a:cs typeface="+mn-cs"/>
              </a:rPr>
              <a:t>oui</a:t>
            </a:r>
          </a:p>
        </p:txBody>
      </p:sp>
      <p:sp>
        <p:nvSpPr>
          <p:cNvPr id="33" name="Ellipse 32"/>
          <p:cNvSpPr/>
          <p:nvPr/>
        </p:nvSpPr>
        <p:spPr>
          <a:xfrm>
            <a:off x="9129853" y="1667410"/>
            <a:ext cx="1186467" cy="361033"/>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2800" b="1" i="0" u="none" strike="noStrike" kern="1200" cap="none" spc="0" normalizeH="0" baseline="0" noProof="0" dirty="0">
                <a:ln>
                  <a:noFill/>
                </a:ln>
                <a:solidFill>
                  <a:srgbClr val="FF0000"/>
                </a:solidFill>
                <a:effectLst/>
                <a:uLnTx/>
                <a:uFillTx/>
                <a:latin typeface="Calibri" panose="020F0502020204030204"/>
                <a:ea typeface="+mn-ea"/>
                <a:cs typeface="+mn-cs"/>
              </a:rPr>
              <a:t>non</a:t>
            </a:r>
          </a:p>
        </p:txBody>
      </p:sp>
      <p:cxnSp>
        <p:nvCxnSpPr>
          <p:cNvPr id="34" name="Connecteur droit 33"/>
          <p:cNvCxnSpPr/>
          <p:nvPr/>
        </p:nvCxnSpPr>
        <p:spPr>
          <a:xfrm flipH="1">
            <a:off x="9385434" y="1477584"/>
            <a:ext cx="143888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5" name="Connecteur droit avec flèche 34"/>
          <p:cNvCxnSpPr/>
          <p:nvPr/>
        </p:nvCxnSpPr>
        <p:spPr>
          <a:xfrm>
            <a:off x="10812836" y="1477584"/>
            <a:ext cx="2966" cy="454518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Ellipse 10"/>
          <p:cNvSpPr/>
          <p:nvPr/>
        </p:nvSpPr>
        <p:spPr>
          <a:xfrm>
            <a:off x="8075358" y="2742890"/>
            <a:ext cx="1205525" cy="432166"/>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4400" b="1"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rPr>
              <a:t>3</a:t>
            </a:r>
          </a:p>
        </p:txBody>
      </p:sp>
      <p:cxnSp>
        <p:nvCxnSpPr>
          <p:cNvPr id="36" name="Connecteur droit avec flèche 35"/>
          <p:cNvCxnSpPr/>
          <p:nvPr/>
        </p:nvCxnSpPr>
        <p:spPr>
          <a:xfrm flipH="1">
            <a:off x="7616871" y="4259631"/>
            <a:ext cx="2" cy="77227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0" name="Connecteur droit 39"/>
          <p:cNvCxnSpPr>
            <a:stCxn id="20" idx="2"/>
          </p:cNvCxnSpPr>
          <p:nvPr/>
        </p:nvCxnSpPr>
        <p:spPr>
          <a:xfrm>
            <a:off x="7671634" y="5563095"/>
            <a:ext cx="0" cy="7840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2" name="Connecteur droit avec flèche 41"/>
          <p:cNvCxnSpPr>
            <a:endCxn id="21" idx="1"/>
          </p:cNvCxnSpPr>
          <p:nvPr/>
        </p:nvCxnSpPr>
        <p:spPr>
          <a:xfrm>
            <a:off x="7627264" y="6325001"/>
            <a:ext cx="1956504" cy="829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5" name="Ellipse 44"/>
          <p:cNvSpPr/>
          <p:nvPr/>
        </p:nvSpPr>
        <p:spPr>
          <a:xfrm>
            <a:off x="3995923" y="3469362"/>
            <a:ext cx="1186467" cy="361033"/>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2800" b="1" i="0" u="none" strike="noStrike" kern="1200" cap="none" spc="0" normalizeH="0" baseline="0" noProof="0" dirty="0">
                <a:ln>
                  <a:noFill/>
                </a:ln>
                <a:solidFill>
                  <a:srgbClr val="FF0000"/>
                </a:solidFill>
                <a:effectLst/>
                <a:uLnTx/>
                <a:uFillTx/>
                <a:latin typeface="Calibri" panose="020F0502020204030204"/>
                <a:ea typeface="+mn-ea"/>
                <a:cs typeface="+mn-cs"/>
              </a:rPr>
              <a:t>non</a:t>
            </a:r>
          </a:p>
        </p:txBody>
      </p:sp>
      <p:sp>
        <p:nvSpPr>
          <p:cNvPr id="46" name="Ellipse 45"/>
          <p:cNvSpPr/>
          <p:nvPr/>
        </p:nvSpPr>
        <p:spPr>
          <a:xfrm>
            <a:off x="7627264" y="4358768"/>
            <a:ext cx="2332043" cy="361033"/>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2400" b="1" i="0" u="none" strike="noStrike" kern="1200" cap="none" spc="0" normalizeH="0" baseline="0" noProof="0" dirty="0">
                <a:ln>
                  <a:noFill/>
                </a:ln>
                <a:solidFill>
                  <a:srgbClr val="FF0000"/>
                </a:solidFill>
                <a:effectLst/>
                <a:uLnTx/>
                <a:uFillTx/>
                <a:latin typeface="Calibri" panose="020F0502020204030204"/>
                <a:ea typeface="+mn-ea"/>
                <a:cs typeface="+mn-cs"/>
              </a:rPr>
              <a:t>Oui, art 5</a:t>
            </a:r>
          </a:p>
        </p:txBody>
      </p:sp>
    </p:spTree>
    <p:extLst>
      <p:ext uri="{BB962C8B-B14F-4D97-AF65-F5344CB8AC3E}">
        <p14:creationId xmlns:p14="http://schemas.microsoft.com/office/powerpoint/2010/main" val="1046718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anim calcmode="lin" valueType="num">
                                      <p:cBhvr additive="base">
                                        <p:cTn id="37" dur="500" fill="hold"/>
                                        <p:tgtEl>
                                          <p:spTgt spid="34"/>
                                        </p:tgtEl>
                                        <p:attrNameLst>
                                          <p:attrName>ppt_x</p:attrName>
                                        </p:attrNameLst>
                                      </p:cBhvr>
                                      <p:tavLst>
                                        <p:tav tm="0">
                                          <p:val>
                                            <p:strVal val="#ppt_x"/>
                                          </p:val>
                                        </p:tav>
                                        <p:tav tm="100000">
                                          <p:val>
                                            <p:strVal val="#ppt_x"/>
                                          </p:val>
                                        </p:tav>
                                      </p:tavLst>
                                    </p:anim>
                                    <p:anim calcmode="lin" valueType="num">
                                      <p:cBhvr additive="base">
                                        <p:cTn id="38" dur="500" fill="hold"/>
                                        <p:tgtEl>
                                          <p:spTgt spid="34"/>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anim calcmode="lin" valueType="num">
                                      <p:cBhvr additive="base">
                                        <p:cTn id="41" dur="500" fill="hold"/>
                                        <p:tgtEl>
                                          <p:spTgt spid="33"/>
                                        </p:tgtEl>
                                        <p:attrNameLst>
                                          <p:attrName>ppt_x</p:attrName>
                                        </p:attrNameLst>
                                      </p:cBhvr>
                                      <p:tavLst>
                                        <p:tav tm="0">
                                          <p:val>
                                            <p:strVal val="#ppt_x"/>
                                          </p:val>
                                        </p:tav>
                                        <p:tav tm="100000">
                                          <p:val>
                                            <p:strVal val="#ppt_x"/>
                                          </p:val>
                                        </p:tav>
                                      </p:tavLst>
                                    </p:anim>
                                    <p:anim calcmode="lin" valueType="num">
                                      <p:cBhvr additive="base">
                                        <p:cTn id="42" dur="500" fill="hold"/>
                                        <p:tgtEl>
                                          <p:spTgt spid="33"/>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5"/>
                                        </p:tgtEl>
                                        <p:attrNameLst>
                                          <p:attrName>style.visibility</p:attrName>
                                        </p:attrNameLst>
                                      </p:cBhvr>
                                      <p:to>
                                        <p:strVal val="visible"/>
                                      </p:to>
                                    </p:set>
                                    <p:anim calcmode="lin" valueType="num">
                                      <p:cBhvr additive="base">
                                        <p:cTn id="45" dur="500" fill="hold"/>
                                        <p:tgtEl>
                                          <p:spTgt spid="35"/>
                                        </p:tgtEl>
                                        <p:attrNameLst>
                                          <p:attrName>ppt_x</p:attrName>
                                        </p:attrNameLst>
                                      </p:cBhvr>
                                      <p:tavLst>
                                        <p:tav tm="0">
                                          <p:val>
                                            <p:strVal val="#ppt_x"/>
                                          </p:val>
                                        </p:tav>
                                        <p:tav tm="100000">
                                          <p:val>
                                            <p:strVal val="#ppt_x"/>
                                          </p:val>
                                        </p:tav>
                                      </p:tavLst>
                                    </p:anim>
                                    <p:anim calcmode="lin" valueType="num">
                                      <p:cBhvr additive="base">
                                        <p:cTn id="46" dur="500" fill="hold"/>
                                        <p:tgtEl>
                                          <p:spTgt spid="35"/>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anim calcmode="lin" valueType="num">
                                      <p:cBhvr additive="base">
                                        <p:cTn id="49" dur="500" fill="hold"/>
                                        <p:tgtEl>
                                          <p:spTgt spid="21"/>
                                        </p:tgtEl>
                                        <p:attrNameLst>
                                          <p:attrName>ppt_x</p:attrName>
                                        </p:attrNameLst>
                                      </p:cBhvr>
                                      <p:tavLst>
                                        <p:tav tm="0">
                                          <p:val>
                                            <p:strVal val="#ppt_x"/>
                                          </p:val>
                                        </p:tav>
                                        <p:tav tm="100000">
                                          <p:val>
                                            <p:strVal val="#ppt_x"/>
                                          </p:val>
                                        </p:tav>
                                      </p:tavLst>
                                    </p:anim>
                                    <p:anim calcmode="lin" valueType="num">
                                      <p:cBhvr additive="base">
                                        <p:cTn id="5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23"/>
                                        </p:tgtEl>
                                        <p:attrNameLst>
                                          <p:attrName>style.visibility</p:attrName>
                                        </p:attrNameLst>
                                      </p:cBhvr>
                                      <p:to>
                                        <p:strVal val="visible"/>
                                      </p:to>
                                    </p:set>
                                    <p:anim calcmode="lin" valueType="num">
                                      <p:cBhvr additive="base">
                                        <p:cTn id="65" dur="500" fill="hold"/>
                                        <p:tgtEl>
                                          <p:spTgt spid="23"/>
                                        </p:tgtEl>
                                        <p:attrNameLst>
                                          <p:attrName>ppt_x</p:attrName>
                                        </p:attrNameLst>
                                      </p:cBhvr>
                                      <p:tavLst>
                                        <p:tav tm="0">
                                          <p:val>
                                            <p:strVal val="#ppt_x"/>
                                          </p:val>
                                        </p:tav>
                                        <p:tav tm="100000">
                                          <p:val>
                                            <p:strVal val="#ppt_x"/>
                                          </p:val>
                                        </p:tav>
                                      </p:tavLst>
                                    </p:anim>
                                    <p:anim calcmode="lin" valueType="num">
                                      <p:cBhvr additive="base">
                                        <p:cTn id="66" dur="500" fill="hold"/>
                                        <p:tgtEl>
                                          <p:spTgt spid="23"/>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45"/>
                                        </p:tgtEl>
                                        <p:attrNameLst>
                                          <p:attrName>style.visibility</p:attrName>
                                        </p:attrNameLst>
                                      </p:cBhvr>
                                      <p:to>
                                        <p:strVal val="visible"/>
                                      </p:to>
                                    </p:set>
                                    <p:anim calcmode="lin" valueType="num">
                                      <p:cBhvr additive="base">
                                        <p:cTn id="69" dur="500" fill="hold"/>
                                        <p:tgtEl>
                                          <p:spTgt spid="45"/>
                                        </p:tgtEl>
                                        <p:attrNameLst>
                                          <p:attrName>ppt_x</p:attrName>
                                        </p:attrNameLst>
                                      </p:cBhvr>
                                      <p:tavLst>
                                        <p:tav tm="0">
                                          <p:val>
                                            <p:strVal val="#ppt_x"/>
                                          </p:val>
                                        </p:tav>
                                        <p:tav tm="100000">
                                          <p:val>
                                            <p:strVal val="#ppt_x"/>
                                          </p:val>
                                        </p:tav>
                                      </p:tavLst>
                                    </p:anim>
                                    <p:anim calcmode="lin" valueType="num">
                                      <p:cBhvr additive="base">
                                        <p:cTn id="70" dur="500" fill="hold"/>
                                        <p:tgtEl>
                                          <p:spTgt spid="45"/>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nodeType="click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fade">
                                      <p:cBhvr>
                                        <p:cTn id="79" dur="1000"/>
                                        <p:tgtEl>
                                          <p:spTgt spid="36"/>
                                        </p:tgtEl>
                                      </p:cBhvr>
                                    </p:animEffect>
                                    <p:anim calcmode="lin" valueType="num">
                                      <p:cBhvr>
                                        <p:cTn id="80" dur="1000" fill="hold"/>
                                        <p:tgtEl>
                                          <p:spTgt spid="36"/>
                                        </p:tgtEl>
                                        <p:attrNameLst>
                                          <p:attrName>ppt_x</p:attrName>
                                        </p:attrNameLst>
                                      </p:cBhvr>
                                      <p:tavLst>
                                        <p:tav tm="0">
                                          <p:val>
                                            <p:strVal val="#ppt_x"/>
                                          </p:val>
                                        </p:tav>
                                        <p:tav tm="100000">
                                          <p:val>
                                            <p:strVal val="#ppt_x"/>
                                          </p:val>
                                        </p:tav>
                                      </p:tavLst>
                                    </p:anim>
                                    <p:anim calcmode="lin" valueType="num">
                                      <p:cBhvr>
                                        <p:cTn id="81" dur="1000" fill="hold"/>
                                        <p:tgtEl>
                                          <p:spTgt spid="36"/>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1000"/>
                                        <p:tgtEl>
                                          <p:spTgt spid="46"/>
                                        </p:tgtEl>
                                      </p:cBhvr>
                                    </p:animEffect>
                                    <p:anim calcmode="lin" valueType="num">
                                      <p:cBhvr>
                                        <p:cTn id="85" dur="1000" fill="hold"/>
                                        <p:tgtEl>
                                          <p:spTgt spid="46"/>
                                        </p:tgtEl>
                                        <p:attrNameLst>
                                          <p:attrName>ppt_x</p:attrName>
                                        </p:attrNameLst>
                                      </p:cBhvr>
                                      <p:tavLst>
                                        <p:tav tm="0">
                                          <p:val>
                                            <p:strVal val="#ppt_x"/>
                                          </p:val>
                                        </p:tav>
                                        <p:tav tm="100000">
                                          <p:val>
                                            <p:strVal val="#ppt_x"/>
                                          </p:val>
                                        </p:tav>
                                      </p:tavLst>
                                    </p:anim>
                                    <p:anim calcmode="lin" valueType="num">
                                      <p:cBhvr>
                                        <p:cTn id="86" dur="1000" fill="hold"/>
                                        <p:tgtEl>
                                          <p:spTgt spid="46"/>
                                        </p:tgtEl>
                                        <p:attrNameLst>
                                          <p:attrName>ppt_y</p:attrName>
                                        </p:attrNameLst>
                                      </p:cBhvr>
                                      <p:tavLst>
                                        <p:tav tm="0">
                                          <p:val>
                                            <p:strVal val="#ppt_y+.1"/>
                                          </p:val>
                                        </p:tav>
                                        <p:tav tm="100000">
                                          <p:val>
                                            <p:strVal val="#ppt_y"/>
                                          </p:val>
                                        </p:tav>
                                      </p:tavLst>
                                    </p:anim>
                                  </p:childTnLst>
                                </p:cTn>
                              </p:par>
                              <p:par>
                                <p:cTn id="87" presetID="42" presetClass="entr" presetSubtype="0" fill="hold" nodeType="with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1000"/>
                                        <p:tgtEl>
                                          <p:spTgt spid="20"/>
                                        </p:tgtEl>
                                      </p:cBhvr>
                                    </p:animEffect>
                                    <p:anim calcmode="lin" valueType="num">
                                      <p:cBhvr>
                                        <p:cTn id="90" dur="1000" fill="hold"/>
                                        <p:tgtEl>
                                          <p:spTgt spid="20"/>
                                        </p:tgtEl>
                                        <p:attrNameLst>
                                          <p:attrName>ppt_x</p:attrName>
                                        </p:attrNameLst>
                                      </p:cBhvr>
                                      <p:tavLst>
                                        <p:tav tm="0">
                                          <p:val>
                                            <p:strVal val="#ppt_x"/>
                                          </p:val>
                                        </p:tav>
                                        <p:tav tm="100000">
                                          <p:val>
                                            <p:strVal val="#ppt_x"/>
                                          </p:val>
                                        </p:tav>
                                      </p:tavLst>
                                    </p:anim>
                                    <p:anim calcmode="lin" valueType="num">
                                      <p:cBhvr>
                                        <p:cTn id="91" dur="1000" fill="hold"/>
                                        <p:tgtEl>
                                          <p:spTgt spid="20"/>
                                        </p:tgtEl>
                                        <p:attrNameLst>
                                          <p:attrName>ppt_y</p:attrName>
                                        </p:attrNameLst>
                                      </p:cBhvr>
                                      <p:tavLst>
                                        <p:tav tm="0">
                                          <p:val>
                                            <p:strVal val="#ppt_y+.1"/>
                                          </p:val>
                                        </p:tav>
                                        <p:tav tm="100000">
                                          <p:val>
                                            <p:strVal val="#ppt_y"/>
                                          </p:val>
                                        </p:tav>
                                      </p:tavLst>
                                    </p:anim>
                                  </p:childTnLst>
                                </p:cTn>
                              </p:par>
                              <p:par>
                                <p:cTn id="92" presetID="42" presetClass="entr" presetSubtype="0" fill="hold" nodeType="withEffect">
                                  <p:stCondLst>
                                    <p:cond delay="0"/>
                                  </p:stCondLst>
                                  <p:childTnLst>
                                    <p:set>
                                      <p:cBhvr>
                                        <p:cTn id="93" dur="1" fill="hold">
                                          <p:stCondLst>
                                            <p:cond delay="0"/>
                                          </p:stCondLst>
                                        </p:cTn>
                                        <p:tgtEl>
                                          <p:spTgt spid="40"/>
                                        </p:tgtEl>
                                        <p:attrNameLst>
                                          <p:attrName>style.visibility</p:attrName>
                                        </p:attrNameLst>
                                      </p:cBhvr>
                                      <p:to>
                                        <p:strVal val="visible"/>
                                      </p:to>
                                    </p:set>
                                    <p:animEffect transition="in" filter="fade">
                                      <p:cBhvr>
                                        <p:cTn id="94" dur="1000"/>
                                        <p:tgtEl>
                                          <p:spTgt spid="40"/>
                                        </p:tgtEl>
                                      </p:cBhvr>
                                    </p:animEffect>
                                    <p:anim calcmode="lin" valueType="num">
                                      <p:cBhvr>
                                        <p:cTn id="95" dur="1000" fill="hold"/>
                                        <p:tgtEl>
                                          <p:spTgt spid="40"/>
                                        </p:tgtEl>
                                        <p:attrNameLst>
                                          <p:attrName>ppt_x</p:attrName>
                                        </p:attrNameLst>
                                      </p:cBhvr>
                                      <p:tavLst>
                                        <p:tav tm="0">
                                          <p:val>
                                            <p:strVal val="#ppt_x"/>
                                          </p:val>
                                        </p:tav>
                                        <p:tav tm="100000">
                                          <p:val>
                                            <p:strVal val="#ppt_x"/>
                                          </p:val>
                                        </p:tav>
                                      </p:tavLst>
                                    </p:anim>
                                    <p:anim calcmode="lin" valueType="num">
                                      <p:cBhvr>
                                        <p:cTn id="96" dur="1000" fill="hold"/>
                                        <p:tgtEl>
                                          <p:spTgt spid="40"/>
                                        </p:tgtEl>
                                        <p:attrNameLst>
                                          <p:attrName>ppt_y</p:attrName>
                                        </p:attrNameLst>
                                      </p:cBhvr>
                                      <p:tavLst>
                                        <p:tav tm="0">
                                          <p:val>
                                            <p:strVal val="#ppt_y+.1"/>
                                          </p:val>
                                        </p:tav>
                                        <p:tav tm="100000">
                                          <p:val>
                                            <p:strVal val="#ppt_y"/>
                                          </p:val>
                                        </p:tav>
                                      </p:tavLst>
                                    </p:anim>
                                  </p:childTnLst>
                                </p:cTn>
                              </p:par>
                              <p:par>
                                <p:cTn id="97" presetID="42" presetClass="entr" presetSubtype="0" fill="hold" nodeType="withEffect">
                                  <p:stCondLst>
                                    <p:cond delay="0"/>
                                  </p:stCondLst>
                                  <p:childTnLst>
                                    <p:set>
                                      <p:cBhvr>
                                        <p:cTn id="98" dur="1" fill="hold">
                                          <p:stCondLst>
                                            <p:cond delay="0"/>
                                          </p:stCondLst>
                                        </p:cTn>
                                        <p:tgtEl>
                                          <p:spTgt spid="42"/>
                                        </p:tgtEl>
                                        <p:attrNameLst>
                                          <p:attrName>style.visibility</p:attrName>
                                        </p:attrNameLst>
                                      </p:cBhvr>
                                      <p:to>
                                        <p:strVal val="visible"/>
                                      </p:to>
                                    </p:set>
                                    <p:animEffect transition="in" filter="fade">
                                      <p:cBhvr>
                                        <p:cTn id="99" dur="1000"/>
                                        <p:tgtEl>
                                          <p:spTgt spid="42"/>
                                        </p:tgtEl>
                                      </p:cBhvr>
                                    </p:animEffect>
                                    <p:anim calcmode="lin" valueType="num">
                                      <p:cBhvr>
                                        <p:cTn id="100" dur="1000" fill="hold"/>
                                        <p:tgtEl>
                                          <p:spTgt spid="42"/>
                                        </p:tgtEl>
                                        <p:attrNameLst>
                                          <p:attrName>ppt_x</p:attrName>
                                        </p:attrNameLst>
                                      </p:cBhvr>
                                      <p:tavLst>
                                        <p:tav tm="0">
                                          <p:val>
                                            <p:strVal val="#ppt_x"/>
                                          </p:val>
                                        </p:tav>
                                        <p:tav tm="100000">
                                          <p:val>
                                            <p:strVal val="#ppt_x"/>
                                          </p:val>
                                        </p:tav>
                                      </p:tavLst>
                                    </p:anim>
                                    <p:anim calcmode="lin" valueType="num">
                                      <p:cBhvr>
                                        <p:cTn id="101"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18" grpId="0" animBg="1"/>
      <p:bldP spid="32" grpId="0" animBg="1"/>
      <p:bldP spid="33" grpId="0" animBg="1"/>
      <p:bldP spid="11" grpId="0" animBg="1"/>
      <p:bldP spid="45" grpId="0" animBg="1"/>
      <p:bldP spid="4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au 1"/>
          <p:cNvGraphicFramePr>
            <a:graphicFrameLocks noGrp="1"/>
          </p:cNvGraphicFramePr>
          <p:nvPr>
            <p:extLst>
              <p:ext uri="{D42A27DB-BD31-4B8C-83A1-F6EECF244321}">
                <p14:modId xmlns:p14="http://schemas.microsoft.com/office/powerpoint/2010/main" val="2469434863"/>
              </p:ext>
            </p:extLst>
          </p:nvPr>
        </p:nvGraphicFramePr>
        <p:xfrm>
          <a:off x="93134" y="245538"/>
          <a:ext cx="11700933" cy="6070599"/>
        </p:xfrm>
        <a:graphic>
          <a:graphicData uri="http://schemas.openxmlformats.org/drawingml/2006/table">
            <a:tbl>
              <a:tblPr firstRow="1" bandRow="1">
                <a:tableStyleId>{69012ECD-51FC-41F1-AA8D-1B2483CD663E}</a:tableStyleId>
              </a:tblPr>
              <a:tblGrid>
                <a:gridCol w="1821100">
                  <a:extLst>
                    <a:ext uri="{9D8B030D-6E8A-4147-A177-3AD203B41FA5}">
                      <a16:colId xmlns:a16="http://schemas.microsoft.com/office/drawing/2014/main" val="20000"/>
                    </a:ext>
                  </a:extLst>
                </a:gridCol>
                <a:gridCol w="9879833">
                  <a:extLst>
                    <a:ext uri="{9D8B030D-6E8A-4147-A177-3AD203B41FA5}">
                      <a16:colId xmlns:a16="http://schemas.microsoft.com/office/drawing/2014/main" val="20001"/>
                    </a:ext>
                  </a:extLst>
                </a:gridCol>
              </a:tblGrid>
              <a:tr h="924718">
                <a:tc gridSpan="2">
                  <a:txBody>
                    <a:bodyPr/>
                    <a:lstStyle/>
                    <a:p>
                      <a:pPr marL="0" marR="0" indent="0" algn="ctr" defTabSz="457063" rtl="0" eaLnBrk="1" fontAlgn="auto" latinLnBrk="0" hangingPunct="1">
                        <a:lnSpc>
                          <a:spcPct val="100000"/>
                        </a:lnSpc>
                        <a:spcBef>
                          <a:spcPts val="0"/>
                        </a:spcBef>
                        <a:spcAft>
                          <a:spcPts val="0"/>
                        </a:spcAft>
                        <a:buClrTx/>
                        <a:buSzTx/>
                        <a:buFontTx/>
                        <a:buNone/>
                        <a:tabLst/>
                        <a:defRPr/>
                      </a:pPr>
                      <a:r>
                        <a:rPr lang="fr-CA" altLang="fr-FR" sz="2400" dirty="0"/>
                        <a:t>Les grandes catégories de menaces à l’indépendance</a:t>
                      </a:r>
                    </a:p>
                    <a:p>
                      <a:pPr marL="0" marR="0" indent="0" algn="ctr" defTabSz="457063" rtl="0" eaLnBrk="1" fontAlgn="auto" latinLnBrk="0" hangingPunct="1">
                        <a:lnSpc>
                          <a:spcPct val="100000"/>
                        </a:lnSpc>
                        <a:spcBef>
                          <a:spcPts val="0"/>
                        </a:spcBef>
                        <a:spcAft>
                          <a:spcPts val="0"/>
                        </a:spcAft>
                        <a:buClrTx/>
                        <a:buSzTx/>
                        <a:buFontTx/>
                        <a:buNone/>
                        <a:tabLst/>
                        <a:defRPr/>
                      </a:pPr>
                      <a:r>
                        <a:rPr lang="fr-CA" altLang="fr-FR" sz="2400" dirty="0"/>
                        <a:t>(Règle 204.1-3 – application</a:t>
                      </a:r>
                      <a:r>
                        <a:rPr lang="fr-CA" altLang="fr-FR" sz="2400" baseline="0" dirty="0"/>
                        <a:t> par. 30-35 (pages 19-21)</a:t>
                      </a:r>
                      <a:endParaRPr lang="en-US" altLang="fr-FR" sz="2400" dirty="0"/>
                    </a:p>
                  </a:txBody>
                  <a:tcPr marL="68598" marR="68598">
                    <a:solidFill>
                      <a:schemeClr val="accent1"/>
                    </a:solidFill>
                  </a:tcPr>
                </a:tc>
                <a:tc hMerge="1">
                  <a:txBody>
                    <a:bodyPr/>
                    <a:lstStyle/>
                    <a:p>
                      <a:endParaRPr lang="fr-CA" dirty="0"/>
                    </a:p>
                  </a:txBody>
                  <a:tcPr/>
                </a:tc>
                <a:extLst>
                  <a:ext uri="{0D108BD9-81ED-4DB2-BD59-A6C34878D82A}">
                    <a16:rowId xmlns:a16="http://schemas.microsoft.com/office/drawing/2014/main" val="10000"/>
                  </a:ext>
                </a:extLst>
              </a:tr>
              <a:tr h="1023643">
                <a:tc>
                  <a:txBody>
                    <a:bodyPr/>
                    <a:lstStyle/>
                    <a:p>
                      <a:pPr marL="0" marR="0" indent="0" algn="l" defTabSz="457063" rtl="0" eaLnBrk="1" fontAlgn="auto" latinLnBrk="0" hangingPunct="1">
                        <a:lnSpc>
                          <a:spcPct val="100000"/>
                        </a:lnSpc>
                        <a:spcBef>
                          <a:spcPts val="0"/>
                        </a:spcBef>
                        <a:spcAft>
                          <a:spcPts val="0"/>
                        </a:spcAft>
                        <a:buClrTx/>
                        <a:buSzTx/>
                        <a:buFontTx/>
                        <a:buNone/>
                        <a:tabLst/>
                        <a:defRPr/>
                      </a:pPr>
                      <a:r>
                        <a:rPr lang="fr-CA" sz="1800" b="1" dirty="0"/>
                        <a:t>Intérêts personnels</a:t>
                      </a:r>
                    </a:p>
                  </a:txBody>
                  <a:tcPr marL="68598" marR="68598">
                    <a:solidFill>
                      <a:schemeClr val="accent1">
                        <a:lumMod val="40000"/>
                        <a:lumOff val="60000"/>
                      </a:schemeClr>
                    </a:solidFill>
                  </a:tcPr>
                </a:tc>
                <a:tc>
                  <a:txBody>
                    <a:bodyPr/>
                    <a:lstStyle/>
                    <a:p>
                      <a:pPr marL="0" marR="0" indent="0" algn="just" defTabSz="457063" rtl="0" eaLnBrk="1" fontAlgn="auto" latinLnBrk="0" hangingPunct="1">
                        <a:lnSpc>
                          <a:spcPct val="100000"/>
                        </a:lnSpc>
                        <a:spcBef>
                          <a:spcPts val="0"/>
                        </a:spcBef>
                        <a:spcAft>
                          <a:spcPts val="0"/>
                        </a:spcAft>
                        <a:buClrTx/>
                        <a:buSzTx/>
                        <a:buFontTx/>
                        <a:buNone/>
                        <a:tabLst/>
                        <a:defRPr/>
                      </a:pPr>
                      <a:r>
                        <a:rPr lang="fr-CA" sz="1600" dirty="0"/>
                        <a:t>Pouvoir </a:t>
                      </a:r>
                      <a:r>
                        <a:rPr lang="fr-CA" sz="1600" b="1" dirty="0"/>
                        <a:t>tirer avantage</a:t>
                      </a:r>
                      <a:r>
                        <a:rPr lang="fr-CA" sz="1600" dirty="0"/>
                        <a:t> </a:t>
                      </a:r>
                      <a:r>
                        <a:rPr lang="fr-CA" sz="1600" b="0" dirty="0"/>
                        <a:t>(ex. intérêt financier potentiel) dans </a:t>
                      </a:r>
                      <a:r>
                        <a:rPr lang="fr-CA" sz="1600" dirty="0"/>
                        <a:t>un client</a:t>
                      </a:r>
                      <a:r>
                        <a:rPr lang="fr-CA" sz="1600" b="1" dirty="0"/>
                        <a:t> </a:t>
                      </a:r>
                      <a:r>
                        <a:rPr lang="fr-CA" sz="1600" dirty="0"/>
                        <a:t>ou autre situation </a:t>
                      </a:r>
                      <a:r>
                        <a:rPr lang="fr-CA" sz="1600" b="0" dirty="0"/>
                        <a:t>mettant le membre/cabinet en </a:t>
                      </a:r>
                      <a:r>
                        <a:rPr lang="fr-CA" sz="1600" b="1" dirty="0"/>
                        <a:t>conflits d’intérêts</a:t>
                      </a:r>
                      <a:r>
                        <a:rPr lang="fr-CA" sz="1600" dirty="0"/>
                        <a:t> avec ce client. </a:t>
                      </a:r>
                    </a:p>
                    <a:p>
                      <a:pPr marL="0" marR="0" indent="0" algn="just" defTabSz="457063" rtl="0" eaLnBrk="1" fontAlgn="auto" latinLnBrk="0" hangingPunct="1">
                        <a:lnSpc>
                          <a:spcPct val="100000"/>
                        </a:lnSpc>
                        <a:spcBef>
                          <a:spcPts val="0"/>
                        </a:spcBef>
                        <a:spcAft>
                          <a:spcPts val="0"/>
                        </a:spcAft>
                        <a:buClrTx/>
                        <a:buSzTx/>
                        <a:buFontTx/>
                        <a:buNone/>
                        <a:tabLst/>
                        <a:defRPr/>
                      </a:pPr>
                      <a:r>
                        <a:rPr lang="fr-CA" sz="1400" dirty="0">
                          <a:sym typeface="Wingdings" panose="05000000000000000000" pitchFamily="2" charset="2"/>
                        </a:rPr>
                        <a:t> D</a:t>
                      </a:r>
                      <a:r>
                        <a:rPr lang="fr-CA" sz="1400" dirty="0"/>
                        <a:t>épendance</a:t>
                      </a:r>
                      <a:r>
                        <a:rPr lang="fr-CA" sz="1400" baseline="0" dirty="0"/>
                        <a:t> envers client ● Crainte excessive de perdre le client ● Intérêts financiers directs ● Prêt ou garantie </a:t>
                      </a:r>
                    </a:p>
                    <a:p>
                      <a:pPr marL="0" marR="0" indent="0" algn="just" defTabSz="457063" rtl="0" eaLnBrk="1" fontAlgn="auto" latinLnBrk="0" hangingPunct="1">
                        <a:lnSpc>
                          <a:spcPct val="100000"/>
                        </a:lnSpc>
                        <a:spcBef>
                          <a:spcPts val="0"/>
                        </a:spcBef>
                        <a:spcAft>
                          <a:spcPts val="0"/>
                        </a:spcAft>
                        <a:buClrTx/>
                        <a:buSzTx/>
                        <a:buFontTx/>
                        <a:buNone/>
                        <a:tabLst/>
                        <a:defRPr/>
                      </a:pPr>
                      <a:r>
                        <a:rPr lang="fr-CA" sz="1400" dirty="0"/>
                        <a:t>● Possibilité de recrutement… </a:t>
                      </a:r>
                      <a:endParaRPr lang="fr-CA" altLang="fr-FR" sz="1400" dirty="0"/>
                    </a:p>
                  </a:txBody>
                  <a:tcPr marL="68598" marR="68598"/>
                </a:tc>
                <a:extLst>
                  <a:ext uri="{0D108BD9-81ED-4DB2-BD59-A6C34878D82A}">
                    <a16:rowId xmlns:a16="http://schemas.microsoft.com/office/drawing/2014/main" val="10001"/>
                  </a:ext>
                </a:extLst>
              </a:tr>
              <a:tr h="1272637">
                <a:tc>
                  <a:txBody>
                    <a:bodyPr/>
                    <a:lstStyle/>
                    <a:p>
                      <a:pPr marL="0" marR="0" indent="0" algn="l" defTabSz="457063" rtl="0" eaLnBrk="1" fontAlgn="auto" latinLnBrk="0" hangingPunct="1">
                        <a:lnSpc>
                          <a:spcPct val="100000"/>
                        </a:lnSpc>
                        <a:spcBef>
                          <a:spcPts val="0"/>
                        </a:spcBef>
                        <a:spcAft>
                          <a:spcPts val="0"/>
                        </a:spcAft>
                        <a:buClrTx/>
                        <a:buSzTx/>
                        <a:buFontTx/>
                        <a:buNone/>
                        <a:tabLst/>
                        <a:defRPr/>
                      </a:pPr>
                      <a:r>
                        <a:rPr lang="fr-CA" sz="1800" b="1" dirty="0"/>
                        <a:t>Autocontrôle</a:t>
                      </a:r>
                    </a:p>
                  </a:txBody>
                  <a:tcPr marL="68598" marR="68598">
                    <a:solidFill>
                      <a:schemeClr val="accent1">
                        <a:lumMod val="40000"/>
                        <a:lumOff val="60000"/>
                      </a:schemeClr>
                    </a:solidFill>
                  </a:tcPr>
                </a:tc>
                <a:tc>
                  <a:txBody>
                    <a:bodyPr/>
                    <a:lstStyle/>
                    <a:p>
                      <a:pPr algn="just"/>
                      <a:r>
                        <a:rPr lang="fr-CA" sz="1600" dirty="0"/>
                        <a:t>Découle du principe de </a:t>
                      </a:r>
                      <a:r>
                        <a:rPr lang="fr-CA" sz="1600" b="1" dirty="0"/>
                        <a:t>l’autocritique, </a:t>
                      </a:r>
                      <a:r>
                        <a:rPr lang="fr-CA" sz="1600" dirty="0"/>
                        <a:t>lorsqu’il faut apprécier un jugement découlant d’une précédente mission afin de conclure sur la mission de certification en cause. Un professionnel ne peut pas donner une </a:t>
                      </a:r>
                      <a:r>
                        <a:rPr lang="fr-CA" sz="1600" b="1" dirty="0"/>
                        <a:t>opinion sur ses propres travaux</a:t>
                      </a:r>
                      <a:r>
                        <a:rPr lang="fr-CA" sz="1600" dirty="0"/>
                        <a:t>. </a:t>
                      </a:r>
                    </a:p>
                    <a:p>
                      <a:pPr algn="just"/>
                      <a:r>
                        <a:rPr lang="fr-CA" sz="1400" kern="1200" dirty="0">
                          <a:solidFill>
                            <a:schemeClr val="tx1"/>
                          </a:solidFill>
                          <a:latin typeface="+mn-lt"/>
                          <a:ea typeface="+mn-ea"/>
                          <a:cs typeface="+mn-cs"/>
                          <a:sym typeface="Wingdings" panose="05000000000000000000" pitchFamily="2" charset="2"/>
                        </a:rPr>
                        <a:t> </a:t>
                      </a:r>
                      <a:r>
                        <a:rPr lang="fr-CA" sz="1400" kern="1200" dirty="0">
                          <a:solidFill>
                            <a:schemeClr val="tx1"/>
                          </a:solidFill>
                          <a:latin typeface="+mn-lt"/>
                          <a:ea typeface="+mn-ea"/>
                          <a:cs typeface="+mn-cs"/>
                        </a:rPr>
                        <a:t>Membre du cabinet: est dirigeant ou administrateur du client </a:t>
                      </a:r>
                      <a:r>
                        <a:rPr lang="fr-CA" sz="1400" baseline="0" dirty="0"/>
                        <a:t>● a</a:t>
                      </a:r>
                      <a:r>
                        <a:rPr lang="fr-CA" sz="1400" kern="1200" dirty="0">
                          <a:solidFill>
                            <a:schemeClr val="tx1"/>
                          </a:solidFill>
                          <a:latin typeface="+mn-lt"/>
                          <a:ea typeface="+mn-ea"/>
                          <a:cs typeface="+mn-cs"/>
                        </a:rPr>
                        <a:t> exercé une influence notable</a:t>
                      </a:r>
                      <a:r>
                        <a:rPr lang="fr-CA" sz="1400" kern="1200" baseline="0" dirty="0">
                          <a:solidFill>
                            <a:schemeClr val="tx1"/>
                          </a:solidFill>
                          <a:latin typeface="+mn-lt"/>
                          <a:ea typeface="+mn-ea"/>
                          <a:cs typeface="+mn-cs"/>
                        </a:rPr>
                        <a:t> sur les éléments visés par la mission.  </a:t>
                      </a:r>
                      <a:endParaRPr lang="fr-CA" sz="1400" kern="1200" dirty="0">
                        <a:solidFill>
                          <a:schemeClr val="tx1"/>
                        </a:solidFill>
                        <a:latin typeface="+mn-lt"/>
                        <a:ea typeface="+mn-ea"/>
                        <a:cs typeface="+mn-cs"/>
                      </a:endParaRPr>
                    </a:p>
                  </a:txBody>
                  <a:tcPr marL="68598" marR="68598"/>
                </a:tc>
                <a:extLst>
                  <a:ext uri="{0D108BD9-81ED-4DB2-BD59-A6C34878D82A}">
                    <a16:rowId xmlns:a16="http://schemas.microsoft.com/office/drawing/2014/main" val="10002"/>
                  </a:ext>
                </a:extLst>
              </a:tr>
              <a:tr h="802315">
                <a:tc>
                  <a:txBody>
                    <a:bodyPr/>
                    <a:lstStyle/>
                    <a:p>
                      <a:pPr marL="0" marR="0" indent="0" algn="l" defTabSz="457063" rtl="0" eaLnBrk="1" fontAlgn="auto" latinLnBrk="0" hangingPunct="1">
                        <a:lnSpc>
                          <a:spcPct val="100000"/>
                        </a:lnSpc>
                        <a:spcBef>
                          <a:spcPts val="0"/>
                        </a:spcBef>
                        <a:spcAft>
                          <a:spcPts val="0"/>
                        </a:spcAft>
                        <a:buClrTx/>
                        <a:buSzTx/>
                        <a:buFontTx/>
                        <a:buNone/>
                        <a:tabLst/>
                        <a:defRPr/>
                      </a:pPr>
                      <a:r>
                        <a:rPr lang="fr-CA" sz="1800" b="1" dirty="0"/>
                        <a:t>Représentation</a:t>
                      </a:r>
                    </a:p>
                  </a:txBody>
                  <a:tcPr marL="68598" marR="68598">
                    <a:solidFill>
                      <a:schemeClr val="accent1">
                        <a:lumMod val="40000"/>
                        <a:lumOff val="60000"/>
                      </a:schemeClr>
                    </a:solidFill>
                  </a:tcPr>
                </a:tc>
                <a:tc>
                  <a:txBody>
                    <a:bodyPr/>
                    <a:lstStyle/>
                    <a:p>
                      <a:pPr algn="just"/>
                      <a:r>
                        <a:rPr lang="fr-CA" sz="1600" dirty="0"/>
                        <a:t>Il y a une menace à l’indépendance lorsqu’un membre/cabinet </a:t>
                      </a:r>
                      <a:r>
                        <a:rPr lang="fr-CA" sz="1600" b="1" dirty="0"/>
                        <a:t>défend ou semble défendre l’intérêt de son client </a:t>
                      </a:r>
                      <a:r>
                        <a:rPr lang="fr-CA" sz="1600" dirty="0"/>
                        <a:t>au point de (sembler) porter atteinte à l’objectivité. </a:t>
                      </a:r>
                    </a:p>
                    <a:p>
                      <a:pPr algn="just"/>
                      <a:r>
                        <a:rPr kumimoji="0" lang="fr-CA" sz="1400" b="0" i="0" u="none" strike="noStrike" kern="1200" cap="none" spc="0" normalizeH="0" baseline="0" noProof="0" dirty="0">
                          <a:ln>
                            <a:noFill/>
                          </a:ln>
                          <a:solidFill>
                            <a:prstClr val="black"/>
                          </a:solidFill>
                          <a:effectLst/>
                          <a:uLnTx/>
                          <a:uFillTx/>
                          <a:latin typeface="+mn-lt"/>
                          <a:ea typeface="+mn-ea"/>
                          <a:cs typeface="+mn-cs"/>
                          <a:sym typeface="Wingdings" panose="05000000000000000000" pitchFamily="2" charset="2"/>
                        </a:rPr>
                        <a:t> P</a:t>
                      </a:r>
                      <a:r>
                        <a:rPr kumimoji="0" lang="fr-CA" sz="1400" b="0" i="0" u="none" strike="noStrike" kern="1200" cap="none" spc="0" normalizeH="0" baseline="0" noProof="0" dirty="0">
                          <a:ln>
                            <a:noFill/>
                          </a:ln>
                          <a:solidFill>
                            <a:prstClr val="black"/>
                          </a:solidFill>
                          <a:effectLst/>
                          <a:uLnTx/>
                          <a:uFillTx/>
                          <a:latin typeface="+mn-lt"/>
                          <a:ea typeface="+mn-ea"/>
                          <a:cs typeface="+mn-cs"/>
                        </a:rPr>
                        <a:t>romouvoir le financement du client </a:t>
                      </a:r>
                      <a:r>
                        <a:rPr lang="fr-CA" sz="1400" baseline="0" dirty="0"/>
                        <a:t>● P</a:t>
                      </a:r>
                      <a:r>
                        <a:rPr kumimoji="0" lang="fr-CA" sz="1400" b="0" i="0" u="none" strike="noStrike" kern="1200" cap="none" spc="0" normalizeH="0" baseline="0" noProof="0" dirty="0" err="1">
                          <a:ln>
                            <a:noFill/>
                          </a:ln>
                          <a:solidFill>
                            <a:prstClr val="black"/>
                          </a:solidFill>
                          <a:effectLst/>
                          <a:uLnTx/>
                          <a:uFillTx/>
                          <a:latin typeface="+mn-lt"/>
                          <a:ea typeface="+mn-ea"/>
                          <a:cs typeface="+mn-cs"/>
                        </a:rPr>
                        <a:t>laider</a:t>
                      </a:r>
                      <a:r>
                        <a:rPr kumimoji="0" lang="fr-CA" sz="1400" b="0" i="0" u="none" strike="noStrike" kern="1200" cap="none" spc="0" normalizeH="0" baseline="0" noProof="0" dirty="0">
                          <a:ln>
                            <a:noFill/>
                          </a:ln>
                          <a:solidFill>
                            <a:prstClr val="black"/>
                          </a:solidFill>
                          <a:effectLst/>
                          <a:uLnTx/>
                          <a:uFillTx/>
                          <a:latin typeface="+mn-lt"/>
                          <a:ea typeface="+mn-ea"/>
                          <a:cs typeface="+mn-cs"/>
                        </a:rPr>
                        <a:t> en sa faveur dans le cadre d’un litige.</a:t>
                      </a:r>
                      <a:endParaRPr lang="fr-CA" sz="1400" dirty="0"/>
                    </a:p>
                  </a:txBody>
                  <a:tcPr marL="68598" marR="68598"/>
                </a:tc>
                <a:extLst>
                  <a:ext uri="{0D108BD9-81ED-4DB2-BD59-A6C34878D82A}">
                    <a16:rowId xmlns:a16="http://schemas.microsoft.com/office/drawing/2014/main" val="10003"/>
                  </a:ext>
                </a:extLst>
              </a:tr>
              <a:tr h="1023643">
                <a:tc>
                  <a:txBody>
                    <a:bodyPr/>
                    <a:lstStyle/>
                    <a:p>
                      <a:pPr marL="0" marR="0" indent="0" algn="l" defTabSz="457063" rtl="0" eaLnBrk="1" fontAlgn="auto" latinLnBrk="0" hangingPunct="1">
                        <a:lnSpc>
                          <a:spcPct val="100000"/>
                        </a:lnSpc>
                        <a:spcBef>
                          <a:spcPts val="0"/>
                        </a:spcBef>
                        <a:spcAft>
                          <a:spcPts val="0"/>
                        </a:spcAft>
                        <a:buClrTx/>
                        <a:buSzTx/>
                        <a:buFontTx/>
                        <a:buNone/>
                        <a:tabLst/>
                        <a:defRPr/>
                      </a:pPr>
                      <a:r>
                        <a:rPr lang="fr-CA" sz="1800" b="1" dirty="0"/>
                        <a:t>Familiarité</a:t>
                      </a:r>
                    </a:p>
                  </a:txBody>
                  <a:tcPr marL="68598" marR="68598">
                    <a:solidFill>
                      <a:schemeClr val="accent1">
                        <a:lumMod val="40000"/>
                        <a:lumOff val="60000"/>
                      </a:schemeClr>
                    </a:solidFill>
                  </a:tcPr>
                </a:tc>
                <a:tc>
                  <a:txBody>
                    <a:bodyPr/>
                    <a:lstStyle/>
                    <a:p>
                      <a:pPr algn="just"/>
                      <a:r>
                        <a:rPr lang="fr-CA" sz="1600" dirty="0"/>
                        <a:t>La </a:t>
                      </a:r>
                      <a:r>
                        <a:rPr lang="fr-CA" sz="1600" b="1" dirty="0"/>
                        <a:t>complaisance</a:t>
                      </a:r>
                      <a:r>
                        <a:rPr lang="fr-CA" sz="1600" dirty="0"/>
                        <a:t> est à craindre, en tant qu’une menace à l’indépendance, lorsqu’un membre ou un cabinet a des </a:t>
                      </a:r>
                      <a:r>
                        <a:rPr lang="fr-CA" sz="1600" b="1" dirty="0"/>
                        <a:t>relations étroites ou privilégiées </a:t>
                      </a:r>
                      <a:r>
                        <a:rPr lang="fr-CA" sz="1600" dirty="0"/>
                        <a:t>avec un client de certification. </a:t>
                      </a:r>
                    </a:p>
                    <a:p>
                      <a:pPr algn="just"/>
                      <a:r>
                        <a:rPr kumimoji="0" lang="fr-CA" sz="1400" b="0" i="0" u="none" strike="noStrike" kern="1200" cap="none" spc="0" normalizeH="0" baseline="0" noProof="0" dirty="0">
                          <a:ln>
                            <a:noFill/>
                          </a:ln>
                          <a:solidFill>
                            <a:prstClr val="black"/>
                          </a:solidFill>
                          <a:effectLst/>
                          <a:uLnTx/>
                          <a:uFillTx/>
                          <a:latin typeface="+mn-lt"/>
                          <a:ea typeface="+mn-ea"/>
                          <a:cs typeface="+mn-cs"/>
                          <a:sym typeface="Wingdings" panose="05000000000000000000" pitchFamily="2" charset="2"/>
                        </a:rPr>
                        <a:t> </a:t>
                      </a:r>
                      <a:r>
                        <a:rPr kumimoji="0" lang="fr-CA" sz="1400" b="0" i="0" u="none" strike="noStrike" kern="1200" cap="none" spc="0" normalizeH="0" baseline="0" noProof="0" dirty="0">
                          <a:ln>
                            <a:noFill/>
                          </a:ln>
                          <a:solidFill>
                            <a:prstClr val="black"/>
                          </a:solidFill>
                          <a:effectLst/>
                          <a:uLnTx/>
                          <a:uFillTx/>
                          <a:latin typeface="+mn-lt"/>
                          <a:ea typeface="+mn-ea"/>
                          <a:cs typeface="+mn-cs"/>
                        </a:rPr>
                        <a:t>Membre de la famille dirigeant/administrateur du client </a:t>
                      </a:r>
                      <a:r>
                        <a:rPr lang="fr-CA" sz="1400" baseline="0" dirty="0"/>
                        <a:t>● L</a:t>
                      </a:r>
                      <a:r>
                        <a:rPr kumimoji="0" lang="fr-CA" sz="1400" b="0" i="0" u="none" strike="noStrike" kern="1200" cap="none" spc="0" normalizeH="0" baseline="0" noProof="0" dirty="0" err="1">
                          <a:ln>
                            <a:noFill/>
                          </a:ln>
                          <a:solidFill>
                            <a:prstClr val="black"/>
                          </a:solidFill>
                          <a:effectLst/>
                          <a:uLnTx/>
                          <a:uFillTx/>
                          <a:latin typeface="+mn-lt"/>
                          <a:ea typeface="+mn-ea"/>
                          <a:cs typeface="+mn-cs"/>
                        </a:rPr>
                        <a:t>ongue</a:t>
                      </a:r>
                      <a:r>
                        <a:rPr kumimoji="0" lang="fr-CA" sz="1400" b="0" i="0" u="none" strike="noStrike" kern="1200" cap="none" spc="0" normalizeH="0" baseline="0" noProof="0" dirty="0">
                          <a:ln>
                            <a:noFill/>
                          </a:ln>
                          <a:solidFill>
                            <a:prstClr val="black"/>
                          </a:solidFill>
                          <a:effectLst/>
                          <a:uLnTx/>
                          <a:uFillTx/>
                          <a:latin typeface="+mn-lt"/>
                          <a:ea typeface="+mn-ea"/>
                          <a:cs typeface="+mn-cs"/>
                        </a:rPr>
                        <a:t> relation associé-client </a:t>
                      </a:r>
                      <a:r>
                        <a:rPr lang="fr-CA" sz="1400" baseline="0" dirty="0"/>
                        <a:t>● A</a:t>
                      </a:r>
                      <a:r>
                        <a:rPr kumimoji="0" lang="fr-CA" sz="1400" b="0" i="0" u="none" strike="noStrike" kern="1200" cap="none" spc="0" normalizeH="0" baseline="0" noProof="0" dirty="0" err="1">
                          <a:ln>
                            <a:noFill/>
                          </a:ln>
                          <a:solidFill>
                            <a:prstClr val="black"/>
                          </a:solidFill>
                          <a:effectLst/>
                          <a:uLnTx/>
                          <a:uFillTx/>
                          <a:latin typeface="+mn-lt"/>
                          <a:ea typeface="+mn-ea"/>
                          <a:cs typeface="+mn-cs"/>
                        </a:rPr>
                        <a:t>cceptation</a:t>
                      </a:r>
                      <a:r>
                        <a:rPr kumimoji="0" lang="fr-CA" sz="1400" b="0" i="0" u="none" strike="noStrike" kern="1200" cap="none" spc="0" normalizeH="0" baseline="0" noProof="0" dirty="0">
                          <a:ln>
                            <a:noFill/>
                          </a:ln>
                          <a:solidFill>
                            <a:prstClr val="black"/>
                          </a:solidFill>
                          <a:effectLst/>
                          <a:uLnTx/>
                          <a:uFillTx/>
                          <a:latin typeface="+mn-lt"/>
                          <a:ea typeface="+mn-ea"/>
                          <a:cs typeface="+mn-cs"/>
                        </a:rPr>
                        <a:t> d’un cadeau.  </a:t>
                      </a:r>
                    </a:p>
                  </a:txBody>
                  <a:tcPr marL="68598" marR="68598"/>
                </a:tc>
                <a:extLst>
                  <a:ext uri="{0D108BD9-81ED-4DB2-BD59-A6C34878D82A}">
                    <a16:rowId xmlns:a16="http://schemas.microsoft.com/office/drawing/2014/main" val="10004"/>
                  </a:ext>
                </a:extLst>
              </a:tr>
              <a:tr h="1023643">
                <a:tc>
                  <a:txBody>
                    <a:bodyPr/>
                    <a:lstStyle/>
                    <a:p>
                      <a:pPr marL="0" marR="0" indent="0" algn="l" defTabSz="457063" rtl="0" eaLnBrk="1" fontAlgn="auto" latinLnBrk="0" hangingPunct="1">
                        <a:lnSpc>
                          <a:spcPct val="100000"/>
                        </a:lnSpc>
                        <a:spcBef>
                          <a:spcPts val="0"/>
                        </a:spcBef>
                        <a:spcAft>
                          <a:spcPts val="0"/>
                        </a:spcAft>
                        <a:buClrTx/>
                        <a:buSzTx/>
                        <a:buFontTx/>
                        <a:buNone/>
                        <a:tabLst/>
                        <a:defRPr/>
                      </a:pPr>
                      <a:r>
                        <a:rPr lang="fr-CA" sz="1800" b="1" dirty="0"/>
                        <a:t>Intimidation</a:t>
                      </a:r>
                      <a:endParaRPr lang="en-US" sz="1800" b="1" dirty="0"/>
                    </a:p>
                  </a:txBody>
                  <a:tcPr marL="68598" marR="68598">
                    <a:solidFill>
                      <a:schemeClr val="accent1">
                        <a:lumMod val="40000"/>
                        <a:lumOff val="60000"/>
                      </a:schemeClr>
                    </a:solidFill>
                  </a:tcPr>
                </a:tc>
                <a:tc>
                  <a:txBody>
                    <a:bodyPr/>
                    <a:lstStyle/>
                    <a:p>
                      <a:pPr algn="just"/>
                      <a:r>
                        <a:rPr lang="fr-CA" sz="1600" b="0" dirty="0"/>
                        <a:t>Il y a un problème d’indépendance si un </a:t>
                      </a:r>
                      <a:r>
                        <a:rPr lang="fr-CA" sz="1600" b="1" dirty="0"/>
                        <a:t>acte d’intimidation vise à dissuader d’agir </a:t>
                      </a:r>
                      <a:r>
                        <a:rPr lang="fr-CA" sz="1600" dirty="0"/>
                        <a:t>en toute objectivité et de faire preuve d’un</a:t>
                      </a:r>
                      <a:r>
                        <a:rPr lang="fr-CA" sz="1600" baseline="0" dirty="0"/>
                        <a:t> esprit </a:t>
                      </a:r>
                      <a:r>
                        <a:rPr lang="fr-CA" sz="1600" dirty="0"/>
                        <a:t>critique. </a:t>
                      </a:r>
                    </a:p>
                    <a:p>
                      <a:pPr algn="just"/>
                      <a:r>
                        <a:rPr kumimoji="0" lang="fr-CA" sz="1400" b="0" i="0" u="none" strike="noStrike" kern="1200" cap="none" spc="0" normalizeH="0" baseline="0" noProof="0" dirty="0">
                          <a:ln>
                            <a:noFill/>
                          </a:ln>
                          <a:solidFill>
                            <a:prstClr val="black"/>
                          </a:solidFill>
                          <a:effectLst/>
                          <a:uLnTx/>
                          <a:uFillTx/>
                          <a:latin typeface="+mn-lt"/>
                          <a:ea typeface="+mn-ea"/>
                          <a:cs typeface="+mn-cs"/>
                          <a:sym typeface="Wingdings" panose="05000000000000000000" pitchFamily="2" charset="2"/>
                        </a:rPr>
                        <a:t> </a:t>
                      </a:r>
                      <a:r>
                        <a:rPr kumimoji="0" lang="fr-CA" sz="1400" b="0" i="0" u="none" strike="noStrike" kern="1200" cap="none" spc="0" normalizeH="0" baseline="0" noProof="0" dirty="0">
                          <a:ln>
                            <a:noFill/>
                          </a:ln>
                          <a:solidFill>
                            <a:prstClr val="black"/>
                          </a:solidFill>
                          <a:effectLst/>
                          <a:uLnTx/>
                          <a:uFillTx/>
                          <a:latin typeface="+mn-lt"/>
                          <a:ea typeface="+mn-ea"/>
                          <a:cs typeface="+mn-cs"/>
                        </a:rPr>
                        <a:t>Client menace de remplacer l’auditeur suite à un désaccord </a:t>
                      </a:r>
                      <a:r>
                        <a:rPr lang="fr-CA" sz="1400" baseline="0" dirty="0"/>
                        <a:t>● </a:t>
                      </a:r>
                      <a:r>
                        <a:rPr kumimoji="0" lang="fr-CA" sz="1400" b="0" i="0" u="none" strike="noStrike" kern="1200" cap="none" spc="0" normalizeH="0" baseline="0" noProof="0" dirty="0">
                          <a:ln>
                            <a:noFill/>
                          </a:ln>
                          <a:solidFill>
                            <a:prstClr val="black"/>
                          </a:solidFill>
                          <a:effectLst/>
                          <a:uLnTx/>
                          <a:uFillTx/>
                          <a:latin typeface="+mn-lt"/>
                          <a:ea typeface="+mn-ea"/>
                          <a:cs typeface="+mn-cs"/>
                        </a:rPr>
                        <a:t>Client exerce une pression visant à diminuer l’étendue des travaux pour limiter les honoraires. </a:t>
                      </a:r>
                    </a:p>
                  </a:txBody>
                  <a:tcPr marL="68598" marR="68598"/>
                </a:tc>
                <a:extLst>
                  <a:ext uri="{0D108BD9-81ED-4DB2-BD59-A6C34878D82A}">
                    <a16:rowId xmlns:a16="http://schemas.microsoft.com/office/drawing/2014/main" val="10005"/>
                  </a:ext>
                </a:extLst>
              </a:tr>
            </a:tbl>
          </a:graphicData>
        </a:graphic>
      </p:graphicFrame>
      <p:sp>
        <p:nvSpPr>
          <p:cNvPr id="4" name="Espace réservé du numéro de diapositive 3"/>
          <p:cNvSpPr>
            <a:spLocks noGrp="1"/>
          </p:cNvSpPr>
          <p:nvPr>
            <p:ph type="sldNum" sz="quarter" idx="12"/>
          </p:nvPr>
        </p:nvSpPr>
        <p:spPr>
          <a:xfrm>
            <a:off x="11125200" y="6508479"/>
            <a:ext cx="1706217" cy="192926"/>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60BA0E-20D0-4E7C-B286-26C960A6788F}"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fr-CA"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8367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94104" y="315888"/>
            <a:ext cx="11625179" cy="763462"/>
          </a:xfrm>
        </p:spPr>
        <p:txBody>
          <a:bodyPr>
            <a:noAutofit/>
          </a:bodyPr>
          <a:lstStyle/>
          <a:p>
            <a:r>
              <a:rPr lang="fr-CA" sz="2800" b="1" dirty="0"/>
              <a:t>Règle d’indépendance 204 </a:t>
            </a:r>
            <a:br>
              <a:rPr lang="fr-CA" sz="2800" b="1" dirty="0"/>
            </a:br>
            <a:r>
              <a:rPr lang="fr-CA" sz="2400" b="1" dirty="0"/>
              <a:t>Mise en place des sauvegardes – </a:t>
            </a:r>
            <a:r>
              <a:rPr lang="fr-CA" sz="1800" b="1" dirty="0"/>
              <a:t>Règle 204 art. 1-3, indications par. 36-41</a:t>
            </a:r>
            <a:endParaRPr lang="fr-CA" sz="2400" b="1" dirty="0"/>
          </a:p>
        </p:txBody>
      </p:sp>
      <p:sp>
        <p:nvSpPr>
          <p:cNvPr id="5" name="Espace réservé du contenu 4"/>
          <p:cNvSpPr>
            <a:spLocks noGrp="1"/>
          </p:cNvSpPr>
          <p:nvPr>
            <p:ph idx="1"/>
          </p:nvPr>
        </p:nvSpPr>
        <p:spPr>
          <a:xfrm>
            <a:off x="294104" y="1267326"/>
            <a:ext cx="11760735" cy="5139064"/>
          </a:xfrm>
        </p:spPr>
        <p:txBody>
          <a:bodyPr>
            <a:normAutofit/>
          </a:bodyPr>
          <a:lstStyle/>
          <a:p>
            <a:pPr marL="45720" indent="0" algn="just">
              <a:buNone/>
            </a:pPr>
            <a:r>
              <a:rPr lang="fr-CA" sz="2400" b="1" u="sng" dirty="0"/>
              <a:t>Établies par</a:t>
            </a:r>
            <a:r>
              <a:rPr lang="fr-CA" sz="2400" b="1" dirty="0"/>
              <a:t> : </a:t>
            </a:r>
            <a:endParaRPr lang="fr-CA" sz="3200" b="1" dirty="0"/>
          </a:p>
          <a:p>
            <a:pPr algn="just"/>
            <a:r>
              <a:rPr lang="fr-CA" sz="2400" b="1" dirty="0"/>
              <a:t>La profession</a:t>
            </a:r>
          </a:p>
          <a:p>
            <a:pPr lvl="1" algn="just"/>
            <a:r>
              <a:rPr lang="fr-CA" sz="2000" b="1" dirty="0">
                <a:solidFill>
                  <a:srgbClr val="002060"/>
                </a:solidFill>
              </a:rPr>
              <a:t>Accès à la profession (EFC) ● formation continue ● inspections ● procédure disciplinaire</a:t>
            </a:r>
            <a:endParaRPr lang="fr-CA" sz="1200" b="1" dirty="0">
              <a:solidFill>
                <a:srgbClr val="002060"/>
              </a:solidFill>
            </a:endParaRPr>
          </a:p>
          <a:p>
            <a:pPr algn="just"/>
            <a:r>
              <a:rPr lang="fr-CA" sz="2400" b="1" dirty="0"/>
              <a:t>Le client</a:t>
            </a:r>
          </a:p>
          <a:p>
            <a:pPr lvl="1" algn="just"/>
            <a:r>
              <a:rPr lang="fr-CA" sz="2000" b="1" dirty="0">
                <a:solidFill>
                  <a:srgbClr val="002060"/>
                </a:solidFill>
              </a:rPr>
              <a:t>Compétence des décideurs ● politiques et processus internes ● comité d’audit</a:t>
            </a:r>
            <a:endParaRPr lang="fr-CA" sz="1200" b="1" dirty="0">
              <a:solidFill>
                <a:srgbClr val="002060"/>
              </a:solidFill>
            </a:endParaRPr>
          </a:p>
          <a:p>
            <a:pPr algn="just"/>
            <a:r>
              <a:rPr lang="fr-CA" sz="2400" b="1" dirty="0"/>
              <a:t>Le membre ou le cabinet</a:t>
            </a:r>
          </a:p>
          <a:p>
            <a:pPr lvl="1" algn="just"/>
            <a:r>
              <a:rPr lang="fr-CA" sz="2000" b="1" dirty="0">
                <a:solidFill>
                  <a:srgbClr val="002060"/>
                </a:solidFill>
              </a:rPr>
              <a:t>Politiques internes ● </a:t>
            </a:r>
            <a:r>
              <a:rPr lang="fr-CA" sz="2000" b="1" u="sng" dirty="0">
                <a:solidFill>
                  <a:srgbClr val="002060"/>
                </a:solidFill>
              </a:rPr>
              <a:t>contrôle qualité</a:t>
            </a:r>
            <a:r>
              <a:rPr lang="fr-CA" sz="2000" b="1" dirty="0">
                <a:solidFill>
                  <a:srgbClr val="002060"/>
                </a:solidFill>
              </a:rPr>
              <a:t> ● déclaration annuelle ● </a:t>
            </a:r>
            <a:r>
              <a:rPr lang="fr-CA" sz="2000" b="1" u="sng" dirty="0">
                <a:solidFill>
                  <a:srgbClr val="002060"/>
                </a:solidFill>
              </a:rPr>
              <a:t>formation des équipes</a:t>
            </a:r>
            <a:r>
              <a:rPr lang="fr-CA" sz="2000" b="1" dirty="0">
                <a:solidFill>
                  <a:srgbClr val="002060"/>
                </a:solidFill>
              </a:rPr>
              <a:t> </a:t>
            </a:r>
          </a:p>
          <a:p>
            <a:pPr marL="358560" lvl="1" indent="0" algn="just">
              <a:buNone/>
            </a:pPr>
            <a:r>
              <a:rPr lang="fr-CA" sz="2000" b="1" dirty="0">
                <a:solidFill>
                  <a:srgbClr val="002060"/>
                </a:solidFill>
              </a:rPr>
              <a:t>● rotation des associés ● politique de dénonciation…</a:t>
            </a:r>
          </a:p>
          <a:p>
            <a:pPr marL="0" indent="0" algn="just">
              <a:buNone/>
            </a:pPr>
            <a:endParaRPr lang="fr-CA" sz="2400" b="1" dirty="0">
              <a:sym typeface="Wingdings" panose="05000000000000000000" pitchFamily="2" charset="2"/>
            </a:endParaRPr>
          </a:p>
          <a:p>
            <a:pPr marL="0" indent="0" algn="just">
              <a:buNone/>
            </a:pPr>
            <a:r>
              <a:rPr lang="fr-CA" sz="2000" b="1" dirty="0">
                <a:sym typeface="Wingdings" panose="05000000000000000000" pitchFamily="2" charset="2"/>
              </a:rPr>
              <a:t>*</a:t>
            </a:r>
            <a:r>
              <a:rPr lang="fr-CA" sz="2000" b="1" dirty="0"/>
              <a:t>Professionnels exerçant à titre individuel et petits cabinets </a:t>
            </a:r>
            <a:r>
              <a:rPr lang="fr-CA" sz="2000" b="1" dirty="0">
                <a:solidFill>
                  <a:srgbClr val="002060"/>
                </a:solidFill>
                <a:sym typeface="Wingdings" panose="05000000000000000000" pitchFamily="2" charset="2"/>
              </a:rPr>
              <a:t> </a:t>
            </a:r>
            <a:r>
              <a:rPr lang="fr-CA" sz="2000" b="1" dirty="0">
                <a:solidFill>
                  <a:srgbClr val="002060"/>
                </a:solidFill>
              </a:rPr>
              <a:t>204.3 </a:t>
            </a:r>
            <a:r>
              <a:rPr lang="fr-CA" sz="2000" b="1" dirty="0" err="1">
                <a:solidFill>
                  <a:srgbClr val="002060"/>
                </a:solidFill>
              </a:rPr>
              <a:t>ind</a:t>
            </a:r>
            <a:r>
              <a:rPr lang="fr-CA" sz="2000" b="1" dirty="0">
                <a:solidFill>
                  <a:srgbClr val="002060"/>
                </a:solidFill>
              </a:rPr>
              <a:t>. par. 42. </a:t>
            </a:r>
          </a:p>
          <a:p>
            <a:pPr>
              <a:buNone/>
            </a:pPr>
            <a:endParaRPr lang="fr-CA" dirty="0"/>
          </a:p>
          <a:p>
            <a:endParaRPr lang="fr-CA" dirty="0"/>
          </a:p>
          <a:p>
            <a:pPr marL="0" indent="0">
              <a:buNone/>
              <a:defRPr/>
            </a:pPr>
            <a:endParaRPr lang="fr-CA" dirty="0"/>
          </a:p>
        </p:txBody>
      </p:sp>
      <p:sp>
        <p:nvSpPr>
          <p:cNvPr id="3" name="Espace réservé du numéro de diapositive 2"/>
          <p:cNvSpPr>
            <a:spLocks noGrp="1"/>
          </p:cNvSpPr>
          <p:nvPr>
            <p:ph type="sldNum" sz="quarter" idx="12"/>
          </p:nvPr>
        </p:nvSpPr>
        <p:spPr>
          <a:xfrm>
            <a:off x="9571383" y="6632193"/>
            <a:ext cx="1706217" cy="18256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60BA0E-20D0-4E7C-B286-26C960A6788F}" type="slidenum">
              <a:rPr kumimoji="0" lang="fr-CA" sz="1200" b="0" i="0" u="none" strike="noStrike" kern="1200" cap="none" spc="0" normalizeH="0" baseline="0" noProof="0" smtClean="0">
                <a:ln>
                  <a:noFill/>
                </a:ln>
                <a:solidFill>
                  <a:srgbClr val="E7E6E6">
                    <a:lumMod val="50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fr-CA" sz="12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624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 y="0"/>
            <a:ext cx="11430000" cy="457201"/>
          </a:xfrm>
        </p:spPr>
        <p:txBody>
          <a:bodyPr>
            <a:noAutofit/>
          </a:bodyPr>
          <a:lstStyle/>
          <a:p>
            <a:r>
              <a:rPr lang="fr-CA" sz="2800" b="1" dirty="0">
                <a:solidFill>
                  <a:prstClr val="black"/>
                </a:solidFill>
              </a:rPr>
              <a:t>Règle d’indépendance – Règle 204.4:</a:t>
            </a:r>
            <a:r>
              <a:rPr lang="fr-CA" sz="2800" b="1" dirty="0"/>
              <a:t> Interdictions (pages 28 à 84)</a:t>
            </a:r>
            <a:endParaRPr lang="fr-CA" sz="1200" b="1" dirty="0"/>
          </a:p>
        </p:txBody>
      </p:sp>
      <p:sp>
        <p:nvSpPr>
          <p:cNvPr id="5" name="Espace réservé du contenu 4"/>
          <p:cNvSpPr>
            <a:spLocks noGrp="1"/>
          </p:cNvSpPr>
          <p:nvPr>
            <p:ph idx="1"/>
          </p:nvPr>
        </p:nvSpPr>
        <p:spPr>
          <a:xfrm>
            <a:off x="419101" y="597904"/>
            <a:ext cx="11353800" cy="6220267"/>
          </a:xfrm>
        </p:spPr>
        <p:txBody>
          <a:bodyPr>
            <a:normAutofit fontScale="70000" lnSpcReduction="20000"/>
          </a:bodyPr>
          <a:lstStyle/>
          <a:p>
            <a:pPr>
              <a:spcBef>
                <a:spcPts val="600"/>
              </a:spcBef>
            </a:pPr>
            <a:r>
              <a:rPr lang="fr-CA" sz="2600" b="1" dirty="0"/>
              <a:t>Intérêts financiers :</a:t>
            </a:r>
            <a:r>
              <a:rPr lang="fr-CA" sz="1700" b="1" dirty="0"/>
              <a:t> </a:t>
            </a:r>
            <a:r>
              <a:rPr lang="fr-CA" sz="2000" dirty="0"/>
              <a:t>membre/stagiaire, cabinet (bureau), régime de pension, membre de la famille (204.4.1-6)</a:t>
            </a:r>
            <a:endParaRPr lang="fr-CA" sz="2000" dirty="0">
              <a:highlight>
                <a:srgbClr val="C0C0C0"/>
              </a:highlight>
            </a:endParaRPr>
          </a:p>
          <a:p>
            <a:pPr lvl="1">
              <a:spcBef>
                <a:spcPts val="600"/>
              </a:spcBef>
            </a:pPr>
            <a:r>
              <a:rPr lang="fr-CA" sz="2000" dirty="0"/>
              <a:t>SAUVEGARDES: Se départir des intérêts, exclure la personne de l’équipe de mission (par. </a:t>
            </a:r>
            <a:r>
              <a:rPr lang="fr-CA" sz="2000" dirty="0" err="1"/>
              <a:t>Ind</a:t>
            </a:r>
            <a:r>
              <a:rPr lang="fr-CA" sz="2000" dirty="0"/>
              <a:t>. 5)</a:t>
            </a:r>
          </a:p>
          <a:p>
            <a:pPr>
              <a:spcBef>
                <a:spcPts val="600"/>
              </a:spcBef>
            </a:pPr>
            <a:r>
              <a:rPr lang="fr-CA" sz="2600" b="1" dirty="0"/>
              <a:t>Prêts et garanties : </a:t>
            </a:r>
            <a:r>
              <a:rPr lang="fr-CA" sz="2000" dirty="0"/>
              <a:t>prêt d’$ du client (d’un dirigeant/administrateur) ou prêt d’$ au client</a:t>
            </a:r>
            <a:r>
              <a:rPr lang="fr-CA" sz="2000" b="1" dirty="0"/>
              <a:t> </a:t>
            </a:r>
            <a:r>
              <a:rPr lang="fr-CA" sz="2000" dirty="0"/>
              <a:t>(204.4.10-12)</a:t>
            </a:r>
          </a:p>
          <a:p>
            <a:pPr lvl="1">
              <a:spcBef>
                <a:spcPts val="600"/>
              </a:spcBef>
            </a:pPr>
            <a:r>
              <a:rPr lang="fr-CA" sz="2000" dirty="0"/>
              <a:t>Services bancaires réguliers, dans des conditions normales, ne créent pas de menace pour l’indépendance (par. 2)</a:t>
            </a:r>
          </a:p>
          <a:p>
            <a:pPr>
              <a:spcBef>
                <a:spcPts val="600"/>
              </a:spcBef>
            </a:pPr>
            <a:r>
              <a:rPr lang="fr-CA" sz="2600" b="1" dirty="0"/>
              <a:t>Relations d’affaires étroites </a:t>
            </a:r>
            <a:r>
              <a:rPr lang="fr-CA" sz="2000" dirty="0"/>
              <a:t>(204.4.13) </a:t>
            </a:r>
          </a:p>
          <a:p>
            <a:pPr lvl="1">
              <a:spcBef>
                <a:spcPts val="600"/>
              </a:spcBef>
            </a:pPr>
            <a:r>
              <a:rPr lang="fr-CA" sz="2000" dirty="0"/>
              <a:t>Est-ce que la relation est négligeable? Est-ce qu’elle confère un contrôle au cabinet/membre?</a:t>
            </a:r>
          </a:p>
          <a:p>
            <a:pPr>
              <a:spcBef>
                <a:spcPts val="600"/>
              </a:spcBef>
            </a:pPr>
            <a:r>
              <a:rPr lang="fr-CA" sz="2600" b="1" dirty="0"/>
              <a:t>Relations familiales et personnelles </a:t>
            </a:r>
            <a:r>
              <a:rPr lang="fr-CA" sz="2000" dirty="0"/>
              <a:t>(204.4.14-15) </a:t>
            </a:r>
          </a:p>
          <a:p>
            <a:pPr lvl="1">
              <a:spcBef>
                <a:spcPts val="600"/>
              </a:spcBef>
            </a:pPr>
            <a:r>
              <a:rPr lang="fr-CA" sz="2000" dirty="0"/>
              <a:t>Ne pas faire partie de l’équipe de certif si un membre de notre famille est dirigeant/admin du client. </a:t>
            </a:r>
          </a:p>
          <a:p>
            <a:pPr>
              <a:spcBef>
                <a:spcPts val="600"/>
              </a:spcBef>
            </a:pPr>
            <a:r>
              <a:rPr lang="fr-CA" sz="2600" b="1" dirty="0"/>
              <a:t>Fonctions auprès du client </a:t>
            </a:r>
            <a:r>
              <a:rPr lang="fr-CA" sz="2600" dirty="0"/>
              <a:t>:</a:t>
            </a:r>
            <a:r>
              <a:rPr lang="fr-CA" sz="2000" dirty="0"/>
              <a:t> gravité selon poste occupé et influence potentielle ou encore, le délai écoulé (204.4.16-19)</a:t>
            </a:r>
          </a:p>
          <a:p>
            <a:pPr lvl="1">
              <a:spcBef>
                <a:spcPts val="600"/>
              </a:spcBef>
            </a:pPr>
            <a:r>
              <a:rPr lang="fr-CA" sz="2000" dirty="0"/>
              <a:t>Employé actuel, mais ex-auditeur (règle du 1 an). Auditeur actuel, mais ex-employé. Auditeur actuel, administrateur actuel (!). </a:t>
            </a:r>
          </a:p>
          <a:p>
            <a:pPr>
              <a:spcBef>
                <a:spcPts val="600"/>
              </a:spcBef>
            </a:pPr>
            <a:r>
              <a:rPr lang="fr-CA" sz="2600" b="1" dirty="0"/>
              <a:t>Écritures de journal / fonctions de gestion </a:t>
            </a:r>
            <a:r>
              <a:rPr lang="fr-CA" sz="2600" dirty="0"/>
              <a:t>:</a:t>
            </a:r>
            <a:r>
              <a:rPr lang="fr-CA" sz="2000" dirty="0"/>
              <a:t> membre ou cabinet ne doit pas mener de telle fonction (204.4.22-24)</a:t>
            </a:r>
          </a:p>
          <a:p>
            <a:pPr lvl="1">
              <a:spcBef>
                <a:spcPts val="600"/>
              </a:spcBef>
            </a:pPr>
            <a:r>
              <a:rPr lang="fr-CA" sz="2000" dirty="0"/>
              <a:t>On peut aider le client à préparer des écritures de journal si le client approuve les écritures proposées (par. 4 et 9). </a:t>
            </a:r>
          </a:p>
          <a:p>
            <a:pPr>
              <a:spcBef>
                <a:spcPts val="600"/>
              </a:spcBef>
            </a:pPr>
            <a:r>
              <a:rPr lang="fr-CA" sz="2600" b="1" dirty="0"/>
              <a:t>Services interdits : </a:t>
            </a:r>
            <a:r>
              <a:rPr lang="fr-CA" sz="2000" dirty="0"/>
              <a:t>évaluation, finance d’entreprise, juridiques (204.4.25-34)</a:t>
            </a:r>
          </a:p>
          <a:p>
            <a:pPr marL="46037" indent="0">
              <a:buNone/>
            </a:pPr>
            <a:r>
              <a:rPr lang="fr-CA" sz="2000" b="1" dirty="0"/>
              <a:t>   peut fournir avec restriction:</a:t>
            </a:r>
          </a:p>
          <a:p>
            <a:pPr lvl="1">
              <a:spcBef>
                <a:spcPts val="600"/>
              </a:spcBef>
            </a:pPr>
            <a:r>
              <a:rPr lang="fr-CA" sz="2000" dirty="0"/>
              <a:t>les services de </a:t>
            </a:r>
            <a:r>
              <a:rPr lang="fr-CA" sz="2000" b="1" dirty="0"/>
              <a:t>TI</a:t>
            </a:r>
            <a:r>
              <a:rPr lang="fr-CA" sz="2000" dirty="0"/>
              <a:t> (Art. 28 a) </a:t>
            </a:r>
            <a:r>
              <a:rPr lang="fr-CA" sz="2000" b="1" dirty="0"/>
              <a:t>et d’audit interne </a:t>
            </a:r>
            <a:r>
              <a:rPr lang="fr-CA" sz="2000" dirty="0"/>
              <a:t>(Art. 27 a) si la direction en garde la responsabilité et le contrôle. </a:t>
            </a:r>
          </a:p>
          <a:p>
            <a:pPr lvl="1">
              <a:spcBef>
                <a:spcPts val="600"/>
              </a:spcBef>
            </a:pPr>
            <a:r>
              <a:rPr lang="fr-CA" sz="2000" dirty="0"/>
              <a:t>les services de </a:t>
            </a:r>
            <a:r>
              <a:rPr lang="fr-CA" sz="2000" b="1" dirty="0"/>
              <a:t>planification fiscale ou d’autres services-conseils en fiscalité </a:t>
            </a:r>
            <a:r>
              <a:rPr lang="fr-CA" sz="2000" dirty="0"/>
              <a:t>sont permis s’ils ne dépendent pas d'un traitement comptable particulier ou inapproprié ou n’auront pas une incidence significative sur les états financiers (Art. 34 a).</a:t>
            </a:r>
          </a:p>
          <a:p>
            <a:pPr>
              <a:spcBef>
                <a:spcPts val="600"/>
              </a:spcBef>
            </a:pPr>
            <a:r>
              <a:rPr lang="fr-CA" sz="2600" b="1" dirty="0"/>
              <a:t>Honoraires : </a:t>
            </a:r>
            <a:r>
              <a:rPr lang="fr-CA" sz="2000" dirty="0"/>
              <a:t>Interdits: honoraires trop faibles ● honoraires conditionnels (204.4.36) </a:t>
            </a:r>
          </a:p>
          <a:p>
            <a:r>
              <a:rPr lang="fr-CA" sz="2600" b="1" dirty="0"/>
              <a:t>Évaluation et rémunération des associés :</a:t>
            </a:r>
            <a:r>
              <a:rPr lang="fr-CA" sz="2600" dirty="0"/>
              <a:t> </a:t>
            </a:r>
            <a:r>
              <a:rPr lang="fr-CA" sz="2000" dirty="0"/>
              <a:t>Le membre qui est ou était un associé clé de la mission d’audit ne doit pas être évalué ou rémunéré en fonction de ses ventes de services autres que de certification au client (204.4.38) </a:t>
            </a:r>
          </a:p>
          <a:p>
            <a:pPr>
              <a:spcBef>
                <a:spcPts val="600"/>
              </a:spcBef>
            </a:pPr>
            <a:r>
              <a:rPr lang="fr-CA" sz="2600" b="1" dirty="0"/>
              <a:t>Cadeaux : </a:t>
            </a:r>
            <a:r>
              <a:rPr lang="fr-CA" sz="2000" dirty="0"/>
              <a:t>à refuser à moins que la valeur du cadeau ou de l’hospitalité soit manifestement négligeable (204.4.39)</a:t>
            </a:r>
          </a:p>
          <a:p>
            <a:pPr>
              <a:spcBef>
                <a:spcPts val="600"/>
              </a:spcBef>
            </a:pPr>
            <a:r>
              <a:rPr lang="fr-CA" sz="2600" b="1" dirty="0"/>
              <a:t>Fusions et acquisitions </a:t>
            </a:r>
            <a:r>
              <a:rPr lang="fr-CA" sz="2000" dirty="0"/>
              <a:t>(204.4.40)</a:t>
            </a:r>
          </a:p>
          <a:p>
            <a:pPr lvl="1">
              <a:spcBef>
                <a:spcPts val="0"/>
              </a:spcBef>
            </a:pPr>
            <a:endParaRPr lang="fr-CA" sz="1500" dirty="0"/>
          </a:p>
        </p:txBody>
      </p:sp>
      <p:sp>
        <p:nvSpPr>
          <p:cNvPr id="3" name="Espace réservé du numéro de diapositive 2"/>
          <p:cNvSpPr>
            <a:spLocks noGrp="1"/>
          </p:cNvSpPr>
          <p:nvPr>
            <p:ph type="sldNum" sz="quarter" idx="12"/>
          </p:nvPr>
        </p:nvSpPr>
        <p:spPr>
          <a:xfrm>
            <a:off x="15240" y="6688018"/>
            <a:ext cx="1706217" cy="17211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60BA0E-20D0-4E7C-B286-26C960A6788F}" type="slidenum">
              <a:rPr kumimoji="0" lang="fr-CA" sz="1200" b="0" i="0" u="none" strike="noStrike" kern="1200" cap="none" spc="0" normalizeH="0" baseline="0" noProof="0" smtClean="0">
                <a:ln>
                  <a:noFill/>
                </a:ln>
                <a:solidFill>
                  <a:srgbClr val="E7E6E6">
                    <a:lumMod val="50000"/>
                  </a:srgb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fr-CA" sz="1200" b="0" i="0" u="none" strike="noStrike" kern="1200" cap="none" spc="0" normalizeH="0" baseline="0" noProof="0" dirty="0">
              <a:ln>
                <a:noFill/>
              </a:ln>
              <a:solidFill>
                <a:srgbClr val="E7E6E6">
                  <a:lumMod val="50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4736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D8E16-3538-3146-9B84-1A6FF34EDF1A}"/>
              </a:ext>
            </a:extLst>
          </p:cNvPr>
          <p:cNvSpPr>
            <a:spLocks noGrp="1"/>
          </p:cNvSpPr>
          <p:nvPr>
            <p:ph type="title"/>
          </p:nvPr>
        </p:nvSpPr>
        <p:spPr>
          <a:xfrm>
            <a:off x="156117" y="162488"/>
            <a:ext cx="11876049" cy="584644"/>
          </a:xfrm>
        </p:spPr>
        <p:txBody>
          <a:bodyPr/>
          <a:lstStyle/>
          <a:p>
            <a:r>
              <a:rPr lang="fr-CA" sz="2800" dirty="0">
                <a:solidFill>
                  <a:prstClr val="black"/>
                </a:solidFill>
              </a:rPr>
              <a:t>Règle d’indépendance – Règle 204.4:</a:t>
            </a:r>
            <a:r>
              <a:rPr lang="fr-CA" sz="2800" dirty="0"/>
              <a:t> Interdictions (pages 28 à 84)</a:t>
            </a:r>
          </a:p>
        </p:txBody>
      </p:sp>
      <p:sp>
        <p:nvSpPr>
          <p:cNvPr id="3" name="Content Placeholder 2">
            <a:extLst>
              <a:ext uri="{FF2B5EF4-FFF2-40B4-BE49-F238E27FC236}">
                <a16:creationId xmlns:a16="http://schemas.microsoft.com/office/drawing/2014/main" id="{6A1CBD4C-1E1E-3346-A1DB-2AAFE3780DC9}"/>
              </a:ext>
            </a:extLst>
          </p:cNvPr>
          <p:cNvSpPr>
            <a:spLocks noGrp="1"/>
          </p:cNvSpPr>
          <p:nvPr>
            <p:ph idx="1"/>
          </p:nvPr>
        </p:nvSpPr>
        <p:spPr>
          <a:xfrm>
            <a:off x="638400" y="892098"/>
            <a:ext cx="10915200" cy="4826714"/>
          </a:xfrm>
        </p:spPr>
        <p:txBody>
          <a:bodyPr>
            <a:normAutofit fontScale="70000" lnSpcReduction="20000"/>
          </a:bodyPr>
          <a:lstStyle/>
          <a:p>
            <a:pPr marL="0" indent="0">
              <a:buNone/>
            </a:pPr>
            <a:r>
              <a:rPr lang="fr-CA" sz="2900" b="1" dirty="0"/>
              <a:t>Particularités pour les émetteurs assujettis et les entités cotées :</a:t>
            </a:r>
            <a:endParaRPr lang="en-CA" sz="2900" b="1" dirty="0"/>
          </a:p>
          <a:p>
            <a:pPr lvl="0"/>
            <a:r>
              <a:rPr lang="fr-CA" sz="2600" dirty="0"/>
              <a:t>Honoraires du client représentant plus de 15% des honoraires du cabinet</a:t>
            </a:r>
            <a:endParaRPr lang="en-CA" sz="2600" dirty="0"/>
          </a:p>
          <a:p>
            <a:pPr lvl="0"/>
            <a:r>
              <a:rPr lang="fr-CA" sz="2600" dirty="0"/>
              <a:t>Ancien membre de l’équipe d’audit qui a maintenant un rôle de surveillance chez le client, délai d’un an</a:t>
            </a:r>
            <a:endParaRPr lang="en-CA" sz="2600" dirty="0"/>
          </a:p>
          <a:p>
            <a:pPr>
              <a:spcBef>
                <a:spcPts val="600"/>
              </a:spcBef>
            </a:pPr>
            <a:r>
              <a:rPr lang="fr-CA" sz="2600" dirty="0"/>
              <a:t>Association de longue date auditeur-audité</a:t>
            </a:r>
          </a:p>
          <a:p>
            <a:pPr lvl="1">
              <a:spcBef>
                <a:spcPts val="600"/>
              </a:spcBef>
            </a:pPr>
            <a:r>
              <a:rPr lang="fr-CA" sz="2600" dirty="0"/>
              <a:t>Rotation de l’associé responsable ou contrôle qualité à tous les 7 ans et « cool-off » de 5 ans</a:t>
            </a:r>
          </a:p>
          <a:p>
            <a:pPr lvl="1">
              <a:spcBef>
                <a:spcPts val="600"/>
              </a:spcBef>
            </a:pPr>
            <a:r>
              <a:rPr lang="fr-CA" sz="2600" dirty="0"/>
              <a:t>Rotation de l’associé « clé » de la mission (autre que l’associé responsable) à tous les 7 ans et « cool-off » de 2 ans</a:t>
            </a:r>
            <a:endParaRPr lang="en-CA" sz="2600" dirty="0"/>
          </a:p>
          <a:p>
            <a:r>
              <a:rPr lang="fr-CA" sz="2600" dirty="0"/>
              <a:t>Services professionnels à un client doivent être approuvés par le comité d’audit</a:t>
            </a:r>
          </a:p>
          <a:p>
            <a:pPr lvl="1"/>
            <a:r>
              <a:rPr lang="fr-CA" sz="2600" dirty="0"/>
              <a:t>Approbation facultative si les services ne représentent pas plus de 5 % de la somme totale des honoraires versés par le client. </a:t>
            </a:r>
            <a:endParaRPr lang="en-CA" sz="2600" dirty="0"/>
          </a:p>
          <a:p>
            <a:pPr lvl="0"/>
            <a:r>
              <a:rPr lang="fr-CA" sz="2600" dirty="0"/>
              <a:t>Plus strict au niveau des missions conseils interdites :</a:t>
            </a:r>
            <a:endParaRPr lang="en-CA" sz="2600" dirty="0"/>
          </a:p>
          <a:p>
            <a:pPr lvl="1"/>
            <a:r>
              <a:rPr lang="fr-CA" sz="2600" dirty="0"/>
              <a:t>Service fiscal (à moins que soit indépendant des traitements comptables)</a:t>
            </a:r>
            <a:endParaRPr lang="en-CA" sz="2600" dirty="0"/>
          </a:p>
          <a:p>
            <a:pPr lvl="1"/>
            <a:r>
              <a:rPr lang="fr-CA" sz="2600" dirty="0"/>
              <a:t>Service de RH</a:t>
            </a:r>
            <a:endParaRPr lang="en-CA" sz="2600" dirty="0"/>
          </a:p>
          <a:p>
            <a:pPr lvl="1"/>
            <a:r>
              <a:rPr lang="fr-CA" sz="2600" dirty="0"/>
              <a:t>Calcul de l’impôt</a:t>
            </a:r>
            <a:endParaRPr lang="en-CA" sz="2600" dirty="0"/>
          </a:p>
          <a:p>
            <a:pPr lvl="1"/>
            <a:r>
              <a:rPr lang="fr-CA" sz="2600" dirty="0"/>
              <a:t>Services pour lesquels les résultats seront soumis à l’audit (préparation de documents comptables ou d’</a:t>
            </a:r>
            <a:r>
              <a:rPr lang="fr-CA" sz="2600" dirty="0" err="1"/>
              <a:t>ÉFs</a:t>
            </a:r>
            <a:r>
              <a:rPr lang="fr-CA" sz="2600" dirty="0"/>
              <a:t>, services actuariels, audit interne, TI)</a:t>
            </a:r>
            <a:endParaRPr lang="en-CA" sz="2600" dirty="0"/>
          </a:p>
          <a:p>
            <a:endParaRPr lang="fr-CA" dirty="0"/>
          </a:p>
        </p:txBody>
      </p:sp>
      <p:sp>
        <p:nvSpPr>
          <p:cNvPr id="4" name="Slide Number Placeholder 3">
            <a:extLst>
              <a:ext uri="{FF2B5EF4-FFF2-40B4-BE49-F238E27FC236}">
                <a16:creationId xmlns:a16="http://schemas.microsoft.com/office/drawing/2014/main" id="{EF1A46FA-E305-FD47-BBFE-FB5976393605}"/>
              </a:ext>
            </a:extLst>
          </p:cNvPr>
          <p:cNvSpPr>
            <a:spLocks noGrp="1"/>
          </p:cNvSpPr>
          <p:nvPr>
            <p:ph type="sldNum" sz="quarter" idx="12"/>
          </p:nvPr>
        </p:nvSpPr>
        <p:spPr/>
        <p:txBody>
          <a:bodyPr/>
          <a:lstStyle/>
          <a:p>
            <a:fld id="{D57F1E4F-1CFF-5643-939E-02111984F565}" type="slidenum">
              <a:rPr lang="en-US" smtClean="0"/>
              <a:t>16</a:t>
            </a:fld>
            <a:endParaRPr lang="en-US" dirty="0"/>
          </a:p>
        </p:txBody>
      </p:sp>
    </p:spTree>
    <p:extLst>
      <p:ext uri="{BB962C8B-B14F-4D97-AF65-F5344CB8AC3E}">
        <p14:creationId xmlns:p14="http://schemas.microsoft.com/office/powerpoint/2010/main" val="3246512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Tableau synthèse des normes</a:t>
            </a:r>
          </a:p>
        </p:txBody>
      </p:sp>
      <p:sp>
        <p:nvSpPr>
          <p:cNvPr id="3" name="Espace réservé du texte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17</a:t>
            </a:fld>
            <a:endParaRPr lang="en-US" dirty="0"/>
          </a:p>
        </p:txBody>
      </p:sp>
    </p:spTree>
    <p:extLst>
      <p:ext uri="{BB962C8B-B14F-4D97-AF65-F5344CB8AC3E}">
        <p14:creationId xmlns:p14="http://schemas.microsoft.com/office/powerpoint/2010/main" val="1661155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p:cNvSpPr>
            <a:spLocks noGrp="1"/>
          </p:cNvSpPr>
          <p:nvPr>
            <p:ph type="sldNum" sz="quarter" idx="12"/>
          </p:nvPr>
        </p:nvSpPr>
        <p:spPr/>
        <p:txBody>
          <a:bodyPr/>
          <a:lstStyle/>
          <a:p>
            <a:fld id="{AC6A126F-ECAD-40CF-950D-291D558E4DF6}" type="slidenum">
              <a:rPr lang="fr-CA" smtClean="0"/>
              <a:t>18</a:t>
            </a:fld>
            <a:endParaRPr lang="fr-CA"/>
          </a:p>
        </p:txBody>
      </p:sp>
      <p:sp>
        <p:nvSpPr>
          <p:cNvPr id="15" name="Titre 1"/>
          <p:cNvSpPr>
            <a:spLocks noGrp="1"/>
          </p:cNvSpPr>
          <p:nvPr>
            <p:ph type="title"/>
          </p:nvPr>
        </p:nvSpPr>
        <p:spPr>
          <a:xfrm>
            <a:off x="962525" y="202019"/>
            <a:ext cx="10443411" cy="764767"/>
          </a:xfrm>
        </p:spPr>
        <p:txBody>
          <a:bodyPr>
            <a:noAutofit/>
          </a:bodyPr>
          <a:lstStyle/>
          <a:p>
            <a:r>
              <a:rPr lang="fr-CA" sz="2800" b="1" dirty="0"/>
              <a:t>Tableau synoptique Manuel CPA Canada – Certification</a:t>
            </a:r>
          </a:p>
        </p:txBody>
      </p:sp>
      <p:pic>
        <p:nvPicPr>
          <p:cNvPr id="3" name="Image 2">
            <a:extLst>
              <a:ext uri="{FF2B5EF4-FFF2-40B4-BE49-F238E27FC236}">
                <a16:creationId xmlns:a16="http://schemas.microsoft.com/office/drawing/2014/main" id="{9117B104-0557-C347-8B69-AF72DA3F8167}"/>
              </a:ext>
            </a:extLst>
          </p:cNvPr>
          <p:cNvPicPr>
            <a:picLocks noChangeAspect="1"/>
          </p:cNvPicPr>
          <p:nvPr/>
        </p:nvPicPr>
        <p:blipFill>
          <a:blip r:embed="rId3"/>
          <a:stretch>
            <a:fillRect/>
          </a:stretch>
        </p:blipFill>
        <p:spPr>
          <a:xfrm>
            <a:off x="1616984" y="1073591"/>
            <a:ext cx="8958032" cy="5552564"/>
          </a:xfrm>
          <a:prstGeom prst="rect">
            <a:avLst/>
          </a:prstGeom>
        </p:spPr>
      </p:pic>
    </p:spTree>
    <p:extLst>
      <p:ext uri="{BB962C8B-B14F-4D97-AF65-F5344CB8AC3E}">
        <p14:creationId xmlns:p14="http://schemas.microsoft.com/office/powerpoint/2010/main" val="19165489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6A07CB-9330-AB44-A20F-BA6E55E99F17}"/>
              </a:ext>
            </a:extLst>
          </p:cNvPr>
          <p:cNvSpPr>
            <a:spLocks noGrp="1"/>
          </p:cNvSpPr>
          <p:nvPr>
            <p:ph type="title"/>
          </p:nvPr>
        </p:nvSpPr>
        <p:spPr/>
        <p:txBody>
          <a:bodyPr>
            <a:normAutofit fontScale="90000"/>
          </a:bodyPr>
          <a:lstStyle/>
          <a:p>
            <a:r>
              <a:rPr lang="fr-CA" dirty="0"/>
              <a:t>Audits d’</a:t>
            </a:r>
            <a:r>
              <a:rPr lang="fr-CA" dirty="0" err="1"/>
              <a:t>ÉFs</a:t>
            </a:r>
            <a:r>
              <a:rPr lang="fr-CA" dirty="0"/>
              <a:t> et d’autres informations financières historiques</a:t>
            </a:r>
          </a:p>
        </p:txBody>
      </p:sp>
      <p:sp>
        <p:nvSpPr>
          <p:cNvPr id="3" name="Espace réservé du texte 2">
            <a:extLst>
              <a:ext uri="{FF2B5EF4-FFF2-40B4-BE49-F238E27FC236}">
                <a16:creationId xmlns:a16="http://schemas.microsoft.com/office/drawing/2014/main" id="{5DCC120A-1D00-964B-899C-9CE044297389}"/>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20E037A8-5AC8-2043-B64A-E5082BF49104}"/>
              </a:ext>
            </a:extLst>
          </p:cNvPr>
          <p:cNvSpPr>
            <a:spLocks noGrp="1"/>
          </p:cNvSpPr>
          <p:nvPr>
            <p:ph type="sldNum" sz="quarter" idx="12"/>
          </p:nvPr>
        </p:nvSpPr>
        <p:spPr/>
        <p:txBody>
          <a:bodyPr/>
          <a:lstStyle/>
          <a:p>
            <a:fld id="{D57F1E4F-1CFF-5643-939E-02111984F565}" type="slidenum">
              <a:rPr lang="en-US" smtClean="0"/>
              <a:t>19</a:t>
            </a:fld>
            <a:endParaRPr lang="en-US" dirty="0"/>
          </a:p>
        </p:txBody>
      </p:sp>
    </p:spTree>
    <p:extLst>
      <p:ext uri="{BB962C8B-B14F-4D97-AF65-F5344CB8AC3E}">
        <p14:creationId xmlns:p14="http://schemas.microsoft.com/office/powerpoint/2010/main" val="110258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p:cNvSpPr>
            <a:spLocks noGrp="1"/>
          </p:cNvSpPr>
          <p:nvPr>
            <p:ph type="sldNum" sz="quarter" idx="12"/>
          </p:nvPr>
        </p:nvSpPr>
        <p:spPr/>
        <p:txBody>
          <a:bodyPr/>
          <a:lstStyle/>
          <a:p>
            <a:fld id="{AC6A126F-ECAD-40CF-950D-291D558E4DF6}" type="slidenum">
              <a:rPr lang="fr-CA" smtClean="0"/>
              <a:t>20</a:t>
            </a:fld>
            <a:endParaRPr lang="fr-CA"/>
          </a:p>
        </p:txBody>
      </p:sp>
      <p:sp>
        <p:nvSpPr>
          <p:cNvPr id="15" name="Titre 1"/>
          <p:cNvSpPr>
            <a:spLocks noGrp="1"/>
          </p:cNvSpPr>
          <p:nvPr>
            <p:ph type="title"/>
          </p:nvPr>
        </p:nvSpPr>
        <p:spPr>
          <a:xfrm>
            <a:off x="962525" y="202019"/>
            <a:ext cx="10443411" cy="764767"/>
          </a:xfrm>
        </p:spPr>
        <p:txBody>
          <a:bodyPr>
            <a:noAutofit/>
          </a:bodyPr>
          <a:lstStyle/>
          <a:p>
            <a:r>
              <a:rPr lang="fr-CA" sz="2800" b="1" dirty="0"/>
              <a:t>Tableau synoptique Manuel CPA Canada – Certification</a:t>
            </a:r>
          </a:p>
        </p:txBody>
      </p:sp>
      <p:pic>
        <p:nvPicPr>
          <p:cNvPr id="6" name="Image 5">
            <a:extLst>
              <a:ext uri="{FF2B5EF4-FFF2-40B4-BE49-F238E27FC236}">
                <a16:creationId xmlns:a16="http://schemas.microsoft.com/office/drawing/2014/main" id="{267D4DE1-3950-8549-82A8-93ECD44CA6C1}"/>
              </a:ext>
            </a:extLst>
          </p:cNvPr>
          <p:cNvPicPr>
            <a:picLocks noChangeAspect="1"/>
          </p:cNvPicPr>
          <p:nvPr/>
        </p:nvPicPr>
        <p:blipFill>
          <a:blip r:embed="rId3"/>
          <a:stretch>
            <a:fillRect/>
          </a:stretch>
        </p:blipFill>
        <p:spPr>
          <a:xfrm>
            <a:off x="1616984" y="1073591"/>
            <a:ext cx="8958032" cy="5552564"/>
          </a:xfrm>
          <a:prstGeom prst="rect">
            <a:avLst/>
          </a:prstGeom>
        </p:spPr>
      </p:pic>
      <p:sp>
        <p:nvSpPr>
          <p:cNvPr id="3" name="Rounded Rectangle 2">
            <a:extLst>
              <a:ext uri="{FF2B5EF4-FFF2-40B4-BE49-F238E27FC236}">
                <a16:creationId xmlns:a16="http://schemas.microsoft.com/office/drawing/2014/main" id="{7FFC44CF-B994-A240-A17C-0CC4966B63D0}"/>
              </a:ext>
            </a:extLst>
          </p:cNvPr>
          <p:cNvSpPr/>
          <p:nvPr/>
        </p:nvSpPr>
        <p:spPr>
          <a:xfrm>
            <a:off x="1502517" y="985121"/>
            <a:ext cx="3057311" cy="5659369"/>
          </a:xfrm>
          <a:prstGeom prst="roundRect">
            <a:avLst/>
          </a:prstGeom>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fr-CA"/>
          </a:p>
        </p:txBody>
      </p:sp>
    </p:spTree>
    <p:extLst>
      <p:ext uri="{BB962C8B-B14F-4D97-AF65-F5344CB8AC3E}">
        <p14:creationId xmlns:p14="http://schemas.microsoft.com/office/powerpoint/2010/main" val="14819273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Acceptation de la mission</a:t>
            </a:r>
          </a:p>
        </p:txBody>
      </p:sp>
      <p:sp>
        <p:nvSpPr>
          <p:cNvPr id="3" name="Espace réservé du texte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21</a:t>
            </a:fld>
            <a:endParaRPr lang="en-US" dirty="0"/>
          </a:p>
        </p:txBody>
      </p:sp>
    </p:spTree>
    <p:extLst>
      <p:ext uri="{BB962C8B-B14F-4D97-AF65-F5344CB8AC3E}">
        <p14:creationId xmlns:p14="http://schemas.microsoft.com/office/powerpoint/2010/main" val="548420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Acceptation de la mission</a:t>
            </a:r>
          </a:p>
        </p:txBody>
      </p:sp>
      <p:sp>
        <p:nvSpPr>
          <p:cNvPr id="3" name="Content Placeholder 2"/>
          <p:cNvSpPr>
            <a:spLocks noGrp="1"/>
          </p:cNvSpPr>
          <p:nvPr>
            <p:ph idx="1"/>
          </p:nvPr>
        </p:nvSpPr>
        <p:spPr>
          <a:xfrm>
            <a:off x="638400" y="1672772"/>
            <a:ext cx="10915200" cy="4605564"/>
          </a:xfrm>
        </p:spPr>
        <p:txBody>
          <a:bodyPr>
            <a:normAutofit fontScale="92500"/>
          </a:bodyPr>
          <a:lstStyle/>
          <a:p>
            <a:pPr marL="0" indent="0">
              <a:buNone/>
            </a:pPr>
            <a:r>
              <a:rPr lang="fr-CA" sz="2800" dirty="0"/>
              <a:t>Facteurs à considérer pour accepter la mission :</a:t>
            </a:r>
          </a:p>
          <a:p>
            <a:r>
              <a:rPr lang="fr-CA" sz="2400" dirty="0"/>
              <a:t>Référentiel d’information financière est acceptable</a:t>
            </a:r>
          </a:p>
          <a:p>
            <a:r>
              <a:rPr lang="fr-CA" sz="2400" dirty="0"/>
              <a:t>Direction comprend les responsabilités qui lui incombent au niveau de la préparation des </a:t>
            </a:r>
            <a:r>
              <a:rPr lang="fr-CA" sz="2400" dirty="0" err="1"/>
              <a:t>ÉFs</a:t>
            </a:r>
            <a:r>
              <a:rPr lang="fr-CA" sz="2400" dirty="0"/>
              <a:t> et du contrôle interne</a:t>
            </a:r>
          </a:p>
          <a:p>
            <a:r>
              <a:rPr lang="fr-CA" sz="2400" dirty="0"/>
              <a:t>Aucune limitation au travail n’est prévue</a:t>
            </a:r>
          </a:p>
          <a:p>
            <a:r>
              <a:rPr lang="fr-CA" sz="2400" dirty="0"/>
              <a:t>Respect des règles de déontologie (indépendance)</a:t>
            </a:r>
          </a:p>
          <a:p>
            <a:r>
              <a:rPr lang="fr-CA" sz="2400" dirty="0"/>
              <a:t>Compétences nécessaires pour réaliser la mission</a:t>
            </a:r>
          </a:p>
          <a:p>
            <a:r>
              <a:rPr lang="fr-CA" sz="2400" dirty="0"/>
              <a:t>Capacités nécessaires pour réaliser la mission (temps et ressources)</a:t>
            </a:r>
          </a:p>
          <a:p>
            <a:r>
              <a:rPr lang="fr-CA" sz="2400" dirty="0"/>
              <a:t>Intégrité des principaux propriétaires, des dirigeants clés et des responsables de la gouvernance de l’entité</a:t>
            </a:r>
          </a:p>
          <a:p>
            <a:r>
              <a:rPr lang="fr-CA" sz="2400" dirty="0"/>
              <a:t>Impact des questions importantes soulevées jusqu’à présent dans les missions</a:t>
            </a:r>
          </a:p>
          <a:p>
            <a:endParaRPr lang="en-CA" sz="2400" dirty="0"/>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22</a:t>
            </a:fld>
            <a:endParaRPr lang="en-US" dirty="0"/>
          </a:p>
        </p:txBody>
      </p:sp>
    </p:spTree>
    <p:extLst>
      <p:ext uri="{BB962C8B-B14F-4D97-AF65-F5344CB8AC3E}">
        <p14:creationId xmlns:p14="http://schemas.microsoft.com/office/powerpoint/2010/main" val="25077288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Acceptation de la mission</a:t>
            </a:r>
          </a:p>
        </p:txBody>
      </p:sp>
      <p:sp>
        <p:nvSpPr>
          <p:cNvPr id="3" name="Espace réservé du contenu 2"/>
          <p:cNvSpPr>
            <a:spLocks noGrp="1"/>
          </p:cNvSpPr>
          <p:nvPr>
            <p:ph idx="1"/>
          </p:nvPr>
        </p:nvSpPr>
        <p:spPr/>
        <p:txBody>
          <a:bodyPr>
            <a:normAutofit fontScale="92500"/>
          </a:bodyPr>
          <a:lstStyle/>
          <a:p>
            <a:pPr marL="0" indent="0">
              <a:buNone/>
            </a:pPr>
            <a:r>
              <a:rPr lang="fr-CA" sz="2800" dirty="0"/>
              <a:t>À l’EFC :</a:t>
            </a:r>
          </a:p>
          <a:p>
            <a:r>
              <a:rPr lang="fr-CA" sz="2400" dirty="0"/>
              <a:t>Se demander s’il y a une problématique (contexte important)</a:t>
            </a:r>
          </a:p>
          <a:p>
            <a:r>
              <a:rPr lang="fr-CA" sz="2400" dirty="0"/>
              <a:t>Si c’est le cas, en traiter</a:t>
            </a:r>
          </a:p>
          <a:p>
            <a:pPr lvl="1"/>
            <a:r>
              <a:rPr lang="fr-CA" sz="2200" dirty="0"/>
              <a:t>Structure de réponse suggérée :</a:t>
            </a:r>
          </a:p>
          <a:p>
            <a:pPr lvl="2"/>
            <a:r>
              <a:rPr lang="fr-CA" sz="2000" dirty="0"/>
              <a:t>Identification du problème</a:t>
            </a:r>
          </a:p>
          <a:p>
            <a:pPr lvl="2"/>
            <a:r>
              <a:rPr lang="fr-CA" sz="2000" dirty="0"/>
              <a:t>Explication du problème</a:t>
            </a:r>
          </a:p>
          <a:p>
            <a:pPr lvl="2"/>
            <a:r>
              <a:rPr lang="fr-CA" sz="2000" dirty="0"/>
              <a:t>Discussion sur la gravité du problème et possibilités de sauvegarde</a:t>
            </a:r>
          </a:p>
          <a:p>
            <a:pPr lvl="2"/>
            <a:r>
              <a:rPr lang="fr-CA" sz="2000" dirty="0"/>
              <a:t>Conclusion sur l’acceptation de la mission</a:t>
            </a:r>
          </a:p>
          <a:p>
            <a:r>
              <a:rPr lang="fr-CA" sz="2400" dirty="0"/>
              <a:t>Pour un audit initial, travail à faire sur les soldes d’ouverture</a:t>
            </a:r>
          </a:p>
          <a:p>
            <a:pPr lvl="1"/>
            <a:r>
              <a:rPr lang="fr-CA" dirty="0"/>
              <a:t>Si impossible d’obtenir suffisamment d’éléments probants sur les soldes d’ouverture, même après avoir fait du travail supplémentaire, l’auditeur pourrait être dans l’obligation de remettre un rapport avec réserve</a:t>
            </a:r>
          </a:p>
          <a:p>
            <a:pPr marL="0" indent="0">
              <a:buNone/>
            </a:pPr>
            <a:endParaRPr lang="fr-CA" dirty="0"/>
          </a:p>
        </p:txBody>
      </p:sp>
      <p:sp>
        <p:nvSpPr>
          <p:cNvPr id="4" name="Espace réservé du numéro de diapositive 3">
            <a:extLst>
              <a:ext uri="{FF2B5EF4-FFF2-40B4-BE49-F238E27FC236}">
                <a16:creationId xmlns:a16="http://schemas.microsoft.com/office/drawing/2014/main" id="{E279C091-128B-9A4A-94BC-F3A7B5CA9854}"/>
              </a:ext>
            </a:extLst>
          </p:cNvPr>
          <p:cNvSpPr>
            <a:spLocks noGrp="1"/>
          </p:cNvSpPr>
          <p:nvPr>
            <p:ph type="sldNum" sz="quarter" idx="12"/>
          </p:nvPr>
        </p:nvSpPr>
        <p:spPr/>
        <p:txBody>
          <a:bodyPr/>
          <a:lstStyle/>
          <a:p>
            <a:fld id="{CB0E5D99-33F0-8E4B-A561-48D81EB9177A}" type="slidenum">
              <a:rPr lang="fr-CA" smtClean="0"/>
              <a:t>23</a:t>
            </a:fld>
            <a:endParaRPr lang="fr-CA"/>
          </a:p>
        </p:txBody>
      </p:sp>
    </p:spTree>
    <p:extLst>
      <p:ext uri="{BB962C8B-B14F-4D97-AF65-F5344CB8AC3E}">
        <p14:creationId xmlns:p14="http://schemas.microsoft.com/office/powerpoint/2010/main" val="10633565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Acceptation de la mission</a:t>
            </a:r>
          </a:p>
        </p:txBody>
      </p:sp>
      <p:sp>
        <p:nvSpPr>
          <p:cNvPr id="3" name="Content Placeholder 2"/>
          <p:cNvSpPr>
            <a:spLocks noGrp="1"/>
          </p:cNvSpPr>
          <p:nvPr>
            <p:ph idx="1"/>
          </p:nvPr>
        </p:nvSpPr>
        <p:spPr>
          <a:xfrm>
            <a:off x="637200" y="1893600"/>
            <a:ext cx="10916400" cy="4223263"/>
          </a:xfrm>
        </p:spPr>
        <p:txBody>
          <a:bodyPr>
            <a:normAutofit/>
          </a:bodyPr>
          <a:lstStyle/>
          <a:p>
            <a:pPr marL="0" indent="0">
              <a:buNone/>
            </a:pPr>
            <a:r>
              <a:rPr lang="fr-CA" sz="2800" dirty="0"/>
              <a:t>Exemple :</a:t>
            </a:r>
          </a:p>
          <a:p>
            <a:r>
              <a:rPr lang="fr-CA" sz="2800" dirty="0"/>
              <a:t>On vous demande de faire une mission de certification d’une société privée alors que vous êtes conseiller sur les méthodes comptables de cette société depuis des années.</a:t>
            </a:r>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24</a:t>
            </a:fld>
            <a:endParaRPr lang="en-US" dirty="0"/>
          </a:p>
        </p:txBody>
      </p:sp>
    </p:spTree>
    <p:extLst>
      <p:ext uri="{BB962C8B-B14F-4D97-AF65-F5344CB8AC3E}">
        <p14:creationId xmlns:p14="http://schemas.microsoft.com/office/powerpoint/2010/main" val="24769730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Acceptation de la mission</a:t>
            </a:r>
          </a:p>
        </p:txBody>
      </p:sp>
      <p:sp>
        <p:nvSpPr>
          <p:cNvPr id="3" name="Content Placeholder 2"/>
          <p:cNvSpPr>
            <a:spLocks noGrp="1"/>
          </p:cNvSpPr>
          <p:nvPr>
            <p:ph idx="1"/>
          </p:nvPr>
        </p:nvSpPr>
        <p:spPr>
          <a:xfrm>
            <a:off x="638400" y="1875910"/>
            <a:ext cx="10035785" cy="4223263"/>
          </a:xfrm>
        </p:spPr>
        <p:txBody>
          <a:bodyPr>
            <a:normAutofit lnSpcReduction="10000"/>
          </a:bodyPr>
          <a:lstStyle/>
          <a:p>
            <a:pPr marL="0" indent="0">
              <a:buNone/>
            </a:pPr>
            <a:r>
              <a:rPr lang="fr-CA" sz="2800" dirty="0"/>
              <a:t>Exemple de réponse en profondeur :</a:t>
            </a:r>
          </a:p>
          <a:p>
            <a:r>
              <a:rPr lang="fr-CA" sz="2800" dirty="0"/>
              <a:t>Il y a un problème d’indépendance lié à l’acceptation de la mission d’audit. </a:t>
            </a:r>
            <a:r>
              <a:rPr lang="fr-CA" sz="2800" i="1" dirty="0"/>
              <a:t>(Identification)</a:t>
            </a:r>
          </a:p>
          <a:p>
            <a:r>
              <a:rPr lang="fr-CA" sz="2800" dirty="0"/>
              <a:t>Puisque nous avons aidé la société à établir ses méthodes comptables depuis plusieurs années à travers notre rôle de conseiller, nous nous trouverions à faire de l’autocontrôle lors de l’audit. Aux yeux d’un utilisateur des </a:t>
            </a:r>
            <a:r>
              <a:rPr lang="fr-CA" sz="2800" dirty="0" err="1"/>
              <a:t>ÉFs</a:t>
            </a:r>
            <a:r>
              <a:rPr lang="fr-CA" sz="2800" dirty="0"/>
              <a:t>, l’audit pourrait perdre de la valeur puisqu’il y a peu de chance que l’on choisisse de contredire des positions que nous avons prises nous-mêmes. </a:t>
            </a:r>
            <a:r>
              <a:rPr lang="fr-CA" sz="2800" i="1" dirty="0"/>
              <a:t>(Explication)</a:t>
            </a:r>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25</a:t>
            </a:fld>
            <a:endParaRPr lang="en-US" dirty="0"/>
          </a:p>
        </p:txBody>
      </p:sp>
    </p:spTree>
    <p:extLst>
      <p:ext uri="{BB962C8B-B14F-4D97-AF65-F5344CB8AC3E}">
        <p14:creationId xmlns:p14="http://schemas.microsoft.com/office/powerpoint/2010/main" val="14977915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Acceptation de la mission</a:t>
            </a:r>
          </a:p>
        </p:txBody>
      </p:sp>
      <p:sp>
        <p:nvSpPr>
          <p:cNvPr id="3" name="Content Placeholder 2"/>
          <p:cNvSpPr>
            <a:spLocks noGrp="1"/>
          </p:cNvSpPr>
          <p:nvPr>
            <p:ph idx="1"/>
          </p:nvPr>
        </p:nvSpPr>
        <p:spPr>
          <a:xfrm>
            <a:off x="638401" y="1872968"/>
            <a:ext cx="10915200" cy="4560489"/>
          </a:xfrm>
        </p:spPr>
        <p:txBody>
          <a:bodyPr>
            <a:normAutofit fontScale="92500"/>
          </a:bodyPr>
          <a:lstStyle/>
          <a:p>
            <a:r>
              <a:rPr lang="fr-CA" sz="2800" dirty="0"/>
              <a:t>Puisque la société est privée, il n’y a pas d’interdiction formelle à réaliser l’audit même lorsque l’on considère notre rôle de conseiller. Il nous faudrait toutefois mettre des sauvegardes en place pour ramener la menace sur l’indépendance à un niveau acceptable. </a:t>
            </a:r>
            <a:r>
              <a:rPr lang="fr-CA" sz="2800" i="1" dirty="0"/>
              <a:t>(Gravité)</a:t>
            </a:r>
          </a:p>
          <a:p>
            <a:r>
              <a:rPr lang="fr-CA" sz="2800" dirty="0"/>
              <a:t>Je recommande de faire signer un document à la direction indiquant qu’elle prend la responsabilité des méthodes comptables utilisées dans ses états financiers et d’affecter une équipe différente à l’audit de celle qui a été affectée à la mission de conseiller. </a:t>
            </a:r>
            <a:r>
              <a:rPr lang="fr-CA" sz="2800" i="1" dirty="0"/>
              <a:t>(Sauvegardes)</a:t>
            </a:r>
          </a:p>
          <a:p>
            <a:r>
              <a:rPr lang="fr-CA" sz="2800" dirty="0"/>
              <a:t>En mettant ces sauvegardes en place, nous pourrions accepter la mission d’audit. </a:t>
            </a:r>
            <a:r>
              <a:rPr lang="fr-CA" sz="2800" i="1" dirty="0"/>
              <a:t>(Conclusion)</a:t>
            </a:r>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26</a:t>
            </a:fld>
            <a:endParaRPr lang="en-US" dirty="0"/>
          </a:p>
        </p:txBody>
      </p:sp>
    </p:spTree>
    <p:extLst>
      <p:ext uri="{BB962C8B-B14F-4D97-AF65-F5344CB8AC3E}">
        <p14:creationId xmlns:p14="http://schemas.microsoft.com/office/powerpoint/2010/main" val="33806088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Planification de la mission</a:t>
            </a:r>
          </a:p>
        </p:txBody>
      </p:sp>
      <p:sp>
        <p:nvSpPr>
          <p:cNvPr id="3" name="Espace réservé du texte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27</a:t>
            </a:fld>
            <a:endParaRPr lang="en-US" dirty="0"/>
          </a:p>
        </p:txBody>
      </p:sp>
    </p:spTree>
    <p:extLst>
      <p:ext uri="{BB962C8B-B14F-4D97-AF65-F5344CB8AC3E}">
        <p14:creationId xmlns:p14="http://schemas.microsoft.com/office/powerpoint/2010/main" val="10776596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E4AAE4-7BBB-0843-9986-2215BC21B817}"/>
              </a:ext>
            </a:extLst>
          </p:cNvPr>
          <p:cNvSpPr>
            <a:spLocks noGrp="1"/>
          </p:cNvSpPr>
          <p:nvPr>
            <p:ph type="title"/>
          </p:nvPr>
        </p:nvSpPr>
        <p:spPr/>
        <p:txBody>
          <a:bodyPr>
            <a:normAutofit fontScale="90000"/>
          </a:bodyPr>
          <a:lstStyle/>
          <a:p>
            <a:r>
              <a:rPr lang="fr-CA" dirty="0"/>
              <a:t>Planification de la mission</a:t>
            </a:r>
          </a:p>
        </p:txBody>
      </p:sp>
      <p:sp>
        <p:nvSpPr>
          <p:cNvPr id="3" name="Espace réservé du numéro de diapositive 2">
            <a:extLst>
              <a:ext uri="{FF2B5EF4-FFF2-40B4-BE49-F238E27FC236}">
                <a16:creationId xmlns:a16="http://schemas.microsoft.com/office/drawing/2014/main" id="{A4BB9985-40E3-9B43-AE3E-4268B302FF74}"/>
              </a:ext>
            </a:extLst>
          </p:cNvPr>
          <p:cNvSpPr>
            <a:spLocks noGrp="1"/>
          </p:cNvSpPr>
          <p:nvPr>
            <p:ph type="sldNum" sz="quarter" idx="12"/>
          </p:nvPr>
        </p:nvSpPr>
        <p:spPr/>
        <p:txBody>
          <a:bodyPr/>
          <a:lstStyle/>
          <a:p>
            <a:fld id="{CB0E5D99-33F0-8E4B-A561-48D81EB9177A}" type="slidenum">
              <a:rPr lang="fr-CA" smtClean="0"/>
              <a:t>28</a:t>
            </a:fld>
            <a:endParaRPr lang="fr-CA"/>
          </a:p>
        </p:txBody>
      </p:sp>
      <p:sp>
        <p:nvSpPr>
          <p:cNvPr id="4" name="Espace réservé du contenu 3">
            <a:extLst>
              <a:ext uri="{FF2B5EF4-FFF2-40B4-BE49-F238E27FC236}">
                <a16:creationId xmlns:a16="http://schemas.microsoft.com/office/drawing/2014/main" id="{74D9737F-43FE-7243-83CC-99494B5A070A}"/>
              </a:ext>
            </a:extLst>
          </p:cNvPr>
          <p:cNvSpPr>
            <a:spLocks noGrp="1"/>
          </p:cNvSpPr>
          <p:nvPr>
            <p:ph idx="1"/>
          </p:nvPr>
        </p:nvSpPr>
        <p:spPr/>
        <p:txBody>
          <a:bodyPr/>
          <a:lstStyle/>
          <a:p>
            <a:pPr marL="0" indent="0">
              <a:buNone/>
            </a:pPr>
            <a:r>
              <a:rPr lang="fr-CA" sz="2600" dirty="0"/>
              <a:t>Structure généralement utilisée :</a:t>
            </a:r>
          </a:p>
          <a:p>
            <a:r>
              <a:rPr lang="fr-CA" sz="2600" dirty="0"/>
              <a:t>Analyse des risques</a:t>
            </a:r>
          </a:p>
          <a:p>
            <a:r>
              <a:rPr lang="fr-CA" sz="2600" dirty="0"/>
              <a:t>Seuil de signification et seuil de signification des travaux</a:t>
            </a:r>
          </a:p>
          <a:p>
            <a:r>
              <a:rPr lang="fr-CA" sz="2600" dirty="0"/>
              <a:t>Stratégie</a:t>
            </a:r>
          </a:p>
          <a:p>
            <a:endParaRPr lang="fr-CA" sz="2600" dirty="0"/>
          </a:p>
          <a:p>
            <a:pPr marL="0" indent="0">
              <a:buNone/>
            </a:pPr>
            <a:r>
              <a:rPr lang="fr-CA" sz="2600" dirty="0"/>
              <a:t>Attention à bien lire la demande !</a:t>
            </a:r>
          </a:p>
          <a:p>
            <a:endParaRPr lang="fr-CA" dirty="0"/>
          </a:p>
        </p:txBody>
      </p:sp>
    </p:spTree>
    <p:extLst>
      <p:ext uri="{BB962C8B-B14F-4D97-AF65-F5344CB8AC3E}">
        <p14:creationId xmlns:p14="http://schemas.microsoft.com/office/powerpoint/2010/main" val="13369690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a:t>Analyse des </a:t>
            </a:r>
            <a:r>
              <a:rPr lang="en-CA" dirty="0" err="1"/>
              <a:t>risques</a:t>
            </a:r>
            <a:endParaRPr lang="en-CA" dirty="0"/>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29</a:t>
            </a:fld>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fr-CA" sz="2400" b="1" dirty="0"/>
              <a:t>Discussion sur plusieurs risques</a:t>
            </a:r>
          </a:p>
          <a:p>
            <a:r>
              <a:rPr lang="fr-CA" sz="2400" i="1" dirty="0"/>
              <a:t>Risques liés à la mission (très peu mentionnés dans les guides de correction de l’EFC)</a:t>
            </a:r>
          </a:p>
          <a:p>
            <a:r>
              <a:rPr lang="fr-CA" sz="2600" u="sng" dirty="0"/>
              <a:t>Risques liés à l’entité et son environnement (RAS)</a:t>
            </a:r>
          </a:p>
          <a:p>
            <a:r>
              <a:rPr lang="fr-CA" sz="2400" dirty="0"/>
              <a:t>Risques liés à des catégories d’opérations, des soldes de comptes ou des informations à fournir</a:t>
            </a:r>
          </a:p>
          <a:p>
            <a:r>
              <a:rPr lang="fr-CA" sz="2400" dirty="0"/>
              <a:t>Rester vigilant au risque de fraude s’il y a lieu</a:t>
            </a:r>
          </a:p>
          <a:p>
            <a:endParaRPr lang="fr-CA" sz="2400" dirty="0"/>
          </a:p>
          <a:p>
            <a:pPr>
              <a:buFont typeface="Wingdings" pitchFamily="2" charset="2"/>
              <a:buChar char="Ø"/>
            </a:pPr>
            <a:r>
              <a:rPr lang="fr-CA" sz="2400" dirty="0"/>
              <a:t>Mentionner des facteurs qui augmentent le risque et des facteurs qui diminuent le risque</a:t>
            </a:r>
          </a:p>
          <a:p>
            <a:pPr>
              <a:buFont typeface="Wingdings" pitchFamily="2" charset="2"/>
              <a:buChar char="Ø"/>
            </a:pPr>
            <a:r>
              <a:rPr lang="fr-CA" sz="2400" dirty="0"/>
              <a:t>La profondeur dans la discussion sur les risques est la clé !</a:t>
            </a:r>
          </a:p>
          <a:p>
            <a:pPr lvl="1">
              <a:buFont typeface="Wingdings" pitchFamily="2" charset="2"/>
              <a:buChar char="Ø"/>
            </a:pPr>
            <a:endParaRPr lang="fr-CA" sz="2000" dirty="0"/>
          </a:p>
          <a:p>
            <a:pPr marL="0" indent="0">
              <a:buNone/>
            </a:pPr>
            <a:r>
              <a:rPr lang="fr-CA" sz="2400" b="1" dirty="0"/>
              <a:t>Conclusion </a:t>
            </a:r>
          </a:p>
          <a:p>
            <a:r>
              <a:rPr lang="fr-CA" sz="2400" dirty="0"/>
              <a:t>Avant ou après la discussion sur les risques</a:t>
            </a:r>
          </a:p>
          <a:p>
            <a:endParaRPr lang="en-CA" sz="2800" dirty="0"/>
          </a:p>
        </p:txBody>
      </p:sp>
    </p:spTree>
    <p:extLst>
      <p:ext uri="{BB962C8B-B14F-4D97-AF65-F5344CB8AC3E}">
        <p14:creationId xmlns:p14="http://schemas.microsoft.com/office/powerpoint/2010/main" val="26527561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CA" dirty="0"/>
              <a:t>Analyse des </a:t>
            </a:r>
            <a:r>
              <a:rPr lang="en-CA" dirty="0" err="1"/>
              <a:t>risques</a:t>
            </a:r>
            <a:endParaRPr lang="fr-CA" b="1" dirty="0"/>
          </a:p>
        </p:txBody>
      </p:sp>
      <p:sp>
        <p:nvSpPr>
          <p:cNvPr id="3" name="Espace réservé du contenu 2"/>
          <p:cNvSpPr>
            <a:spLocks noGrp="1"/>
          </p:cNvSpPr>
          <p:nvPr>
            <p:ph idx="1"/>
          </p:nvPr>
        </p:nvSpPr>
        <p:spPr>
          <a:xfrm>
            <a:off x="1228725" y="2346964"/>
            <a:ext cx="9872871" cy="4038600"/>
          </a:xfrm>
        </p:spPr>
        <p:txBody>
          <a:bodyPr/>
          <a:lstStyle/>
          <a:p>
            <a:pPr marL="45720" indent="0">
              <a:buNone/>
            </a:pPr>
            <a:endParaRPr lang="fr-CA" dirty="0"/>
          </a:p>
          <a:p>
            <a:pPr marL="45720" indent="0" algn="ctr">
              <a:buNone/>
            </a:pPr>
            <a:r>
              <a:rPr lang="fr-CA" sz="3600" b="1" dirty="0"/>
              <a:t>RA   =   RAS   X   RND</a:t>
            </a:r>
          </a:p>
        </p:txBody>
      </p:sp>
      <p:sp>
        <p:nvSpPr>
          <p:cNvPr id="5" name="Espace réservé du numéro de diapositive 4"/>
          <p:cNvSpPr>
            <a:spLocks noGrp="1"/>
          </p:cNvSpPr>
          <p:nvPr>
            <p:ph type="sldNum" sz="quarter" idx="12"/>
          </p:nvPr>
        </p:nvSpPr>
        <p:spPr/>
        <p:txBody>
          <a:bodyPr/>
          <a:lstStyle/>
          <a:p>
            <a:fld id="{AC6A126F-ECAD-40CF-950D-291D558E4DF6}" type="slidenum">
              <a:rPr lang="fr-CA" smtClean="0"/>
              <a:t>30</a:t>
            </a:fld>
            <a:endParaRPr lang="fr-CA"/>
          </a:p>
        </p:txBody>
      </p:sp>
      <p:cxnSp>
        <p:nvCxnSpPr>
          <p:cNvPr id="7" name="Connecteur droit avec flèche 6"/>
          <p:cNvCxnSpPr/>
          <p:nvPr/>
        </p:nvCxnSpPr>
        <p:spPr>
          <a:xfrm>
            <a:off x="6007608" y="3444244"/>
            <a:ext cx="549603" cy="7628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flipH="1">
            <a:off x="5452553" y="3444244"/>
            <a:ext cx="555055" cy="762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ZoneTexte 14"/>
          <p:cNvSpPr txBox="1"/>
          <p:nvPr/>
        </p:nvSpPr>
        <p:spPr>
          <a:xfrm>
            <a:off x="5200652" y="4207045"/>
            <a:ext cx="463588" cy="461665"/>
          </a:xfrm>
          <a:prstGeom prst="rect">
            <a:avLst/>
          </a:prstGeom>
          <a:noFill/>
        </p:spPr>
        <p:txBody>
          <a:bodyPr wrap="none" rtlCol="0">
            <a:spAutoFit/>
          </a:bodyPr>
          <a:lstStyle/>
          <a:p>
            <a:r>
              <a:rPr lang="fr-CA" sz="2400" b="1" dirty="0">
                <a:solidFill>
                  <a:schemeClr val="accent1"/>
                </a:solidFill>
              </a:rPr>
              <a:t>RI</a:t>
            </a:r>
          </a:p>
        </p:txBody>
      </p:sp>
      <p:sp>
        <p:nvSpPr>
          <p:cNvPr id="16" name="ZoneTexte 15"/>
          <p:cNvSpPr txBox="1"/>
          <p:nvPr/>
        </p:nvSpPr>
        <p:spPr>
          <a:xfrm>
            <a:off x="6364425" y="4207045"/>
            <a:ext cx="878305" cy="461665"/>
          </a:xfrm>
          <a:prstGeom prst="rect">
            <a:avLst/>
          </a:prstGeom>
          <a:noFill/>
        </p:spPr>
        <p:txBody>
          <a:bodyPr wrap="square" rtlCol="0">
            <a:spAutoFit/>
          </a:bodyPr>
          <a:lstStyle/>
          <a:p>
            <a:r>
              <a:rPr lang="fr-CA" sz="2400" b="1" dirty="0">
                <a:solidFill>
                  <a:schemeClr val="accent1"/>
                </a:solidFill>
              </a:rPr>
              <a:t>RLC</a:t>
            </a:r>
          </a:p>
        </p:txBody>
      </p:sp>
      <p:cxnSp>
        <p:nvCxnSpPr>
          <p:cNvPr id="10" name="Connecteur droit 9"/>
          <p:cNvCxnSpPr/>
          <p:nvPr/>
        </p:nvCxnSpPr>
        <p:spPr>
          <a:xfrm>
            <a:off x="3214688" y="2566232"/>
            <a:ext cx="0" cy="2386772"/>
          </a:xfrm>
          <a:prstGeom prst="line">
            <a:avLst/>
          </a:prstGeom>
          <a:ln w="38100">
            <a:solidFill>
              <a:schemeClr val="accent1"/>
            </a:solidFill>
          </a:ln>
        </p:spPr>
        <p:style>
          <a:lnRef idx="2">
            <a:schemeClr val="accent3"/>
          </a:lnRef>
          <a:fillRef idx="0">
            <a:schemeClr val="accent3"/>
          </a:fillRef>
          <a:effectRef idx="1">
            <a:schemeClr val="accent3"/>
          </a:effectRef>
          <a:fontRef idx="minor">
            <a:schemeClr val="tx1"/>
          </a:fontRef>
        </p:style>
      </p:cxnSp>
      <p:cxnSp>
        <p:nvCxnSpPr>
          <p:cNvPr id="13" name="Connecteur droit 12"/>
          <p:cNvCxnSpPr/>
          <p:nvPr/>
        </p:nvCxnSpPr>
        <p:spPr>
          <a:xfrm>
            <a:off x="3200400" y="4953004"/>
            <a:ext cx="594637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Connecteur droit 16"/>
          <p:cNvCxnSpPr/>
          <p:nvPr/>
        </p:nvCxnSpPr>
        <p:spPr>
          <a:xfrm>
            <a:off x="3200400" y="2547941"/>
            <a:ext cx="5948596" cy="18291"/>
          </a:xfrm>
          <a:prstGeom prst="line">
            <a:avLst/>
          </a:prstGeom>
          <a:ln w="38100">
            <a:solidFill>
              <a:srgbClr val="415A99"/>
            </a:solidFill>
          </a:ln>
        </p:spPr>
        <p:style>
          <a:lnRef idx="1">
            <a:schemeClr val="accent1"/>
          </a:lnRef>
          <a:fillRef idx="0">
            <a:schemeClr val="accent1"/>
          </a:fillRef>
          <a:effectRef idx="0">
            <a:schemeClr val="accent1"/>
          </a:effectRef>
          <a:fontRef idx="minor">
            <a:schemeClr val="tx1"/>
          </a:fontRef>
        </p:style>
      </p:cxnSp>
      <p:cxnSp>
        <p:nvCxnSpPr>
          <p:cNvPr id="18" name="Connecteur droit 17"/>
          <p:cNvCxnSpPr/>
          <p:nvPr/>
        </p:nvCxnSpPr>
        <p:spPr>
          <a:xfrm>
            <a:off x="9146772" y="2564134"/>
            <a:ext cx="19434" cy="238887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ZoneTexte 11"/>
          <p:cNvSpPr txBox="1"/>
          <p:nvPr/>
        </p:nvSpPr>
        <p:spPr>
          <a:xfrm>
            <a:off x="3276600" y="1888067"/>
            <a:ext cx="5748867" cy="533400"/>
          </a:xfrm>
          <a:prstGeom prst="rect">
            <a:avLst/>
          </a:prstGeom>
        </p:spPr>
        <p:txBody>
          <a:bodyPr vert="horz" wrap="square" lIns="91440" tIns="45720" rIns="91440" bIns="45720" rtlCol="0">
            <a:normAutofit/>
          </a:bodyPr>
          <a:lstStyle/>
          <a:p>
            <a:pPr algn="ctr">
              <a:buClr>
                <a:schemeClr val="accent2"/>
              </a:buClr>
              <a:buSzPct val="125000"/>
            </a:pPr>
            <a:r>
              <a:rPr lang="fr-CA" sz="2400" dirty="0"/>
              <a:t>Le modèle de risque en audit</a:t>
            </a:r>
          </a:p>
        </p:txBody>
      </p:sp>
    </p:spTree>
    <p:extLst>
      <p:ext uri="{BB962C8B-B14F-4D97-AF65-F5344CB8AC3E}">
        <p14:creationId xmlns:p14="http://schemas.microsoft.com/office/powerpoint/2010/main" val="8010625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32012" y="171331"/>
            <a:ext cx="11791666" cy="702126"/>
          </a:xfrm>
        </p:spPr>
        <p:txBody>
          <a:bodyPr>
            <a:normAutofit/>
          </a:bodyPr>
          <a:lstStyle/>
          <a:p>
            <a:r>
              <a:rPr lang="fr-CA" sz="2800" b="1" dirty="0"/>
              <a:t>Apprécier le RA </a:t>
            </a:r>
            <a:r>
              <a:rPr lang="fr-CA" sz="3200" b="1" dirty="0"/>
              <a:t>– facteurs à considérer</a:t>
            </a:r>
          </a:p>
        </p:txBody>
      </p:sp>
      <p:sp>
        <p:nvSpPr>
          <p:cNvPr id="4" name="Espace réservé du numéro de diapositive 3"/>
          <p:cNvSpPr>
            <a:spLocks noGrp="1"/>
          </p:cNvSpPr>
          <p:nvPr>
            <p:ph type="sldNum" sz="quarter" idx="12"/>
          </p:nvPr>
        </p:nvSpPr>
        <p:spPr>
          <a:xfrm>
            <a:off x="9205416" y="6594004"/>
            <a:ext cx="2743200" cy="24116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6A126F-ECAD-40CF-950D-291D558E4DF6}" type="slidenum">
              <a:rPr kumimoji="0" lang="fr-C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fr-C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ZoneTexte 4"/>
          <p:cNvSpPr txBox="1"/>
          <p:nvPr/>
        </p:nvSpPr>
        <p:spPr>
          <a:xfrm>
            <a:off x="243384" y="713071"/>
            <a:ext cx="11780294" cy="5684835"/>
          </a:xfrm>
          <a:prstGeom prst="rect">
            <a:avLst/>
          </a:prstGeom>
          <a:noFill/>
        </p:spPr>
        <p:txBody>
          <a:bodyPr wrap="square" rtlCol="0">
            <a:noAutofit/>
          </a:bodyPr>
          <a:lstStyle/>
          <a:p>
            <a:pPr marL="342900" lvl="0" indent="-342900">
              <a:buFont typeface="Wingdings" panose="05000000000000000000" pitchFamily="2" charset="2"/>
              <a:buChar char="Ø"/>
              <a:defRPr/>
            </a:pPr>
            <a:endParaRPr lang="fr-CA" sz="2400" b="1" dirty="0">
              <a:solidFill>
                <a:prstClr val="black"/>
              </a:solidFill>
            </a:endParaRPr>
          </a:p>
          <a:p>
            <a:pPr marL="342900" lvl="0" indent="-342900">
              <a:buFont typeface="Arial" charset="0"/>
              <a:buChar char="•"/>
              <a:defRPr/>
            </a:pPr>
            <a:r>
              <a:rPr lang="fr-CA" sz="2000" b="1" dirty="0">
                <a:solidFill>
                  <a:prstClr val="black"/>
                </a:solidFill>
                <a:latin typeface="Arial" charset="0"/>
                <a:ea typeface="Arial" charset="0"/>
                <a:cs typeface="Arial" charset="0"/>
              </a:rPr>
              <a:t>Utilisateurs des </a:t>
            </a:r>
            <a:r>
              <a:rPr lang="fr-CA" sz="2000" b="1" dirty="0" err="1">
                <a:solidFill>
                  <a:prstClr val="black"/>
                </a:solidFill>
                <a:latin typeface="Arial" charset="0"/>
                <a:ea typeface="Arial" charset="0"/>
                <a:cs typeface="Arial" charset="0"/>
              </a:rPr>
              <a:t>ÉFs</a:t>
            </a:r>
            <a:r>
              <a:rPr lang="fr-CA" sz="2000" b="1" dirty="0">
                <a:solidFill>
                  <a:prstClr val="black"/>
                </a:solidFill>
                <a:latin typeface="Arial" charset="0"/>
                <a:ea typeface="Arial" charset="0"/>
                <a:cs typeface="Arial" charset="0"/>
              </a:rPr>
              <a:t> – importance des </a:t>
            </a:r>
            <a:r>
              <a:rPr lang="fr-CA" sz="2000" b="1" dirty="0" err="1">
                <a:solidFill>
                  <a:prstClr val="black"/>
                </a:solidFill>
                <a:latin typeface="Arial" charset="0"/>
                <a:ea typeface="Arial" charset="0"/>
                <a:cs typeface="Arial" charset="0"/>
              </a:rPr>
              <a:t>ÉFs</a:t>
            </a:r>
            <a:r>
              <a:rPr lang="fr-CA" sz="2000" b="1" dirty="0">
                <a:solidFill>
                  <a:prstClr val="black"/>
                </a:solidFill>
                <a:latin typeface="Arial" charset="0"/>
                <a:ea typeface="Arial" charset="0"/>
                <a:cs typeface="Arial" charset="0"/>
              </a:rPr>
              <a:t> pour les utilisateurs </a:t>
            </a:r>
          </a:p>
          <a:p>
            <a:pPr marL="800100" lvl="1" indent="-342900">
              <a:buFont typeface="Arial" charset="0"/>
              <a:buChar char="•"/>
              <a:defRPr/>
            </a:pPr>
            <a:r>
              <a:rPr lang="fr-CA" sz="2000" dirty="0">
                <a:solidFill>
                  <a:prstClr val="black"/>
                </a:solidFill>
                <a:latin typeface="Arial" charset="0"/>
                <a:ea typeface="Arial" charset="0"/>
                <a:cs typeface="Arial" charset="0"/>
              </a:rPr>
              <a:t>Utilisateur(s) spécifique(s)</a:t>
            </a:r>
          </a:p>
          <a:p>
            <a:pPr marL="800100" lvl="1" indent="-342900">
              <a:buFont typeface="Arial" charset="0"/>
              <a:buChar char="•"/>
              <a:defRPr/>
            </a:pPr>
            <a:r>
              <a:rPr lang="fr-CA" sz="2000" dirty="0">
                <a:solidFill>
                  <a:prstClr val="black"/>
                </a:solidFill>
                <a:latin typeface="Arial" charset="0"/>
                <a:ea typeface="Arial" charset="0"/>
                <a:cs typeface="Arial" charset="0"/>
              </a:rPr>
              <a:t>Diffusion élargie (E cotée)</a:t>
            </a:r>
          </a:p>
          <a:p>
            <a:pPr marL="800100" lvl="1" indent="-342900">
              <a:buFont typeface="Arial" charset="0"/>
              <a:buChar char="•"/>
              <a:defRPr/>
            </a:pPr>
            <a:r>
              <a:rPr lang="fr-CA" sz="2000" dirty="0">
                <a:solidFill>
                  <a:prstClr val="black"/>
                </a:solidFill>
                <a:latin typeface="Arial" charset="0"/>
                <a:ea typeface="Arial" charset="0"/>
                <a:cs typeface="Arial" charset="0"/>
              </a:rPr>
              <a:t>Décision imminente basée sur ÉF</a:t>
            </a:r>
          </a:p>
          <a:p>
            <a:pPr marL="342900" marR="0" lvl="0" indent="-342900" algn="l" defTabSz="914400" rtl="0" eaLnBrk="1" fontAlgn="auto" latinLnBrk="0" hangingPunct="1">
              <a:lnSpc>
                <a:spcPct val="100000"/>
              </a:lnSpc>
              <a:spcBef>
                <a:spcPts val="0"/>
              </a:spcBef>
              <a:spcAft>
                <a:spcPts val="0"/>
              </a:spcAft>
              <a:buClrTx/>
              <a:buSzTx/>
              <a:buFont typeface="Arial" charset="0"/>
              <a:buChar char="•"/>
              <a:tabLst/>
              <a:defRPr/>
            </a:pPr>
            <a:endParaRPr kumimoji="0" lang="fr-CA" sz="2000" b="1" i="0" u="none" strike="noStrike" kern="1200" cap="none" spc="0" normalizeH="0" baseline="0" noProof="0" dirty="0">
              <a:ln>
                <a:noFill/>
              </a:ln>
              <a:solidFill>
                <a:prstClr val="black"/>
              </a:solidFill>
              <a:effectLst/>
              <a:uLnTx/>
              <a:uFillTx/>
              <a:latin typeface="Arial" charset="0"/>
              <a:ea typeface="Arial" charset="0"/>
              <a:cs typeface="Arial" charset="0"/>
            </a:endParaRPr>
          </a:p>
          <a:p>
            <a:pPr marL="342900" marR="0" lvl="0" indent="-342900" algn="l" defTabSz="914400" rtl="0" eaLnBrk="1" fontAlgn="auto" latinLnBrk="0" hangingPunct="1">
              <a:lnSpc>
                <a:spcPct val="100000"/>
              </a:lnSpc>
              <a:spcBef>
                <a:spcPts val="0"/>
              </a:spcBef>
              <a:spcAft>
                <a:spcPts val="0"/>
              </a:spcAft>
              <a:buClrTx/>
              <a:buSzTx/>
              <a:buFont typeface="Arial" charset="0"/>
              <a:buChar char="•"/>
              <a:tabLst/>
              <a:defRPr/>
            </a:pPr>
            <a:r>
              <a:rPr kumimoji="0" lang="fr-CA" sz="2000" b="1" i="0" u="none" strike="noStrike" kern="1200" cap="none" spc="0" normalizeH="0" baseline="0" noProof="0" dirty="0">
                <a:ln>
                  <a:noFill/>
                </a:ln>
                <a:solidFill>
                  <a:prstClr val="black"/>
                </a:solidFill>
                <a:effectLst/>
                <a:uLnTx/>
                <a:uFillTx/>
                <a:latin typeface="Arial" charset="0"/>
                <a:ea typeface="Arial" charset="0"/>
                <a:cs typeface="Arial" charset="0"/>
              </a:rPr>
              <a:t>Intégrité de </a:t>
            </a:r>
            <a:r>
              <a:rPr lang="fr-CA" sz="2000" b="1" dirty="0">
                <a:solidFill>
                  <a:prstClr val="black"/>
                </a:solidFill>
                <a:latin typeface="Arial" charset="0"/>
                <a:ea typeface="Arial" charset="0"/>
                <a:cs typeface="Arial" charset="0"/>
              </a:rPr>
              <a:t>la direction – degré de confiance dans les </a:t>
            </a:r>
            <a:r>
              <a:rPr lang="fr-CA" sz="2000" b="1" dirty="0" err="1">
                <a:solidFill>
                  <a:prstClr val="black"/>
                </a:solidFill>
                <a:latin typeface="Arial" charset="0"/>
                <a:ea typeface="Arial" charset="0"/>
                <a:cs typeface="Arial" charset="0"/>
              </a:rPr>
              <a:t>ÉFs</a:t>
            </a:r>
            <a:endParaRPr lang="fr-CA" sz="2000" b="1" dirty="0">
              <a:solidFill>
                <a:prstClr val="black"/>
              </a:solidFill>
              <a:latin typeface="Arial" charset="0"/>
              <a:ea typeface="Arial" charset="0"/>
              <a:cs typeface="Arial" charset="0"/>
            </a:endParaRPr>
          </a:p>
          <a:p>
            <a:pPr marL="800100" marR="0" lvl="1" indent="-342900" algn="l" defTabSz="914400" rtl="0" eaLnBrk="1" fontAlgn="auto" latinLnBrk="0" hangingPunct="1">
              <a:lnSpc>
                <a:spcPct val="100000"/>
              </a:lnSpc>
              <a:spcBef>
                <a:spcPts val="0"/>
              </a:spcBef>
              <a:spcAft>
                <a:spcPts val="0"/>
              </a:spcAft>
              <a:buClrTx/>
              <a:buSzTx/>
              <a:buFont typeface="Arial" charset="0"/>
              <a:buChar char="•"/>
              <a:tabLst/>
              <a:defRPr/>
            </a:pPr>
            <a:r>
              <a:rPr kumimoji="0" lang="fr-CA" sz="2000" b="0" i="0" u="none" strike="noStrike" kern="1200" cap="none" spc="0" normalizeH="0" baseline="0" noProof="0" dirty="0">
                <a:ln>
                  <a:noFill/>
                </a:ln>
                <a:solidFill>
                  <a:prstClr val="black"/>
                </a:solidFill>
                <a:effectLst/>
                <a:uLnTx/>
                <a:uFillTx/>
                <a:latin typeface="Arial" charset="0"/>
                <a:ea typeface="Arial" charset="0"/>
                <a:cs typeface="Arial" charset="0"/>
              </a:rPr>
              <a:t>Transaction imminente</a:t>
            </a:r>
          </a:p>
          <a:p>
            <a:pPr marL="800100" marR="0" lvl="1" indent="-342900" algn="l" defTabSz="914400" rtl="0" eaLnBrk="1" fontAlgn="auto" latinLnBrk="0" hangingPunct="1">
              <a:lnSpc>
                <a:spcPct val="100000"/>
              </a:lnSpc>
              <a:spcBef>
                <a:spcPts val="0"/>
              </a:spcBef>
              <a:spcAft>
                <a:spcPts val="0"/>
              </a:spcAft>
              <a:buClrTx/>
              <a:buSzTx/>
              <a:buFont typeface="Arial" charset="0"/>
              <a:buChar char="•"/>
              <a:tabLst/>
              <a:defRPr/>
            </a:pPr>
            <a:r>
              <a:rPr kumimoji="0" lang="fr-CA" sz="2000" b="0" i="0" u="none" strike="noStrike" kern="1200" cap="none" spc="0" normalizeH="0" baseline="0" noProof="0" dirty="0">
                <a:ln>
                  <a:noFill/>
                </a:ln>
                <a:solidFill>
                  <a:prstClr val="black"/>
                </a:solidFill>
                <a:effectLst/>
                <a:uLnTx/>
                <a:uFillTx/>
                <a:latin typeface="Arial" charset="0"/>
                <a:ea typeface="Arial" charset="0"/>
                <a:cs typeface="Arial" charset="0"/>
              </a:rPr>
              <a:t>Dirigeants dépendent de l’entité ($)</a:t>
            </a:r>
          </a:p>
          <a:p>
            <a:pPr marL="800100" marR="0" lvl="1" indent="-342900" algn="l" defTabSz="914400" rtl="0" eaLnBrk="1" fontAlgn="auto" latinLnBrk="0" hangingPunct="1">
              <a:lnSpc>
                <a:spcPct val="100000"/>
              </a:lnSpc>
              <a:spcBef>
                <a:spcPts val="0"/>
              </a:spcBef>
              <a:spcAft>
                <a:spcPts val="0"/>
              </a:spcAft>
              <a:buClrTx/>
              <a:buSzTx/>
              <a:buFont typeface="Arial" charset="0"/>
              <a:buChar char="•"/>
              <a:tabLst/>
              <a:defRPr/>
            </a:pPr>
            <a:r>
              <a:rPr kumimoji="0" lang="fr-CA" sz="2000" b="0" i="0" u="none" strike="noStrike" kern="1200" cap="none" spc="0" normalizeH="0" baseline="0" noProof="0" dirty="0">
                <a:ln>
                  <a:noFill/>
                </a:ln>
                <a:solidFill>
                  <a:prstClr val="black"/>
                </a:solidFill>
                <a:effectLst/>
                <a:uLnTx/>
                <a:uFillTx/>
                <a:latin typeface="Arial" charset="0"/>
                <a:ea typeface="Arial" charset="0"/>
                <a:cs typeface="Arial" charset="0"/>
              </a:rPr>
              <a:t>Enquête des autorités</a:t>
            </a:r>
          </a:p>
          <a:p>
            <a:pPr marL="800100" marR="0" lvl="1" indent="-342900" algn="l" defTabSz="914400" rtl="0" eaLnBrk="1" fontAlgn="auto" latinLnBrk="0" hangingPunct="1">
              <a:lnSpc>
                <a:spcPct val="100000"/>
              </a:lnSpc>
              <a:spcBef>
                <a:spcPts val="0"/>
              </a:spcBef>
              <a:spcAft>
                <a:spcPts val="0"/>
              </a:spcAft>
              <a:buClrTx/>
              <a:buSzTx/>
              <a:buFont typeface="Arial" charset="0"/>
              <a:buChar char="•"/>
              <a:tabLst/>
              <a:defRPr/>
            </a:pPr>
            <a:endParaRPr kumimoji="0" lang="fr-CA" sz="2000" b="0" i="0" u="none" strike="noStrike" kern="1200" cap="none" spc="0" normalizeH="0" baseline="0" noProof="0" dirty="0">
              <a:ln>
                <a:noFill/>
              </a:ln>
              <a:solidFill>
                <a:prstClr val="black"/>
              </a:solidFill>
              <a:effectLst/>
              <a:uLnTx/>
              <a:uFillTx/>
              <a:latin typeface="Arial" charset="0"/>
              <a:ea typeface="Arial" charset="0"/>
              <a:cs typeface="Arial" charset="0"/>
            </a:endParaRPr>
          </a:p>
          <a:p>
            <a:pPr marL="342900" marR="0" lvl="0" indent="-342900" algn="l" defTabSz="914400" rtl="0" eaLnBrk="1" fontAlgn="auto" latinLnBrk="0" hangingPunct="1">
              <a:lnSpc>
                <a:spcPct val="100000"/>
              </a:lnSpc>
              <a:spcBef>
                <a:spcPts val="0"/>
              </a:spcBef>
              <a:spcAft>
                <a:spcPts val="0"/>
              </a:spcAft>
              <a:buClrTx/>
              <a:buSzTx/>
              <a:buFont typeface="Arial" charset="0"/>
              <a:buChar char="•"/>
              <a:tabLst/>
              <a:defRPr/>
            </a:pPr>
            <a:r>
              <a:rPr lang="fr-CA" sz="2000" b="1" dirty="0">
                <a:solidFill>
                  <a:prstClr val="black"/>
                </a:solidFill>
                <a:latin typeface="Arial" charset="0"/>
                <a:ea typeface="Arial" charset="0"/>
                <a:cs typeface="Arial" charset="0"/>
              </a:rPr>
              <a:t>Situation financière de l’entité *$$$*</a:t>
            </a:r>
          </a:p>
          <a:p>
            <a:pPr marL="342900" marR="0" lvl="0" indent="-342900" algn="l" defTabSz="914400" rtl="0" eaLnBrk="1" fontAlgn="auto" latinLnBrk="0" hangingPunct="1">
              <a:lnSpc>
                <a:spcPct val="100000"/>
              </a:lnSpc>
              <a:spcBef>
                <a:spcPts val="0"/>
              </a:spcBef>
              <a:spcAft>
                <a:spcPts val="0"/>
              </a:spcAft>
              <a:buClrTx/>
              <a:buSzTx/>
              <a:buFont typeface="Arial" charset="0"/>
              <a:buChar char="•"/>
              <a:tabLst/>
              <a:defRPr/>
            </a:pPr>
            <a:endParaRPr kumimoji="0" lang="fr-CA" sz="2000" b="1" i="0" u="none" strike="noStrike" kern="1200" cap="none" spc="0" normalizeH="0" baseline="0" noProof="0" dirty="0">
              <a:ln>
                <a:noFill/>
              </a:ln>
              <a:solidFill>
                <a:prstClr val="black"/>
              </a:solidFill>
              <a:effectLst/>
              <a:uLnTx/>
              <a:uFillTx/>
              <a:latin typeface="Arial" charset="0"/>
              <a:ea typeface="Arial" charset="0"/>
              <a:cs typeface="Arial" charset="0"/>
            </a:endParaRPr>
          </a:p>
          <a:p>
            <a:pPr marL="342900" marR="0" lvl="0" indent="-342900" algn="l" defTabSz="914400" rtl="0" eaLnBrk="1" fontAlgn="auto" latinLnBrk="0" hangingPunct="1">
              <a:lnSpc>
                <a:spcPct val="100000"/>
              </a:lnSpc>
              <a:spcBef>
                <a:spcPts val="0"/>
              </a:spcBef>
              <a:spcAft>
                <a:spcPts val="0"/>
              </a:spcAft>
              <a:buClrTx/>
              <a:buSzTx/>
              <a:buFont typeface="Arial" charset="0"/>
              <a:buChar char="•"/>
              <a:tabLst/>
              <a:defRPr/>
            </a:pPr>
            <a:r>
              <a:rPr lang="fr-CA" sz="2000" b="1" dirty="0">
                <a:solidFill>
                  <a:prstClr val="black"/>
                </a:solidFill>
                <a:latin typeface="Arial" charset="0"/>
                <a:ea typeface="Arial" charset="0"/>
                <a:cs typeface="Arial" charset="0"/>
              </a:rPr>
              <a:t>Exécution de la mission – degré de complexité pour l’auditeur</a:t>
            </a:r>
          </a:p>
          <a:p>
            <a:pPr marL="800100" marR="0" lvl="1" indent="-342900" algn="l" defTabSz="914400" rtl="0" eaLnBrk="1" fontAlgn="auto" latinLnBrk="0" hangingPunct="1">
              <a:lnSpc>
                <a:spcPct val="100000"/>
              </a:lnSpc>
              <a:spcBef>
                <a:spcPts val="0"/>
              </a:spcBef>
              <a:spcAft>
                <a:spcPts val="0"/>
              </a:spcAft>
              <a:buClrTx/>
              <a:buSzTx/>
              <a:buFont typeface="Arial" charset="0"/>
              <a:buChar char="•"/>
              <a:tabLst/>
              <a:defRPr/>
            </a:pPr>
            <a:r>
              <a:rPr kumimoji="0" lang="fr-CA" sz="2000" b="0" i="0" u="none" strike="noStrike" kern="1200" cap="none" spc="0" normalizeH="0" baseline="0" noProof="0" dirty="0">
                <a:ln>
                  <a:noFill/>
                </a:ln>
                <a:solidFill>
                  <a:prstClr val="black"/>
                </a:solidFill>
                <a:effectLst/>
                <a:uLnTx/>
                <a:uFillTx/>
                <a:latin typeface="Arial" charset="0"/>
                <a:ea typeface="Arial" charset="0"/>
                <a:cs typeface="Arial" charset="0"/>
              </a:rPr>
              <a:t>Complexité de l’audit, éparpillement </a:t>
            </a:r>
          </a:p>
          <a:p>
            <a:pPr marL="800100" marR="0" lvl="1" indent="-342900" algn="l" defTabSz="914400" rtl="0" eaLnBrk="1" fontAlgn="auto" latinLnBrk="0" hangingPunct="1">
              <a:lnSpc>
                <a:spcPct val="100000"/>
              </a:lnSpc>
              <a:spcBef>
                <a:spcPts val="0"/>
              </a:spcBef>
              <a:spcAft>
                <a:spcPts val="0"/>
              </a:spcAft>
              <a:buClrTx/>
              <a:buSzTx/>
              <a:buFont typeface="Arial" charset="0"/>
              <a:buChar char="•"/>
              <a:tabLst/>
              <a:defRPr/>
            </a:pPr>
            <a:r>
              <a:rPr kumimoji="0" lang="fr-CA" sz="2000" b="0" i="0" u="none" strike="noStrike" kern="1200" cap="none" spc="0" normalizeH="0" baseline="0" noProof="0" dirty="0">
                <a:ln>
                  <a:noFill/>
                </a:ln>
                <a:solidFill>
                  <a:prstClr val="black"/>
                </a:solidFill>
                <a:effectLst/>
                <a:uLnTx/>
                <a:uFillTx/>
                <a:latin typeface="Arial" charset="0"/>
                <a:ea typeface="Arial" charset="0"/>
                <a:cs typeface="Arial" charset="0"/>
              </a:rPr>
              <a:t>Audit initial</a:t>
            </a:r>
          </a:p>
          <a:p>
            <a:pPr>
              <a:defRPr/>
            </a:pPr>
            <a:endParaRPr kumimoji="0" lang="fr-CA"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Organigramme : Alternative 6"/>
          <p:cNvSpPr/>
          <p:nvPr/>
        </p:nvSpPr>
        <p:spPr>
          <a:xfrm>
            <a:off x="5599645" y="3555488"/>
            <a:ext cx="6263385" cy="66693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b="1" i="0" u="none" strike="noStrike" kern="1200" cap="none" spc="0" normalizeH="0" baseline="0" noProof="0" dirty="0">
                <a:ln>
                  <a:noFill/>
                </a:ln>
                <a:solidFill>
                  <a:prstClr val="white"/>
                </a:solidFill>
                <a:effectLst/>
                <a:uLnTx/>
                <a:uFillTx/>
                <a:latin typeface="Arial" charset="0"/>
                <a:ea typeface="Arial" charset="0"/>
                <a:cs typeface="Arial" charset="0"/>
              </a:rPr>
              <a:t>Ex. Motifs pour embellir les EF</a:t>
            </a:r>
            <a:endParaRPr kumimoji="0" lang="fr-CA" b="0" i="0" u="none" strike="noStrike" kern="1200" cap="none" spc="0" normalizeH="0" baseline="0" noProof="0" dirty="0">
              <a:ln>
                <a:noFill/>
              </a:ln>
              <a:solidFill>
                <a:prstClr val="white"/>
              </a:solidFill>
              <a:effectLst/>
              <a:uLnTx/>
              <a:uFillTx/>
              <a:latin typeface="Arial" charset="0"/>
              <a:ea typeface="Arial" charset="0"/>
              <a:cs typeface="Arial"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b="1" i="0" u="none" strike="noStrike" kern="1200" cap="none" spc="0" normalizeH="0" baseline="0" noProof="0" dirty="0">
                <a:ln>
                  <a:noFill/>
                </a:ln>
                <a:solidFill>
                  <a:prstClr val="white"/>
                </a:solidFill>
                <a:effectLst/>
                <a:uLnTx/>
                <a:uFillTx/>
                <a:latin typeface="Arial" charset="0"/>
                <a:ea typeface="Arial" charset="0"/>
                <a:cs typeface="Arial" charset="0"/>
                <a:sym typeface="Wingdings" panose="05000000000000000000" pitchFamily="2" charset="2"/>
              </a:rPr>
              <a:t> </a:t>
            </a:r>
            <a:r>
              <a:rPr kumimoji="0" lang="fr-CA" b="1" i="0" u="none" strike="noStrike" kern="1200" cap="none" spc="0" normalizeH="0" baseline="0" noProof="0" dirty="0">
                <a:ln>
                  <a:noFill/>
                </a:ln>
                <a:solidFill>
                  <a:prstClr val="white"/>
                </a:solidFill>
                <a:effectLst/>
                <a:uLnTx/>
                <a:uFillTx/>
                <a:latin typeface="Arial" charset="0"/>
                <a:ea typeface="Arial" charset="0"/>
                <a:cs typeface="Arial" charset="0"/>
              </a:rPr>
              <a:t>Confiance de l’auditeur ↓</a:t>
            </a:r>
          </a:p>
        </p:txBody>
      </p:sp>
      <p:sp>
        <p:nvSpPr>
          <p:cNvPr id="8" name="Organigramme : Alternative 7"/>
          <p:cNvSpPr/>
          <p:nvPr/>
        </p:nvSpPr>
        <p:spPr>
          <a:xfrm>
            <a:off x="5644996" y="1633995"/>
            <a:ext cx="6172684" cy="68951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b="1" dirty="0">
                <a:solidFill>
                  <a:prstClr val="white"/>
                </a:solidFill>
                <a:latin typeface="Arial" charset="0"/>
                <a:ea typeface="Arial" charset="0"/>
                <a:cs typeface="Arial" charset="0"/>
              </a:rPr>
              <a:t>Ex. Utilisateurs: Nombreux ou Pointilleux</a:t>
            </a:r>
            <a:endParaRPr kumimoji="0" lang="fr-CA" b="1" i="0" u="none" strike="noStrike" kern="1200" cap="none" spc="0" normalizeH="0" baseline="0" noProof="0" dirty="0">
              <a:ln>
                <a:noFill/>
              </a:ln>
              <a:solidFill>
                <a:prstClr val="white"/>
              </a:solidFill>
              <a:effectLst/>
              <a:uLnTx/>
              <a:uFillTx/>
              <a:latin typeface="Arial" charset="0"/>
              <a:ea typeface="Arial" charset="0"/>
              <a:cs typeface="Arial"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b="1" i="0" u="none" strike="noStrike" kern="1200" cap="none" spc="0" normalizeH="0" baseline="0" noProof="0" dirty="0">
                <a:ln>
                  <a:noFill/>
                </a:ln>
                <a:solidFill>
                  <a:prstClr val="white"/>
                </a:solidFill>
                <a:effectLst/>
                <a:uLnTx/>
                <a:uFillTx/>
                <a:latin typeface="Arial" charset="0"/>
                <a:ea typeface="Arial" charset="0"/>
                <a:cs typeface="Arial" charset="0"/>
                <a:sym typeface="Wingdings" panose="05000000000000000000" pitchFamily="2" charset="2"/>
              </a:rPr>
              <a:t> Risque</a:t>
            </a:r>
            <a:r>
              <a:rPr kumimoji="0" lang="fr-CA" b="1" i="0" u="none" strike="noStrike" kern="1200" cap="none" spc="0" normalizeH="0" baseline="0" noProof="0" dirty="0">
                <a:ln>
                  <a:noFill/>
                </a:ln>
                <a:solidFill>
                  <a:prstClr val="white"/>
                </a:solidFill>
                <a:effectLst/>
                <a:uLnTx/>
                <a:uFillTx/>
                <a:latin typeface="Arial" charset="0"/>
                <a:ea typeface="Arial" charset="0"/>
                <a:cs typeface="Arial" charset="0"/>
              </a:rPr>
              <a:t> lié aux utilisateurs ↑ </a:t>
            </a:r>
          </a:p>
        </p:txBody>
      </p:sp>
      <p:sp>
        <p:nvSpPr>
          <p:cNvPr id="9" name="Organigramme : Alternative 8"/>
          <p:cNvSpPr/>
          <p:nvPr/>
        </p:nvSpPr>
        <p:spPr>
          <a:xfrm>
            <a:off x="5600641" y="5191753"/>
            <a:ext cx="6263385" cy="658714"/>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Ex. Mission particulièrement complexe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fr-CA"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Risque d’erreur de l’auditeur ↑</a:t>
            </a:r>
            <a:endParaRPr kumimoji="0" lang="fr-CA" b="1" i="0" u="none" strike="noStrike" kern="1200" cap="none" spc="0" normalizeH="0" baseline="0" noProof="0" dirty="0">
              <a:ln>
                <a:noFill/>
              </a:ln>
              <a:solidFill>
                <a:prstClr val="white"/>
              </a:solidFill>
              <a:effectLst/>
              <a:uLnTx/>
              <a:uFillTx/>
              <a:latin typeface="Calibri" panose="020F0502020204030204"/>
              <a:ea typeface="+mn-ea"/>
            </a:endParaRPr>
          </a:p>
        </p:txBody>
      </p:sp>
      <p:sp>
        <p:nvSpPr>
          <p:cNvPr id="10" name="Organigramme : Alternative 8"/>
          <p:cNvSpPr/>
          <p:nvPr/>
        </p:nvSpPr>
        <p:spPr>
          <a:xfrm>
            <a:off x="3276661" y="6042561"/>
            <a:ext cx="4106271" cy="47291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0" lang="fr-CA" sz="2000" b="1" i="0" u="none" strike="noStrike" kern="1200" cap="none" spc="0" normalizeH="0" baseline="0" noProof="0" dirty="0">
                <a:ln>
                  <a:noFill/>
                </a:ln>
                <a:solidFill>
                  <a:srgbClr val="C00000"/>
                </a:solidFill>
                <a:effectLst/>
                <a:uLnTx/>
                <a:uFillTx/>
                <a:latin typeface="Calibri" panose="020F0502020204030204"/>
                <a:ea typeface="+mn-ea"/>
                <a:cs typeface="+mn-cs"/>
              </a:rPr>
              <a:t>Aller jusqu’au risque </a:t>
            </a:r>
            <a:r>
              <a:rPr kumimoji="0" lang="fr-CA" sz="2000" b="1" i="0" u="none" strike="noStrike" kern="1200" cap="none" spc="0" normalizeH="0" baseline="0" noProof="0">
                <a:ln>
                  <a:noFill/>
                </a:ln>
                <a:solidFill>
                  <a:srgbClr val="C00000"/>
                </a:solidFill>
                <a:effectLst/>
                <a:uLnTx/>
                <a:uFillTx/>
                <a:latin typeface="Calibri" panose="020F0502020204030204"/>
                <a:ea typeface="+mn-ea"/>
                <a:cs typeface="+mn-cs"/>
              </a:rPr>
              <a:t>de poursuite</a:t>
            </a:r>
            <a:endParaRPr kumimoji="0" lang="fr-CA" sz="20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330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a:xfrm>
            <a:off x="9990162" y="6477954"/>
            <a:ext cx="17062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6A126F-ECAD-40CF-950D-291D558E4DF6}" type="slidenum">
              <a:rPr kumimoji="0" lang="fr-C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fr-CA"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ZoneTexte 4"/>
          <p:cNvSpPr txBox="1"/>
          <p:nvPr/>
        </p:nvSpPr>
        <p:spPr>
          <a:xfrm>
            <a:off x="578223" y="797169"/>
            <a:ext cx="11330862" cy="5680785"/>
          </a:xfrm>
          <a:prstGeom prst="rect">
            <a:avLst/>
          </a:prstGeom>
          <a:noFill/>
        </p:spPr>
        <p:txBody>
          <a:bodyPr wrap="square" rtlCol="0">
            <a:noAutofit/>
          </a:bodyPr>
          <a:lstStyle/>
          <a:p>
            <a:pPr marL="0" marR="0" lvl="1" indent="0" algn="just" defTabSz="9144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prstClr val="black"/>
                </a:solidFill>
                <a:effectLst/>
                <a:uLnTx/>
                <a:uFillTx/>
                <a:latin typeface="Arial" charset="0"/>
                <a:ea typeface="Arial" charset="0"/>
                <a:cs typeface="Arial" charset="0"/>
              </a:rPr>
              <a:t>Facteurs de risque liés :</a:t>
            </a:r>
          </a:p>
          <a:p>
            <a:pPr marL="0" marR="0" lvl="1" indent="0" algn="just" defTabSz="914400" rtl="0" eaLnBrk="1" fontAlgn="auto" latinLnBrk="0" hangingPunct="1">
              <a:lnSpc>
                <a:spcPct val="100000"/>
              </a:lnSpc>
              <a:spcBef>
                <a:spcPts val="0"/>
              </a:spcBef>
              <a:spcAft>
                <a:spcPts val="0"/>
              </a:spcAft>
              <a:buClrTx/>
              <a:buSzTx/>
              <a:buFontTx/>
              <a:buNone/>
              <a:tabLst/>
              <a:defRPr/>
            </a:pPr>
            <a:endParaRPr kumimoji="0" lang="fr-CA" sz="1800" b="1" i="0" u="none" strike="noStrike" kern="1200" cap="none" spc="0" normalizeH="0" baseline="0" noProof="0" dirty="0">
              <a:ln>
                <a:noFill/>
              </a:ln>
              <a:solidFill>
                <a:prstClr val="black"/>
              </a:solidFill>
              <a:effectLst/>
              <a:uLnTx/>
              <a:uFillTx/>
              <a:latin typeface="Arial" charset="0"/>
              <a:ea typeface="Arial" charset="0"/>
              <a:cs typeface="Arial" charset="0"/>
            </a:endParaRPr>
          </a:p>
          <a:p>
            <a:pPr marL="342900" marR="0" lvl="1" indent="-342900" algn="just" defTabSz="914400" rtl="0" eaLnBrk="1" fontAlgn="auto" latinLnBrk="0" hangingPunct="1">
              <a:lnSpc>
                <a:spcPct val="100000"/>
              </a:lnSpc>
              <a:spcBef>
                <a:spcPts val="0"/>
              </a:spcBef>
              <a:spcAft>
                <a:spcPts val="0"/>
              </a:spcAft>
              <a:buClrTx/>
              <a:buSzTx/>
              <a:buFont typeface="Arial" charset="0"/>
              <a:buChar char="•"/>
              <a:tabLst/>
              <a:defRPr/>
            </a:pPr>
            <a:r>
              <a:rPr lang="fr-CA" b="1" u="sng" dirty="0">
                <a:solidFill>
                  <a:prstClr val="black"/>
                </a:solidFill>
                <a:latin typeface="Arial" charset="0"/>
                <a:ea typeface="Arial" charset="0"/>
                <a:cs typeface="Arial" charset="0"/>
              </a:rPr>
              <a:t>C</a:t>
            </a:r>
            <a:r>
              <a:rPr kumimoji="0" lang="fr-CA" sz="1800" b="1" i="0" u="sng" strike="noStrike" kern="1200" cap="none" spc="0" normalizeH="0" baseline="0" noProof="0" dirty="0" err="1">
                <a:ln>
                  <a:noFill/>
                </a:ln>
                <a:solidFill>
                  <a:prstClr val="black"/>
                </a:solidFill>
                <a:effectLst/>
                <a:uLnTx/>
                <a:uFillTx/>
                <a:latin typeface="Arial" charset="0"/>
                <a:ea typeface="Arial" charset="0"/>
                <a:cs typeface="Arial" charset="0"/>
              </a:rPr>
              <a:t>omplexité</a:t>
            </a:r>
            <a:r>
              <a:rPr kumimoji="0" lang="fr-CA" sz="1800" b="1" i="0" u="none" strike="noStrike" kern="1200" cap="none" spc="0" normalizeH="0" baseline="0" noProof="0" dirty="0">
                <a:ln>
                  <a:noFill/>
                </a:ln>
                <a:solidFill>
                  <a:prstClr val="black"/>
                </a:solidFill>
                <a:effectLst/>
                <a:uLnTx/>
                <a:uFillTx/>
                <a:latin typeface="Arial" charset="0"/>
                <a:ea typeface="Arial" charset="0"/>
                <a:cs typeface="Arial" charset="0"/>
              </a:rPr>
              <a:t> des activités et des opérations </a:t>
            </a:r>
            <a:endParaRPr lang="fr-CA" b="1" dirty="0">
              <a:solidFill>
                <a:prstClr val="black"/>
              </a:solidFill>
              <a:latin typeface="Arial" charset="0"/>
              <a:ea typeface="Arial" charset="0"/>
              <a:cs typeface="Arial" charset="0"/>
            </a:endParaRPr>
          </a:p>
          <a:p>
            <a:pPr marL="742950" lvl="2" indent="-285750" algn="just" defTabSz="914400">
              <a:buFont typeface="Arial" panose="020B0604020202020204" pitchFamily="34" charset="0"/>
              <a:buChar char="•"/>
              <a:defRPr/>
            </a:pPr>
            <a:r>
              <a:rPr kumimoji="0" lang="fr-CA" sz="1600" b="0" i="0" u="none" strike="noStrike" kern="1200" cap="none" spc="0" normalizeH="0" baseline="0" noProof="0" dirty="0">
                <a:ln>
                  <a:noFill/>
                </a:ln>
                <a:solidFill>
                  <a:prstClr val="black"/>
                </a:solidFill>
                <a:effectLst/>
                <a:uLnTx/>
                <a:uFillTx/>
                <a:latin typeface="Arial" charset="0"/>
                <a:ea typeface="Arial" charset="0"/>
                <a:cs typeface="Arial" charset="0"/>
              </a:rPr>
              <a:t>Structure organisationnelle ou modèle d’entreprise</a:t>
            </a:r>
          </a:p>
          <a:p>
            <a:pPr marL="742950" marR="0" lvl="1"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fr-CA" sz="1600" b="0" i="0" u="none" strike="noStrike" kern="1200" cap="none" spc="0" normalizeH="0" baseline="0" noProof="0" dirty="0">
                <a:ln>
                  <a:noFill/>
                </a:ln>
                <a:solidFill>
                  <a:prstClr val="black"/>
                </a:solidFill>
                <a:effectLst/>
                <a:uLnTx/>
                <a:uFillTx/>
                <a:latin typeface="Arial" charset="0"/>
                <a:ea typeface="Arial" charset="0"/>
                <a:cs typeface="Arial" charset="0"/>
              </a:rPr>
              <a:t>Opérations complexes (acquisitions d’E, utilisation d’IF, financement ou investissement complexes)</a:t>
            </a:r>
          </a:p>
          <a:p>
            <a:pPr marL="742950" marR="0" lvl="1"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fr-CA" sz="1600" b="0" i="0" u="none" strike="noStrike" kern="1200" cap="none" spc="0" normalizeH="0" baseline="0" noProof="0" dirty="0">
                <a:ln>
                  <a:noFill/>
                </a:ln>
                <a:solidFill>
                  <a:prstClr val="black"/>
                </a:solidFill>
                <a:effectLst/>
                <a:uLnTx/>
                <a:uFillTx/>
                <a:latin typeface="Arial" charset="0"/>
                <a:ea typeface="Arial" charset="0"/>
                <a:cs typeface="Arial" charset="0"/>
              </a:rPr>
              <a:t>Opérations hors du cours normal (inhabituelles)</a:t>
            </a:r>
          </a:p>
          <a:p>
            <a:pPr marL="742950" marR="0" lvl="1"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fr-CA" sz="1600" b="0" i="0" u="none" strike="noStrike" kern="1200" cap="none" spc="0" normalizeH="0" baseline="0" noProof="0" dirty="0">
                <a:ln>
                  <a:noFill/>
                </a:ln>
                <a:solidFill>
                  <a:prstClr val="black"/>
                </a:solidFill>
                <a:effectLst/>
                <a:uLnTx/>
                <a:uFillTx/>
                <a:latin typeface="Arial" charset="0"/>
                <a:ea typeface="Arial" charset="0"/>
                <a:cs typeface="Arial" charset="0"/>
              </a:rPr>
              <a:t>Environnement légal, concurrentiel, technologique, géographique, etc.</a:t>
            </a:r>
          </a:p>
          <a:p>
            <a:pPr marL="742950" marR="0" lvl="1"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fr-CA" sz="1600" b="0" i="0" u="none" strike="noStrike" kern="1200" cap="none" spc="0" normalizeH="0" baseline="0" noProof="0" dirty="0">
                <a:ln>
                  <a:noFill/>
                </a:ln>
                <a:solidFill>
                  <a:prstClr val="black"/>
                </a:solidFill>
                <a:effectLst/>
                <a:uLnTx/>
                <a:uFillTx/>
                <a:latin typeface="Arial" charset="0"/>
                <a:ea typeface="Arial" charset="0"/>
                <a:cs typeface="Arial" charset="0"/>
              </a:rPr>
              <a:t>Cycles économiques </a:t>
            </a:r>
          </a:p>
          <a:p>
            <a:pPr marL="742950" marR="0" lvl="1"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fr-CA" sz="1600" b="0" i="0" u="none" strike="noStrike" kern="1200" cap="none" spc="0" normalizeH="0" baseline="0" noProof="0" dirty="0">
                <a:ln>
                  <a:noFill/>
                </a:ln>
                <a:solidFill>
                  <a:prstClr val="black"/>
                </a:solidFill>
                <a:effectLst/>
                <a:uLnTx/>
                <a:uFillTx/>
                <a:latin typeface="Arial" charset="0"/>
                <a:ea typeface="Arial" charset="0"/>
                <a:cs typeface="Arial" charset="0"/>
              </a:rPr>
              <a:t>Changements importants au sein de l’entité</a:t>
            </a:r>
          </a:p>
          <a:p>
            <a:pPr marL="742950" marR="0" lvl="1"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fr-CA" sz="1600" b="0" i="0" u="none" strike="noStrike" kern="1200" cap="none" spc="0" normalizeH="0" baseline="0" noProof="0" dirty="0">
                <a:ln>
                  <a:noFill/>
                </a:ln>
                <a:solidFill>
                  <a:prstClr val="black"/>
                </a:solidFill>
                <a:effectLst/>
                <a:uLnTx/>
                <a:uFillTx/>
                <a:latin typeface="Arial" charset="0"/>
                <a:ea typeface="Arial" charset="0"/>
                <a:cs typeface="Arial" charset="0"/>
              </a:rPr>
              <a:t>Application de nouvelles règles comptables</a:t>
            </a:r>
          </a:p>
          <a:p>
            <a:pPr marR="0" lvl="1" algn="l" defTabSz="914400" rtl="0" eaLnBrk="1" fontAlgn="auto" latinLnBrk="0" hangingPunct="1">
              <a:lnSpc>
                <a:spcPct val="100000"/>
              </a:lnSpc>
              <a:spcBef>
                <a:spcPts val="0"/>
              </a:spcBef>
              <a:spcAft>
                <a:spcPts val="0"/>
              </a:spcAft>
              <a:buClrTx/>
              <a:buSzTx/>
              <a:tabLst/>
              <a:defRPr/>
            </a:pPr>
            <a:endParaRPr kumimoji="0" lang="fr-CA" sz="1600" b="1" i="0" u="none" strike="noStrike" kern="1200" cap="none" spc="0" normalizeH="0" baseline="0" noProof="0" dirty="0">
              <a:ln>
                <a:noFill/>
              </a:ln>
              <a:solidFill>
                <a:prstClr val="black"/>
              </a:solidFill>
              <a:effectLst/>
              <a:uLnTx/>
              <a:uFillTx/>
              <a:latin typeface="Arial" charset="0"/>
              <a:ea typeface="Arial" charset="0"/>
              <a:cs typeface="Arial" charset="0"/>
            </a:endParaRPr>
          </a:p>
          <a:p>
            <a:pPr marL="342900" marR="0" lvl="1" indent="-342900" algn="just" defTabSz="914400" rtl="0" eaLnBrk="1" fontAlgn="auto" latinLnBrk="0" hangingPunct="1">
              <a:lnSpc>
                <a:spcPct val="100000"/>
              </a:lnSpc>
              <a:spcBef>
                <a:spcPts val="0"/>
              </a:spcBef>
              <a:spcAft>
                <a:spcPts val="0"/>
              </a:spcAft>
              <a:buClrTx/>
              <a:buSzTx/>
              <a:buFont typeface="Arial" charset="0"/>
              <a:buChar char="•"/>
              <a:tabLst/>
              <a:defRPr/>
            </a:pPr>
            <a:r>
              <a:rPr lang="fr-CA" b="1" u="sng" dirty="0">
                <a:solidFill>
                  <a:prstClr val="black"/>
                </a:solidFill>
                <a:latin typeface="Arial" charset="0"/>
                <a:ea typeface="Arial" charset="0"/>
                <a:cs typeface="Arial" charset="0"/>
              </a:rPr>
              <a:t>Subjectivité</a:t>
            </a:r>
            <a:r>
              <a:rPr lang="fr-CA" b="1" dirty="0">
                <a:solidFill>
                  <a:prstClr val="black"/>
                </a:solidFill>
                <a:latin typeface="Arial" charset="0"/>
                <a:ea typeface="Arial" charset="0"/>
                <a:cs typeface="Arial" charset="0"/>
              </a:rPr>
              <a:t> dans la préparation de l’information financière</a:t>
            </a:r>
          </a:p>
          <a:p>
            <a:pPr marL="742950" lvl="1" indent="-285750" defTabSz="914400">
              <a:buFont typeface="Arial" charset="0"/>
              <a:buChar char="•"/>
              <a:defRPr/>
            </a:pPr>
            <a:r>
              <a:rPr lang="fr-CA" sz="1600" dirty="0">
                <a:solidFill>
                  <a:prstClr val="black"/>
                </a:solidFill>
                <a:latin typeface="Arial" charset="0"/>
                <a:cs typeface="Arial" charset="0"/>
              </a:rPr>
              <a:t>Appels aux jugements, aux estimations et à l’évaluation</a:t>
            </a:r>
          </a:p>
          <a:p>
            <a:pPr marL="742950" lvl="1" indent="-285750" defTabSz="914400">
              <a:buFont typeface="Arial" charset="0"/>
              <a:buChar char="•"/>
              <a:defRPr/>
            </a:pPr>
            <a:r>
              <a:rPr lang="fr-CA" sz="1600" dirty="0">
                <a:solidFill>
                  <a:prstClr val="black"/>
                </a:solidFill>
                <a:latin typeface="Arial" charset="0"/>
                <a:cs typeface="Arial" charset="0"/>
              </a:rPr>
              <a:t>Choix par la direction de techniques ou de modèles dans l’application</a:t>
            </a:r>
          </a:p>
          <a:p>
            <a:pPr marL="742950" lvl="1" indent="-285750" defTabSz="914400">
              <a:buFont typeface="Arial" charset="0"/>
              <a:buChar char="•"/>
              <a:defRPr/>
            </a:pPr>
            <a:r>
              <a:rPr lang="fr-CA" sz="1600" dirty="0">
                <a:solidFill>
                  <a:prstClr val="black"/>
                </a:solidFill>
                <a:latin typeface="Arial" charset="0"/>
                <a:cs typeface="Arial" charset="0"/>
              </a:rPr>
              <a:t>Manque de connaissances ou d’information </a:t>
            </a:r>
          </a:p>
        </p:txBody>
      </p:sp>
      <p:sp>
        <p:nvSpPr>
          <p:cNvPr id="2" name="Titre 1"/>
          <p:cNvSpPr>
            <a:spLocks noGrp="1"/>
          </p:cNvSpPr>
          <p:nvPr>
            <p:ph type="title"/>
          </p:nvPr>
        </p:nvSpPr>
        <p:spPr>
          <a:xfrm>
            <a:off x="175846" y="120016"/>
            <a:ext cx="11793416" cy="677153"/>
          </a:xfrm>
        </p:spPr>
        <p:txBody>
          <a:bodyPr/>
          <a:lstStyle/>
          <a:p>
            <a:r>
              <a:rPr lang="en-CA" dirty="0"/>
              <a:t>RAS </a:t>
            </a:r>
            <a:r>
              <a:rPr lang="mr-IN" dirty="0"/>
              <a:t>–</a:t>
            </a:r>
            <a:r>
              <a:rPr lang="en-CA" dirty="0"/>
              <a:t> </a:t>
            </a:r>
            <a:r>
              <a:rPr lang="en-CA" dirty="0" err="1"/>
              <a:t>Risque</a:t>
            </a:r>
            <a:r>
              <a:rPr lang="en-CA" dirty="0"/>
              <a:t> inherent (1/2)</a:t>
            </a:r>
          </a:p>
        </p:txBody>
      </p:sp>
      <p:sp>
        <p:nvSpPr>
          <p:cNvPr id="13" name="Organigramme : Alternative 13">
            <a:extLst>
              <a:ext uri="{FF2B5EF4-FFF2-40B4-BE49-F238E27FC236}">
                <a16:creationId xmlns:a16="http://schemas.microsoft.com/office/drawing/2014/main" id="{77455BAD-1CA3-4658-8705-81C921C5D4D7}"/>
              </a:ext>
            </a:extLst>
          </p:cNvPr>
          <p:cNvSpPr/>
          <p:nvPr/>
        </p:nvSpPr>
        <p:spPr>
          <a:xfrm>
            <a:off x="578223" y="5212038"/>
            <a:ext cx="8749553"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C00000"/>
                </a:solidFill>
                <a:effectLst/>
                <a:uLnTx/>
                <a:uFillTx/>
                <a:latin typeface="Calibri" panose="020F0502020204030204"/>
                <a:ea typeface="+mn-ea"/>
                <a:cs typeface="+mn-cs"/>
              </a:rPr>
              <a:t>ATTENTION</a:t>
            </a:r>
            <a:r>
              <a:rPr kumimoji="0" lang="fr-CA" sz="1800" b="0" i="0" u="none" strike="noStrike" kern="1200" cap="none" spc="0" normalizeH="0" baseline="0" noProof="0" dirty="0">
                <a:ln>
                  <a:noFill/>
                </a:ln>
                <a:solidFill>
                  <a:srgbClr val="C00000"/>
                </a:solidFill>
                <a:effectLst/>
                <a:uLnTx/>
                <a:uFillTx/>
                <a:latin typeface="Calibri" panose="020F0502020204030204"/>
                <a:ea typeface="+mn-ea"/>
                <a:cs typeface="+mn-cs"/>
              </a:rPr>
              <a:t>, il faut </a:t>
            </a:r>
            <a:r>
              <a:rPr kumimoji="0" lang="fr-CA" sz="1800" b="1" i="0" u="none" strike="noStrike" kern="1200" cap="none" spc="0" normalizeH="0" baseline="0" noProof="0" dirty="0">
                <a:ln>
                  <a:noFill/>
                </a:ln>
                <a:solidFill>
                  <a:srgbClr val="C00000"/>
                </a:solidFill>
                <a:effectLst/>
                <a:uLnTx/>
                <a:uFillTx/>
                <a:latin typeface="Arial" panose="020B0604020202020204"/>
                <a:ea typeface="+mn-ea"/>
                <a:cs typeface="+mn-cs"/>
              </a:rPr>
              <a:t>ABSOLUMENT</a:t>
            </a:r>
            <a:r>
              <a:rPr kumimoji="0" lang="fr-CA" sz="1800" b="0" i="0" u="none" strike="noStrike" kern="1200" cap="none" spc="0" normalizeH="0" baseline="0" noProof="0" dirty="0">
                <a:ln>
                  <a:noFill/>
                </a:ln>
                <a:solidFill>
                  <a:srgbClr val="C00000"/>
                </a:solidFill>
                <a:effectLst/>
                <a:uLnTx/>
                <a:uFillTx/>
                <a:latin typeface="Calibri" panose="020F0502020204030204"/>
                <a:ea typeface="+mn-ea"/>
                <a:cs typeface="+mn-cs"/>
              </a:rPr>
              <a:t> lier chaque facteur de RI à l’AS potentielle aux </a:t>
            </a:r>
            <a:r>
              <a:rPr kumimoji="0" lang="fr-CA" sz="1800" b="0" i="0" u="none" strike="noStrike" kern="1200" cap="none" spc="0" normalizeH="0" baseline="0" noProof="0" dirty="0" err="1">
                <a:ln>
                  <a:noFill/>
                </a:ln>
                <a:solidFill>
                  <a:srgbClr val="C00000"/>
                </a:solidFill>
                <a:effectLst/>
                <a:uLnTx/>
                <a:uFillTx/>
                <a:latin typeface="Calibri" panose="020F0502020204030204"/>
                <a:ea typeface="+mn-ea"/>
                <a:cs typeface="+mn-cs"/>
              </a:rPr>
              <a:t>ÉFs</a:t>
            </a:r>
            <a:endParaRPr kumimoji="0" lang="fr-CA"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3" name="Organigramme : Alternative 13">
            <a:extLst>
              <a:ext uri="{FF2B5EF4-FFF2-40B4-BE49-F238E27FC236}">
                <a16:creationId xmlns:a16="http://schemas.microsoft.com/office/drawing/2014/main" id="{4ADA00C5-64BD-4959-8C76-35454247B031}"/>
              </a:ext>
            </a:extLst>
          </p:cNvPr>
          <p:cNvSpPr/>
          <p:nvPr/>
        </p:nvSpPr>
        <p:spPr>
          <a:xfrm>
            <a:off x="10482793" y="256202"/>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315</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0963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a:xfrm>
            <a:off x="9990162" y="6477954"/>
            <a:ext cx="17062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6A126F-ECAD-40CF-950D-291D558E4DF6}" type="slidenum">
              <a:rPr kumimoji="0" lang="fr-C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fr-CA"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ZoneTexte 4"/>
          <p:cNvSpPr txBox="1"/>
          <p:nvPr/>
        </p:nvSpPr>
        <p:spPr>
          <a:xfrm>
            <a:off x="578223" y="797169"/>
            <a:ext cx="11330862" cy="5680785"/>
          </a:xfrm>
          <a:prstGeom prst="rect">
            <a:avLst/>
          </a:prstGeom>
          <a:noFill/>
        </p:spPr>
        <p:txBody>
          <a:bodyPr wrap="square" rtlCol="0">
            <a:noAutofit/>
          </a:bodyPr>
          <a:lstStyle/>
          <a:p>
            <a:pPr marL="0" marR="0" lvl="1" indent="0" algn="just" defTabSz="9144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prstClr val="black"/>
                </a:solidFill>
                <a:effectLst/>
                <a:uLnTx/>
                <a:uFillTx/>
                <a:latin typeface="Arial" charset="0"/>
                <a:ea typeface="Arial" charset="0"/>
                <a:cs typeface="Arial" charset="0"/>
              </a:rPr>
              <a:t>Facteurs de risque liés :</a:t>
            </a:r>
          </a:p>
          <a:p>
            <a:pPr marL="342900" marR="0" lvl="1" indent="-342900" algn="just" defTabSz="914400" rtl="0" eaLnBrk="1" fontAlgn="auto" latinLnBrk="0" hangingPunct="1">
              <a:lnSpc>
                <a:spcPct val="100000"/>
              </a:lnSpc>
              <a:spcBef>
                <a:spcPts val="0"/>
              </a:spcBef>
              <a:spcAft>
                <a:spcPts val="0"/>
              </a:spcAft>
              <a:buClrTx/>
              <a:buSzTx/>
              <a:buFont typeface="Arial" charset="0"/>
              <a:buChar char="•"/>
              <a:tabLst/>
              <a:defRPr/>
            </a:pPr>
            <a:endParaRPr kumimoji="0" lang="fr-CA" sz="1800" b="1" i="0" u="none" strike="noStrike" kern="1200" cap="none" spc="0" normalizeH="0" baseline="0" noProof="0" dirty="0">
              <a:ln>
                <a:noFill/>
              </a:ln>
              <a:solidFill>
                <a:prstClr val="black"/>
              </a:solidFill>
              <a:effectLst/>
              <a:uLnTx/>
              <a:uFillTx/>
              <a:latin typeface="Arial" charset="0"/>
              <a:ea typeface="Arial" charset="0"/>
              <a:cs typeface="Arial" charset="0"/>
            </a:endParaRPr>
          </a:p>
          <a:p>
            <a:pPr marL="342900" marR="0" lvl="1" indent="-342900" algn="just" defTabSz="914400" rtl="0" eaLnBrk="1" fontAlgn="auto" latinLnBrk="0" hangingPunct="1">
              <a:lnSpc>
                <a:spcPct val="100000"/>
              </a:lnSpc>
              <a:spcBef>
                <a:spcPts val="0"/>
              </a:spcBef>
              <a:spcAft>
                <a:spcPts val="0"/>
              </a:spcAft>
              <a:buClrTx/>
              <a:buSzTx/>
              <a:buFont typeface="Arial" charset="0"/>
              <a:buChar char="•"/>
              <a:tabLst/>
              <a:defRPr/>
            </a:pPr>
            <a:r>
              <a:rPr kumimoji="0" lang="fr-CA" sz="1800" b="1" i="0" u="sng" strike="noStrike" kern="1200" cap="none" spc="0" normalizeH="0" baseline="0" noProof="0" dirty="0">
                <a:ln>
                  <a:noFill/>
                </a:ln>
                <a:solidFill>
                  <a:prstClr val="black"/>
                </a:solidFill>
                <a:effectLst/>
                <a:uLnTx/>
                <a:uFillTx/>
                <a:latin typeface="Arial" charset="0"/>
                <a:ea typeface="Arial" charset="0"/>
                <a:cs typeface="Arial" charset="0"/>
              </a:rPr>
              <a:t>Changement</a:t>
            </a:r>
            <a:r>
              <a:rPr kumimoji="0" lang="fr-CA" sz="1800" b="1" i="0" u="none" strike="noStrike" kern="1200" cap="none" spc="0" normalizeH="0" baseline="0" noProof="0" dirty="0">
                <a:ln>
                  <a:noFill/>
                </a:ln>
                <a:solidFill>
                  <a:prstClr val="black"/>
                </a:solidFill>
                <a:effectLst/>
                <a:uLnTx/>
                <a:uFillTx/>
                <a:latin typeface="Arial" charset="0"/>
                <a:ea typeface="Arial" charset="0"/>
                <a:cs typeface="Arial" charset="0"/>
              </a:rPr>
              <a:t> résultant d’événements ou de situations</a:t>
            </a:r>
          </a:p>
          <a:p>
            <a:pPr marL="742950" marR="0" lvl="1" indent="-285750" defTabSz="914400" fontAlgn="auto">
              <a:lnSpc>
                <a:spcPct val="100000"/>
              </a:lnSpc>
              <a:spcBef>
                <a:spcPts val="0"/>
              </a:spcBef>
              <a:spcAft>
                <a:spcPts val="0"/>
              </a:spcAft>
              <a:buClrTx/>
              <a:buSzTx/>
              <a:buFont typeface="Arial" charset="0"/>
              <a:buChar char="•"/>
              <a:tabLst/>
              <a:defRPr/>
            </a:pPr>
            <a:r>
              <a:rPr lang="fr-CA" sz="1600" dirty="0">
                <a:solidFill>
                  <a:prstClr val="black"/>
                </a:solidFill>
                <a:latin typeface="Arial" charset="0"/>
                <a:cs typeface="Arial" charset="0"/>
              </a:rPr>
              <a:t>Impacts sur l’environnement économique, comptable, règlementaire, sectoriel, etc.</a:t>
            </a:r>
          </a:p>
          <a:p>
            <a:pPr marL="742950" marR="0" lvl="1" indent="-285750" defTabSz="914400" fontAlgn="auto">
              <a:lnSpc>
                <a:spcPct val="100000"/>
              </a:lnSpc>
              <a:spcBef>
                <a:spcPts val="0"/>
              </a:spcBef>
              <a:spcAft>
                <a:spcPts val="0"/>
              </a:spcAft>
              <a:buClrTx/>
              <a:buSzTx/>
              <a:buFont typeface="Arial" charset="0"/>
              <a:buChar char="•"/>
              <a:tabLst/>
              <a:defRPr/>
            </a:pPr>
            <a:r>
              <a:rPr lang="fr-CA" sz="1600" dirty="0">
                <a:solidFill>
                  <a:prstClr val="black"/>
                </a:solidFill>
                <a:latin typeface="Arial" charset="0"/>
                <a:cs typeface="Arial" charset="0"/>
              </a:rPr>
              <a:t>Influence sur hypothèses ou les jugements de la direction</a:t>
            </a:r>
          </a:p>
          <a:p>
            <a:pPr marL="742950" marR="0" lvl="1" indent="-285750" defTabSz="914400" fontAlgn="auto">
              <a:lnSpc>
                <a:spcPct val="100000"/>
              </a:lnSpc>
              <a:spcBef>
                <a:spcPts val="0"/>
              </a:spcBef>
              <a:spcAft>
                <a:spcPts val="0"/>
              </a:spcAft>
              <a:buClrTx/>
              <a:buSzTx/>
              <a:buFont typeface="Arial" charset="0"/>
              <a:buChar char="•"/>
              <a:tabLst/>
              <a:defRPr/>
            </a:pPr>
            <a:r>
              <a:rPr lang="fr-CA" sz="1600" dirty="0">
                <a:solidFill>
                  <a:prstClr val="black"/>
                </a:solidFill>
                <a:latin typeface="Arial" charset="0"/>
                <a:cs typeface="Arial" charset="0"/>
              </a:rPr>
              <a:t>Application de nouveaux processus, règles comptables, contraintes, logiciels, personnel, etc. </a:t>
            </a:r>
          </a:p>
          <a:p>
            <a:pPr marR="0" lvl="1" defTabSz="914400" fontAlgn="auto">
              <a:lnSpc>
                <a:spcPct val="100000"/>
              </a:lnSpc>
              <a:spcBef>
                <a:spcPts val="0"/>
              </a:spcBef>
              <a:spcAft>
                <a:spcPts val="0"/>
              </a:spcAft>
              <a:buClrTx/>
              <a:buSzTx/>
              <a:tabLst/>
              <a:defRPr/>
            </a:pPr>
            <a:endParaRPr lang="fr-CA" sz="1600" dirty="0">
              <a:solidFill>
                <a:prstClr val="black"/>
              </a:solidFill>
              <a:latin typeface="Arial" charset="0"/>
              <a:cs typeface="Arial" charset="0"/>
            </a:endParaRPr>
          </a:p>
          <a:p>
            <a:pPr marL="342900" marR="0" lvl="1" indent="-342900" algn="just" defTabSz="914400" rtl="0" eaLnBrk="1" fontAlgn="auto" latinLnBrk="0" hangingPunct="1">
              <a:lnSpc>
                <a:spcPct val="100000"/>
              </a:lnSpc>
              <a:spcBef>
                <a:spcPts val="0"/>
              </a:spcBef>
              <a:spcAft>
                <a:spcPts val="0"/>
              </a:spcAft>
              <a:buClrTx/>
              <a:buSzTx/>
              <a:buFont typeface="Arial" charset="0"/>
              <a:buChar char="•"/>
              <a:tabLst/>
              <a:defRPr/>
            </a:pPr>
            <a:r>
              <a:rPr kumimoji="0" lang="fr-CA" sz="1800" b="1" i="0" u="sng" strike="noStrike" kern="1200" cap="none" spc="0" normalizeH="0" baseline="0" noProof="0" dirty="0">
                <a:ln>
                  <a:noFill/>
                </a:ln>
                <a:solidFill>
                  <a:prstClr val="black"/>
                </a:solidFill>
                <a:effectLst/>
                <a:uLnTx/>
                <a:uFillTx/>
                <a:latin typeface="Arial" charset="0"/>
                <a:ea typeface="Arial" charset="0"/>
                <a:cs typeface="Arial" charset="0"/>
              </a:rPr>
              <a:t>Incertitude </a:t>
            </a:r>
          </a:p>
          <a:p>
            <a:pPr marL="742950" lvl="2" indent="-285750" algn="just" defTabSz="914400">
              <a:buFont typeface="Arial" panose="020B0604020202020204" pitchFamily="34" charset="0"/>
              <a:buChar char="•"/>
              <a:defRPr/>
            </a:pPr>
            <a:r>
              <a:rPr lang="fr-CA" sz="1600" dirty="0">
                <a:solidFill>
                  <a:prstClr val="black"/>
                </a:solidFill>
                <a:latin typeface="Arial" charset="0"/>
                <a:cs typeface="Arial" charset="0"/>
              </a:rPr>
              <a:t>Utilisation d’hypothèses selon l'information disponible </a:t>
            </a:r>
          </a:p>
          <a:p>
            <a:pPr marL="742950" lvl="1" indent="-285750" defTabSz="914400">
              <a:buFont typeface="Arial" charset="0"/>
              <a:buChar char="•"/>
              <a:defRPr/>
            </a:pPr>
            <a:r>
              <a:rPr lang="fr-CA" sz="1600" dirty="0">
                <a:solidFill>
                  <a:prstClr val="black"/>
                </a:solidFill>
                <a:latin typeface="Arial" charset="0"/>
                <a:cs typeface="Arial" charset="0"/>
              </a:rPr>
              <a:t>Événements ou opérations nécessitant des estimations </a:t>
            </a:r>
          </a:p>
          <a:p>
            <a:pPr marL="742950" lvl="1" indent="-285750" defTabSz="914400">
              <a:buFont typeface="Arial" charset="0"/>
              <a:buChar char="•"/>
              <a:defRPr/>
            </a:pPr>
            <a:r>
              <a:rPr lang="fr-CA" sz="1600" dirty="0">
                <a:solidFill>
                  <a:prstClr val="black"/>
                </a:solidFill>
                <a:latin typeface="Arial" charset="0"/>
                <a:cs typeface="Arial" charset="0"/>
              </a:rPr>
              <a:t>Procès et passifs éventuels </a:t>
            </a:r>
          </a:p>
          <a:p>
            <a:pPr lvl="1" defTabSz="914400">
              <a:defRPr/>
            </a:pPr>
            <a:endParaRPr lang="fr-CA" sz="1600" dirty="0">
              <a:solidFill>
                <a:prstClr val="black"/>
              </a:solidFill>
              <a:latin typeface="Arial" charset="0"/>
              <a:cs typeface="Arial" charset="0"/>
            </a:endParaRPr>
          </a:p>
          <a:p>
            <a:pPr marL="342900" marR="0" lvl="1" indent="-342900" algn="just" defTabSz="914400" rtl="0" eaLnBrk="1" fontAlgn="auto" latinLnBrk="0" hangingPunct="1">
              <a:lnSpc>
                <a:spcPct val="100000"/>
              </a:lnSpc>
              <a:spcBef>
                <a:spcPts val="0"/>
              </a:spcBef>
              <a:spcAft>
                <a:spcPts val="0"/>
              </a:spcAft>
              <a:buClrTx/>
              <a:buSzTx/>
              <a:buFont typeface="Arial" charset="0"/>
              <a:buChar char="•"/>
              <a:tabLst/>
              <a:defRPr/>
            </a:pPr>
            <a:r>
              <a:rPr kumimoji="0" lang="fr-CA" sz="1800" b="1" i="0" u="sng" strike="noStrike" kern="1200" cap="none" spc="0" normalizeH="0" baseline="0" noProof="0" dirty="0">
                <a:ln>
                  <a:noFill/>
                </a:ln>
                <a:solidFill>
                  <a:prstClr val="black"/>
                </a:solidFill>
                <a:effectLst/>
                <a:uLnTx/>
                <a:uFillTx/>
                <a:latin typeface="Arial" charset="0"/>
                <a:ea typeface="Arial" charset="0"/>
                <a:cs typeface="Arial" charset="0"/>
              </a:rPr>
              <a:t>Vulnérabilité</a:t>
            </a:r>
            <a:r>
              <a:rPr kumimoji="0" lang="fr-CA" sz="1800" b="1" i="0" u="none" strike="noStrike" kern="1200" cap="none" spc="0" normalizeH="0" baseline="0" noProof="0" dirty="0">
                <a:ln>
                  <a:noFill/>
                </a:ln>
                <a:solidFill>
                  <a:prstClr val="black"/>
                </a:solidFill>
                <a:effectLst/>
                <a:uLnTx/>
                <a:uFillTx/>
                <a:latin typeface="Arial" charset="0"/>
                <a:ea typeface="Arial" charset="0"/>
                <a:cs typeface="Arial" charset="0"/>
              </a:rPr>
              <a:t> aux anomalies résultant de partis pris de la direction ou de fraudes</a:t>
            </a:r>
          </a:p>
          <a:p>
            <a:pPr marL="742950" marR="0" lvl="1" indent="-285750" algn="l" defTabSz="914400" rtl="0" eaLnBrk="1" fontAlgn="auto" latinLnBrk="0" hangingPunct="1">
              <a:lnSpc>
                <a:spcPct val="100000"/>
              </a:lnSpc>
              <a:spcBef>
                <a:spcPts val="0"/>
              </a:spcBef>
              <a:spcAft>
                <a:spcPts val="0"/>
              </a:spcAft>
              <a:buClrTx/>
              <a:buSzTx/>
              <a:buFont typeface="Arial" charset="0"/>
              <a:buChar char="•"/>
              <a:tabLst/>
              <a:defRPr/>
            </a:pPr>
            <a:r>
              <a:rPr lang="fr-CA" sz="1600" dirty="0">
                <a:solidFill>
                  <a:prstClr val="black"/>
                </a:solidFill>
                <a:latin typeface="Arial" charset="0"/>
                <a:ea typeface="Arial" charset="0"/>
                <a:cs typeface="Arial" charset="0"/>
              </a:rPr>
              <a:t>Opérations importantes avec des parties liées ou un volume important de transactions non courantes (ex. intragroupe)</a:t>
            </a:r>
            <a:endParaRPr kumimoji="0" lang="fr-CA" sz="1600" b="0" i="0" u="none" strike="noStrike" kern="1200" cap="none" spc="0" normalizeH="0" baseline="0" noProof="0" dirty="0">
              <a:ln>
                <a:noFill/>
              </a:ln>
              <a:solidFill>
                <a:prstClr val="black"/>
              </a:solidFill>
              <a:effectLst/>
              <a:uLnTx/>
              <a:uFillTx/>
              <a:latin typeface="Arial" charset="0"/>
              <a:ea typeface="Arial" charset="0"/>
              <a:cs typeface="Arial" charset="0"/>
            </a:endParaRPr>
          </a:p>
          <a:p>
            <a:pPr marL="742950" marR="0" lvl="1"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fr-CA" sz="1600" b="0" i="0" u="none" strike="noStrike" kern="1200" cap="none" spc="0" normalizeH="0" baseline="0" noProof="0" dirty="0">
                <a:ln>
                  <a:noFill/>
                </a:ln>
                <a:solidFill>
                  <a:prstClr val="black"/>
                </a:solidFill>
                <a:effectLst/>
                <a:uLnTx/>
                <a:uFillTx/>
                <a:latin typeface="Arial" charset="0"/>
                <a:ea typeface="Arial" charset="0"/>
                <a:cs typeface="Arial" charset="0"/>
              </a:rPr>
              <a:t>Incitant la direction à commettre une fraude: Intégrité et partis pris de la direction en place, situation financière de l’entreprise, atteinte de cibles de performance ou d’objectifs de rémunération, importance des </a:t>
            </a:r>
            <a:r>
              <a:rPr kumimoji="0" lang="fr-CA" sz="1600" b="0" i="0" u="none" strike="noStrike" kern="1200" cap="none" spc="0" normalizeH="0" baseline="0" noProof="0" dirty="0" err="1">
                <a:ln>
                  <a:noFill/>
                </a:ln>
                <a:solidFill>
                  <a:prstClr val="black"/>
                </a:solidFill>
                <a:effectLst/>
                <a:uLnTx/>
                <a:uFillTx/>
                <a:latin typeface="Arial" charset="0"/>
                <a:ea typeface="Arial" charset="0"/>
                <a:cs typeface="Arial" charset="0"/>
              </a:rPr>
              <a:t>ÉFs</a:t>
            </a:r>
            <a:r>
              <a:rPr kumimoji="0" lang="fr-CA" sz="1600" b="0" i="0" u="none" strike="noStrike" kern="1200" cap="none" spc="0" normalizeH="0" baseline="0" noProof="0" dirty="0">
                <a:ln>
                  <a:noFill/>
                </a:ln>
                <a:solidFill>
                  <a:prstClr val="black"/>
                </a:solidFill>
                <a:effectLst/>
                <a:uLnTx/>
                <a:uFillTx/>
                <a:latin typeface="Arial" charset="0"/>
                <a:ea typeface="Arial" charset="0"/>
                <a:cs typeface="Arial" charset="0"/>
              </a:rPr>
              <a:t> pour des utilisateurs externes (banques</a:t>
            </a:r>
            <a:r>
              <a:rPr kumimoji="0" lang="fr-CA" sz="1600" b="0" i="0" u="none" strike="noStrike" kern="1200" cap="none" spc="0" normalizeH="0" baseline="0" noProof="0" dirty="0">
                <a:ln>
                  <a:noFill/>
                </a:ln>
                <a:solidFill>
                  <a:srgbClr val="000000"/>
                </a:solidFill>
                <a:effectLst/>
                <a:uLnTx/>
                <a:uFillTx/>
                <a:latin typeface="Arial" charset="0"/>
                <a:ea typeface="Arial" charset="0"/>
                <a:cs typeface="Arial" charset="0"/>
              </a:rPr>
              <a:t> et </a:t>
            </a:r>
            <a:r>
              <a:rPr kumimoji="0" lang="fr-CA" sz="1600" b="0" i="0" u="none" strike="noStrike" kern="1200" cap="none" spc="0" normalizeH="0" baseline="0" noProof="0" dirty="0">
                <a:ln>
                  <a:noFill/>
                </a:ln>
                <a:solidFill>
                  <a:prstClr val="black"/>
                </a:solidFill>
                <a:effectLst/>
                <a:uLnTx/>
                <a:uFillTx/>
                <a:latin typeface="Arial" charset="0"/>
                <a:ea typeface="Arial" charset="0"/>
                <a:cs typeface="Arial" charset="0"/>
              </a:rPr>
              <a:t>investisseurs)</a:t>
            </a:r>
          </a:p>
          <a:p>
            <a:pPr marL="742950" marR="0" lvl="1" indent="-285750" algn="l" defTabSz="914400" rtl="0" eaLnBrk="1" fontAlgn="auto" latinLnBrk="0" hangingPunct="1">
              <a:lnSpc>
                <a:spcPct val="100000"/>
              </a:lnSpc>
              <a:spcBef>
                <a:spcPts val="0"/>
              </a:spcBef>
              <a:spcAft>
                <a:spcPts val="0"/>
              </a:spcAft>
              <a:buClrTx/>
              <a:buSzTx/>
              <a:buFont typeface="Arial" charset="0"/>
              <a:buChar char="•"/>
              <a:tabLst/>
              <a:defRPr/>
            </a:pPr>
            <a:r>
              <a:rPr lang="fr-CA" sz="1600" dirty="0">
                <a:solidFill>
                  <a:prstClr val="black"/>
                </a:solidFill>
                <a:latin typeface="Arial" charset="0"/>
                <a:ea typeface="Arial" charset="0"/>
                <a:cs typeface="Arial" charset="0"/>
              </a:rPr>
              <a:t>Intégrité de la direction et autres facteurs de risque de fraude (voir aussi NCA 240)</a:t>
            </a:r>
            <a:endParaRPr kumimoji="0" lang="fr-CA" sz="1600" b="1" i="0" u="none" strike="noStrike" kern="1200" cap="none" spc="0" normalizeH="0" baseline="0" noProof="0" dirty="0">
              <a:ln>
                <a:noFill/>
              </a:ln>
              <a:solidFill>
                <a:prstClr val="black"/>
              </a:solidFill>
              <a:effectLst/>
              <a:uLnTx/>
              <a:uFillTx/>
              <a:latin typeface="Arial" charset="0"/>
              <a:ea typeface="Arial" charset="0"/>
              <a:cs typeface="Arial" charset="0"/>
            </a:endParaRPr>
          </a:p>
          <a:p>
            <a:pPr marL="342900" marR="0" lvl="1" indent="-342900" algn="just" defTabSz="914400" rtl="0" eaLnBrk="1" fontAlgn="auto" latinLnBrk="0" hangingPunct="1">
              <a:lnSpc>
                <a:spcPct val="100000"/>
              </a:lnSpc>
              <a:spcBef>
                <a:spcPts val="0"/>
              </a:spcBef>
              <a:spcAft>
                <a:spcPts val="600"/>
              </a:spcAft>
              <a:buClrTx/>
              <a:buSzTx/>
              <a:buFont typeface="Arial" charset="0"/>
              <a:buChar char="•"/>
              <a:tabLst/>
              <a:defRPr/>
            </a:pPr>
            <a:endParaRPr kumimoji="0" lang="fr-CA" sz="1800" b="1" i="0" u="none" strike="noStrike" kern="1200" cap="none" spc="0" normalizeH="0" baseline="0" noProof="0" dirty="0">
              <a:ln>
                <a:noFill/>
              </a:ln>
              <a:solidFill>
                <a:prstClr val="black"/>
              </a:solidFill>
              <a:effectLst/>
              <a:uLnTx/>
              <a:uFillTx/>
              <a:latin typeface="Arial" charset="0"/>
              <a:ea typeface="Arial" charset="0"/>
              <a:cs typeface="Arial" charset="0"/>
            </a:endParaRPr>
          </a:p>
          <a:p>
            <a:pPr marL="0" marR="0" lvl="1" algn="just" defTabSz="914400" rtl="0" eaLnBrk="1" fontAlgn="auto" latinLnBrk="0" hangingPunct="1">
              <a:lnSpc>
                <a:spcPct val="100000"/>
              </a:lnSpc>
              <a:spcBef>
                <a:spcPts val="0"/>
              </a:spcBef>
              <a:spcAft>
                <a:spcPts val="600"/>
              </a:spcAft>
              <a:buClrTx/>
              <a:buSzTx/>
              <a:tabLst/>
              <a:defRPr/>
            </a:pPr>
            <a:r>
              <a:rPr lang="fr-CA" dirty="0">
                <a:solidFill>
                  <a:prstClr val="black"/>
                </a:solidFill>
                <a:latin typeface="Arial" charset="0"/>
                <a:ea typeface="Arial" charset="0"/>
                <a:cs typeface="Arial" charset="0"/>
              </a:rPr>
              <a:t>*</a:t>
            </a:r>
            <a:r>
              <a:rPr kumimoji="0" lang="fr-CA" sz="1800" i="0" u="none" strike="noStrike" kern="1200" cap="none" spc="0" normalizeH="0" baseline="0" noProof="0" dirty="0">
                <a:ln>
                  <a:noFill/>
                </a:ln>
                <a:solidFill>
                  <a:prstClr val="black"/>
                </a:solidFill>
                <a:effectLst/>
                <a:uLnTx/>
                <a:uFillTx/>
                <a:latin typeface="Arial" charset="0"/>
                <a:ea typeface="Arial" charset="0"/>
                <a:cs typeface="Arial" charset="0"/>
              </a:rPr>
              <a:t>Aux anomalies et aux résultats des audits antérieurs</a:t>
            </a:r>
            <a:endParaRPr lang="fr-CA" sz="1600" dirty="0">
              <a:solidFill>
                <a:prstClr val="black"/>
              </a:solidFill>
              <a:latin typeface="Arial" charset="0"/>
              <a:ea typeface="Arial" charset="0"/>
              <a:cs typeface="Arial" charset="0"/>
            </a:endParaRPr>
          </a:p>
        </p:txBody>
      </p:sp>
      <p:sp>
        <p:nvSpPr>
          <p:cNvPr id="2" name="Titre 1"/>
          <p:cNvSpPr>
            <a:spLocks noGrp="1"/>
          </p:cNvSpPr>
          <p:nvPr>
            <p:ph type="title"/>
          </p:nvPr>
        </p:nvSpPr>
        <p:spPr>
          <a:xfrm>
            <a:off x="175846" y="120016"/>
            <a:ext cx="11793416" cy="677153"/>
          </a:xfrm>
        </p:spPr>
        <p:txBody>
          <a:bodyPr/>
          <a:lstStyle/>
          <a:p>
            <a:r>
              <a:rPr lang="en-CA" dirty="0"/>
              <a:t>RAS </a:t>
            </a:r>
            <a:r>
              <a:rPr lang="mr-IN" dirty="0"/>
              <a:t>–</a:t>
            </a:r>
            <a:r>
              <a:rPr lang="en-CA" dirty="0"/>
              <a:t> </a:t>
            </a:r>
            <a:r>
              <a:rPr lang="en-CA" dirty="0" err="1"/>
              <a:t>Risque</a:t>
            </a:r>
            <a:r>
              <a:rPr lang="en-CA" dirty="0"/>
              <a:t> inherent (2/2)</a:t>
            </a:r>
          </a:p>
        </p:txBody>
      </p:sp>
      <p:sp>
        <p:nvSpPr>
          <p:cNvPr id="13" name="Organigramme : Alternative 13">
            <a:extLst>
              <a:ext uri="{FF2B5EF4-FFF2-40B4-BE49-F238E27FC236}">
                <a16:creationId xmlns:a16="http://schemas.microsoft.com/office/drawing/2014/main" id="{77455BAD-1CA3-4658-8705-81C921C5D4D7}"/>
              </a:ext>
            </a:extLst>
          </p:cNvPr>
          <p:cNvSpPr/>
          <p:nvPr/>
        </p:nvSpPr>
        <p:spPr>
          <a:xfrm>
            <a:off x="518046" y="6346141"/>
            <a:ext cx="8749553"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C00000"/>
                </a:solidFill>
                <a:effectLst/>
                <a:uLnTx/>
                <a:uFillTx/>
                <a:latin typeface="Calibri" panose="020F0502020204030204"/>
                <a:ea typeface="+mn-ea"/>
                <a:cs typeface="+mn-cs"/>
              </a:rPr>
              <a:t>ATTENTION</a:t>
            </a:r>
            <a:r>
              <a:rPr kumimoji="0" lang="fr-CA" sz="1800" b="0" i="0" u="none" strike="noStrike" kern="1200" cap="none" spc="0" normalizeH="0" baseline="0" noProof="0" dirty="0">
                <a:ln>
                  <a:noFill/>
                </a:ln>
                <a:solidFill>
                  <a:srgbClr val="C00000"/>
                </a:solidFill>
                <a:effectLst/>
                <a:uLnTx/>
                <a:uFillTx/>
                <a:latin typeface="Calibri" panose="020F0502020204030204"/>
                <a:ea typeface="+mn-ea"/>
                <a:cs typeface="+mn-cs"/>
              </a:rPr>
              <a:t>, il faut </a:t>
            </a:r>
            <a:r>
              <a:rPr kumimoji="0" lang="fr-CA" sz="1800" b="1" i="0" u="none" strike="noStrike" kern="1200" cap="none" spc="0" normalizeH="0" baseline="0" noProof="0" dirty="0">
                <a:ln>
                  <a:noFill/>
                </a:ln>
                <a:solidFill>
                  <a:srgbClr val="C00000"/>
                </a:solidFill>
                <a:effectLst/>
                <a:uLnTx/>
                <a:uFillTx/>
                <a:latin typeface="Arial" panose="020B0604020202020204"/>
                <a:ea typeface="+mn-ea"/>
                <a:cs typeface="+mn-cs"/>
              </a:rPr>
              <a:t>ABSOLUMENT</a:t>
            </a:r>
            <a:r>
              <a:rPr kumimoji="0" lang="fr-CA" sz="1800" b="0" i="0" u="none" strike="noStrike" kern="1200" cap="none" spc="0" normalizeH="0" baseline="0" noProof="0" dirty="0">
                <a:ln>
                  <a:noFill/>
                </a:ln>
                <a:solidFill>
                  <a:srgbClr val="C00000"/>
                </a:solidFill>
                <a:effectLst/>
                <a:uLnTx/>
                <a:uFillTx/>
                <a:latin typeface="Calibri" panose="020F0502020204030204"/>
                <a:ea typeface="+mn-ea"/>
                <a:cs typeface="+mn-cs"/>
              </a:rPr>
              <a:t> lier chaque facteur de RI à l’AS potentielle aux </a:t>
            </a:r>
            <a:r>
              <a:rPr kumimoji="0" lang="fr-CA" sz="1800" b="0" i="0" u="none" strike="noStrike" kern="1200" cap="none" spc="0" normalizeH="0" baseline="0" noProof="0" dirty="0" err="1">
                <a:ln>
                  <a:noFill/>
                </a:ln>
                <a:solidFill>
                  <a:srgbClr val="C00000"/>
                </a:solidFill>
                <a:effectLst/>
                <a:uLnTx/>
                <a:uFillTx/>
                <a:latin typeface="Calibri" panose="020F0502020204030204"/>
                <a:ea typeface="+mn-ea"/>
                <a:cs typeface="+mn-cs"/>
              </a:rPr>
              <a:t>ÉFs</a:t>
            </a:r>
            <a:endParaRPr kumimoji="0" lang="fr-CA"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6" name="Organigramme : Alternative 13">
            <a:extLst>
              <a:ext uri="{FF2B5EF4-FFF2-40B4-BE49-F238E27FC236}">
                <a16:creationId xmlns:a16="http://schemas.microsoft.com/office/drawing/2014/main" id="{3E7D7150-A6B2-DFC2-48D9-F26A92AA1CD6}"/>
              </a:ext>
            </a:extLst>
          </p:cNvPr>
          <p:cNvSpPr/>
          <p:nvPr/>
        </p:nvSpPr>
        <p:spPr>
          <a:xfrm>
            <a:off x="10482793" y="256202"/>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315</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5546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a:xfrm>
            <a:off x="9346105" y="637422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6A126F-ECAD-40CF-950D-291D558E4DF6}" type="slidenum">
              <a:rPr kumimoji="0" lang="fr-C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fr-C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ZoneTexte 4"/>
          <p:cNvSpPr txBox="1"/>
          <p:nvPr/>
        </p:nvSpPr>
        <p:spPr>
          <a:xfrm>
            <a:off x="638400" y="789140"/>
            <a:ext cx="10915201" cy="5529303"/>
          </a:xfrm>
          <a:prstGeom prst="rect">
            <a:avLst/>
          </a:prstGeom>
          <a:noFill/>
        </p:spPr>
        <p:txBody>
          <a:bodyPr wrap="square" rtlCol="0">
            <a:noAutofit/>
          </a:bodyPr>
          <a:lstStyle/>
          <a:p>
            <a:pPr marR="0" lvl="0" algn="just" defTabSz="914400" rtl="0" eaLnBrk="1" fontAlgn="auto" latinLnBrk="0" hangingPunct="1">
              <a:spcBef>
                <a:spcPts val="0"/>
              </a:spcBef>
              <a:spcAft>
                <a:spcPts val="0"/>
              </a:spcAft>
              <a:buClrTx/>
              <a:buSzTx/>
              <a:tabLst/>
              <a:defRPr/>
            </a:pPr>
            <a:r>
              <a:rPr kumimoji="0" lang="fr-CA" b="1" i="0" u="none" strike="noStrike" kern="1200" cap="none" spc="0" normalizeH="0" baseline="0" noProof="0" dirty="0">
                <a:ln>
                  <a:noFill/>
                </a:ln>
                <a:solidFill>
                  <a:prstClr val="black"/>
                </a:solidFill>
                <a:effectLst/>
                <a:uLnTx/>
                <a:uFillTx/>
                <a:latin typeface="Arial" charset="0"/>
                <a:ea typeface="Arial" charset="0"/>
                <a:cs typeface="Arial" charset="0"/>
              </a:rPr>
              <a:t>Facteurs à considérer : éléments pertinents du CI dont :</a:t>
            </a:r>
          </a:p>
          <a:p>
            <a:pPr marR="0" lvl="0" algn="just" defTabSz="914400" rtl="0" eaLnBrk="1" fontAlgn="auto" latinLnBrk="0" hangingPunct="1">
              <a:spcBef>
                <a:spcPts val="0"/>
              </a:spcBef>
              <a:spcAft>
                <a:spcPts val="0"/>
              </a:spcAft>
              <a:buClrTx/>
              <a:buSzTx/>
              <a:tabLst/>
              <a:defRPr/>
            </a:pPr>
            <a:endParaRPr kumimoji="0" lang="fr-CA" i="0" u="none" strike="noStrike" kern="1200" cap="none" spc="0" normalizeH="0" baseline="0" noProof="0" dirty="0">
              <a:ln>
                <a:noFill/>
              </a:ln>
              <a:solidFill>
                <a:prstClr val="black"/>
              </a:solidFill>
              <a:effectLst/>
              <a:uLnTx/>
              <a:uFillTx/>
              <a:latin typeface="Arial" charset="0"/>
              <a:ea typeface="Arial" charset="0"/>
              <a:cs typeface="Arial" charset="0"/>
            </a:endParaRPr>
          </a:p>
          <a:p>
            <a:pPr marL="342900" marR="0" lvl="0" indent="-342900" algn="just" defTabSz="914400" rtl="0" eaLnBrk="1" fontAlgn="auto" latinLnBrk="0" hangingPunct="1">
              <a:spcBef>
                <a:spcPts val="0"/>
              </a:spcBef>
              <a:spcAft>
                <a:spcPts val="0"/>
              </a:spcAft>
              <a:buClrTx/>
              <a:buSzTx/>
              <a:buFont typeface="Arial" charset="0"/>
              <a:buChar char="•"/>
              <a:tabLst/>
              <a:defRPr/>
            </a:pPr>
            <a:r>
              <a:rPr kumimoji="0" lang="fr-CA" b="1" i="0" u="none" strike="noStrike" kern="1200" cap="none" spc="0" normalizeH="0" baseline="0" noProof="0" dirty="0">
                <a:ln>
                  <a:noFill/>
                </a:ln>
                <a:solidFill>
                  <a:prstClr val="black"/>
                </a:solidFill>
                <a:effectLst/>
                <a:uLnTx/>
                <a:uFillTx/>
                <a:latin typeface="Arial" charset="0"/>
                <a:ea typeface="Arial" charset="0"/>
                <a:cs typeface="Arial" charset="0"/>
              </a:rPr>
              <a:t>Environnement de contrôle</a:t>
            </a:r>
          </a:p>
          <a:p>
            <a:pPr marL="800100" marR="0" lvl="1" indent="-342900" algn="just" defTabSz="914400" rtl="0" eaLnBrk="1" fontAlgn="auto" latinLnBrk="0" hangingPunct="1">
              <a:spcBef>
                <a:spcPts val="0"/>
              </a:spcBef>
              <a:spcAft>
                <a:spcPts val="0"/>
              </a:spcAft>
              <a:buClrTx/>
              <a:buSzTx/>
              <a:buFont typeface="Arial" charset="0"/>
              <a:buChar char="•"/>
              <a:tabLst/>
              <a:defRPr/>
            </a:pPr>
            <a:r>
              <a:rPr kumimoji="0" lang="fr-CA" i="0" u="none" strike="noStrike" kern="1200" cap="none" spc="0" normalizeH="0" baseline="0" noProof="0" dirty="0">
                <a:ln>
                  <a:noFill/>
                </a:ln>
                <a:solidFill>
                  <a:prstClr val="black"/>
                </a:solidFill>
                <a:effectLst/>
                <a:uLnTx/>
                <a:uFillTx/>
                <a:latin typeface="Arial" charset="0"/>
                <a:ea typeface="Arial" charset="0"/>
                <a:cs typeface="Arial" charset="0"/>
              </a:rPr>
              <a:t>Intégrité et compétence de la direction</a:t>
            </a:r>
          </a:p>
          <a:p>
            <a:pPr marL="800100" marR="0" lvl="1" indent="-342900" algn="just" defTabSz="914400" rtl="0" eaLnBrk="1" fontAlgn="auto" latinLnBrk="0" hangingPunct="1">
              <a:spcBef>
                <a:spcPts val="0"/>
              </a:spcBef>
              <a:spcAft>
                <a:spcPts val="0"/>
              </a:spcAft>
              <a:buClrTx/>
              <a:buSzTx/>
              <a:buFont typeface="Arial" charset="0"/>
              <a:buChar char="•"/>
              <a:tabLst/>
              <a:defRPr/>
            </a:pPr>
            <a:r>
              <a:rPr kumimoji="0" lang="fr-CA" i="0" u="none" strike="noStrike" kern="1200" cap="none" spc="0" normalizeH="0" baseline="0" noProof="0" dirty="0">
                <a:ln>
                  <a:noFill/>
                </a:ln>
                <a:solidFill>
                  <a:prstClr val="black"/>
                </a:solidFill>
                <a:effectLst/>
                <a:uLnTx/>
                <a:uFillTx/>
                <a:latin typeface="Arial" charset="0"/>
                <a:ea typeface="Arial" charset="0"/>
                <a:cs typeface="Arial" charset="0"/>
              </a:rPr>
              <a:t>Qualité et indépendance de la gouvernance (conseil d’admin, comité d’audit, audit interne)</a:t>
            </a:r>
          </a:p>
          <a:p>
            <a:pPr marL="800100" marR="0" lvl="1" indent="-342900" algn="just" defTabSz="914400" rtl="0" eaLnBrk="1" fontAlgn="auto" latinLnBrk="0" hangingPunct="1">
              <a:spcBef>
                <a:spcPts val="0"/>
              </a:spcBef>
              <a:spcAft>
                <a:spcPts val="0"/>
              </a:spcAft>
              <a:buClrTx/>
              <a:buSzTx/>
              <a:buFont typeface="Arial" charset="0"/>
              <a:buChar char="•"/>
              <a:tabLst/>
              <a:defRPr/>
            </a:pPr>
            <a:r>
              <a:rPr lang="fr-CA" dirty="0">
                <a:solidFill>
                  <a:prstClr val="black"/>
                </a:solidFill>
                <a:latin typeface="Arial" charset="0"/>
                <a:ea typeface="Arial" charset="0"/>
                <a:cs typeface="Arial" charset="0"/>
              </a:rPr>
              <a:t>Structure organisationnelle, délégation de pouvoirs et responsabilités, gestion des RH</a:t>
            </a:r>
            <a:endParaRPr kumimoji="0" lang="fr-CA" i="0" u="none" strike="noStrike" kern="1200" cap="none" spc="0" normalizeH="0" baseline="0" noProof="0" dirty="0">
              <a:ln>
                <a:noFill/>
              </a:ln>
              <a:solidFill>
                <a:prstClr val="black"/>
              </a:solidFill>
              <a:effectLst/>
              <a:uLnTx/>
              <a:uFillTx/>
              <a:latin typeface="Arial" charset="0"/>
              <a:ea typeface="Arial" charset="0"/>
              <a:cs typeface="Arial" charset="0"/>
            </a:endParaRPr>
          </a:p>
          <a:p>
            <a:pPr marL="342900" marR="0" lvl="0" indent="-342900" algn="just" defTabSz="914400" rtl="0" eaLnBrk="1" fontAlgn="auto" latinLnBrk="0" hangingPunct="1">
              <a:spcBef>
                <a:spcPts val="0"/>
              </a:spcBef>
              <a:spcAft>
                <a:spcPts val="0"/>
              </a:spcAft>
              <a:buClrTx/>
              <a:buSzTx/>
              <a:buFont typeface="Arial" charset="0"/>
              <a:buChar char="•"/>
              <a:tabLst/>
              <a:defRPr/>
            </a:pPr>
            <a:r>
              <a:rPr kumimoji="0" lang="fr-CA" b="1" i="0" u="none" strike="noStrike" kern="1200" cap="none" spc="0" normalizeH="0" baseline="0" noProof="0" dirty="0">
                <a:ln>
                  <a:noFill/>
                </a:ln>
                <a:solidFill>
                  <a:prstClr val="black"/>
                </a:solidFill>
                <a:effectLst/>
                <a:uLnTx/>
                <a:uFillTx/>
                <a:latin typeface="Arial" charset="0"/>
                <a:ea typeface="Arial" charset="0"/>
                <a:cs typeface="Arial" charset="0"/>
              </a:rPr>
              <a:t>Processus d’évaluation des risques par l’entité</a:t>
            </a:r>
          </a:p>
          <a:p>
            <a:pPr marL="800100" lvl="1" indent="-342900" algn="just" defTabSz="914400">
              <a:buFont typeface="Arial" charset="0"/>
              <a:buChar char="•"/>
              <a:defRPr/>
            </a:pPr>
            <a:r>
              <a:rPr lang="fr-CA" dirty="0">
                <a:solidFill>
                  <a:prstClr val="black"/>
                </a:solidFill>
                <a:latin typeface="Arial" charset="0"/>
                <a:ea typeface="Arial" charset="0"/>
                <a:cs typeface="Arial" charset="0"/>
              </a:rPr>
              <a:t>Comprend l’identification des risques, l’évaluation de la probabilité de réalisation, les mesures à prendre pour les gérer</a:t>
            </a:r>
            <a:endParaRPr kumimoji="0" lang="fr-CA" i="0" u="none" strike="noStrike" kern="1200" cap="none" spc="0" normalizeH="0" baseline="0" noProof="0" dirty="0">
              <a:ln>
                <a:noFill/>
              </a:ln>
              <a:solidFill>
                <a:prstClr val="black"/>
              </a:solidFill>
              <a:effectLst/>
              <a:uLnTx/>
              <a:uFillTx/>
              <a:latin typeface="Arial" charset="0"/>
              <a:ea typeface="Arial" charset="0"/>
              <a:cs typeface="Arial" charset="0"/>
            </a:endParaRPr>
          </a:p>
          <a:p>
            <a:pPr marL="342900" marR="0" lvl="0" indent="-342900" algn="just" defTabSz="914400" rtl="0" eaLnBrk="1" fontAlgn="auto" latinLnBrk="0" hangingPunct="1">
              <a:spcBef>
                <a:spcPts val="0"/>
              </a:spcBef>
              <a:spcAft>
                <a:spcPts val="0"/>
              </a:spcAft>
              <a:buClrTx/>
              <a:buSzTx/>
              <a:buFont typeface="Arial" charset="0"/>
              <a:buChar char="•"/>
              <a:tabLst/>
              <a:defRPr/>
            </a:pPr>
            <a:r>
              <a:rPr kumimoji="0" lang="fr-CA" b="1" i="0" u="none" strike="noStrike" kern="1200" cap="none" spc="0" normalizeH="0" baseline="0" noProof="0" dirty="0">
                <a:ln>
                  <a:noFill/>
                </a:ln>
                <a:solidFill>
                  <a:prstClr val="black"/>
                </a:solidFill>
                <a:effectLst/>
                <a:uLnTx/>
                <a:uFillTx/>
                <a:latin typeface="Arial" charset="0"/>
                <a:ea typeface="Arial" charset="0"/>
                <a:cs typeface="Arial" charset="0"/>
              </a:rPr>
              <a:t>Processus de suivi du système de contrôle interne par l’entité</a:t>
            </a:r>
          </a:p>
          <a:p>
            <a:pPr marL="800100" lvl="1" indent="-342900" algn="just" defTabSz="914400">
              <a:buFont typeface="Arial" charset="0"/>
              <a:buChar char="•"/>
              <a:defRPr/>
            </a:pPr>
            <a:r>
              <a:rPr kumimoji="0" lang="fr-CA" b="0" i="0" u="none" strike="noStrike" kern="1200" cap="none" spc="0" normalizeH="0" baseline="0" noProof="0" dirty="0">
                <a:ln>
                  <a:noFill/>
                </a:ln>
                <a:solidFill>
                  <a:prstClr val="black"/>
                </a:solidFill>
                <a:effectLst/>
                <a:uLnTx/>
                <a:uFillTx/>
                <a:latin typeface="Arial" charset="0"/>
                <a:ea typeface="Arial" charset="0"/>
                <a:cs typeface="Arial" charset="0"/>
              </a:rPr>
              <a:t>La gestion adéquate des changements apportés aux contrôles et évaluation des contrôles</a:t>
            </a:r>
            <a:endParaRPr kumimoji="0" lang="fr-CA" i="0" u="none" strike="noStrike" kern="1200" cap="none" spc="0" normalizeH="0" baseline="0" noProof="0" dirty="0">
              <a:ln>
                <a:noFill/>
              </a:ln>
              <a:solidFill>
                <a:prstClr val="black"/>
              </a:solidFill>
              <a:effectLst/>
              <a:uLnTx/>
              <a:uFillTx/>
              <a:latin typeface="Arial" charset="0"/>
              <a:ea typeface="Arial" charset="0"/>
              <a:cs typeface="Arial" charset="0"/>
            </a:endParaRPr>
          </a:p>
          <a:p>
            <a:pPr marL="342900" marR="0" lvl="0" indent="-342900" algn="just" defTabSz="914400" rtl="0" eaLnBrk="1" fontAlgn="auto" latinLnBrk="0" hangingPunct="1">
              <a:spcBef>
                <a:spcPts val="0"/>
              </a:spcBef>
              <a:spcAft>
                <a:spcPts val="0"/>
              </a:spcAft>
              <a:buClrTx/>
              <a:buSzTx/>
              <a:buFont typeface="Arial" charset="0"/>
              <a:buChar char="•"/>
              <a:tabLst/>
              <a:defRPr/>
            </a:pPr>
            <a:r>
              <a:rPr kumimoji="0" lang="fr-CA" b="1" i="0" u="none" strike="noStrike" kern="1200" cap="none" spc="0" normalizeH="0" baseline="0" noProof="0" dirty="0">
                <a:ln>
                  <a:noFill/>
                </a:ln>
                <a:solidFill>
                  <a:prstClr val="black"/>
                </a:solidFill>
                <a:effectLst/>
                <a:uLnTx/>
                <a:uFillTx/>
                <a:latin typeface="Arial" charset="0"/>
                <a:ea typeface="Arial" charset="0"/>
                <a:cs typeface="Arial" charset="0"/>
              </a:rPr>
              <a:t>Système d’information et communications</a:t>
            </a:r>
          </a:p>
          <a:p>
            <a:pPr marL="800100" lvl="1" indent="-342900" algn="just" defTabSz="914400">
              <a:buFont typeface="Arial" charset="0"/>
              <a:buChar char="•"/>
              <a:defRPr/>
            </a:pPr>
            <a:r>
              <a:rPr lang="fr-CA" dirty="0">
                <a:solidFill>
                  <a:prstClr val="black"/>
                </a:solidFill>
                <a:latin typeface="Arial" charset="0"/>
                <a:ea typeface="Arial" charset="0"/>
                <a:cs typeface="Arial" charset="0"/>
              </a:rPr>
              <a:t>Comprend les activités et les politiques, documents comptables et documents justificatifs liés aux contrôles</a:t>
            </a:r>
            <a:endParaRPr kumimoji="0" lang="fr-CA" i="0" u="none" strike="noStrike" kern="1200" cap="none" spc="0" normalizeH="0" baseline="0" noProof="0" dirty="0">
              <a:ln>
                <a:noFill/>
              </a:ln>
              <a:solidFill>
                <a:prstClr val="black"/>
              </a:solidFill>
              <a:effectLst/>
              <a:uLnTx/>
              <a:uFillTx/>
              <a:latin typeface="Arial" charset="0"/>
              <a:ea typeface="Arial" charset="0"/>
              <a:cs typeface="Arial" charset="0"/>
            </a:endParaRPr>
          </a:p>
          <a:p>
            <a:pPr marL="342900" marR="0" lvl="0" indent="-342900" algn="just" defTabSz="914400" rtl="0" eaLnBrk="1" fontAlgn="auto" latinLnBrk="0" hangingPunct="1">
              <a:spcBef>
                <a:spcPts val="0"/>
              </a:spcBef>
              <a:spcAft>
                <a:spcPts val="0"/>
              </a:spcAft>
              <a:buClrTx/>
              <a:buSzTx/>
              <a:buFont typeface="Arial" charset="0"/>
              <a:buChar char="•"/>
              <a:tabLst/>
              <a:defRPr/>
            </a:pPr>
            <a:r>
              <a:rPr kumimoji="0" lang="fr-CA" b="1" i="0" u="none" strike="noStrike" kern="1200" cap="none" spc="0" normalizeH="0" baseline="0" noProof="0" dirty="0">
                <a:ln>
                  <a:noFill/>
                </a:ln>
                <a:solidFill>
                  <a:prstClr val="black"/>
                </a:solidFill>
                <a:effectLst/>
                <a:uLnTx/>
                <a:uFillTx/>
                <a:latin typeface="Arial" charset="0"/>
                <a:ea typeface="Arial" charset="0"/>
                <a:cs typeface="Arial" charset="0"/>
              </a:rPr>
              <a:t>Activités de contrôle</a:t>
            </a:r>
          </a:p>
          <a:p>
            <a:pPr marL="800100" marR="0" lvl="1" indent="-342900" algn="just" defTabSz="914400" rtl="0" eaLnBrk="1" fontAlgn="auto" latinLnBrk="0" hangingPunct="1">
              <a:spcBef>
                <a:spcPts val="0"/>
              </a:spcBef>
              <a:spcAft>
                <a:spcPts val="0"/>
              </a:spcAft>
              <a:buClrTx/>
              <a:buSzTx/>
              <a:buFont typeface="Arial" charset="0"/>
              <a:buChar char="•"/>
              <a:tabLst/>
              <a:defRPr/>
            </a:pPr>
            <a:r>
              <a:rPr kumimoji="0" lang="fr-CA" i="0" u="none" strike="noStrike" kern="1200" cap="none" spc="0" normalizeH="0" baseline="0" noProof="0" dirty="0">
                <a:ln>
                  <a:noFill/>
                </a:ln>
                <a:solidFill>
                  <a:prstClr val="black"/>
                </a:solidFill>
                <a:effectLst/>
                <a:uLnTx/>
                <a:uFillTx/>
                <a:latin typeface="Arial" charset="0"/>
                <a:ea typeface="Arial" charset="0"/>
                <a:cs typeface="Arial" charset="0"/>
              </a:rPr>
              <a:t>Existence et efficacité des contrôles manuels et informatisés pertinents (autorisations, traitement de l’information, contrôles physiques, séparation des tâches)</a:t>
            </a:r>
          </a:p>
          <a:p>
            <a:pPr marL="800100" marR="0" lvl="1" indent="-342900" algn="just" defTabSz="914400" rtl="0" eaLnBrk="1" fontAlgn="auto" latinLnBrk="0" hangingPunct="1">
              <a:spcBef>
                <a:spcPts val="0"/>
              </a:spcBef>
              <a:spcAft>
                <a:spcPts val="0"/>
              </a:spcAft>
              <a:buClrTx/>
              <a:buSzTx/>
              <a:buFont typeface="Arial" charset="0"/>
              <a:buChar char="•"/>
              <a:tabLst/>
              <a:defRPr/>
            </a:pPr>
            <a:r>
              <a:rPr kumimoji="0" lang="fr-CA" i="0" u="none" strike="noStrike" kern="1200" cap="none" spc="0" normalizeH="0" baseline="0" noProof="0" dirty="0">
                <a:ln>
                  <a:noFill/>
                </a:ln>
                <a:solidFill>
                  <a:prstClr val="black"/>
                </a:solidFill>
                <a:effectLst/>
                <a:uLnTx/>
                <a:uFillTx/>
                <a:latin typeface="Arial" charset="0"/>
                <a:ea typeface="Arial" charset="0"/>
                <a:cs typeface="Arial" charset="0"/>
              </a:rPr>
              <a:t>Complexité de l’infrastructure du CI : éparpillement géographique/technologique/légal</a:t>
            </a:r>
            <a:endParaRPr kumimoji="0" lang="fr-CA" sz="16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2" indent="-342900" algn="just" defTabSz="914400" rtl="0" eaLnBrk="1" fontAlgn="auto" latinLnBrk="0" hangingPunct="1">
              <a:lnSpc>
                <a:spcPct val="100000"/>
              </a:lnSpc>
              <a:spcBef>
                <a:spcPts val="0"/>
              </a:spcBef>
              <a:spcAft>
                <a:spcPts val="0"/>
              </a:spcAft>
              <a:buClrTx/>
              <a:buSzTx/>
              <a:buFont typeface="Arial" charset="0"/>
              <a:buChar char="•"/>
              <a:tabLst/>
              <a:defRPr/>
            </a:pPr>
            <a:endParaRPr kumimoji="0" lang="fr-C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rganigramme : Alternative 8"/>
          <p:cNvSpPr/>
          <p:nvPr/>
        </p:nvSpPr>
        <p:spPr>
          <a:xfrm>
            <a:off x="451969" y="5945495"/>
            <a:ext cx="8964810" cy="372948"/>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0" lang="fr-CA" sz="1800" b="1" i="0" u="none" strike="noStrike" kern="1200" cap="none" spc="0" normalizeH="0" baseline="0" noProof="0" dirty="0">
                <a:ln>
                  <a:noFill/>
                </a:ln>
                <a:solidFill>
                  <a:srgbClr val="C00000"/>
                </a:solidFill>
                <a:effectLst/>
                <a:uLnTx/>
                <a:uFillTx/>
                <a:latin typeface="Calibri" panose="020F0502020204030204"/>
                <a:ea typeface="+mn-ea"/>
                <a:cs typeface="+mn-cs"/>
              </a:rPr>
              <a:t>ATTENTION,</a:t>
            </a:r>
            <a:r>
              <a:rPr kumimoji="0" lang="fr-CA" sz="1800" i="0" u="none" strike="noStrike" kern="1200" cap="none" spc="0" normalizeH="0" noProof="0" dirty="0">
                <a:ln>
                  <a:noFill/>
                </a:ln>
                <a:solidFill>
                  <a:srgbClr val="C00000"/>
                </a:solidFill>
                <a:effectLst/>
                <a:uLnTx/>
                <a:uFillTx/>
                <a:latin typeface="Calibri" panose="020F0502020204030204"/>
                <a:ea typeface="+mn-ea"/>
                <a:cs typeface="+mn-cs"/>
              </a:rPr>
              <a:t> i</a:t>
            </a:r>
            <a:r>
              <a:rPr kumimoji="0" lang="fr-CA" sz="1800" i="0" u="none" strike="noStrike" kern="1200" cap="none" spc="0" normalizeH="0" baseline="0" noProof="0" dirty="0">
                <a:ln>
                  <a:noFill/>
                </a:ln>
                <a:solidFill>
                  <a:srgbClr val="C00000"/>
                </a:solidFill>
                <a:effectLst/>
                <a:uLnTx/>
                <a:uFillTx/>
                <a:latin typeface="Calibri" panose="020F0502020204030204"/>
                <a:ea typeface="+mn-ea"/>
                <a:cs typeface="+mn-cs"/>
              </a:rPr>
              <a:t>l faut </a:t>
            </a:r>
            <a:r>
              <a:rPr kumimoji="0" lang="fr-CA" sz="1800" b="0" i="0" u="none" strike="noStrike" kern="1200" cap="none" spc="0" normalizeH="0" baseline="0" noProof="0" dirty="0">
                <a:ln>
                  <a:noFill/>
                </a:ln>
                <a:solidFill>
                  <a:srgbClr val="C00000"/>
                </a:solidFill>
                <a:effectLst/>
                <a:uLnTx/>
                <a:uFillTx/>
                <a:latin typeface="Calibri" panose="020F0502020204030204"/>
                <a:ea typeface="+mn-ea"/>
                <a:cs typeface="+mn-cs"/>
              </a:rPr>
              <a:t>lier le facteur de RLC à l’AS potentielle aux </a:t>
            </a:r>
            <a:r>
              <a:rPr kumimoji="0" lang="fr-CA" sz="1800" b="0" i="0" u="none" strike="noStrike" kern="1200" cap="none" spc="0" normalizeH="0" baseline="0" noProof="0" dirty="0" err="1">
                <a:ln>
                  <a:noFill/>
                </a:ln>
                <a:solidFill>
                  <a:srgbClr val="C00000"/>
                </a:solidFill>
                <a:effectLst/>
                <a:uLnTx/>
                <a:uFillTx/>
                <a:latin typeface="Calibri" panose="020F0502020204030204"/>
                <a:ea typeface="+mn-ea"/>
                <a:cs typeface="+mn-cs"/>
              </a:rPr>
              <a:t>ÉFs</a:t>
            </a:r>
            <a:r>
              <a:rPr kumimoji="0" lang="fr-CA" sz="18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lang="fr-CA" b="1" dirty="0">
                <a:solidFill>
                  <a:srgbClr val="C00000"/>
                </a:solidFill>
              </a:rPr>
              <a:t>(lien souvent + « soft »)</a:t>
            </a:r>
            <a:endParaRPr kumimoji="0" lang="fr-CA"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3" name="Titre 2"/>
          <p:cNvSpPr>
            <a:spLocks noGrp="1"/>
          </p:cNvSpPr>
          <p:nvPr>
            <p:ph type="title"/>
          </p:nvPr>
        </p:nvSpPr>
        <p:spPr>
          <a:xfrm>
            <a:off x="174936" y="113244"/>
            <a:ext cx="11812471" cy="675896"/>
          </a:xfrm>
        </p:spPr>
        <p:txBody>
          <a:bodyPr/>
          <a:lstStyle/>
          <a:p>
            <a:r>
              <a:rPr lang="en-CA" dirty="0"/>
              <a:t>RAS </a:t>
            </a:r>
            <a:r>
              <a:rPr lang="mr-IN" dirty="0"/>
              <a:t>–</a:t>
            </a:r>
            <a:r>
              <a:rPr lang="en-CA" dirty="0"/>
              <a:t> </a:t>
            </a:r>
            <a:r>
              <a:rPr lang="en-CA" dirty="0" err="1"/>
              <a:t>Risque</a:t>
            </a:r>
            <a:r>
              <a:rPr lang="en-CA" dirty="0"/>
              <a:t> </a:t>
            </a:r>
            <a:r>
              <a:rPr lang="en-CA" dirty="0" err="1"/>
              <a:t>lié</a:t>
            </a:r>
            <a:r>
              <a:rPr lang="en-CA" dirty="0"/>
              <a:t> au </a:t>
            </a:r>
            <a:r>
              <a:rPr lang="en-CA" dirty="0" err="1"/>
              <a:t>contrôle</a:t>
            </a:r>
            <a:endParaRPr lang="en-CA" dirty="0"/>
          </a:p>
        </p:txBody>
      </p:sp>
      <p:sp>
        <p:nvSpPr>
          <p:cNvPr id="6" name="Organigramme : Alternative 13">
            <a:extLst>
              <a:ext uri="{FF2B5EF4-FFF2-40B4-BE49-F238E27FC236}">
                <a16:creationId xmlns:a16="http://schemas.microsoft.com/office/drawing/2014/main" id="{A8087A9B-24A6-3C52-B771-6AA641F46CCE}"/>
              </a:ext>
            </a:extLst>
          </p:cNvPr>
          <p:cNvSpPr/>
          <p:nvPr/>
        </p:nvSpPr>
        <p:spPr>
          <a:xfrm>
            <a:off x="10482793" y="256202"/>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315</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1532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CA" dirty="0"/>
              <a:t>Analyse des </a:t>
            </a:r>
            <a:r>
              <a:rPr lang="en-CA" dirty="0" err="1"/>
              <a:t>risques</a:t>
            </a:r>
            <a:endParaRPr lang="en-CA" dirty="0"/>
          </a:p>
        </p:txBody>
      </p:sp>
      <p:sp>
        <p:nvSpPr>
          <p:cNvPr id="3" name="Espace réservé du contenu 2"/>
          <p:cNvSpPr>
            <a:spLocks noGrp="1"/>
          </p:cNvSpPr>
          <p:nvPr>
            <p:ph idx="1"/>
          </p:nvPr>
        </p:nvSpPr>
        <p:spPr/>
        <p:txBody>
          <a:bodyPr/>
          <a:lstStyle/>
          <a:p>
            <a:r>
              <a:rPr lang="fr-FR" dirty="0"/>
              <a:t>Exemple (fait du cas) : </a:t>
            </a:r>
          </a:p>
          <a:p>
            <a:pPr lvl="1"/>
            <a:r>
              <a:rPr lang="fr-FR" dirty="0"/>
              <a:t>Vous faites l’audit des </a:t>
            </a:r>
            <a:r>
              <a:rPr lang="fr-FR" dirty="0" err="1"/>
              <a:t>ÉFs</a:t>
            </a:r>
            <a:r>
              <a:rPr lang="fr-FR" dirty="0"/>
              <a:t> d’une entreprise pour l’année 2022. Elle souhaite obtenir du financement supplémentaire vers la fin de 2023.</a:t>
            </a:r>
          </a:p>
          <a:p>
            <a:pPr lvl="1"/>
            <a:endParaRPr lang="fr-FR" dirty="0"/>
          </a:p>
          <a:p>
            <a:r>
              <a:rPr lang="fr-FR" dirty="0"/>
              <a:t>Analyse d’un élément de risque :</a:t>
            </a:r>
          </a:p>
          <a:p>
            <a:pPr lvl="1"/>
            <a:r>
              <a:rPr lang="fr-FR" dirty="0"/>
              <a:t>L’entreprise envisage d’obtenir du financement supplémentaire vers la fin de 2023. Les actionnaires et les prêteurs potentiels voudront donc examiner les </a:t>
            </a:r>
            <a:r>
              <a:rPr lang="fr-FR" dirty="0" err="1"/>
              <a:t>ÉFs</a:t>
            </a:r>
            <a:r>
              <a:rPr lang="fr-FR" dirty="0"/>
              <a:t> pour prendre leur décision (investir ou prêter). La direction pourrait être incitée à surestimer le résultat et la performance financière de la société ce qui entraîne une augmentation du risque d’anomalies significatives dans les </a:t>
            </a:r>
            <a:r>
              <a:rPr lang="fr-FR" dirty="0" err="1"/>
              <a:t>ÉFs</a:t>
            </a:r>
            <a:r>
              <a:rPr lang="fr-FR" dirty="0"/>
              <a:t>.</a:t>
            </a:r>
            <a:endParaRPr lang="en-CA" dirty="0"/>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35</a:t>
            </a:fld>
            <a:endParaRPr lang="en-US" dirty="0"/>
          </a:p>
        </p:txBody>
      </p:sp>
    </p:spTree>
    <p:extLst>
      <p:ext uri="{BB962C8B-B14F-4D97-AF65-F5344CB8AC3E}">
        <p14:creationId xmlns:p14="http://schemas.microsoft.com/office/powerpoint/2010/main" val="2365905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err="1"/>
              <a:t>Seuil</a:t>
            </a:r>
            <a:r>
              <a:rPr lang="en-CA" dirty="0"/>
              <a:t> de signification</a:t>
            </a:r>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36</a:t>
            </a:fld>
            <a:endParaRPr lang="en-US" dirty="0"/>
          </a:p>
        </p:txBody>
      </p:sp>
      <p:sp>
        <p:nvSpPr>
          <p:cNvPr id="3" name="Content Placeholder 2"/>
          <p:cNvSpPr>
            <a:spLocks noGrp="1"/>
          </p:cNvSpPr>
          <p:nvPr>
            <p:ph idx="1"/>
          </p:nvPr>
        </p:nvSpPr>
        <p:spPr/>
        <p:txBody>
          <a:bodyPr>
            <a:noAutofit/>
          </a:bodyPr>
          <a:lstStyle/>
          <a:p>
            <a:pPr marL="0" indent="0">
              <a:buNone/>
            </a:pPr>
            <a:r>
              <a:rPr lang="fr-CA" sz="2800" dirty="0"/>
              <a:t>Structure de réponse recommandée pour le SS :</a:t>
            </a:r>
          </a:p>
          <a:p>
            <a:r>
              <a:rPr lang="fr-CA" sz="2800" dirty="0"/>
              <a:t>Identification des utilisateurs (au moins 2) et ce qui les intéressent (fait du cas)</a:t>
            </a:r>
          </a:p>
          <a:p>
            <a:r>
              <a:rPr lang="fr-CA" sz="2800" dirty="0"/>
              <a:t>Lien entre les utilisateurs et une base</a:t>
            </a:r>
          </a:p>
          <a:p>
            <a:r>
              <a:rPr lang="fr-CA" sz="2800" dirty="0"/>
              <a:t>Discussion sur le % à utiliser (en mentionnant la fourchette) </a:t>
            </a:r>
          </a:p>
          <a:p>
            <a:pPr lvl="1"/>
            <a:r>
              <a:rPr lang="fr-CA" sz="2600" dirty="0"/>
              <a:t>Justifier en </a:t>
            </a:r>
            <a:r>
              <a:rPr lang="fr-CA" sz="2600" b="1" dirty="0"/>
              <a:t>fonction de la sensibilité des utilisateurs</a:t>
            </a:r>
            <a:r>
              <a:rPr lang="fr-CA" sz="2600" dirty="0"/>
              <a:t> ET NON PAS LE RISQUE</a:t>
            </a:r>
          </a:p>
          <a:p>
            <a:r>
              <a:rPr lang="fr-CA" sz="2800" dirty="0"/>
              <a:t>Calcul avec chiffres redressés</a:t>
            </a:r>
          </a:p>
        </p:txBody>
      </p:sp>
      <p:sp>
        <p:nvSpPr>
          <p:cNvPr id="5" name="Organigramme : Alternative 13">
            <a:extLst>
              <a:ext uri="{FF2B5EF4-FFF2-40B4-BE49-F238E27FC236}">
                <a16:creationId xmlns:a16="http://schemas.microsoft.com/office/drawing/2014/main" id="{892DA729-0535-23FB-7952-54D82C7304BB}"/>
              </a:ext>
            </a:extLst>
          </p:cNvPr>
          <p:cNvSpPr/>
          <p:nvPr/>
        </p:nvSpPr>
        <p:spPr>
          <a:xfrm>
            <a:off x="7940668" y="358180"/>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320</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6774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err="1"/>
              <a:t>Seuil</a:t>
            </a:r>
            <a:r>
              <a:rPr lang="en-CA" dirty="0"/>
              <a:t> de signification</a:t>
            </a:r>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37</a:t>
            </a:fld>
            <a:endParaRPr lang="en-US" dirty="0"/>
          </a:p>
        </p:txBody>
      </p:sp>
      <p:sp>
        <p:nvSpPr>
          <p:cNvPr id="3" name="Content Placeholder 2"/>
          <p:cNvSpPr>
            <a:spLocks noGrp="1"/>
          </p:cNvSpPr>
          <p:nvPr>
            <p:ph idx="1"/>
          </p:nvPr>
        </p:nvSpPr>
        <p:spPr/>
        <p:txBody>
          <a:bodyPr>
            <a:noAutofit/>
          </a:bodyPr>
          <a:lstStyle/>
          <a:p>
            <a:pPr marL="0" indent="0">
              <a:buNone/>
            </a:pPr>
            <a:r>
              <a:rPr lang="fr-CA" sz="2800" dirty="0"/>
              <a:t>Seuil de signification pour les travaux (SST) :</a:t>
            </a:r>
          </a:p>
          <a:p>
            <a:r>
              <a:rPr lang="fr-CA" sz="2800" dirty="0"/>
              <a:t>Objectif : Ramener à un niveau suffisamment faible la probabilité que le total des anomalies non corrigées et non détectées excède le seuil de signification pour les </a:t>
            </a:r>
            <a:r>
              <a:rPr lang="fr-CA" sz="2800" dirty="0" err="1"/>
              <a:t>ÉFs</a:t>
            </a:r>
            <a:r>
              <a:rPr lang="fr-CA" sz="2800" dirty="0"/>
              <a:t> pris dans leur ensemble </a:t>
            </a:r>
          </a:p>
          <a:p>
            <a:r>
              <a:rPr lang="fr-CA" sz="2800" dirty="0"/>
              <a:t>Discussion sur le % à utiliser (en mentionnant la fourchette) </a:t>
            </a:r>
          </a:p>
          <a:p>
            <a:pPr lvl="1"/>
            <a:r>
              <a:rPr lang="fr-CA" sz="2400" dirty="0"/>
              <a:t>Justifier en fonction du risque de ne pas détecter certaines anomalies (analyse des risques et anomalies relevées (exercices antérieurs et exercice courant))</a:t>
            </a:r>
          </a:p>
          <a:p>
            <a:r>
              <a:rPr lang="fr-CA" sz="2800" dirty="0"/>
              <a:t>Calcul : SS * % = SST</a:t>
            </a:r>
          </a:p>
        </p:txBody>
      </p:sp>
      <p:sp>
        <p:nvSpPr>
          <p:cNvPr id="6" name="Organigramme : Alternative 13">
            <a:extLst>
              <a:ext uri="{FF2B5EF4-FFF2-40B4-BE49-F238E27FC236}">
                <a16:creationId xmlns:a16="http://schemas.microsoft.com/office/drawing/2014/main" id="{EAFDFC9C-ADAA-B69A-D61E-7C96125809DA}"/>
              </a:ext>
            </a:extLst>
          </p:cNvPr>
          <p:cNvSpPr/>
          <p:nvPr/>
        </p:nvSpPr>
        <p:spPr>
          <a:xfrm>
            <a:off x="7940668" y="358180"/>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320</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6998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err="1"/>
              <a:t>Seuil</a:t>
            </a:r>
            <a:r>
              <a:rPr lang="en-CA" dirty="0"/>
              <a:t> de signification</a:t>
            </a:r>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38</a:t>
            </a:fld>
            <a:endParaRPr lang="en-US" dirty="0"/>
          </a:p>
        </p:txBody>
      </p:sp>
      <p:sp>
        <p:nvSpPr>
          <p:cNvPr id="3" name="Content Placeholder 2"/>
          <p:cNvSpPr>
            <a:spLocks noGrp="1"/>
          </p:cNvSpPr>
          <p:nvPr>
            <p:ph idx="1"/>
          </p:nvPr>
        </p:nvSpPr>
        <p:spPr/>
        <p:txBody>
          <a:bodyPr>
            <a:noAutofit/>
          </a:bodyPr>
          <a:lstStyle/>
          <a:p>
            <a:r>
              <a:rPr lang="fr-CA" sz="2800" dirty="0"/>
              <a:t>Seuils de signification spécifiques à appliquer à des catégories d'opérations, des soldes de comptes ou des informations à fournir :</a:t>
            </a:r>
          </a:p>
          <a:p>
            <a:pPr lvl="1"/>
            <a:r>
              <a:rPr lang="fr-CA" sz="2400" dirty="0"/>
              <a:t>Lorsque pertinent</a:t>
            </a:r>
          </a:p>
        </p:txBody>
      </p:sp>
      <p:sp>
        <p:nvSpPr>
          <p:cNvPr id="6" name="Organigramme : Alternative 13">
            <a:extLst>
              <a:ext uri="{FF2B5EF4-FFF2-40B4-BE49-F238E27FC236}">
                <a16:creationId xmlns:a16="http://schemas.microsoft.com/office/drawing/2014/main" id="{9D5CDBF8-475B-2A72-3DB3-32553E18AF28}"/>
              </a:ext>
            </a:extLst>
          </p:cNvPr>
          <p:cNvSpPr/>
          <p:nvPr/>
        </p:nvSpPr>
        <p:spPr>
          <a:xfrm>
            <a:off x="7940668" y="358180"/>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320</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8009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549401" y="1448831"/>
            <a:ext cx="5283200" cy="369332"/>
          </a:xfrm>
          <a:custGeom>
            <a:avLst/>
            <a:gdLst/>
            <a:ahLst/>
            <a:cxnLst/>
            <a:rect l="l" t="t" r="r" b="b"/>
            <a:pathLst>
              <a:path w="5283200" h="1969135">
                <a:moveTo>
                  <a:pt x="0" y="1969007"/>
                </a:moveTo>
                <a:lnTo>
                  <a:pt x="5283200" y="1969007"/>
                </a:lnTo>
                <a:lnTo>
                  <a:pt x="5283200" y="0"/>
                </a:lnTo>
                <a:lnTo>
                  <a:pt x="0" y="0"/>
                </a:lnTo>
                <a:lnTo>
                  <a:pt x="0" y="1969007"/>
                </a:lnTo>
                <a:close/>
              </a:path>
            </a:pathLst>
          </a:custGeom>
          <a:solidFill>
            <a:srgbClr val="DFDFEB"/>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1" i="0" u="none" strike="noStrike" kern="1200" cap="none" spc="0" normalizeH="0" baseline="0" noProof="0" dirty="0">
              <a:ln>
                <a:noFill/>
              </a:ln>
              <a:solidFill>
                <a:srgbClr val="44546A">
                  <a:lumMod val="60000"/>
                  <a:lumOff val="40000"/>
                </a:srgbClr>
              </a:solidFill>
              <a:effectLst/>
              <a:uLnTx/>
              <a:uFillTx/>
              <a:latin typeface="Calibri" panose="020F0502020204030204"/>
              <a:ea typeface="+mn-ea"/>
              <a:cs typeface="+mn-cs"/>
            </a:endParaRPr>
          </a:p>
        </p:txBody>
      </p:sp>
      <p:sp>
        <p:nvSpPr>
          <p:cNvPr id="9" name="object 9"/>
          <p:cNvSpPr/>
          <p:nvPr/>
        </p:nvSpPr>
        <p:spPr>
          <a:xfrm>
            <a:off x="574798" y="3182660"/>
            <a:ext cx="5283200" cy="276999"/>
          </a:xfrm>
          <a:custGeom>
            <a:avLst/>
            <a:gdLst/>
            <a:ahLst/>
            <a:cxnLst/>
            <a:rect l="l" t="t" r="r" b="b"/>
            <a:pathLst>
              <a:path w="5283200" h="315595">
                <a:moveTo>
                  <a:pt x="0" y="315467"/>
                </a:moveTo>
                <a:lnTo>
                  <a:pt x="5283200" y="315467"/>
                </a:lnTo>
                <a:lnTo>
                  <a:pt x="5283200" y="0"/>
                </a:lnTo>
                <a:lnTo>
                  <a:pt x="0" y="0"/>
                </a:lnTo>
                <a:lnTo>
                  <a:pt x="0" y="315467"/>
                </a:lnTo>
                <a:close/>
              </a:path>
            </a:pathLst>
          </a:custGeom>
          <a:solidFill>
            <a:srgbClr val="DFDFEB"/>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44546A">
                  <a:lumMod val="60000"/>
                  <a:lumOff val="40000"/>
                </a:srgbClr>
              </a:solidFill>
              <a:effectLst/>
              <a:uLnTx/>
              <a:uFillTx/>
              <a:latin typeface="Calibri" panose="020F0502020204030204"/>
              <a:ea typeface="+mn-ea"/>
              <a:cs typeface="+mn-cs"/>
            </a:endParaRPr>
          </a:p>
        </p:txBody>
      </p:sp>
      <p:sp>
        <p:nvSpPr>
          <p:cNvPr id="11" name="object 11"/>
          <p:cNvSpPr/>
          <p:nvPr/>
        </p:nvSpPr>
        <p:spPr>
          <a:xfrm>
            <a:off x="586991" y="3900862"/>
            <a:ext cx="5283200" cy="276999"/>
          </a:xfrm>
          <a:custGeom>
            <a:avLst/>
            <a:gdLst/>
            <a:ahLst/>
            <a:cxnLst/>
            <a:rect l="l" t="t" r="r" b="b"/>
            <a:pathLst>
              <a:path w="5283200" h="315595">
                <a:moveTo>
                  <a:pt x="0" y="315468"/>
                </a:moveTo>
                <a:lnTo>
                  <a:pt x="5283200" y="315468"/>
                </a:lnTo>
                <a:lnTo>
                  <a:pt x="5283200" y="0"/>
                </a:lnTo>
                <a:lnTo>
                  <a:pt x="0" y="0"/>
                </a:lnTo>
                <a:lnTo>
                  <a:pt x="0" y="315468"/>
                </a:lnTo>
                <a:close/>
              </a:path>
            </a:pathLst>
          </a:custGeom>
          <a:solidFill>
            <a:srgbClr val="DFDFEB"/>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44546A">
                  <a:lumMod val="60000"/>
                  <a:lumOff val="40000"/>
                </a:srgbClr>
              </a:solidFill>
              <a:effectLst/>
              <a:uLnTx/>
              <a:uFillTx/>
              <a:latin typeface="Calibri" panose="020F0502020204030204"/>
              <a:ea typeface="+mn-ea"/>
              <a:cs typeface="+mn-cs"/>
            </a:endParaRPr>
          </a:p>
        </p:txBody>
      </p:sp>
      <p:sp>
        <p:nvSpPr>
          <p:cNvPr id="13" name="object 13"/>
          <p:cNvSpPr/>
          <p:nvPr/>
        </p:nvSpPr>
        <p:spPr>
          <a:xfrm>
            <a:off x="586991" y="2629521"/>
            <a:ext cx="5283200" cy="276999"/>
          </a:xfrm>
          <a:custGeom>
            <a:avLst/>
            <a:gdLst/>
            <a:ahLst/>
            <a:cxnLst/>
            <a:rect l="l" t="t" r="r" b="b"/>
            <a:pathLst>
              <a:path w="5283200" h="707389">
                <a:moveTo>
                  <a:pt x="0" y="707136"/>
                </a:moveTo>
                <a:lnTo>
                  <a:pt x="5283200" y="707136"/>
                </a:lnTo>
                <a:lnTo>
                  <a:pt x="5283200" y="0"/>
                </a:lnTo>
                <a:lnTo>
                  <a:pt x="0" y="0"/>
                </a:lnTo>
                <a:lnTo>
                  <a:pt x="0" y="707136"/>
                </a:lnTo>
                <a:close/>
              </a:path>
            </a:pathLst>
          </a:custGeom>
          <a:solidFill>
            <a:srgbClr val="DFDFEB"/>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44546A">
                  <a:lumMod val="60000"/>
                  <a:lumOff val="40000"/>
                </a:srgbClr>
              </a:solidFill>
              <a:effectLst/>
              <a:uLnTx/>
              <a:uFillTx/>
              <a:latin typeface="Calibri" panose="020F0502020204030204"/>
              <a:ea typeface="+mn-ea"/>
              <a:cs typeface="+mn-cs"/>
            </a:endParaRPr>
          </a:p>
        </p:txBody>
      </p:sp>
      <p:sp>
        <p:nvSpPr>
          <p:cNvPr id="15" name="object 15"/>
          <p:cNvSpPr/>
          <p:nvPr/>
        </p:nvSpPr>
        <p:spPr>
          <a:xfrm>
            <a:off x="586991" y="4379489"/>
            <a:ext cx="5283200" cy="276999"/>
          </a:xfrm>
          <a:custGeom>
            <a:avLst/>
            <a:gdLst/>
            <a:ahLst/>
            <a:cxnLst/>
            <a:rect l="l" t="t" r="r" b="b"/>
            <a:pathLst>
              <a:path w="5283200" h="315595">
                <a:moveTo>
                  <a:pt x="0" y="315468"/>
                </a:moveTo>
                <a:lnTo>
                  <a:pt x="5283200" y="315468"/>
                </a:lnTo>
                <a:lnTo>
                  <a:pt x="5283200" y="0"/>
                </a:lnTo>
                <a:lnTo>
                  <a:pt x="0" y="0"/>
                </a:lnTo>
                <a:lnTo>
                  <a:pt x="0" y="315468"/>
                </a:lnTo>
                <a:close/>
              </a:path>
            </a:pathLst>
          </a:custGeom>
          <a:solidFill>
            <a:srgbClr val="DFDFEB"/>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44546A">
                  <a:lumMod val="60000"/>
                  <a:lumOff val="40000"/>
                </a:srgbClr>
              </a:solidFill>
              <a:effectLst/>
              <a:uLnTx/>
              <a:uFillTx/>
              <a:latin typeface="Calibri" panose="020F0502020204030204"/>
              <a:ea typeface="+mn-ea"/>
              <a:cs typeface="+mn-cs"/>
            </a:endParaRPr>
          </a:p>
        </p:txBody>
      </p:sp>
      <p:sp>
        <p:nvSpPr>
          <p:cNvPr id="17" name="object 17"/>
          <p:cNvSpPr/>
          <p:nvPr/>
        </p:nvSpPr>
        <p:spPr>
          <a:xfrm>
            <a:off x="586991" y="5045553"/>
            <a:ext cx="5283200" cy="307777"/>
          </a:xfrm>
          <a:custGeom>
            <a:avLst/>
            <a:gdLst/>
            <a:ahLst/>
            <a:cxnLst/>
            <a:rect l="l" t="t" r="r" b="b"/>
            <a:pathLst>
              <a:path w="5283200" h="315595">
                <a:moveTo>
                  <a:pt x="0" y="315467"/>
                </a:moveTo>
                <a:lnTo>
                  <a:pt x="5283200" y="315467"/>
                </a:lnTo>
                <a:lnTo>
                  <a:pt x="5283200" y="0"/>
                </a:lnTo>
                <a:lnTo>
                  <a:pt x="0" y="0"/>
                </a:lnTo>
                <a:lnTo>
                  <a:pt x="0" y="315467"/>
                </a:lnTo>
                <a:close/>
              </a:path>
            </a:pathLst>
          </a:custGeom>
          <a:solidFill>
            <a:srgbClr val="DFDFEB"/>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1" i="0" u="none" strike="noStrike" kern="1200" cap="none" spc="0" normalizeH="0" baseline="0" noProof="0">
              <a:ln>
                <a:noFill/>
              </a:ln>
              <a:solidFill>
                <a:srgbClr val="44546A">
                  <a:lumMod val="60000"/>
                  <a:lumOff val="40000"/>
                </a:srgbClr>
              </a:solidFill>
              <a:effectLst/>
              <a:uLnTx/>
              <a:uFillTx/>
              <a:latin typeface="Calibri" panose="020F0502020204030204"/>
              <a:ea typeface="+mn-ea"/>
              <a:cs typeface="+mn-cs"/>
            </a:endParaRPr>
          </a:p>
        </p:txBody>
      </p:sp>
      <p:sp>
        <p:nvSpPr>
          <p:cNvPr id="19" name="object 19"/>
          <p:cNvSpPr/>
          <p:nvPr/>
        </p:nvSpPr>
        <p:spPr>
          <a:xfrm>
            <a:off x="606577" y="2060805"/>
            <a:ext cx="5283200" cy="276999"/>
          </a:xfrm>
          <a:custGeom>
            <a:avLst/>
            <a:gdLst/>
            <a:ahLst/>
            <a:cxnLst/>
            <a:rect l="l" t="t" r="r" b="b"/>
            <a:pathLst>
              <a:path w="5283200" h="1311275">
                <a:moveTo>
                  <a:pt x="0" y="1311147"/>
                </a:moveTo>
                <a:lnTo>
                  <a:pt x="5283200" y="1311147"/>
                </a:lnTo>
                <a:lnTo>
                  <a:pt x="5283200" y="0"/>
                </a:lnTo>
                <a:lnTo>
                  <a:pt x="0" y="0"/>
                </a:lnTo>
                <a:lnTo>
                  <a:pt x="0" y="1311147"/>
                </a:lnTo>
                <a:close/>
              </a:path>
            </a:pathLst>
          </a:custGeom>
          <a:solidFill>
            <a:srgbClr val="DFDFEB"/>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44546A">
                  <a:lumMod val="60000"/>
                  <a:lumOff val="40000"/>
                </a:srgbClr>
              </a:solidFill>
              <a:effectLst/>
              <a:uLnTx/>
              <a:uFillTx/>
              <a:latin typeface="Calibri" panose="020F0502020204030204"/>
              <a:ea typeface="+mn-ea"/>
              <a:cs typeface="+mn-cs"/>
            </a:endParaRPr>
          </a:p>
        </p:txBody>
      </p:sp>
      <p:sp>
        <p:nvSpPr>
          <p:cNvPr id="34" name="object 34"/>
          <p:cNvSpPr txBox="1"/>
          <p:nvPr/>
        </p:nvSpPr>
        <p:spPr>
          <a:xfrm>
            <a:off x="935662" y="1462807"/>
            <a:ext cx="4037637" cy="369332"/>
          </a:xfrm>
          <a:prstGeom prst="rect">
            <a:avLst/>
          </a:prstGeom>
        </p:spPr>
        <p:txBody>
          <a:bodyPr vert="horz"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400" b="1" i="0" u="none" strike="noStrike" kern="1200" cap="none" spc="-5" normalizeH="0" baseline="0" noProof="0" dirty="0">
                <a:ln>
                  <a:noFill/>
                </a:ln>
                <a:solidFill>
                  <a:prstClr val="black"/>
                </a:solidFill>
                <a:effectLst/>
                <a:uLnTx/>
                <a:uFillTx/>
                <a:latin typeface="Calibri"/>
                <a:ea typeface="+mn-ea"/>
                <a:cs typeface="Calibri"/>
              </a:rPr>
              <a:t>BASE(S) DE RÉFÉRENCE</a:t>
            </a:r>
            <a:r>
              <a:rPr kumimoji="0" lang="fr-CA" sz="2400" b="1" i="0" u="none" strike="noStrike" kern="1200" cap="none" spc="-5" normalizeH="0" baseline="0" noProof="0" dirty="0">
                <a:ln>
                  <a:noFill/>
                </a:ln>
                <a:solidFill>
                  <a:prstClr val="black"/>
                </a:solidFill>
                <a:effectLst/>
                <a:uLnTx/>
                <a:uFillTx/>
                <a:latin typeface="Calibri"/>
                <a:ea typeface="+mn-ea"/>
                <a:cs typeface="Calibri"/>
              </a:rPr>
              <a:t> (320.A5)</a:t>
            </a:r>
            <a:endParaRPr kumimoji="0" sz="2400" b="1" i="0" u="none" strike="noStrike" kern="1200" cap="none" spc="-5" normalizeH="0" baseline="0" noProof="0" dirty="0">
              <a:ln>
                <a:noFill/>
              </a:ln>
              <a:solidFill>
                <a:prstClr val="black"/>
              </a:solidFill>
              <a:effectLst/>
              <a:uLnTx/>
              <a:uFillTx/>
              <a:latin typeface="Calibri"/>
              <a:ea typeface="+mn-ea"/>
              <a:cs typeface="Calibri"/>
            </a:endParaRPr>
          </a:p>
        </p:txBody>
      </p:sp>
      <p:sp>
        <p:nvSpPr>
          <p:cNvPr id="36" name="object 36"/>
          <p:cNvSpPr txBox="1"/>
          <p:nvPr/>
        </p:nvSpPr>
        <p:spPr>
          <a:xfrm>
            <a:off x="935662" y="3166543"/>
            <a:ext cx="2713485" cy="307777"/>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prstClr val="black"/>
                </a:solidFill>
                <a:effectLst/>
                <a:uLnTx/>
                <a:uFillTx/>
                <a:latin typeface="Calibri"/>
                <a:ea typeface="+mn-ea"/>
                <a:cs typeface="Calibri"/>
              </a:rPr>
              <a:t>Actif</a:t>
            </a:r>
            <a:r>
              <a:rPr kumimoji="0" sz="2000" b="1" i="0" u="none" strike="noStrike" kern="1200" cap="none" spc="-5" normalizeH="0" baseline="0" noProof="0" dirty="0">
                <a:ln>
                  <a:noFill/>
                </a:ln>
                <a:solidFill>
                  <a:prstClr val="black"/>
                </a:solidFill>
                <a:effectLst/>
                <a:uLnTx/>
                <a:uFillTx/>
                <a:latin typeface="Calibri"/>
                <a:ea typeface="+mn-ea"/>
                <a:cs typeface="Calibri"/>
              </a:rPr>
              <a:t> </a:t>
            </a:r>
            <a:r>
              <a:rPr kumimoji="0" sz="2000" b="1" i="0" u="none" strike="noStrike" kern="1200" cap="none" spc="-25" normalizeH="0" baseline="0" noProof="0" dirty="0">
                <a:ln>
                  <a:noFill/>
                </a:ln>
                <a:solidFill>
                  <a:prstClr val="black"/>
                </a:solidFill>
                <a:effectLst/>
                <a:uLnTx/>
                <a:uFillTx/>
                <a:latin typeface="Calibri"/>
                <a:ea typeface="+mn-ea"/>
                <a:cs typeface="Calibri"/>
              </a:rPr>
              <a:t>t</a:t>
            </a:r>
            <a:r>
              <a:rPr kumimoji="0" sz="2000" b="1" i="0" u="none" strike="noStrike" kern="1200" cap="none" spc="-10" normalizeH="0" baseline="0" noProof="0" dirty="0">
                <a:ln>
                  <a:noFill/>
                </a:ln>
                <a:solidFill>
                  <a:prstClr val="black"/>
                </a:solidFill>
                <a:effectLst/>
                <a:uLnTx/>
                <a:uFillTx/>
                <a:latin typeface="Calibri"/>
                <a:ea typeface="+mn-ea"/>
                <a:cs typeface="Calibri"/>
              </a:rPr>
              <a:t>o</a:t>
            </a:r>
            <a:r>
              <a:rPr kumimoji="0" sz="2000" b="1" i="0" u="none" strike="noStrike" kern="1200" cap="none" spc="-20" normalizeH="0" baseline="0" noProof="0" dirty="0">
                <a:ln>
                  <a:noFill/>
                </a:ln>
                <a:solidFill>
                  <a:prstClr val="black"/>
                </a:solidFill>
                <a:effectLst/>
                <a:uLnTx/>
                <a:uFillTx/>
                <a:latin typeface="Calibri"/>
                <a:ea typeface="+mn-ea"/>
                <a:cs typeface="Calibri"/>
              </a:rPr>
              <a:t>t</a:t>
            </a:r>
            <a:r>
              <a:rPr kumimoji="0" sz="2000" b="1" i="0" u="none" strike="noStrike" kern="1200" cap="none" spc="-10" normalizeH="0" baseline="0" noProof="0" dirty="0">
                <a:ln>
                  <a:noFill/>
                </a:ln>
                <a:solidFill>
                  <a:prstClr val="black"/>
                </a:solidFill>
                <a:effectLst/>
                <a:uLnTx/>
                <a:uFillTx/>
                <a:latin typeface="Calibri"/>
                <a:ea typeface="+mn-ea"/>
                <a:cs typeface="Calibri"/>
              </a:rPr>
              <a:t>al</a:t>
            </a:r>
            <a:endParaRPr kumimoji="0" sz="20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38" name="object 38"/>
          <p:cNvSpPr txBox="1"/>
          <p:nvPr/>
        </p:nvSpPr>
        <p:spPr>
          <a:xfrm>
            <a:off x="935662" y="3877563"/>
            <a:ext cx="4205674" cy="307777"/>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15" normalizeH="0" baseline="0" noProof="0" dirty="0">
                <a:ln>
                  <a:noFill/>
                </a:ln>
                <a:solidFill>
                  <a:prstClr val="black"/>
                </a:solidFill>
                <a:effectLst/>
                <a:uLnTx/>
                <a:uFillTx/>
                <a:latin typeface="Calibri"/>
                <a:ea typeface="+mn-ea"/>
                <a:cs typeface="Calibri"/>
              </a:rPr>
              <a:t>Ca</a:t>
            </a:r>
            <a:r>
              <a:rPr kumimoji="0" sz="2000" b="1" i="0" u="none" strike="noStrike" kern="1200" cap="none" spc="-10" normalizeH="0" baseline="0" noProof="0" dirty="0">
                <a:ln>
                  <a:noFill/>
                </a:ln>
                <a:solidFill>
                  <a:prstClr val="black"/>
                </a:solidFill>
                <a:effectLst/>
                <a:uLnTx/>
                <a:uFillTx/>
                <a:latin typeface="Calibri"/>
                <a:ea typeface="+mn-ea"/>
                <a:cs typeface="Calibri"/>
              </a:rPr>
              <a:t>pi</a:t>
            </a:r>
            <a:r>
              <a:rPr kumimoji="0" sz="2000" b="1" i="0" u="none" strike="noStrike" kern="1200" cap="none" spc="-25" normalizeH="0" baseline="0" noProof="0" dirty="0">
                <a:ln>
                  <a:noFill/>
                </a:ln>
                <a:solidFill>
                  <a:prstClr val="black"/>
                </a:solidFill>
                <a:effectLst/>
                <a:uLnTx/>
                <a:uFillTx/>
                <a:latin typeface="Calibri"/>
                <a:ea typeface="+mn-ea"/>
                <a:cs typeface="Calibri"/>
              </a:rPr>
              <a:t>t</a:t>
            </a:r>
            <a:r>
              <a:rPr kumimoji="0" sz="2000" b="1" i="0" u="none" strike="noStrike" kern="1200" cap="none" spc="-10" normalizeH="0" baseline="0" noProof="0" dirty="0">
                <a:ln>
                  <a:noFill/>
                </a:ln>
                <a:solidFill>
                  <a:prstClr val="black"/>
                </a:solidFill>
                <a:effectLst/>
                <a:uLnTx/>
                <a:uFillTx/>
                <a:latin typeface="Calibri"/>
                <a:ea typeface="+mn-ea"/>
                <a:cs typeface="Calibri"/>
              </a:rPr>
              <a:t>aux</a:t>
            </a:r>
            <a:r>
              <a:rPr kumimoji="0" sz="2000" b="1" i="0" u="none" strike="noStrike" kern="1200" cap="none" spc="-25" normalizeH="0" baseline="0" noProof="0" dirty="0">
                <a:ln>
                  <a:noFill/>
                </a:ln>
                <a:solidFill>
                  <a:prstClr val="black"/>
                </a:solidFill>
                <a:effectLst/>
                <a:uLnTx/>
                <a:uFillTx/>
                <a:latin typeface="Calibri"/>
                <a:ea typeface="+mn-ea"/>
                <a:cs typeface="Calibri"/>
              </a:rPr>
              <a:t> </a:t>
            </a:r>
            <a:r>
              <a:rPr kumimoji="0" sz="2000" b="1" i="0" u="none" strike="noStrike" kern="1200" cap="none" spc="-10" normalizeH="0" baseline="0" noProof="0" dirty="0">
                <a:ln>
                  <a:noFill/>
                </a:ln>
                <a:solidFill>
                  <a:prstClr val="black"/>
                </a:solidFill>
                <a:effectLst/>
                <a:uLnTx/>
                <a:uFillTx/>
                <a:latin typeface="Calibri"/>
                <a:ea typeface="+mn-ea"/>
                <a:cs typeface="Calibri"/>
              </a:rPr>
              <a:t>p</a:t>
            </a:r>
            <a:r>
              <a:rPr kumimoji="0" sz="2000" b="1" i="0" u="none" strike="noStrike" kern="1200" cap="none" spc="-30" normalizeH="0" baseline="0" noProof="0" dirty="0">
                <a:ln>
                  <a:noFill/>
                </a:ln>
                <a:solidFill>
                  <a:prstClr val="black"/>
                </a:solidFill>
                <a:effectLst/>
                <a:uLnTx/>
                <a:uFillTx/>
                <a:latin typeface="Calibri"/>
                <a:ea typeface="+mn-ea"/>
                <a:cs typeface="Calibri"/>
              </a:rPr>
              <a:t>r</a:t>
            </a:r>
            <a:r>
              <a:rPr kumimoji="0" sz="2000" b="1" i="0" u="none" strike="noStrike" kern="1200" cap="none" spc="-10" normalizeH="0" baseline="0" noProof="0" dirty="0">
                <a:ln>
                  <a:noFill/>
                </a:ln>
                <a:solidFill>
                  <a:prstClr val="black"/>
                </a:solidFill>
                <a:effectLst/>
                <a:uLnTx/>
                <a:uFillTx/>
                <a:latin typeface="Calibri"/>
                <a:ea typeface="+mn-ea"/>
                <a:cs typeface="Calibri"/>
              </a:rPr>
              <a:t>o</a:t>
            </a:r>
            <a:r>
              <a:rPr kumimoji="0" sz="2000" b="1" i="0" u="none" strike="noStrike" kern="1200" cap="none" spc="-5" normalizeH="0" baseline="0" noProof="0" dirty="0">
                <a:ln>
                  <a:noFill/>
                </a:ln>
                <a:solidFill>
                  <a:prstClr val="black"/>
                </a:solidFill>
                <a:effectLst/>
                <a:uLnTx/>
                <a:uFillTx/>
                <a:latin typeface="Calibri"/>
                <a:ea typeface="+mn-ea"/>
                <a:cs typeface="Calibri"/>
              </a:rPr>
              <a:t>p</a:t>
            </a:r>
            <a:r>
              <a:rPr kumimoji="0" sz="2000" b="1" i="0" u="none" strike="noStrike" kern="1200" cap="none" spc="-30" normalizeH="0" baseline="0" noProof="0" dirty="0">
                <a:ln>
                  <a:noFill/>
                </a:ln>
                <a:solidFill>
                  <a:prstClr val="black"/>
                </a:solidFill>
                <a:effectLst/>
                <a:uLnTx/>
                <a:uFillTx/>
                <a:latin typeface="Calibri"/>
                <a:ea typeface="+mn-ea"/>
                <a:cs typeface="Calibri"/>
              </a:rPr>
              <a:t>r</a:t>
            </a:r>
            <a:r>
              <a:rPr kumimoji="0" sz="2000" b="1" i="0" u="none" strike="noStrike" kern="1200" cap="none" spc="0" normalizeH="0" baseline="0" noProof="0" dirty="0">
                <a:ln>
                  <a:noFill/>
                </a:ln>
                <a:solidFill>
                  <a:prstClr val="black"/>
                </a:solidFill>
                <a:effectLst/>
                <a:uLnTx/>
                <a:uFillTx/>
                <a:latin typeface="Calibri"/>
                <a:ea typeface="+mn-ea"/>
                <a:cs typeface="Calibri"/>
              </a:rPr>
              <a:t>e</a:t>
            </a:r>
            <a:r>
              <a:rPr kumimoji="0" sz="2000" b="1" i="0" u="none" strike="noStrike" kern="1200" cap="none" spc="-10" normalizeH="0" baseline="0" noProof="0" dirty="0">
                <a:ln>
                  <a:noFill/>
                </a:ln>
                <a:solidFill>
                  <a:prstClr val="black"/>
                </a:solidFill>
                <a:effectLst/>
                <a:uLnTx/>
                <a:uFillTx/>
                <a:latin typeface="Calibri"/>
                <a:ea typeface="+mn-ea"/>
                <a:cs typeface="Calibri"/>
              </a:rPr>
              <a:t>s</a:t>
            </a:r>
            <a:r>
              <a:rPr kumimoji="0" sz="2000" b="1" i="0" u="none" strike="noStrike" kern="1200" cap="none" spc="-15" normalizeH="0" baseline="0" noProof="0" dirty="0">
                <a:ln>
                  <a:noFill/>
                </a:ln>
                <a:solidFill>
                  <a:prstClr val="black"/>
                </a:solidFill>
                <a:effectLst/>
                <a:uLnTx/>
                <a:uFillTx/>
                <a:latin typeface="Calibri"/>
                <a:ea typeface="+mn-ea"/>
                <a:cs typeface="Calibri"/>
              </a:rPr>
              <a:t> </a:t>
            </a:r>
            <a:r>
              <a:rPr kumimoji="0" sz="2000" b="1" i="0" u="none" strike="noStrike" kern="1200" cap="none" spc="-10" normalizeH="0" baseline="0" noProof="0" dirty="0">
                <a:ln>
                  <a:noFill/>
                </a:ln>
                <a:solidFill>
                  <a:prstClr val="black"/>
                </a:solidFill>
                <a:effectLst/>
                <a:uLnTx/>
                <a:uFillTx/>
                <a:latin typeface="Calibri"/>
                <a:ea typeface="+mn-ea"/>
                <a:cs typeface="Calibri"/>
              </a:rPr>
              <a:t>ou</a:t>
            </a:r>
            <a:r>
              <a:rPr kumimoji="0" sz="2000" b="1" i="0" u="none" strike="noStrike" kern="1200" cap="none" spc="0" normalizeH="0" baseline="0" noProof="0" dirty="0">
                <a:ln>
                  <a:noFill/>
                </a:ln>
                <a:solidFill>
                  <a:prstClr val="black"/>
                </a:solidFill>
                <a:effectLst/>
                <a:uLnTx/>
                <a:uFillTx/>
                <a:latin typeface="Calibri"/>
                <a:ea typeface="+mn-ea"/>
                <a:cs typeface="Calibri"/>
              </a:rPr>
              <a:t> </a:t>
            </a:r>
            <a:r>
              <a:rPr kumimoji="0" sz="2000" b="1" i="0" u="none" strike="noStrike" kern="1200" cap="none" spc="-10" normalizeH="0" baseline="0" noProof="0" dirty="0">
                <a:ln>
                  <a:noFill/>
                </a:ln>
                <a:solidFill>
                  <a:prstClr val="black"/>
                </a:solidFill>
                <a:effectLst/>
                <a:uLnTx/>
                <a:uFillTx/>
                <a:latin typeface="Calibri"/>
                <a:ea typeface="+mn-ea"/>
                <a:cs typeface="Calibri"/>
              </a:rPr>
              <a:t>actif</a:t>
            </a:r>
            <a:r>
              <a:rPr kumimoji="0" sz="2000" b="1" i="0" u="none" strike="noStrike" kern="1200" cap="none" spc="-30" normalizeH="0" baseline="0" noProof="0" dirty="0">
                <a:ln>
                  <a:noFill/>
                </a:ln>
                <a:solidFill>
                  <a:prstClr val="black"/>
                </a:solidFill>
                <a:effectLst/>
                <a:uLnTx/>
                <a:uFillTx/>
                <a:latin typeface="Calibri"/>
                <a:ea typeface="+mn-ea"/>
                <a:cs typeface="Calibri"/>
              </a:rPr>
              <a:t> </a:t>
            </a:r>
            <a:r>
              <a:rPr kumimoji="0" sz="2000" b="1" i="0" u="none" strike="noStrike" kern="1200" cap="none" spc="-10" normalizeH="0" baseline="0" noProof="0" dirty="0">
                <a:ln>
                  <a:noFill/>
                </a:ln>
                <a:solidFill>
                  <a:prstClr val="black"/>
                </a:solidFill>
                <a:effectLst/>
                <a:uLnTx/>
                <a:uFillTx/>
                <a:latin typeface="Calibri"/>
                <a:ea typeface="+mn-ea"/>
                <a:cs typeface="Calibri"/>
              </a:rPr>
              <a:t>net</a:t>
            </a:r>
            <a:endParaRPr kumimoji="0" sz="20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40" name="object 40"/>
          <p:cNvSpPr txBox="1"/>
          <p:nvPr/>
        </p:nvSpPr>
        <p:spPr>
          <a:xfrm>
            <a:off x="935662" y="2608520"/>
            <a:ext cx="1388732" cy="307777"/>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5" normalizeH="0" baseline="0" noProof="0" dirty="0">
                <a:ln>
                  <a:noFill/>
                </a:ln>
                <a:solidFill>
                  <a:prstClr val="black"/>
                </a:solidFill>
                <a:effectLst/>
                <a:uLnTx/>
                <a:uFillTx/>
                <a:latin typeface="Calibri"/>
                <a:ea typeface="+mn-ea"/>
                <a:cs typeface="Calibri"/>
              </a:rPr>
              <a:t>P</a:t>
            </a:r>
            <a:r>
              <a:rPr kumimoji="0" sz="2000" b="1" i="0" u="none" strike="noStrike" kern="1200" cap="none" spc="-30" normalizeH="0" baseline="0" noProof="0" dirty="0">
                <a:ln>
                  <a:noFill/>
                </a:ln>
                <a:solidFill>
                  <a:prstClr val="black"/>
                </a:solidFill>
                <a:effectLst/>
                <a:uLnTx/>
                <a:uFillTx/>
                <a:latin typeface="Calibri"/>
                <a:ea typeface="+mn-ea"/>
                <a:cs typeface="Calibri"/>
              </a:rPr>
              <a:t>r</a:t>
            </a:r>
            <a:r>
              <a:rPr kumimoji="0" sz="2000" b="1" i="0" u="none" strike="noStrike" kern="1200" cap="none" spc="-10" normalizeH="0" baseline="0" noProof="0" dirty="0">
                <a:ln>
                  <a:noFill/>
                </a:ln>
                <a:solidFill>
                  <a:prstClr val="black"/>
                </a:solidFill>
                <a:effectLst/>
                <a:uLnTx/>
                <a:uFillTx/>
                <a:latin typeface="Calibri"/>
                <a:ea typeface="+mn-ea"/>
                <a:cs typeface="Calibri"/>
              </a:rPr>
              <a:t>o</a:t>
            </a:r>
            <a:r>
              <a:rPr kumimoji="0" sz="2000" b="1" i="0" u="none" strike="noStrike" kern="1200" cap="none" spc="-5" normalizeH="0" baseline="0" noProof="0" dirty="0">
                <a:ln>
                  <a:noFill/>
                </a:ln>
                <a:solidFill>
                  <a:prstClr val="black"/>
                </a:solidFill>
                <a:effectLst/>
                <a:uLnTx/>
                <a:uFillTx/>
                <a:latin typeface="Calibri"/>
                <a:ea typeface="+mn-ea"/>
                <a:cs typeface="Calibri"/>
              </a:rPr>
              <a:t>d</a:t>
            </a:r>
            <a:r>
              <a:rPr kumimoji="0" sz="2000" b="1" i="0" u="none" strike="noStrike" kern="1200" cap="none" spc="-10" normalizeH="0" baseline="0" noProof="0" dirty="0">
                <a:ln>
                  <a:noFill/>
                </a:ln>
                <a:solidFill>
                  <a:prstClr val="black"/>
                </a:solidFill>
                <a:effectLst/>
                <a:uLnTx/>
                <a:uFillTx/>
                <a:latin typeface="Calibri"/>
                <a:ea typeface="+mn-ea"/>
                <a:cs typeface="Calibri"/>
              </a:rPr>
              <a:t>uits</a:t>
            </a:r>
            <a:endParaRPr kumimoji="0" sz="20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42" name="object 42"/>
          <p:cNvSpPr txBox="1"/>
          <p:nvPr/>
        </p:nvSpPr>
        <p:spPr>
          <a:xfrm>
            <a:off x="935662" y="4369609"/>
            <a:ext cx="2890944" cy="307777"/>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prstClr val="black"/>
                </a:solidFill>
                <a:effectLst/>
                <a:uLnTx/>
                <a:uFillTx/>
                <a:latin typeface="Calibri"/>
                <a:ea typeface="+mn-ea"/>
                <a:cs typeface="Calibri"/>
              </a:rPr>
              <a:t>Ma</a:t>
            </a:r>
            <a:r>
              <a:rPr kumimoji="0" sz="2000" b="1" i="0" u="none" strike="noStrike" kern="1200" cap="none" spc="-30" normalizeH="0" baseline="0" noProof="0" dirty="0">
                <a:ln>
                  <a:noFill/>
                </a:ln>
                <a:solidFill>
                  <a:prstClr val="black"/>
                </a:solidFill>
                <a:effectLst/>
                <a:uLnTx/>
                <a:uFillTx/>
                <a:latin typeface="Calibri"/>
                <a:ea typeface="+mn-ea"/>
                <a:cs typeface="Calibri"/>
              </a:rPr>
              <a:t>rg</a:t>
            </a:r>
            <a:r>
              <a:rPr kumimoji="0" sz="2000" b="1" i="0" u="none" strike="noStrike" kern="1200" cap="none" spc="0" normalizeH="0" baseline="0" noProof="0" dirty="0">
                <a:ln>
                  <a:noFill/>
                </a:ln>
                <a:solidFill>
                  <a:prstClr val="black"/>
                </a:solidFill>
                <a:effectLst/>
                <a:uLnTx/>
                <a:uFillTx/>
                <a:latin typeface="Calibri"/>
                <a:ea typeface="+mn-ea"/>
                <a:cs typeface="Calibri"/>
              </a:rPr>
              <a:t>e </a:t>
            </a:r>
            <a:r>
              <a:rPr kumimoji="0" sz="2000" b="1" i="0" u="none" strike="noStrike" kern="1200" cap="none" spc="-5" normalizeH="0" baseline="0" noProof="0" dirty="0">
                <a:ln>
                  <a:noFill/>
                </a:ln>
                <a:solidFill>
                  <a:prstClr val="black"/>
                </a:solidFill>
                <a:effectLst/>
                <a:uLnTx/>
                <a:uFillTx/>
                <a:latin typeface="Calibri"/>
                <a:ea typeface="+mn-ea"/>
                <a:cs typeface="Calibri"/>
              </a:rPr>
              <a:t>b</a:t>
            </a:r>
            <a:r>
              <a:rPr kumimoji="0" sz="2000" b="1" i="0" u="none" strike="noStrike" kern="1200" cap="none" spc="-15" normalizeH="0" baseline="0" noProof="0" dirty="0">
                <a:ln>
                  <a:noFill/>
                </a:ln>
                <a:solidFill>
                  <a:prstClr val="black"/>
                </a:solidFill>
                <a:effectLst/>
                <a:uLnTx/>
                <a:uFillTx/>
                <a:latin typeface="Calibri"/>
                <a:ea typeface="+mn-ea"/>
                <a:cs typeface="Calibri"/>
              </a:rPr>
              <a:t>ru</a:t>
            </a:r>
            <a:r>
              <a:rPr kumimoji="0" sz="2000" b="1" i="0" u="none" strike="noStrike" kern="1200" cap="none" spc="-30" normalizeH="0" baseline="0" noProof="0" dirty="0">
                <a:ln>
                  <a:noFill/>
                </a:ln>
                <a:solidFill>
                  <a:prstClr val="black"/>
                </a:solidFill>
                <a:effectLst/>
                <a:uLnTx/>
                <a:uFillTx/>
                <a:latin typeface="Calibri"/>
                <a:ea typeface="+mn-ea"/>
                <a:cs typeface="Calibri"/>
              </a:rPr>
              <a:t>t</a:t>
            </a:r>
            <a:r>
              <a:rPr kumimoji="0" sz="2000" b="1" i="0" u="none" strike="noStrike" kern="1200" cap="none" spc="0" normalizeH="0" baseline="0" noProof="0" dirty="0">
                <a:ln>
                  <a:noFill/>
                </a:ln>
                <a:solidFill>
                  <a:prstClr val="black"/>
                </a:solidFill>
                <a:effectLst/>
                <a:uLnTx/>
                <a:uFillTx/>
                <a:latin typeface="Calibri"/>
                <a:ea typeface="+mn-ea"/>
                <a:cs typeface="Calibri"/>
              </a:rPr>
              <a:t>e</a:t>
            </a:r>
          </a:p>
        </p:txBody>
      </p:sp>
      <p:sp>
        <p:nvSpPr>
          <p:cNvPr id="44" name="object 44"/>
          <p:cNvSpPr txBox="1"/>
          <p:nvPr/>
        </p:nvSpPr>
        <p:spPr>
          <a:xfrm>
            <a:off x="935662" y="5010256"/>
            <a:ext cx="1344135" cy="307777"/>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5" normalizeH="0" baseline="0" noProof="0" dirty="0">
                <a:ln>
                  <a:noFill/>
                </a:ln>
                <a:solidFill>
                  <a:prstClr val="black"/>
                </a:solidFill>
                <a:effectLst/>
                <a:uLnTx/>
                <a:uFillTx/>
                <a:latin typeface="Calibri"/>
                <a:ea typeface="+mn-ea"/>
                <a:cs typeface="Calibri"/>
              </a:rPr>
              <a:t>Cha</a:t>
            </a:r>
            <a:r>
              <a:rPr kumimoji="0" sz="2000" b="1" i="0" u="none" strike="noStrike" kern="1200" cap="none" spc="-30" normalizeH="0" baseline="0" noProof="0" dirty="0">
                <a:ln>
                  <a:noFill/>
                </a:ln>
                <a:solidFill>
                  <a:prstClr val="black"/>
                </a:solidFill>
                <a:effectLst/>
                <a:uLnTx/>
                <a:uFillTx/>
                <a:latin typeface="Calibri"/>
                <a:ea typeface="+mn-ea"/>
                <a:cs typeface="Calibri"/>
              </a:rPr>
              <a:t>rg</a:t>
            </a:r>
            <a:r>
              <a:rPr kumimoji="0" sz="2000" b="1" i="0" u="none" strike="noStrike" kern="1200" cap="none" spc="0" normalizeH="0" baseline="0" noProof="0" dirty="0">
                <a:ln>
                  <a:noFill/>
                </a:ln>
                <a:solidFill>
                  <a:prstClr val="black"/>
                </a:solidFill>
                <a:effectLst/>
                <a:uLnTx/>
                <a:uFillTx/>
                <a:latin typeface="Calibri"/>
                <a:ea typeface="+mn-ea"/>
                <a:cs typeface="Calibri"/>
              </a:rPr>
              <a:t>e</a:t>
            </a:r>
            <a:r>
              <a:rPr kumimoji="0" sz="2000" b="1" i="0" u="none" strike="noStrike" kern="1200" cap="none" spc="-10" normalizeH="0" baseline="0" noProof="0" dirty="0">
                <a:ln>
                  <a:noFill/>
                </a:ln>
                <a:solidFill>
                  <a:prstClr val="black"/>
                </a:solidFill>
                <a:effectLst/>
                <a:uLnTx/>
                <a:uFillTx/>
                <a:latin typeface="Calibri"/>
                <a:ea typeface="+mn-ea"/>
                <a:cs typeface="Calibri"/>
              </a:rPr>
              <a:t>s</a:t>
            </a:r>
            <a:endParaRPr kumimoji="0" sz="20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46" name="object 46"/>
          <p:cNvSpPr txBox="1"/>
          <p:nvPr/>
        </p:nvSpPr>
        <p:spPr>
          <a:xfrm>
            <a:off x="935662" y="1980905"/>
            <a:ext cx="5109210" cy="333168"/>
          </a:xfrm>
          <a:prstGeom prst="rect">
            <a:avLst/>
          </a:prstGeom>
        </p:spPr>
        <p:txBody>
          <a:bodyPr vert="horz" wrap="square" lIns="0" tIns="0" rIns="0" bIns="0" rtlCol="0">
            <a:spAutoFit/>
          </a:bodyPr>
          <a:lstStyle/>
          <a:p>
            <a:pPr marL="12700" marR="6350" lvl="0" indent="0" algn="l" defTabSz="914400" rtl="0" eaLnBrk="1" fontAlgn="auto" latinLnBrk="0" hangingPunct="1">
              <a:lnSpc>
                <a:spcPct val="114999"/>
              </a:lnSpc>
              <a:spcBef>
                <a:spcPts val="0"/>
              </a:spcBef>
              <a:spcAft>
                <a:spcPts val="0"/>
              </a:spcAft>
              <a:buClrTx/>
              <a:buSzTx/>
              <a:buFontTx/>
              <a:buNone/>
              <a:tabLst/>
              <a:defRPr/>
            </a:pPr>
            <a:r>
              <a:rPr kumimoji="0" sz="2000" b="1" i="0" u="none" strike="noStrike" kern="1200" cap="none" spc="0" normalizeH="0" baseline="0" noProof="0" dirty="0">
                <a:ln>
                  <a:noFill/>
                </a:ln>
                <a:solidFill>
                  <a:prstClr val="black"/>
                </a:solidFill>
                <a:effectLst/>
                <a:uLnTx/>
                <a:uFillTx/>
                <a:latin typeface="Calibri"/>
                <a:ea typeface="+mn-ea"/>
                <a:cs typeface="Calibri"/>
              </a:rPr>
              <a:t>Bén</a:t>
            </a:r>
            <a:r>
              <a:rPr kumimoji="0" sz="2000" b="1" i="0" u="none" strike="noStrike" kern="1200" cap="none" spc="-15" normalizeH="0" baseline="0" noProof="0" dirty="0">
                <a:ln>
                  <a:noFill/>
                </a:ln>
                <a:solidFill>
                  <a:prstClr val="black"/>
                </a:solidFill>
                <a:effectLst/>
                <a:uLnTx/>
                <a:uFillTx/>
                <a:latin typeface="Calibri"/>
                <a:ea typeface="+mn-ea"/>
                <a:cs typeface="Calibri"/>
              </a:rPr>
              <a:t>é</a:t>
            </a:r>
            <a:r>
              <a:rPr kumimoji="0" sz="2000" b="1" i="0" u="none" strike="noStrike" kern="1200" cap="none" spc="-5" normalizeH="0" baseline="0" noProof="0" dirty="0">
                <a:ln>
                  <a:noFill/>
                </a:ln>
                <a:solidFill>
                  <a:prstClr val="black"/>
                </a:solidFill>
                <a:effectLst/>
                <a:uLnTx/>
                <a:uFillTx/>
                <a:latin typeface="Calibri"/>
                <a:ea typeface="+mn-ea"/>
                <a:cs typeface="Calibri"/>
              </a:rPr>
              <a:t>fice</a:t>
            </a:r>
            <a:r>
              <a:rPr kumimoji="0" sz="2000" b="1" i="0" u="none" strike="noStrike" kern="1200" cap="none" spc="0" normalizeH="0" baseline="0" noProof="0" dirty="0">
                <a:ln>
                  <a:noFill/>
                </a:ln>
                <a:solidFill>
                  <a:prstClr val="black"/>
                </a:solidFill>
                <a:effectLst/>
                <a:uLnTx/>
                <a:uFillTx/>
                <a:latin typeface="Calibri"/>
                <a:ea typeface="+mn-ea"/>
                <a:cs typeface="Calibri"/>
              </a:rPr>
              <a:t>s</a:t>
            </a:r>
            <a:r>
              <a:rPr kumimoji="0" sz="2000" b="1" i="0" u="none" strike="noStrike" kern="1200" cap="none" spc="5" normalizeH="0" baseline="0" noProof="0" dirty="0">
                <a:ln>
                  <a:noFill/>
                </a:ln>
                <a:solidFill>
                  <a:prstClr val="black"/>
                </a:solidFill>
                <a:effectLst/>
                <a:uLnTx/>
                <a:uFillTx/>
                <a:latin typeface="Calibri"/>
                <a:ea typeface="+mn-ea"/>
                <a:cs typeface="Calibri"/>
              </a:rPr>
              <a:t> </a:t>
            </a:r>
            <a:r>
              <a:rPr kumimoji="0" sz="2000" b="1" i="0" u="none" strike="noStrike" kern="1200" cap="none" spc="-50" normalizeH="0" baseline="0" noProof="0" dirty="0" err="1">
                <a:ln>
                  <a:noFill/>
                </a:ln>
                <a:solidFill>
                  <a:prstClr val="black"/>
                </a:solidFill>
                <a:effectLst/>
                <a:uLnTx/>
                <a:uFillTx/>
                <a:latin typeface="Calibri"/>
                <a:ea typeface="+mn-ea"/>
                <a:cs typeface="Calibri"/>
              </a:rPr>
              <a:t>a</a:t>
            </a:r>
            <a:r>
              <a:rPr kumimoji="0" sz="2000" b="1" i="0" u="none" strike="noStrike" kern="1200" cap="none" spc="-35" normalizeH="0" baseline="0" noProof="0" dirty="0" err="1">
                <a:ln>
                  <a:noFill/>
                </a:ln>
                <a:solidFill>
                  <a:prstClr val="black"/>
                </a:solidFill>
                <a:effectLst/>
                <a:uLnTx/>
                <a:uFillTx/>
                <a:latin typeface="Calibri"/>
                <a:ea typeface="+mn-ea"/>
                <a:cs typeface="Calibri"/>
              </a:rPr>
              <a:t>v</a:t>
            </a:r>
            <a:r>
              <a:rPr kumimoji="0" sz="2000" b="1" i="0" u="none" strike="noStrike" kern="1200" cap="none" spc="-15" normalizeH="0" baseline="0" noProof="0" dirty="0" err="1">
                <a:ln>
                  <a:noFill/>
                </a:ln>
                <a:solidFill>
                  <a:prstClr val="black"/>
                </a:solidFill>
                <a:effectLst/>
                <a:uLnTx/>
                <a:uFillTx/>
                <a:latin typeface="Calibri"/>
                <a:ea typeface="+mn-ea"/>
                <a:cs typeface="Calibri"/>
              </a:rPr>
              <a:t>a</a:t>
            </a:r>
            <a:r>
              <a:rPr kumimoji="0" sz="2000" b="1" i="0" u="none" strike="noStrike" kern="1200" cap="none" spc="-45" normalizeH="0" baseline="0" noProof="0" dirty="0" err="1">
                <a:ln>
                  <a:noFill/>
                </a:ln>
                <a:solidFill>
                  <a:prstClr val="black"/>
                </a:solidFill>
                <a:effectLst/>
                <a:uLnTx/>
                <a:uFillTx/>
                <a:latin typeface="Calibri"/>
                <a:ea typeface="+mn-ea"/>
                <a:cs typeface="Calibri"/>
              </a:rPr>
              <a:t>n</a:t>
            </a:r>
            <a:r>
              <a:rPr kumimoji="0" sz="2000" b="1" i="0" u="none" strike="noStrike" kern="1200" cap="none" spc="-10" normalizeH="0" baseline="0" noProof="0" dirty="0" err="1">
                <a:ln>
                  <a:noFill/>
                </a:ln>
                <a:solidFill>
                  <a:prstClr val="black"/>
                </a:solidFill>
                <a:effectLst/>
                <a:uLnTx/>
                <a:uFillTx/>
                <a:latin typeface="Calibri"/>
                <a:ea typeface="+mn-ea"/>
                <a:cs typeface="Calibri"/>
              </a:rPr>
              <a:t>t</a:t>
            </a:r>
            <a:r>
              <a:rPr kumimoji="0" sz="2000" b="1" i="0" u="none" strike="noStrike" kern="1200" cap="none" spc="0" normalizeH="0" baseline="0" noProof="0" dirty="0">
                <a:ln>
                  <a:noFill/>
                </a:ln>
                <a:solidFill>
                  <a:prstClr val="black"/>
                </a:solidFill>
                <a:effectLst/>
                <a:uLnTx/>
                <a:uFillTx/>
                <a:latin typeface="Calibri"/>
                <a:ea typeface="+mn-ea"/>
                <a:cs typeface="Calibri"/>
              </a:rPr>
              <a:t> </a:t>
            </a:r>
            <a:r>
              <a:rPr kumimoji="0" sz="2000" b="1" i="0" u="none" strike="noStrike" kern="1200" cap="none" spc="0" normalizeH="0" baseline="0" noProof="0" dirty="0" err="1">
                <a:ln>
                  <a:noFill/>
                </a:ln>
                <a:solidFill>
                  <a:prstClr val="black"/>
                </a:solidFill>
                <a:effectLst/>
                <a:uLnTx/>
                <a:uFillTx/>
                <a:latin typeface="Calibri"/>
                <a:ea typeface="+mn-ea"/>
                <a:cs typeface="Calibri"/>
              </a:rPr>
              <a:t>im</a:t>
            </a:r>
            <a:r>
              <a:rPr kumimoji="0" sz="2000" b="1" i="0" u="none" strike="noStrike" kern="1200" cap="none" spc="-15" normalizeH="0" baseline="0" noProof="0" dirty="0" err="1">
                <a:ln>
                  <a:noFill/>
                </a:ln>
                <a:solidFill>
                  <a:prstClr val="black"/>
                </a:solidFill>
                <a:effectLst/>
                <a:uLnTx/>
                <a:uFillTx/>
                <a:latin typeface="Calibri"/>
                <a:ea typeface="+mn-ea"/>
                <a:cs typeface="Calibri"/>
              </a:rPr>
              <a:t>pôts</a:t>
            </a:r>
            <a:endParaRPr kumimoji="0" sz="20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78" name="object 6"/>
          <p:cNvSpPr/>
          <p:nvPr/>
        </p:nvSpPr>
        <p:spPr>
          <a:xfrm>
            <a:off x="5825399" y="1444798"/>
            <a:ext cx="4143585" cy="369332"/>
          </a:xfrm>
          <a:custGeom>
            <a:avLst/>
            <a:gdLst/>
            <a:ahLst/>
            <a:cxnLst/>
            <a:rect l="l" t="t" r="r" b="b"/>
            <a:pathLst>
              <a:path w="2641600" h="1969135">
                <a:moveTo>
                  <a:pt x="0" y="1969007"/>
                </a:moveTo>
                <a:lnTo>
                  <a:pt x="2641600" y="1969007"/>
                </a:lnTo>
                <a:lnTo>
                  <a:pt x="2641600" y="0"/>
                </a:lnTo>
                <a:lnTo>
                  <a:pt x="0" y="0"/>
                </a:lnTo>
                <a:lnTo>
                  <a:pt x="0" y="1969007"/>
                </a:lnTo>
                <a:close/>
              </a:path>
            </a:pathLst>
          </a:custGeom>
          <a:solidFill>
            <a:srgbClr val="EDEBE0"/>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1" i="0" u="none" strike="noStrike" kern="1200" cap="none" spc="0" normalizeH="0" baseline="0" noProof="0" dirty="0">
              <a:ln>
                <a:noFill/>
              </a:ln>
              <a:solidFill>
                <a:srgbClr val="44546A">
                  <a:lumMod val="60000"/>
                  <a:lumOff val="40000"/>
                </a:srgbClr>
              </a:solidFill>
              <a:effectLst/>
              <a:uLnTx/>
              <a:uFillTx/>
              <a:latin typeface="Calibri" panose="020F0502020204030204"/>
              <a:ea typeface="+mn-ea"/>
              <a:cs typeface="+mn-cs"/>
            </a:endParaRPr>
          </a:p>
        </p:txBody>
      </p:sp>
      <p:sp>
        <p:nvSpPr>
          <p:cNvPr id="79" name="object 8"/>
          <p:cNvSpPr/>
          <p:nvPr/>
        </p:nvSpPr>
        <p:spPr>
          <a:xfrm>
            <a:off x="5857999" y="3180853"/>
            <a:ext cx="4144297" cy="276999"/>
          </a:xfrm>
          <a:custGeom>
            <a:avLst/>
            <a:gdLst/>
            <a:ahLst/>
            <a:cxnLst/>
            <a:rect l="l" t="t" r="r" b="b"/>
            <a:pathLst>
              <a:path w="2641600" h="315595">
                <a:moveTo>
                  <a:pt x="0" y="315467"/>
                </a:moveTo>
                <a:lnTo>
                  <a:pt x="2641600" y="315467"/>
                </a:lnTo>
                <a:lnTo>
                  <a:pt x="2641600" y="0"/>
                </a:lnTo>
                <a:lnTo>
                  <a:pt x="0" y="0"/>
                </a:lnTo>
                <a:lnTo>
                  <a:pt x="0" y="315467"/>
                </a:lnTo>
                <a:close/>
              </a:path>
            </a:pathLst>
          </a:custGeom>
          <a:solidFill>
            <a:srgbClr val="EDEBE0"/>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44546A">
                  <a:lumMod val="60000"/>
                  <a:lumOff val="40000"/>
                </a:srgbClr>
              </a:solidFill>
              <a:effectLst/>
              <a:uLnTx/>
              <a:uFillTx/>
              <a:latin typeface="Calibri" panose="020F0502020204030204"/>
              <a:ea typeface="+mn-ea"/>
              <a:cs typeface="+mn-cs"/>
            </a:endParaRPr>
          </a:p>
        </p:txBody>
      </p:sp>
      <p:sp>
        <p:nvSpPr>
          <p:cNvPr id="80" name="object 10"/>
          <p:cNvSpPr/>
          <p:nvPr/>
        </p:nvSpPr>
        <p:spPr>
          <a:xfrm>
            <a:off x="5840548" y="3908604"/>
            <a:ext cx="4144297" cy="276999"/>
          </a:xfrm>
          <a:custGeom>
            <a:avLst/>
            <a:gdLst/>
            <a:ahLst/>
            <a:cxnLst/>
            <a:rect l="l" t="t" r="r" b="b"/>
            <a:pathLst>
              <a:path w="2641600" h="315595">
                <a:moveTo>
                  <a:pt x="0" y="315468"/>
                </a:moveTo>
                <a:lnTo>
                  <a:pt x="2641600" y="315468"/>
                </a:lnTo>
                <a:lnTo>
                  <a:pt x="2641600" y="0"/>
                </a:lnTo>
                <a:lnTo>
                  <a:pt x="0" y="0"/>
                </a:lnTo>
                <a:lnTo>
                  <a:pt x="0" y="315468"/>
                </a:lnTo>
                <a:close/>
              </a:path>
            </a:pathLst>
          </a:custGeom>
          <a:solidFill>
            <a:srgbClr val="EDEBE0"/>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44546A">
                  <a:lumMod val="60000"/>
                  <a:lumOff val="40000"/>
                </a:srgbClr>
              </a:solidFill>
              <a:effectLst/>
              <a:uLnTx/>
              <a:uFillTx/>
              <a:latin typeface="Calibri" panose="020F0502020204030204"/>
              <a:ea typeface="+mn-ea"/>
              <a:cs typeface="+mn-cs"/>
            </a:endParaRPr>
          </a:p>
        </p:txBody>
      </p:sp>
      <p:sp>
        <p:nvSpPr>
          <p:cNvPr id="81" name="object 12"/>
          <p:cNvSpPr/>
          <p:nvPr/>
        </p:nvSpPr>
        <p:spPr>
          <a:xfrm>
            <a:off x="5857998" y="2631612"/>
            <a:ext cx="4144297" cy="276999"/>
          </a:xfrm>
          <a:custGeom>
            <a:avLst/>
            <a:gdLst/>
            <a:ahLst/>
            <a:cxnLst/>
            <a:rect l="l" t="t" r="r" b="b"/>
            <a:pathLst>
              <a:path w="2641600" h="707389">
                <a:moveTo>
                  <a:pt x="0" y="707136"/>
                </a:moveTo>
                <a:lnTo>
                  <a:pt x="2641600" y="707136"/>
                </a:lnTo>
                <a:lnTo>
                  <a:pt x="2641600" y="0"/>
                </a:lnTo>
                <a:lnTo>
                  <a:pt x="0" y="0"/>
                </a:lnTo>
                <a:lnTo>
                  <a:pt x="0" y="707136"/>
                </a:lnTo>
                <a:close/>
              </a:path>
            </a:pathLst>
          </a:custGeom>
          <a:solidFill>
            <a:srgbClr val="EDEBE0"/>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44546A">
                  <a:lumMod val="60000"/>
                  <a:lumOff val="40000"/>
                </a:srgbClr>
              </a:solidFill>
              <a:effectLst/>
              <a:uLnTx/>
              <a:uFillTx/>
              <a:latin typeface="Calibri" panose="020F0502020204030204"/>
              <a:ea typeface="+mn-ea"/>
              <a:cs typeface="+mn-cs"/>
            </a:endParaRPr>
          </a:p>
        </p:txBody>
      </p:sp>
      <p:sp>
        <p:nvSpPr>
          <p:cNvPr id="82" name="object 14"/>
          <p:cNvSpPr/>
          <p:nvPr/>
        </p:nvSpPr>
        <p:spPr>
          <a:xfrm>
            <a:off x="5870190" y="4382703"/>
            <a:ext cx="4144297" cy="276999"/>
          </a:xfrm>
          <a:custGeom>
            <a:avLst/>
            <a:gdLst/>
            <a:ahLst/>
            <a:cxnLst/>
            <a:rect l="l" t="t" r="r" b="b"/>
            <a:pathLst>
              <a:path w="2641600" h="315595">
                <a:moveTo>
                  <a:pt x="0" y="315468"/>
                </a:moveTo>
                <a:lnTo>
                  <a:pt x="2641600" y="315468"/>
                </a:lnTo>
                <a:lnTo>
                  <a:pt x="2641600" y="0"/>
                </a:lnTo>
                <a:lnTo>
                  <a:pt x="0" y="0"/>
                </a:lnTo>
                <a:lnTo>
                  <a:pt x="0" y="315468"/>
                </a:lnTo>
                <a:close/>
              </a:path>
            </a:pathLst>
          </a:custGeom>
          <a:solidFill>
            <a:srgbClr val="EDEBE0"/>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44546A">
                  <a:lumMod val="60000"/>
                  <a:lumOff val="40000"/>
                </a:srgbClr>
              </a:solidFill>
              <a:effectLst/>
              <a:uLnTx/>
              <a:uFillTx/>
              <a:latin typeface="Calibri" panose="020F0502020204030204"/>
              <a:ea typeface="+mn-ea"/>
              <a:cs typeface="+mn-cs"/>
            </a:endParaRPr>
          </a:p>
        </p:txBody>
      </p:sp>
      <p:sp>
        <p:nvSpPr>
          <p:cNvPr id="83" name="object 16"/>
          <p:cNvSpPr/>
          <p:nvPr/>
        </p:nvSpPr>
        <p:spPr>
          <a:xfrm>
            <a:off x="5857998" y="5071776"/>
            <a:ext cx="4144297" cy="276999"/>
          </a:xfrm>
          <a:custGeom>
            <a:avLst/>
            <a:gdLst/>
            <a:ahLst/>
            <a:cxnLst/>
            <a:rect l="l" t="t" r="r" b="b"/>
            <a:pathLst>
              <a:path w="2641600" h="315595">
                <a:moveTo>
                  <a:pt x="0" y="315467"/>
                </a:moveTo>
                <a:lnTo>
                  <a:pt x="2641600" y="315467"/>
                </a:lnTo>
                <a:lnTo>
                  <a:pt x="2641600" y="0"/>
                </a:lnTo>
                <a:lnTo>
                  <a:pt x="0" y="0"/>
                </a:lnTo>
                <a:lnTo>
                  <a:pt x="0" y="315467"/>
                </a:lnTo>
                <a:close/>
              </a:path>
            </a:pathLst>
          </a:custGeom>
          <a:solidFill>
            <a:srgbClr val="EDEBE0"/>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44546A">
                  <a:lumMod val="60000"/>
                  <a:lumOff val="40000"/>
                </a:srgbClr>
              </a:solidFill>
              <a:effectLst/>
              <a:uLnTx/>
              <a:uFillTx/>
              <a:latin typeface="Calibri" panose="020F0502020204030204"/>
              <a:ea typeface="+mn-ea"/>
              <a:cs typeface="+mn-cs"/>
            </a:endParaRPr>
          </a:p>
        </p:txBody>
      </p:sp>
      <p:sp>
        <p:nvSpPr>
          <p:cNvPr id="84" name="object 18"/>
          <p:cNvSpPr/>
          <p:nvPr/>
        </p:nvSpPr>
        <p:spPr>
          <a:xfrm>
            <a:off x="5858000" y="2058998"/>
            <a:ext cx="4143583" cy="276999"/>
          </a:xfrm>
          <a:custGeom>
            <a:avLst/>
            <a:gdLst/>
            <a:ahLst/>
            <a:cxnLst/>
            <a:rect l="l" t="t" r="r" b="b"/>
            <a:pathLst>
              <a:path w="2641600" h="1311275">
                <a:moveTo>
                  <a:pt x="0" y="1311147"/>
                </a:moveTo>
                <a:lnTo>
                  <a:pt x="2641600" y="1311147"/>
                </a:lnTo>
                <a:lnTo>
                  <a:pt x="2641600" y="0"/>
                </a:lnTo>
                <a:lnTo>
                  <a:pt x="0" y="0"/>
                </a:lnTo>
                <a:lnTo>
                  <a:pt x="0" y="1311147"/>
                </a:lnTo>
                <a:close/>
              </a:path>
            </a:pathLst>
          </a:custGeom>
          <a:solidFill>
            <a:srgbClr val="EDEBE0"/>
          </a:solid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1" i="0" u="none" strike="noStrike" kern="1200" cap="none" spc="0" normalizeH="0" baseline="0" noProof="0">
              <a:ln>
                <a:noFill/>
              </a:ln>
              <a:solidFill>
                <a:srgbClr val="44546A">
                  <a:lumMod val="60000"/>
                  <a:lumOff val="40000"/>
                </a:srgbClr>
              </a:solidFill>
              <a:effectLst/>
              <a:uLnTx/>
              <a:uFillTx/>
              <a:latin typeface="Calibri" panose="020F0502020204030204"/>
              <a:ea typeface="+mn-ea"/>
              <a:cs typeface="+mn-cs"/>
            </a:endParaRPr>
          </a:p>
        </p:txBody>
      </p:sp>
      <p:sp>
        <p:nvSpPr>
          <p:cNvPr id="86" name="object 35"/>
          <p:cNvSpPr txBox="1"/>
          <p:nvPr/>
        </p:nvSpPr>
        <p:spPr>
          <a:xfrm>
            <a:off x="7139752" y="3150546"/>
            <a:ext cx="1618696" cy="307777"/>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lang="fr-CA" sz="2000" b="1" i="0" u="none" strike="noStrike" kern="1200" cap="none" spc="0" normalizeH="0" baseline="0" noProof="0" dirty="0">
                <a:ln>
                  <a:noFill/>
                </a:ln>
                <a:solidFill>
                  <a:prstClr val="black"/>
                </a:solidFill>
                <a:effectLst/>
                <a:uLnTx/>
                <a:uFillTx/>
                <a:latin typeface="Calibri"/>
                <a:ea typeface="+mn-ea"/>
                <a:cs typeface="Calibri"/>
              </a:rPr>
              <a:t>0,5% </a:t>
            </a:r>
            <a:r>
              <a:rPr kumimoji="0" sz="2000" b="1" i="0" u="none" strike="noStrike" kern="1200" cap="none" spc="0" normalizeH="0" baseline="0" noProof="0" dirty="0">
                <a:ln>
                  <a:noFill/>
                </a:ln>
                <a:solidFill>
                  <a:prstClr val="black"/>
                </a:solidFill>
                <a:effectLst/>
                <a:uLnTx/>
                <a:uFillTx/>
                <a:latin typeface="Calibri"/>
                <a:ea typeface="+mn-ea"/>
                <a:cs typeface="Calibri"/>
              </a:rPr>
              <a:t>- </a:t>
            </a:r>
            <a:r>
              <a:rPr kumimoji="0" sz="2000" b="1" i="0" u="none" strike="noStrike" kern="1200" cap="none" spc="-20" normalizeH="0" baseline="0" noProof="0" dirty="0">
                <a:ln>
                  <a:noFill/>
                </a:ln>
                <a:solidFill>
                  <a:prstClr val="black"/>
                </a:solidFill>
                <a:effectLst/>
                <a:uLnTx/>
                <a:uFillTx/>
                <a:latin typeface="Calibri"/>
                <a:ea typeface="+mn-ea"/>
                <a:cs typeface="Calibri"/>
              </a:rPr>
              <a:t>1%</a:t>
            </a:r>
            <a:endParaRPr kumimoji="0" sz="20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87" name="object 37"/>
          <p:cNvSpPr txBox="1"/>
          <p:nvPr/>
        </p:nvSpPr>
        <p:spPr>
          <a:xfrm>
            <a:off x="7139752" y="3880153"/>
            <a:ext cx="1652755" cy="307777"/>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lang="fr-CA" sz="2000" b="1" i="0" u="none" strike="noStrike" kern="1200" cap="none" spc="0" normalizeH="0" baseline="0" noProof="0" dirty="0">
                <a:ln>
                  <a:noFill/>
                </a:ln>
                <a:solidFill>
                  <a:prstClr val="black"/>
                </a:solidFill>
                <a:effectLst/>
                <a:uLnTx/>
                <a:uFillTx/>
                <a:latin typeface="Calibri"/>
                <a:ea typeface="+mn-ea"/>
                <a:cs typeface="Calibri"/>
              </a:rPr>
              <a:t>0,5% </a:t>
            </a:r>
            <a:r>
              <a:rPr kumimoji="0" sz="2000" b="1" i="0" u="none" strike="noStrike" kern="1200" cap="none" spc="0" normalizeH="0" baseline="0" noProof="0" dirty="0">
                <a:ln>
                  <a:noFill/>
                </a:ln>
                <a:solidFill>
                  <a:prstClr val="black"/>
                </a:solidFill>
                <a:effectLst/>
                <a:uLnTx/>
                <a:uFillTx/>
                <a:latin typeface="Calibri"/>
                <a:ea typeface="+mn-ea"/>
                <a:cs typeface="Calibri"/>
              </a:rPr>
              <a:t>- </a:t>
            </a:r>
            <a:r>
              <a:rPr kumimoji="0" sz="2000" b="1" i="0" u="none" strike="noStrike" kern="1200" cap="none" spc="-20" normalizeH="0" baseline="0" noProof="0" dirty="0">
                <a:ln>
                  <a:noFill/>
                </a:ln>
                <a:solidFill>
                  <a:prstClr val="black"/>
                </a:solidFill>
                <a:effectLst/>
                <a:uLnTx/>
                <a:uFillTx/>
                <a:latin typeface="Calibri"/>
                <a:ea typeface="+mn-ea"/>
                <a:cs typeface="Calibri"/>
              </a:rPr>
              <a:t>5%</a:t>
            </a:r>
            <a:endParaRPr kumimoji="0" sz="20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88" name="object 39"/>
          <p:cNvSpPr txBox="1"/>
          <p:nvPr/>
        </p:nvSpPr>
        <p:spPr>
          <a:xfrm>
            <a:off x="5445457" y="2529139"/>
            <a:ext cx="4681182" cy="397801"/>
          </a:xfrm>
          <a:prstGeom prst="rect">
            <a:avLst/>
          </a:prstGeom>
        </p:spPr>
        <p:txBody>
          <a:bodyPr vert="horz" wrap="square" lIns="0" tIns="0" rIns="0" bIns="0" rtlCol="0">
            <a:spAutoFit/>
          </a:bodyPr>
          <a:lstStyle/>
          <a:p>
            <a:pPr marL="1255713" marR="6350" lvl="0" indent="0" algn="l" defTabSz="914400" rtl="0" eaLnBrk="1" fontAlgn="auto" latinLnBrk="0" hangingPunct="1">
              <a:lnSpc>
                <a:spcPct val="142800"/>
              </a:lnSpc>
              <a:spcBef>
                <a:spcPts val="0"/>
              </a:spcBef>
              <a:spcAft>
                <a:spcPts val="0"/>
              </a:spcAft>
              <a:buClrTx/>
              <a:buSzTx/>
              <a:buFontTx/>
              <a:buNone/>
              <a:tabLst/>
              <a:defRPr/>
            </a:pPr>
            <a:r>
              <a:rPr kumimoji="0" lang="fr-CA" sz="2000" b="1" i="0" u="none" strike="noStrike" kern="1200" cap="none" spc="-15" normalizeH="0" baseline="0" noProof="0" dirty="0">
                <a:ln>
                  <a:noFill/>
                </a:ln>
                <a:solidFill>
                  <a:srgbClr val="44546A">
                    <a:lumMod val="60000"/>
                    <a:lumOff val="40000"/>
                  </a:srgbClr>
                </a:solidFill>
                <a:effectLst/>
                <a:uLnTx/>
                <a:uFillTx/>
                <a:latin typeface="Calibri"/>
                <a:ea typeface="+mn-ea"/>
                <a:cs typeface="Calibri"/>
              </a:rPr>
              <a:t>        </a:t>
            </a:r>
            <a:r>
              <a:rPr kumimoji="0" lang="fr-CA" sz="2000" b="1" i="0" u="none" strike="noStrike" kern="1200" cap="none" spc="-15" normalizeH="0" baseline="0" noProof="0" dirty="0">
                <a:ln>
                  <a:noFill/>
                </a:ln>
                <a:solidFill>
                  <a:prstClr val="black"/>
                </a:solidFill>
                <a:effectLst/>
                <a:uLnTx/>
                <a:uFillTx/>
                <a:latin typeface="Calibri"/>
                <a:ea typeface="+mn-ea"/>
                <a:cs typeface="Calibri"/>
              </a:rPr>
              <a:t>0,5%</a:t>
            </a:r>
            <a:r>
              <a:rPr kumimoji="0" sz="2000" b="1" i="0" u="none" strike="noStrike" kern="1200" cap="none" spc="15" normalizeH="0" baseline="0" noProof="0" dirty="0">
                <a:ln>
                  <a:noFill/>
                </a:ln>
                <a:solidFill>
                  <a:prstClr val="black"/>
                </a:solidFill>
                <a:effectLst/>
                <a:uLnTx/>
                <a:uFillTx/>
                <a:latin typeface="Calibri"/>
                <a:ea typeface="+mn-ea"/>
                <a:cs typeface="Calibri"/>
              </a:rPr>
              <a:t> </a:t>
            </a:r>
            <a:r>
              <a:rPr kumimoji="0" sz="2000" b="1" i="0" u="none" strike="noStrike" kern="1200" cap="none" spc="0" normalizeH="0" baseline="0" noProof="0" dirty="0">
                <a:ln>
                  <a:noFill/>
                </a:ln>
                <a:solidFill>
                  <a:prstClr val="black"/>
                </a:solidFill>
                <a:effectLst/>
                <a:uLnTx/>
                <a:uFillTx/>
                <a:latin typeface="Calibri"/>
                <a:ea typeface="+mn-ea"/>
                <a:cs typeface="Calibri"/>
              </a:rPr>
              <a:t>- </a:t>
            </a:r>
            <a:r>
              <a:rPr kumimoji="0" sz="2000" b="1" i="0" u="none" strike="noStrike" kern="1200" cap="none" spc="-20" normalizeH="0" baseline="0" noProof="0" dirty="0">
                <a:ln>
                  <a:noFill/>
                </a:ln>
                <a:solidFill>
                  <a:prstClr val="black"/>
                </a:solidFill>
                <a:effectLst/>
                <a:uLnTx/>
                <a:uFillTx/>
                <a:latin typeface="Calibri"/>
                <a:ea typeface="+mn-ea"/>
                <a:cs typeface="Calibri"/>
              </a:rPr>
              <a:t>1%</a:t>
            </a:r>
            <a:r>
              <a:rPr kumimoji="0" sz="2000" b="1" i="0" u="none" strike="noStrike" kern="1200" cap="none" spc="-10" normalizeH="0" baseline="0" noProof="0" dirty="0">
                <a:ln>
                  <a:noFill/>
                </a:ln>
                <a:solidFill>
                  <a:prstClr val="black"/>
                </a:solidFill>
                <a:effectLst/>
                <a:uLnTx/>
                <a:uFillTx/>
                <a:latin typeface="Calibri"/>
                <a:ea typeface="+mn-ea"/>
                <a:cs typeface="Calibri"/>
              </a:rPr>
              <a:t> </a:t>
            </a:r>
            <a:r>
              <a:rPr kumimoji="0" sz="1800" b="1" i="0" u="none" strike="noStrike" kern="1200" cap="none" spc="-5" normalizeH="0" baseline="0" noProof="0" dirty="0">
                <a:ln>
                  <a:noFill/>
                </a:ln>
                <a:solidFill>
                  <a:prstClr val="black"/>
                </a:solidFill>
                <a:effectLst/>
                <a:uLnTx/>
                <a:uFillTx/>
                <a:latin typeface="Calibri"/>
                <a:ea typeface="+mn-ea"/>
                <a:cs typeface="Calibri"/>
              </a:rPr>
              <a:t>(</a:t>
            </a:r>
            <a:r>
              <a:rPr kumimoji="0" sz="1800" b="1" i="0" u="none" strike="noStrike" kern="1200" cap="none" spc="-10" normalizeH="0" baseline="0" noProof="0" dirty="0">
                <a:ln>
                  <a:noFill/>
                </a:ln>
                <a:solidFill>
                  <a:prstClr val="black"/>
                </a:solidFill>
                <a:effectLst/>
                <a:uLnTx/>
                <a:uFillTx/>
                <a:latin typeface="Calibri"/>
                <a:ea typeface="+mn-ea"/>
                <a:cs typeface="Calibri"/>
              </a:rPr>
              <a:t>O</a:t>
            </a:r>
            <a:r>
              <a:rPr kumimoji="0" sz="1800" b="1" i="0" u="none" strike="noStrike" kern="1200" cap="none" spc="-15" normalizeH="0" baseline="0" noProof="0" dirty="0">
                <a:ln>
                  <a:noFill/>
                </a:ln>
                <a:solidFill>
                  <a:prstClr val="black"/>
                </a:solidFill>
                <a:effectLst/>
                <a:uLnTx/>
                <a:uFillTx/>
                <a:latin typeface="Calibri"/>
                <a:ea typeface="+mn-ea"/>
                <a:cs typeface="Calibri"/>
              </a:rPr>
              <a:t>BN</a:t>
            </a:r>
            <a:r>
              <a:rPr kumimoji="0" sz="1800" b="1" i="0" u="none" strike="noStrike" kern="1200" cap="none" spc="0" normalizeH="0" baseline="0" noProof="0" dirty="0">
                <a:ln>
                  <a:noFill/>
                </a:ln>
                <a:solidFill>
                  <a:prstClr val="black"/>
                </a:solidFill>
                <a:effectLst/>
                <a:uLnTx/>
                <a:uFillTx/>
                <a:latin typeface="Calibri"/>
                <a:ea typeface="+mn-ea"/>
                <a:cs typeface="Calibri"/>
              </a:rPr>
              <a:t>L</a:t>
            </a:r>
            <a:r>
              <a:rPr kumimoji="0" sz="1800" b="1" i="0" u="none" strike="noStrike" kern="1200" cap="none" spc="10" normalizeH="0" baseline="0" noProof="0" dirty="0">
                <a:ln>
                  <a:noFill/>
                </a:ln>
                <a:solidFill>
                  <a:prstClr val="black"/>
                </a:solidFill>
                <a:effectLst/>
                <a:uLnTx/>
                <a:uFillTx/>
                <a:latin typeface="Calibri"/>
                <a:ea typeface="+mn-ea"/>
                <a:cs typeface="Calibri"/>
              </a:rPr>
              <a:t> </a:t>
            </a:r>
            <a:r>
              <a:rPr kumimoji="0" lang="fr-CA" sz="1800" b="1" i="0" u="none" strike="noStrike" kern="1200" cap="none" spc="0" normalizeH="0" baseline="0" noProof="0" dirty="0">
                <a:ln>
                  <a:noFill/>
                </a:ln>
                <a:solidFill>
                  <a:prstClr val="black"/>
                </a:solidFill>
                <a:effectLst/>
                <a:uLnTx/>
                <a:uFillTx/>
                <a:latin typeface="Calibri"/>
                <a:ea typeface="+mn-ea"/>
                <a:cs typeface="Calibri"/>
              </a:rPr>
              <a:t>0,5</a:t>
            </a:r>
            <a:r>
              <a:rPr kumimoji="0" lang="fr-CA" sz="1800" b="1" i="0" u="none" strike="noStrike" kern="1200" cap="none" spc="-15" normalizeH="0" baseline="0" noProof="0" dirty="0">
                <a:ln>
                  <a:noFill/>
                </a:ln>
                <a:solidFill>
                  <a:prstClr val="black"/>
                </a:solidFill>
                <a:effectLst/>
                <a:uLnTx/>
                <a:uFillTx/>
                <a:latin typeface="Calibri"/>
                <a:ea typeface="+mn-ea"/>
                <a:cs typeface="Calibri"/>
              </a:rPr>
              <a:t>%</a:t>
            </a:r>
            <a:r>
              <a:rPr kumimoji="0" lang="fr-CA" sz="1800" b="1" i="0" u="none" strike="noStrike" kern="1200" cap="none" spc="20" normalizeH="0" baseline="0" noProof="0" dirty="0">
                <a:ln>
                  <a:noFill/>
                </a:ln>
                <a:solidFill>
                  <a:prstClr val="black"/>
                </a:solidFill>
                <a:effectLst/>
                <a:uLnTx/>
                <a:uFillTx/>
                <a:latin typeface="Calibri"/>
                <a:ea typeface="+mn-ea"/>
                <a:cs typeface="Calibri"/>
              </a:rPr>
              <a:t> </a:t>
            </a:r>
            <a:r>
              <a:rPr kumimoji="0" lang="fr-CA" sz="1800" b="1" i="0" u="none" strike="noStrike" kern="1200" cap="none" spc="0" normalizeH="0" baseline="0" noProof="0" dirty="0">
                <a:ln>
                  <a:noFill/>
                </a:ln>
                <a:solidFill>
                  <a:prstClr val="black"/>
                </a:solidFill>
                <a:effectLst/>
                <a:uLnTx/>
                <a:uFillTx/>
                <a:latin typeface="Calibri"/>
                <a:ea typeface="+mn-ea"/>
                <a:cs typeface="Calibri"/>
              </a:rPr>
              <a:t>- </a:t>
            </a:r>
            <a:r>
              <a:rPr kumimoji="0" lang="fr-CA" sz="1800" b="1" i="0" u="none" strike="noStrike" kern="1200" cap="none" spc="-10" normalizeH="0" baseline="0" noProof="0" dirty="0">
                <a:ln>
                  <a:noFill/>
                </a:ln>
                <a:solidFill>
                  <a:prstClr val="black"/>
                </a:solidFill>
                <a:effectLst/>
                <a:uLnTx/>
                <a:uFillTx/>
                <a:latin typeface="Calibri"/>
                <a:ea typeface="+mn-ea"/>
                <a:cs typeface="Calibri"/>
              </a:rPr>
              <a:t>2%*</a:t>
            </a:r>
            <a:r>
              <a:rPr kumimoji="0" sz="1800" b="1" i="0" u="none" strike="noStrike" kern="1200" cap="none" spc="-10" normalizeH="0" baseline="0" noProof="0" dirty="0">
                <a:ln>
                  <a:noFill/>
                </a:ln>
                <a:solidFill>
                  <a:prstClr val="black"/>
                </a:solidFill>
                <a:effectLst/>
                <a:uLnTx/>
                <a:uFillTx/>
                <a:latin typeface="Calibri"/>
                <a:ea typeface="+mn-ea"/>
                <a:cs typeface="Calibri"/>
              </a:rPr>
              <a:t>)</a:t>
            </a:r>
            <a:endParaRPr kumimoji="0" sz="18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90" name="object 43"/>
          <p:cNvSpPr txBox="1"/>
          <p:nvPr/>
        </p:nvSpPr>
        <p:spPr>
          <a:xfrm>
            <a:off x="7139752" y="5094271"/>
            <a:ext cx="1968857" cy="276999"/>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800" b="1" i="0" u="none" strike="noStrike" kern="1200" cap="none" spc="-5" normalizeH="0" baseline="0" noProof="0" dirty="0">
                <a:ln>
                  <a:noFill/>
                </a:ln>
                <a:solidFill>
                  <a:prstClr val="black"/>
                </a:solidFill>
                <a:effectLst/>
                <a:uLnTx/>
                <a:uFillTx/>
                <a:latin typeface="Calibri"/>
                <a:ea typeface="+mn-ea"/>
                <a:cs typeface="Calibri"/>
              </a:rPr>
              <a:t>(</a:t>
            </a:r>
            <a:r>
              <a:rPr kumimoji="0" sz="1800" b="1" i="0" u="none" strike="noStrike" kern="1200" cap="none" spc="-10" normalizeH="0" baseline="0" noProof="0" dirty="0">
                <a:ln>
                  <a:noFill/>
                </a:ln>
                <a:solidFill>
                  <a:prstClr val="black"/>
                </a:solidFill>
                <a:effectLst/>
                <a:uLnTx/>
                <a:uFillTx/>
                <a:latin typeface="Calibri"/>
                <a:ea typeface="+mn-ea"/>
                <a:cs typeface="Calibri"/>
              </a:rPr>
              <a:t>O</a:t>
            </a:r>
            <a:r>
              <a:rPr kumimoji="0" sz="1800" b="1" i="0" u="none" strike="noStrike" kern="1200" cap="none" spc="-15" normalizeH="0" baseline="0" noProof="0" dirty="0">
                <a:ln>
                  <a:noFill/>
                </a:ln>
                <a:solidFill>
                  <a:prstClr val="black"/>
                </a:solidFill>
                <a:effectLst/>
                <a:uLnTx/>
                <a:uFillTx/>
                <a:latin typeface="Calibri"/>
                <a:ea typeface="+mn-ea"/>
                <a:cs typeface="Calibri"/>
              </a:rPr>
              <a:t>BN</a:t>
            </a:r>
            <a:r>
              <a:rPr kumimoji="0" sz="1800" b="1" i="0" u="none" strike="noStrike" kern="1200" cap="none" spc="0" normalizeH="0" baseline="0" noProof="0" dirty="0">
                <a:ln>
                  <a:noFill/>
                </a:ln>
                <a:solidFill>
                  <a:prstClr val="black"/>
                </a:solidFill>
                <a:effectLst/>
                <a:uLnTx/>
                <a:uFillTx/>
                <a:latin typeface="Calibri"/>
                <a:ea typeface="+mn-ea"/>
                <a:cs typeface="Calibri"/>
              </a:rPr>
              <a:t>L</a:t>
            </a:r>
            <a:r>
              <a:rPr kumimoji="0" sz="1800" b="1" i="0" u="none" strike="noStrike" kern="1200" cap="none" spc="10" normalizeH="0" baseline="0" noProof="0" dirty="0">
                <a:ln>
                  <a:noFill/>
                </a:ln>
                <a:solidFill>
                  <a:prstClr val="black"/>
                </a:solidFill>
                <a:effectLst/>
                <a:uLnTx/>
                <a:uFillTx/>
                <a:latin typeface="Calibri"/>
                <a:ea typeface="+mn-ea"/>
                <a:cs typeface="Calibri"/>
              </a:rPr>
              <a:t> </a:t>
            </a:r>
            <a:r>
              <a:rPr kumimoji="0" lang="fr-CA" sz="1800" b="1" i="0" u="none" strike="noStrike" kern="1200" cap="none" spc="0" normalizeH="0" baseline="0" noProof="0" dirty="0">
                <a:ln>
                  <a:noFill/>
                </a:ln>
                <a:solidFill>
                  <a:prstClr val="black"/>
                </a:solidFill>
                <a:effectLst/>
                <a:uLnTx/>
                <a:uFillTx/>
                <a:latin typeface="Calibri"/>
                <a:ea typeface="+mn-ea"/>
                <a:cs typeface="Calibri"/>
              </a:rPr>
              <a:t>0,5</a:t>
            </a:r>
            <a:r>
              <a:rPr kumimoji="0" sz="1800" b="1" i="0" u="none" strike="noStrike" kern="1200" cap="none" spc="-15" normalizeH="0" baseline="0" noProof="0" dirty="0">
                <a:ln>
                  <a:noFill/>
                </a:ln>
                <a:solidFill>
                  <a:prstClr val="black"/>
                </a:solidFill>
                <a:effectLst/>
                <a:uLnTx/>
                <a:uFillTx/>
                <a:latin typeface="Calibri"/>
                <a:ea typeface="+mn-ea"/>
                <a:cs typeface="Calibri"/>
              </a:rPr>
              <a:t>%</a:t>
            </a:r>
            <a:r>
              <a:rPr kumimoji="0" sz="1800" b="1" i="0" u="none" strike="noStrike" kern="1200" cap="none" spc="20" normalizeH="0" baseline="0" noProof="0" dirty="0">
                <a:ln>
                  <a:noFill/>
                </a:ln>
                <a:solidFill>
                  <a:prstClr val="black"/>
                </a:solidFill>
                <a:effectLst/>
                <a:uLnTx/>
                <a:uFillTx/>
                <a:latin typeface="Calibri"/>
                <a:ea typeface="+mn-ea"/>
                <a:cs typeface="Calibri"/>
              </a:rPr>
              <a:t> </a:t>
            </a:r>
            <a:r>
              <a:rPr kumimoji="0" sz="1800" b="1" i="0" u="none" strike="noStrike" kern="1200" cap="none" spc="0" normalizeH="0" baseline="0" noProof="0" dirty="0">
                <a:ln>
                  <a:noFill/>
                </a:ln>
                <a:solidFill>
                  <a:prstClr val="black"/>
                </a:solidFill>
                <a:effectLst/>
                <a:uLnTx/>
                <a:uFillTx/>
                <a:latin typeface="Calibri"/>
                <a:ea typeface="+mn-ea"/>
                <a:cs typeface="Calibri"/>
              </a:rPr>
              <a:t>- </a:t>
            </a:r>
            <a:r>
              <a:rPr kumimoji="0" sz="1800" b="1" i="0" u="none" strike="noStrike" kern="1200" cap="none" spc="-10" normalizeH="0" baseline="0" noProof="0" dirty="0">
                <a:ln>
                  <a:noFill/>
                </a:ln>
                <a:solidFill>
                  <a:prstClr val="black"/>
                </a:solidFill>
                <a:effectLst/>
                <a:uLnTx/>
                <a:uFillTx/>
                <a:latin typeface="Calibri"/>
                <a:ea typeface="+mn-ea"/>
                <a:cs typeface="Calibri"/>
              </a:rPr>
              <a:t>2%</a:t>
            </a:r>
            <a:r>
              <a:rPr kumimoji="0" lang="fr-CA" sz="1800" b="1" i="0" u="none" strike="noStrike" kern="1200" cap="none" spc="-10" normalizeH="0" baseline="0" noProof="0" dirty="0">
                <a:ln>
                  <a:noFill/>
                </a:ln>
                <a:solidFill>
                  <a:prstClr val="black"/>
                </a:solidFill>
                <a:effectLst/>
                <a:uLnTx/>
                <a:uFillTx/>
                <a:latin typeface="Calibri"/>
                <a:ea typeface="+mn-ea"/>
                <a:cs typeface="Calibri"/>
              </a:rPr>
              <a:t>*</a:t>
            </a:r>
            <a:r>
              <a:rPr kumimoji="0" sz="1800" b="1" i="0" u="none" strike="noStrike" kern="1200" cap="none" spc="-10" normalizeH="0" baseline="0" noProof="0" dirty="0">
                <a:ln>
                  <a:noFill/>
                </a:ln>
                <a:solidFill>
                  <a:prstClr val="black"/>
                </a:solidFill>
                <a:effectLst/>
                <a:uLnTx/>
                <a:uFillTx/>
                <a:latin typeface="Calibri"/>
                <a:ea typeface="+mn-ea"/>
                <a:cs typeface="Calibri"/>
              </a:rPr>
              <a:t>)</a:t>
            </a:r>
            <a:endParaRPr kumimoji="0" sz="18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91" name="object 45"/>
          <p:cNvSpPr txBox="1"/>
          <p:nvPr/>
        </p:nvSpPr>
        <p:spPr>
          <a:xfrm>
            <a:off x="6848358" y="2041726"/>
            <a:ext cx="1072395" cy="307777"/>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lang="fr-CA" sz="2000" b="1" i="0" u="none" strike="noStrike" kern="1200" cap="none" spc="-20" normalizeH="0" baseline="0" noProof="0" dirty="0">
                <a:ln>
                  <a:noFill/>
                </a:ln>
                <a:solidFill>
                  <a:prstClr val="black"/>
                </a:solidFill>
                <a:effectLst/>
                <a:uLnTx/>
                <a:uFillTx/>
                <a:latin typeface="Calibri"/>
                <a:ea typeface="+mn-ea"/>
                <a:cs typeface="Calibri"/>
              </a:rPr>
              <a:t>      </a:t>
            </a:r>
            <a:r>
              <a:rPr kumimoji="0" sz="2000" b="1" i="0" u="none" strike="noStrike" kern="1200" cap="none" spc="-20" normalizeH="0" baseline="0" noProof="0" dirty="0">
                <a:ln>
                  <a:noFill/>
                </a:ln>
                <a:solidFill>
                  <a:prstClr val="black"/>
                </a:solidFill>
                <a:effectLst/>
                <a:uLnTx/>
                <a:uFillTx/>
                <a:latin typeface="Calibri"/>
                <a:ea typeface="+mn-ea"/>
                <a:cs typeface="Calibri"/>
              </a:rPr>
              <a:t>5%</a:t>
            </a:r>
            <a:r>
              <a:rPr kumimoji="0" lang="fr-CA" sz="2000" b="1" i="0" u="none" strike="noStrike" kern="1200" cap="none" spc="-20" normalizeH="0" baseline="0" noProof="0" dirty="0">
                <a:ln>
                  <a:noFill/>
                </a:ln>
                <a:solidFill>
                  <a:prstClr val="black"/>
                </a:solidFill>
                <a:effectLst/>
                <a:uLnTx/>
                <a:uFillTx/>
                <a:latin typeface="Calibri"/>
                <a:ea typeface="+mn-ea"/>
                <a:cs typeface="Calibri"/>
              </a:rPr>
              <a:t>*</a:t>
            </a:r>
            <a:endParaRPr kumimoji="0" sz="20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93" name="object 33"/>
          <p:cNvSpPr txBox="1"/>
          <p:nvPr/>
        </p:nvSpPr>
        <p:spPr>
          <a:xfrm>
            <a:off x="5848292" y="1442471"/>
            <a:ext cx="4097798" cy="353943"/>
          </a:xfrm>
          <a:prstGeom prst="rect">
            <a:avLst/>
          </a:prstGeom>
        </p:spPr>
        <p:txBody>
          <a:bodyPr vert="horz" wrap="square" lIns="0" tIns="0" rIns="0" bIns="0" rtlCol="0">
            <a:spAutoFit/>
          </a:bodyPr>
          <a:lstStyle/>
          <a:p>
            <a:pPr marL="113030" marR="106045" lvl="0" indent="1270" algn="ctr" defTabSz="914400" rtl="0" eaLnBrk="1" fontAlgn="auto" latinLnBrk="0" hangingPunct="1">
              <a:lnSpc>
                <a:spcPct val="115100"/>
              </a:lnSpc>
              <a:spcBef>
                <a:spcPts val="0"/>
              </a:spcBef>
              <a:spcAft>
                <a:spcPts val="0"/>
              </a:spcAft>
              <a:buClrTx/>
              <a:buSzTx/>
              <a:buFontTx/>
              <a:buNone/>
              <a:tabLst/>
              <a:defRPr/>
            </a:pPr>
            <a:r>
              <a:rPr kumimoji="0" sz="2000" b="1" i="0" u="none" strike="noStrike" kern="1200" cap="none" spc="-105" normalizeH="0" baseline="0" noProof="0" dirty="0">
                <a:ln>
                  <a:noFill/>
                </a:ln>
                <a:solidFill>
                  <a:prstClr val="black"/>
                </a:solidFill>
                <a:effectLst/>
                <a:uLnTx/>
                <a:uFillTx/>
                <a:latin typeface="Calibri"/>
                <a:ea typeface="+mn-ea"/>
                <a:cs typeface="Calibri"/>
              </a:rPr>
              <a:t>F</a:t>
            </a:r>
            <a:r>
              <a:rPr kumimoji="0" sz="2000" b="1" i="0" u="none" strike="noStrike" kern="1200" cap="none" spc="-30" normalizeH="0" baseline="0" noProof="0" dirty="0">
                <a:ln>
                  <a:noFill/>
                </a:ln>
                <a:solidFill>
                  <a:prstClr val="black"/>
                </a:solidFill>
                <a:effectLst/>
                <a:uLnTx/>
                <a:uFillTx/>
                <a:latin typeface="Calibri"/>
                <a:ea typeface="+mn-ea"/>
                <a:cs typeface="Calibri"/>
              </a:rPr>
              <a:t>A</a:t>
            </a:r>
            <a:r>
              <a:rPr kumimoji="0" sz="2000" b="1" i="0" u="none" strike="noStrike" kern="1200" cap="none" spc="5" normalizeH="0" baseline="0" noProof="0" dirty="0">
                <a:ln>
                  <a:noFill/>
                </a:ln>
                <a:solidFill>
                  <a:prstClr val="black"/>
                </a:solidFill>
                <a:effectLst/>
                <a:uLnTx/>
                <a:uFillTx/>
                <a:latin typeface="Calibri"/>
                <a:ea typeface="+mn-ea"/>
                <a:cs typeface="Calibri"/>
              </a:rPr>
              <a:t>C</a:t>
            </a:r>
            <a:r>
              <a:rPr kumimoji="0" sz="2000" b="1" i="0" u="none" strike="noStrike" kern="1200" cap="none" spc="-5" normalizeH="0" baseline="0" noProof="0" dirty="0">
                <a:ln>
                  <a:noFill/>
                </a:ln>
                <a:solidFill>
                  <a:prstClr val="black"/>
                </a:solidFill>
                <a:effectLst/>
                <a:uLnTx/>
                <a:uFillTx/>
                <a:latin typeface="Calibri"/>
                <a:ea typeface="+mn-ea"/>
                <a:cs typeface="Calibri"/>
              </a:rPr>
              <a:t>TEU</a:t>
            </a:r>
            <a:r>
              <a:rPr kumimoji="0" sz="2000" b="1" i="0" u="none" strike="noStrike" kern="1200" cap="none" spc="-25" normalizeH="0" baseline="0" noProof="0" dirty="0">
                <a:ln>
                  <a:noFill/>
                </a:ln>
                <a:solidFill>
                  <a:prstClr val="black"/>
                </a:solidFill>
                <a:effectLst/>
                <a:uLnTx/>
                <a:uFillTx/>
                <a:latin typeface="Calibri"/>
                <a:ea typeface="+mn-ea"/>
                <a:cs typeface="Calibri"/>
              </a:rPr>
              <a:t>R</a:t>
            </a:r>
            <a:r>
              <a:rPr kumimoji="0" sz="2000" b="1" i="0" u="none" strike="noStrike" kern="1200" cap="none" spc="0" normalizeH="0" baseline="0" noProof="0" dirty="0">
                <a:ln>
                  <a:noFill/>
                </a:ln>
                <a:solidFill>
                  <a:prstClr val="black"/>
                </a:solidFill>
                <a:effectLst/>
                <a:uLnTx/>
                <a:uFillTx/>
                <a:latin typeface="Calibri"/>
                <a:ea typeface="+mn-ea"/>
                <a:cs typeface="Calibri"/>
              </a:rPr>
              <a:t>S Q</a:t>
            </a:r>
            <a:r>
              <a:rPr kumimoji="0" sz="2000" b="1" i="0" u="none" strike="noStrike" kern="1200" cap="none" spc="-45" normalizeH="0" baseline="0" noProof="0" dirty="0">
                <a:ln>
                  <a:noFill/>
                </a:ln>
                <a:solidFill>
                  <a:prstClr val="black"/>
                </a:solidFill>
                <a:effectLst/>
                <a:uLnTx/>
                <a:uFillTx/>
                <a:latin typeface="Calibri"/>
                <a:ea typeface="+mn-ea"/>
                <a:cs typeface="Calibri"/>
              </a:rPr>
              <a:t>U</a:t>
            </a:r>
            <a:r>
              <a:rPr kumimoji="0" sz="2000" b="1" i="0" u="none" strike="noStrike" kern="1200" cap="none" spc="0" normalizeH="0" baseline="0" noProof="0" dirty="0">
                <a:ln>
                  <a:noFill/>
                </a:ln>
                <a:solidFill>
                  <a:prstClr val="black"/>
                </a:solidFill>
                <a:effectLst/>
                <a:uLnTx/>
                <a:uFillTx/>
                <a:latin typeface="Calibri"/>
                <a:ea typeface="+mn-ea"/>
                <a:cs typeface="Calibri"/>
              </a:rPr>
              <a:t>ANTI</a:t>
            </a:r>
            <a:r>
              <a:rPr kumimoji="0" sz="2000" b="1" i="0" u="none" strike="noStrike" kern="1200" cap="none" spc="-160" normalizeH="0" baseline="0" noProof="0" dirty="0">
                <a:ln>
                  <a:noFill/>
                </a:ln>
                <a:solidFill>
                  <a:prstClr val="black"/>
                </a:solidFill>
                <a:effectLst/>
                <a:uLnTx/>
                <a:uFillTx/>
                <a:latin typeface="Calibri"/>
                <a:ea typeface="+mn-ea"/>
                <a:cs typeface="Calibri"/>
              </a:rPr>
              <a:t>TA</a:t>
            </a:r>
            <a:r>
              <a:rPr kumimoji="0" sz="2000" b="1" i="0" u="none" strike="noStrike" kern="1200" cap="none" spc="-10" normalizeH="0" baseline="0" noProof="0" dirty="0">
                <a:ln>
                  <a:noFill/>
                </a:ln>
                <a:solidFill>
                  <a:prstClr val="black"/>
                </a:solidFill>
                <a:effectLst/>
                <a:uLnTx/>
                <a:uFillTx/>
                <a:latin typeface="Calibri"/>
                <a:ea typeface="+mn-ea"/>
                <a:cs typeface="Calibri"/>
              </a:rPr>
              <a:t>T</a:t>
            </a:r>
            <a:r>
              <a:rPr kumimoji="0" sz="2000" b="1" i="0" u="none" strike="noStrike" kern="1200" cap="none" spc="0" normalizeH="0" baseline="0" noProof="0" dirty="0">
                <a:ln>
                  <a:noFill/>
                </a:ln>
                <a:solidFill>
                  <a:prstClr val="black"/>
                </a:solidFill>
                <a:effectLst/>
                <a:uLnTx/>
                <a:uFillTx/>
                <a:latin typeface="Calibri"/>
                <a:ea typeface="+mn-ea"/>
                <a:cs typeface="Calibri"/>
              </a:rPr>
              <a:t>I</a:t>
            </a:r>
            <a:r>
              <a:rPr kumimoji="0" sz="2000" b="1" i="0" u="none" strike="noStrike" kern="1200" cap="none" spc="-30" normalizeH="0" baseline="0" noProof="0" dirty="0">
                <a:ln>
                  <a:noFill/>
                </a:ln>
                <a:solidFill>
                  <a:prstClr val="black"/>
                </a:solidFill>
                <a:effectLst/>
                <a:uLnTx/>
                <a:uFillTx/>
                <a:latin typeface="Calibri"/>
                <a:ea typeface="+mn-ea"/>
                <a:cs typeface="Calibri"/>
              </a:rPr>
              <a:t>F</a:t>
            </a:r>
            <a:r>
              <a:rPr kumimoji="0" sz="2000" b="1" i="0" u="none" strike="noStrike" kern="1200" cap="none" spc="0" normalizeH="0" baseline="0" noProof="0" dirty="0">
                <a:ln>
                  <a:noFill/>
                </a:ln>
                <a:solidFill>
                  <a:prstClr val="black"/>
                </a:solidFill>
                <a:effectLst/>
                <a:uLnTx/>
                <a:uFillTx/>
                <a:latin typeface="Calibri"/>
                <a:ea typeface="+mn-ea"/>
                <a:cs typeface="Calibri"/>
              </a:rPr>
              <a:t>S SUGGÉR</a:t>
            </a:r>
            <a:r>
              <a:rPr kumimoji="0" sz="2000" b="1" i="0" u="none" strike="noStrike" kern="1200" cap="none" spc="-35" normalizeH="0" baseline="0" noProof="0" dirty="0">
                <a:ln>
                  <a:noFill/>
                </a:ln>
                <a:solidFill>
                  <a:prstClr val="black"/>
                </a:solidFill>
                <a:effectLst/>
                <a:uLnTx/>
                <a:uFillTx/>
                <a:latin typeface="Calibri"/>
                <a:ea typeface="+mn-ea"/>
                <a:cs typeface="Calibri"/>
              </a:rPr>
              <a:t>É</a:t>
            </a:r>
            <a:r>
              <a:rPr kumimoji="0" sz="2000" b="1" i="0" u="none" strike="noStrike" kern="1200" cap="none" spc="0" normalizeH="0" baseline="0" noProof="0" dirty="0">
                <a:ln>
                  <a:noFill/>
                </a:ln>
                <a:solidFill>
                  <a:prstClr val="black"/>
                </a:solidFill>
                <a:effectLst/>
                <a:uLnTx/>
                <a:uFillTx/>
                <a:latin typeface="Calibri"/>
                <a:ea typeface="+mn-ea"/>
                <a:cs typeface="Calibri"/>
              </a:rPr>
              <a:t>S</a:t>
            </a:r>
          </a:p>
        </p:txBody>
      </p:sp>
      <p:sp>
        <p:nvSpPr>
          <p:cNvPr id="33" name="object 37"/>
          <p:cNvSpPr txBox="1"/>
          <p:nvPr/>
        </p:nvSpPr>
        <p:spPr>
          <a:xfrm>
            <a:off x="7139751" y="4369609"/>
            <a:ext cx="1652755" cy="307777"/>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lang="fr-CA" sz="2000" b="1" i="0" u="none" strike="noStrike" kern="1200" cap="none" spc="0" normalizeH="0" baseline="0" noProof="0" dirty="0">
                <a:ln>
                  <a:noFill/>
                </a:ln>
                <a:solidFill>
                  <a:prstClr val="black"/>
                </a:solidFill>
                <a:effectLst/>
                <a:uLnTx/>
                <a:uFillTx/>
                <a:latin typeface="Calibri"/>
                <a:ea typeface="+mn-ea"/>
                <a:cs typeface="Calibri"/>
              </a:rPr>
              <a:t>0,5% </a:t>
            </a:r>
            <a:r>
              <a:rPr kumimoji="0" sz="2000" b="1" i="0" u="none" strike="noStrike" kern="1200" cap="none" spc="0" normalizeH="0" baseline="0" noProof="0" dirty="0">
                <a:ln>
                  <a:noFill/>
                </a:ln>
                <a:solidFill>
                  <a:prstClr val="black"/>
                </a:solidFill>
                <a:effectLst/>
                <a:uLnTx/>
                <a:uFillTx/>
                <a:latin typeface="Calibri"/>
                <a:ea typeface="+mn-ea"/>
                <a:cs typeface="Calibri"/>
              </a:rPr>
              <a:t>- </a:t>
            </a:r>
            <a:r>
              <a:rPr kumimoji="0" sz="2000" b="1" i="0" u="none" strike="noStrike" kern="1200" cap="none" spc="-20" normalizeH="0" baseline="0" noProof="0" dirty="0">
                <a:ln>
                  <a:noFill/>
                </a:ln>
                <a:solidFill>
                  <a:prstClr val="black"/>
                </a:solidFill>
                <a:effectLst/>
                <a:uLnTx/>
                <a:uFillTx/>
                <a:latin typeface="Calibri"/>
                <a:ea typeface="+mn-ea"/>
                <a:cs typeface="Calibri"/>
              </a:rPr>
              <a:t>5%</a:t>
            </a:r>
            <a:endParaRPr kumimoji="0" sz="20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37" name="Organigramme : Alternative 36"/>
          <p:cNvSpPr/>
          <p:nvPr/>
        </p:nvSpPr>
        <p:spPr>
          <a:xfrm>
            <a:off x="549401" y="5590510"/>
            <a:ext cx="9375514" cy="40355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2600" b="1" i="0" u="none" strike="noStrike" kern="1200" cap="none" spc="0" normalizeH="0" baseline="0" noProof="0" dirty="0">
                <a:ln>
                  <a:noFill/>
                </a:ln>
                <a:solidFill>
                  <a:prstClr val="white"/>
                </a:solidFill>
                <a:effectLst/>
                <a:uLnTx/>
                <a:uFillTx/>
                <a:latin typeface="Calibri" panose="020F0502020204030204"/>
                <a:ea typeface="+mn-ea"/>
                <a:cs typeface="+mn-cs"/>
              </a:rPr>
              <a:t>* Les seuls % donnés en </a:t>
            </a:r>
            <a:r>
              <a:rPr kumimoji="0" lang="fr-CA" sz="2600" b="1" i="0" u="sng" strike="noStrike" kern="1200" cap="none" spc="0" normalizeH="0" baseline="0" noProof="0" dirty="0">
                <a:ln>
                  <a:noFill/>
                </a:ln>
                <a:solidFill>
                  <a:prstClr val="white"/>
                </a:solidFill>
                <a:effectLst/>
                <a:uLnTx/>
                <a:uFillTx/>
                <a:latin typeface="Calibri" panose="020F0502020204030204"/>
                <a:ea typeface="+mn-ea"/>
                <a:cs typeface="+mn-cs"/>
              </a:rPr>
              <a:t>exemple</a:t>
            </a:r>
            <a:r>
              <a:rPr kumimoji="0" lang="fr-CA" sz="2600" b="1" i="0" u="none" strike="noStrike" kern="1200" cap="none" spc="0" normalizeH="0" baseline="0" noProof="0" dirty="0">
                <a:ln>
                  <a:noFill/>
                </a:ln>
                <a:solidFill>
                  <a:prstClr val="white"/>
                </a:solidFill>
                <a:effectLst/>
                <a:uLnTx/>
                <a:uFillTx/>
                <a:latin typeface="Calibri" panose="020F0502020204030204"/>
                <a:ea typeface="+mn-ea"/>
                <a:cs typeface="+mn-cs"/>
              </a:rPr>
              <a:t> dans la NCA 320.A8</a:t>
            </a:r>
          </a:p>
        </p:txBody>
      </p:sp>
      <p:sp>
        <p:nvSpPr>
          <p:cNvPr id="4" name="Titre 3"/>
          <p:cNvSpPr>
            <a:spLocks noGrp="1"/>
          </p:cNvSpPr>
          <p:nvPr>
            <p:ph type="title"/>
          </p:nvPr>
        </p:nvSpPr>
        <p:spPr>
          <a:xfrm>
            <a:off x="546142" y="406650"/>
            <a:ext cx="10915200" cy="829958"/>
          </a:xfrm>
        </p:spPr>
        <p:txBody>
          <a:bodyPr>
            <a:normAutofit/>
          </a:bodyPr>
          <a:lstStyle/>
          <a:p>
            <a:r>
              <a:rPr lang="en-CA" dirty="0" err="1"/>
              <a:t>Seuil</a:t>
            </a:r>
            <a:r>
              <a:rPr lang="en-CA" dirty="0"/>
              <a:t> de signification</a:t>
            </a:r>
          </a:p>
        </p:txBody>
      </p:sp>
      <p:sp>
        <p:nvSpPr>
          <p:cNvPr id="2" name="Espace réservé du numéro de diapositive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6A126F-ECAD-40CF-950D-291D558E4DF6}" type="slidenum">
              <a:rPr kumimoji="0" lang="fr-C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fr-CA"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3" name="Image 2"/>
          <p:cNvPicPr>
            <a:picLocks noChangeAspect="1"/>
          </p:cNvPicPr>
          <p:nvPr/>
        </p:nvPicPr>
        <p:blipFill>
          <a:blip r:embed="rId3"/>
          <a:stretch>
            <a:fillRect/>
          </a:stretch>
        </p:blipFill>
        <p:spPr>
          <a:xfrm>
            <a:off x="10886601" y="5371270"/>
            <a:ext cx="640135" cy="640135"/>
          </a:xfrm>
          <a:prstGeom prst="rect">
            <a:avLst/>
          </a:prstGeom>
        </p:spPr>
      </p:pic>
      <p:sp>
        <p:nvSpPr>
          <p:cNvPr id="5" name="ZoneTexte 4">
            <a:extLst>
              <a:ext uri="{FF2B5EF4-FFF2-40B4-BE49-F238E27FC236}">
                <a16:creationId xmlns:a16="http://schemas.microsoft.com/office/drawing/2014/main" id="{ABC2E124-FC55-5242-AAF0-72B6A591297C}"/>
              </a:ext>
            </a:extLst>
          </p:cNvPr>
          <p:cNvSpPr txBox="1"/>
          <p:nvPr/>
        </p:nvSpPr>
        <p:spPr>
          <a:xfrm>
            <a:off x="10306210" y="1796413"/>
            <a:ext cx="1652755" cy="1912462"/>
          </a:xfrm>
          <a:prstGeom prst="rect">
            <a:avLst/>
          </a:prstGeom>
          <a:ln w="25400">
            <a:solidFill>
              <a:schemeClr val="accent3"/>
            </a:solidFill>
          </a:ln>
        </p:spPr>
        <p:txBody>
          <a:bodyPr vert="horz" wrap="square" lIns="91440" tIns="45720" rIns="91440" bIns="45720" rtlCol="0">
            <a:normAutofit/>
          </a:bodyPr>
          <a:lstStyle/>
          <a:p>
            <a:pPr>
              <a:buClr>
                <a:schemeClr val="accent2"/>
              </a:buClr>
              <a:buSzPct val="125000"/>
            </a:pPr>
            <a:r>
              <a:rPr lang="fr-CA" dirty="0"/>
              <a:t>Taux à appliquer pour les sociétés ouvertes et les grandes entreprises</a:t>
            </a:r>
          </a:p>
        </p:txBody>
      </p:sp>
    </p:spTree>
    <p:extLst>
      <p:ext uri="{BB962C8B-B14F-4D97-AF65-F5344CB8AC3E}">
        <p14:creationId xmlns:p14="http://schemas.microsoft.com/office/powerpoint/2010/main" val="4197914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idx="1"/>
          </p:nvPr>
        </p:nvGraphicFramePr>
        <p:xfrm>
          <a:off x="952777" y="2729587"/>
          <a:ext cx="8859919" cy="3592035"/>
        </p:xfrm>
        <a:graphic>
          <a:graphicData uri="http://schemas.openxmlformats.org/drawingml/2006/table">
            <a:tbl>
              <a:tblPr/>
              <a:tblGrid>
                <a:gridCol w="2553649">
                  <a:extLst>
                    <a:ext uri="{9D8B030D-6E8A-4147-A177-3AD203B41FA5}">
                      <a16:colId xmlns:a16="http://schemas.microsoft.com/office/drawing/2014/main" val="20000"/>
                    </a:ext>
                  </a:extLst>
                </a:gridCol>
                <a:gridCol w="6306270">
                  <a:extLst>
                    <a:ext uri="{9D8B030D-6E8A-4147-A177-3AD203B41FA5}">
                      <a16:colId xmlns:a16="http://schemas.microsoft.com/office/drawing/2014/main" val="20001"/>
                    </a:ext>
                  </a:extLst>
                </a:gridCol>
              </a:tblGrid>
              <a:tr h="677282">
                <a:tc gridSpan="2">
                  <a:txBody>
                    <a:bodyPr/>
                    <a:lstStyle/>
                    <a:p>
                      <a:r>
                        <a:rPr lang="fr-CA" sz="2400" b="1" dirty="0">
                          <a:solidFill>
                            <a:schemeClr val="bg1"/>
                          </a:solidFill>
                          <a:effectLst/>
                        </a:rPr>
                        <a:t>Règles empiriques pour déterminer le seuil de signification</a:t>
                      </a:r>
                    </a:p>
                  </a:txBody>
                  <a:tcPr marL="37666" marR="37666" marT="37666" marB="37666" anchor="ctr">
                    <a:lnL>
                      <a:noFill/>
                    </a:lnL>
                    <a:lnR>
                      <a:noFill/>
                    </a:lnR>
                    <a:lnT>
                      <a:noFill/>
                    </a:lnT>
                    <a:lnB>
                      <a:noFill/>
                    </a:lnB>
                    <a:solidFill>
                      <a:schemeClr val="accent1"/>
                    </a:solidFill>
                  </a:tcPr>
                </a:tc>
                <a:tc hMerge="1">
                  <a:txBody>
                    <a:bodyPr/>
                    <a:lstStyle/>
                    <a:p>
                      <a:endParaRPr lang="fr-CA"/>
                    </a:p>
                  </a:txBody>
                  <a:tcPr/>
                </a:tc>
                <a:extLst>
                  <a:ext uri="{0D108BD9-81ED-4DB2-BD59-A6C34878D82A}">
                    <a16:rowId xmlns:a16="http://schemas.microsoft.com/office/drawing/2014/main" val="10000"/>
                  </a:ext>
                </a:extLst>
              </a:tr>
              <a:tr h="1940128">
                <a:tc>
                  <a:txBody>
                    <a:bodyPr/>
                    <a:lstStyle/>
                    <a:p>
                      <a:r>
                        <a:rPr lang="fr-CA" sz="1800" b="1" dirty="0">
                          <a:effectLst/>
                        </a:rPr>
                        <a:t>Entités à but lucratif</a:t>
                      </a:r>
                    </a:p>
                  </a:txBody>
                  <a:tcPr marL="37666" marR="37666" marT="37666" marB="37666">
                    <a:lnL>
                      <a:noFill/>
                    </a:lnL>
                    <a:lnR>
                      <a:noFill/>
                    </a:lnR>
                    <a:lnT>
                      <a:noFill/>
                    </a:lnT>
                    <a:lnB>
                      <a:noFill/>
                    </a:lnB>
                    <a:solidFill>
                      <a:srgbClr val="E7F1F9"/>
                    </a:solidFill>
                  </a:tcPr>
                </a:tc>
                <a:tc>
                  <a:txBody>
                    <a:bodyPr/>
                    <a:lstStyle/>
                    <a:p>
                      <a:r>
                        <a:rPr lang="fr-CA" sz="1800" dirty="0">
                          <a:effectLst/>
                        </a:rPr>
                        <a:t>•    Résultat des activités poursuivies (avant    </a:t>
                      </a:r>
                    </a:p>
                    <a:p>
                      <a:r>
                        <a:rPr lang="fr-CA" sz="1800" dirty="0">
                          <a:effectLst/>
                        </a:rPr>
                        <a:t>      impôts) : de 3 % à 7 %, après ajustement   </a:t>
                      </a:r>
                    </a:p>
                    <a:p>
                      <a:r>
                        <a:rPr lang="fr-CA" sz="1800" dirty="0">
                          <a:effectLst/>
                        </a:rPr>
                        <a:t>      pour tenir compte des primes, etc.</a:t>
                      </a:r>
                    </a:p>
                    <a:p>
                      <a:r>
                        <a:rPr lang="fr-CA" sz="1800" dirty="0">
                          <a:effectLst/>
                        </a:rPr>
                        <a:t>•    Produits ou dépenses : de 1 % à 3 %</a:t>
                      </a:r>
                    </a:p>
                    <a:p>
                      <a:r>
                        <a:rPr lang="fr-CA" sz="1800" dirty="0">
                          <a:effectLst/>
                        </a:rPr>
                        <a:t>•    Capitaux propres : de 3 % à 5 %</a:t>
                      </a:r>
                    </a:p>
                    <a:p>
                      <a:r>
                        <a:rPr lang="fr-CA" sz="1800" dirty="0">
                          <a:effectLst/>
                        </a:rPr>
                        <a:t>•    Actif : de 1 % à 3 %</a:t>
                      </a:r>
                    </a:p>
                  </a:txBody>
                  <a:tcPr marL="37666" marR="37666" marT="37666" marB="37666">
                    <a:lnL>
                      <a:noFill/>
                    </a:lnL>
                    <a:lnR>
                      <a:noFill/>
                    </a:lnR>
                    <a:lnT>
                      <a:noFill/>
                    </a:lnT>
                    <a:lnB>
                      <a:noFill/>
                    </a:lnB>
                    <a:solidFill>
                      <a:srgbClr val="E7F1F9"/>
                    </a:solidFill>
                  </a:tcPr>
                </a:tc>
                <a:extLst>
                  <a:ext uri="{0D108BD9-81ED-4DB2-BD59-A6C34878D82A}">
                    <a16:rowId xmlns:a16="http://schemas.microsoft.com/office/drawing/2014/main" val="10001"/>
                  </a:ext>
                </a:extLst>
              </a:tr>
              <a:tr h="974625">
                <a:tc>
                  <a:txBody>
                    <a:bodyPr/>
                    <a:lstStyle/>
                    <a:p>
                      <a:r>
                        <a:rPr lang="fr-CA" sz="1800" b="1" dirty="0">
                          <a:effectLst/>
                        </a:rPr>
                        <a:t>Organismes sans but lucratif</a:t>
                      </a:r>
                    </a:p>
                  </a:txBody>
                  <a:tcPr marL="37666" marR="37666" marT="37666" marB="37666">
                    <a:lnL>
                      <a:noFill/>
                    </a:lnL>
                    <a:lnR>
                      <a:noFill/>
                    </a:lnR>
                    <a:lnT>
                      <a:noFill/>
                    </a:lnT>
                    <a:lnB>
                      <a:noFill/>
                    </a:lnB>
                    <a:solidFill>
                      <a:srgbClr val="E7F1F9"/>
                    </a:solidFill>
                  </a:tcPr>
                </a:tc>
                <a:tc>
                  <a:txBody>
                    <a:bodyPr/>
                    <a:lstStyle/>
                    <a:p>
                      <a:r>
                        <a:rPr lang="fr-CA" sz="1800" dirty="0">
                          <a:effectLst/>
                        </a:rPr>
                        <a:t>•    Produits ou dépenses : de 1 % à 3 %</a:t>
                      </a:r>
                    </a:p>
                    <a:p>
                      <a:r>
                        <a:rPr lang="fr-CA" sz="1800" dirty="0">
                          <a:effectLst/>
                        </a:rPr>
                        <a:t>•    Actif : de 1 % à 3 %</a:t>
                      </a:r>
                    </a:p>
                  </a:txBody>
                  <a:tcPr marL="37666" marR="37666" marT="37666" marB="37666">
                    <a:lnL>
                      <a:noFill/>
                    </a:lnL>
                    <a:lnR>
                      <a:noFill/>
                    </a:lnR>
                    <a:lnT>
                      <a:noFill/>
                    </a:lnT>
                    <a:lnB>
                      <a:noFill/>
                    </a:lnB>
                    <a:solidFill>
                      <a:srgbClr val="E7F1F9"/>
                    </a:solidFill>
                  </a:tcPr>
                </a:tc>
                <a:extLst>
                  <a:ext uri="{0D108BD9-81ED-4DB2-BD59-A6C34878D82A}">
                    <a16:rowId xmlns:a16="http://schemas.microsoft.com/office/drawing/2014/main" val="10002"/>
                  </a:ext>
                </a:extLst>
              </a:tr>
            </a:tbl>
          </a:graphicData>
        </a:graphic>
      </p:graphicFrame>
      <p:sp>
        <p:nvSpPr>
          <p:cNvPr id="5" name="Rectangle 4"/>
          <p:cNvSpPr/>
          <p:nvPr/>
        </p:nvSpPr>
        <p:spPr>
          <a:xfrm>
            <a:off x="842805" y="1447829"/>
            <a:ext cx="8969891" cy="1107996"/>
          </a:xfrm>
          <a:prstGeom prst="rect">
            <a:avLst/>
          </a:prstGeom>
        </p:spPr>
        <p:txBody>
          <a:bodyPr wrap="square">
            <a:spAutoFit/>
          </a:bodyPr>
          <a:lstStyle/>
          <a:p>
            <a:r>
              <a:rPr lang="fr-CA" b="1" i="1" dirty="0">
                <a:solidFill>
                  <a:schemeClr val="accent1"/>
                </a:solidFill>
              </a:rPr>
              <a:t>Extrait du GMP (Guide des missions professionnelles)</a:t>
            </a:r>
          </a:p>
          <a:p>
            <a:r>
              <a:rPr lang="fr-CA" sz="1600" i="1" dirty="0"/>
              <a:t>Le SS global doit toujours être fondé sur les besoins des utilisateurs des </a:t>
            </a:r>
            <a:r>
              <a:rPr lang="fr-CA" sz="1600" i="1" dirty="0" err="1"/>
              <a:t>ÉFs</a:t>
            </a:r>
            <a:r>
              <a:rPr lang="fr-CA" sz="1600" i="1" dirty="0"/>
              <a:t>, et non sur une formule type utilisée par le cabinet. Il faut exercer son jugement professionnel pour déterminer si le SS établi initialement correspond bien au montant approprié.</a:t>
            </a:r>
          </a:p>
        </p:txBody>
      </p:sp>
      <p:sp>
        <p:nvSpPr>
          <p:cNvPr id="6" name="ZoneTexte 5">
            <a:extLst>
              <a:ext uri="{FF2B5EF4-FFF2-40B4-BE49-F238E27FC236}">
                <a16:creationId xmlns:a16="http://schemas.microsoft.com/office/drawing/2014/main" id="{855DA126-564F-6347-85B3-C64A0F1FBBB2}"/>
              </a:ext>
            </a:extLst>
          </p:cNvPr>
          <p:cNvSpPr txBox="1"/>
          <p:nvPr/>
        </p:nvSpPr>
        <p:spPr>
          <a:xfrm>
            <a:off x="10042259" y="1888603"/>
            <a:ext cx="1665831" cy="1837364"/>
          </a:xfrm>
          <a:prstGeom prst="rect">
            <a:avLst/>
          </a:prstGeom>
          <a:ln w="25400">
            <a:solidFill>
              <a:schemeClr val="accent3"/>
            </a:solidFill>
          </a:ln>
        </p:spPr>
        <p:txBody>
          <a:bodyPr vert="horz" wrap="square" lIns="91440" tIns="45720" rIns="91440" bIns="45720" rtlCol="0">
            <a:normAutofit/>
          </a:bodyPr>
          <a:lstStyle/>
          <a:p>
            <a:pPr>
              <a:buClr>
                <a:schemeClr val="accent2"/>
              </a:buClr>
              <a:buSzPct val="125000"/>
            </a:pPr>
            <a:r>
              <a:rPr lang="fr-CA" dirty="0"/>
              <a:t>Taux à appliquer pour les petites et moyennes entreprises (PME)</a:t>
            </a:r>
          </a:p>
        </p:txBody>
      </p:sp>
      <p:sp>
        <p:nvSpPr>
          <p:cNvPr id="8" name="Titre 3">
            <a:extLst>
              <a:ext uri="{FF2B5EF4-FFF2-40B4-BE49-F238E27FC236}">
                <a16:creationId xmlns:a16="http://schemas.microsoft.com/office/drawing/2014/main" id="{B880ED0B-0C99-A94B-BE57-831237E08BC7}"/>
              </a:ext>
            </a:extLst>
          </p:cNvPr>
          <p:cNvSpPr>
            <a:spLocks noGrp="1"/>
          </p:cNvSpPr>
          <p:nvPr>
            <p:ph type="title"/>
          </p:nvPr>
        </p:nvSpPr>
        <p:spPr>
          <a:xfrm>
            <a:off x="546142" y="406650"/>
            <a:ext cx="10915200" cy="829958"/>
          </a:xfrm>
        </p:spPr>
        <p:txBody>
          <a:bodyPr>
            <a:normAutofit/>
          </a:bodyPr>
          <a:lstStyle/>
          <a:p>
            <a:r>
              <a:rPr lang="en-CA" dirty="0" err="1"/>
              <a:t>Seuil</a:t>
            </a:r>
            <a:r>
              <a:rPr lang="en-CA" dirty="0"/>
              <a:t> de signification</a:t>
            </a:r>
          </a:p>
        </p:txBody>
      </p:sp>
      <p:sp>
        <p:nvSpPr>
          <p:cNvPr id="2" name="Espace réservé du numéro de diapositive 1">
            <a:extLst>
              <a:ext uri="{FF2B5EF4-FFF2-40B4-BE49-F238E27FC236}">
                <a16:creationId xmlns:a16="http://schemas.microsoft.com/office/drawing/2014/main" id="{E1CE06A4-C069-334C-BF17-79193D992383}"/>
              </a:ext>
            </a:extLst>
          </p:cNvPr>
          <p:cNvSpPr>
            <a:spLocks noGrp="1"/>
          </p:cNvSpPr>
          <p:nvPr>
            <p:ph type="sldNum" sz="quarter" idx="12"/>
          </p:nvPr>
        </p:nvSpPr>
        <p:spPr/>
        <p:txBody>
          <a:bodyPr/>
          <a:lstStyle/>
          <a:p>
            <a:fld id="{D57F1E4F-1CFF-5643-939E-02111984F565}" type="slidenum">
              <a:rPr lang="en-US" smtClean="0"/>
              <a:t>40</a:t>
            </a:fld>
            <a:endParaRPr lang="en-US" dirty="0"/>
          </a:p>
        </p:txBody>
      </p:sp>
    </p:spTree>
    <p:extLst>
      <p:ext uri="{BB962C8B-B14F-4D97-AF65-F5344CB8AC3E}">
        <p14:creationId xmlns:p14="http://schemas.microsoft.com/office/powerpoint/2010/main" val="9466107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CA" dirty="0" err="1"/>
              <a:t>Seuil</a:t>
            </a:r>
            <a:r>
              <a:rPr lang="en-CA" dirty="0"/>
              <a:t> de signification</a:t>
            </a:r>
          </a:p>
        </p:txBody>
      </p:sp>
      <p:sp>
        <p:nvSpPr>
          <p:cNvPr id="3" name="Espace réservé du contenu 2"/>
          <p:cNvSpPr>
            <a:spLocks noGrp="1"/>
          </p:cNvSpPr>
          <p:nvPr>
            <p:ph idx="1"/>
          </p:nvPr>
        </p:nvSpPr>
        <p:spPr/>
        <p:txBody>
          <a:bodyPr/>
          <a:lstStyle/>
          <a:p>
            <a:pPr marL="0" indent="0">
              <a:buNone/>
            </a:pPr>
            <a:r>
              <a:rPr lang="fr-CA" sz="2400" dirty="0"/>
              <a:t>Exemple :</a:t>
            </a:r>
          </a:p>
          <a:p>
            <a:r>
              <a:rPr lang="fr-CA" sz="2400" dirty="0"/>
              <a:t>Entreprise en difficulté financière qui doit respecter un ratio de fonds de roulement pour conserver son prêt avec la banque.</a:t>
            </a:r>
          </a:p>
          <a:p>
            <a:r>
              <a:rPr lang="fr-CA" sz="2400" dirty="0"/>
              <a:t>L’entreprise accuse des pertes depuis 2 ans.</a:t>
            </a:r>
          </a:p>
          <a:p>
            <a:endParaRPr lang="en-CA" dirty="0"/>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41</a:t>
            </a:fld>
            <a:endParaRPr lang="en-US" dirty="0"/>
          </a:p>
        </p:txBody>
      </p:sp>
    </p:spTree>
    <p:extLst>
      <p:ext uri="{BB962C8B-B14F-4D97-AF65-F5344CB8AC3E}">
        <p14:creationId xmlns:p14="http://schemas.microsoft.com/office/powerpoint/2010/main" val="18168433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a:t>Seuil</a:t>
            </a:r>
            <a:r>
              <a:rPr lang="en-CA" dirty="0"/>
              <a:t> de signification</a:t>
            </a:r>
          </a:p>
        </p:txBody>
      </p:sp>
      <p:sp>
        <p:nvSpPr>
          <p:cNvPr id="3" name="Content Placeholder 2"/>
          <p:cNvSpPr>
            <a:spLocks noGrp="1"/>
          </p:cNvSpPr>
          <p:nvPr>
            <p:ph idx="1"/>
          </p:nvPr>
        </p:nvSpPr>
        <p:spPr>
          <a:xfrm>
            <a:off x="638400" y="1629025"/>
            <a:ext cx="10915200" cy="4370123"/>
          </a:xfrm>
        </p:spPr>
        <p:txBody>
          <a:bodyPr>
            <a:noAutofit/>
          </a:bodyPr>
          <a:lstStyle/>
          <a:p>
            <a:pPr marL="0" indent="0">
              <a:buNone/>
            </a:pPr>
            <a:r>
              <a:rPr lang="fr-CA" sz="2000" dirty="0"/>
              <a:t>Exemple de réponse en profondeur – SS :</a:t>
            </a:r>
          </a:p>
          <a:p>
            <a:pPr marL="0" indent="0">
              <a:buNone/>
            </a:pPr>
            <a:r>
              <a:rPr lang="fr-CA" sz="1800" dirty="0">
                <a:latin typeface="Arial" charset="0"/>
                <a:ea typeface="Arial" charset="0"/>
                <a:cs typeface="Arial" charset="0"/>
              </a:rPr>
              <a:t>L’utilisateur le plus important est la banque étant donné qu’elle se basera sur les </a:t>
            </a:r>
            <a:r>
              <a:rPr lang="fr-CA" sz="1800" dirty="0" err="1">
                <a:latin typeface="Arial" charset="0"/>
                <a:ea typeface="Arial" charset="0"/>
                <a:cs typeface="Arial" charset="0"/>
              </a:rPr>
              <a:t>ÉFs</a:t>
            </a:r>
            <a:r>
              <a:rPr lang="fr-CA" sz="1800" dirty="0">
                <a:latin typeface="Arial" charset="0"/>
                <a:ea typeface="Arial" charset="0"/>
                <a:cs typeface="Arial" charset="0"/>
              </a:rPr>
              <a:t> pour décider si elle rappelle son prêt. La banque sera préoccupée par la capacité de l’entité à rembourser le prêt et donc par les bénéfices avant impôts.</a:t>
            </a:r>
          </a:p>
          <a:p>
            <a:pPr marL="0" indent="0">
              <a:buNone/>
            </a:pPr>
            <a:r>
              <a:rPr lang="fr-CA" sz="1800" dirty="0">
                <a:latin typeface="Arial" charset="0"/>
                <a:ea typeface="Arial" charset="0"/>
                <a:cs typeface="Arial" charset="0"/>
              </a:rPr>
              <a:t>Les actionnaires sont aussi intéressés aux </a:t>
            </a:r>
            <a:r>
              <a:rPr lang="fr-CA" sz="1800" dirty="0" err="1">
                <a:latin typeface="Arial" charset="0"/>
                <a:ea typeface="Arial" charset="0"/>
                <a:cs typeface="Arial" charset="0"/>
              </a:rPr>
              <a:t>ÉFs</a:t>
            </a:r>
            <a:r>
              <a:rPr lang="fr-CA" sz="1800" dirty="0">
                <a:latin typeface="Arial" charset="0"/>
                <a:ea typeface="Arial" charset="0"/>
                <a:cs typeface="Arial" charset="0"/>
              </a:rPr>
              <a:t> pour prendre des décisions d’investissement. Les actionnaires sont intéressés par la rentabilité, donc le bénéfice avant impôts est un base appropriée. </a:t>
            </a:r>
          </a:p>
          <a:p>
            <a:pPr marL="0" indent="0">
              <a:buNone/>
            </a:pPr>
            <a:r>
              <a:rPr lang="fr-CA" sz="1800" dirty="0">
                <a:latin typeface="Arial" charset="0"/>
                <a:ea typeface="Arial" charset="0"/>
                <a:cs typeface="Arial" charset="0"/>
              </a:rPr>
              <a:t>Étant donné les besoins des utilisateurs, le BAI est une base appropriée. </a:t>
            </a:r>
          </a:p>
          <a:p>
            <a:pPr marL="0" indent="0">
              <a:buNone/>
            </a:pPr>
            <a:r>
              <a:rPr lang="fr-CA" sz="1800" dirty="0">
                <a:latin typeface="Arial" charset="0"/>
                <a:ea typeface="Arial" charset="0"/>
                <a:cs typeface="Arial" charset="0"/>
              </a:rPr>
              <a:t>Par contre, étant donné que l’entreprise fait des pertes depuis 2 ans, les revenus deviennent une base appropriée. </a:t>
            </a:r>
          </a:p>
          <a:p>
            <a:pPr marL="0" indent="0">
              <a:buNone/>
            </a:pPr>
            <a:r>
              <a:rPr lang="fr-CA" sz="1800" dirty="0">
                <a:latin typeface="Arial" charset="0"/>
                <a:ea typeface="Arial" charset="0"/>
                <a:cs typeface="Arial" charset="0"/>
              </a:rPr>
              <a:t>Étant donné l’importance de l’exactitude des chiffres pour la banque, et le fait que les actionnaires sont inquiets de leur investissement, je vais prendre un % plus faible. La fourchette du seuil de signification basée sur les revenus est de 0,5% à 1%. Je choisi donc 0,5% des produits pour calculer le seuil.  </a:t>
            </a:r>
          </a:p>
          <a:p>
            <a:pPr marL="0" indent="0">
              <a:buNone/>
            </a:pPr>
            <a:r>
              <a:rPr lang="fr-CA" sz="1800" b="1" dirty="0">
                <a:latin typeface="Arial" charset="0"/>
                <a:ea typeface="Arial" charset="0"/>
                <a:cs typeface="Arial" charset="0"/>
              </a:rPr>
              <a:t>Insérer CALCUL.</a:t>
            </a:r>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42</a:t>
            </a:fld>
            <a:endParaRPr lang="en-US" dirty="0"/>
          </a:p>
        </p:txBody>
      </p:sp>
    </p:spTree>
    <p:extLst>
      <p:ext uri="{BB962C8B-B14F-4D97-AF65-F5344CB8AC3E}">
        <p14:creationId xmlns:p14="http://schemas.microsoft.com/office/powerpoint/2010/main" val="15346885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a:t>Seuil</a:t>
            </a:r>
            <a:r>
              <a:rPr lang="en-CA" dirty="0"/>
              <a:t> de signification</a:t>
            </a:r>
          </a:p>
        </p:txBody>
      </p:sp>
      <p:sp>
        <p:nvSpPr>
          <p:cNvPr id="3" name="Content Placeholder 2"/>
          <p:cNvSpPr>
            <a:spLocks noGrp="1"/>
          </p:cNvSpPr>
          <p:nvPr>
            <p:ph idx="1"/>
          </p:nvPr>
        </p:nvSpPr>
        <p:spPr>
          <a:xfrm>
            <a:off x="637200" y="1893600"/>
            <a:ext cx="10915200" cy="3741295"/>
          </a:xfrm>
        </p:spPr>
        <p:txBody>
          <a:bodyPr>
            <a:noAutofit/>
          </a:bodyPr>
          <a:lstStyle/>
          <a:p>
            <a:pPr marL="0" indent="0">
              <a:buNone/>
            </a:pPr>
            <a:r>
              <a:rPr lang="fr-CA" sz="2400" dirty="0"/>
              <a:t>Exemple de réponse en profondeur – SST :</a:t>
            </a:r>
          </a:p>
          <a:p>
            <a:pPr marL="0" indent="0">
              <a:buNone/>
            </a:pPr>
            <a:r>
              <a:rPr lang="fr-CA" sz="2400" dirty="0"/>
              <a:t>Comme les processus de l’entité fonctionnent adéquatement et que l’auditeur précédent ne relevait pas une grande quantité d’anomalies, le risque d’avoir une grande quantité d’anomalies non détectées est plus faible. La fourchette de calcul du SST est habituellement de 50% à 75%. Un pourcentage de 75% serait approprié pour le calcul du seuil de signification pour les travaux.</a:t>
            </a:r>
          </a:p>
          <a:p>
            <a:pPr marL="0" indent="0">
              <a:buNone/>
            </a:pPr>
            <a:endParaRPr lang="fr-CA" sz="2400" dirty="0"/>
          </a:p>
          <a:p>
            <a:pPr marL="0" indent="0">
              <a:buNone/>
            </a:pPr>
            <a:r>
              <a:rPr lang="fr-CA" sz="2400" b="1" dirty="0"/>
              <a:t>CALCUL (75% *  SS)</a:t>
            </a:r>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43</a:t>
            </a:fld>
            <a:endParaRPr lang="en-US" dirty="0"/>
          </a:p>
        </p:txBody>
      </p:sp>
    </p:spTree>
    <p:extLst>
      <p:ext uri="{BB962C8B-B14F-4D97-AF65-F5344CB8AC3E}">
        <p14:creationId xmlns:p14="http://schemas.microsoft.com/office/powerpoint/2010/main" val="30538849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a:t>Seuil</a:t>
            </a:r>
            <a:r>
              <a:rPr lang="en-CA" dirty="0"/>
              <a:t> de signification</a:t>
            </a:r>
          </a:p>
        </p:txBody>
      </p:sp>
      <p:sp>
        <p:nvSpPr>
          <p:cNvPr id="3" name="Content Placeholder 2"/>
          <p:cNvSpPr>
            <a:spLocks noGrp="1"/>
          </p:cNvSpPr>
          <p:nvPr>
            <p:ph idx="1"/>
          </p:nvPr>
        </p:nvSpPr>
        <p:spPr>
          <a:xfrm>
            <a:off x="637200" y="1893600"/>
            <a:ext cx="10915200" cy="3741295"/>
          </a:xfrm>
        </p:spPr>
        <p:txBody>
          <a:bodyPr>
            <a:noAutofit/>
          </a:bodyPr>
          <a:lstStyle/>
          <a:p>
            <a:pPr marL="0" indent="0">
              <a:buNone/>
            </a:pPr>
            <a:r>
              <a:rPr lang="fr-CA" sz="2400" dirty="0"/>
              <a:t>Exemple de réponse en profondeur – SS pour des catégories d’opérations, des soldes de comptes ou des informations à fournir :</a:t>
            </a:r>
          </a:p>
          <a:p>
            <a:pPr marL="0" indent="0">
              <a:buNone/>
            </a:pPr>
            <a:r>
              <a:rPr lang="fr-CA" sz="2400" dirty="0"/>
              <a:t>Puisque le fonds de roulement est un élément qui a une incidence directe sur la prise de décision de la banque de rappeler ou non son prêt, nous utiliserons un seuil moins élevé sur les actifs CT et les passifs CT. Nous prendrons 60% du SS pour ces postes.</a:t>
            </a:r>
          </a:p>
          <a:p>
            <a:pPr marL="0" indent="0">
              <a:buNone/>
            </a:pPr>
            <a:r>
              <a:rPr lang="fr-CA" sz="2400" dirty="0"/>
              <a:t>CALCUL</a:t>
            </a:r>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44</a:t>
            </a:fld>
            <a:endParaRPr lang="en-US" dirty="0"/>
          </a:p>
        </p:txBody>
      </p:sp>
    </p:spTree>
    <p:extLst>
      <p:ext uri="{BB962C8B-B14F-4D97-AF65-F5344CB8AC3E}">
        <p14:creationId xmlns:p14="http://schemas.microsoft.com/office/powerpoint/2010/main" val="6191342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err="1"/>
              <a:t>Stratégie</a:t>
            </a:r>
            <a:r>
              <a:rPr lang="en-CA" dirty="0"/>
              <a:t> </a:t>
            </a:r>
            <a:r>
              <a:rPr lang="en-CA" dirty="0" err="1"/>
              <a:t>d’audit</a:t>
            </a:r>
            <a:endParaRPr lang="en-CA" dirty="0"/>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45</a:t>
            </a:fld>
            <a:endParaRPr lang="en-US" dirty="0"/>
          </a:p>
        </p:txBody>
      </p:sp>
      <p:sp>
        <p:nvSpPr>
          <p:cNvPr id="3" name="Content Placeholder 2"/>
          <p:cNvSpPr>
            <a:spLocks noGrp="1"/>
          </p:cNvSpPr>
          <p:nvPr>
            <p:ph idx="1"/>
          </p:nvPr>
        </p:nvSpPr>
        <p:spPr/>
        <p:txBody>
          <a:bodyPr>
            <a:noAutofit/>
          </a:bodyPr>
          <a:lstStyle/>
          <a:p>
            <a:r>
              <a:rPr lang="fr-CA" sz="2400" dirty="0"/>
              <a:t>Éléments du cas ayant un impact sur le risqué lié au contrôle :</a:t>
            </a:r>
          </a:p>
          <a:p>
            <a:pPr lvl="1"/>
            <a:r>
              <a:rPr lang="fr-CA" sz="2000" dirty="0"/>
              <a:t>Environnement de contrôle</a:t>
            </a:r>
          </a:p>
          <a:p>
            <a:pPr lvl="1"/>
            <a:r>
              <a:rPr lang="fr-CA" sz="2000" dirty="0"/>
              <a:t>Déficiences des contrôles</a:t>
            </a:r>
          </a:p>
          <a:p>
            <a:pPr lvl="1"/>
            <a:r>
              <a:rPr lang="fr-CA" sz="2000" dirty="0"/>
              <a:t>Efficience</a:t>
            </a:r>
          </a:p>
          <a:p>
            <a:r>
              <a:rPr lang="fr-CA" sz="2400" dirty="0"/>
              <a:t>Conclusion sur le RLC</a:t>
            </a:r>
          </a:p>
          <a:p>
            <a:r>
              <a:rPr lang="fr-CA" sz="2400" dirty="0"/>
              <a:t>Conclusion sur la stratégie à utiliser : corroborative ou mixte</a:t>
            </a:r>
          </a:p>
          <a:p>
            <a:pPr lvl="1"/>
            <a:r>
              <a:rPr lang="fr-CA" sz="2000" dirty="0"/>
              <a:t>Si le RLC est élevé, alors une approche corroborative ou “plus corroborative” sera utilisée </a:t>
            </a:r>
          </a:p>
          <a:p>
            <a:pPr lvl="1"/>
            <a:r>
              <a:rPr lang="fr-CA" sz="2000" dirty="0"/>
              <a:t>Si le RLC est faible (bon environnement de contrôle) alors une stratégie mixte peut être utilisée</a:t>
            </a:r>
          </a:p>
          <a:p>
            <a:pPr marL="457200" lvl="1" indent="0">
              <a:buNone/>
            </a:pPr>
            <a:endParaRPr lang="en-CA" sz="2400" dirty="0"/>
          </a:p>
        </p:txBody>
      </p:sp>
    </p:spTree>
    <p:extLst>
      <p:ext uri="{BB962C8B-B14F-4D97-AF65-F5344CB8AC3E}">
        <p14:creationId xmlns:p14="http://schemas.microsoft.com/office/powerpoint/2010/main" val="24098940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56DAC5-189E-BB4F-ACF8-EEE66EE4E150}"/>
              </a:ext>
            </a:extLst>
          </p:cNvPr>
          <p:cNvSpPr>
            <a:spLocks noGrp="1"/>
          </p:cNvSpPr>
          <p:nvPr>
            <p:ph type="title"/>
          </p:nvPr>
        </p:nvSpPr>
        <p:spPr/>
        <p:txBody>
          <a:bodyPr>
            <a:normAutofit fontScale="90000"/>
          </a:bodyPr>
          <a:lstStyle/>
          <a:p>
            <a:r>
              <a:rPr lang="fr-CA" dirty="0"/>
              <a:t>Stratégie d’audit</a:t>
            </a:r>
          </a:p>
        </p:txBody>
      </p:sp>
      <p:sp>
        <p:nvSpPr>
          <p:cNvPr id="3" name="Espace réservé du numéro de diapositive 2">
            <a:extLst>
              <a:ext uri="{FF2B5EF4-FFF2-40B4-BE49-F238E27FC236}">
                <a16:creationId xmlns:a16="http://schemas.microsoft.com/office/drawing/2014/main" id="{3731F8E7-6161-BC4F-AC7D-5EF8F813F913}"/>
              </a:ext>
            </a:extLst>
          </p:cNvPr>
          <p:cNvSpPr>
            <a:spLocks noGrp="1"/>
          </p:cNvSpPr>
          <p:nvPr>
            <p:ph type="sldNum" sz="quarter" idx="12"/>
          </p:nvPr>
        </p:nvSpPr>
        <p:spPr/>
        <p:txBody>
          <a:bodyPr/>
          <a:lstStyle/>
          <a:p>
            <a:fld id="{CB0E5D99-33F0-8E4B-A561-48D81EB9177A}" type="slidenum">
              <a:rPr lang="fr-CA" smtClean="0"/>
              <a:t>46</a:t>
            </a:fld>
            <a:endParaRPr lang="fr-CA"/>
          </a:p>
        </p:txBody>
      </p:sp>
      <p:sp>
        <p:nvSpPr>
          <p:cNvPr id="4" name="Espace réservé du contenu 3">
            <a:extLst>
              <a:ext uri="{FF2B5EF4-FFF2-40B4-BE49-F238E27FC236}">
                <a16:creationId xmlns:a16="http://schemas.microsoft.com/office/drawing/2014/main" id="{9C41709F-FC93-7D4C-9371-BF031DE61720}"/>
              </a:ext>
            </a:extLst>
          </p:cNvPr>
          <p:cNvSpPr>
            <a:spLocks noGrp="1"/>
          </p:cNvSpPr>
          <p:nvPr>
            <p:ph idx="1"/>
          </p:nvPr>
        </p:nvSpPr>
        <p:spPr/>
        <p:txBody>
          <a:bodyPr/>
          <a:lstStyle/>
          <a:p>
            <a:r>
              <a:rPr lang="fr-CA" dirty="0"/>
              <a:t>Il est possible de suggérer des stratégies différentes pour des périodes différentes de l’année.</a:t>
            </a:r>
          </a:p>
          <a:p>
            <a:pPr lvl="1"/>
            <a:r>
              <a:rPr lang="fr-CA" dirty="0"/>
              <a:t>Par exemple, une stratégie corroborative pour la période de janvier à avril et une stratégie mixte pour la période de mai à décembre (souvent événement déclencheur ou travail du contrôleur).</a:t>
            </a:r>
          </a:p>
          <a:p>
            <a:r>
              <a:rPr lang="fr-CA" dirty="0"/>
              <a:t>Il est possible de suggérer une stratégie mixte pour l’audit, mais une stratégie corroborative pour certains cycles d’opérations et/ou certains postes (exemple : beaucoup de petites transactions).</a:t>
            </a:r>
          </a:p>
          <a:p>
            <a:r>
              <a:rPr lang="fr-CA" dirty="0"/>
              <a:t>Souvent dans la stratégie, analyser une « zone grise » est très payant. Mais on ne doit pas oublier de conclure (tout en nuançant qu’on voudra obtenir plus d’informations).</a:t>
            </a:r>
          </a:p>
        </p:txBody>
      </p:sp>
    </p:spTree>
    <p:extLst>
      <p:ext uri="{BB962C8B-B14F-4D97-AF65-F5344CB8AC3E}">
        <p14:creationId xmlns:p14="http://schemas.microsoft.com/office/powerpoint/2010/main" val="34410335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a:t>Stratégie</a:t>
            </a:r>
            <a:r>
              <a:rPr lang="en-CA" dirty="0"/>
              <a:t> </a:t>
            </a:r>
            <a:r>
              <a:rPr lang="en-CA" dirty="0" err="1"/>
              <a:t>d’audit</a:t>
            </a:r>
            <a:endParaRPr lang="en-CA" dirty="0"/>
          </a:p>
        </p:txBody>
      </p:sp>
      <p:sp>
        <p:nvSpPr>
          <p:cNvPr id="3" name="Content Placeholder 2"/>
          <p:cNvSpPr>
            <a:spLocks noGrp="1"/>
          </p:cNvSpPr>
          <p:nvPr>
            <p:ph idx="1"/>
          </p:nvPr>
        </p:nvSpPr>
        <p:spPr>
          <a:xfrm>
            <a:off x="637200" y="1893600"/>
            <a:ext cx="10915200" cy="3681334"/>
          </a:xfrm>
        </p:spPr>
        <p:txBody>
          <a:bodyPr>
            <a:noAutofit/>
          </a:bodyPr>
          <a:lstStyle/>
          <a:p>
            <a:pPr marL="0" indent="0">
              <a:buNone/>
            </a:pPr>
            <a:r>
              <a:rPr lang="fr-CA" sz="2400" dirty="0"/>
              <a:t>Exemple #1 de réponse en profondeur :</a:t>
            </a:r>
          </a:p>
          <a:p>
            <a:pPr marL="0" indent="0">
              <a:buNone/>
            </a:pPr>
            <a:r>
              <a:rPr lang="fr-CA" sz="2400" dirty="0"/>
              <a:t>Le RLC est faible puisque les contrôles sont efficaces et que le personnel en place est compétent. Nous utiliserons donc une stratégie mixte.</a:t>
            </a:r>
          </a:p>
          <a:p>
            <a:pPr marL="0" indent="0">
              <a:buNone/>
            </a:pPr>
            <a:r>
              <a:rPr lang="fr-CA" sz="2400" dirty="0"/>
              <a:t>Cependant, l’entité présente des déficiences au niveau des contrôles des stocks. Il ne sera pas possible d’utiliser une stratégie mixte sur les éléments des </a:t>
            </a:r>
            <a:r>
              <a:rPr lang="fr-CA" sz="2400" dirty="0" err="1"/>
              <a:t>ÉFs</a:t>
            </a:r>
            <a:r>
              <a:rPr lang="fr-CA" sz="2400" dirty="0"/>
              <a:t> qui présentent ces déficiences. Nous choisirons donc une stratégie corroborative pour les stocks.</a:t>
            </a:r>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47</a:t>
            </a:fld>
            <a:endParaRPr lang="en-US" dirty="0"/>
          </a:p>
        </p:txBody>
      </p:sp>
    </p:spTree>
    <p:extLst>
      <p:ext uri="{BB962C8B-B14F-4D97-AF65-F5344CB8AC3E}">
        <p14:creationId xmlns:p14="http://schemas.microsoft.com/office/powerpoint/2010/main" val="13208173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a:t>Stratégie</a:t>
            </a:r>
            <a:r>
              <a:rPr lang="en-CA" dirty="0"/>
              <a:t> </a:t>
            </a:r>
            <a:r>
              <a:rPr lang="en-CA" dirty="0" err="1"/>
              <a:t>d’audit</a:t>
            </a:r>
            <a:endParaRPr lang="en-CA" dirty="0"/>
          </a:p>
        </p:txBody>
      </p:sp>
      <p:sp>
        <p:nvSpPr>
          <p:cNvPr id="3" name="Content Placeholder 2"/>
          <p:cNvSpPr>
            <a:spLocks noGrp="1"/>
          </p:cNvSpPr>
          <p:nvPr>
            <p:ph idx="1"/>
          </p:nvPr>
        </p:nvSpPr>
        <p:spPr>
          <a:xfrm>
            <a:off x="637200" y="1893600"/>
            <a:ext cx="10915200" cy="3681334"/>
          </a:xfrm>
        </p:spPr>
        <p:txBody>
          <a:bodyPr vert="horz" lIns="91440" tIns="45720" rIns="91440" bIns="45720" rtlCol="0">
            <a:noAutofit/>
          </a:bodyPr>
          <a:lstStyle/>
          <a:p>
            <a:pPr marL="0" indent="0">
              <a:buNone/>
            </a:pPr>
            <a:r>
              <a:rPr lang="fr-CA" sz="2400" dirty="0"/>
              <a:t>Exemple #2 de réponse en profondeur :</a:t>
            </a:r>
          </a:p>
          <a:p>
            <a:pPr marL="0" indent="0">
              <a:buNone/>
            </a:pPr>
            <a:r>
              <a:rPr lang="fr-CA" sz="2400" dirty="0"/>
              <a:t>Nous avons peu d’information relative à l’efficacité des contrôles en place au sein de l’entité. Nous allons tester la conception et la mise en place des contrôles dans tous les cas et étant donné que l’entreprise réalise un grand nombre de ventes (lien avec les chiffres donnés dans le cas), il serait plus efficient d’opter pour une stratégie mixte.</a:t>
            </a:r>
          </a:p>
          <a:p>
            <a:pPr marL="0" indent="0">
              <a:buNone/>
            </a:pPr>
            <a:r>
              <a:rPr lang="fr-CA" sz="2400" dirty="0"/>
              <a:t>Dans ce contexte, nous testerons l’efficacité des contrôles et si elle est adéquate, nous opterons pour une stratégie mixte afin de réduire nos travaux.</a:t>
            </a:r>
          </a:p>
          <a:p>
            <a:pPr marL="0" indent="0">
              <a:buNone/>
            </a:pPr>
            <a:endParaRPr lang="en-CA" sz="2400" dirty="0"/>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48</a:t>
            </a:fld>
            <a:endParaRPr lang="en-US" dirty="0"/>
          </a:p>
        </p:txBody>
      </p:sp>
    </p:spTree>
    <p:extLst>
      <p:ext uri="{BB962C8B-B14F-4D97-AF65-F5344CB8AC3E}">
        <p14:creationId xmlns:p14="http://schemas.microsoft.com/office/powerpoint/2010/main" val="6095626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a:t>Stratégie</a:t>
            </a:r>
            <a:r>
              <a:rPr lang="en-CA" dirty="0"/>
              <a:t> </a:t>
            </a:r>
            <a:r>
              <a:rPr lang="en-CA" dirty="0" err="1"/>
              <a:t>d’audit</a:t>
            </a:r>
            <a:endParaRPr lang="en-CA" dirty="0"/>
          </a:p>
        </p:txBody>
      </p:sp>
      <p:sp>
        <p:nvSpPr>
          <p:cNvPr id="3" name="Content Placeholder 2"/>
          <p:cNvSpPr>
            <a:spLocks noGrp="1"/>
          </p:cNvSpPr>
          <p:nvPr>
            <p:ph idx="1"/>
          </p:nvPr>
        </p:nvSpPr>
        <p:spPr>
          <a:xfrm>
            <a:off x="638400" y="1893600"/>
            <a:ext cx="10915200" cy="3681334"/>
          </a:xfrm>
        </p:spPr>
        <p:txBody>
          <a:bodyPr>
            <a:noAutofit/>
          </a:bodyPr>
          <a:lstStyle/>
          <a:p>
            <a:r>
              <a:rPr lang="fr-CA" sz="2800" dirty="0"/>
              <a:t>Autres éléments affectant la stratégie</a:t>
            </a:r>
          </a:p>
          <a:p>
            <a:pPr lvl="1"/>
            <a:r>
              <a:rPr lang="fr-CA" sz="2400" dirty="0"/>
              <a:t>Procédures particulières à mettre en œuvre</a:t>
            </a:r>
          </a:p>
          <a:p>
            <a:pPr lvl="2"/>
            <a:r>
              <a:rPr lang="fr-CA" sz="2200" dirty="0"/>
              <a:t>Audit initial (NCA 510)</a:t>
            </a:r>
          </a:p>
          <a:p>
            <a:pPr lvl="2"/>
            <a:r>
              <a:rPr lang="fr-CA" sz="2200" dirty="0"/>
              <a:t>Utilisation d’un expert (NCA 620)</a:t>
            </a:r>
          </a:p>
          <a:p>
            <a:pPr lvl="2"/>
            <a:r>
              <a:rPr lang="fr-CA" sz="2200" dirty="0"/>
              <a:t>Audit de groupe (NCA 600)</a:t>
            </a:r>
          </a:p>
          <a:p>
            <a:pPr lvl="2"/>
            <a:r>
              <a:rPr lang="fr-CA" sz="2200" dirty="0"/>
              <a:t>Risque de fraude (NCA 240)</a:t>
            </a:r>
          </a:p>
          <a:p>
            <a:pPr lvl="2"/>
            <a:r>
              <a:rPr lang="fr-CA" sz="2200" dirty="0"/>
              <a:t>Événements postérieurs à la date de clôture (NCA 560)</a:t>
            </a:r>
          </a:p>
          <a:p>
            <a:pPr lvl="2"/>
            <a:r>
              <a:rPr lang="fr-CA" sz="2200" dirty="0"/>
              <a:t>Etc.</a:t>
            </a:r>
          </a:p>
          <a:p>
            <a:pPr lvl="1"/>
            <a:r>
              <a:rPr lang="fr-CA" sz="2400" dirty="0"/>
              <a:t>Éléments ayant un impact sur le calendrier</a:t>
            </a:r>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49</a:t>
            </a:fld>
            <a:endParaRPr lang="en-US" dirty="0"/>
          </a:p>
        </p:txBody>
      </p:sp>
    </p:spTree>
    <p:extLst>
      <p:ext uri="{BB962C8B-B14F-4D97-AF65-F5344CB8AC3E}">
        <p14:creationId xmlns:p14="http://schemas.microsoft.com/office/powerpoint/2010/main" val="11023318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A7154-ADF2-AE42-8DEB-429D13779D7F}"/>
              </a:ext>
            </a:extLst>
          </p:cNvPr>
          <p:cNvSpPr>
            <a:spLocks noGrp="1"/>
          </p:cNvSpPr>
          <p:nvPr>
            <p:ph type="title"/>
          </p:nvPr>
        </p:nvSpPr>
        <p:spPr/>
        <p:txBody>
          <a:bodyPr/>
          <a:lstStyle/>
          <a:p>
            <a:r>
              <a:rPr lang="fr-CA" dirty="0"/>
              <a:t>Calendrier des travaux</a:t>
            </a:r>
          </a:p>
        </p:txBody>
      </p:sp>
      <p:sp>
        <p:nvSpPr>
          <p:cNvPr id="3" name="Content Placeholder 2">
            <a:extLst>
              <a:ext uri="{FF2B5EF4-FFF2-40B4-BE49-F238E27FC236}">
                <a16:creationId xmlns:a16="http://schemas.microsoft.com/office/drawing/2014/main" id="{3BA2FF5F-1B2A-4146-8375-AE76EB9018D4}"/>
              </a:ext>
            </a:extLst>
          </p:cNvPr>
          <p:cNvSpPr>
            <a:spLocks noGrp="1"/>
          </p:cNvSpPr>
          <p:nvPr>
            <p:ph idx="1"/>
          </p:nvPr>
        </p:nvSpPr>
        <p:spPr/>
        <p:txBody>
          <a:bodyPr>
            <a:normAutofit/>
          </a:bodyPr>
          <a:lstStyle/>
          <a:p>
            <a:pPr marL="0" indent="0">
              <a:buNone/>
            </a:pPr>
            <a:r>
              <a:rPr lang="fr-CA" sz="2400" dirty="0"/>
              <a:t>Possible de faire du travail avant la fin d’exercice</a:t>
            </a:r>
          </a:p>
          <a:p>
            <a:r>
              <a:rPr lang="fr-CA" sz="2400" dirty="0"/>
              <a:t>Examen des </a:t>
            </a:r>
            <a:r>
              <a:rPr lang="fr-CA" sz="2400" dirty="0" err="1"/>
              <a:t>ÉFs</a:t>
            </a:r>
            <a:r>
              <a:rPr lang="fr-CA" sz="2400" dirty="0"/>
              <a:t> intermédiaires (chapitre 7060)</a:t>
            </a:r>
          </a:p>
          <a:p>
            <a:r>
              <a:rPr lang="fr-CA" sz="2400" dirty="0"/>
              <a:t>Effectuer du travail avant la fin de l’exercice, comme les tests de contrôle</a:t>
            </a:r>
          </a:p>
        </p:txBody>
      </p:sp>
      <p:sp>
        <p:nvSpPr>
          <p:cNvPr id="4" name="Slide Number Placeholder 3">
            <a:extLst>
              <a:ext uri="{FF2B5EF4-FFF2-40B4-BE49-F238E27FC236}">
                <a16:creationId xmlns:a16="http://schemas.microsoft.com/office/drawing/2014/main" id="{26079C04-9229-AF43-A53E-15A28A44BD63}"/>
              </a:ext>
            </a:extLst>
          </p:cNvPr>
          <p:cNvSpPr>
            <a:spLocks noGrp="1"/>
          </p:cNvSpPr>
          <p:nvPr>
            <p:ph type="sldNum" sz="quarter" idx="12"/>
          </p:nvPr>
        </p:nvSpPr>
        <p:spPr/>
        <p:txBody>
          <a:bodyPr/>
          <a:lstStyle/>
          <a:p>
            <a:fld id="{D57F1E4F-1CFF-5643-939E-02111984F565}" type="slidenum">
              <a:rPr lang="en-US" smtClean="0"/>
              <a:t>50</a:t>
            </a:fld>
            <a:endParaRPr lang="en-US" dirty="0"/>
          </a:p>
        </p:txBody>
      </p:sp>
    </p:spTree>
    <p:extLst>
      <p:ext uri="{BB962C8B-B14F-4D97-AF65-F5344CB8AC3E}">
        <p14:creationId xmlns:p14="http://schemas.microsoft.com/office/powerpoint/2010/main" val="32512803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Revue analytique préliminaire</a:t>
            </a:r>
          </a:p>
        </p:txBody>
      </p:sp>
      <p:sp>
        <p:nvSpPr>
          <p:cNvPr id="3" name="Espace réservé du texte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51</a:t>
            </a:fld>
            <a:endParaRPr lang="en-US" dirty="0"/>
          </a:p>
        </p:txBody>
      </p:sp>
    </p:spTree>
    <p:extLst>
      <p:ext uri="{BB962C8B-B14F-4D97-AF65-F5344CB8AC3E}">
        <p14:creationId xmlns:p14="http://schemas.microsoft.com/office/powerpoint/2010/main" val="10500502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A" dirty="0"/>
              <a:t>Revue analytique préliminaire</a:t>
            </a:r>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52</a:t>
            </a:fld>
            <a:endParaRPr lang="en-US" dirty="0"/>
          </a:p>
        </p:txBody>
      </p:sp>
      <p:sp>
        <p:nvSpPr>
          <p:cNvPr id="3" name="Content Placeholder 2"/>
          <p:cNvSpPr>
            <a:spLocks noGrp="1"/>
          </p:cNvSpPr>
          <p:nvPr>
            <p:ph idx="1"/>
          </p:nvPr>
        </p:nvSpPr>
        <p:spPr/>
        <p:txBody>
          <a:bodyPr>
            <a:normAutofit/>
          </a:bodyPr>
          <a:lstStyle/>
          <a:p>
            <a:r>
              <a:rPr lang="fr-CA" sz="2400" dirty="0"/>
              <a:t>Objectif : Détecter les risques spécifiques importants</a:t>
            </a:r>
          </a:p>
          <a:p>
            <a:endParaRPr lang="fr-CA" sz="2400" dirty="0"/>
          </a:p>
          <a:p>
            <a:r>
              <a:rPr lang="fr-CA" sz="2400" dirty="0"/>
              <a:t>3 étapes :</a:t>
            </a:r>
          </a:p>
          <a:p>
            <a:pPr lvl="1"/>
            <a:r>
              <a:rPr lang="fr-CA" sz="2400" dirty="0"/>
              <a:t>Calculer les variations (en $ et en %)</a:t>
            </a:r>
          </a:p>
          <a:p>
            <a:pPr lvl="1"/>
            <a:r>
              <a:rPr lang="fr-CA" sz="2400" dirty="0"/>
              <a:t>Tenter d’expliquer les variations en collant au cas</a:t>
            </a:r>
          </a:p>
          <a:p>
            <a:pPr lvl="2"/>
            <a:r>
              <a:rPr lang="fr-CA" sz="2400" dirty="0"/>
              <a:t>Accorder plus d’importance aux variations significatives</a:t>
            </a:r>
          </a:p>
          <a:p>
            <a:pPr lvl="1"/>
            <a:r>
              <a:rPr lang="fr-CA" sz="2400" dirty="0"/>
              <a:t>Si aucune explication préliminaire, suggérer des procédures supplémentaires</a:t>
            </a:r>
          </a:p>
        </p:txBody>
      </p:sp>
    </p:spTree>
    <p:extLst>
      <p:ext uri="{BB962C8B-B14F-4D97-AF65-F5344CB8AC3E}">
        <p14:creationId xmlns:p14="http://schemas.microsoft.com/office/powerpoint/2010/main" val="22270772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Procédures d’audit</a:t>
            </a:r>
          </a:p>
        </p:txBody>
      </p:sp>
      <p:sp>
        <p:nvSpPr>
          <p:cNvPr id="3" name="Espace réservé du texte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53</a:t>
            </a:fld>
            <a:endParaRPr lang="en-US" dirty="0"/>
          </a:p>
        </p:txBody>
      </p:sp>
    </p:spTree>
    <p:extLst>
      <p:ext uri="{BB962C8B-B14F-4D97-AF65-F5344CB8AC3E}">
        <p14:creationId xmlns:p14="http://schemas.microsoft.com/office/powerpoint/2010/main" val="1395308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a:t>Procédures</a:t>
            </a:r>
            <a:endParaRPr lang="en-CA" dirty="0"/>
          </a:p>
        </p:txBody>
      </p:sp>
      <p:sp>
        <p:nvSpPr>
          <p:cNvPr id="3" name="Content Placeholder 2"/>
          <p:cNvSpPr>
            <a:spLocks noGrp="1"/>
          </p:cNvSpPr>
          <p:nvPr>
            <p:ph idx="1"/>
          </p:nvPr>
        </p:nvSpPr>
        <p:spPr>
          <a:xfrm>
            <a:off x="638400" y="1870885"/>
            <a:ext cx="10915200" cy="4048222"/>
          </a:xfrm>
        </p:spPr>
        <p:txBody>
          <a:bodyPr>
            <a:noAutofit/>
          </a:bodyPr>
          <a:lstStyle/>
          <a:p>
            <a:pPr marL="0" indent="0">
              <a:buNone/>
            </a:pPr>
            <a:r>
              <a:rPr lang="fr-CA" sz="2400" dirty="0"/>
              <a:t>Types </a:t>
            </a:r>
            <a:r>
              <a:rPr lang="fr-CA" sz="2400"/>
              <a:t>de procédures :</a:t>
            </a:r>
            <a:endParaRPr lang="fr-CA" sz="2400" dirty="0"/>
          </a:p>
          <a:p>
            <a:r>
              <a:rPr lang="fr-CA" sz="2400" dirty="0"/>
              <a:t>Inspection</a:t>
            </a:r>
          </a:p>
          <a:p>
            <a:r>
              <a:rPr lang="fr-CA" sz="2400" dirty="0"/>
              <a:t>Observation physique</a:t>
            </a:r>
          </a:p>
          <a:p>
            <a:r>
              <a:rPr lang="fr-CA" sz="2400" dirty="0"/>
              <a:t>Confirmations externes</a:t>
            </a:r>
          </a:p>
          <a:p>
            <a:r>
              <a:rPr lang="fr-CA" sz="2400" dirty="0"/>
              <a:t>Contrôle arithmétique</a:t>
            </a:r>
          </a:p>
          <a:p>
            <a:r>
              <a:rPr lang="fr-CA" sz="2400" dirty="0"/>
              <a:t>Réexécution</a:t>
            </a:r>
          </a:p>
          <a:p>
            <a:r>
              <a:rPr lang="fr-CA" sz="2400" dirty="0"/>
              <a:t>Procédures analytiques (doit obtenir preuve de la variation)</a:t>
            </a:r>
          </a:p>
          <a:p>
            <a:r>
              <a:rPr lang="fr-CA" sz="2400" dirty="0"/>
              <a:t>Demandes d'informations (pas suffisantes à elles seules)</a:t>
            </a:r>
          </a:p>
          <a:p>
            <a:endParaRPr lang="fr-CA" sz="2400" dirty="0"/>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54</a:t>
            </a:fld>
            <a:endParaRPr lang="en-US" dirty="0"/>
          </a:p>
        </p:txBody>
      </p:sp>
    </p:spTree>
    <p:extLst>
      <p:ext uri="{BB962C8B-B14F-4D97-AF65-F5344CB8AC3E}">
        <p14:creationId xmlns:p14="http://schemas.microsoft.com/office/powerpoint/2010/main" val="5837987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err="1"/>
              <a:t>Procédures</a:t>
            </a:r>
            <a:endParaRPr lang="en-CA" dirty="0"/>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55</a:t>
            </a:fld>
            <a:endParaRPr lang="en-US" dirty="0"/>
          </a:p>
        </p:txBody>
      </p:sp>
      <p:sp>
        <p:nvSpPr>
          <p:cNvPr id="3" name="Content Placeholder 2"/>
          <p:cNvSpPr>
            <a:spLocks noGrp="1"/>
          </p:cNvSpPr>
          <p:nvPr>
            <p:ph idx="1"/>
          </p:nvPr>
        </p:nvSpPr>
        <p:spPr/>
        <p:txBody>
          <a:bodyPr>
            <a:noAutofit/>
          </a:bodyPr>
          <a:lstStyle/>
          <a:p>
            <a:pPr marL="0" indent="0">
              <a:buNone/>
            </a:pPr>
            <a:r>
              <a:rPr lang="fr-CA" sz="2800" dirty="0"/>
              <a:t>À l’EFC, une procédure d’audit valide :</a:t>
            </a:r>
          </a:p>
          <a:p>
            <a:r>
              <a:rPr lang="fr-CA" sz="2400" dirty="0"/>
              <a:t>Est très précise</a:t>
            </a:r>
          </a:p>
          <a:p>
            <a:r>
              <a:rPr lang="fr-CA" sz="2400" dirty="0"/>
              <a:t>Est axée sur les risques les plus importants</a:t>
            </a:r>
          </a:p>
          <a:p>
            <a:r>
              <a:rPr lang="fr-CA" sz="2400" dirty="0"/>
              <a:t>Permet d’obtenir un niveau d’assurance élevé</a:t>
            </a:r>
          </a:p>
          <a:p>
            <a:r>
              <a:rPr lang="fr-CA" sz="2400" dirty="0"/>
              <a:t>Est réaliste</a:t>
            </a:r>
          </a:p>
          <a:p>
            <a:endParaRPr lang="en-CA" sz="2400" dirty="0"/>
          </a:p>
          <a:p>
            <a:endParaRPr lang="en-CA" sz="2400" dirty="0"/>
          </a:p>
        </p:txBody>
      </p:sp>
    </p:spTree>
    <p:extLst>
      <p:ext uri="{BB962C8B-B14F-4D97-AF65-F5344CB8AC3E}">
        <p14:creationId xmlns:p14="http://schemas.microsoft.com/office/powerpoint/2010/main" val="21925803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Procédures</a:t>
            </a:r>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56</a:t>
            </a:fld>
            <a:endParaRPr lang="en-US" dirty="0"/>
          </a:p>
        </p:txBody>
      </p:sp>
      <p:sp>
        <p:nvSpPr>
          <p:cNvPr id="3" name="Espace réservé du contenu 2"/>
          <p:cNvSpPr>
            <a:spLocks noGrp="1"/>
          </p:cNvSpPr>
          <p:nvPr>
            <p:ph idx="1"/>
          </p:nvPr>
        </p:nvSpPr>
        <p:spPr>
          <a:xfrm>
            <a:off x="395785" y="1050877"/>
            <a:ext cx="8151676" cy="5575277"/>
          </a:xfrm>
        </p:spPr>
        <p:txBody>
          <a:bodyPr>
            <a:normAutofit fontScale="92500" lnSpcReduction="20000"/>
          </a:bodyPr>
          <a:lstStyle/>
          <a:p>
            <a:r>
              <a:rPr lang="fr-CA" dirty="0"/>
              <a:t>Un truc pour les procédures : BVOVO :</a:t>
            </a:r>
          </a:p>
          <a:p>
            <a:pPr lvl="1"/>
            <a:r>
              <a:rPr lang="fr-CA" dirty="0"/>
              <a:t>B : Quel est le but de la procédure (assertion, qu’est-ce que l’on cherche à vérifier) ?</a:t>
            </a:r>
          </a:p>
          <a:p>
            <a:pPr lvl="1"/>
            <a:r>
              <a:rPr lang="fr-CA" dirty="0"/>
              <a:t>VO : Verbe et objet : obtenir un élément probant et spécifier ce que l’on regarde (FAIT DU CAS)</a:t>
            </a:r>
          </a:p>
          <a:p>
            <a:pPr lvl="1"/>
            <a:r>
              <a:rPr lang="fr-CA" dirty="0"/>
              <a:t>VO : Verbe et objet : je compare avec quoi</a:t>
            </a:r>
          </a:p>
          <a:p>
            <a:pPr marL="0" indent="0">
              <a:buNone/>
            </a:pPr>
            <a:r>
              <a:rPr lang="fr-CA" dirty="0"/>
              <a:t>Exemple : </a:t>
            </a:r>
          </a:p>
          <a:p>
            <a:r>
              <a:rPr lang="fr-CA" dirty="0"/>
              <a:t>Problème d’information financière sur les stocks. Il y a des indices de désuétude. IAS 2. Les stocks doivent être évalués au plus faible du coût et de la valeur nette de réalisation (VNR).</a:t>
            </a:r>
          </a:p>
          <a:p>
            <a:pPr marL="0" indent="0">
              <a:buNone/>
            </a:pPr>
            <a:r>
              <a:rPr lang="fr-CA" dirty="0"/>
              <a:t>Procédure : </a:t>
            </a:r>
          </a:p>
          <a:p>
            <a:r>
              <a:rPr lang="fr-CA" dirty="0"/>
              <a:t>Assertion : Évaluation. Il y a un risque au niveau de la désuétude des stocks. La valeur des stocks risque d’être surévaluée afin de maximiser le montant de la ligne de crédit utilisée actuellement au maximum.</a:t>
            </a:r>
          </a:p>
          <a:p>
            <a:r>
              <a:rPr lang="fr-CA" dirty="0"/>
              <a:t>Il faudra demander à la direction de fournir une liste des produits en stocks depuis longtemps et regarder au fichier des ventes s’ils ont été vendus récemment. Si oui, nous obtiendrons la facture de vente et regarderons le prix de vente. </a:t>
            </a:r>
          </a:p>
          <a:p>
            <a:r>
              <a:rPr lang="fr-CA" dirty="0"/>
              <a:t>Ensuite, pour ces stocks, nous comparerons le prix de vente récent au coût inscrit aux livres de l’entreprise. Si le prix de vente est inférieur au coût, il faudra dévaluer les stocks.</a:t>
            </a:r>
          </a:p>
        </p:txBody>
      </p:sp>
    </p:spTree>
    <p:extLst>
      <p:ext uri="{BB962C8B-B14F-4D97-AF65-F5344CB8AC3E}">
        <p14:creationId xmlns:p14="http://schemas.microsoft.com/office/powerpoint/2010/main" val="13484519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BB3B3B-0626-F144-B3B0-1D0FF137B5E9}"/>
              </a:ext>
            </a:extLst>
          </p:cNvPr>
          <p:cNvSpPr>
            <a:spLocks noGrp="1"/>
          </p:cNvSpPr>
          <p:nvPr>
            <p:ph type="title"/>
          </p:nvPr>
        </p:nvSpPr>
        <p:spPr/>
        <p:txBody>
          <a:bodyPr>
            <a:normAutofit fontScale="90000"/>
          </a:bodyPr>
          <a:lstStyle/>
          <a:p>
            <a:r>
              <a:rPr lang="fr-CA" dirty="0"/>
              <a:t>Procédures</a:t>
            </a:r>
          </a:p>
        </p:txBody>
      </p:sp>
      <p:sp>
        <p:nvSpPr>
          <p:cNvPr id="3" name="Espace réservé du numéro de diapositive 2">
            <a:extLst>
              <a:ext uri="{FF2B5EF4-FFF2-40B4-BE49-F238E27FC236}">
                <a16:creationId xmlns:a16="http://schemas.microsoft.com/office/drawing/2014/main" id="{1D9C60EC-9B62-9C42-B798-E52E6793A60E}"/>
              </a:ext>
            </a:extLst>
          </p:cNvPr>
          <p:cNvSpPr>
            <a:spLocks noGrp="1"/>
          </p:cNvSpPr>
          <p:nvPr>
            <p:ph type="sldNum" sz="quarter" idx="12"/>
          </p:nvPr>
        </p:nvSpPr>
        <p:spPr/>
        <p:txBody>
          <a:bodyPr/>
          <a:lstStyle/>
          <a:p>
            <a:fld id="{CB0E5D99-33F0-8E4B-A561-48D81EB9177A}" type="slidenum">
              <a:rPr lang="fr-CA" smtClean="0"/>
              <a:t>57</a:t>
            </a:fld>
            <a:endParaRPr lang="fr-CA"/>
          </a:p>
        </p:txBody>
      </p:sp>
      <p:sp>
        <p:nvSpPr>
          <p:cNvPr id="4" name="Espace réservé du contenu 3">
            <a:extLst>
              <a:ext uri="{FF2B5EF4-FFF2-40B4-BE49-F238E27FC236}">
                <a16:creationId xmlns:a16="http://schemas.microsoft.com/office/drawing/2014/main" id="{5E961668-29D2-7E4D-B44E-CFE5771927FB}"/>
              </a:ext>
            </a:extLst>
          </p:cNvPr>
          <p:cNvSpPr>
            <a:spLocks noGrp="1"/>
          </p:cNvSpPr>
          <p:nvPr>
            <p:ph idx="1"/>
          </p:nvPr>
        </p:nvSpPr>
        <p:spPr/>
        <p:txBody>
          <a:bodyPr>
            <a:normAutofit/>
          </a:bodyPr>
          <a:lstStyle/>
          <a:p>
            <a:r>
              <a:rPr lang="fr-FR" dirty="0"/>
              <a:t>Quand les procédures sont en lien avec l’information financière, il faut vous concentrer sur le ou les critères décisifs de votre analyse :</a:t>
            </a:r>
            <a:endParaRPr lang="fr-CA" dirty="0"/>
          </a:p>
          <a:p>
            <a:pPr lvl="1"/>
            <a:r>
              <a:rPr lang="fr-FR" dirty="0"/>
              <a:t>Quel(s) critère(s) a fait pencher votre décision ? </a:t>
            </a:r>
          </a:p>
          <a:p>
            <a:pPr lvl="1"/>
            <a:r>
              <a:rPr lang="fr-FR" dirty="0"/>
              <a:t>Quels éléments / documents / informations doit-on obtenir pour valider ce critère ?</a:t>
            </a:r>
          </a:p>
          <a:p>
            <a:pPr lvl="1"/>
            <a:r>
              <a:rPr lang="fr-FR" dirty="0"/>
              <a:t>Proposer 1 ou 2 procédures directement après l’analyse comptable.</a:t>
            </a:r>
            <a:endParaRPr lang="fr-CA" dirty="0"/>
          </a:p>
          <a:p>
            <a:pPr marL="0" indent="0">
              <a:buNone/>
            </a:pPr>
            <a:endParaRPr lang="fr-CA" dirty="0"/>
          </a:p>
          <a:p>
            <a:endParaRPr lang="fr-CA" dirty="0"/>
          </a:p>
        </p:txBody>
      </p:sp>
    </p:spTree>
    <p:extLst>
      <p:ext uri="{BB962C8B-B14F-4D97-AF65-F5344CB8AC3E}">
        <p14:creationId xmlns:p14="http://schemas.microsoft.com/office/powerpoint/2010/main" val="15688405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85C101-62B0-864D-916C-E80BC921C48C}"/>
              </a:ext>
            </a:extLst>
          </p:cNvPr>
          <p:cNvSpPr>
            <a:spLocks noGrp="1"/>
          </p:cNvSpPr>
          <p:nvPr>
            <p:ph type="title"/>
          </p:nvPr>
        </p:nvSpPr>
        <p:spPr/>
        <p:txBody>
          <a:bodyPr>
            <a:normAutofit fontScale="90000"/>
          </a:bodyPr>
          <a:lstStyle/>
          <a:p>
            <a:r>
              <a:rPr lang="fr-CA" dirty="0"/>
              <a:t>Procédures</a:t>
            </a:r>
          </a:p>
        </p:txBody>
      </p:sp>
      <p:sp>
        <p:nvSpPr>
          <p:cNvPr id="3" name="Espace réservé du numéro de diapositive 2">
            <a:extLst>
              <a:ext uri="{FF2B5EF4-FFF2-40B4-BE49-F238E27FC236}">
                <a16:creationId xmlns:a16="http://schemas.microsoft.com/office/drawing/2014/main" id="{F480F193-F46C-D44F-B2D9-615366849A6C}"/>
              </a:ext>
            </a:extLst>
          </p:cNvPr>
          <p:cNvSpPr>
            <a:spLocks noGrp="1"/>
          </p:cNvSpPr>
          <p:nvPr>
            <p:ph type="sldNum" sz="quarter" idx="12"/>
          </p:nvPr>
        </p:nvSpPr>
        <p:spPr/>
        <p:txBody>
          <a:bodyPr/>
          <a:lstStyle/>
          <a:p>
            <a:fld id="{CB0E5D99-33F0-8E4B-A561-48D81EB9177A}" type="slidenum">
              <a:rPr lang="fr-CA" smtClean="0"/>
              <a:t>58</a:t>
            </a:fld>
            <a:endParaRPr lang="fr-CA"/>
          </a:p>
        </p:txBody>
      </p:sp>
      <p:sp>
        <p:nvSpPr>
          <p:cNvPr id="4" name="Espace réservé du contenu 3">
            <a:extLst>
              <a:ext uri="{FF2B5EF4-FFF2-40B4-BE49-F238E27FC236}">
                <a16:creationId xmlns:a16="http://schemas.microsoft.com/office/drawing/2014/main" id="{5050203E-9A91-BF42-AF0C-7B5C4E72D4B5}"/>
              </a:ext>
            </a:extLst>
          </p:cNvPr>
          <p:cNvSpPr>
            <a:spLocks noGrp="1"/>
          </p:cNvSpPr>
          <p:nvPr>
            <p:ph idx="1"/>
          </p:nvPr>
        </p:nvSpPr>
        <p:spPr>
          <a:xfrm>
            <a:off x="395785" y="1050877"/>
            <a:ext cx="8151676" cy="5411117"/>
          </a:xfrm>
        </p:spPr>
        <p:txBody>
          <a:bodyPr>
            <a:normAutofit fontScale="92500" lnSpcReduction="10000"/>
          </a:bodyPr>
          <a:lstStyle/>
          <a:p>
            <a:pPr marL="0" indent="0">
              <a:buNone/>
            </a:pPr>
            <a:r>
              <a:rPr lang="fr-FR" dirty="0"/>
              <a:t>Exemple :</a:t>
            </a:r>
            <a:endParaRPr lang="fr-CA" dirty="0"/>
          </a:p>
          <a:p>
            <a:r>
              <a:rPr lang="fr-FR" dirty="0"/>
              <a:t>SRI a conclu un autre contrat de recherche avec </a:t>
            </a:r>
            <a:r>
              <a:rPr lang="fr-FR" dirty="0" err="1"/>
              <a:t>Biomed</a:t>
            </a:r>
            <a:r>
              <a:rPr lang="fr-FR" dirty="0"/>
              <a:t> le 30 octobre 2017. Ce contrat, d’une valeur de 1,5 million $, prévoit des paiements à chaque étape de recherche franchie. </a:t>
            </a:r>
            <a:r>
              <a:rPr lang="fr-FR" b="1" dirty="0"/>
              <a:t>SRI n’a pas comptabilisé de produits </a:t>
            </a:r>
            <a:r>
              <a:rPr lang="fr-FR" dirty="0"/>
              <a:t>relativement à ce nouveau contrat.</a:t>
            </a:r>
            <a:endParaRPr lang="fr-CA" dirty="0"/>
          </a:p>
          <a:p>
            <a:r>
              <a:rPr lang="fr-FR" dirty="0"/>
              <a:t>IFRS 15 : Problème au niveau du critère de détermination du moment où les obligations de prestation sont remplies.</a:t>
            </a:r>
            <a:endParaRPr lang="fr-CA" dirty="0"/>
          </a:p>
          <a:p>
            <a:pPr marL="0" indent="0">
              <a:buNone/>
            </a:pPr>
            <a:r>
              <a:rPr lang="fr-FR" dirty="0"/>
              <a:t>Procédure :</a:t>
            </a:r>
            <a:endParaRPr lang="fr-CA" dirty="0"/>
          </a:p>
          <a:p>
            <a:r>
              <a:rPr lang="fr-FR" dirty="0"/>
              <a:t>Assertion : Séparation des périodes, exhaustivité des produits. La direction a un biais à sous-évaluer le bénéfice.</a:t>
            </a:r>
            <a:endParaRPr lang="fr-CA" dirty="0"/>
          </a:p>
          <a:p>
            <a:r>
              <a:rPr lang="fr-FR" dirty="0"/>
              <a:t>Objectif de la procédure : Obtenir les éléments probants pour valider le bon moment de comptabilisation. </a:t>
            </a:r>
          </a:p>
          <a:p>
            <a:r>
              <a:rPr lang="fr-FR" dirty="0"/>
              <a:t>Nous devrions nous renseigner auprès de la direction et obtenir le contrat conclu avec </a:t>
            </a:r>
            <a:r>
              <a:rPr lang="fr-FR" dirty="0" err="1"/>
              <a:t>Biomed</a:t>
            </a:r>
            <a:r>
              <a:rPr lang="fr-FR" dirty="0"/>
              <a:t>. Nous devrions prendre connaissance des étapes d’exécution qui y sont stipulées et déterminer si certaines d’entre elles ont été franchies. Nous pourrions avoir recours à un expert pour déterminer si les étapes de recherche sont franchies. Nous comparerons les revenus qui devraient être comptabilisés aux revenus qui ont été comptabilisés par SRI.</a:t>
            </a:r>
            <a:endParaRPr lang="fr-CA" dirty="0"/>
          </a:p>
          <a:p>
            <a:endParaRPr lang="fr-CA" dirty="0"/>
          </a:p>
        </p:txBody>
      </p:sp>
    </p:spTree>
    <p:extLst>
      <p:ext uri="{BB962C8B-B14F-4D97-AF65-F5344CB8AC3E}">
        <p14:creationId xmlns:p14="http://schemas.microsoft.com/office/powerpoint/2010/main" val="20724208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a:xfrm>
            <a:off x="9779906" y="6492875"/>
            <a:ext cx="17062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6A126F-ECAD-40CF-950D-291D558E4DF6}" type="slidenum">
              <a:rPr kumimoji="0" lang="fr-C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fr-CA"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ZoneTexte 4"/>
          <p:cNvSpPr txBox="1"/>
          <p:nvPr/>
        </p:nvSpPr>
        <p:spPr>
          <a:xfrm>
            <a:off x="638400" y="1709896"/>
            <a:ext cx="10915200" cy="4066524"/>
          </a:xfrm>
          <a:prstGeom prst="rect">
            <a:avLst/>
          </a:prstGeom>
          <a:noFill/>
        </p:spPr>
        <p:txBody>
          <a:bodyPr wrap="square" rtlCol="0">
            <a:noAutofit/>
          </a:bodyPr>
          <a:lstStyle/>
          <a:p>
            <a:pPr marR="0" lvl="0" algn="just" defTabSz="914400" rtl="0" eaLnBrk="1" fontAlgn="auto" latinLnBrk="0" hangingPunct="1">
              <a:lnSpc>
                <a:spcPct val="100000"/>
              </a:lnSpc>
              <a:spcBef>
                <a:spcPts val="0"/>
              </a:spcBef>
              <a:spcAft>
                <a:spcPts val="0"/>
              </a:spcAft>
              <a:buClrTx/>
              <a:buSzTx/>
              <a:tabLst/>
              <a:defRPr/>
            </a:pPr>
            <a:r>
              <a:rPr kumimoji="0" lang="fr-CA" sz="2000" i="0" strike="noStrike" kern="1200" cap="none" spc="0" normalizeH="0" baseline="0" noProof="0" dirty="0">
                <a:ln>
                  <a:noFill/>
                </a:ln>
                <a:effectLst/>
                <a:uLnTx/>
                <a:uFillTx/>
                <a:latin typeface="Calibri" panose="020F0502020204030204"/>
              </a:rPr>
              <a:t>Assertions</a:t>
            </a:r>
          </a:p>
        </p:txBody>
      </p:sp>
      <p:sp>
        <p:nvSpPr>
          <p:cNvPr id="7" name="ZoneTexte 6"/>
          <p:cNvSpPr txBox="1"/>
          <p:nvPr/>
        </p:nvSpPr>
        <p:spPr>
          <a:xfrm>
            <a:off x="700336" y="2070365"/>
            <a:ext cx="2693900" cy="230832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0070C0"/>
                </a:solidFill>
                <a:effectLst/>
                <a:uLnTx/>
                <a:uFillTx/>
                <a:latin typeface="Calibri" panose="020F0502020204030204"/>
                <a:ea typeface="+mn-ea"/>
                <a:cs typeface="+mn-cs"/>
              </a:rPr>
              <a:t>OPÉRATIONS/évènements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CA" sz="1800" b="1" i="1" u="none" strike="noStrike" kern="1200" cap="none" spc="0" normalizeH="0" baseline="0" noProof="0" dirty="0">
                <a:ln>
                  <a:noFill/>
                </a:ln>
                <a:solidFill>
                  <a:srgbClr val="0070C0"/>
                </a:solidFill>
                <a:effectLst/>
                <a:uLnTx/>
                <a:uFillTx/>
                <a:latin typeface="Calibri" panose="020F0502020204030204"/>
                <a:ea typeface="+mn-ea"/>
                <a:cs typeface="+mn-cs"/>
              </a:rPr>
              <a:t>(État du résultat)</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dirty="0">
                <a:ln>
                  <a:noFill/>
                </a:ln>
                <a:solidFill>
                  <a:prstClr val="black"/>
                </a:solidFill>
                <a:effectLst/>
                <a:uLnTx/>
                <a:uFillTx/>
                <a:latin typeface="Calibri" panose="020F0502020204030204"/>
                <a:ea typeface="+mn-ea"/>
                <a:cs typeface="+mn-cs"/>
              </a:rPr>
              <a:t>Réalité</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dirty="0">
                <a:ln>
                  <a:noFill/>
                </a:ln>
                <a:solidFill>
                  <a:prstClr val="black"/>
                </a:solidFill>
                <a:effectLst/>
                <a:uLnTx/>
                <a:uFillTx/>
                <a:latin typeface="Calibri" panose="020F0502020204030204"/>
                <a:ea typeface="+mn-ea"/>
                <a:cs typeface="+mn-cs"/>
              </a:rPr>
              <a:t>Exhaustivité</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dirty="0">
                <a:ln>
                  <a:noFill/>
                </a:ln>
                <a:solidFill>
                  <a:prstClr val="black"/>
                </a:solidFill>
                <a:effectLst/>
                <a:uLnTx/>
                <a:uFillTx/>
                <a:latin typeface="Calibri" panose="020F0502020204030204"/>
                <a:ea typeface="+mn-ea"/>
                <a:cs typeface="+mn-cs"/>
              </a:rPr>
              <a:t>Exactitude</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dirty="0">
                <a:ln>
                  <a:noFill/>
                </a:ln>
                <a:solidFill>
                  <a:prstClr val="black"/>
                </a:solidFill>
                <a:effectLst/>
                <a:uLnTx/>
                <a:uFillTx/>
                <a:latin typeface="Calibri" panose="020F0502020204030204"/>
                <a:ea typeface="+mn-ea"/>
                <a:cs typeface="+mn-cs"/>
              </a:rPr>
              <a:t>Séparation des périodes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dirty="0">
                <a:ln>
                  <a:noFill/>
                </a:ln>
                <a:solidFill>
                  <a:prstClr val="black"/>
                </a:solidFill>
                <a:effectLst/>
                <a:uLnTx/>
                <a:uFillTx/>
                <a:latin typeface="Calibri" panose="020F0502020204030204"/>
                <a:ea typeface="+mn-ea"/>
                <a:cs typeface="+mn-cs"/>
              </a:rPr>
              <a:t>Classement</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dirty="0">
                <a:ln>
                  <a:noFill/>
                </a:ln>
                <a:solidFill>
                  <a:prstClr val="black"/>
                </a:solidFill>
                <a:effectLst/>
                <a:uLnTx/>
                <a:uFillTx/>
                <a:latin typeface="Calibri" panose="020F0502020204030204"/>
                <a:ea typeface="+mn-ea"/>
                <a:cs typeface="+mn-cs"/>
              </a:rPr>
              <a:t>Présentation</a:t>
            </a:r>
          </a:p>
        </p:txBody>
      </p:sp>
      <p:sp>
        <p:nvSpPr>
          <p:cNvPr id="8" name="ZoneTexte 7"/>
          <p:cNvSpPr txBox="1"/>
          <p:nvPr/>
        </p:nvSpPr>
        <p:spPr>
          <a:xfrm>
            <a:off x="3789090" y="2063807"/>
            <a:ext cx="3684828" cy="230832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0070C0"/>
                </a:solidFill>
                <a:effectLst/>
                <a:uLnTx/>
                <a:uFillTx/>
                <a:latin typeface="Calibri" panose="020F0502020204030204"/>
                <a:ea typeface="+mn-ea"/>
                <a:cs typeface="+mn-cs"/>
              </a:rPr>
              <a:t>SOLDES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CA" sz="1800" b="1" i="1" u="none" strike="noStrike" kern="1200" cap="none" spc="0" normalizeH="0" baseline="0" noProof="0" dirty="0">
                <a:ln>
                  <a:noFill/>
                </a:ln>
                <a:solidFill>
                  <a:srgbClr val="0070C0"/>
                </a:solidFill>
                <a:effectLst/>
                <a:uLnTx/>
                <a:uFillTx/>
                <a:latin typeface="Calibri" panose="020F0502020204030204"/>
                <a:ea typeface="+mn-ea"/>
                <a:cs typeface="+mn-cs"/>
              </a:rPr>
              <a:t>(État de la situation financière)</a:t>
            </a:r>
          </a:p>
          <a:p>
            <a:pPr marL="0" marR="0" lvl="0" indent="0"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dirty="0">
                <a:ln>
                  <a:noFill/>
                </a:ln>
                <a:solidFill>
                  <a:prstClr val="black"/>
                </a:solidFill>
                <a:effectLst/>
                <a:uLnTx/>
                <a:uFillTx/>
                <a:latin typeface="Calibri" panose="020F0502020204030204"/>
                <a:ea typeface="+mn-ea"/>
                <a:cs typeface="+mn-cs"/>
              </a:rPr>
              <a:t>Existence</a:t>
            </a:r>
          </a:p>
          <a:p>
            <a:pPr marL="0" marR="0" lvl="0" indent="0"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dirty="0">
                <a:ln>
                  <a:noFill/>
                </a:ln>
                <a:solidFill>
                  <a:prstClr val="black"/>
                </a:solidFill>
                <a:effectLst/>
                <a:uLnTx/>
                <a:uFillTx/>
                <a:latin typeface="Calibri" panose="020F0502020204030204"/>
                <a:ea typeface="+mn-ea"/>
                <a:cs typeface="+mn-cs"/>
              </a:rPr>
              <a:t>Droits et obligations</a:t>
            </a:r>
          </a:p>
          <a:p>
            <a:pPr marL="0" marR="0" lvl="0" indent="0"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dirty="0">
                <a:ln>
                  <a:noFill/>
                </a:ln>
                <a:solidFill>
                  <a:prstClr val="black"/>
                </a:solidFill>
                <a:effectLst/>
                <a:uLnTx/>
                <a:uFillTx/>
                <a:latin typeface="Calibri" panose="020F0502020204030204"/>
                <a:ea typeface="+mn-ea"/>
                <a:cs typeface="+mn-cs"/>
              </a:rPr>
              <a:t>Exhaustivité</a:t>
            </a:r>
          </a:p>
          <a:p>
            <a:pPr marL="0" marR="0" lvl="0" indent="0"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dirty="0">
                <a:ln>
                  <a:noFill/>
                </a:ln>
                <a:solidFill>
                  <a:prstClr val="black"/>
                </a:solidFill>
                <a:effectLst/>
                <a:uLnTx/>
                <a:uFillTx/>
                <a:latin typeface="Calibri" panose="020F0502020204030204"/>
                <a:ea typeface="+mn-ea"/>
                <a:cs typeface="+mn-cs"/>
              </a:rPr>
              <a:t>Exactitude, évaluation et imputation</a:t>
            </a:r>
          </a:p>
          <a:p>
            <a:pPr marL="0" marR="0" lvl="0" indent="0"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dirty="0">
                <a:ln>
                  <a:noFill/>
                </a:ln>
                <a:solidFill>
                  <a:prstClr val="black"/>
                </a:solidFill>
                <a:effectLst/>
                <a:uLnTx/>
                <a:uFillTx/>
                <a:latin typeface="Calibri" panose="020F0502020204030204"/>
                <a:ea typeface="+mn-ea"/>
                <a:cs typeface="+mn-cs"/>
              </a:rPr>
              <a:t>Classement</a:t>
            </a:r>
          </a:p>
          <a:p>
            <a:pPr marL="0" marR="0" lvl="0" indent="0"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dirty="0">
                <a:ln>
                  <a:noFill/>
                </a:ln>
                <a:solidFill>
                  <a:prstClr val="black"/>
                </a:solidFill>
                <a:effectLst/>
                <a:uLnTx/>
                <a:uFillTx/>
                <a:latin typeface="Calibri" panose="020F0502020204030204"/>
                <a:ea typeface="+mn-ea"/>
                <a:cs typeface="+mn-cs"/>
              </a:rPr>
              <a:t>Présentation</a:t>
            </a:r>
          </a:p>
        </p:txBody>
      </p:sp>
      <p:sp>
        <p:nvSpPr>
          <p:cNvPr id="9" name="ZoneTexte 8"/>
          <p:cNvSpPr txBox="1"/>
          <p:nvPr/>
        </p:nvSpPr>
        <p:spPr>
          <a:xfrm>
            <a:off x="7824086" y="2063807"/>
            <a:ext cx="3911640" cy="230832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0070C0"/>
                </a:solidFill>
                <a:effectLst/>
                <a:uLnTx/>
                <a:uFillTx/>
                <a:latin typeface="Calibri" panose="020F0502020204030204"/>
                <a:ea typeface="+mn-ea"/>
                <a:cs typeface="+mn-cs"/>
              </a:rPr>
              <a:t>INFORMATIONS À FOURNIR</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CA" sz="1800" b="1" i="1" u="none" strike="noStrike" kern="1200" cap="none" spc="0" normalizeH="0" baseline="0" noProof="0" dirty="0">
                <a:ln>
                  <a:noFill/>
                </a:ln>
                <a:solidFill>
                  <a:srgbClr val="0070C0"/>
                </a:solidFill>
                <a:effectLst/>
                <a:uLnTx/>
                <a:uFillTx/>
                <a:latin typeface="Calibri" panose="020F0502020204030204"/>
                <a:ea typeface="+mn-ea"/>
                <a:cs typeface="+mn-cs"/>
              </a:rPr>
              <a:t>(Notes)</a:t>
            </a:r>
          </a:p>
          <a:p>
            <a:pPr marL="0" marR="0" lvl="0" indent="0"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dirty="0">
                <a:ln>
                  <a:noFill/>
                </a:ln>
                <a:solidFill>
                  <a:prstClr val="black"/>
                </a:solidFill>
                <a:effectLst/>
                <a:uLnTx/>
                <a:uFillTx/>
                <a:latin typeface="Calibri" panose="020F0502020204030204"/>
                <a:ea typeface="+mn-ea"/>
                <a:cs typeface="+mn-cs"/>
              </a:rPr>
              <a:t>Réalité, existence, droits et obligations</a:t>
            </a:r>
          </a:p>
          <a:p>
            <a:pPr marL="0" marR="0" lvl="0" indent="0"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dirty="0">
                <a:ln>
                  <a:noFill/>
                </a:ln>
                <a:solidFill>
                  <a:prstClr val="black"/>
                </a:solidFill>
                <a:effectLst/>
                <a:uLnTx/>
                <a:uFillTx/>
                <a:latin typeface="Calibri" panose="020F0502020204030204"/>
                <a:ea typeface="+mn-ea"/>
                <a:cs typeface="+mn-cs"/>
              </a:rPr>
              <a:t>Exhaustivité</a:t>
            </a:r>
          </a:p>
          <a:p>
            <a:pPr marL="0" marR="0" lvl="0" indent="0"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dirty="0">
                <a:ln>
                  <a:noFill/>
                </a:ln>
                <a:solidFill>
                  <a:prstClr val="black"/>
                </a:solidFill>
                <a:effectLst/>
                <a:uLnTx/>
                <a:uFillTx/>
                <a:latin typeface="Calibri" panose="020F0502020204030204"/>
                <a:ea typeface="+mn-ea"/>
                <a:cs typeface="+mn-cs"/>
              </a:rPr>
              <a:t>Exactitude et évaluation</a:t>
            </a:r>
          </a:p>
          <a:p>
            <a:pPr marL="0" marR="0" lvl="0" indent="0"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dirty="0">
                <a:ln>
                  <a:noFill/>
                </a:ln>
                <a:solidFill>
                  <a:prstClr val="black"/>
                </a:solidFill>
                <a:effectLst/>
                <a:uLnTx/>
                <a:uFillTx/>
                <a:latin typeface="Calibri" panose="020F0502020204030204"/>
                <a:ea typeface="+mn-ea"/>
                <a:cs typeface="+mn-cs"/>
              </a:rPr>
              <a:t>Classement </a:t>
            </a:r>
            <a:endParaRPr lang="fr-CA" dirty="0">
              <a:solidFill>
                <a:prstClr val="black"/>
              </a:solidFill>
              <a:latin typeface="Calibri" panose="020F0502020204030204"/>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fr-CA" sz="1800" b="1" i="0" u="sng" strike="noStrike" kern="1200" cap="none" spc="0" normalizeH="0" baseline="0" noProof="0" dirty="0">
                <a:ln>
                  <a:noFill/>
                </a:ln>
                <a:effectLst/>
                <a:uLnTx/>
                <a:uFillTx/>
                <a:latin typeface="Calibri" panose="020F0502020204030204" pitchFamily="34" charset="0"/>
                <a:cs typeface="Calibri" panose="020F0502020204030204" pitchFamily="34" charset="0"/>
              </a:rPr>
              <a:t>Présentation</a:t>
            </a:r>
            <a:r>
              <a:rPr kumimoji="0" lang="fr-CA" sz="1800" i="0" strike="noStrike" kern="1200" cap="none" spc="0" normalizeH="0" baseline="0" noProof="0" dirty="0">
                <a:ln>
                  <a:noFill/>
                </a:ln>
                <a:effectLst/>
                <a:uLnTx/>
                <a:uFillTx/>
                <a:latin typeface="Calibri" panose="020F0502020204030204" pitchFamily="34" charset="0"/>
                <a:cs typeface="Calibri" panose="020F0502020204030204" pitchFamily="34" charset="0"/>
              </a:rPr>
              <a:t> </a:t>
            </a:r>
            <a:r>
              <a:rPr kumimoji="0" lang="fr-CA" sz="18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 </a:t>
            </a:r>
            <a:r>
              <a:rPr lang="fr-CA" b="1" dirty="0">
                <a:latin typeface="Calibri" panose="020F0502020204030204" pitchFamily="34" charset="0"/>
                <a:cs typeface="Calibri" panose="020F0502020204030204" pitchFamily="34" charset="0"/>
              </a:rPr>
              <a:t>Pertinence et Intelligibilité </a:t>
            </a:r>
          </a:p>
        </p:txBody>
      </p:sp>
      <p:sp>
        <p:nvSpPr>
          <p:cNvPr id="3" name="Titre 2"/>
          <p:cNvSpPr>
            <a:spLocks noGrp="1"/>
          </p:cNvSpPr>
          <p:nvPr>
            <p:ph type="title"/>
          </p:nvPr>
        </p:nvSpPr>
        <p:spPr/>
        <p:txBody>
          <a:bodyPr/>
          <a:lstStyle/>
          <a:p>
            <a:r>
              <a:rPr lang="en-CA" dirty="0" err="1"/>
              <a:t>Procédures</a:t>
            </a:r>
            <a:endParaRPr lang="en-CA" dirty="0"/>
          </a:p>
        </p:txBody>
      </p:sp>
    </p:spTree>
    <p:extLst>
      <p:ext uri="{BB962C8B-B14F-4D97-AF65-F5344CB8AC3E}">
        <p14:creationId xmlns:p14="http://schemas.microsoft.com/office/powerpoint/2010/main" val="2012263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randombar(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Révision du travail d’un autre auditeur</a:t>
            </a:r>
          </a:p>
        </p:txBody>
      </p:sp>
      <p:sp>
        <p:nvSpPr>
          <p:cNvPr id="3" name="Espace réservé du texte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60</a:t>
            </a:fld>
            <a:endParaRPr lang="en-US" dirty="0"/>
          </a:p>
        </p:txBody>
      </p:sp>
    </p:spTree>
    <p:extLst>
      <p:ext uri="{BB962C8B-B14F-4D97-AF65-F5344CB8AC3E}">
        <p14:creationId xmlns:p14="http://schemas.microsoft.com/office/powerpoint/2010/main" val="401018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err="1"/>
              <a:t>Révision</a:t>
            </a:r>
            <a:r>
              <a:rPr lang="en-CA" dirty="0"/>
              <a:t> du travail d’un </a:t>
            </a:r>
            <a:r>
              <a:rPr lang="en-CA" dirty="0" err="1"/>
              <a:t>autre</a:t>
            </a:r>
            <a:r>
              <a:rPr lang="en-CA" dirty="0"/>
              <a:t> </a:t>
            </a:r>
            <a:r>
              <a:rPr lang="en-CA" dirty="0" err="1"/>
              <a:t>auditeur</a:t>
            </a:r>
            <a:endParaRPr lang="en-CA" dirty="0"/>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61</a:t>
            </a:fld>
            <a:endParaRPr lang="en-US" dirty="0"/>
          </a:p>
        </p:txBody>
      </p:sp>
      <p:sp>
        <p:nvSpPr>
          <p:cNvPr id="3" name="Content Placeholder 2"/>
          <p:cNvSpPr>
            <a:spLocks noGrp="1"/>
          </p:cNvSpPr>
          <p:nvPr>
            <p:ph idx="1"/>
          </p:nvPr>
        </p:nvSpPr>
        <p:spPr/>
        <p:txBody>
          <a:bodyPr>
            <a:noAutofit/>
          </a:bodyPr>
          <a:lstStyle/>
          <a:p>
            <a:pPr marL="0" indent="0">
              <a:buNone/>
            </a:pPr>
            <a:r>
              <a:rPr lang="fr-CA" sz="2800" dirty="0"/>
              <a:t>Éléments de discussion potentiels :</a:t>
            </a:r>
          </a:p>
          <a:p>
            <a:r>
              <a:rPr lang="fr-CA" sz="2800" dirty="0"/>
              <a:t>Problématiques d’acceptation non relevées</a:t>
            </a:r>
          </a:p>
          <a:p>
            <a:r>
              <a:rPr lang="fr-CA" sz="2800" dirty="0"/>
              <a:t>Erreurs dans la planification</a:t>
            </a:r>
          </a:p>
          <a:p>
            <a:r>
              <a:rPr lang="fr-CA" sz="2800" dirty="0"/>
              <a:t>Procédures effectuées non suffisantes</a:t>
            </a:r>
          </a:p>
          <a:p>
            <a:r>
              <a:rPr lang="fr-CA" sz="2800" dirty="0"/>
              <a:t>Assertions non couvertes par les procédures effectuées</a:t>
            </a:r>
          </a:p>
          <a:p>
            <a:r>
              <a:rPr lang="fr-CA" sz="2800" dirty="0"/>
              <a:t>Échantillonnage inadéquat</a:t>
            </a:r>
          </a:p>
          <a:p>
            <a:r>
              <a:rPr lang="fr-CA" sz="2800" dirty="0"/>
              <a:t>Erreurs dans les conclusions tirées</a:t>
            </a:r>
            <a:endParaRPr lang="fr-CA" sz="2600" dirty="0"/>
          </a:p>
          <a:p>
            <a:endParaRPr lang="en-CA" sz="2800" dirty="0"/>
          </a:p>
        </p:txBody>
      </p:sp>
    </p:spTree>
    <p:extLst>
      <p:ext uri="{BB962C8B-B14F-4D97-AF65-F5344CB8AC3E}">
        <p14:creationId xmlns:p14="http://schemas.microsoft.com/office/powerpoint/2010/main" val="2371092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Utilisation par l’auditeur des travaux d’un expert</a:t>
            </a:r>
          </a:p>
        </p:txBody>
      </p:sp>
      <p:sp>
        <p:nvSpPr>
          <p:cNvPr id="3" name="Espace réservé du texte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62</a:t>
            </a:fld>
            <a:endParaRPr lang="en-US" dirty="0"/>
          </a:p>
        </p:txBody>
      </p:sp>
    </p:spTree>
    <p:extLst>
      <p:ext uri="{BB962C8B-B14F-4D97-AF65-F5344CB8AC3E}">
        <p14:creationId xmlns:p14="http://schemas.microsoft.com/office/powerpoint/2010/main" val="21901704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041863-6604-F846-A757-DD83BC57A443}"/>
              </a:ext>
            </a:extLst>
          </p:cNvPr>
          <p:cNvSpPr>
            <a:spLocks noGrp="1"/>
          </p:cNvSpPr>
          <p:nvPr>
            <p:ph type="title"/>
          </p:nvPr>
        </p:nvSpPr>
        <p:spPr/>
        <p:txBody>
          <a:bodyPr>
            <a:noAutofit/>
          </a:bodyPr>
          <a:lstStyle/>
          <a:p>
            <a:r>
              <a:rPr lang="fr-CA" sz="2800" dirty="0"/>
              <a:t>Utilisation par l’auditeur des travaux d’un expert</a:t>
            </a:r>
          </a:p>
        </p:txBody>
      </p:sp>
      <p:sp>
        <p:nvSpPr>
          <p:cNvPr id="3" name="Espace réservé du numéro de diapositive 2">
            <a:extLst>
              <a:ext uri="{FF2B5EF4-FFF2-40B4-BE49-F238E27FC236}">
                <a16:creationId xmlns:a16="http://schemas.microsoft.com/office/drawing/2014/main" id="{DCDDFEA9-E56B-8248-BC5E-7662F3B7A1E3}"/>
              </a:ext>
            </a:extLst>
          </p:cNvPr>
          <p:cNvSpPr>
            <a:spLocks noGrp="1"/>
          </p:cNvSpPr>
          <p:nvPr>
            <p:ph type="sldNum" sz="quarter" idx="12"/>
          </p:nvPr>
        </p:nvSpPr>
        <p:spPr/>
        <p:txBody>
          <a:bodyPr/>
          <a:lstStyle/>
          <a:p>
            <a:fld id="{CB0E5D99-33F0-8E4B-A561-48D81EB9177A}" type="slidenum">
              <a:rPr lang="fr-CA" smtClean="0"/>
              <a:t>63</a:t>
            </a:fld>
            <a:endParaRPr lang="fr-CA"/>
          </a:p>
        </p:txBody>
      </p:sp>
      <p:sp>
        <p:nvSpPr>
          <p:cNvPr id="4" name="Espace réservé du contenu 3">
            <a:extLst>
              <a:ext uri="{FF2B5EF4-FFF2-40B4-BE49-F238E27FC236}">
                <a16:creationId xmlns:a16="http://schemas.microsoft.com/office/drawing/2014/main" id="{9A7F21D8-7DAA-C945-A3D5-0CFFF39DB807}"/>
              </a:ext>
            </a:extLst>
          </p:cNvPr>
          <p:cNvSpPr>
            <a:spLocks noGrp="1"/>
          </p:cNvSpPr>
          <p:nvPr>
            <p:ph idx="1"/>
          </p:nvPr>
        </p:nvSpPr>
        <p:spPr>
          <a:xfrm>
            <a:off x="395785" y="1050878"/>
            <a:ext cx="8151676" cy="5492162"/>
          </a:xfrm>
        </p:spPr>
        <p:txBody>
          <a:bodyPr>
            <a:normAutofit fontScale="92500" lnSpcReduction="10000"/>
          </a:bodyPr>
          <a:lstStyle/>
          <a:p>
            <a:pPr marL="0" indent="0">
              <a:buNone/>
            </a:pPr>
            <a:r>
              <a:rPr lang="fr-CA" sz="2600" dirty="0"/>
              <a:t>À l’EFC :</a:t>
            </a:r>
          </a:p>
          <a:p>
            <a:r>
              <a:rPr lang="fr-CA" sz="2600" dirty="0"/>
              <a:t>Déterminer s’il est nécessaire de faire appel à un expert</a:t>
            </a:r>
          </a:p>
          <a:p>
            <a:r>
              <a:rPr lang="fr-CA" sz="2600" dirty="0"/>
              <a:t>Déterminer/évaluer la nature, le calendrier et l’étendue des procédures d'audit</a:t>
            </a:r>
          </a:p>
          <a:p>
            <a:r>
              <a:rPr lang="fr-CA" sz="2600" dirty="0"/>
              <a:t>Évaluer la compétence, les capacités et l’objectivité de l’expert</a:t>
            </a:r>
          </a:p>
          <a:p>
            <a:r>
              <a:rPr lang="fr-CA" sz="2600" dirty="0"/>
              <a:t>Acquérir une compréhension suffisante du domaine d’expertise de l’expert </a:t>
            </a:r>
          </a:p>
          <a:p>
            <a:r>
              <a:rPr lang="fr-CA" sz="2600" dirty="0"/>
              <a:t>Déterminer/évaluer les termes de l’accord avec l’expert</a:t>
            </a:r>
          </a:p>
          <a:p>
            <a:r>
              <a:rPr lang="fr-CA" sz="2600" dirty="0"/>
              <a:t>Évaluer le caractère adéquat des travaux de l’expert (procédures)</a:t>
            </a:r>
          </a:p>
          <a:p>
            <a:pPr lvl="1"/>
            <a:r>
              <a:rPr lang="fr-CA" dirty="0"/>
              <a:t>Constatations et conclusions de l’expert</a:t>
            </a:r>
          </a:p>
          <a:p>
            <a:pPr lvl="1"/>
            <a:r>
              <a:rPr lang="fr-CA" dirty="0"/>
              <a:t>Hypothèses et méthodes importantes</a:t>
            </a:r>
          </a:p>
          <a:p>
            <a:pPr lvl="1"/>
            <a:r>
              <a:rPr lang="fr-CA" dirty="0"/>
              <a:t>Données de base</a:t>
            </a:r>
            <a:endParaRPr lang="fr-CA" sz="2600" dirty="0"/>
          </a:p>
        </p:txBody>
      </p:sp>
    </p:spTree>
    <p:extLst>
      <p:ext uri="{BB962C8B-B14F-4D97-AF65-F5344CB8AC3E}">
        <p14:creationId xmlns:p14="http://schemas.microsoft.com/office/powerpoint/2010/main" val="6101178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4CB060-5ED9-9140-8292-460EC3E96545}"/>
              </a:ext>
            </a:extLst>
          </p:cNvPr>
          <p:cNvSpPr>
            <a:spLocks noGrp="1"/>
          </p:cNvSpPr>
          <p:nvPr>
            <p:ph type="title"/>
          </p:nvPr>
        </p:nvSpPr>
        <p:spPr/>
        <p:txBody>
          <a:bodyPr>
            <a:normAutofit/>
          </a:bodyPr>
          <a:lstStyle/>
          <a:p>
            <a:r>
              <a:rPr lang="fr-CA" dirty="0"/>
              <a:t>Utilisation par l’auditeur des travaux d’un expert</a:t>
            </a:r>
          </a:p>
        </p:txBody>
      </p:sp>
      <p:sp>
        <p:nvSpPr>
          <p:cNvPr id="4" name="Espace réservé du contenu 3">
            <a:extLst>
              <a:ext uri="{FF2B5EF4-FFF2-40B4-BE49-F238E27FC236}">
                <a16:creationId xmlns:a16="http://schemas.microsoft.com/office/drawing/2014/main" id="{F3CFD1E7-2796-7645-A429-9B200B349F57}"/>
              </a:ext>
            </a:extLst>
          </p:cNvPr>
          <p:cNvSpPr>
            <a:spLocks noGrp="1"/>
          </p:cNvSpPr>
          <p:nvPr>
            <p:ph idx="1"/>
          </p:nvPr>
        </p:nvSpPr>
        <p:spPr/>
        <p:txBody>
          <a:bodyPr>
            <a:normAutofit lnSpcReduction="10000"/>
          </a:bodyPr>
          <a:lstStyle/>
          <a:p>
            <a:pPr marL="0" indent="0">
              <a:buNone/>
            </a:pPr>
            <a:r>
              <a:rPr lang="fr-CA" sz="2100" b="1" dirty="0"/>
              <a:t>Exemples de procédures</a:t>
            </a:r>
          </a:p>
          <a:p>
            <a:r>
              <a:rPr lang="fr-CA" sz="2100" i="1" dirty="0"/>
              <a:t>Constatations et conclusions de l’expert.</a:t>
            </a:r>
            <a:r>
              <a:rPr lang="fr-CA" sz="2100" dirty="0"/>
              <a:t> </a:t>
            </a:r>
          </a:p>
          <a:p>
            <a:pPr lvl="1"/>
            <a:r>
              <a:rPr lang="fr-CA" sz="2000" dirty="0"/>
              <a:t>des demandes d’informations auprès de l’expert;</a:t>
            </a:r>
          </a:p>
          <a:p>
            <a:pPr lvl="1"/>
            <a:r>
              <a:rPr lang="fr-CA" sz="2000" dirty="0"/>
              <a:t>l’examen du dossier de travail et des rapports de l’expert;</a:t>
            </a:r>
          </a:p>
          <a:p>
            <a:pPr lvl="1"/>
            <a:r>
              <a:rPr lang="fr-CA" sz="2000" dirty="0"/>
              <a:t>des procédures de corroboration, comme l’observation des travaux de l’expert, l’examen de données publiées, la confirmation de questions pertinentes auprès de tiers, la mise en œuvre de procédures analytiques détaillées, la réexécution de certains calculs;</a:t>
            </a:r>
          </a:p>
          <a:p>
            <a:pPr lvl="1"/>
            <a:r>
              <a:rPr lang="fr-CA" sz="2000" dirty="0"/>
              <a:t>les entretiens avec un autre expert possédant une expertise pertinente lorsque, par exemple, les constatations ou conclusions de l’expert choisi par l’auditeur ne concordent pas avec d’autres éléments probants;</a:t>
            </a:r>
          </a:p>
          <a:p>
            <a:pPr lvl="1"/>
            <a:r>
              <a:rPr lang="fr-CA" sz="2000" dirty="0"/>
              <a:t>des entretiens avec la direction au sujet du rapport de l’expert.</a:t>
            </a:r>
          </a:p>
        </p:txBody>
      </p:sp>
      <p:sp>
        <p:nvSpPr>
          <p:cNvPr id="3" name="Espace réservé du numéro de diapositive 2">
            <a:extLst>
              <a:ext uri="{FF2B5EF4-FFF2-40B4-BE49-F238E27FC236}">
                <a16:creationId xmlns:a16="http://schemas.microsoft.com/office/drawing/2014/main" id="{1425FF2E-FD2D-0A43-9370-C52A2C57FB04}"/>
              </a:ext>
            </a:extLst>
          </p:cNvPr>
          <p:cNvSpPr>
            <a:spLocks noGrp="1"/>
          </p:cNvSpPr>
          <p:nvPr>
            <p:ph type="sldNum" sz="quarter" idx="12"/>
          </p:nvPr>
        </p:nvSpPr>
        <p:spPr/>
        <p:txBody>
          <a:bodyPr/>
          <a:lstStyle/>
          <a:p>
            <a:fld id="{CB0E5D99-33F0-8E4B-A561-48D81EB9177A}" type="slidenum">
              <a:rPr lang="fr-CA" smtClean="0"/>
              <a:t>64</a:t>
            </a:fld>
            <a:endParaRPr lang="fr-CA"/>
          </a:p>
        </p:txBody>
      </p:sp>
      <p:sp>
        <p:nvSpPr>
          <p:cNvPr id="5" name="Organigramme : Alternative 13">
            <a:extLst>
              <a:ext uri="{FF2B5EF4-FFF2-40B4-BE49-F238E27FC236}">
                <a16:creationId xmlns:a16="http://schemas.microsoft.com/office/drawing/2014/main" id="{4B0C8892-2CD9-F36C-ED90-D0995BB1179F}"/>
              </a:ext>
            </a:extLst>
          </p:cNvPr>
          <p:cNvSpPr/>
          <p:nvPr/>
        </p:nvSpPr>
        <p:spPr>
          <a:xfrm>
            <a:off x="10157657" y="867008"/>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620</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2513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A2221E-B4B0-F240-8482-74B9BF801DAC}"/>
              </a:ext>
            </a:extLst>
          </p:cNvPr>
          <p:cNvSpPr>
            <a:spLocks noGrp="1"/>
          </p:cNvSpPr>
          <p:nvPr>
            <p:ph type="title"/>
          </p:nvPr>
        </p:nvSpPr>
        <p:spPr/>
        <p:txBody>
          <a:bodyPr>
            <a:normAutofit/>
          </a:bodyPr>
          <a:lstStyle/>
          <a:p>
            <a:r>
              <a:rPr lang="fr-CA" dirty="0"/>
              <a:t>Utilisation par l’auditeur des travaux d’un expert</a:t>
            </a:r>
          </a:p>
        </p:txBody>
      </p:sp>
      <p:sp>
        <p:nvSpPr>
          <p:cNvPr id="4" name="Espace réservé du contenu 3">
            <a:extLst>
              <a:ext uri="{FF2B5EF4-FFF2-40B4-BE49-F238E27FC236}">
                <a16:creationId xmlns:a16="http://schemas.microsoft.com/office/drawing/2014/main" id="{02D23645-D55F-EB4D-9E76-E0F3761BBC1F}"/>
              </a:ext>
            </a:extLst>
          </p:cNvPr>
          <p:cNvSpPr>
            <a:spLocks noGrp="1"/>
          </p:cNvSpPr>
          <p:nvPr>
            <p:ph idx="1"/>
          </p:nvPr>
        </p:nvSpPr>
        <p:spPr>
          <a:xfrm>
            <a:off x="638400" y="1893224"/>
            <a:ext cx="10915200" cy="4389153"/>
          </a:xfrm>
        </p:spPr>
        <p:txBody>
          <a:bodyPr>
            <a:normAutofit fontScale="92500" lnSpcReduction="10000"/>
          </a:bodyPr>
          <a:lstStyle/>
          <a:p>
            <a:pPr marL="0" indent="0">
              <a:buNone/>
            </a:pPr>
            <a:r>
              <a:rPr lang="fr-CA" sz="2100" b="1" dirty="0"/>
              <a:t>Exemples de procédures</a:t>
            </a:r>
          </a:p>
          <a:p>
            <a:r>
              <a:rPr lang="fr-CA" sz="2100" i="1" dirty="0"/>
              <a:t>Hypothèses et méthodes</a:t>
            </a:r>
            <a:r>
              <a:rPr lang="fr-CA" sz="2100" dirty="0"/>
              <a:t>. Considérer les facteurs suivants :</a:t>
            </a:r>
          </a:p>
          <a:p>
            <a:pPr lvl="1"/>
            <a:r>
              <a:rPr lang="fr-CA" dirty="0"/>
              <a:t>sont-elles généralement acceptées dans le domaine de l’expert ?</a:t>
            </a:r>
          </a:p>
          <a:p>
            <a:pPr lvl="1"/>
            <a:r>
              <a:rPr lang="fr-CA" dirty="0"/>
              <a:t>sont-elles conformes aux exigences du référentiel d’information financière applicable ?</a:t>
            </a:r>
          </a:p>
          <a:p>
            <a:pPr lvl="1"/>
            <a:r>
              <a:rPr lang="fr-CA" dirty="0"/>
              <a:t>dépendent-elles de l’utilisation de modèles spécialisés ?</a:t>
            </a:r>
          </a:p>
          <a:p>
            <a:pPr lvl="1"/>
            <a:r>
              <a:rPr lang="fr-CA" dirty="0"/>
              <a:t>concordent-elles avec les hypothèses et les méthodes de la direction et, si ce n’est pas le cas, quelle est la raison et quelles sont les incidences des différences ?</a:t>
            </a:r>
          </a:p>
          <a:p>
            <a:endParaRPr lang="fr-CA" i="1" dirty="0"/>
          </a:p>
          <a:p>
            <a:r>
              <a:rPr lang="fr-CA" i="1" dirty="0"/>
              <a:t>Données de base</a:t>
            </a:r>
            <a:r>
              <a:rPr lang="fr-CA" dirty="0"/>
              <a:t>. </a:t>
            </a:r>
          </a:p>
          <a:p>
            <a:pPr lvl="1"/>
            <a:r>
              <a:rPr lang="fr-CA" dirty="0"/>
              <a:t>la vérification de l’origine des données, y compris l’acquisition d’une compréhension des contrôles internes sur les données et, lorsque cela est pertinent, de leur transmission et, s’il y a lieu, la mise en œuvre de tests portant sur ces contrôles et, le cas échéant, sur la transmission des données à l’expert;</a:t>
            </a:r>
          </a:p>
          <a:p>
            <a:pPr lvl="1"/>
            <a:r>
              <a:rPr lang="fr-CA" dirty="0"/>
              <a:t>la revue des données pour s’assurer de leur exhaustivité et de leur cohérence interne.</a:t>
            </a:r>
          </a:p>
          <a:p>
            <a:endParaRPr lang="fr-CA" dirty="0"/>
          </a:p>
        </p:txBody>
      </p:sp>
      <p:sp>
        <p:nvSpPr>
          <p:cNvPr id="3" name="Espace réservé du numéro de diapositive 2">
            <a:extLst>
              <a:ext uri="{FF2B5EF4-FFF2-40B4-BE49-F238E27FC236}">
                <a16:creationId xmlns:a16="http://schemas.microsoft.com/office/drawing/2014/main" id="{EA921AC3-A4DD-7B4E-A18B-C5709D653A2B}"/>
              </a:ext>
            </a:extLst>
          </p:cNvPr>
          <p:cNvSpPr>
            <a:spLocks noGrp="1"/>
          </p:cNvSpPr>
          <p:nvPr>
            <p:ph type="sldNum" sz="quarter" idx="12"/>
          </p:nvPr>
        </p:nvSpPr>
        <p:spPr/>
        <p:txBody>
          <a:bodyPr/>
          <a:lstStyle/>
          <a:p>
            <a:fld id="{CB0E5D99-33F0-8E4B-A561-48D81EB9177A}" type="slidenum">
              <a:rPr lang="fr-CA" smtClean="0"/>
              <a:t>65</a:t>
            </a:fld>
            <a:endParaRPr lang="fr-CA"/>
          </a:p>
        </p:txBody>
      </p:sp>
      <p:sp>
        <p:nvSpPr>
          <p:cNvPr id="5" name="Organigramme : Alternative 13">
            <a:extLst>
              <a:ext uri="{FF2B5EF4-FFF2-40B4-BE49-F238E27FC236}">
                <a16:creationId xmlns:a16="http://schemas.microsoft.com/office/drawing/2014/main" id="{92F3743A-5167-0AA3-120D-9D4FB326D60B}"/>
              </a:ext>
            </a:extLst>
          </p:cNvPr>
          <p:cNvSpPr/>
          <p:nvPr/>
        </p:nvSpPr>
        <p:spPr>
          <a:xfrm>
            <a:off x="10157657" y="867008"/>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620</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6478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Conclusion de l’audit</a:t>
            </a:r>
          </a:p>
        </p:txBody>
      </p:sp>
      <p:sp>
        <p:nvSpPr>
          <p:cNvPr id="3" name="Espace réservé du texte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66</a:t>
            </a:fld>
            <a:endParaRPr lang="en-US" dirty="0"/>
          </a:p>
        </p:txBody>
      </p:sp>
    </p:spTree>
    <p:extLst>
      <p:ext uri="{BB962C8B-B14F-4D97-AF65-F5344CB8AC3E}">
        <p14:creationId xmlns:p14="http://schemas.microsoft.com/office/powerpoint/2010/main" val="4420035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a:t>Révision</a:t>
            </a:r>
            <a:r>
              <a:rPr lang="en-CA" dirty="0"/>
              <a:t> de la </a:t>
            </a:r>
            <a:r>
              <a:rPr lang="en-CA" dirty="0" err="1"/>
              <a:t>stratégie</a:t>
            </a:r>
            <a:endParaRPr lang="en-CA" dirty="0"/>
          </a:p>
        </p:txBody>
      </p:sp>
      <p:sp>
        <p:nvSpPr>
          <p:cNvPr id="3" name="Content Placeholder 2"/>
          <p:cNvSpPr>
            <a:spLocks noGrp="1"/>
          </p:cNvSpPr>
          <p:nvPr>
            <p:ph idx="1"/>
          </p:nvPr>
        </p:nvSpPr>
        <p:spPr>
          <a:xfrm>
            <a:off x="637200" y="1893600"/>
            <a:ext cx="10915200" cy="3842966"/>
          </a:xfrm>
        </p:spPr>
        <p:txBody>
          <a:bodyPr>
            <a:noAutofit/>
          </a:bodyPr>
          <a:lstStyle/>
          <a:p>
            <a:pPr marL="0" indent="0">
              <a:buNone/>
            </a:pPr>
            <a:r>
              <a:rPr lang="fr-CA" sz="2800" dirty="0"/>
              <a:t>NCA 450.6. L’auditeur doit se demander s’il est nécessaire de réviser la stratégie générale d’audit et le plan de mission dans </a:t>
            </a:r>
            <a:r>
              <a:rPr lang="fr-CA" sz="2800" u="sng" dirty="0"/>
              <a:t>l’un ou l’autre</a:t>
            </a:r>
            <a:r>
              <a:rPr lang="fr-CA" sz="2800" dirty="0"/>
              <a:t> des cas suivants :</a:t>
            </a:r>
          </a:p>
          <a:p>
            <a:r>
              <a:rPr lang="fr-CA" sz="2400" dirty="0"/>
              <a:t>la nature des anomalies détectées et les circonstances dans lesquelles elles se sont produites indiquent l’existence possible d'autres anomalies qui, ajoutées au cumul des anomalies détectées au cours de l’audit, pourraient être significatives;</a:t>
            </a:r>
          </a:p>
          <a:p>
            <a:r>
              <a:rPr lang="fr-CA" sz="2400" dirty="0"/>
              <a:t>le cumul des anomalies détectées au cours de l’audit </a:t>
            </a:r>
            <a:r>
              <a:rPr lang="fr-CA" sz="2400" b="1" dirty="0">
                <a:solidFill>
                  <a:srgbClr val="FF0000"/>
                </a:solidFill>
              </a:rPr>
              <a:t>avoisine</a:t>
            </a:r>
            <a:r>
              <a:rPr lang="fr-CA" sz="2400" dirty="0"/>
              <a:t> le seuil de signification.</a:t>
            </a:r>
          </a:p>
          <a:p>
            <a:pPr marL="0" indent="0">
              <a:buNone/>
            </a:pPr>
            <a:endParaRPr lang="en-CA" sz="2400" i="1" dirty="0"/>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67</a:t>
            </a:fld>
            <a:endParaRPr lang="en-US" dirty="0"/>
          </a:p>
        </p:txBody>
      </p:sp>
      <p:sp>
        <p:nvSpPr>
          <p:cNvPr id="5" name="Organigramme : Alternative 13">
            <a:extLst>
              <a:ext uri="{FF2B5EF4-FFF2-40B4-BE49-F238E27FC236}">
                <a16:creationId xmlns:a16="http://schemas.microsoft.com/office/drawing/2014/main" id="{FB660056-26EE-F2AA-4E03-228B34A1F221}"/>
              </a:ext>
            </a:extLst>
          </p:cNvPr>
          <p:cNvSpPr/>
          <p:nvPr/>
        </p:nvSpPr>
        <p:spPr>
          <a:xfrm>
            <a:off x="10157657" y="867008"/>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450</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6597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Opinion de </a:t>
            </a:r>
            <a:r>
              <a:rPr lang="en-CA" dirty="0" err="1"/>
              <a:t>l’auditeur</a:t>
            </a:r>
            <a:endParaRPr lang="en-CA" dirty="0"/>
          </a:p>
        </p:txBody>
      </p:sp>
      <p:sp>
        <p:nvSpPr>
          <p:cNvPr id="3" name="Content Placeholder 2"/>
          <p:cNvSpPr>
            <a:spLocks noGrp="1"/>
          </p:cNvSpPr>
          <p:nvPr>
            <p:ph idx="1"/>
          </p:nvPr>
        </p:nvSpPr>
        <p:spPr>
          <a:xfrm>
            <a:off x="637200" y="1893600"/>
            <a:ext cx="10915200" cy="4122294"/>
          </a:xfrm>
        </p:spPr>
        <p:txBody>
          <a:bodyPr>
            <a:normAutofit lnSpcReduction="10000"/>
          </a:bodyPr>
          <a:lstStyle/>
          <a:p>
            <a:pPr marL="0" indent="0">
              <a:buNone/>
            </a:pPr>
            <a:r>
              <a:rPr lang="fr-CA" sz="2400" dirty="0"/>
              <a:t>Expression d’une opinion modifiée dans le rapport de l’auditeur indépendant (NCA 705)</a:t>
            </a:r>
            <a:endParaRPr lang="fr-FR" sz="2400" dirty="0"/>
          </a:p>
          <a:p>
            <a:r>
              <a:rPr lang="fr-FR" sz="2400" dirty="0"/>
              <a:t>Il y a trois types d’opinions modifiées, à savoir l’opinion avec réserve, l’opinion défavorable et la formulation d'une impossibilité d’exprimer une opinion. </a:t>
            </a:r>
          </a:p>
          <a:p>
            <a:r>
              <a:rPr lang="fr-FR" sz="2400" dirty="0"/>
              <a:t>Le choix du type d’opinion modifiée qui convient dépend des facteurs suivants:</a:t>
            </a:r>
          </a:p>
          <a:p>
            <a:pPr lvl="1"/>
            <a:r>
              <a:rPr lang="fr-FR" sz="2200" dirty="0"/>
              <a:t>La nature du problème donnant lieu à une opinion modifiée</a:t>
            </a:r>
          </a:p>
          <a:p>
            <a:pPr lvl="2"/>
            <a:r>
              <a:rPr lang="fr-FR" sz="2200" dirty="0"/>
              <a:t>Présence d’une ou de plusieurs anomalies significatives dans les </a:t>
            </a:r>
            <a:r>
              <a:rPr lang="fr-FR" sz="2200" dirty="0" err="1"/>
              <a:t>ÉFs</a:t>
            </a:r>
            <a:endParaRPr lang="fr-FR" sz="2200" dirty="0"/>
          </a:p>
          <a:p>
            <a:pPr lvl="2"/>
            <a:r>
              <a:rPr lang="fr-FR" sz="2200" dirty="0"/>
              <a:t>Impossibilité d’obtenir des éléments probants suffisants et appropriés</a:t>
            </a:r>
          </a:p>
          <a:p>
            <a:pPr lvl="1"/>
            <a:r>
              <a:rPr lang="fr-FR" sz="2200" dirty="0"/>
              <a:t>Le jugement de l’auditeur quant au caractère généralisé des incidences ou incidences éventuelles du problème sur les </a:t>
            </a:r>
            <a:r>
              <a:rPr lang="fr-FR" sz="2200" dirty="0" err="1"/>
              <a:t>ÉFs</a:t>
            </a:r>
            <a:endParaRPr lang="fr-FR" sz="2200" dirty="0"/>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68</a:t>
            </a:fld>
            <a:endParaRPr lang="en-US" dirty="0"/>
          </a:p>
        </p:txBody>
      </p:sp>
      <p:sp>
        <p:nvSpPr>
          <p:cNvPr id="5" name="Organigramme : Alternative 13">
            <a:extLst>
              <a:ext uri="{FF2B5EF4-FFF2-40B4-BE49-F238E27FC236}">
                <a16:creationId xmlns:a16="http://schemas.microsoft.com/office/drawing/2014/main" id="{7885BF4E-7F72-DE9A-BBE7-C0282C05E169}"/>
              </a:ext>
            </a:extLst>
          </p:cNvPr>
          <p:cNvSpPr/>
          <p:nvPr/>
        </p:nvSpPr>
        <p:spPr>
          <a:xfrm>
            <a:off x="10157657" y="867008"/>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705</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033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Opinion de l’auditeur</a:t>
            </a:r>
          </a:p>
        </p:txBody>
      </p:sp>
      <p:graphicFrame>
        <p:nvGraphicFramePr>
          <p:cNvPr id="4" name="Espace réservé du contenu 3"/>
          <p:cNvGraphicFramePr>
            <a:graphicFrameLocks noGrp="1"/>
          </p:cNvGraphicFramePr>
          <p:nvPr>
            <p:ph idx="1"/>
            <p:extLst>
              <p:ext uri="{D42A27DB-BD31-4B8C-83A1-F6EECF244321}">
                <p14:modId xmlns:p14="http://schemas.microsoft.com/office/powerpoint/2010/main" val="83952739"/>
              </p:ext>
            </p:extLst>
          </p:nvPr>
        </p:nvGraphicFramePr>
        <p:xfrm>
          <a:off x="638175" y="1893888"/>
          <a:ext cx="10915650" cy="4145280"/>
        </p:xfrm>
        <a:graphic>
          <a:graphicData uri="http://schemas.openxmlformats.org/drawingml/2006/table">
            <a:tbl>
              <a:tblPr firstRow="1" bandRow="1">
                <a:tableStyleId>{5C22544A-7EE6-4342-B048-85BDC9FD1C3A}</a:tableStyleId>
              </a:tblPr>
              <a:tblGrid>
                <a:gridCol w="3638550">
                  <a:extLst>
                    <a:ext uri="{9D8B030D-6E8A-4147-A177-3AD203B41FA5}">
                      <a16:colId xmlns:a16="http://schemas.microsoft.com/office/drawing/2014/main" val="20000"/>
                    </a:ext>
                  </a:extLst>
                </a:gridCol>
                <a:gridCol w="3638550">
                  <a:extLst>
                    <a:ext uri="{9D8B030D-6E8A-4147-A177-3AD203B41FA5}">
                      <a16:colId xmlns:a16="http://schemas.microsoft.com/office/drawing/2014/main" val="20001"/>
                    </a:ext>
                  </a:extLst>
                </a:gridCol>
                <a:gridCol w="3638550">
                  <a:extLst>
                    <a:ext uri="{9D8B030D-6E8A-4147-A177-3AD203B41FA5}">
                      <a16:colId xmlns:a16="http://schemas.microsoft.com/office/drawing/2014/main" val="20002"/>
                    </a:ext>
                  </a:extLst>
                </a:gridCol>
              </a:tblGrid>
              <a:tr h="370840">
                <a:tc rowSpan="2">
                  <a:txBody>
                    <a:bodyPr/>
                    <a:lstStyle/>
                    <a:p>
                      <a:r>
                        <a:rPr lang="fr-CA" dirty="0"/>
                        <a:t>Nature du problème donnant lieu à une opinion modifiée</a:t>
                      </a:r>
                    </a:p>
                  </a:txBody>
                  <a:tcPr anchor="ctr">
                    <a:lnR w="381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tcPr>
                </a:tc>
                <a:tc gridSpan="2">
                  <a:txBody>
                    <a:bodyPr/>
                    <a:lstStyle/>
                    <a:p>
                      <a:r>
                        <a:rPr lang="fr-CA" u="none" dirty="0"/>
                        <a:t>Jugement de l'auditeur quant au caractère généralisé des incidences ou incidences éventuelles sur les </a:t>
                      </a:r>
                      <a:r>
                        <a:rPr lang="fr-CA" u="none" dirty="0" err="1"/>
                        <a:t>ÉFs</a:t>
                      </a:r>
                      <a:endParaRPr lang="fr-CA" u="none" dirty="0"/>
                    </a:p>
                  </a:txBody>
                  <a:tcPr>
                    <a:lnL w="381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tcPr>
                </a:tc>
                <a:tc hMerge="1">
                  <a:txBody>
                    <a:bodyPr/>
                    <a:lstStyle/>
                    <a:p>
                      <a:endParaRPr lang="fr-CA" u="sng" dirty="0"/>
                    </a:p>
                  </a:txBody>
                  <a:tcPr/>
                </a:tc>
                <a:extLst>
                  <a:ext uri="{0D108BD9-81ED-4DB2-BD59-A6C34878D82A}">
                    <a16:rowId xmlns:a16="http://schemas.microsoft.com/office/drawing/2014/main" val="1150644355"/>
                  </a:ext>
                </a:extLst>
              </a:tr>
              <a:tr h="370840">
                <a:tc vMerge="1">
                  <a:txBody>
                    <a:bodyPr/>
                    <a:lstStyle/>
                    <a:p>
                      <a:endParaRPr dirty="0"/>
                    </a:p>
                  </a:txBody>
                  <a:tcPr/>
                </a:tc>
                <a:tc>
                  <a:txBody>
                    <a:bodyPr/>
                    <a:lstStyle/>
                    <a:p>
                      <a:r>
                        <a:rPr lang="fr-CA" dirty="0">
                          <a:solidFill>
                            <a:schemeClr val="bg1"/>
                          </a:solidFill>
                        </a:rPr>
                        <a:t>Incidences significatives mais </a:t>
                      </a:r>
                      <a:r>
                        <a:rPr lang="fr-CA" u="sng" dirty="0">
                          <a:solidFill>
                            <a:schemeClr val="bg1"/>
                          </a:solidFill>
                        </a:rPr>
                        <a:t>non généralisées</a:t>
                      </a:r>
                    </a:p>
                  </a:txBody>
                  <a:tcPr>
                    <a:lnL w="381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r>
                        <a:rPr lang="fr-CA" dirty="0">
                          <a:solidFill>
                            <a:schemeClr val="bg1"/>
                          </a:solidFill>
                        </a:rPr>
                        <a:t>Incidences significatives et </a:t>
                      </a:r>
                      <a:r>
                        <a:rPr lang="fr-CA" u="sng" dirty="0">
                          <a:solidFill>
                            <a:schemeClr val="bg1"/>
                          </a:solidFill>
                        </a:rPr>
                        <a:t>généralisées</a:t>
                      </a:r>
                    </a:p>
                  </a:txBody>
                  <a:tcP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70840">
                <a:tc>
                  <a:txBody>
                    <a:bodyPr/>
                    <a:lstStyle/>
                    <a:p>
                      <a:r>
                        <a:rPr lang="fr-CA" dirty="0"/>
                        <a:t>Présence d’une ou de plusieurs anomalies significatives dans les </a:t>
                      </a:r>
                      <a:r>
                        <a:rPr lang="fr-CA" dirty="0" err="1"/>
                        <a:t>ÉFs</a:t>
                      </a:r>
                      <a:endParaRPr lang="fr-CA" dirty="0"/>
                    </a:p>
                    <a:p>
                      <a:pPr marL="0" marR="0" lvl="0" indent="0" algn="l" defTabSz="1097280" rtl="0" eaLnBrk="1" fontAlgn="auto" latinLnBrk="0" hangingPunct="1">
                        <a:lnSpc>
                          <a:spcPct val="100000"/>
                        </a:lnSpc>
                        <a:spcBef>
                          <a:spcPts val="0"/>
                        </a:spcBef>
                        <a:spcAft>
                          <a:spcPts val="0"/>
                        </a:spcAft>
                        <a:buClrTx/>
                        <a:buSzTx/>
                        <a:buFontTx/>
                        <a:buNone/>
                        <a:tabLst/>
                        <a:defRPr/>
                      </a:pPr>
                      <a:r>
                        <a:rPr lang="fr-FR" sz="1600" dirty="0"/>
                        <a:t>(Anomalies sont significatives, prises individuellement ou collectivement</a:t>
                      </a:r>
                      <a:r>
                        <a:rPr lang="fr-CA" sz="1600" dirty="0"/>
                        <a:t>)</a:t>
                      </a:r>
                    </a:p>
                  </a:txBody>
                  <a:tcPr>
                    <a:lnT w="38100" cap="flat" cmpd="sng" algn="ctr">
                      <a:solidFill>
                        <a:schemeClr val="bg1"/>
                      </a:solidFill>
                      <a:prstDash val="solid"/>
                      <a:round/>
                      <a:headEnd type="none" w="med" len="med"/>
                      <a:tailEnd type="none" w="med" len="med"/>
                    </a:lnT>
                    <a:solidFill>
                      <a:schemeClr val="accent6">
                        <a:lumMod val="20000"/>
                        <a:lumOff val="80000"/>
                      </a:schemeClr>
                    </a:solidFill>
                  </a:tcPr>
                </a:tc>
                <a:tc>
                  <a:txBody>
                    <a:bodyPr/>
                    <a:lstStyle/>
                    <a:p>
                      <a:r>
                        <a:rPr lang="fr-CA" dirty="0"/>
                        <a:t>Opinion avec réserve</a:t>
                      </a:r>
                    </a:p>
                  </a:txBody>
                  <a:tcPr>
                    <a:lnT w="38100" cap="flat" cmpd="sng" algn="ctr">
                      <a:solidFill>
                        <a:schemeClr val="bg1"/>
                      </a:solidFill>
                      <a:prstDash val="solid"/>
                      <a:round/>
                      <a:headEnd type="none" w="med" len="med"/>
                      <a:tailEnd type="none" w="med" len="med"/>
                    </a:lnT>
                    <a:solidFill>
                      <a:schemeClr val="accent6">
                        <a:lumMod val="20000"/>
                        <a:lumOff val="80000"/>
                      </a:schemeClr>
                    </a:solidFill>
                  </a:tcPr>
                </a:tc>
                <a:tc>
                  <a:txBody>
                    <a:bodyPr/>
                    <a:lstStyle/>
                    <a:p>
                      <a:r>
                        <a:rPr lang="fr-CA" dirty="0"/>
                        <a:t>Opinion défavorable</a:t>
                      </a:r>
                    </a:p>
                  </a:txBody>
                  <a:tcPr>
                    <a:lnT w="38100" cap="flat" cmpd="sng" algn="ctr">
                      <a:solidFill>
                        <a:schemeClr val="bg1"/>
                      </a:solid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10001"/>
                  </a:ext>
                </a:extLst>
              </a:tr>
              <a:tr h="370840">
                <a:tc>
                  <a:txBody>
                    <a:bodyPr/>
                    <a:lstStyle/>
                    <a:p>
                      <a:r>
                        <a:rPr lang="fr-CA" dirty="0"/>
                        <a:t>Impossibilité d’obtenir des éléments probants suffisants et appropriés</a:t>
                      </a:r>
                    </a:p>
                  </a:txBody>
                  <a:tcPr>
                    <a:solidFill>
                      <a:schemeClr val="accent6">
                        <a:lumMod val="20000"/>
                        <a:lumOff val="80000"/>
                      </a:schemeClr>
                    </a:solidFill>
                  </a:tcPr>
                </a:tc>
                <a:tc>
                  <a:txBody>
                    <a:bodyPr/>
                    <a:lstStyle/>
                    <a:p>
                      <a:r>
                        <a:rPr lang="fr-CA" dirty="0"/>
                        <a:t>Opinion avec réserve</a:t>
                      </a:r>
                    </a:p>
                  </a:txBody>
                  <a:tcPr>
                    <a:solidFill>
                      <a:schemeClr val="accent6">
                        <a:lumMod val="20000"/>
                        <a:lumOff val="80000"/>
                      </a:schemeClr>
                    </a:solidFill>
                  </a:tcPr>
                </a:tc>
                <a:tc>
                  <a:txBody>
                    <a:bodyPr/>
                    <a:lstStyle/>
                    <a:p>
                      <a:r>
                        <a:rPr lang="fr-CA" dirty="0"/>
                        <a:t>Impossibilité d’exprimer une opinion</a:t>
                      </a:r>
                    </a:p>
                  </a:txBody>
                  <a:tcPr>
                    <a:solidFill>
                      <a:schemeClr val="accent6">
                        <a:lumMod val="20000"/>
                        <a:lumOff val="80000"/>
                      </a:schemeClr>
                    </a:solidFill>
                  </a:tcPr>
                </a:tc>
                <a:extLst>
                  <a:ext uri="{0D108BD9-81ED-4DB2-BD59-A6C34878D82A}">
                    <a16:rowId xmlns:a16="http://schemas.microsoft.com/office/drawing/2014/main" val="10002"/>
                  </a:ext>
                </a:extLst>
              </a:tr>
            </a:tbl>
          </a:graphicData>
        </a:graphic>
      </p:graphicFrame>
      <p:sp>
        <p:nvSpPr>
          <p:cNvPr id="3" name="Espace réservé du numéro de diapositive 2"/>
          <p:cNvSpPr>
            <a:spLocks noGrp="1"/>
          </p:cNvSpPr>
          <p:nvPr>
            <p:ph type="sldNum" sz="quarter" idx="12"/>
          </p:nvPr>
        </p:nvSpPr>
        <p:spPr/>
        <p:txBody>
          <a:bodyPr/>
          <a:lstStyle/>
          <a:p>
            <a:fld id="{D57F1E4F-1CFF-5643-939E-02111984F565}" type="slidenum">
              <a:rPr lang="en-US" smtClean="0"/>
              <a:t>69</a:t>
            </a:fld>
            <a:endParaRPr lang="en-US" dirty="0"/>
          </a:p>
        </p:txBody>
      </p:sp>
      <p:sp>
        <p:nvSpPr>
          <p:cNvPr id="5" name="ZoneTexte 4">
            <a:extLst>
              <a:ext uri="{FF2B5EF4-FFF2-40B4-BE49-F238E27FC236}">
                <a16:creationId xmlns:a16="http://schemas.microsoft.com/office/drawing/2014/main" id="{2D0108D6-F5F1-AF51-5E05-686BCA2E73CD}"/>
              </a:ext>
            </a:extLst>
          </p:cNvPr>
          <p:cNvSpPr txBox="1"/>
          <p:nvPr/>
        </p:nvSpPr>
        <p:spPr>
          <a:xfrm>
            <a:off x="2984740" y="5624423"/>
            <a:ext cx="0" cy="0"/>
          </a:xfrm>
          <a:prstGeom prst="rect">
            <a:avLst/>
          </a:prstGeom>
        </p:spPr>
        <p:txBody>
          <a:bodyPr vert="horz" wrap="none" lIns="91440" tIns="45720" rIns="91440" bIns="45720" rtlCol="0">
            <a:noAutofit/>
          </a:bodyPr>
          <a:lstStyle/>
          <a:p>
            <a:pPr>
              <a:buClr>
                <a:schemeClr val="accent2"/>
              </a:buClr>
              <a:buSzPct val="125000"/>
            </a:pPr>
            <a:endParaRPr lang="fr-CA" sz="1400" dirty="0"/>
          </a:p>
        </p:txBody>
      </p:sp>
      <p:sp>
        <p:nvSpPr>
          <p:cNvPr id="6" name="ZoneTexte 5">
            <a:extLst>
              <a:ext uri="{FF2B5EF4-FFF2-40B4-BE49-F238E27FC236}">
                <a16:creationId xmlns:a16="http://schemas.microsoft.com/office/drawing/2014/main" id="{004DB51F-2AB3-5CA4-1AD7-EE9825E80124}"/>
              </a:ext>
            </a:extLst>
          </p:cNvPr>
          <p:cNvSpPr txBox="1"/>
          <p:nvPr/>
        </p:nvSpPr>
        <p:spPr>
          <a:xfrm>
            <a:off x="1086928" y="5995358"/>
            <a:ext cx="4002657" cy="560717"/>
          </a:xfrm>
          <a:prstGeom prst="rect">
            <a:avLst/>
          </a:prstGeom>
        </p:spPr>
        <p:txBody>
          <a:bodyPr vert="horz" wrap="square" lIns="91440" tIns="45720" rIns="91440" bIns="45720" rtlCol="0">
            <a:normAutofit/>
          </a:bodyPr>
          <a:lstStyle/>
          <a:p>
            <a:pPr marL="154800" indent="-154800">
              <a:buClr>
                <a:schemeClr val="accent2"/>
              </a:buClr>
              <a:buSzPct val="125000"/>
              <a:buFont typeface="Arial" panose="020B0604020202020204" pitchFamily="34" charset="0"/>
              <a:buChar char="•"/>
            </a:pPr>
            <a:endParaRPr lang="fr-CA" sz="1670" dirty="0"/>
          </a:p>
        </p:txBody>
      </p:sp>
      <p:sp>
        <p:nvSpPr>
          <p:cNvPr id="7" name="ZoneTexte 6">
            <a:extLst>
              <a:ext uri="{FF2B5EF4-FFF2-40B4-BE49-F238E27FC236}">
                <a16:creationId xmlns:a16="http://schemas.microsoft.com/office/drawing/2014/main" id="{5C4553E1-6D5E-4542-4574-DD64B898A923}"/>
              </a:ext>
            </a:extLst>
          </p:cNvPr>
          <p:cNvSpPr txBox="1"/>
          <p:nvPr/>
        </p:nvSpPr>
        <p:spPr>
          <a:xfrm>
            <a:off x="1768415" y="6211019"/>
            <a:ext cx="0" cy="0"/>
          </a:xfrm>
          <a:prstGeom prst="rect">
            <a:avLst/>
          </a:prstGeom>
        </p:spPr>
        <p:txBody>
          <a:bodyPr vert="horz" wrap="none" lIns="91440" tIns="45720" rIns="91440" bIns="45720" rtlCol="0">
            <a:normAutofit fontScale="25000" lnSpcReduction="20000"/>
          </a:bodyPr>
          <a:lstStyle/>
          <a:p>
            <a:pPr marL="154800" indent="-154800">
              <a:buClr>
                <a:schemeClr val="accent2"/>
              </a:buClr>
              <a:buSzPct val="125000"/>
              <a:buFont typeface="Arial" panose="020B0604020202020204" pitchFamily="34" charset="0"/>
              <a:buChar char="•"/>
            </a:pPr>
            <a:endParaRPr lang="fr-CA" sz="1670" dirty="0"/>
          </a:p>
        </p:txBody>
      </p:sp>
      <p:sp>
        <p:nvSpPr>
          <p:cNvPr id="8" name="ZoneTexte 7">
            <a:extLst>
              <a:ext uri="{FF2B5EF4-FFF2-40B4-BE49-F238E27FC236}">
                <a16:creationId xmlns:a16="http://schemas.microsoft.com/office/drawing/2014/main" id="{7214C664-9713-6BEE-5DBA-E9F4C64379D6}"/>
              </a:ext>
            </a:extLst>
          </p:cNvPr>
          <p:cNvSpPr txBox="1"/>
          <p:nvPr/>
        </p:nvSpPr>
        <p:spPr>
          <a:xfrm>
            <a:off x="638175" y="5472939"/>
            <a:ext cx="5469147" cy="646981"/>
          </a:xfrm>
          <a:prstGeom prst="rect">
            <a:avLst/>
          </a:prstGeom>
        </p:spPr>
        <p:txBody>
          <a:bodyPr vert="horz" wrap="square" lIns="91440" tIns="45720" rIns="91440" bIns="45720" rtlCol="0">
            <a:normAutofit/>
          </a:bodyPr>
          <a:lstStyle/>
          <a:p>
            <a:pPr marL="154800" indent="-154800">
              <a:buClr>
                <a:schemeClr val="accent2"/>
              </a:buClr>
              <a:buSzPct val="125000"/>
              <a:buFont typeface="Arial" panose="020B0604020202020204" pitchFamily="34" charset="0"/>
              <a:buChar char="•"/>
            </a:pPr>
            <a:endParaRPr lang="fr-CA" sz="1670" dirty="0"/>
          </a:p>
        </p:txBody>
      </p:sp>
      <p:sp>
        <p:nvSpPr>
          <p:cNvPr id="9" name="Organigramme : Alternative 13">
            <a:extLst>
              <a:ext uri="{FF2B5EF4-FFF2-40B4-BE49-F238E27FC236}">
                <a16:creationId xmlns:a16="http://schemas.microsoft.com/office/drawing/2014/main" id="{08922CC3-5BA6-BB6C-C1EF-08791669EE1A}"/>
              </a:ext>
            </a:extLst>
          </p:cNvPr>
          <p:cNvSpPr/>
          <p:nvPr/>
        </p:nvSpPr>
        <p:spPr>
          <a:xfrm>
            <a:off x="10157657" y="867008"/>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705</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7615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324DB6-882B-73D2-FDCE-5F4B940F1DE8}"/>
              </a:ext>
            </a:extLst>
          </p:cNvPr>
          <p:cNvSpPr>
            <a:spLocks noGrp="1"/>
          </p:cNvSpPr>
          <p:nvPr>
            <p:ph type="title"/>
          </p:nvPr>
        </p:nvSpPr>
        <p:spPr/>
        <p:txBody>
          <a:bodyPr/>
          <a:lstStyle/>
          <a:p>
            <a:r>
              <a:rPr lang="fr-CA" dirty="0"/>
              <a:t>Opinion de l’auditeur</a:t>
            </a:r>
          </a:p>
        </p:txBody>
      </p:sp>
      <p:sp>
        <p:nvSpPr>
          <p:cNvPr id="3" name="Espace réservé du contenu 2">
            <a:extLst>
              <a:ext uri="{FF2B5EF4-FFF2-40B4-BE49-F238E27FC236}">
                <a16:creationId xmlns:a16="http://schemas.microsoft.com/office/drawing/2014/main" id="{4598346A-D4F8-B0F6-21F7-F0A1ABFAD619}"/>
              </a:ext>
            </a:extLst>
          </p:cNvPr>
          <p:cNvSpPr>
            <a:spLocks noGrp="1"/>
          </p:cNvSpPr>
          <p:nvPr>
            <p:ph idx="1"/>
          </p:nvPr>
        </p:nvSpPr>
        <p:spPr>
          <a:xfrm>
            <a:off x="638400" y="1893224"/>
            <a:ext cx="10915200" cy="4231531"/>
          </a:xfrm>
        </p:spPr>
        <p:txBody>
          <a:bodyPr>
            <a:normAutofit fontScale="92500"/>
          </a:bodyPr>
          <a:lstStyle/>
          <a:p>
            <a:pPr marL="0" indent="0">
              <a:buNone/>
            </a:pPr>
            <a:r>
              <a:rPr lang="fr-CA" dirty="0"/>
              <a:t>NCA 705.5 </a:t>
            </a:r>
          </a:p>
          <a:p>
            <a:pPr marL="0" indent="0">
              <a:buNone/>
            </a:pPr>
            <a:r>
              <a:rPr lang="fr-CA" dirty="0"/>
              <a:t>Dans les NCA, on entend par :</a:t>
            </a:r>
          </a:p>
          <a:p>
            <a:r>
              <a:rPr lang="fr-CA" dirty="0"/>
              <a:t>«généralisées», la caractéristique servant à décrire dans certains contextes les incidences des anomalies sur les </a:t>
            </a:r>
            <a:r>
              <a:rPr lang="fr-CA" dirty="0" err="1"/>
              <a:t>ÉFs</a:t>
            </a:r>
            <a:r>
              <a:rPr lang="fr-CA" dirty="0"/>
              <a:t> ou, le cas échéant, les incidences éventuelles sur les </a:t>
            </a:r>
            <a:r>
              <a:rPr lang="fr-CA" dirty="0" err="1"/>
              <a:t>ÉFs</a:t>
            </a:r>
            <a:r>
              <a:rPr lang="fr-CA" dirty="0"/>
              <a:t> d’anomalies qui ne sont pas détectées en raison de l’impossibilité d’obtenir des éléments probants suffisants et appropriés. Sont considérées comme généralisées les incidences sur les </a:t>
            </a:r>
            <a:r>
              <a:rPr lang="fr-CA" dirty="0" err="1"/>
              <a:t>ÉFs</a:t>
            </a:r>
            <a:r>
              <a:rPr lang="fr-CA" dirty="0"/>
              <a:t> qui, selon le jugement de l’auditeur, tombent dans </a:t>
            </a:r>
            <a:r>
              <a:rPr lang="fr-CA" u="sng" dirty="0"/>
              <a:t>l’une ou l’autre</a:t>
            </a:r>
            <a:r>
              <a:rPr lang="fr-CA" dirty="0"/>
              <a:t> des catégories suivantes :</a:t>
            </a:r>
          </a:p>
          <a:p>
            <a:pPr marL="872910" lvl="1" indent="-514350">
              <a:buFont typeface="+mj-lt"/>
              <a:buAutoNum type="romanLcPeriod"/>
            </a:pPr>
            <a:r>
              <a:rPr lang="fr-CA" dirty="0"/>
              <a:t>elles ne sont </a:t>
            </a:r>
            <a:r>
              <a:rPr lang="fr-CA" u="sng" dirty="0"/>
              <a:t>pas circonscrites</a:t>
            </a:r>
            <a:r>
              <a:rPr lang="fr-CA" dirty="0"/>
              <a:t> à des éléments, à des comptes ou à des postes spécifiques des </a:t>
            </a:r>
            <a:r>
              <a:rPr lang="fr-CA" dirty="0" err="1"/>
              <a:t>ÉFs</a:t>
            </a:r>
            <a:r>
              <a:rPr lang="fr-CA" dirty="0"/>
              <a:t>,</a:t>
            </a:r>
          </a:p>
          <a:p>
            <a:pPr marL="872910" lvl="1" indent="-514350">
              <a:buFont typeface="+mj-lt"/>
              <a:buAutoNum type="romanLcPeriod"/>
            </a:pPr>
            <a:r>
              <a:rPr lang="fr-CA" dirty="0"/>
              <a:t>tout en étant ainsi circonscrites, elles affectent ou pourraient affecter une </a:t>
            </a:r>
            <a:r>
              <a:rPr lang="fr-CA" u="sng" dirty="0"/>
              <a:t>partie substantielle</a:t>
            </a:r>
            <a:r>
              <a:rPr lang="fr-CA" dirty="0"/>
              <a:t> des </a:t>
            </a:r>
            <a:r>
              <a:rPr lang="fr-CA" dirty="0" err="1"/>
              <a:t>ÉFs</a:t>
            </a:r>
            <a:r>
              <a:rPr lang="fr-CA" dirty="0"/>
              <a:t>,</a:t>
            </a:r>
          </a:p>
          <a:p>
            <a:pPr marL="872910" lvl="1" indent="-514350">
              <a:buFont typeface="+mj-lt"/>
              <a:buAutoNum type="romanLcPeriod"/>
            </a:pPr>
            <a:r>
              <a:rPr lang="fr-CA" dirty="0"/>
              <a:t>compte tenu des informations fournies, elles affectent de manière fondamentale </a:t>
            </a:r>
            <a:r>
              <a:rPr lang="fr-CA" u="sng" dirty="0"/>
              <a:t>la compréhension des </a:t>
            </a:r>
            <a:r>
              <a:rPr lang="fr-CA" u="sng" dirty="0" err="1"/>
              <a:t>ÉFs</a:t>
            </a:r>
            <a:r>
              <a:rPr lang="fr-CA" dirty="0"/>
              <a:t> par les utilisateurs.</a:t>
            </a:r>
          </a:p>
          <a:p>
            <a:endParaRPr lang="fr-CA" dirty="0"/>
          </a:p>
          <a:p>
            <a:endParaRPr lang="fr-CA" dirty="0"/>
          </a:p>
        </p:txBody>
      </p:sp>
      <p:sp>
        <p:nvSpPr>
          <p:cNvPr id="4" name="Espace réservé du numéro de diapositive 3">
            <a:extLst>
              <a:ext uri="{FF2B5EF4-FFF2-40B4-BE49-F238E27FC236}">
                <a16:creationId xmlns:a16="http://schemas.microsoft.com/office/drawing/2014/main" id="{0CB653D9-B016-9713-07D6-278B6A878B97}"/>
              </a:ext>
            </a:extLst>
          </p:cNvPr>
          <p:cNvSpPr>
            <a:spLocks noGrp="1"/>
          </p:cNvSpPr>
          <p:nvPr>
            <p:ph type="sldNum" sz="quarter" idx="12"/>
          </p:nvPr>
        </p:nvSpPr>
        <p:spPr/>
        <p:txBody>
          <a:bodyPr/>
          <a:lstStyle/>
          <a:p>
            <a:fld id="{D57F1E4F-1CFF-5643-939E-02111984F565}" type="slidenum">
              <a:rPr lang="en-US" smtClean="0"/>
              <a:t>70</a:t>
            </a:fld>
            <a:endParaRPr lang="en-US" dirty="0"/>
          </a:p>
        </p:txBody>
      </p:sp>
      <p:sp>
        <p:nvSpPr>
          <p:cNvPr id="5" name="Organigramme : Alternative 13">
            <a:extLst>
              <a:ext uri="{FF2B5EF4-FFF2-40B4-BE49-F238E27FC236}">
                <a16:creationId xmlns:a16="http://schemas.microsoft.com/office/drawing/2014/main" id="{C2A4DD05-BFE1-AAB3-9605-5AB2EE97CD0A}"/>
              </a:ext>
            </a:extLst>
          </p:cNvPr>
          <p:cNvSpPr/>
          <p:nvPr/>
        </p:nvSpPr>
        <p:spPr>
          <a:xfrm>
            <a:off x="10157657" y="867008"/>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705</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2742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Rapport de </a:t>
            </a:r>
            <a:r>
              <a:rPr lang="en-CA" dirty="0" err="1"/>
              <a:t>l’auditeur</a:t>
            </a:r>
            <a:endParaRPr lang="en-CA" dirty="0"/>
          </a:p>
        </p:txBody>
      </p:sp>
      <p:sp>
        <p:nvSpPr>
          <p:cNvPr id="3" name="Content Placeholder 2"/>
          <p:cNvSpPr>
            <a:spLocks noGrp="1"/>
          </p:cNvSpPr>
          <p:nvPr>
            <p:ph idx="1"/>
          </p:nvPr>
        </p:nvSpPr>
        <p:spPr/>
        <p:txBody>
          <a:bodyPr>
            <a:normAutofit/>
          </a:bodyPr>
          <a:lstStyle/>
          <a:p>
            <a:pPr marL="0" indent="0">
              <a:buNone/>
            </a:pPr>
            <a:r>
              <a:rPr lang="fr-CA" sz="2400" dirty="0"/>
              <a:t>NCA 706</a:t>
            </a:r>
          </a:p>
          <a:p>
            <a:r>
              <a:rPr lang="fr-CA" sz="2400" dirty="0"/>
              <a:t>Paragraphe d'observations</a:t>
            </a:r>
          </a:p>
          <a:p>
            <a:pPr lvl="1"/>
            <a:r>
              <a:rPr lang="fr-CA" sz="2400" dirty="0"/>
              <a:t>Peut être utilisé pour attirer l’attention sur un point qui est présenté dans les </a:t>
            </a:r>
            <a:r>
              <a:rPr lang="fr-CA" sz="2400" dirty="0" err="1"/>
              <a:t>ÉFs</a:t>
            </a:r>
            <a:endParaRPr lang="fr-CA" sz="2400" dirty="0"/>
          </a:p>
          <a:p>
            <a:r>
              <a:rPr lang="fr-CA" sz="2400" dirty="0"/>
              <a:t>Paragraphe d’autres points</a:t>
            </a:r>
          </a:p>
          <a:p>
            <a:pPr lvl="1"/>
            <a:r>
              <a:rPr lang="fr-CA" sz="2400" dirty="0"/>
              <a:t>Portent sur de l’information qui n’a pas à être présentée dans les </a:t>
            </a:r>
            <a:r>
              <a:rPr lang="fr-CA" sz="2400" dirty="0" err="1"/>
              <a:t>ÉFs</a:t>
            </a:r>
            <a:endParaRPr lang="fr-CA" sz="2400" dirty="0"/>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71</a:t>
            </a:fld>
            <a:endParaRPr lang="en-US" dirty="0"/>
          </a:p>
        </p:txBody>
      </p:sp>
      <p:sp>
        <p:nvSpPr>
          <p:cNvPr id="5" name="Organigramme : Alternative 13">
            <a:extLst>
              <a:ext uri="{FF2B5EF4-FFF2-40B4-BE49-F238E27FC236}">
                <a16:creationId xmlns:a16="http://schemas.microsoft.com/office/drawing/2014/main" id="{FD2CFE71-A689-F6C6-678E-4CD4E5988668}"/>
              </a:ext>
            </a:extLst>
          </p:cNvPr>
          <p:cNvSpPr/>
          <p:nvPr/>
        </p:nvSpPr>
        <p:spPr>
          <a:xfrm>
            <a:off x="10157657" y="867008"/>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706</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3345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Rapport de </a:t>
            </a:r>
            <a:r>
              <a:rPr lang="en-CA" dirty="0" err="1"/>
              <a:t>l’auditeur</a:t>
            </a:r>
            <a:endParaRPr lang="en-CA" dirty="0"/>
          </a:p>
        </p:txBody>
      </p:sp>
      <p:sp>
        <p:nvSpPr>
          <p:cNvPr id="3" name="Content Placeholder 2"/>
          <p:cNvSpPr>
            <a:spLocks noGrp="1"/>
          </p:cNvSpPr>
          <p:nvPr>
            <p:ph idx="1"/>
          </p:nvPr>
        </p:nvSpPr>
        <p:spPr>
          <a:xfrm>
            <a:off x="637200" y="1893600"/>
            <a:ext cx="10915200" cy="3416300"/>
          </a:xfrm>
        </p:spPr>
        <p:txBody>
          <a:bodyPr>
            <a:normAutofit/>
          </a:bodyPr>
          <a:lstStyle/>
          <a:p>
            <a:pPr marL="0" indent="0">
              <a:buNone/>
            </a:pPr>
            <a:r>
              <a:rPr lang="fr-CA" sz="2800" dirty="0"/>
              <a:t>Circonstances dans lesquelles un paragraphe d’observation est exigé (NCA 706.A4) :</a:t>
            </a:r>
          </a:p>
          <a:p>
            <a:r>
              <a:rPr lang="fr-CA" sz="2400" dirty="0"/>
              <a:t>Utilisation d’un référentiel réglementaire jugé non approprié mais prescrit</a:t>
            </a:r>
          </a:p>
          <a:p>
            <a:r>
              <a:rPr lang="fr-CA" sz="2400" dirty="0"/>
              <a:t>Référentiel à usage particulier utilisé</a:t>
            </a:r>
          </a:p>
          <a:p>
            <a:r>
              <a:rPr lang="fr-CA" sz="2400" dirty="0"/>
              <a:t>L’auditeur prend connaissance de certains faits après la date de son rapport (c.-à-d. des événements postérieurs) et délivre un nouveau rapport ou un rapport modifié</a:t>
            </a:r>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72</a:t>
            </a:fld>
            <a:endParaRPr lang="en-US" dirty="0"/>
          </a:p>
        </p:txBody>
      </p:sp>
      <p:sp>
        <p:nvSpPr>
          <p:cNvPr id="5" name="Organigramme : Alternative 13">
            <a:extLst>
              <a:ext uri="{FF2B5EF4-FFF2-40B4-BE49-F238E27FC236}">
                <a16:creationId xmlns:a16="http://schemas.microsoft.com/office/drawing/2014/main" id="{4A6AEC66-73BC-A483-244B-45F46EE42689}"/>
              </a:ext>
            </a:extLst>
          </p:cNvPr>
          <p:cNvSpPr/>
          <p:nvPr/>
        </p:nvSpPr>
        <p:spPr>
          <a:xfrm>
            <a:off x="10149031" y="867008"/>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706</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7667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Rapport de </a:t>
            </a:r>
            <a:r>
              <a:rPr lang="en-CA" dirty="0" err="1"/>
              <a:t>l’auditeur</a:t>
            </a:r>
            <a:endParaRPr lang="en-CA" dirty="0"/>
          </a:p>
        </p:txBody>
      </p:sp>
      <p:sp>
        <p:nvSpPr>
          <p:cNvPr id="3" name="Content Placeholder 2"/>
          <p:cNvSpPr>
            <a:spLocks noGrp="1"/>
          </p:cNvSpPr>
          <p:nvPr>
            <p:ph idx="1"/>
          </p:nvPr>
        </p:nvSpPr>
        <p:spPr/>
        <p:txBody>
          <a:bodyPr>
            <a:normAutofit/>
          </a:bodyPr>
          <a:lstStyle/>
          <a:p>
            <a:pPr marL="0" indent="0">
              <a:buNone/>
            </a:pPr>
            <a:r>
              <a:rPr lang="fr-CA" sz="2800" dirty="0"/>
              <a:t>Exigences relatives aux paragraphes d’autres points :</a:t>
            </a:r>
          </a:p>
          <a:p>
            <a:r>
              <a:rPr lang="fr-CA" sz="2400" dirty="0"/>
              <a:t>Chiffres comparatifs audités par un autre auditeur ou non audités</a:t>
            </a:r>
          </a:p>
          <a:p>
            <a:r>
              <a:rPr lang="fr-CA" sz="2400" dirty="0"/>
              <a:t>Incohérence relevée dans des informations dans les documents contenant les </a:t>
            </a:r>
            <a:r>
              <a:rPr lang="fr-CA" sz="2400" dirty="0" err="1"/>
              <a:t>ÉFs</a:t>
            </a:r>
            <a:r>
              <a:rPr lang="fr-CA" sz="2400" dirty="0"/>
              <a:t> audités</a:t>
            </a:r>
          </a:p>
          <a:p>
            <a:pPr marL="0" indent="0">
              <a:buNone/>
            </a:pPr>
            <a:endParaRPr lang="en-CA" sz="2400" i="1" dirty="0"/>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73</a:t>
            </a:fld>
            <a:endParaRPr lang="en-US" dirty="0"/>
          </a:p>
        </p:txBody>
      </p:sp>
      <p:sp>
        <p:nvSpPr>
          <p:cNvPr id="5" name="Organigramme : Alternative 13">
            <a:extLst>
              <a:ext uri="{FF2B5EF4-FFF2-40B4-BE49-F238E27FC236}">
                <a16:creationId xmlns:a16="http://schemas.microsoft.com/office/drawing/2014/main" id="{9612F2E8-FE73-046F-286A-959A886BA7DC}"/>
              </a:ext>
            </a:extLst>
          </p:cNvPr>
          <p:cNvSpPr/>
          <p:nvPr/>
        </p:nvSpPr>
        <p:spPr>
          <a:xfrm>
            <a:off x="10149031" y="867008"/>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706</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9431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1699" name="Rectangle 3"/>
          <p:cNvSpPr>
            <a:spLocks noGrp="1" noChangeArrowheads="1"/>
          </p:cNvSpPr>
          <p:nvPr>
            <p:ph idx="1"/>
          </p:nvPr>
        </p:nvSpPr>
        <p:spPr>
          <a:xfrm>
            <a:off x="638400" y="1862982"/>
            <a:ext cx="10915200" cy="4543407"/>
          </a:xfrm>
        </p:spPr>
        <p:txBody>
          <a:bodyPr>
            <a:noAutofit/>
          </a:bodyPr>
          <a:lstStyle/>
          <a:p>
            <a:pPr marL="0" indent="0">
              <a:spcBef>
                <a:spcPts val="0"/>
              </a:spcBef>
              <a:buClrTx/>
              <a:buSzTx/>
              <a:buNone/>
            </a:pPr>
            <a:r>
              <a:rPr lang="fr-CA" sz="2000" b="1" dirty="0"/>
              <a:t>Questions clés de la mission – NCA 701</a:t>
            </a:r>
          </a:p>
          <a:p>
            <a:pPr marL="0" lvl="1" indent="0">
              <a:spcBef>
                <a:spcPts val="0"/>
              </a:spcBef>
              <a:buClrTx/>
              <a:buSzTx/>
              <a:buNone/>
            </a:pPr>
            <a:endParaRPr lang="fr-CA" sz="2000" dirty="0"/>
          </a:p>
          <a:p>
            <a:pPr marL="0" lvl="1" indent="0">
              <a:spcBef>
                <a:spcPts val="0"/>
              </a:spcBef>
              <a:buClrTx/>
              <a:buSzTx/>
              <a:buNone/>
            </a:pPr>
            <a:r>
              <a:rPr lang="fr-CA" sz="2000" dirty="0"/>
              <a:t>Qu’est ce qu’une question clé ? </a:t>
            </a:r>
          </a:p>
          <a:p>
            <a:pPr marL="185760" lvl="1">
              <a:spcBef>
                <a:spcPts val="0"/>
              </a:spcBef>
            </a:pPr>
            <a:r>
              <a:rPr lang="fr-CA" sz="2000" dirty="0"/>
              <a:t>Questions communiquées aux responsables de la gouvernance ayant nécessité une </a:t>
            </a:r>
            <a:r>
              <a:rPr lang="fr-CA" sz="2000" b="1" dirty="0"/>
              <a:t>attention importante de l’auditeur </a:t>
            </a:r>
            <a:r>
              <a:rPr lang="fr-CA" sz="2000" dirty="0"/>
              <a:t>au cours de l’audit. </a:t>
            </a:r>
          </a:p>
          <a:p>
            <a:pPr marL="0" indent="0">
              <a:spcBef>
                <a:spcPts val="0"/>
              </a:spcBef>
              <a:buClrTx/>
              <a:buSzTx/>
              <a:buNone/>
            </a:pPr>
            <a:endParaRPr lang="fr-CA" sz="2000" dirty="0"/>
          </a:p>
          <a:p>
            <a:pPr marL="0" indent="0">
              <a:spcBef>
                <a:spcPts val="0"/>
              </a:spcBef>
              <a:buClrTx/>
              <a:buSzTx/>
              <a:buNone/>
            </a:pPr>
            <a:r>
              <a:rPr lang="fr-CA" sz="2000" dirty="0"/>
              <a:t>S’applique à l’audit de jeux complets d’</a:t>
            </a:r>
            <a:r>
              <a:rPr lang="fr-CA" sz="2000" dirty="0" err="1"/>
              <a:t>ÉFs</a:t>
            </a:r>
            <a:r>
              <a:rPr lang="fr-CA" sz="2000" dirty="0"/>
              <a:t> à usage général si :</a:t>
            </a:r>
          </a:p>
          <a:p>
            <a:pPr marL="185760" lvl="1">
              <a:spcBef>
                <a:spcPts val="0"/>
              </a:spcBef>
            </a:pPr>
            <a:r>
              <a:rPr lang="fr-CA" sz="2000" dirty="0"/>
              <a:t>l’auditeur choisit de les communiquer dans son rapport, ou</a:t>
            </a:r>
          </a:p>
          <a:p>
            <a:pPr marL="185760" lvl="1">
              <a:spcBef>
                <a:spcPts val="0"/>
              </a:spcBef>
            </a:pPr>
            <a:r>
              <a:rPr lang="fr-CA" sz="2000" dirty="0"/>
              <a:t>l’auditeur est tenu de les communiquer en vertu de textes légaux ou réglementaires </a:t>
            </a:r>
          </a:p>
          <a:p>
            <a:pPr marL="540000" lvl="3">
              <a:spcBef>
                <a:spcPts val="0"/>
              </a:spcBef>
            </a:pPr>
            <a:r>
              <a:rPr lang="fr-CA" sz="2000" b="1" dirty="0"/>
              <a:t>Exigé pour toutes les sociétés </a:t>
            </a:r>
            <a:r>
              <a:rPr lang="fr-CA" sz="2000" dirty="0"/>
              <a:t>pour les périodes closes depuis le 15 décembre 2022.</a:t>
            </a:r>
          </a:p>
        </p:txBody>
      </p:sp>
      <p:sp>
        <p:nvSpPr>
          <p:cNvPr id="103428" name="Espace réservé du numéro de diapositive 5"/>
          <p:cNvSpPr>
            <a:spLocks noGrp="1"/>
          </p:cNvSpPr>
          <p:nvPr>
            <p:ph type="sldNum" sz="quarter" idx="12"/>
          </p:nvPr>
        </p:nvSpPr>
        <p:spPr>
          <a:noFill/>
        </p:spPr>
        <p:txBody>
          <a:bodyPr/>
          <a:lstStyle/>
          <a:p>
            <a:fld id="{7A72F1F6-EE9A-47B0-BDF2-9CFBD6054EC5}" type="slidenum">
              <a:rPr lang="fr-FR" smtClean="0"/>
              <a:pPr/>
              <a:t>74</a:t>
            </a:fld>
            <a:endParaRPr lang="fr-FR"/>
          </a:p>
        </p:txBody>
      </p:sp>
      <p:sp>
        <p:nvSpPr>
          <p:cNvPr id="4" name="Titre 3">
            <a:extLst>
              <a:ext uri="{FF2B5EF4-FFF2-40B4-BE49-F238E27FC236}">
                <a16:creationId xmlns:a16="http://schemas.microsoft.com/office/drawing/2014/main" id="{426F395F-9A78-E345-819A-9D845548C5F7}"/>
              </a:ext>
            </a:extLst>
          </p:cNvPr>
          <p:cNvSpPr>
            <a:spLocks noGrp="1"/>
          </p:cNvSpPr>
          <p:nvPr>
            <p:ph type="title"/>
          </p:nvPr>
        </p:nvSpPr>
        <p:spPr/>
        <p:txBody>
          <a:bodyPr/>
          <a:lstStyle/>
          <a:p>
            <a:r>
              <a:rPr lang="en-CA" dirty="0"/>
              <a:t>Rapport de </a:t>
            </a:r>
            <a:r>
              <a:rPr lang="en-CA" dirty="0" err="1"/>
              <a:t>l’auditeur</a:t>
            </a:r>
            <a:endParaRPr lang="fr-CA" dirty="0"/>
          </a:p>
        </p:txBody>
      </p:sp>
      <p:sp>
        <p:nvSpPr>
          <p:cNvPr id="2" name="Organigramme : Alternative 13">
            <a:extLst>
              <a:ext uri="{FF2B5EF4-FFF2-40B4-BE49-F238E27FC236}">
                <a16:creationId xmlns:a16="http://schemas.microsoft.com/office/drawing/2014/main" id="{DF8A05FA-1B1B-D5F9-5742-8B40361CA3E8}"/>
              </a:ext>
            </a:extLst>
          </p:cNvPr>
          <p:cNvSpPr/>
          <p:nvPr/>
        </p:nvSpPr>
        <p:spPr>
          <a:xfrm>
            <a:off x="10149031" y="867008"/>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701</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3224657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41699">
                                            <p:txEl>
                                              <p:pRg st="0" end="0"/>
                                            </p:txEl>
                                          </p:spTgt>
                                        </p:tgtEl>
                                        <p:attrNameLst>
                                          <p:attrName>style.visibility</p:attrName>
                                        </p:attrNameLst>
                                      </p:cBhvr>
                                      <p:to>
                                        <p:strVal val="visible"/>
                                      </p:to>
                                    </p:set>
                                    <p:animEffect transition="in" filter="fade">
                                      <p:cBhvr>
                                        <p:cTn id="7" dur="1000"/>
                                        <p:tgtEl>
                                          <p:spTgt spid="541699">
                                            <p:txEl>
                                              <p:pRg st="0" end="0"/>
                                            </p:txEl>
                                          </p:spTgt>
                                        </p:tgtEl>
                                      </p:cBhvr>
                                    </p:animEffect>
                                    <p:anim calcmode="lin" valueType="num">
                                      <p:cBhvr>
                                        <p:cTn id="8" dur="1000" fill="hold"/>
                                        <p:tgtEl>
                                          <p:spTgt spid="54169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4169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41699">
                                            <p:txEl>
                                              <p:pRg st="2" end="2"/>
                                            </p:txEl>
                                          </p:spTgt>
                                        </p:tgtEl>
                                        <p:attrNameLst>
                                          <p:attrName>style.visibility</p:attrName>
                                        </p:attrNameLst>
                                      </p:cBhvr>
                                      <p:to>
                                        <p:strVal val="visible"/>
                                      </p:to>
                                    </p:set>
                                    <p:animEffect transition="in" filter="fade">
                                      <p:cBhvr>
                                        <p:cTn id="12" dur="1000"/>
                                        <p:tgtEl>
                                          <p:spTgt spid="541699">
                                            <p:txEl>
                                              <p:pRg st="2" end="2"/>
                                            </p:txEl>
                                          </p:spTgt>
                                        </p:tgtEl>
                                      </p:cBhvr>
                                    </p:animEffect>
                                    <p:anim calcmode="lin" valueType="num">
                                      <p:cBhvr>
                                        <p:cTn id="13" dur="1000" fill="hold"/>
                                        <p:tgtEl>
                                          <p:spTgt spid="54169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41699">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41699">
                                            <p:txEl>
                                              <p:pRg st="3" end="3"/>
                                            </p:txEl>
                                          </p:spTgt>
                                        </p:tgtEl>
                                        <p:attrNameLst>
                                          <p:attrName>style.visibility</p:attrName>
                                        </p:attrNameLst>
                                      </p:cBhvr>
                                      <p:to>
                                        <p:strVal val="visible"/>
                                      </p:to>
                                    </p:set>
                                    <p:animEffect transition="in" filter="fade">
                                      <p:cBhvr>
                                        <p:cTn id="17" dur="1000"/>
                                        <p:tgtEl>
                                          <p:spTgt spid="541699">
                                            <p:txEl>
                                              <p:pRg st="3" end="3"/>
                                            </p:txEl>
                                          </p:spTgt>
                                        </p:tgtEl>
                                      </p:cBhvr>
                                    </p:animEffect>
                                    <p:anim calcmode="lin" valueType="num">
                                      <p:cBhvr>
                                        <p:cTn id="18" dur="1000" fill="hold"/>
                                        <p:tgtEl>
                                          <p:spTgt spid="541699">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4169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541699">
                                            <p:txEl>
                                              <p:pRg st="5" end="5"/>
                                            </p:txEl>
                                          </p:spTgt>
                                        </p:tgtEl>
                                        <p:attrNameLst>
                                          <p:attrName>style.visibility</p:attrName>
                                        </p:attrNameLst>
                                      </p:cBhvr>
                                      <p:to>
                                        <p:strVal val="visible"/>
                                      </p:to>
                                    </p:set>
                                    <p:animEffect transition="in" filter="fade">
                                      <p:cBhvr>
                                        <p:cTn id="24" dur="1000"/>
                                        <p:tgtEl>
                                          <p:spTgt spid="541699">
                                            <p:txEl>
                                              <p:pRg st="5" end="5"/>
                                            </p:txEl>
                                          </p:spTgt>
                                        </p:tgtEl>
                                      </p:cBhvr>
                                    </p:animEffect>
                                    <p:anim calcmode="lin" valueType="num">
                                      <p:cBhvr>
                                        <p:cTn id="25" dur="1000" fill="hold"/>
                                        <p:tgtEl>
                                          <p:spTgt spid="541699">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541699">
                                            <p:txEl>
                                              <p:pRg st="5" end="5"/>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541699">
                                            <p:txEl>
                                              <p:pRg st="6" end="6"/>
                                            </p:txEl>
                                          </p:spTgt>
                                        </p:tgtEl>
                                        <p:attrNameLst>
                                          <p:attrName>style.visibility</p:attrName>
                                        </p:attrNameLst>
                                      </p:cBhvr>
                                      <p:to>
                                        <p:strVal val="visible"/>
                                      </p:to>
                                    </p:set>
                                    <p:animEffect transition="in" filter="fade">
                                      <p:cBhvr>
                                        <p:cTn id="29" dur="1000"/>
                                        <p:tgtEl>
                                          <p:spTgt spid="541699">
                                            <p:txEl>
                                              <p:pRg st="6" end="6"/>
                                            </p:txEl>
                                          </p:spTgt>
                                        </p:tgtEl>
                                      </p:cBhvr>
                                    </p:animEffect>
                                    <p:anim calcmode="lin" valueType="num">
                                      <p:cBhvr>
                                        <p:cTn id="30" dur="1000" fill="hold"/>
                                        <p:tgtEl>
                                          <p:spTgt spid="541699">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541699">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541699">
                                            <p:txEl>
                                              <p:pRg st="7" end="7"/>
                                            </p:txEl>
                                          </p:spTgt>
                                        </p:tgtEl>
                                        <p:attrNameLst>
                                          <p:attrName>style.visibility</p:attrName>
                                        </p:attrNameLst>
                                      </p:cBhvr>
                                      <p:to>
                                        <p:strVal val="visible"/>
                                      </p:to>
                                    </p:set>
                                    <p:animEffect transition="in" filter="fade">
                                      <p:cBhvr>
                                        <p:cTn id="34" dur="1000"/>
                                        <p:tgtEl>
                                          <p:spTgt spid="541699">
                                            <p:txEl>
                                              <p:pRg st="7" end="7"/>
                                            </p:txEl>
                                          </p:spTgt>
                                        </p:tgtEl>
                                      </p:cBhvr>
                                    </p:animEffect>
                                    <p:anim calcmode="lin" valueType="num">
                                      <p:cBhvr>
                                        <p:cTn id="35" dur="1000" fill="hold"/>
                                        <p:tgtEl>
                                          <p:spTgt spid="541699">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541699">
                                            <p:txEl>
                                              <p:pRg st="7" end="7"/>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541699">
                                            <p:txEl>
                                              <p:pRg st="8" end="8"/>
                                            </p:txEl>
                                          </p:spTgt>
                                        </p:tgtEl>
                                        <p:attrNameLst>
                                          <p:attrName>style.visibility</p:attrName>
                                        </p:attrNameLst>
                                      </p:cBhvr>
                                      <p:to>
                                        <p:strVal val="visible"/>
                                      </p:to>
                                    </p:set>
                                    <p:animEffect transition="in" filter="fade">
                                      <p:cBhvr>
                                        <p:cTn id="39" dur="1000"/>
                                        <p:tgtEl>
                                          <p:spTgt spid="541699">
                                            <p:txEl>
                                              <p:pRg st="8" end="8"/>
                                            </p:txEl>
                                          </p:spTgt>
                                        </p:tgtEl>
                                      </p:cBhvr>
                                    </p:animEffect>
                                    <p:anim calcmode="lin" valueType="num">
                                      <p:cBhvr>
                                        <p:cTn id="40" dur="1000" fill="hold"/>
                                        <p:tgtEl>
                                          <p:spTgt spid="541699">
                                            <p:txEl>
                                              <p:pRg st="8" end="8"/>
                                            </p:txEl>
                                          </p:spTgt>
                                        </p:tgtEl>
                                        <p:attrNameLst>
                                          <p:attrName>ppt_x</p:attrName>
                                        </p:attrNameLst>
                                      </p:cBhvr>
                                      <p:tavLst>
                                        <p:tav tm="0">
                                          <p:val>
                                            <p:strVal val="#ppt_x"/>
                                          </p:val>
                                        </p:tav>
                                        <p:tav tm="100000">
                                          <p:val>
                                            <p:strVal val="#ppt_x"/>
                                          </p:val>
                                        </p:tav>
                                      </p:tavLst>
                                    </p:anim>
                                    <p:anim calcmode="lin" valueType="num">
                                      <p:cBhvr>
                                        <p:cTn id="41" dur="1000" fill="hold"/>
                                        <p:tgtEl>
                                          <p:spTgt spid="541699">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2"/>
                                        </p:tgtEl>
                                        <p:attrNameLst>
                                          <p:attrName>style.visibility</p:attrName>
                                        </p:attrNameLst>
                                      </p:cBhvr>
                                      <p:to>
                                        <p:strVal val="visible"/>
                                      </p:to>
                                    </p:set>
                                    <p:anim calcmode="lin" valueType="num">
                                      <p:cBhvr additive="base">
                                        <p:cTn id="46" dur="500" fill="hold"/>
                                        <p:tgtEl>
                                          <p:spTgt spid="2"/>
                                        </p:tgtEl>
                                        <p:attrNameLst>
                                          <p:attrName>ppt_x</p:attrName>
                                        </p:attrNameLst>
                                      </p:cBhvr>
                                      <p:tavLst>
                                        <p:tav tm="0">
                                          <p:val>
                                            <p:strVal val="#ppt_x"/>
                                          </p:val>
                                        </p:tav>
                                        <p:tav tm="100000">
                                          <p:val>
                                            <p:strVal val="#ppt_x"/>
                                          </p:val>
                                        </p:tav>
                                      </p:tavLst>
                                    </p:anim>
                                    <p:anim calcmode="lin" valueType="num">
                                      <p:cBhvr additive="base">
                                        <p:cTn id="4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1699" grpId="0" build="p"/>
      <p:bldP spid="2" grpId="0" animBg="1"/>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1699" name="Rectangle 3"/>
          <p:cNvSpPr>
            <a:spLocks noGrp="1" noChangeArrowheads="1"/>
          </p:cNvSpPr>
          <p:nvPr>
            <p:ph idx="1"/>
          </p:nvPr>
        </p:nvSpPr>
        <p:spPr>
          <a:xfrm>
            <a:off x="638400" y="1795206"/>
            <a:ext cx="10442630" cy="3781454"/>
          </a:xfrm>
        </p:spPr>
        <p:txBody>
          <a:bodyPr>
            <a:noAutofit/>
          </a:bodyPr>
          <a:lstStyle/>
          <a:p>
            <a:pPr marL="0" indent="0">
              <a:spcBef>
                <a:spcPts val="1800"/>
              </a:spcBef>
              <a:buClrTx/>
              <a:buSzTx/>
              <a:buNone/>
            </a:pPr>
            <a:r>
              <a:rPr lang="fr-CA" sz="2000" b="1" dirty="0"/>
              <a:t>Questions clés de la mission – NCA 701</a:t>
            </a:r>
          </a:p>
          <a:p>
            <a:pPr marL="0" indent="0">
              <a:spcBef>
                <a:spcPts val="1800"/>
              </a:spcBef>
              <a:buClrTx/>
              <a:buSzTx/>
              <a:buNone/>
            </a:pPr>
            <a:r>
              <a:rPr lang="fr-CA" sz="2000" dirty="0"/>
              <a:t>Que faut-il communiquer sur les questions clés ?</a:t>
            </a:r>
          </a:p>
          <a:p>
            <a:pPr marL="185760" lvl="1"/>
            <a:r>
              <a:rPr lang="fr-CA" sz="2000" b="1" dirty="0"/>
              <a:t>Raisons</a:t>
            </a:r>
            <a:r>
              <a:rPr lang="fr-CA" sz="2000" dirty="0"/>
              <a:t> pour lesquelles la question est considérée comme étant l’une des plus importantes de l’audit et constitue de ce fait une question clé de l’audit</a:t>
            </a:r>
          </a:p>
          <a:p>
            <a:pPr marL="185760" lvl="1"/>
            <a:r>
              <a:rPr lang="fr-CA" sz="2000" b="1" dirty="0"/>
              <a:t>Façon</a:t>
            </a:r>
            <a:r>
              <a:rPr lang="fr-CA" sz="2000" dirty="0"/>
              <a:t> dont cette question </a:t>
            </a:r>
            <a:r>
              <a:rPr lang="fr-CA" sz="2000" b="1" dirty="0"/>
              <a:t>a été traitée </a:t>
            </a:r>
            <a:r>
              <a:rPr lang="fr-CA" sz="2000" dirty="0"/>
              <a:t>dans le cadre de l’audit</a:t>
            </a:r>
          </a:p>
          <a:p>
            <a:pPr marL="185760" lvl="1"/>
            <a:r>
              <a:rPr lang="fr-CA" sz="2000" b="1" dirty="0"/>
              <a:t>Décrire chacune des questions clés </a:t>
            </a:r>
            <a:r>
              <a:rPr lang="fr-CA" sz="2000" dirty="0"/>
              <a:t>de l’audit dans son rapport, </a:t>
            </a:r>
            <a:r>
              <a:rPr lang="fr-CA" sz="2000" b="1" dirty="0"/>
              <a:t>sauf si </a:t>
            </a:r>
            <a:r>
              <a:rPr lang="fr-CA" sz="2000" dirty="0"/>
              <a:t>:</a:t>
            </a:r>
          </a:p>
          <a:p>
            <a:pPr marL="544320" lvl="2"/>
            <a:r>
              <a:rPr lang="fr-CA" sz="2000" dirty="0"/>
              <a:t>des textes légaux ou réglementaires en empêchent la publication</a:t>
            </a:r>
          </a:p>
          <a:p>
            <a:pPr marL="544320" lvl="2"/>
            <a:r>
              <a:rPr lang="fr-CA" sz="2000" dirty="0"/>
              <a:t>dans des circonstances extrêmement rares, l’auditeur détermine que les conséquences néfastes de la communication de cette question dépassent les avantages pour l'intérêt public. </a:t>
            </a:r>
          </a:p>
        </p:txBody>
      </p:sp>
      <p:sp>
        <p:nvSpPr>
          <p:cNvPr id="103428" name="Espace réservé du numéro de diapositive 5"/>
          <p:cNvSpPr>
            <a:spLocks noGrp="1"/>
          </p:cNvSpPr>
          <p:nvPr>
            <p:ph type="sldNum" sz="quarter" idx="12"/>
          </p:nvPr>
        </p:nvSpPr>
        <p:spPr>
          <a:noFill/>
        </p:spPr>
        <p:txBody>
          <a:bodyPr/>
          <a:lstStyle/>
          <a:p>
            <a:fld id="{7A72F1F6-EE9A-47B0-BDF2-9CFBD6054EC5}" type="slidenum">
              <a:rPr lang="fr-FR" smtClean="0"/>
              <a:pPr/>
              <a:t>75</a:t>
            </a:fld>
            <a:endParaRPr lang="fr-FR"/>
          </a:p>
        </p:txBody>
      </p:sp>
      <p:sp>
        <p:nvSpPr>
          <p:cNvPr id="3" name="Titre 2">
            <a:extLst>
              <a:ext uri="{FF2B5EF4-FFF2-40B4-BE49-F238E27FC236}">
                <a16:creationId xmlns:a16="http://schemas.microsoft.com/office/drawing/2014/main" id="{91EB2E26-00E7-4C49-B11C-E02F843FA7C4}"/>
              </a:ext>
            </a:extLst>
          </p:cNvPr>
          <p:cNvSpPr>
            <a:spLocks noGrp="1"/>
          </p:cNvSpPr>
          <p:nvPr>
            <p:ph type="title"/>
          </p:nvPr>
        </p:nvSpPr>
        <p:spPr/>
        <p:txBody>
          <a:bodyPr/>
          <a:lstStyle/>
          <a:p>
            <a:r>
              <a:rPr lang="en-CA" dirty="0"/>
              <a:t>Rapport de </a:t>
            </a:r>
            <a:r>
              <a:rPr lang="en-CA" dirty="0" err="1"/>
              <a:t>l’auditeur</a:t>
            </a:r>
            <a:endParaRPr lang="fr-CA" dirty="0"/>
          </a:p>
        </p:txBody>
      </p:sp>
      <p:sp>
        <p:nvSpPr>
          <p:cNvPr id="2" name="Organigramme : Alternative 13">
            <a:extLst>
              <a:ext uri="{FF2B5EF4-FFF2-40B4-BE49-F238E27FC236}">
                <a16:creationId xmlns:a16="http://schemas.microsoft.com/office/drawing/2014/main" id="{11B6C855-7C4D-AA83-0E87-6A63A281920C}"/>
              </a:ext>
            </a:extLst>
          </p:cNvPr>
          <p:cNvSpPr/>
          <p:nvPr/>
        </p:nvSpPr>
        <p:spPr>
          <a:xfrm>
            <a:off x="10149031" y="867008"/>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701</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2023675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1699" name="Rectangle 3"/>
          <p:cNvSpPr>
            <a:spLocks noGrp="1" noChangeArrowheads="1"/>
          </p:cNvSpPr>
          <p:nvPr>
            <p:ph idx="1"/>
          </p:nvPr>
        </p:nvSpPr>
        <p:spPr>
          <a:xfrm>
            <a:off x="638400" y="1874580"/>
            <a:ext cx="10716909" cy="4276009"/>
          </a:xfrm>
        </p:spPr>
        <p:txBody>
          <a:bodyPr>
            <a:noAutofit/>
          </a:bodyPr>
          <a:lstStyle/>
          <a:p>
            <a:pPr marL="0" indent="0">
              <a:spcBef>
                <a:spcPts val="0"/>
              </a:spcBef>
              <a:buClrTx/>
              <a:buSzTx/>
              <a:buNone/>
            </a:pPr>
            <a:r>
              <a:rPr lang="fr-CA" sz="2000" b="1" dirty="0"/>
              <a:t>Éléments exclus des questions clés de la mission – NCA 701</a:t>
            </a:r>
          </a:p>
          <a:p>
            <a:pPr marL="0" indent="0">
              <a:spcBef>
                <a:spcPts val="0"/>
              </a:spcBef>
              <a:buClrTx/>
              <a:buSzTx/>
              <a:buNone/>
            </a:pPr>
            <a:endParaRPr lang="fr-CA" sz="2000" b="1" dirty="0"/>
          </a:p>
          <a:p>
            <a:pPr marL="0" indent="0">
              <a:spcBef>
                <a:spcPts val="0"/>
              </a:spcBef>
              <a:buClrTx/>
              <a:buSzTx/>
              <a:buNone/>
            </a:pPr>
            <a:r>
              <a:rPr lang="fr-CA" sz="2000" b="1" dirty="0"/>
              <a:t>Communication de certaines questions importantes </a:t>
            </a:r>
            <a:r>
              <a:rPr lang="fr-CA" sz="2000" dirty="0"/>
              <a:t>qui</a:t>
            </a:r>
            <a:r>
              <a:rPr lang="fr-CA" sz="2000" b="1" dirty="0"/>
              <a:t> </a:t>
            </a:r>
            <a:r>
              <a:rPr lang="fr-CA" sz="2000" dirty="0"/>
              <a:t>ne doivent </a:t>
            </a:r>
            <a:r>
              <a:rPr lang="fr-CA" sz="2000" b="1" u="sng" dirty="0">
                <a:solidFill>
                  <a:srgbClr val="C00000"/>
                </a:solidFill>
              </a:rPr>
              <a:t>pas</a:t>
            </a:r>
            <a:r>
              <a:rPr lang="fr-CA" sz="2000" dirty="0">
                <a:solidFill>
                  <a:srgbClr val="C00000"/>
                </a:solidFill>
              </a:rPr>
              <a:t> </a:t>
            </a:r>
            <a:r>
              <a:rPr lang="fr-CA" sz="2000" dirty="0"/>
              <a:t>être décrites dans la section « Questions clés de l’audit » du rapport </a:t>
            </a:r>
            <a:r>
              <a:rPr lang="fr-CA" sz="2000" b="1" dirty="0"/>
              <a:t>:</a:t>
            </a:r>
          </a:p>
          <a:p>
            <a:pPr marL="185760" lvl="1">
              <a:spcBef>
                <a:spcPts val="0"/>
              </a:spcBef>
            </a:pPr>
            <a:r>
              <a:rPr lang="fr-CA" sz="2000" dirty="0"/>
              <a:t>Questions donnant lieu à l'expression d'une </a:t>
            </a:r>
            <a:r>
              <a:rPr lang="fr-CA" sz="2000" b="1" dirty="0"/>
              <a:t>opinion modifiée </a:t>
            </a:r>
            <a:r>
              <a:rPr lang="fr-CA" sz="2000" dirty="0"/>
              <a:t>conformément à la NCA 705</a:t>
            </a:r>
          </a:p>
          <a:p>
            <a:pPr marL="185760" lvl="1">
              <a:spcBef>
                <a:spcPts val="0"/>
              </a:spcBef>
            </a:pPr>
            <a:r>
              <a:rPr lang="fr-CA" sz="2000" dirty="0"/>
              <a:t>Questions relatives à une incertitude significative liée à des événements ou des situations susceptibles de jeter un </a:t>
            </a:r>
            <a:r>
              <a:rPr lang="fr-CA" sz="2000" b="1" dirty="0"/>
              <a:t>doute important sur la capacité de l'entité à poursuivre son exploitation </a:t>
            </a:r>
            <a:r>
              <a:rPr lang="fr-CA" sz="2000" dirty="0"/>
              <a:t>selon la NCA 570</a:t>
            </a:r>
          </a:p>
          <a:p>
            <a:pPr marL="185760" lvl="1">
              <a:spcBef>
                <a:spcPts val="0"/>
              </a:spcBef>
            </a:pPr>
            <a:endParaRPr lang="fr-CA" sz="2000" dirty="0"/>
          </a:p>
          <a:p>
            <a:pPr marL="361950" lvl="2" indent="-361950">
              <a:spcBef>
                <a:spcPts val="0"/>
              </a:spcBef>
              <a:buNone/>
            </a:pPr>
            <a:r>
              <a:rPr lang="fr-CA" sz="2000" dirty="0"/>
              <a:t>Ces questions doivent plutôt faire l’objet d’un </a:t>
            </a:r>
            <a:r>
              <a:rPr lang="fr-CA" sz="2000" b="1" dirty="0"/>
              <a:t>renvoi aux sections appropriées du rapport </a:t>
            </a:r>
            <a:r>
              <a:rPr lang="fr-CA" sz="2000" dirty="0"/>
              <a:t>:</a:t>
            </a:r>
          </a:p>
          <a:p>
            <a:pPr marL="185760" lvl="1">
              <a:spcBef>
                <a:spcPts val="0"/>
              </a:spcBef>
            </a:pPr>
            <a:r>
              <a:rPr lang="fr-CA" sz="2000" dirty="0"/>
              <a:t>Renvoi à la section à la section «Incertitude significative sur la capacité de l’entité à poursuivre son exploitation», ou à la section «Fondement de l’opinion avec réserve» ou «Fondement de l’opinion défavorable», ou aux deux.</a:t>
            </a:r>
          </a:p>
        </p:txBody>
      </p:sp>
      <p:sp>
        <p:nvSpPr>
          <p:cNvPr id="103428" name="Espace réservé du numéro de diapositive 5"/>
          <p:cNvSpPr>
            <a:spLocks noGrp="1"/>
          </p:cNvSpPr>
          <p:nvPr>
            <p:ph type="sldNum" sz="quarter" idx="12"/>
          </p:nvPr>
        </p:nvSpPr>
        <p:spPr>
          <a:noFill/>
        </p:spPr>
        <p:txBody>
          <a:bodyPr/>
          <a:lstStyle/>
          <a:p>
            <a:fld id="{7A72F1F6-EE9A-47B0-BDF2-9CFBD6054EC5}" type="slidenum">
              <a:rPr lang="fr-FR" smtClean="0"/>
              <a:pPr/>
              <a:t>76</a:t>
            </a:fld>
            <a:endParaRPr lang="fr-FR"/>
          </a:p>
        </p:txBody>
      </p:sp>
      <p:sp>
        <p:nvSpPr>
          <p:cNvPr id="3" name="Titre 2">
            <a:extLst>
              <a:ext uri="{FF2B5EF4-FFF2-40B4-BE49-F238E27FC236}">
                <a16:creationId xmlns:a16="http://schemas.microsoft.com/office/drawing/2014/main" id="{1AF5DA78-973D-A24D-BA0A-6B920192F364}"/>
              </a:ext>
            </a:extLst>
          </p:cNvPr>
          <p:cNvSpPr>
            <a:spLocks noGrp="1"/>
          </p:cNvSpPr>
          <p:nvPr>
            <p:ph type="title"/>
          </p:nvPr>
        </p:nvSpPr>
        <p:spPr/>
        <p:txBody>
          <a:bodyPr/>
          <a:lstStyle/>
          <a:p>
            <a:r>
              <a:rPr lang="en-CA" dirty="0"/>
              <a:t>Rapport de </a:t>
            </a:r>
            <a:r>
              <a:rPr lang="en-CA" dirty="0" err="1"/>
              <a:t>l’auditeur</a:t>
            </a:r>
            <a:endParaRPr lang="fr-CA" dirty="0"/>
          </a:p>
        </p:txBody>
      </p:sp>
      <p:sp>
        <p:nvSpPr>
          <p:cNvPr id="2" name="Organigramme : Alternative 13">
            <a:extLst>
              <a:ext uri="{FF2B5EF4-FFF2-40B4-BE49-F238E27FC236}">
                <a16:creationId xmlns:a16="http://schemas.microsoft.com/office/drawing/2014/main" id="{C08BE21C-E368-B5B6-412E-768C7EB9F91A}"/>
              </a:ext>
            </a:extLst>
          </p:cNvPr>
          <p:cNvSpPr/>
          <p:nvPr/>
        </p:nvSpPr>
        <p:spPr>
          <a:xfrm>
            <a:off x="10149031" y="867008"/>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701</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1853774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F5C18-E3D4-AB49-8EE1-0F3FAEDDD973}"/>
              </a:ext>
            </a:extLst>
          </p:cNvPr>
          <p:cNvSpPr>
            <a:spLocks noGrp="1"/>
          </p:cNvSpPr>
          <p:nvPr>
            <p:ph type="title"/>
          </p:nvPr>
        </p:nvSpPr>
        <p:spPr/>
        <p:txBody>
          <a:bodyPr/>
          <a:lstStyle/>
          <a:p>
            <a:r>
              <a:rPr lang="fr-CA" dirty="0"/>
              <a:t>Continuité de l’exploitation</a:t>
            </a:r>
          </a:p>
        </p:txBody>
      </p:sp>
      <p:sp>
        <p:nvSpPr>
          <p:cNvPr id="3" name="Text Placeholder 2">
            <a:extLst>
              <a:ext uri="{FF2B5EF4-FFF2-40B4-BE49-F238E27FC236}">
                <a16:creationId xmlns:a16="http://schemas.microsoft.com/office/drawing/2014/main" id="{72844C9F-9F9F-A043-BB81-624006C6DE40}"/>
              </a:ext>
            </a:extLst>
          </p:cNvPr>
          <p:cNvSpPr>
            <a:spLocks noGrp="1"/>
          </p:cNvSpPr>
          <p:nvPr>
            <p:ph type="body" idx="1"/>
          </p:nvPr>
        </p:nvSpPr>
        <p:spPr/>
        <p:txBody>
          <a:bodyPr/>
          <a:lstStyle/>
          <a:p>
            <a:endParaRPr lang="fr-CA"/>
          </a:p>
        </p:txBody>
      </p:sp>
      <p:sp>
        <p:nvSpPr>
          <p:cNvPr id="4" name="Slide Number Placeholder 3">
            <a:extLst>
              <a:ext uri="{FF2B5EF4-FFF2-40B4-BE49-F238E27FC236}">
                <a16:creationId xmlns:a16="http://schemas.microsoft.com/office/drawing/2014/main" id="{84FDA581-06E8-964A-9B36-7111F9D96EFF}"/>
              </a:ext>
            </a:extLst>
          </p:cNvPr>
          <p:cNvSpPr>
            <a:spLocks noGrp="1"/>
          </p:cNvSpPr>
          <p:nvPr>
            <p:ph type="sldNum" sz="quarter" idx="12"/>
          </p:nvPr>
        </p:nvSpPr>
        <p:spPr/>
        <p:txBody>
          <a:bodyPr/>
          <a:lstStyle/>
          <a:p>
            <a:fld id="{D57F1E4F-1CFF-5643-939E-02111984F565}" type="slidenum">
              <a:rPr lang="en-US" smtClean="0"/>
              <a:t>77</a:t>
            </a:fld>
            <a:endParaRPr lang="en-US" dirty="0"/>
          </a:p>
        </p:txBody>
      </p:sp>
    </p:spTree>
    <p:extLst>
      <p:ext uri="{BB962C8B-B14F-4D97-AF65-F5344CB8AC3E}">
        <p14:creationId xmlns:p14="http://schemas.microsoft.com/office/powerpoint/2010/main" val="6552151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17351-41B0-F941-B52C-6CB34F5B0435}"/>
              </a:ext>
            </a:extLst>
          </p:cNvPr>
          <p:cNvSpPr>
            <a:spLocks noGrp="1"/>
          </p:cNvSpPr>
          <p:nvPr>
            <p:ph type="title"/>
          </p:nvPr>
        </p:nvSpPr>
        <p:spPr/>
        <p:txBody>
          <a:bodyPr/>
          <a:lstStyle/>
          <a:p>
            <a:r>
              <a:rPr lang="fr-CA" sz="3200" dirty="0"/>
              <a:t>Continuité de l’exploitation (CE)</a:t>
            </a:r>
            <a:endParaRPr lang="fr-CA" dirty="0"/>
          </a:p>
        </p:txBody>
      </p:sp>
      <p:sp>
        <p:nvSpPr>
          <p:cNvPr id="4" name="Slide Number Placeholder 3">
            <a:extLst>
              <a:ext uri="{FF2B5EF4-FFF2-40B4-BE49-F238E27FC236}">
                <a16:creationId xmlns:a16="http://schemas.microsoft.com/office/drawing/2014/main" id="{8EB83386-2FA1-B549-B094-BA29C18D3495}"/>
              </a:ext>
            </a:extLst>
          </p:cNvPr>
          <p:cNvSpPr>
            <a:spLocks noGrp="1"/>
          </p:cNvSpPr>
          <p:nvPr>
            <p:ph type="sldNum" sz="quarter" idx="12"/>
          </p:nvPr>
        </p:nvSpPr>
        <p:spPr/>
        <p:txBody>
          <a:bodyPr/>
          <a:lstStyle/>
          <a:p>
            <a:fld id="{D57F1E4F-1CFF-5643-939E-02111984F565}" type="slidenum">
              <a:rPr lang="en-US" smtClean="0"/>
              <a:t>78</a:t>
            </a:fld>
            <a:endParaRPr lang="en-US" dirty="0"/>
          </a:p>
        </p:txBody>
      </p:sp>
      <p:sp>
        <p:nvSpPr>
          <p:cNvPr id="3" name="Content Placeholder 2">
            <a:extLst>
              <a:ext uri="{FF2B5EF4-FFF2-40B4-BE49-F238E27FC236}">
                <a16:creationId xmlns:a16="http://schemas.microsoft.com/office/drawing/2014/main" id="{9E82E288-8046-9844-B0CC-47C1AB410D24}"/>
              </a:ext>
            </a:extLst>
          </p:cNvPr>
          <p:cNvSpPr>
            <a:spLocks noGrp="1"/>
          </p:cNvSpPr>
          <p:nvPr>
            <p:ph idx="1"/>
          </p:nvPr>
        </p:nvSpPr>
        <p:spPr/>
        <p:txBody>
          <a:bodyPr>
            <a:normAutofit/>
          </a:bodyPr>
          <a:lstStyle/>
          <a:p>
            <a:pPr marL="0" indent="0">
              <a:buNone/>
            </a:pPr>
            <a:r>
              <a:rPr lang="fr-CA" b="1" dirty="0"/>
              <a:t>À l’EFC :</a:t>
            </a:r>
          </a:p>
          <a:p>
            <a:r>
              <a:rPr lang="fr-CA" dirty="0"/>
              <a:t>Y a-t-il des événements ou des situations qui indiquent que l’HCE est remise en doute ? </a:t>
            </a:r>
          </a:p>
          <a:p>
            <a:pPr lvl="1"/>
            <a:r>
              <a:rPr lang="fr-CA" dirty="0"/>
              <a:t>Ex : Pertes depuis plusieurs années, problèmes de liquidités importants, clause restrictive non respectée, endettement trop élevé (emphase récurrente dans le cas, </a:t>
            </a:r>
            <a:r>
              <a:rPr lang="fr-CA" dirty="0" err="1"/>
              <a:t>ÉFs</a:t>
            </a:r>
            <a:r>
              <a:rPr lang="fr-CA" dirty="0"/>
              <a:t>…)</a:t>
            </a:r>
          </a:p>
          <a:p>
            <a:r>
              <a:rPr lang="fr-CA" dirty="0"/>
              <a:t>Si oui, vous devez :</a:t>
            </a:r>
          </a:p>
          <a:p>
            <a:pPr lvl="1"/>
            <a:r>
              <a:rPr lang="fr-CA" dirty="0"/>
              <a:t>Identifier et expliquer avec des faits du cas les événements ou situations qui mettent HCE en doute</a:t>
            </a:r>
          </a:p>
          <a:p>
            <a:pPr lvl="1"/>
            <a:r>
              <a:rPr lang="fr-CA" dirty="0"/>
              <a:t>Impact sur l’évaluation des risques au niveau des </a:t>
            </a:r>
            <a:r>
              <a:rPr lang="fr-CA" dirty="0" err="1"/>
              <a:t>ÉFs</a:t>
            </a:r>
            <a:endParaRPr lang="fr-CA" dirty="0"/>
          </a:p>
          <a:p>
            <a:pPr lvl="1"/>
            <a:r>
              <a:rPr lang="fr-CA" dirty="0"/>
              <a:t>Mettre en œuvre des procédures pour déterminer si les </a:t>
            </a:r>
            <a:r>
              <a:rPr lang="fr-CA" dirty="0" err="1"/>
              <a:t>ÉFs</a:t>
            </a:r>
            <a:r>
              <a:rPr lang="fr-CA" dirty="0"/>
              <a:t> doivent être produits selon l’HCE</a:t>
            </a:r>
          </a:p>
          <a:p>
            <a:pPr lvl="1" algn="just">
              <a:spcBef>
                <a:spcPts val="0"/>
              </a:spcBef>
            </a:pPr>
            <a:r>
              <a:rPr lang="fr-CA" sz="2000" dirty="0"/>
              <a:t>Conclure : déterminer s’il existe une incertitude significative quant à la CE</a:t>
            </a:r>
          </a:p>
          <a:p>
            <a:pPr lvl="1" algn="just">
              <a:spcBef>
                <a:spcPts val="0"/>
              </a:spcBef>
            </a:pPr>
            <a:r>
              <a:rPr lang="fr-CA" sz="2000" dirty="0">
                <a:cs typeface="Times New Roman" panose="02020603050405020304" pitchFamily="18" charset="0"/>
              </a:rPr>
              <a:t>Indiquer l’incidence sur le rapport de l’auditeur</a:t>
            </a:r>
            <a:endParaRPr lang="fr-CA" sz="2000" dirty="0"/>
          </a:p>
          <a:p>
            <a:pPr lvl="1"/>
            <a:endParaRPr lang="fr-CA" dirty="0"/>
          </a:p>
          <a:p>
            <a:pPr lvl="1"/>
            <a:endParaRPr lang="fr-CA" dirty="0"/>
          </a:p>
          <a:p>
            <a:pPr lvl="1"/>
            <a:endParaRPr lang="fr-CA" dirty="0"/>
          </a:p>
          <a:p>
            <a:pPr lvl="1"/>
            <a:endParaRPr lang="fr-CA" dirty="0"/>
          </a:p>
          <a:p>
            <a:endParaRPr lang="fr-CA" dirty="0"/>
          </a:p>
        </p:txBody>
      </p:sp>
    </p:spTree>
    <p:extLst>
      <p:ext uri="{BB962C8B-B14F-4D97-AF65-F5344CB8AC3E}">
        <p14:creationId xmlns:p14="http://schemas.microsoft.com/office/powerpoint/2010/main" val="8391406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4">
            <a:extLst>
              <a:ext uri="{FF2B5EF4-FFF2-40B4-BE49-F238E27FC236}">
                <a16:creationId xmlns:a16="http://schemas.microsoft.com/office/drawing/2014/main" id="{9005D68C-2908-4D4B-A856-277F0805E9EF}"/>
              </a:ext>
            </a:extLst>
          </p:cNvPr>
          <p:cNvGraphicFramePr>
            <a:graphicFrameLocks noGrp="1"/>
          </p:cNvGraphicFramePr>
          <p:nvPr>
            <p:ph idx="1"/>
            <p:extLst>
              <p:ext uri="{D42A27DB-BD31-4B8C-83A1-F6EECF244321}">
                <p14:modId xmlns:p14="http://schemas.microsoft.com/office/powerpoint/2010/main" val="3824596287"/>
              </p:ext>
            </p:extLst>
          </p:nvPr>
        </p:nvGraphicFramePr>
        <p:xfrm>
          <a:off x="238125" y="1438274"/>
          <a:ext cx="11810999" cy="49180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39A09E5E-FE37-FC48-B2FC-E8918CCC4CA6}"/>
              </a:ext>
            </a:extLst>
          </p:cNvPr>
          <p:cNvSpPr txBox="1"/>
          <p:nvPr/>
        </p:nvSpPr>
        <p:spPr>
          <a:xfrm>
            <a:off x="4187687" y="530087"/>
            <a:ext cx="0" cy="0"/>
          </a:xfrm>
          <a:prstGeom prst="rect">
            <a:avLst/>
          </a:prstGeom>
        </p:spPr>
        <p:txBody>
          <a:bodyPr vert="horz" wrap="none" lIns="91440" tIns="45720" rIns="91440" bIns="45720" rtlCol="0">
            <a:normAutofit fontScale="25000" lnSpcReduction="20000"/>
          </a:bodyPr>
          <a:lstStyle/>
          <a:p>
            <a:pPr>
              <a:buClr>
                <a:schemeClr val="accent2"/>
              </a:buClr>
              <a:buSzPct val="125000"/>
            </a:pPr>
            <a:endParaRPr lang="fr-CA" sz="1670" dirty="0"/>
          </a:p>
        </p:txBody>
      </p:sp>
      <p:sp>
        <p:nvSpPr>
          <p:cNvPr id="8" name="TextBox 7">
            <a:extLst>
              <a:ext uri="{FF2B5EF4-FFF2-40B4-BE49-F238E27FC236}">
                <a16:creationId xmlns:a16="http://schemas.microsoft.com/office/drawing/2014/main" id="{6E9CC089-D2E1-B349-8B82-2390BDFEA42B}"/>
              </a:ext>
            </a:extLst>
          </p:cNvPr>
          <p:cNvSpPr txBox="1"/>
          <p:nvPr/>
        </p:nvSpPr>
        <p:spPr>
          <a:xfrm>
            <a:off x="357809" y="497371"/>
            <a:ext cx="2955234" cy="940904"/>
          </a:xfrm>
          <a:prstGeom prst="rect">
            <a:avLst/>
          </a:prstGeom>
        </p:spPr>
        <p:txBody>
          <a:bodyPr vert="horz" wrap="square" lIns="91440" tIns="45720" rIns="91440" bIns="45720" rtlCol="0">
            <a:normAutofit/>
          </a:bodyPr>
          <a:lstStyle/>
          <a:p>
            <a:pPr>
              <a:buClr>
                <a:schemeClr val="accent2"/>
              </a:buClr>
              <a:buSzPct val="125000"/>
            </a:pPr>
            <a:r>
              <a:rPr lang="fr-CA" sz="5400" dirty="0"/>
              <a:t>HCE</a:t>
            </a:r>
          </a:p>
        </p:txBody>
      </p:sp>
      <p:sp>
        <p:nvSpPr>
          <p:cNvPr id="2" name="Espace réservé du numéro de diapositive 1">
            <a:extLst>
              <a:ext uri="{FF2B5EF4-FFF2-40B4-BE49-F238E27FC236}">
                <a16:creationId xmlns:a16="http://schemas.microsoft.com/office/drawing/2014/main" id="{BC824F0F-4E0A-0945-8420-D8C51EEEDBF8}"/>
              </a:ext>
            </a:extLst>
          </p:cNvPr>
          <p:cNvSpPr>
            <a:spLocks noGrp="1"/>
          </p:cNvSpPr>
          <p:nvPr>
            <p:ph type="sldNum" sz="quarter" idx="12"/>
          </p:nvPr>
        </p:nvSpPr>
        <p:spPr/>
        <p:txBody>
          <a:bodyPr/>
          <a:lstStyle/>
          <a:p>
            <a:fld id="{D57F1E4F-1CFF-5643-939E-02111984F565}" type="slidenum">
              <a:rPr lang="en-US" smtClean="0"/>
              <a:t>79</a:t>
            </a:fld>
            <a:endParaRPr lang="en-US" dirty="0"/>
          </a:p>
        </p:txBody>
      </p:sp>
    </p:spTree>
    <p:extLst>
      <p:ext uri="{BB962C8B-B14F-4D97-AF65-F5344CB8AC3E}">
        <p14:creationId xmlns:p14="http://schemas.microsoft.com/office/powerpoint/2010/main" val="108543689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7541" y="0"/>
            <a:ext cx="11967083" cy="630841"/>
          </a:xfrm>
        </p:spPr>
        <p:txBody>
          <a:bodyPr>
            <a:normAutofit fontScale="90000"/>
          </a:bodyPr>
          <a:lstStyle/>
          <a:p>
            <a:r>
              <a:rPr lang="fr-CA" sz="3600" b="1" dirty="0"/>
              <a:t>Continuité de l’exploitation (CE)</a:t>
            </a:r>
          </a:p>
        </p:txBody>
      </p:sp>
      <p:sp>
        <p:nvSpPr>
          <p:cNvPr id="3" name="Espace réservé du contenu 2"/>
          <p:cNvSpPr>
            <a:spLocks noGrp="1"/>
          </p:cNvSpPr>
          <p:nvPr>
            <p:ph idx="1"/>
          </p:nvPr>
        </p:nvSpPr>
        <p:spPr>
          <a:xfrm>
            <a:off x="87542" y="748145"/>
            <a:ext cx="11967081" cy="5974627"/>
          </a:xfrm>
        </p:spPr>
        <p:txBody>
          <a:bodyPr>
            <a:normAutofit/>
          </a:bodyPr>
          <a:lstStyle/>
          <a:p>
            <a:pPr marL="0" indent="0" algn="just">
              <a:lnSpc>
                <a:spcPct val="100000"/>
              </a:lnSpc>
              <a:spcBef>
                <a:spcPts val="0"/>
              </a:spcBef>
              <a:buNone/>
            </a:pPr>
            <a:r>
              <a:rPr lang="fr-CA" sz="1800" b="1" dirty="0">
                <a:cs typeface="Times New Roman" panose="02020603050405020304" pitchFamily="18" charset="0"/>
              </a:rPr>
              <a:t>INTRODUCTION</a:t>
            </a:r>
          </a:p>
          <a:p>
            <a:pPr marL="0" indent="0" algn="just">
              <a:lnSpc>
                <a:spcPct val="100000"/>
              </a:lnSpc>
              <a:spcBef>
                <a:spcPts val="0"/>
              </a:spcBef>
              <a:buNone/>
            </a:pPr>
            <a:r>
              <a:rPr lang="fr-CA" sz="1800" b="1" dirty="0">
                <a:cs typeface="Times New Roman" panose="02020603050405020304" pitchFamily="18" charset="0"/>
              </a:rPr>
              <a:t>Principe comptable de continuité d'exploitation (CE)</a:t>
            </a:r>
          </a:p>
          <a:p>
            <a:pPr algn="just">
              <a:spcBef>
                <a:spcPts val="0"/>
              </a:spcBef>
            </a:pPr>
            <a:r>
              <a:rPr lang="fr-CA" sz="1800" dirty="0">
                <a:cs typeface="Times New Roman" panose="02020603050405020304" pitchFamily="18" charset="0"/>
              </a:rPr>
              <a:t>Hypothèse que l’entité est en situation de CE </a:t>
            </a:r>
            <a:r>
              <a:rPr lang="fr-CA" sz="1800" dirty="0"/>
              <a:t>et qu’elle p</a:t>
            </a:r>
            <a:r>
              <a:rPr lang="fr-CA" sz="1800" dirty="0">
                <a:cs typeface="Times New Roman" panose="02020603050405020304" pitchFamily="18" charset="0"/>
              </a:rPr>
              <a:t>oursuivra ses activités dans un avenir prévisible (minimum 12 mois). </a:t>
            </a:r>
          </a:p>
          <a:p>
            <a:pPr lvl="1" algn="just">
              <a:spcBef>
                <a:spcPts val="0"/>
              </a:spcBef>
            </a:pPr>
            <a:r>
              <a:rPr lang="fr-CA" sz="1800" dirty="0">
                <a:cs typeface="Times New Roman" panose="02020603050405020304" pitchFamily="18" charset="0"/>
              </a:rPr>
              <a:t>Les </a:t>
            </a:r>
            <a:r>
              <a:rPr lang="fr-CA" sz="1800" dirty="0" err="1">
                <a:cs typeface="Times New Roman" panose="02020603050405020304" pitchFamily="18" charset="0"/>
              </a:rPr>
              <a:t>ÉFs</a:t>
            </a:r>
            <a:r>
              <a:rPr lang="fr-CA" sz="1800" dirty="0">
                <a:cs typeface="Times New Roman" panose="02020603050405020304" pitchFamily="18" charset="0"/>
              </a:rPr>
              <a:t> à usage général sont préparés selon le principe de CE, sauf si la direction a l’intention de liquider l’entité ou de cesser ses activités ou si aucune autre solution réaliste ne s’offre à elle. </a:t>
            </a:r>
          </a:p>
          <a:p>
            <a:pPr lvl="1" algn="just">
              <a:spcBef>
                <a:spcPts val="0"/>
              </a:spcBef>
              <a:spcAft>
                <a:spcPts val="0"/>
              </a:spcAft>
            </a:pPr>
            <a:r>
              <a:rPr lang="fr-CA" sz="1800" dirty="0">
                <a:cs typeface="Times New Roman" panose="02020603050405020304" pitchFamily="18" charset="0"/>
              </a:rPr>
              <a:t>Lorsqu’il est justifié d’appliquer le principe de CE, on comptabilise les actifs/passifs en considérant qu’ils seront réalisés/réglés dans le cadre normal de ses activités. </a:t>
            </a:r>
          </a:p>
          <a:p>
            <a:pPr marL="0" indent="0" algn="just">
              <a:lnSpc>
                <a:spcPct val="110000"/>
              </a:lnSpc>
              <a:spcBef>
                <a:spcPts val="0"/>
              </a:spcBef>
              <a:buNone/>
            </a:pPr>
            <a:endParaRPr lang="fr-CA" sz="1800" dirty="0">
              <a:cs typeface="Times New Roman" panose="02020603050405020304" pitchFamily="18" charset="0"/>
            </a:endParaRPr>
          </a:p>
          <a:p>
            <a:pPr marL="0" indent="0" algn="just">
              <a:lnSpc>
                <a:spcPct val="110000"/>
              </a:lnSpc>
              <a:spcBef>
                <a:spcPts val="0"/>
              </a:spcBef>
              <a:buNone/>
            </a:pPr>
            <a:r>
              <a:rPr lang="fr-CA" sz="1800" b="1" dirty="0">
                <a:cs typeface="Times New Roman" panose="02020603050405020304" pitchFamily="18" charset="0"/>
              </a:rPr>
              <a:t>Responsabilité de l’évaluation de la capacité de l'entité à poursuivre son exploitation</a:t>
            </a:r>
          </a:p>
          <a:p>
            <a:pPr algn="just">
              <a:spcBef>
                <a:spcPts val="0"/>
              </a:spcBef>
            </a:pPr>
            <a:r>
              <a:rPr lang="fr-CA" sz="1800" dirty="0">
                <a:cs typeface="Times New Roman" panose="02020603050405020304" pitchFamily="18" charset="0"/>
              </a:rPr>
              <a:t>Lorsque le principe comptable de CE constitue un principe de base de la préparation des </a:t>
            </a:r>
            <a:r>
              <a:rPr lang="fr-CA" sz="1800" dirty="0" err="1">
                <a:cs typeface="Times New Roman" panose="02020603050405020304" pitchFamily="18" charset="0"/>
              </a:rPr>
              <a:t>ÉFs</a:t>
            </a:r>
            <a:r>
              <a:rPr lang="fr-CA" sz="1800" dirty="0">
                <a:cs typeface="Times New Roman" panose="02020603050405020304" pitchFamily="18" charset="0"/>
              </a:rPr>
              <a:t>, cette  préparation </a:t>
            </a:r>
            <a:r>
              <a:rPr lang="fr-CA" sz="1800" u="sng" dirty="0">
                <a:cs typeface="Times New Roman" panose="02020603050405020304" pitchFamily="18" charset="0"/>
              </a:rPr>
              <a:t>exige que la direction évalue</a:t>
            </a:r>
            <a:r>
              <a:rPr lang="fr-CA" sz="1800" dirty="0">
                <a:cs typeface="Times New Roman" panose="02020603050405020304" pitchFamily="18" charset="0"/>
              </a:rPr>
              <a:t> la capacité de l’entité à poursuivre son exploitation… </a:t>
            </a:r>
            <a:endParaRPr lang="fr-CA" sz="1800" dirty="0"/>
          </a:p>
          <a:p>
            <a:pPr marL="0" indent="0" algn="just">
              <a:lnSpc>
                <a:spcPct val="110000"/>
              </a:lnSpc>
              <a:spcBef>
                <a:spcPts val="0"/>
              </a:spcBef>
              <a:buNone/>
            </a:pPr>
            <a:endParaRPr lang="fr-CA" sz="1800" i="1" dirty="0">
              <a:cs typeface="Times New Roman" panose="02020603050405020304" pitchFamily="18" charset="0"/>
            </a:endParaRPr>
          </a:p>
          <a:p>
            <a:pPr marL="0" indent="0" algn="just">
              <a:lnSpc>
                <a:spcPct val="110000"/>
              </a:lnSpc>
              <a:spcBef>
                <a:spcPts val="0"/>
              </a:spcBef>
              <a:buNone/>
            </a:pPr>
            <a:r>
              <a:rPr lang="fr-CA" sz="1800" i="1" dirty="0">
                <a:cs typeface="Times New Roman" panose="02020603050405020304" pitchFamily="18" charset="0"/>
              </a:rPr>
              <a:t>Responsabilité de l’auditeur</a:t>
            </a:r>
          </a:p>
          <a:p>
            <a:pPr algn="just">
              <a:spcBef>
                <a:spcPts val="0"/>
              </a:spcBef>
            </a:pPr>
            <a:r>
              <a:rPr lang="fr-CA" sz="1800" dirty="0">
                <a:cs typeface="Times New Roman" panose="02020603050405020304" pitchFamily="18" charset="0"/>
              </a:rPr>
              <a:t>Obtenir des éléments probants sur le caractère approprié de l’application par la direction de l’HCE dans la préparation des </a:t>
            </a:r>
            <a:r>
              <a:rPr lang="fr-CA" sz="1800" dirty="0" err="1">
                <a:cs typeface="Times New Roman" panose="02020603050405020304" pitchFamily="18" charset="0"/>
              </a:rPr>
              <a:t>ÉFs</a:t>
            </a:r>
            <a:r>
              <a:rPr lang="fr-CA" sz="1800" dirty="0">
                <a:cs typeface="Times New Roman" panose="02020603050405020304" pitchFamily="18" charset="0"/>
              </a:rPr>
              <a:t> </a:t>
            </a:r>
            <a:r>
              <a:rPr lang="fr-CA" sz="1800" i="1" u="sng" dirty="0">
                <a:cs typeface="Times New Roman" panose="02020603050405020304" pitchFamily="18" charset="0"/>
              </a:rPr>
              <a:t>et</a:t>
            </a:r>
            <a:r>
              <a:rPr lang="fr-CA" sz="1800" dirty="0">
                <a:cs typeface="Times New Roman" panose="02020603050405020304" pitchFamily="18" charset="0"/>
              </a:rPr>
              <a:t> de </a:t>
            </a:r>
            <a:r>
              <a:rPr lang="fr-CA" sz="1800" u="sng" dirty="0">
                <a:cs typeface="Times New Roman" panose="02020603050405020304" pitchFamily="18" charset="0"/>
              </a:rPr>
              <a:t>tirer une conclusion</a:t>
            </a:r>
            <a:r>
              <a:rPr lang="fr-CA" sz="1800" dirty="0">
                <a:cs typeface="Times New Roman" panose="02020603050405020304" pitchFamily="18" charset="0"/>
              </a:rPr>
              <a:t> quant à l’existence ou non d’une incertitude significative. </a:t>
            </a:r>
          </a:p>
          <a:p>
            <a:pPr algn="just">
              <a:spcBef>
                <a:spcPts val="0"/>
              </a:spcBef>
            </a:pPr>
            <a:r>
              <a:rPr lang="fr-CA" sz="1800" dirty="0">
                <a:cs typeface="Times New Roman" panose="02020603050405020304" pitchFamily="18" charset="0"/>
              </a:rPr>
              <a:t>L’absence d’une quelconque mention dans le rapport d’audit d’une incertitude significative sur la capacité de l’entité à poursuivre son exploitation ne peut être considérée comme une garantie de la capacité de l’entité à poursuivre son exploitation (limite inhérente).</a:t>
            </a:r>
          </a:p>
          <a:p>
            <a:pPr marL="0" indent="0">
              <a:buNone/>
            </a:pPr>
            <a:endParaRPr lang="fr-CA" sz="1800" b="1" dirty="0">
              <a:solidFill>
                <a:srgbClr val="0070C0"/>
              </a:solidFill>
              <a:cs typeface="Times New Roman" panose="02020603050405020304" pitchFamily="18" charset="0"/>
            </a:endParaRPr>
          </a:p>
          <a:p>
            <a:pPr lvl="1"/>
            <a:endParaRPr lang="fr-CA" dirty="0"/>
          </a:p>
        </p:txBody>
      </p:sp>
      <p:sp>
        <p:nvSpPr>
          <p:cNvPr id="4" name="Espace réservé du numéro de diapositive 3">
            <a:extLst>
              <a:ext uri="{FF2B5EF4-FFF2-40B4-BE49-F238E27FC236}">
                <a16:creationId xmlns:a16="http://schemas.microsoft.com/office/drawing/2014/main" id="{59A614D2-DD1B-BD4C-8833-0CF242FD2DC1}"/>
              </a:ext>
            </a:extLst>
          </p:cNvPr>
          <p:cNvSpPr>
            <a:spLocks noGrp="1"/>
          </p:cNvSpPr>
          <p:nvPr>
            <p:ph type="sldNum" sz="quarter" idx="12"/>
          </p:nvPr>
        </p:nvSpPr>
        <p:spPr/>
        <p:txBody>
          <a:bodyPr/>
          <a:lstStyle/>
          <a:p>
            <a:fld id="{D57F1E4F-1CFF-5643-939E-02111984F565}" type="slidenum">
              <a:rPr lang="en-US" smtClean="0"/>
              <a:t>80</a:t>
            </a:fld>
            <a:endParaRPr lang="en-US" dirty="0"/>
          </a:p>
        </p:txBody>
      </p:sp>
      <p:sp>
        <p:nvSpPr>
          <p:cNvPr id="5" name="Organigramme : Alternative 13">
            <a:extLst>
              <a:ext uri="{FF2B5EF4-FFF2-40B4-BE49-F238E27FC236}">
                <a16:creationId xmlns:a16="http://schemas.microsoft.com/office/drawing/2014/main" id="{D66F6B03-1AC9-92C1-22C4-83B2017D7A03}"/>
              </a:ext>
            </a:extLst>
          </p:cNvPr>
          <p:cNvSpPr/>
          <p:nvPr/>
        </p:nvSpPr>
        <p:spPr>
          <a:xfrm>
            <a:off x="10502714" y="113029"/>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570</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880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7541" y="0"/>
            <a:ext cx="11967083" cy="630841"/>
          </a:xfrm>
        </p:spPr>
        <p:txBody>
          <a:bodyPr>
            <a:normAutofit fontScale="90000"/>
          </a:bodyPr>
          <a:lstStyle/>
          <a:p>
            <a:r>
              <a:rPr lang="fr-CA" sz="3600" b="1" dirty="0"/>
              <a:t>Continuité de l’exploitation (CE)</a:t>
            </a:r>
          </a:p>
        </p:txBody>
      </p:sp>
      <p:sp>
        <p:nvSpPr>
          <p:cNvPr id="3" name="Espace réservé du contenu 2"/>
          <p:cNvSpPr>
            <a:spLocks noGrp="1"/>
          </p:cNvSpPr>
          <p:nvPr>
            <p:ph idx="1"/>
          </p:nvPr>
        </p:nvSpPr>
        <p:spPr>
          <a:xfrm>
            <a:off x="87541" y="705064"/>
            <a:ext cx="11967081" cy="5891499"/>
          </a:xfrm>
        </p:spPr>
        <p:txBody>
          <a:bodyPr>
            <a:normAutofit fontScale="92500"/>
          </a:bodyPr>
          <a:lstStyle/>
          <a:p>
            <a:pPr marL="0" indent="0" algn="just">
              <a:lnSpc>
                <a:spcPct val="100000"/>
              </a:lnSpc>
              <a:spcBef>
                <a:spcPts val="0"/>
              </a:spcBef>
              <a:buNone/>
            </a:pPr>
            <a:r>
              <a:rPr lang="fr-CA" sz="1800" b="1" dirty="0">
                <a:cs typeface="Times New Roman" panose="02020603050405020304" pitchFamily="18" charset="0"/>
              </a:rPr>
              <a:t>EXIGENCES</a:t>
            </a:r>
          </a:p>
          <a:p>
            <a:pPr marL="0" indent="0" algn="just">
              <a:lnSpc>
                <a:spcPct val="100000"/>
              </a:lnSpc>
              <a:spcBef>
                <a:spcPts val="0"/>
              </a:spcBef>
              <a:buNone/>
            </a:pPr>
            <a:r>
              <a:rPr lang="fr-CA" sz="1800" b="1" dirty="0">
                <a:cs typeface="Times New Roman" panose="02020603050405020304" pitchFamily="18" charset="0"/>
              </a:rPr>
              <a:t>Procédures d’évaluation des risques</a:t>
            </a:r>
          </a:p>
          <a:p>
            <a:pPr algn="just">
              <a:lnSpc>
                <a:spcPct val="100000"/>
              </a:lnSpc>
              <a:spcBef>
                <a:spcPts val="0"/>
              </a:spcBef>
            </a:pPr>
            <a:r>
              <a:rPr lang="fr-CA" sz="1800" dirty="0">
                <a:cs typeface="Times New Roman" panose="02020603050405020304" pitchFamily="18" charset="0"/>
              </a:rPr>
              <a:t>L’auditeur doit :</a:t>
            </a:r>
          </a:p>
          <a:p>
            <a:pPr lvl="1" algn="just">
              <a:lnSpc>
                <a:spcPct val="100000"/>
              </a:lnSpc>
              <a:spcBef>
                <a:spcPts val="0"/>
              </a:spcBef>
            </a:pPr>
            <a:r>
              <a:rPr lang="fr-CA" sz="1800" dirty="0">
                <a:cs typeface="Times New Roman" panose="02020603050405020304" pitchFamily="18" charset="0"/>
              </a:rPr>
              <a:t>Examiner s’il existe des </a:t>
            </a:r>
            <a:r>
              <a:rPr lang="fr-CA" sz="1800" b="1" dirty="0">
                <a:cs typeface="Times New Roman" panose="02020603050405020304" pitchFamily="18" charset="0"/>
              </a:rPr>
              <a:t>événements</a:t>
            </a:r>
            <a:r>
              <a:rPr lang="fr-CA" sz="1800" dirty="0">
                <a:cs typeface="Times New Roman" panose="02020603050405020304" pitchFamily="18" charset="0"/>
              </a:rPr>
              <a:t> ou des </a:t>
            </a:r>
            <a:r>
              <a:rPr lang="fr-CA" sz="1800" b="1" dirty="0">
                <a:cs typeface="Times New Roman" panose="02020603050405020304" pitchFamily="18" charset="0"/>
              </a:rPr>
              <a:t>situations</a:t>
            </a:r>
            <a:r>
              <a:rPr lang="fr-CA" sz="1800" dirty="0">
                <a:cs typeface="Times New Roman" panose="02020603050405020304" pitchFamily="18" charset="0"/>
              </a:rPr>
              <a:t> </a:t>
            </a:r>
            <a:r>
              <a:rPr lang="fr-CA" sz="1800" b="1" i="1" dirty="0">
                <a:cs typeface="Times New Roman" panose="02020603050405020304" pitchFamily="18" charset="0"/>
              </a:rPr>
              <a:t>susceptibles</a:t>
            </a:r>
            <a:r>
              <a:rPr lang="fr-CA" sz="1800" dirty="0">
                <a:cs typeface="Times New Roman" panose="02020603050405020304" pitchFamily="18" charset="0"/>
              </a:rPr>
              <a:t> de </a:t>
            </a:r>
            <a:r>
              <a:rPr lang="fr-CA" sz="1800" i="1" dirty="0">
                <a:cs typeface="Times New Roman" panose="02020603050405020304" pitchFamily="18" charset="0"/>
              </a:rPr>
              <a:t>jeter un doute important</a:t>
            </a:r>
            <a:r>
              <a:rPr lang="fr-CA" sz="1800" dirty="0">
                <a:cs typeface="Times New Roman" panose="02020603050405020304" pitchFamily="18" charset="0"/>
              </a:rPr>
              <a:t> sur la capacité de l’entité à poursuivre son exploitation [indicateurs financiers ou opérationnels].</a:t>
            </a:r>
          </a:p>
          <a:p>
            <a:pPr lvl="1" algn="just">
              <a:lnSpc>
                <a:spcPct val="100000"/>
              </a:lnSpc>
              <a:spcBef>
                <a:spcPts val="0"/>
              </a:spcBef>
            </a:pPr>
            <a:r>
              <a:rPr lang="fr-CA" sz="1800" dirty="0">
                <a:cs typeface="Times New Roman" panose="02020603050405020304" pitchFamily="18" charset="0"/>
              </a:rPr>
              <a:t>Déterminer si la direction a fait une </a:t>
            </a:r>
            <a:r>
              <a:rPr lang="fr-CA" sz="1800" b="1" dirty="0">
                <a:cs typeface="Times New Roman" panose="02020603050405020304" pitchFamily="18" charset="0"/>
              </a:rPr>
              <a:t>évaluation préliminaire </a:t>
            </a:r>
            <a:r>
              <a:rPr lang="fr-CA" sz="1800" i="1" dirty="0">
                <a:cs typeface="Times New Roman" panose="02020603050405020304" pitchFamily="18" charset="0"/>
              </a:rPr>
              <a:t>de la capacité de l’entité à poursuivre son exploitation</a:t>
            </a:r>
            <a:r>
              <a:rPr lang="fr-CA" sz="1800" dirty="0">
                <a:cs typeface="Times New Roman" panose="02020603050405020304" pitchFamily="18" charset="0"/>
              </a:rPr>
              <a:t>, et : </a:t>
            </a:r>
          </a:p>
          <a:p>
            <a:pPr marL="1060020" lvl="2" indent="-342900" algn="just">
              <a:lnSpc>
                <a:spcPct val="100000"/>
              </a:lnSpc>
              <a:spcBef>
                <a:spcPts val="0"/>
              </a:spcBef>
              <a:buFont typeface="+mj-lt"/>
              <a:buAutoNum type="alphaLcParenR"/>
            </a:pPr>
            <a:r>
              <a:rPr lang="fr-CA" sz="1800" dirty="0">
                <a:cs typeface="Times New Roman" panose="02020603050405020304" pitchFamily="18" charset="0"/>
              </a:rPr>
              <a:t>Si oui: en discuter avec la direction</a:t>
            </a:r>
            <a:r>
              <a:rPr lang="fr-CA" sz="1800" dirty="0"/>
              <a:t> ●</a:t>
            </a:r>
            <a:r>
              <a:rPr lang="fr-CA" sz="1800" dirty="0">
                <a:cs typeface="Times New Roman" panose="02020603050405020304" pitchFamily="18" charset="0"/>
              </a:rPr>
              <a:t> discuter du plan pour y faire face, s’il y a lieu.</a:t>
            </a:r>
          </a:p>
          <a:p>
            <a:pPr marL="1060020" lvl="2" indent="-342900" algn="just">
              <a:lnSpc>
                <a:spcPct val="100000"/>
              </a:lnSpc>
              <a:spcBef>
                <a:spcPts val="0"/>
              </a:spcBef>
              <a:buFont typeface="+mj-lt"/>
              <a:buAutoNum type="alphaLcParenR"/>
            </a:pPr>
            <a:r>
              <a:rPr lang="fr-CA" sz="1800" dirty="0">
                <a:cs typeface="Times New Roman" panose="02020603050405020304" pitchFamily="18" charset="0"/>
              </a:rPr>
              <a:t>Si non: questionner la direction – voir s’il existe événements/situations susceptibles de jeter un doute important sur la capacité de l’entité à poursuivre son exploitation… </a:t>
            </a:r>
          </a:p>
          <a:p>
            <a:pPr algn="just">
              <a:lnSpc>
                <a:spcPct val="100000"/>
              </a:lnSpc>
              <a:spcBef>
                <a:spcPts val="0"/>
              </a:spcBef>
            </a:pPr>
            <a:r>
              <a:rPr lang="fr-CA" sz="1800" b="1" dirty="0">
                <a:cs typeface="Times New Roman" panose="02020603050405020304" pitchFamily="18" charset="0"/>
              </a:rPr>
              <a:t>Tout au long de sa mission</a:t>
            </a:r>
            <a:r>
              <a:rPr lang="fr-CA" sz="1800" dirty="0">
                <a:cs typeface="Times New Roman" panose="02020603050405020304" pitchFamily="18" charset="0"/>
              </a:rPr>
              <a:t>, l’auditeur doit rester attentif aux éléments probants (ÉP) pouvant concerner les questions de CE.</a:t>
            </a:r>
          </a:p>
          <a:p>
            <a:pPr marL="0" indent="0" algn="just">
              <a:lnSpc>
                <a:spcPct val="100000"/>
              </a:lnSpc>
              <a:spcBef>
                <a:spcPts val="0"/>
              </a:spcBef>
              <a:buNone/>
            </a:pPr>
            <a:endParaRPr lang="fr-CA" sz="1800" b="1" dirty="0">
              <a:cs typeface="Times New Roman" panose="02020603050405020304" pitchFamily="18" charset="0"/>
            </a:endParaRPr>
          </a:p>
          <a:p>
            <a:pPr marL="0" indent="0" algn="just">
              <a:lnSpc>
                <a:spcPct val="100000"/>
              </a:lnSpc>
              <a:spcBef>
                <a:spcPts val="0"/>
              </a:spcBef>
              <a:buNone/>
            </a:pPr>
            <a:r>
              <a:rPr lang="fr-CA" sz="1800" b="1" dirty="0">
                <a:cs typeface="Times New Roman" panose="02020603050405020304" pitchFamily="18" charset="0"/>
              </a:rPr>
              <a:t>Appréciation de l’évaluation préliminaire faite par la direction</a:t>
            </a:r>
          </a:p>
          <a:p>
            <a:pPr marL="0" indent="0" algn="just">
              <a:lnSpc>
                <a:spcPct val="100000"/>
              </a:lnSpc>
              <a:spcBef>
                <a:spcPts val="0"/>
              </a:spcBef>
              <a:buNone/>
            </a:pPr>
            <a:endParaRPr lang="fr-CA" sz="1800" b="1" dirty="0">
              <a:cs typeface="Times New Roman" panose="02020603050405020304" pitchFamily="18" charset="0"/>
            </a:endParaRPr>
          </a:p>
          <a:p>
            <a:pPr marL="0" indent="0" algn="just">
              <a:lnSpc>
                <a:spcPct val="100000"/>
              </a:lnSpc>
              <a:spcBef>
                <a:spcPts val="0"/>
              </a:spcBef>
              <a:buNone/>
            </a:pPr>
            <a:r>
              <a:rPr lang="fr-CA" sz="1800" b="1" dirty="0">
                <a:cs typeface="Times New Roman" panose="02020603050405020304" pitchFamily="18" charset="0"/>
              </a:rPr>
              <a:t>Procédures d’audit supplémentaires si événements ou situations sont relevés </a:t>
            </a:r>
            <a:r>
              <a:rPr lang="fr-CA" sz="1800" b="1" i="1" dirty="0">
                <a:cs typeface="Times New Roman" panose="02020603050405020304" pitchFamily="18" charset="0"/>
              </a:rPr>
              <a:t>– Incertitudes significatives ? </a:t>
            </a:r>
            <a:r>
              <a:rPr lang="fr-CA" sz="1800" b="1" dirty="0">
                <a:cs typeface="Times New Roman" panose="02020603050405020304" pitchFamily="18" charset="0"/>
              </a:rPr>
              <a:t> </a:t>
            </a:r>
          </a:p>
          <a:p>
            <a:pPr marL="0" indent="0" algn="just">
              <a:lnSpc>
                <a:spcPct val="100000"/>
              </a:lnSpc>
              <a:spcBef>
                <a:spcPts val="0"/>
              </a:spcBef>
              <a:buNone/>
            </a:pPr>
            <a:r>
              <a:rPr lang="fr-CA" sz="1800" dirty="0">
                <a:cs typeface="Times New Roman" panose="02020603050405020304" pitchFamily="18" charset="0"/>
              </a:rPr>
              <a:t>Si événements ou situations </a:t>
            </a:r>
            <a:r>
              <a:rPr lang="fr-CA" sz="1800" i="1" dirty="0">
                <a:cs typeface="Times New Roman" panose="02020603050405020304" pitchFamily="18" charset="0"/>
              </a:rPr>
              <a:t>susceptibles de jeter un doute important sur la capacité de l’entité à poursuivre son exploitation</a:t>
            </a:r>
            <a:r>
              <a:rPr lang="fr-CA" sz="1800" dirty="0">
                <a:cs typeface="Times New Roman" panose="02020603050405020304" pitchFamily="18" charset="0"/>
              </a:rPr>
              <a:t>, l’auditeur doit </a:t>
            </a:r>
            <a:r>
              <a:rPr lang="fr-CA" sz="1800" b="1" dirty="0">
                <a:cs typeface="Times New Roman" panose="02020603050405020304" pitchFamily="18" charset="0"/>
              </a:rPr>
              <a:t>déterminer s’il existe ou non incertitude significative </a:t>
            </a:r>
            <a:r>
              <a:rPr lang="fr-CA" sz="1800" dirty="0">
                <a:cs typeface="Times New Roman" panose="02020603050405020304" pitchFamily="18" charset="0"/>
              </a:rPr>
              <a:t>liée à ces événements ou situations : </a:t>
            </a:r>
          </a:p>
          <a:p>
            <a:pPr lvl="1" algn="just">
              <a:lnSpc>
                <a:spcPct val="100000"/>
              </a:lnSpc>
              <a:spcBef>
                <a:spcPts val="0"/>
              </a:spcBef>
            </a:pPr>
            <a:r>
              <a:rPr lang="fr-CA" sz="1800" i="1" dirty="0">
                <a:cs typeface="Times New Roman" panose="02020603050405020304" pitchFamily="18" charset="0"/>
              </a:rPr>
              <a:t>Obtenir plans d’action établis par la direction </a:t>
            </a:r>
            <a:r>
              <a:rPr lang="fr-CA" sz="1800" i="1" dirty="0"/>
              <a:t>● Évaluer améliorations potentielles et faisabilité. </a:t>
            </a:r>
          </a:p>
          <a:p>
            <a:pPr lvl="1" algn="just">
              <a:lnSpc>
                <a:spcPct val="100000"/>
              </a:lnSpc>
              <a:spcBef>
                <a:spcPts val="0"/>
              </a:spcBef>
            </a:pPr>
            <a:r>
              <a:rPr lang="fr-CA" sz="1800" i="1" dirty="0">
                <a:cs typeface="Times New Roman" panose="02020603050405020304" pitchFamily="18" charset="0"/>
              </a:rPr>
              <a:t>Si prévisions de trésorerie disponibles : Évaluer fiabilité des données sous-jacentes ● Justification des hypothèses. </a:t>
            </a:r>
          </a:p>
          <a:p>
            <a:pPr lvl="1" algn="just">
              <a:lnSpc>
                <a:spcPct val="100000"/>
              </a:lnSpc>
              <a:spcBef>
                <a:spcPts val="0"/>
              </a:spcBef>
            </a:pPr>
            <a:r>
              <a:rPr lang="fr-CA" sz="1800" i="1" dirty="0">
                <a:cs typeface="Times New Roman" panose="02020603050405020304" pitchFamily="18" charset="0"/>
              </a:rPr>
              <a:t>Demander déclarations écrites particulières de la direction concernant les plans d’action.  </a:t>
            </a:r>
          </a:p>
          <a:p>
            <a:pPr lvl="1" algn="just">
              <a:lnSpc>
                <a:spcPct val="100000"/>
              </a:lnSpc>
              <a:spcBef>
                <a:spcPts val="0"/>
              </a:spcBef>
            </a:pPr>
            <a:r>
              <a:rPr lang="fr-CA" sz="1800" i="1" dirty="0">
                <a:cs typeface="Times New Roman" panose="02020603050405020304" pitchFamily="18" charset="0"/>
              </a:rPr>
              <a:t>[Confirmation bancaire, Confirmation avec les conseillers juridiques,…] </a:t>
            </a:r>
            <a:endParaRPr lang="fr-CA" i="1" dirty="0"/>
          </a:p>
        </p:txBody>
      </p:sp>
      <p:sp>
        <p:nvSpPr>
          <p:cNvPr id="4" name="Espace réservé du numéro de diapositive 3">
            <a:extLst>
              <a:ext uri="{FF2B5EF4-FFF2-40B4-BE49-F238E27FC236}">
                <a16:creationId xmlns:a16="http://schemas.microsoft.com/office/drawing/2014/main" id="{65C698FD-E3E3-7E48-A6F3-0D97BE0BBF3E}"/>
              </a:ext>
            </a:extLst>
          </p:cNvPr>
          <p:cNvSpPr>
            <a:spLocks noGrp="1"/>
          </p:cNvSpPr>
          <p:nvPr>
            <p:ph type="sldNum" sz="quarter" idx="12"/>
          </p:nvPr>
        </p:nvSpPr>
        <p:spPr/>
        <p:txBody>
          <a:bodyPr/>
          <a:lstStyle/>
          <a:p>
            <a:fld id="{D57F1E4F-1CFF-5643-939E-02111984F565}" type="slidenum">
              <a:rPr lang="en-US" smtClean="0"/>
              <a:t>81</a:t>
            </a:fld>
            <a:endParaRPr lang="en-US" dirty="0"/>
          </a:p>
        </p:txBody>
      </p:sp>
      <p:sp>
        <p:nvSpPr>
          <p:cNvPr id="5" name="Organigramme : Alternative 13">
            <a:extLst>
              <a:ext uri="{FF2B5EF4-FFF2-40B4-BE49-F238E27FC236}">
                <a16:creationId xmlns:a16="http://schemas.microsoft.com/office/drawing/2014/main" id="{C9D1C88C-B360-15FF-CB5A-1B72A884FB64}"/>
              </a:ext>
            </a:extLst>
          </p:cNvPr>
          <p:cNvSpPr/>
          <p:nvPr/>
        </p:nvSpPr>
        <p:spPr>
          <a:xfrm>
            <a:off x="10502714" y="113029"/>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570</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3778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7541" y="0"/>
            <a:ext cx="11967083" cy="630841"/>
          </a:xfrm>
        </p:spPr>
        <p:txBody>
          <a:bodyPr>
            <a:normAutofit fontScale="90000"/>
          </a:bodyPr>
          <a:lstStyle/>
          <a:p>
            <a:r>
              <a:rPr lang="fr-CA" sz="3600" b="1" dirty="0"/>
              <a:t>Continuité de l’exploitation (CE)</a:t>
            </a:r>
          </a:p>
        </p:txBody>
      </p:sp>
      <p:sp>
        <p:nvSpPr>
          <p:cNvPr id="3" name="Espace réservé du contenu 2"/>
          <p:cNvSpPr>
            <a:spLocks noGrp="1"/>
          </p:cNvSpPr>
          <p:nvPr>
            <p:ph idx="1"/>
          </p:nvPr>
        </p:nvSpPr>
        <p:spPr>
          <a:xfrm>
            <a:off x="87542" y="874643"/>
            <a:ext cx="11967081" cy="5749983"/>
          </a:xfrm>
        </p:spPr>
        <p:txBody>
          <a:bodyPr>
            <a:normAutofit/>
          </a:bodyPr>
          <a:lstStyle/>
          <a:p>
            <a:pPr marL="0" indent="0" algn="just">
              <a:lnSpc>
                <a:spcPct val="100000"/>
              </a:lnSpc>
              <a:spcBef>
                <a:spcPts val="0"/>
              </a:spcBef>
              <a:buNone/>
            </a:pPr>
            <a:r>
              <a:rPr lang="fr-CA" sz="1800" b="1" dirty="0">
                <a:cs typeface="Times New Roman" panose="02020603050405020304" pitchFamily="18" charset="0"/>
              </a:rPr>
              <a:t>EXIGENCES</a:t>
            </a:r>
          </a:p>
          <a:p>
            <a:pPr marL="0" indent="0" algn="just">
              <a:lnSpc>
                <a:spcPct val="100000"/>
              </a:lnSpc>
              <a:spcBef>
                <a:spcPts val="0"/>
              </a:spcBef>
              <a:buNone/>
            </a:pPr>
            <a:r>
              <a:rPr lang="fr-CA" sz="1800" b="1" dirty="0">
                <a:cs typeface="Times New Roman" panose="02020603050405020304" pitchFamily="18" charset="0"/>
              </a:rPr>
              <a:t>Conclusions de l’audit  </a:t>
            </a:r>
          </a:p>
          <a:p>
            <a:pPr algn="just">
              <a:lnSpc>
                <a:spcPct val="100000"/>
              </a:lnSpc>
              <a:spcBef>
                <a:spcPts val="0"/>
              </a:spcBef>
            </a:pPr>
            <a:r>
              <a:rPr lang="fr-CA" sz="1800" dirty="0">
                <a:cs typeface="Times New Roman" panose="02020603050405020304" pitchFamily="18" charset="0"/>
              </a:rPr>
              <a:t>L’auditeur doit évaluer si des </a:t>
            </a:r>
            <a:r>
              <a:rPr lang="fr-CA" sz="1800" b="1" dirty="0">
                <a:cs typeface="Times New Roman" panose="02020603050405020304" pitchFamily="18" charset="0"/>
              </a:rPr>
              <a:t>ÉP</a:t>
            </a:r>
            <a:r>
              <a:rPr lang="fr-CA" sz="1800" dirty="0">
                <a:cs typeface="Times New Roman" panose="02020603050405020304" pitchFamily="18" charset="0"/>
              </a:rPr>
              <a:t> suffisants et appropriés ont été obtenus pour conclure quant au caractère approprié de l’application par la direction de l’HCE. </a:t>
            </a:r>
          </a:p>
          <a:p>
            <a:pPr algn="just">
              <a:spcBef>
                <a:spcPts val="0"/>
              </a:spcBef>
            </a:pPr>
            <a:r>
              <a:rPr lang="fr-CA" sz="1800" dirty="0">
                <a:cs typeface="Times New Roman" panose="02020603050405020304" pitchFamily="18" charset="0"/>
              </a:rPr>
              <a:t>En se fondant sur les ÉP obtenus, l’auditeur doit conclure à l’existence ou non d’une </a:t>
            </a:r>
            <a:r>
              <a:rPr lang="fr-CA" sz="1800" i="1" dirty="0">
                <a:cs typeface="Times New Roman" panose="02020603050405020304" pitchFamily="18" charset="0"/>
              </a:rPr>
              <a:t>incertitude significative</a:t>
            </a:r>
            <a:r>
              <a:rPr lang="fr-CA" sz="1800" dirty="0">
                <a:cs typeface="Times New Roman" panose="02020603050405020304" pitchFamily="18" charset="0"/>
              </a:rPr>
              <a:t> sur la CE : </a:t>
            </a:r>
          </a:p>
          <a:p>
            <a:pPr lvl="1" algn="just">
              <a:spcBef>
                <a:spcPts val="0"/>
              </a:spcBef>
            </a:pPr>
            <a:r>
              <a:rPr lang="fr-CA" sz="1800" dirty="0">
                <a:cs typeface="Times New Roman" panose="02020603050405020304" pitchFamily="18" charset="0"/>
              </a:rPr>
              <a:t>Une </a:t>
            </a:r>
            <a:r>
              <a:rPr lang="fr-CA" sz="1800" b="1" dirty="0">
                <a:cs typeface="Times New Roman" panose="02020603050405020304" pitchFamily="18" charset="0"/>
              </a:rPr>
              <a:t>incertitude est significative </a:t>
            </a:r>
            <a:r>
              <a:rPr lang="fr-CA" sz="1800" dirty="0">
                <a:cs typeface="Times New Roman" panose="02020603050405020304" pitchFamily="18" charset="0"/>
              </a:rPr>
              <a:t>lorsque </a:t>
            </a:r>
            <a:r>
              <a:rPr lang="fr-CA" sz="1800" i="1" dirty="0">
                <a:cs typeface="Times New Roman" panose="02020603050405020304" pitchFamily="18" charset="0"/>
              </a:rPr>
              <a:t>l’ampleur</a:t>
            </a:r>
            <a:r>
              <a:rPr lang="fr-CA" sz="1800" dirty="0">
                <a:cs typeface="Times New Roman" panose="02020603050405020304" pitchFamily="18" charset="0"/>
              </a:rPr>
              <a:t> de son incidence potentielle et la </a:t>
            </a:r>
            <a:r>
              <a:rPr lang="fr-CA" sz="1800" i="1" dirty="0">
                <a:cs typeface="Times New Roman" panose="02020603050405020304" pitchFamily="18" charset="0"/>
              </a:rPr>
              <a:t>probabilité</a:t>
            </a:r>
            <a:r>
              <a:rPr lang="fr-CA" sz="1800" dirty="0">
                <a:cs typeface="Times New Roman" panose="02020603050405020304" pitchFamily="18" charset="0"/>
              </a:rPr>
              <a:t> de sa survenance sont telles que, selon le jugement de l’auditeur, des </a:t>
            </a:r>
            <a:r>
              <a:rPr lang="fr-CA" sz="1800" b="1" dirty="0">
                <a:cs typeface="Times New Roman" panose="02020603050405020304" pitchFamily="18" charset="0"/>
              </a:rPr>
              <a:t>informations appropriées sur la nature et les incidences de l’incertitude sont nécessaires pour assurer une image fidèle ou non trompeuse</a:t>
            </a:r>
            <a:r>
              <a:rPr lang="fr-CA" sz="1800" dirty="0">
                <a:cs typeface="Times New Roman" panose="02020603050405020304" pitchFamily="18" charset="0"/>
              </a:rPr>
              <a:t>. </a:t>
            </a:r>
          </a:p>
          <a:p>
            <a:pPr algn="just">
              <a:lnSpc>
                <a:spcPct val="100000"/>
              </a:lnSpc>
              <a:spcBef>
                <a:spcPts val="0"/>
              </a:spcBef>
            </a:pPr>
            <a:r>
              <a:rPr lang="fr-CA" sz="1800" dirty="0">
                <a:cs typeface="Times New Roman" panose="02020603050405020304" pitchFamily="18" charset="0"/>
              </a:rPr>
              <a:t>Caractère adéquat des infos fournies si événements/situations relevés et qu’il existe une incertitude significative.</a:t>
            </a:r>
          </a:p>
          <a:p>
            <a:pPr algn="just">
              <a:lnSpc>
                <a:spcPct val="100000"/>
              </a:lnSpc>
              <a:spcBef>
                <a:spcPts val="0"/>
              </a:spcBef>
            </a:pPr>
            <a:r>
              <a:rPr lang="fr-CA" sz="1800" dirty="0">
                <a:cs typeface="Times New Roman" panose="02020603050405020304" pitchFamily="18" charset="0"/>
              </a:rPr>
              <a:t>Caractère adéquat des infos fournies si événements/situations relevés, mais qu’il existe aucune incertitude significative.</a:t>
            </a:r>
          </a:p>
        </p:txBody>
      </p:sp>
      <p:sp>
        <p:nvSpPr>
          <p:cNvPr id="4" name="Espace réservé du numéro de diapositive 3">
            <a:extLst>
              <a:ext uri="{FF2B5EF4-FFF2-40B4-BE49-F238E27FC236}">
                <a16:creationId xmlns:a16="http://schemas.microsoft.com/office/drawing/2014/main" id="{1611FFDC-7BA9-A94C-9033-A3494F4A2A0F}"/>
              </a:ext>
            </a:extLst>
          </p:cNvPr>
          <p:cNvSpPr>
            <a:spLocks noGrp="1"/>
          </p:cNvSpPr>
          <p:nvPr>
            <p:ph type="sldNum" sz="quarter" idx="12"/>
          </p:nvPr>
        </p:nvSpPr>
        <p:spPr/>
        <p:txBody>
          <a:bodyPr/>
          <a:lstStyle/>
          <a:p>
            <a:fld id="{D57F1E4F-1CFF-5643-939E-02111984F565}" type="slidenum">
              <a:rPr lang="en-US" smtClean="0"/>
              <a:t>82</a:t>
            </a:fld>
            <a:endParaRPr lang="en-US" dirty="0"/>
          </a:p>
        </p:txBody>
      </p:sp>
      <p:sp>
        <p:nvSpPr>
          <p:cNvPr id="5" name="Organigramme : Alternative 13">
            <a:extLst>
              <a:ext uri="{FF2B5EF4-FFF2-40B4-BE49-F238E27FC236}">
                <a16:creationId xmlns:a16="http://schemas.microsoft.com/office/drawing/2014/main" id="{131C0684-896C-2AEA-3E77-7A86895BC0D5}"/>
              </a:ext>
            </a:extLst>
          </p:cNvPr>
          <p:cNvSpPr/>
          <p:nvPr/>
        </p:nvSpPr>
        <p:spPr>
          <a:xfrm>
            <a:off x="10502714" y="113029"/>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570</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2535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7541" y="0"/>
            <a:ext cx="11967083" cy="630841"/>
          </a:xfrm>
        </p:spPr>
        <p:txBody>
          <a:bodyPr>
            <a:normAutofit fontScale="90000"/>
          </a:bodyPr>
          <a:lstStyle/>
          <a:p>
            <a:r>
              <a:rPr lang="fr-CA" sz="3600" b="1" dirty="0"/>
              <a:t>Continuité de l’exploitation (CE)</a:t>
            </a:r>
          </a:p>
        </p:txBody>
      </p:sp>
      <p:sp>
        <p:nvSpPr>
          <p:cNvPr id="3" name="Espace réservé du contenu 2"/>
          <p:cNvSpPr>
            <a:spLocks noGrp="1"/>
          </p:cNvSpPr>
          <p:nvPr>
            <p:ph idx="1"/>
          </p:nvPr>
        </p:nvSpPr>
        <p:spPr>
          <a:xfrm>
            <a:off x="87542" y="848139"/>
            <a:ext cx="11967081" cy="5776487"/>
          </a:xfrm>
        </p:spPr>
        <p:txBody>
          <a:bodyPr>
            <a:normAutofit/>
          </a:bodyPr>
          <a:lstStyle/>
          <a:p>
            <a:pPr marL="0" indent="0" algn="just">
              <a:lnSpc>
                <a:spcPct val="100000"/>
              </a:lnSpc>
              <a:spcBef>
                <a:spcPts val="0"/>
              </a:spcBef>
              <a:buNone/>
            </a:pPr>
            <a:r>
              <a:rPr lang="fr-CA" sz="1800" b="1" dirty="0">
                <a:cs typeface="Times New Roman" panose="02020603050405020304" pitchFamily="18" charset="0"/>
              </a:rPr>
              <a:t>EXIGENCES</a:t>
            </a:r>
          </a:p>
          <a:p>
            <a:pPr marL="0" indent="0" algn="just">
              <a:lnSpc>
                <a:spcPct val="100000"/>
              </a:lnSpc>
              <a:spcBef>
                <a:spcPts val="0"/>
              </a:spcBef>
              <a:buNone/>
            </a:pPr>
            <a:r>
              <a:rPr lang="fr-CA" sz="1800" b="1" dirty="0">
                <a:cs typeface="Times New Roman" panose="02020603050405020304" pitchFamily="18" charset="0"/>
              </a:rPr>
              <a:t>Incidences sur le rapport de l’auditeur</a:t>
            </a:r>
          </a:p>
          <a:p>
            <a:pPr algn="just">
              <a:lnSpc>
                <a:spcPct val="100000"/>
              </a:lnSpc>
              <a:spcBef>
                <a:spcPts val="0"/>
              </a:spcBef>
            </a:pPr>
            <a:r>
              <a:rPr lang="fr-CA" sz="1800" i="1" dirty="0">
                <a:cs typeface="Times New Roman" panose="02020603050405020304" pitchFamily="18" charset="0"/>
              </a:rPr>
              <a:t>Application inappropriée du principe comptable de CE </a:t>
            </a:r>
          </a:p>
          <a:p>
            <a:pPr lvl="1" algn="just">
              <a:spcBef>
                <a:spcPts val="0"/>
              </a:spcBef>
            </a:pPr>
            <a:r>
              <a:rPr lang="fr-CA" sz="1800" b="1" dirty="0">
                <a:cs typeface="Times New Roman" panose="02020603050405020304" pitchFamily="18" charset="0"/>
              </a:rPr>
              <a:t>Opinion défavorable</a:t>
            </a:r>
            <a:r>
              <a:rPr lang="fr-CA" sz="1800" dirty="0">
                <a:cs typeface="Times New Roman" panose="02020603050405020304" pitchFamily="18" charset="0"/>
              </a:rPr>
              <a:t>.</a:t>
            </a:r>
          </a:p>
          <a:p>
            <a:pPr algn="just">
              <a:lnSpc>
                <a:spcPct val="100000"/>
              </a:lnSpc>
              <a:spcBef>
                <a:spcPts val="0"/>
              </a:spcBef>
            </a:pPr>
            <a:endParaRPr lang="fr-CA" sz="1800" dirty="0">
              <a:cs typeface="Times New Roman" panose="02020603050405020304" pitchFamily="18" charset="0"/>
            </a:endParaRPr>
          </a:p>
          <a:p>
            <a:pPr algn="just">
              <a:lnSpc>
                <a:spcPct val="100000"/>
              </a:lnSpc>
              <a:spcBef>
                <a:spcPts val="0"/>
              </a:spcBef>
            </a:pPr>
            <a:r>
              <a:rPr lang="fr-CA" sz="1800" i="1" dirty="0">
                <a:cs typeface="Times New Roman" panose="02020603050405020304" pitchFamily="18" charset="0"/>
              </a:rPr>
              <a:t>Application appropriée du principe comptable de CE malgré l’existence d’une incertitude significative</a:t>
            </a:r>
          </a:p>
          <a:p>
            <a:pPr lvl="1" algn="just">
              <a:spcBef>
                <a:spcPts val="0"/>
              </a:spcBef>
            </a:pPr>
            <a:r>
              <a:rPr lang="fr-CA" sz="1800" dirty="0">
                <a:cs typeface="Times New Roman" panose="02020603050405020304" pitchFamily="18" charset="0"/>
              </a:rPr>
              <a:t>Infos adéquates fournies sur l’incertitude significative dans les </a:t>
            </a:r>
            <a:r>
              <a:rPr lang="fr-CA" sz="1800" dirty="0" err="1">
                <a:cs typeface="Times New Roman" panose="02020603050405020304" pitchFamily="18" charset="0"/>
              </a:rPr>
              <a:t>ÉFs</a:t>
            </a:r>
            <a:r>
              <a:rPr lang="fr-CA" sz="1800" dirty="0">
                <a:cs typeface="Times New Roman" panose="02020603050405020304" pitchFamily="18" charset="0"/>
              </a:rPr>
              <a:t>, l’auditeur doit </a:t>
            </a:r>
          </a:p>
          <a:p>
            <a:pPr lvl="2" algn="just">
              <a:spcBef>
                <a:spcPts val="0"/>
              </a:spcBef>
            </a:pPr>
            <a:r>
              <a:rPr lang="fr-CA" sz="1800" dirty="0">
                <a:cs typeface="Times New Roman" panose="02020603050405020304" pitchFamily="18" charset="0"/>
              </a:rPr>
              <a:t>Exprimer une opinion non modifiée </a:t>
            </a:r>
            <a:r>
              <a:rPr lang="fr-CA" sz="1800" b="1" dirty="0">
                <a:cs typeface="Times New Roman" panose="02020603050405020304" pitchFamily="18" charset="0"/>
              </a:rPr>
              <a:t>et</a:t>
            </a:r>
          </a:p>
          <a:p>
            <a:pPr lvl="2" algn="just">
              <a:spcBef>
                <a:spcPts val="0"/>
              </a:spcBef>
            </a:pPr>
            <a:r>
              <a:rPr lang="fr-CA" sz="1800" dirty="0">
                <a:cs typeface="Times New Roman" panose="02020603050405020304" pitchFamily="18" charset="0"/>
              </a:rPr>
              <a:t>Inclure section distincte intitulée «Incertitude significative liée à la CE»</a:t>
            </a:r>
          </a:p>
          <a:p>
            <a:pPr lvl="1" algn="just">
              <a:spcBef>
                <a:spcPts val="0"/>
              </a:spcBef>
            </a:pPr>
            <a:r>
              <a:rPr lang="fr-CA" sz="1800" dirty="0">
                <a:cs typeface="Times New Roman" panose="02020603050405020304" pitchFamily="18" charset="0"/>
              </a:rPr>
              <a:t>Absence d’informations adéquates sur l’incertitude significative dans les </a:t>
            </a:r>
            <a:r>
              <a:rPr lang="fr-CA" sz="1800" dirty="0" err="1">
                <a:cs typeface="Times New Roman" panose="02020603050405020304" pitchFamily="18" charset="0"/>
              </a:rPr>
              <a:t>ÉFs</a:t>
            </a:r>
            <a:endParaRPr lang="fr-CA" sz="1800" dirty="0">
              <a:cs typeface="Times New Roman" panose="02020603050405020304" pitchFamily="18" charset="0"/>
            </a:endParaRPr>
          </a:p>
          <a:p>
            <a:pPr lvl="2" algn="just">
              <a:spcBef>
                <a:spcPts val="0"/>
              </a:spcBef>
            </a:pPr>
            <a:r>
              <a:rPr lang="fr-CA" sz="1800" dirty="0">
                <a:cs typeface="Times New Roman" panose="02020603050405020304" pitchFamily="18" charset="0"/>
              </a:rPr>
              <a:t>Exprimer une opinion modifiée </a:t>
            </a:r>
            <a:r>
              <a:rPr lang="fr-CA" sz="1800" b="1" dirty="0">
                <a:cs typeface="Times New Roman" panose="02020603050405020304" pitchFamily="18" charset="0"/>
              </a:rPr>
              <a:t>et</a:t>
            </a:r>
          </a:p>
          <a:p>
            <a:pPr lvl="2" algn="just">
              <a:spcBef>
                <a:spcPts val="0"/>
              </a:spcBef>
            </a:pPr>
            <a:r>
              <a:rPr lang="fr-CA" sz="1800" dirty="0">
                <a:cs typeface="Times New Roman" panose="02020603050405020304" pitchFamily="18" charset="0"/>
              </a:rPr>
              <a:t>Indiquer dans la section «Fondement de l’opinion avec réserve [ou de l’opinion défavorable]» l’existence de l’incertitude significative </a:t>
            </a:r>
          </a:p>
          <a:p>
            <a:pPr marL="0" indent="0" algn="just">
              <a:lnSpc>
                <a:spcPct val="100000"/>
              </a:lnSpc>
              <a:spcBef>
                <a:spcPts val="0"/>
              </a:spcBef>
              <a:buNone/>
            </a:pPr>
            <a:endParaRPr lang="fr-CA" sz="1000" b="1" dirty="0">
              <a:cs typeface="Times New Roman" panose="02020603050405020304" pitchFamily="18" charset="0"/>
            </a:endParaRPr>
          </a:p>
          <a:p>
            <a:pPr marL="0" indent="0" algn="just">
              <a:lnSpc>
                <a:spcPct val="100000"/>
              </a:lnSpc>
              <a:spcBef>
                <a:spcPts val="0"/>
              </a:spcBef>
              <a:buNone/>
            </a:pPr>
            <a:r>
              <a:rPr lang="fr-CA" sz="1800" b="1" dirty="0">
                <a:cs typeface="Times New Roman" panose="02020603050405020304" pitchFamily="18" charset="0"/>
              </a:rPr>
              <a:t>Communication avec les responsables de la gouvernance</a:t>
            </a:r>
          </a:p>
        </p:txBody>
      </p:sp>
      <p:sp>
        <p:nvSpPr>
          <p:cNvPr id="4" name="Espace réservé du numéro de diapositive 3">
            <a:extLst>
              <a:ext uri="{FF2B5EF4-FFF2-40B4-BE49-F238E27FC236}">
                <a16:creationId xmlns:a16="http://schemas.microsoft.com/office/drawing/2014/main" id="{F3280C4C-B848-8642-BC4C-AC554BF8E00D}"/>
              </a:ext>
            </a:extLst>
          </p:cNvPr>
          <p:cNvSpPr>
            <a:spLocks noGrp="1"/>
          </p:cNvSpPr>
          <p:nvPr>
            <p:ph type="sldNum" sz="quarter" idx="12"/>
          </p:nvPr>
        </p:nvSpPr>
        <p:spPr/>
        <p:txBody>
          <a:bodyPr/>
          <a:lstStyle/>
          <a:p>
            <a:fld id="{D57F1E4F-1CFF-5643-939E-02111984F565}" type="slidenum">
              <a:rPr lang="en-US" smtClean="0"/>
              <a:t>83</a:t>
            </a:fld>
            <a:endParaRPr lang="en-US" dirty="0"/>
          </a:p>
        </p:txBody>
      </p:sp>
      <p:sp>
        <p:nvSpPr>
          <p:cNvPr id="5" name="Organigramme : Alternative 13">
            <a:extLst>
              <a:ext uri="{FF2B5EF4-FFF2-40B4-BE49-F238E27FC236}">
                <a16:creationId xmlns:a16="http://schemas.microsoft.com/office/drawing/2014/main" id="{522BA7CB-71F7-DE73-F861-BB6482ABBA9B}"/>
              </a:ext>
            </a:extLst>
          </p:cNvPr>
          <p:cNvSpPr/>
          <p:nvPr/>
        </p:nvSpPr>
        <p:spPr>
          <a:xfrm>
            <a:off x="10502714" y="113029"/>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570</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2256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47496" y="28355"/>
            <a:ext cx="4715925" cy="6622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fr-CA" sz="2400" dirty="0">
                <a:solidFill>
                  <a:prstClr val="white"/>
                </a:solidFill>
              </a:rPr>
              <a:t>HCE –</a:t>
            </a:r>
          </a:p>
          <a:p>
            <a:pPr algn="ctr">
              <a:lnSpc>
                <a:spcPct val="90000"/>
              </a:lnSpc>
            </a:pPr>
            <a:r>
              <a:rPr lang="fr-CA" sz="2000" dirty="0">
                <a:solidFill>
                  <a:prstClr val="white"/>
                </a:solidFill>
              </a:rPr>
              <a:t>Conclusions et Incidences sur le rapport</a:t>
            </a:r>
          </a:p>
        </p:txBody>
      </p:sp>
      <p:grpSp>
        <p:nvGrpSpPr>
          <p:cNvPr id="17" name="Groupe 16"/>
          <p:cNvGrpSpPr/>
          <p:nvPr/>
        </p:nvGrpSpPr>
        <p:grpSpPr>
          <a:xfrm>
            <a:off x="68858" y="2210972"/>
            <a:ext cx="1601974" cy="2310535"/>
            <a:chOff x="44267" y="2650962"/>
            <a:chExt cx="1436124" cy="1310696"/>
          </a:xfrm>
        </p:grpSpPr>
        <p:sp>
          <p:nvSpPr>
            <p:cNvPr id="66" name="Rectangle à coins arrondis 65"/>
            <p:cNvSpPr/>
            <p:nvPr/>
          </p:nvSpPr>
          <p:spPr>
            <a:xfrm>
              <a:off x="44267" y="2735180"/>
              <a:ext cx="1436124" cy="1170189"/>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67" name="Rectangle 66"/>
            <p:cNvSpPr/>
            <p:nvPr/>
          </p:nvSpPr>
          <p:spPr>
            <a:xfrm>
              <a:off x="96055" y="2650962"/>
              <a:ext cx="1366050" cy="131069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00" tIns="12700" rIns="12700" bIns="12700" numCol="1" spcCol="1270" anchor="ctr" anchorCtr="0">
              <a:noAutofit/>
            </a:bodyPr>
            <a:lstStyle/>
            <a:p>
              <a:pPr algn="ctr" defTabSz="889000">
                <a:lnSpc>
                  <a:spcPct val="90000"/>
                </a:lnSpc>
                <a:spcBef>
                  <a:spcPct val="0"/>
                </a:spcBef>
                <a:spcAft>
                  <a:spcPct val="35000"/>
                </a:spcAft>
              </a:pPr>
              <a:r>
                <a:rPr lang="fr-CA" dirty="0">
                  <a:solidFill>
                    <a:prstClr val="black"/>
                  </a:solidFill>
                  <a:latin typeface="Times New Roman" panose="02020603050405020304" pitchFamily="18" charset="0"/>
                  <a:cs typeface="Times New Roman" panose="02020603050405020304" pitchFamily="18" charset="0"/>
                </a:rPr>
                <a:t>Est-ce que l’auditeur juge que l’application de l’HCE est appropriée ? (17)</a:t>
              </a:r>
            </a:p>
          </p:txBody>
        </p:sp>
      </p:grpSp>
      <p:grpSp>
        <p:nvGrpSpPr>
          <p:cNvPr id="18" name="Groupe 17"/>
          <p:cNvGrpSpPr/>
          <p:nvPr/>
        </p:nvGrpSpPr>
        <p:grpSpPr>
          <a:xfrm>
            <a:off x="2092863" y="1631002"/>
            <a:ext cx="101838" cy="2036769"/>
            <a:chOff x="1900488" y="1284210"/>
            <a:chExt cx="101838" cy="2036769"/>
          </a:xfrm>
        </p:grpSpPr>
        <p:sp>
          <p:nvSpPr>
            <p:cNvPr id="64" name="Connecteur droit 5"/>
            <p:cNvSpPr/>
            <p:nvPr/>
          </p:nvSpPr>
          <p:spPr>
            <a:xfrm rot="17789485">
              <a:off x="933022" y="2285846"/>
              <a:ext cx="2036769" cy="33497"/>
            </a:xfrm>
            <a:custGeom>
              <a:avLst/>
              <a:gdLst/>
              <a:ahLst/>
              <a:cxnLst/>
              <a:rect l="0" t="0" r="0" b="0"/>
              <a:pathLst>
                <a:path>
                  <a:moveTo>
                    <a:pt x="0" y="16748"/>
                  </a:moveTo>
                  <a:lnTo>
                    <a:pt x="2036769" y="16748"/>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CA"/>
            </a:p>
          </p:txBody>
        </p:sp>
        <p:sp>
          <p:nvSpPr>
            <p:cNvPr id="65" name="Connecteur droit 6"/>
            <p:cNvSpPr/>
            <p:nvPr/>
          </p:nvSpPr>
          <p:spPr>
            <a:xfrm rot="17789485">
              <a:off x="1900488" y="2251676"/>
              <a:ext cx="101838" cy="10183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algn="ctr" defTabSz="311150">
                <a:lnSpc>
                  <a:spcPct val="90000"/>
                </a:lnSpc>
                <a:spcBef>
                  <a:spcPct val="0"/>
                </a:spcBef>
                <a:spcAft>
                  <a:spcPct val="35000"/>
                </a:spcAft>
              </a:pPr>
              <a:endParaRPr lang="fr-CA" sz="700">
                <a:solidFill>
                  <a:prstClr val="black">
                    <a:hueOff val="0"/>
                    <a:satOff val="0"/>
                    <a:lumOff val="0"/>
                    <a:alphaOff val="0"/>
                  </a:prstClr>
                </a:solidFill>
              </a:endParaRPr>
            </a:p>
          </p:txBody>
        </p:sp>
      </p:grpSp>
      <p:grpSp>
        <p:nvGrpSpPr>
          <p:cNvPr id="19" name="Groupe 18"/>
          <p:cNvGrpSpPr/>
          <p:nvPr/>
        </p:nvGrpSpPr>
        <p:grpSpPr>
          <a:xfrm>
            <a:off x="2598047" y="767459"/>
            <a:ext cx="2392503" cy="2256441"/>
            <a:chOff x="2405672" y="420668"/>
            <a:chExt cx="2392503" cy="1940942"/>
          </a:xfrm>
        </p:grpSpPr>
        <p:sp>
          <p:nvSpPr>
            <p:cNvPr id="62" name="Rectangle à coins arrondis 61"/>
            <p:cNvSpPr/>
            <p:nvPr/>
          </p:nvSpPr>
          <p:spPr>
            <a:xfrm>
              <a:off x="2405672" y="420668"/>
              <a:ext cx="2392503" cy="1940942"/>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63" name="Rectangle 62"/>
            <p:cNvSpPr/>
            <p:nvPr/>
          </p:nvSpPr>
          <p:spPr>
            <a:xfrm>
              <a:off x="2462520" y="477516"/>
              <a:ext cx="2278807" cy="182724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00" tIns="12700" rIns="12700" bIns="12700" numCol="1" spcCol="1270" anchor="ctr" anchorCtr="0">
              <a:noAutofit/>
            </a:bodyPr>
            <a:lstStyle/>
            <a:p>
              <a:pPr algn="ctr" defTabSz="889000">
                <a:lnSpc>
                  <a:spcPct val="90000"/>
                </a:lnSpc>
                <a:spcBef>
                  <a:spcPct val="0"/>
                </a:spcBef>
                <a:spcAft>
                  <a:spcPct val="35000"/>
                </a:spcAft>
              </a:pPr>
              <a:r>
                <a:rPr lang="fr-CA" sz="2000" dirty="0">
                  <a:solidFill>
                    <a:prstClr val="black"/>
                  </a:solidFill>
                  <a:latin typeface="Times New Roman" panose="02020603050405020304" pitchFamily="18" charset="0"/>
                  <a:cs typeface="Times New Roman" panose="02020603050405020304" pitchFamily="18" charset="0"/>
                </a:rPr>
                <a:t>Est-ce qu’il existe une « </a:t>
              </a:r>
              <a:r>
                <a:rPr lang="fr-CA" sz="2000" b="1" u="sng" dirty="0">
                  <a:solidFill>
                    <a:prstClr val="black"/>
                  </a:solidFill>
                  <a:latin typeface="Times New Roman" panose="02020603050405020304" pitchFamily="18" charset="0"/>
                  <a:cs typeface="Times New Roman" panose="02020603050405020304" pitchFamily="18" charset="0"/>
                </a:rPr>
                <a:t>incertitude significative</a:t>
              </a:r>
              <a:r>
                <a:rPr lang="fr-CA" sz="2000" dirty="0">
                  <a:solidFill>
                    <a:prstClr val="black"/>
                  </a:solidFill>
                  <a:latin typeface="Times New Roman" panose="02020603050405020304" pitchFamily="18" charset="0"/>
                  <a:cs typeface="Times New Roman" panose="02020603050405020304" pitchFamily="18" charset="0"/>
                </a:rPr>
                <a:t> » quant à la capacité de l'entité à poursuivre son exploitation ?</a:t>
              </a:r>
            </a:p>
            <a:p>
              <a:pPr algn="ctr" defTabSz="889000">
                <a:lnSpc>
                  <a:spcPct val="90000"/>
                </a:lnSpc>
                <a:spcBef>
                  <a:spcPct val="0"/>
                </a:spcBef>
                <a:spcAft>
                  <a:spcPct val="35000"/>
                </a:spcAft>
              </a:pPr>
              <a:r>
                <a:rPr lang="fr-CA" dirty="0">
                  <a:solidFill>
                    <a:prstClr val="black"/>
                  </a:solidFill>
                  <a:latin typeface="Times New Roman" panose="02020603050405020304" pitchFamily="18" charset="0"/>
                  <a:cs typeface="Times New Roman" panose="02020603050405020304" pitchFamily="18" charset="0"/>
                </a:rPr>
                <a:t>(18-19, A21)</a:t>
              </a:r>
            </a:p>
          </p:txBody>
        </p:sp>
      </p:grpSp>
      <p:grpSp>
        <p:nvGrpSpPr>
          <p:cNvPr id="20" name="Groupe 19"/>
          <p:cNvGrpSpPr/>
          <p:nvPr/>
        </p:nvGrpSpPr>
        <p:grpSpPr>
          <a:xfrm>
            <a:off x="4879776" y="1364545"/>
            <a:ext cx="1178550" cy="58927"/>
            <a:chOff x="4687401" y="1017753"/>
            <a:chExt cx="1178550" cy="58927"/>
          </a:xfrm>
        </p:grpSpPr>
        <p:sp>
          <p:nvSpPr>
            <p:cNvPr id="60" name="Connecteur droit 9"/>
            <p:cNvSpPr/>
            <p:nvPr/>
          </p:nvSpPr>
          <p:spPr>
            <a:xfrm rot="19457599">
              <a:off x="4687401" y="1030468"/>
              <a:ext cx="1178550" cy="33497"/>
            </a:xfrm>
            <a:custGeom>
              <a:avLst/>
              <a:gdLst/>
              <a:ahLst/>
              <a:cxnLst/>
              <a:rect l="0" t="0" r="0" b="0"/>
              <a:pathLst>
                <a:path>
                  <a:moveTo>
                    <a:pt x="0" y="16748"/>
                  </a:moveTo>
                  <a:lnTo>
                    <a:pt x="1178550" y="16748"/>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CA"/>
            </a:p>
          </p:txBody>
        </p:sp>
        <p:sp>
          <p:nvSpPr>
            <p:cNvPr id="61" name="Connecteur droit 10"/>
            <p:cNvSpPr/>
            <p:nvPr/>
          </p:nvSpPr>
          <p:spPr>
            <a:xfrm rot="19457599">
              <a:off x="5247213" y="1017753"/>
              <a:ext cx="58927" cy="5892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algn="ctr" defTabSz="222250">
                <a:lnSpc>
                  <a:spcPct val="90000"/>
                </a:lnSpc>
                <a:spcBef>
                  <a:spcPct val="0"/>
                </a:spcBef>
                <a:spcAft>
                  <a:spcPct val="35000"/>
                </a:spcAft>
              </a:pPr>
              <a:endParaRPr lang="fr-CA" sz="500">
                <a:solidFill>
                  <a:prstClr val="black">
                    <a:hueOff val="0"/>
                    <a:satOff val="0"/>
                    <a:lumOff val="0"/>
                    <a:alphaOff val="0"/>
                  </a:prstClr>
                </a:solidFill>
              </a:endParaRPr>
            </a:p>
          </p:txBody>
        </p:sp>
      </p:grpSp>
      <p:grpSp>
        <p:nvGrpSpPr>
          <p:cNvPr id="21" name="Groupe 20"/>
          <p:cNvGrpSpPr/>
          <p:nvPr/>
        </p:nvGrpSpPr>
        <p:grpSpPr>
          <a:xfrm>
            <a:off x="5736063" y="236645"/>
            <a:ext cx="3235556" cy="1410841"/>
            <a:chOff x="5755177" y="105168"/>
            <a:chExt cx="2989552" cy="1196251"/>
          </a:xfrm>
        </p:grpSpPr>
        <p:sp>
          <p:nvSpPr>
            <p:cNvPr id="58" name="Rectangle à coins arrondis 57"/>
            <p:cNvSpPr/>
            <p:nvPr/>
          </p:nvSpPr>
          <p:spPr>
            <a:xfrm>
              <a:off x="5755177" y="105168"/>
              <a:ext cx="2989552" cy="1196251"/>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59" name="Rectangle 58"/>
            <p:cNvSpPr/>
            <p:nvPr/>
          </p:nvSpPr>
          <p:spPr>
            <a:xfrm>
              <a:off x="5790214" y="140205"/>
              <a:ext cx="2919478" cy="112617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00" tIns="12700" rIns="12700" bIns="12700" numCol="1" spcCol="1270" anchor="ctr" anchorCtr="0">
              <a:noAutofit/>
            </a:bodyPr>
            <a:lstStyle/>
            <a:p>
              <a:pPr algn="ctr" defTabSz="889000">
                <a:lnSpc>
                  <a:spcPct val="90000"/>
                </a:lnSpc>
                <a:spcBef>
                  <a:spcPct val="0"/>
                </a:spcBef>
                <a:spcAft>
                  <a:spcPct val="35000"/>
                </a:spcAft>
              </a:pPr>
              <a:r>
                <a:rPr lang="fr-CA" dirty="0">
                  <a:solidFill>
                    <a:prstClr val="black"/>
                  </a:solidFill>
                  <a:latin typeface="Times New Roman" panose="02020603050405020304" pitchFamily="18" charset="0"/>
                  <a:cs typeface="Times New Roman" panose="02020603050405020304" pitchFamily="18" charset="0"/>
                </a:rPr>
                <a:t>Les </a:t>
              </a:r>
              <a:r>
                <a:rPr lang="fr-CA" dirty="0" err="1">
                  <a:solidFill>
                    <a:prstClr val="black"/>
                  </a:solidFill>
                  <a:latin typeface="Times New Roman" panose="02020603050405020304" pitchFamily="18" charset="0"/>
                  <a:cs typeface="Times New Roman" panose="02020603050405020304" pitchFamily="18" charset="0"/>
                </a:rPr>
                <a:t>ÉFs</a:t>
              </a:r>
              <a:r>
                <a:rPr lang="fr-CA" dirty="0">
                  <a:solidFill>
                    <a:prstClr val="black"/>
                  </a:solidFill>
                  <a:latin typeface="Times New Roman" panose="02020603050405020304" pitchFamily="18" charset="0"/>
                  <a:cs typeface="Times New Roman" panose="02020603050405020304" pitchFamily="18" charset="0"/>
                </a:rPr>
                <a:t> doivent, s’il y a lieu, refléter les </a:t>
              </a:r>
              <a:r>
                <a:rPr lang="fr-CA" b="1" dirty="0">
                  <a:solidFill>
                    <a:prstClr val="black"/>
                  </a:solidFill>
                  <a:latin typeface="Times New Roman" panose="02020603050405020304" pitchFamily="18" charset="0"/>
                  <a:cs typeface="Times New Roman" panose="02020603050405020304" pitchFamily="18" charset="0"/>
                </a:rPr>
                <a:t>événements</a:t>
              </a:r>
              <a:r>
                <a:rPr lang="fr-CA" dirty="0">
                  <a:solidFill>
                    <a:prstClr val="black"/>
                  </a:solidFill>
                  <a:latin typeface="Times New Roman" panose="02020603050405020304" pitchFamily="18" charset="0"/>
                  <a:cs typeface="Times New Roman" panose="02020603050405020304" pitchFamily="18" charset="0"/>
                </a:rPr>
                <a:t> ou </a:t>
              </a:r>
              <a:r>
                <a:rPr lang="fr-CA" b="1" dirty="0">
                  <a:solidFill>
                    <a:prstClr val="black"/>
                  </a:solidFill>
                  <a:latin typeface="Times New Roman" panose="02020603050405020304" pitchFamily="18" charset="0"/>
                  <a:cs typeface="Times New Roman" panose="02020603050405020304" pitchFamily="18" charset="0"/>
                </a:rPr>
                <a:t>situations</a:t>
              </a:r>
              <a:r>
                <a:rPr lang="fr-CA" dirty="0">
                  <a:solidFill>
                    <a:prstClr val="black"/>
                  </a:solidFill>
                  <a:latin typeface="Times New Roman" panose="02020603050405020304" pitchFamily="18" charset="0"/>
                  <a:cs typeface="Times New Roman" panose="02020603050405020304" pitchFamily="18" charset="0"/>
                </a:rPr>
                <a:t> susceptibles de jeter un doute important sur la CPE.</a:t>
              </a:r>
            </a:p>
            <a:p>
              <a:pPr algn="ctr" defTabSz="889000">
                <a:lnSpc>
                  <a:spcPct val="90000"/>
                </a:lnSpc>
                <a:spcBef>
                  <a:spcPct val="0"/>
                </a:spcBef>
                <a:spcAft>
                  <a:spcPct val="35000"/>
                </a:spcAft>
              </a:pPr>
              <a:r>
                <a:rPr lang="fr-CA" dirty="0">
                  <a:solidFill>
                    <a:prstClr val="black"/>
                  </a:solidFill>
                  <a:latin typeface="Times New Roman" panose="02020603050405020304" pitchFamily="18" charset="0"/>
                  <a:cs typeface="Times New Roman" panose="02020603050405020304" pitchFamily="18" charset="0"/>
                </a:rPr>
                <a:t>(20, A24)</a:t>
              </a:r>
            </a:p>
          </p:txBody>
        </p:sp>
      </p:grpSp>
      <p:grpSp>
        <p:nvGrpSpPr>
          <p:cNvPr id="22" name="Groupe 21"/>
          <p:cNvGrpSpPr/>
          <p:nvPr/>
        </p:nvGrpSpPr>
        <p:grpSpPr>
          <a:xfrm>
            <a:off x="4879776" y="2052390"/>
            <a:ext cx="1178550" cy="58927"/>
            <a:chOff x="4687401" y="1705598"/>
            <a:chExt cx="1178550" cy="58927"/>
          </a:xfrm>
        </p:grpSpPr>
        <p:sp>
          <p:nvSpPr>
            <p:cNvPr id="56" name="Connecteur droit 13"/>
            <p:cNvSpPr/>
            <p:nvPr/>
          </p:nvSpPr>
          <p:spPr>
            <a:xfrm rot="2142401">
              <a:off x="4687401" y="1718313"/>
              <a:ext cx="1178550" cy="33497"/>
            </a:xfrm>
            <a:custGeom>
              <a:avLst/>
              <a:gdLst/>
              <a:ahLst/>
              <a:cxnLst/>
              <a:rect l="0" t="0" r="0" b="0"/>
              <a:pathLst>
                <a:path>
                  <a:moveTo>
                    <a:pt x="0" y="16748"/>
                  </a:moveTo>
                  <a:lnTo>
                    <a:pt x="1178550" y="16748"/>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CA"/>
            </a:p>
          </p:txBody>
        </p:sp>
        <p:sp>
          <p:nvSpPr>
            <p:cNvPr id="57" name="Connecteur droit 14"/>
            <p:cNvSpPr/>
            <p:nvPr/>
          </p:nvSpPr>
          <p:spPr>
            <a:xfrm rot="2142401">
              <a:off x="5247213" y="1705598"/>
              <a:ext cx="58927" cy="5892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algn="ctr" defTabSz="222250">
                <a:lnSpc>
                  <a:spcPct val="90000"/>
                </a:lnSpc>
                <a:spcBef>
                  <a:spcPct val="0"/>
                </a:spcBef>
                <a:spcAft>
                  <a:spcPct val="35000"/>
                </a:spcAft>
              </a:pPr>
              <a:endParaRPr lang="fr-CA" sz="500">
                <a:solidFill>
                  <a:prstClr val="black">
                    <a:hueOff val="0"/>
                    <a:satOff val="0"/>
                    <a:lumOff val="0"/>
                    <a:alphaOff val="0"/>
                  </a:prstClr>
                </a:solidFill>
              </a:endParaRPr>
            </a:p>
          </p:txBody>
        </p:sp>
      </p:grpSp>
      <p:grpSp>
        <p:nvGrpSpPr>
          <p:cNvPr id="23" name="Groupe 22"/>
          <p:cNvGrpSpPr/>
          <p:nvPr/>
        </p:nvGrpSpPr>
        <p:grpSpPr>
          <a:xfrm>
            <a:off x="5947552" y="1827650"/>
            <a:ext cx="2392503" cy="1196251"/>
            <a:chOff x="5755177" y="1480858"/>
            <a:chExt cx="2392503" cy="1196251"/>
          </a:xfrm>
        </p:grpSpPr>
        <p:sp>
          <p:nvSpPr>
            <p:cNvPr id="54" name="Rectangle à coins arrondis 53"/>
            <p:cNvSpPr/>
            <p:nvPr/>
          </p:nvSpPr>
          <p:spPr>
            <a:xfrm>
              <a:off x="5755177" y="1480858"/>
              <a:ext cx="2392503" cy="1196251"/>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55" name="Rectangle 54"/>
            <p:cNvSpPr/>
            <p:nvPr/>
          </p:nvSpPr>
          <p:spPr>
            <a:xfrm>
              <a:off x="5790214" y="1515895"/>
              <a:ext cx="2322429" cy="112617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00" tIns="12700" rIns="12700" bIns="12700" numCol="1" spcCol="1270" anchor="ctr" anchorCtr="0">
              <a:noAutofit/>
            </a:bodyPr>
            <a:lstStyle/>
            <a:p>
              <a:pPr algn="ctr" defTabSz="889000">
                <a:lnSpc>
                  <a:spcPct val="90000"/>
                </a:lnSpc>
                <a:spcBef>
                  <a:spcPct val="0"/>
                </a:spcBef>
              </a:pPr>
              <a:r>
                <a:rPr lang="fr-CA" sz="2000" dirty="0">
                  <a:solidFill>
                    <a:prstClr val="black"/>
                  </a:solidFill>
                  <a:latin typeface="Times New Roman" panose="02020603050405020304" pitchFamily="18" charset="0"/>
                  <a:cs typeface="Times New Roman" panose="02020603050405020304" pitchFamily="18" charset="0"/>
                </a:rPr>
                <a:t>Est-ce que les informations fournies sont adéquates?</a:t>
              </a:r>
            </a:p>
            <a:p>
              <a:pPr algn="ctr" defTabSz="889000">
                <a:lnSpc>
                  <a:spcPct val="90000"/>
                </a:lnSpc>
                <a:spcBef>
                  <a:spcPct val="0"/>
                </a:spcBef>
              </a:pPr>
              <a:r>
                <a:rPr lang="fr-CA" dirty="0">
                  <a:solidFill>
                    <a:prstClr val="black"/>
                  </a:solidFill>
                  <a:latin typeface="Times New Roman" panose="02020603050405020304" pitchFamily="18" charset="0"/>
                  <a:cs typeface="Times New Roman" panose="02020603050405020304" pitchFamily="18" charset="0"/>
                </a:rPr>
                <a:t>(19, A23)</a:t>
              </a:r>
            </a:p>
          </p:txBody>
        </p:sp>
      </p:grpSp>
      <p:grpSp>
        <p:nvGrpSpPr>
          <p:cNvPr id="24" name="Groupe 23"/>
          <p:cNvGrpSpPr/>
          <p:nvPr/>
        </p:nvGrpSpPr>
        <p:grpSpPr>
          <a:xfrm>
            <a:off x="8196058" y="1996479"/>
            <a:ext cx="1244996" cy="62249"/>
            <a:chOff x="8003683" y="1649687"/>
            <a:chExt cx="1244996" cy="62249"/>
          </a:xfrm>
        </p:grpSpPr>
        <p:sp>
          <p:nvSpPr>
            <p:cNvPr id="52" name="Connecteur droit 17"/>
            <p:cNvSpPr/>
            <p:nvPr/>
          </p:nvSpPr>
          <p:spPr>
            <a:xfrm rot="19214119">
              <a:off x="8003683" y="1664063"/>
              <a:ext cx="1244996" cy="33497"/>
            </a:xfrm>
            <a:custGeom>
              <a:avLst/>
              <a:gdLst/>
              <a:ahLst/>
              <a:cxnLst/>
              <a:rect l="0" t="0" r="0" b="0"/>
              <a:pathLst>
                <a:path>
                  <a:moveTo>
                    <a:pt x="0" y="16748"/>
                  </a:moveTo>
                  <a:lnTo>
                    <a:pt x="1244996" y="16748"/>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CA"/>
            </a:p>
          </p:txBody>
        </p:sp>
        <p:sp>
          <p:nvSpPr>
            <p:cNvPr id="53" name="Connecteur droit 18"/>
            <p:cNvSpPr/>
            <p:nvPr/>
          </p:nvSpPr>
          <p:spPr>
            <a:xfrm rot="19214119">
              <a:off x="8595057" y="1649687"/>
              <a:ext cx="62249" cy="6224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algn="ctr" defTabSz="222250">
                <a:lnSpc>
                  <a:spcPct val="90000"/>
                </a:lnSpc>
                <a:spcBef>
                  <a:spcPct val="0"/>
                </a:spcBef>
                <a:spcAft>
                  <a:spcPct val="35000"/>
                </a:spcAft>
              </a:pPr>
              <a:endParaRPr lang="fr-CA" sz="500">
                <a:solidFill>
                  <a:prstClr val="black">
                    <a:hueOff val="0"/>
                    <a:satOff val="0"/>
                    <a:lumOff val="0"/>
                    <a:alphaOff val="0"/>
                  </a:prstClr>
                </a:solidFill>
              </a:endParaRPr>
            </a:p>
          </p:txBody>
        </p:sp>
      </p:grpSp>
      <p:grpSp>
        <p:nvGrpSpPr>
          <p:cNvPr id="25" name="Groupe 24"/>
          <p:cNvGrpSpPr/>
          <p:nvPr/>
        </p:nvGrpSpPr>
        <p:grpSpPr>
          <a:xfrm>
            <a:off x="9051177" y="1122678"/>
            <a:ext cx="3062166" cy="1089754"/>
            <a:chOff x="9104682" y="497372"/>
            <a:chExt cx="2392503" cy="1570535"/>
          </a:xfrm>
        </p:grpSpPr>
        <p:sp>
          <p:nvSpPr>
            <p:cNvPr id="50" name="Rectangle à coins arrondis 49"/>
            <p:cNvSpPr/>
            <p:nvPr/>
          </p:nvSpPr>
          <p:spPr>
            <a:xfrm>
              <a:off x="9104682" y="497372"/>
              <a:ext cx="2392503" cy="1570535"/>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51" name="Rectangle 50"/>
            <p:cNvSpPr/>
            <p:nvPr/>
          </p:nvSpPr>
          <p:spPr>
            <a:xfrm>
              <a:off x="9150681" y="497372"/>
              <a:ext cx="2300505" cy="15245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00" tIns="12700" rIns="12700" bIns="12700" numCol="1" spcCol="1270" anchor="ctr" anchorCtr="0">
              <a:noAutofit/>
            </a:bodyPr>
            <a:lstStyle/>
            <a:p>
              <a:pPr algn="ctr" defTabSz="889000">
                <a:lnSpc>
                  <a:spcPct val="90000"/>
                </a:lnSpc>
                <a:spcBef>
                  <a:spcPct val="0"/>
                </a:spcBef>
                <a:spcAft>
                  <a:spcPct val="35000"/>
                </a:spcAft>
              </a:pPr>
              <a:r>
                <a:rPr lang="fr-CA" sz="2000" dirty="0">
                  <a:solidFill>
                    <a:prstClr val="black"/>
                  </a:solidFill>
                  <a:latin typeface="Times New Roman" panose="02020603050405020304" pitchFamily="18" charset="0"/>
                  <a:cs typeface="Times New Roman" panose="02020603050405020304" pitchFamily="18" charset="0"/>
                </a:rPr>
                <a:t>Opinion avec réserve </a:t>
              </a:r>
              <a:r>
                <a:rPr lang="fr-CA" sz="2000" b="1" u="sng" dirty="0">
                  <a:solidFill>
                    <a:prstClr val="black"/>
                  </a:solidFill>
                  <a:latin typeface="Times New Roman" panose="02020603050405020304" pitchFamily="18" charset="0"/>
                  <a:cs typeface="Times New Roman" panose="02020603050405020304" pitchFamily="18" charset="0"/>
                </a:rPr>
                <a:t>ou</a:t>
              </a:r>
              <a:r>
                <a:rPr lang="fr-CA" sz="2000" b="1" dirty="0">
                  <a:solidFill>
                    <a:prstClr val="black"/>
                  </a:solidFill>
                  <a:latin typeface="Times New Roman" panose="02020603050405020304" pitchFamily="18" charset="0"/>
                  <a:cs typeface="Times New Roman" panose="02020603050405020304" pitchFamily="18" charset="0"/>
                </a:rPr>
                <a:t> </a:t>
              </a:r>
            </a:p>
            <a:p>
              <a:pPr algn="ctr" defTabSz="889000">
                <a:lnSpc>
                  <a:spcPct val="90000"/>
                </a:lnSpc>
                <a:spcBef>
                  <a:spcPct val="0"/>
                </a:spcBef>
                <a:spcAft>
                  <a:spcPct val="35000"/>
                </a:spcAft>
              </a:pPr>
              <a:r>
                <a:rPr lang="fr-CA" sz="2000" dirty="0">
                  <a:solidFill>
                    <a:prstClr val="black"/>
                  </a:solidFill>
                  <a:latin typeface="Times New Roman" panose="02020603050405020304" pitchFamily="18" charset="0"/>
                  <a:cs typeface="Times New Roman" panose="02020603050405020304" pitchFamily="18" charset="0"/>
                </a:rPr>
                <a:t>Opinion défavorable </a:t>
              </a:r>
            </a:p>
            <a:p>
              <a:pPr algn="ctr" defTabSz="889000">
                <a:lnSpc>
                  <a:spcPct val="90000"/>
                </a:lnSpc>
                <a:spcBef>
                  <a:spcPct val="0"/>
                </a:spcBef>
                <a:spcAft>
                  <a:spcPct val="35000"/>
                </a:spcAft>
              </a:pPr>
              <a:r>
                <a:rPr lang="fr-CA" sz="2000" dirty="0">
                  <a:solidFill>
                    <a:prstClr val="black"/>
                  </a:solidFill>
                  <a:latin typeface="Times New Roman" panose="02020603050405020304" pitchFamily="18" charset="0"/>
                  <a:cs typeface="Times New Roman" panose="02020603050405020304" pitchFamily="18" charset="0"/>
                </a:rPr>
                <a:t>(par. 23 + NCA 705)</a:t>
              </a:r>
            </a:p>
          </p:txBody>
        </p:sp>
      </p:grpSp>
      <p:grpSp>
        <p:nvGrpSpPr>
          <p:cNvPr id="26" name="Groupe 25"/>
          <p:cNvGrpSpPr/>
          <p:nvPr/>
        </p:nvGrpSpPr>
        <p:grpSpPr>
          <a:xfrm>
            <a:off x="8170202" y="2830851"/>
            <a:ext cx="1296708" cy="64835"/>
            <a:chOff x="7977827" y="2484059"/>
            <a:chExt cx="1296708" cy="64835"/>
          </a:xfrm>
        </p:grpSpPr>
        <p:sp>
          <p:nvSpPr>
            <p:cNvPr id="48" name="Connecteur droit 21"/>
            <p:cNvSpPr/>
            <p:nvPr/>
          </p:nvSpPr>
          <p:spPr>
            <a:xfrm rot="2546201">
              <a:off x="7977827" y="2499728"/>
              <a:ext cx="1296708" cy="33497"/>
            </a:xfrm>
            <a:custGeom>
              <a:avLst/>
              <a:gdLst/>
              <a:ahLst/>
              <a:cxnLst/>
              <a:rect l="0" t="0" r="0" b="0"/>
              <a:pathLst>
                <a:path>
                  <a:moveTo>
                    <a:pt x="0" y="16748"/>
                  </a:moveTo>
                  <a:lnTo>
                    <a:pt x="1296708" y="16748"/>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CA"/>
            </a:p>
          </p:txBody>
        </p:sp>
        <p:sp>
          <p:nvSpPr>
            <p:cNvPr id="49" name="Connecteur droit 22"/>
            <p:cNvSpPr/>
            <p:nvPr/>
          </p:nvSpPr>
          <p:spPr>
            <a:xfrm rot="2546201">
              <a:off x="8593764" y="2484059"/>
              <a:ext cx="64835" cy="6483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algn="ctr" defTabSz="222250">
                <a:lnSpc>
                  <a:spcPct val="90000"/>
                </a:lnSpc>
                <a:spcBef>
                  <a:spcPct val="0"/>
                </a:spcBef>
                <a:spcAft>
                  <a:spcPct val="35000"/>
                </a:spcAft>
              </a:pPr>
              <a:endParaRPr lang="fr-CA" sz="500">
                <a:solidFill>
                  <a:prstClr val="black">
                    <a:hueOff val="0"/>
                    <a:satOff val="0"/>
                    <a:lumOff val="0"/>
                    <a:alphaOff val="0"/>
                  </a:prstClr>
                </a:solidFill>
              </a:endParaRPr>
            </a:p>
          </p:txBody>
        </p:sp>
      </p:grpSp>
      <p:grpSp>
        <p:nvGrpSpPr>
          <p:cNvPr id="27" name="Groupe 26"/>
          <p:cNvGrpSpPr/>
          <p:nvPr/>
        </p:nvGrpSpPr>
        <p:grpSpPr>
          <a:xfrm>
            <a:off x="9153335" y="2811136"/>
            <a:ext cx="2960008" cy="1196251"/>
            <a:chOff x="9104682" y="2247344"/>
            <a:chExt cx="2392503" cy="1413251"/>
          </a:xfrm>
        </p:grpSpPr>
        <p:sp>
          <p:nvSpPr>
            <p:cNvPr id="46" name="Rectangle à coins arrondis 45"/>
            <p:cNvSpPr/>
            <p:nvPr/>
          </p:nvSpPr>
          <p:spPr>
            <a:xfrm>
              <a:off x="9104682" y="2247344"/>
              <a:ext cx="2392503" cy="1413251"/>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47" name="Rectangle 46"/>
            <p:cNvSpPr/>
            <p:nvPr/>
          </p:nvSpPr>
          <p:spPr>
            <a:xfrm>
              <a:off x="9146075" y="2390781"/>
              <a:ext cx="2309717" cy="11152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00" tIns="12700" rIns="12700" bIns="12700" numCol="1" spcCol="1270" anchor="ctr" anchorCtr="0">
              <a:noAutofit/>
            </a:bodyPr>
            <a:lstStyle/>
            <a:p>
              <a:pPr algn="ctr" defTabSz="889000">
                <a:lnSpc>
                  <a:spcPct val="90000"/>
                </a:lnSpc>
                <a:spcBef>
                  <a:spcPct val="0"/>
                </a:spcBef>
                <a:spcAft>
                  <a:spcPct val="35000"/>
                </a:spcAft>
              </a:pPr>
              <a:r>
                <a:rPr lang="fr-CA" sz="2000" dirty="0">
                  <a:solidFill>
                    <a:prstClr val="black"/>
                  </a:solidFill>
                  <a:latin typeface="Times New Roman" panose="02020603050405020304" pitchFamily="18" charset="0"/>
                  <a:cs typeface="Times New Roman" panose="02020603050405020304" pitchFamily="18" charset="0"/>
                </a:rPr>
                <a:t>Opinion non modifiée avec section distincte sur l’HCE dans </a:t>
              </a:r>
              <a:r>
                <a:rPr lang="fr-CA" sz="2000" b="1" u="sng" dirty="0">
                  <a:solidFill>
                    <a:prstClr val="black"/>
                  </a:solidFill>
                  <a:latin typeface="Times New Roman" panose="02020603050405020304" pitchFamily="18" charset="0"/>
                  <a:cs typeface="Times New Roman" panose="02020603050405020304" pitchFamily="18" charset="0"/>
                </a:rPr>
                <a:t>son rapport</a:t>
              </a:r>
            </a:p>
            <a:p>
              <a:pPr algn="ctr" defTabSz="889000">
                <a:lnSpc>
                  <a:spcPct val="90000"/>
                </a:lnSpc>
                <a:spcBef>
                  <a:spcPct val="0"/>
                </a:spcBef>
                <a:spcAft>
                  <a:spcPct val="35000"/>
                </a:spcAft>
              </a:pPr>
              <a:r>
                <a:rPr lang="fr-CA" dirty="0">
                  <a:solidFill>
                    <a:prstClr val="black"/>
                  </a:solidFill>
                  <a:latin typeface="Times New Roman" panose="02020603050405020304" pitchFamily="18" charset="0"/>
                  <a:cs typeface="Times New Roman" panose="02020603050405020304" pitchFamily="18" charset="0"/>
                </a:rPr>
                <a:t>(22)</a:t>
              </a:r>
            </a:p>
          </p:txBody>
        </p:sp>
      </p:grpSp>
      <p:grpSp>
        <p:nvGrpSpPr>
          <p:cNvPr id="28" name="Groupe 27"/>
          <p:cNvGrpSpPr/>
          <p:nvPr/>
        </p:nvGrpSpPr>
        <p:grpSpPr>
          <a:xfrm>
            <a:off x="2083221" y="3472431"/>
            <a:ext cx="121122" cy="2422442"/>
            <a:chOff x="1890846" y="3125639"/>
            <a:chExt cx="121122" cy="2422442"/>
          </a:xfrm>
        </p:grpSpPr>
        <p:sp>
          <p:nvSpPr>
            <p:cNvPr id="44" name="Connecteur droit 25"/>
            <p:cNvSpPr/>
            <p:nvPr/>
          </p:nvSpPr>
          <p:spPr>
            <a:xfrm rot="4078368">
              <a:off x="740186" y="4320111"/>
              <a:ext cx="2422442" cy="33497"/>
            </a:xfrm>
            <a:custGeom>
              <a:avLst/>
              <a:gdLst/>
              <a:ahLst/>
              <a:cxnLst/>
              <a:rect l="0" t="0" r="0" b="0"/>
              <a:pathLst>
                <a:path>
                  <a:moveTo>
                    <a:pt x="0" y="16748"/>
                  </a:moveTo>
                  <a:lnTo>
                    <a:pt x="2422442" y="16748"/>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CA"/>
            </a:p>
          </p:txBody>
        </p:sp>
        <p:sp>
          <p:nvSpPr>
            <p:cNvPr id="45" name="Connecteur droit 26"/>
            <p:cNvSpPr/>
            <p:nvPr/>
          </p:nvSpPr>
          <p:spPr>
            <a:xfrm rot="4078368">
              <a:off x="1890846" y="4276299"/>
              <a:ext cx="121122" cy="121122"/>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algn="ctr" defTabSz="400050">
                <a:lnSpc>
                  <a:spcPct val="90000"/>
                </a:lnSpc>
                <a:spcBef>
                  <a:spcPct val="0"/>
                </a:spcBef>
                <a:spcAft>
                  <a:spcPct val="35000"/>
                </a:spcAft>
              </a:pPr>
              <a:endParaRPr lang="fr-CA" sz="900">
                <a:solidFill>
                  <a:prstClr val="black">
                    <a:hueOff val="0"/>
                    <a:satOff val="0"/>
                    <a:lumOff val="0"/>
                    <a:alphaOff val="0"/>
                  </a:prstClr>
                </a:solidFill>
              </a:endParaRPr>
            </a:p>
          </p:txBody>
        </p:sp>
      </p:grpSp>
      <p:grpSp>
        <p:nvGrpSpPr>
          <p:cNvPr id="29" name="Groupe 28"/>
          <p:cNvGrpSpPr/>
          <p:nvPr/>
        </p:nvGrpSpPr>
        <p:grpSpPr>
          <a:xfrm>
            <a:off x="2251619" y="5076386"/>
            <a:ext cx="2080292" cy="1334150"/>
            <a:chOff x="2405672" y="4861543"/>
            <a:chExt cx="1722411" cy="1196251"/>
          </a:xfrm>
        </p:grpSpPr>
        <p:sp>
          <p:nvSpPr>
            <p:cNvPr id="42" name="Rectangle à coins arrondis 41"/>
            <p:cNvSpPr/>
            <p:nvPr/>
          </p:nvSpPr>
          <p:spPr>
            <a:xfrm>
              <a:off x="2405672" y="4861543"/>
              <a:ext cx="1722411" cy="1196251"/>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43" name="Rectangle 42"/>
            <p:cNvSpPr/>
            <p:nvPr/>
          </p:nvSpPr>
          <p:spPr>
            <a:xfrm>
              <a:off x="2440709" y="4896580"/>
              <a:ext cx="1652337" cy="112617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00" tIns="12700" rIns="12700" bIns="12700" numCol="1" spcCol="1270" anchor="ctr" anchorCtr="0">
              <a:noAutofit/>
            </a:bodyPr>
            <a:lstStyle/>
            <a:p>
              <a:pPr algn="ctr" defTabSz="889000">
                <a:lnSpc>
                  <a:spcPct val="90000"/>
                </a:lnSpc>
                <a:spcBef>
                  <a:spcPct val="0"/>
                </a:spcBef>
                <a:spcAft>
                  <a:spcPct val="35000"/>
                </a:spcAft>
              </a:pPr>
              <a:r>
                <a:rPr lang="fr-CA" sz="2000" dirty="0">
                  <a:solidFill>
                    <a:prstClr val="black"/>
                  </a:solidFill>
                  <a:latin typeface="Times New Roman" panose="02020603050405020304" pitchFamily="18" charset="0"/>
                  <a:cs typeface="Times New Roman" panose="02020603050405020304" pitchFamily="18" charset="0"/>
                </a:rPr>
                <a:t>Est-ce que les </a:t>
              </a:r>
              <a:r>
                <a:rPr lang="fr-CA" sz="2000" dirty="0" err="1">
                  <a:solidFill>
                    <a:prstClr val="black"/>
                  </a:solidFill>
                  <a:latin typeface="Times New Roman" panose="02020603050405020304" pitchFamily="18" charset="0"/>
                  <a:cs typeface="Times New Roman" panose="02020603050405020304" pitchFamily="18" charset="0"/>
                </a:rPr>
                <a:t>ÉFs</a:t>
              </a:r>
              <a:r>
                <a:rPr lang="fr-CA" sz="2000" dirty="0">
                  <a:solidFill>
                    <a:prstClr val="black"/>
                  </a:solidFill>
                  <a:latin typeface="Times New Roman" panose="02020603050405020304" pitchFamily="18" charset="0"/>
                  <a:cs typeface="Times New Roman" panose="02020603050405020304" pitchFamily="18" charset="0"/>
                </a:rPr>
                <a:t> sont néanmoins préparés suivant l’HCE ?</a:t>
              </a:r>
            </a:p>
          </p:txBody>
        </p:sp>
      </p:grpSp>
      <p:grpSp>
        <p:nvGrpSpPr>
          <p:cNvPr id="30" name="Groupe 29"/>
          <p:cNvGrpSpPr/>
          <p:nvPr/>
        </p:nvGrpSpPr>
        <p:grpSpPr>
          <a:xfrm>
            <a:off x="4278142" y="5375370"/>
            <a:ext cx="1042881" cy="52144"/>
            <a:chOff x="4063419" y="5182091"/>
            <a:chExt cx="1042881" cy="52144"/>
          </a:xfrm>
        </p:grpSpPr>
        <p:sp>
          <p:nvSpPr>
            <p:cNvPr id="40" name="Connecteur droit 29"/>
            <p:cNvSpPr/>
            <p:nvPr/>
          </p:nvSpPr>
          <p:spPr>
            <a:xfrm rot="19869742">
              <a:off x="4063419" y="5191415"/>
              <a:ext cx="1042881" cy="33497"/>
            </a:xfrm>
            <a:custGeom>
              <a:avLst/>
              <a:gdLst/>
              <a:ahLst/>
              <a:cxnLst/>
              <a:rect l="0" t="0" r="0" b="0"/>
              <a:pathLst>
                <a:path>
                  <a:moveTo>
                    <a:pt x="0" y="16748"/>
                  </a:moveTo>
                  <a:lnTo>
                    <a:pt x="1042881" y="16748"/>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CA"/>
            </a:p>
          </p:txBody>
        </p:sp>
        <p:sp>
          <p:nvSpPr>
            <p:cNvPr id="41" name="Connecteur droit 30"/>
            <p:cNvSpPr/>
            <p:nvPr/>
          </p:nvSpPr>
          <p:spPr>
            <a:xfrm rot="19869742">
              <a:off x="4558788" y="5182091"/>
              <a:ext cx="52144" cy="52144"/>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algn="ctr" defTabSz="222250">
                <a:lnSpc>
                  <a:spcPct val="90000"/>
                </a:lnSpc>
                <a:spcBef>
                  <a:spcPct val="0"/>
                </a:spcBef>
                <a:spcAft>
                  <a:spcPct val="35000"/>
                </a:spcAft>
              </a:pPr>
              <a:endParaRPr lang="fr-CA" sz="500">
                <a:solidFill>
                  <a:prstClr val="black">
                    <a:hueOff val="0"/>
                    <a:satOff val="0"/>
                    <a:lumOff val="0"/>
                    <a:alphaOff val="0"/>
                  </a:prstClr>
                </a:solidFill>
              </a:endParaRPr>
            </a:p>
          </p:txBody>
        </p:sp>
      </p:grpSp>
      <p:grpSp>
        <p:nvGrpSpPr>
          <p:cNvPr id="31" name="Groupe 30"/>
          <p:cNvGrpSpPr/>
          <p:nvPr/>
        </p:nvGrpSpPr>
        <p:grpSpPr>
          <a:xfrm rot="1573830">
            <a:off x="8030137" y="5164845"/>
            <a:ext cx="1013397" cy="50669"/>
            <a:chOff x="7640102" y="4917063"/>
            <a:chExt cx="1013397" cy="50669"/>
          </a:xfrm>
        </p:grpSpPr>
        <p:sp>
          <p:nvSpPr>
            <p:cNvPr id="38" name="Connecteur droit 31"/>
            <p:cNvSpPr/>
            <p:nvPr/>
          </p:nvSpPr>
          <p:spPr>
            <a:xfrm rot="21503243">
              <a:off x="7640102" y="4925649"/>
              <a:ext cx="1013397" cy="33497"/>
            </a:xfrm>
            <a:custGeom>
              <a:avLst/>
              <a:gdLst/>
              <a:ahLst/>
              <a:cxnLst/>
              <a:rect l="0" t="0" r="0" b="0"/>
              <a:pathLst>
                <a:path>
                  <a:moveTo>
                    <a:pt x="0" y="16748"/>
                  </a:moveTo>
                  <a:lnTo>
                    <a:pt x="1013397" y="16748"/>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CA"/>
            </a:p>
          </p:txBody>
        </p:sp>
        <p:sp>
          <p:nvSpPr>
            <p:cNvPr id="39" name="Connecteur droit 32"/>
            <p:cNvSpPr/>
            <p:nvPr/>
          </p:nvSpPr>
          <p:spPr>
            <a:xfrm rot="21503243">
              <a:off x="8121466" y="4917063"/>
              <a:ext cx="50669" cy="5066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algn="ctr" defTabSz="222250">
                <a:lnSpc>
                  <a:spcPct val="90000"/>
                </a:lnSpc>
                <a:spcBef>
                  <a:spcPct val="0"/>
                </a:spcBef>
                <a:spcAft>
                  <a:spcPct val="35000"/>
                </a:spcAft>
              </a:pPr>
              <a:endParaRPr lang="fr-CA" sz="500">
                <a:solidFill>
                  <a:prstClr val="black">
                    <a:hueOff val="0"/>
                    <a:satOff val="0"/>
                    <a:lumOff val="0"/>
                    <a:alphaOff val="0"/>
                  </a:prstClr>
                </a:solidFill>
              </a:endParaRPr>
            </a:p>
          </p:txBody>
        </p:sp>
      </p:grpSp>
      <p:grpSp>
        <p:nvGrpSpPr>
          <p:cNvPr id="32" name="Groupe 31"/>
          <p:cNvGrpSpPr/>
          <p:nvPr/>
        </p:nvGrpSpPr>
        <p:grpSpPr>
          <a:xfrm>
            <a:off x="9003644" y="4441264"/>
            <a:ext cx="3109785" cy="1230583"/>
            <a:chOff x="8710419" y="3798301"/>
            <a:chExt cx="3092933" cy="2262219"/>
          </a:xfrm>
        </p:grpSpPr>
        <p:sp>
          <p:nvSpPr>
            <p:cNvPr id="36" name="Rectangle à coins arrondis 35"/>
            <p:cNvSpPr/>
            <p:nvPr/>
          </p:nvSpPr>
          <p:spPr>
            <a:xfrm>
              <a:off x="8710419" y="3798301"/>
              <a:ext cx="3092933" cy="2262219"/>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37" name="Rectangle 36"/>
            <p:cNvSpPr/>
            <p:nvPr/>
          </p:nvSpPr>
          <p:spPr>
            <a:xfrm>
              <a:off x="8871903" y="3863287"/>
              <a:ext cx="2808071" cy="21297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065" tIns="12065" rIns="12065" bIns="12065" numCol="1" spcCol="1270" anchor="ctr" anchorCtr="0">
              <a:noAutofit/>
            </a:bodyPr>
            <a:lstStyle/>
            <a:p>
              <a:pPr algn="ctr" defTabSz="844550">
                <a:lnSpc>
                  <a:spcPct val="90000"/>
                </a:lnSpc>
                <a:spcBef>
                  <a:spcPct val="0"/>
                </a:spcBef>
                <a:spcAft>
                  <a:spcPct val="35000"/>
                </a:spcAft>
              </a:pPr>
              <a:r>
                <a:rPr lang="fr-CA" sz="1900" dirty="0">
                  <a:solidFill>
                    <a:prstClr val="black"/>
                  </a:solidFill>
                  <a:latin typeface="Times New Roman" panose="02020603050405020304" pitchFamily="18" charset="0"/>
                  <a:cs typeface="Times New Roman" panose="02020603050405020304" pitchFamily="18" charset="0"/>
                </a:rPr>
                <a:t>Possibilité d’exprimer une opinion non modifiée avec un par. d’observation. </a:t>
              </a:r>
            </a:p>
            <a:p>
              <a:pPr algn="ctr" defTabSz="844550">
                <a:lnSpc>
                  <a:spcPct val="90000"/>
                </a:lnSpc>
                <a:spcBef>
                  <a:spcPct val="0"/>
                </a:spcBef>
                <a:spcAft>
                  <a:spcPct val="35000"/>
                </a:spcAft>
              </a:pPr>
              <a:r>
                <a:rPr lang="fr-CA" sz="1900" dirty="0">
                  <a:solidFill>
                    <a:prstClr val="black"/>
                  </a:solidFill>
                  <a:latin typeface="Times New Roman" panose="02020603050405020304" pitchFamily="18" charset="0"/>
                  <a:cs typeface="Times New Roman" panose="02020603050405020304" pitchFamily="18" charset="0"/>
                </a:rPr>
                <a:t>(par. A27 + NCA 706)</a:t>
              </a:r>
            </a:p>
          </p:txBody>
        </p:sp>
      </p:grpSp>
      <p:grpSp>
        <p:nvGrpSpPr>
          <p:cNvPr id="33" name="Groupe 32"/>
          <p:cNvGrpSpPr/>
          <p:nvPr/>
        </p:nvGrpSpPr>
        <p:grpSpPr>
          <a:xfrm>
            <a:off x="4267083" y="6012093"/>
            <a:ext cx="1063751" cy="53187"/>
            <a:chOff x="4074708" y="5665301"/>
            <a:chExt cx="1063751" cy="53187"/>
          </a:xfrm>
        </p:grpSpPr>
        <p:sp>
          <p:nvSpPr>
            <p:cNvPr id="34" name="Connecteur droit 35"/>
            <p:cNvSpPr/>
            <p:nvPr/>
          </p:nvSpPr>
          <p:spPr>
            <a:xfrm rot="1553290">
              <a:off x="4074708" y="5675146"/>
              <a:ext cx="1063751" cy="33497"/>
            </a:xfrm>
            <a:custGeom>
              <a:avLst/>
              <a:gdLst/>
              <a:ahLst/>
              <a:cxnLst/>
              <a:rect l="0" t="0" r="0" b="0"/>
              <a:pathLst>
                <a:path>
                  <a:moveTo>
                    <a:pt x="0" y="16748"/>
                  </a:moveTo>
                  <a:lnTo>
                    <a:pt x="1063751" y="16748"/>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fr-CA"/>
            </a:p>
          </p:txBody>
        </p:sp>
        <p:sp>
          <p:nvSpPr>
            <p:cNvPr id="35" name="Connecteur droit 36"/>
            <p:cNvSpPr/>
            <p:nvPr/>
          </p:nvSpPr>
          <p:spPr>
            <a:xfrm rot="1553290">
              <a:off x="4579990" y="5665301"/>
              <a:ext cx="53187" cy="5318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algn="ctr" defTabSz="222250">
                <a:lnSpc>
                  <a:spcPct val="90000"/>
                </a:lnSpc>
                <a:spcBef>
                  <a:spcPct val="0"/>
                </a:spcBef>
                <a:spcAft>
                  <a:spcPct val="35000"/>
                </a:spcAft>
              </a:pPr>
              <a:endParaRPr lang="fr-CA" sz="500">
                <a:solidFill>
                  <a:prstClr val="black">
                    <a:hueOff val="0"/>
                    <a:satOff val="0"/>
                    <a:lumOff val="0"/>
                    <a:alphaOff val="0"/>
                  </a:prstClr>
                </a:solidFill>
              </a:endParaRPr>
            </a:p>
          </p:txBody>
        </p:sp>
      </p:grpSp>
      <p:grpSp>
        <p:nvGrpSpPr>
          <p:cNvPr id="68" name="Groupe 67"/>
          <p:cNvGrpSpPr/>
          <p:nvPr/>
        </p:nvGrpSpPr>
        <p:grpSpPr>
          <a:xfrm>
            <a:off x="5199315" y="3752339"/>
            <a:ext cx="3089918" cy="1428542"/>
            <a:chOff x="5041637" y="4640724"/>
            <a:chExt cx="2598665" cy="690665"/>
          </a:xfrm>
        </p:grpSpPr>
        <p:sp>
          <p:nvSpPr>
            <p:cNvPr id="72" name="Rectangle à coins arrondis 71"/>
            <p:cNvSpPr/>
            <p:nvPr/>
          </p:nvSpPr>
          <p:spPr>
            <a:xfrm>
              <a:off x="5041637" y="4757528"/>
              <a:ext cx="2598665" cy="573861"/>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73" name="Rectangle 72"/>
            <p:cNvSpPr/>
            <p:nvPr/>
          </p:nvSpPr>
          <p:spPr>
            <a:xfrm>
              <a:off x="5063588" y="4640724"/>
              <a:ext cx="2554763" cy="6687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00" tIns="12700" rIns="12700" bIns="12700" numCol="1" spcCol="1270" anchor="ctr" anchorCtr="0">
              <a:noAutofit/>
            </a:bodyPr>
            <a:lstStyle/>
            <a:p>
              <a:pPr algn="ctr" defTabSz="889000">
                <a:lnSpc>
                  <a:spcPct val="90000"/>
                </a:lnSpc>
                <a:spcBef>
                  <a:spcPct val="0"/>
                </a:spcBef>
                <a:spcAft>
                  <a:spcPct val="35000"/>
                </a:spcAft>
              </a:pPr>
              <a:endParaRPr lang="fr-CA" sz="2000" dirty="0">
                <a:solidFill>
                  <a:prstClr val="black"/>
                </a:solidFill>
                <a:latin typeface="Times New Roman" panose="02020603050405020304" pitchFamily="18" charset="0"/>
                <a:cs typeface="Times New Roman" panose="02020603050405020304" pitchFamily="18" charset="0"/>
              </a:endParaRPr>
            </a:p>
            <a:p>
              <a:pPr algn="ctr" defTabSz="889000">
                <a:lnSpc>
                  <a:spcPct val="90000"/>
                </a:lnSpc>
                <a:spcBef>
                  <a:spcPct val="0"/>
                </a:spcBef>
                <a:spcAft>
                  <a:spcPts val="400"/>
                </a:spcAft>
              </a:pPr>
              <a:r>
                <a:rPr lang="fr-CA" sz="2000" dirty="0">
                  <a:solidFill>
                    <a:prstClr val="black"/>
                  </a:solidFill>
                  <a:latin typeface="Times New Roman" panose="02020603050405020304" pitchFamily="18" charset="0"/>
                  <a:cs typeface="Times New Roman" panose="02020603050405020304" pitchFamily="18" charset="0"/>
                </a:rPr>
                <a:t>Est-ce que l’autre base est appropriée?</a:t>
              </a:r>
            </a:p>
            <a:p>
              <a:pPr algn="ctr" defTabSz="889000">
                <a:lnSpc>
                  <a:spcPct val="90000"/>
                </a:lnSpc>
                <a:spcBef>
                  <a:spcPct val="0"/>
                </a:spcBef>
                <a:spcAft>
                  <a:spcPts val="200"/>
                </a:spcAft>
              </a:pPr>
              <a:r>
                <a:rPr lang="fr-CA" sz="1600" dirty="0">
                  <a:solidFill>
                    <a:prstClr val="black"/>
                  </a:solidFill>
                  <a:latin typeface="Times New Roman" panose="02020603050405020304" pitchFamily="18" charset="0"/>
                  <a:cs typeface="Times New Roman" panose="02020603050405020304" pitchFamily="18" charset="0"/>
                </a:rPr>
                <a:t>(ex. valeur liquidative)</a:t>
              </a:r>
            </a:p>
            <a:p>
              <a:pPr algn="ctr" defTabSz="889000">
                <a:lnSpc>
                  <a:spcPct val="90000"/>
                </a:lnSpc>
                <a:spcBef>
                  <a:spcPct val="0"/>
                </a:spcBef>
                <a:spcAft>
                  <a:spcPts val="200"/>
                </a:spcAft>
              </a:pPr>
              <a:r>
                <a:rPr lang="fr-CA" sz="1600" dirty="0">
                  <a:solidFill>
                    <a:prstClr val="black"/>
                  </a:solidFill>
                  <a:latin typeface="Times New Roman" panose="02020603050405020304" pitchFamily="18" charset="0"/>
                  <a:cs typeface="Times New Roman" panose="02020603050405020304" pitchFamily="18" charset="0"/>
                </a:rPr>
                <a:t>(A27)</a:t>
              </a:r>
            </a:p>
          </p:txBody>
        </p:sp>
      </p:grpSp>
      <p:grpSp>
        <p:nvGrpSpPr>
          <p:cNvPr id="69" name="Groupe 68"/>
          <p:cNvGrpSpPr/>
          <p:nvPr/>
        </p:nvGrpSpPr>
        <p:grpSpPr>
          <a:xfrm>
            <a:off x="5284772" y="5505113"/>
            <a:ext cx="3520094" cy="1269171"/>
            <a:chOff x="5085085" y="5525314"/>
            <a:chExt cx="3046470" cy="797612"/>
          </a:xfrm>
        </p:grpSpPr>
        <p:sp>
          <p:nvSpPr>
            <p:cNvPr id="70" name="Rectangle à coins arrondis 69"/>
            <p:cNvSpPr/>
            <p:nvPr/>
          </p:nvSpPr>
          <p:spPr>
            <a:xfrm>
              <a:off x="5085085" y="5525314"/>
              <a:ext cx="3046470" cy="797612"/>
            </a:xfrm>
            <a:prstGeom prst="roundRect">
              <a:avLst>
                <a:gd name="adj" fmla="val 10000"/>
              </a:avLst>
            </a:prstGeom>
            <a:solidFill>
              <a:schemeClr val="bg1"/>
            </a:solidFill>
            <a:ln w="28575">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fr-CA"/>
            </a:p>
          </p:txBody>
        </p:sp>
        <p:sp>
          <p:nvSpPr>
            <p:cNvPr id="71" name="Rectangle 70"/>
            <p:cNvSpPr/>
            <p:nvPr/>
          </p:nvSpPr>
          <p:spPr>
            <a:xfrm>
              <a:off x="5108446" y="5556368"/>
              <a:ext cx="2999748" cy="7431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00" tIns="12700" rIns="12700" bIns="12700" numCol="1" spcCol="1270" anchor="ctr" anchorCtr="0">
              <a:noAutofit/>
            </a:bodyPr>
            <a:lstStyle/>
            <a:p>
              <a:pPr algn="ctr" defTabSz="889000">
                <a:lnSpc>
                  <a:spcPct val="90000"/>
                </a:lnSpc>
                <a:spcBef>
                  <a:spcPct val="0"/>
                </a:spcBef>
                <a:spcAft>
                  <a:spcPct val="35000"/>
                </a:spcAft>
              </a:pPr>
              <a:r>
                <a:rPr lang="fr-CA" b="1" dirty="0">
                  <a:solidFill>
                    <a:prstClr val="black"/>
                  </a:solidFill>
                  <a:latin typeface="Times New Roman" panose="02020603050405020304" pitchFamily="18" charset="0"/>
                  <a:cs typeface="Times New Roman" panose="02020603050405020304" pitchFamily="18" charset="0"/>
                </a:rPr>
                <a:t>OPINION DÉFAVORABLE</a:t>
              </a:r>
              <a:r>
                <a:rPr lang="fr-CA" dirty="0">
                  <a:solidFill>
                    <a:prstClr val="black"/>
                  </a:solidFill>
                  <a:latin typeface="Times New Roman" panose="02020603050405020304" pitchFamily="18" charset="0"/>
                  <a:cs typeface="Times New Roman" panose="02020603050405020304" pitchFamily="18" charset="0"/>
                </a:rPr>
                <a:t>, même si informations adéquates fournies aux ÉF quant à l’HCE. </a:t>
              </a:r>
            </a:p>
            <a:p>
              <a:pPr algn="ctr" defTabSz="889000">
                <a:lnSpc>
                  <a:spcPct val="90000"/>
                </a:lnSpc>
                <a:spcBef>
                  <a:spcPct val="0"/>
                </a:spcBef>
                <a:spcAft>
                  <a:spcPct val="35000"/>
                </a:spcAft>
              </a:pPr>
              <a:r>
                <a:rPr lang="fr-CA" sz="1600" dirty="0">
                  <a:solidFill>
                    <a:prstClr val="black"/>
                  </a:solidFill>
                  <a:latin typeface="Times New Roman" panose="02020603050405020304" pitchFamily="18" charset="0"/>
                  <a:cs typeface="Times New Roman" panose="02020603050405020304" pitchFamily="18" charset="0"/>
                </a:rPr>
                <a:t>(21, A26)</a:t>
              </a:r>
            </a:p>
          </p:txBody>
        </p:sp>
      </p:grpSp>
      <p:sp>
        <p:nvSpPr>
          <p:cNvPr id="7" name="Ellipse 6"/>
          <p:cNvSpPr/>
          <p:nvPr/>
        </p:nvSpPr>
        <p:spPr>
          <a:xfrm>
            <a:off x="1472611" y="1560155"/>
            <a:ext cx="1119117" cy="436728"/>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prstClr val="black"/>
                </a:solidFill>
              </a:rPr>
              <a:t>Oui</a:t>
            </a:r>
            <a:endParaRPr lang="fr-CA" b="1" dirty="0">
              <a:solidFill>
                <a:prstClr val="black"/>
              </a:solidFill>
            </a:endParaRPr>
          </a:p>
        </p:txBody>
      </p:sp>
      <p:sp>
        <p:nvSpPr>
          <p:cNvPr id="8" name="Ellipse 7"/>
          <p:cNvSpPr/>
          <p:nvPr/>
        </p:nvSpPr>
        <p:spPr>
          <a:xfrm>
            <a:off x="5153338" y="2546062"/>
            <a:ext cx="1119117" cy="436728"/>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prstClr val="black"/>
                </a:solidFill>
              </a:rPr>
              <a:t>Oui</a:t>
            </a:r>
            <a:endParaRPr lang="fr-CA" b="1" dirty="0">
              <a:solidFill>
                <a:prstClr val="black"/>
              </a:solidFill>
            </a:endParaRPr>
          </a:p>
        </p:txBody>
      </p:sp>
      <p:sp>
        <p:nvSpPr>
          <p:cNvPr id="9" name="Ellipse 8"/>
          <p:cNvSpPr/>
          <p:nvPr/>
        </p:nvSpPr>
        <p:spPr>
          <a:xfrm>
            <a:off x="8374140" y="3287473"/>
            <a:ext cx="1119117" cy="436728"/>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prstClr val="black"/>
                </a:solidFill>
              </a:rPr>
              <a:t>Oui</a:t>
            </a:r>
            <a:endParaRPr lang="fr-CA" b="1" dirty="0">
              <a:solidFill>
                <a:prstClr val="black"/>
              </a:solidFill>
            </a:endParaRPr>
          </a:p>
        </p:txBody>
      </p:sp>
      <p:sp>
        <p:nvSpPr>
          <p:cNvPr id="10" name="Ellipse 9"/>
          <p:cNvSpPr/>
          <p:nvPr/>
        </p:nvSpPr>
        <p:spPr>
          <a:xfrm>
            <a:off x="4560498" y="6236939"/>
            <a:ext cx="1119117" cy="436728"/>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prstClr val="black"/>
                </a:solidFill>
              </a:rPr>
              <a:t>Oui</a:t>
            </a:r>
            <a:endParaRPr lang="fr-CA" b="1" dirty="0">
              <a:solidFill>
                <a:prstClr val="black"/>
              </a:solidFill>
            </a:endParaRPr>
          </a:p>
        </p:txBody>
      </p:sp>
      <p:sp>
        <p:nvSpPr>
          <p:cNvPr id="11" name="Ellipse 10"/>
          <p:cNvSpPr/>
          <p:nvPr/>
        </p:nvSpPr>
        <p:spPr>
          <a:xfrm>
            <a:off x="1334134" y="4567254"/>
            <a:ext cx="1119117" cy="436728"/>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rgbClr val="FF0000"/>
                </a:solidFill>
              </a:rPr>
              <a:t>Non</a:t>
            </a:r>
            <a:endParaRPr lang="fr-CA" b="1" dirty="0">
              <a:solidFill>
                <a:srgbClr val="FF0000"/>
              </a:solidFill>
            </a:endParaRPr>
          </a:p>
        </p:txBody>
      </p:sp>
      <p:sp>
        <p:nvSpPr>
          <p:cNvPr id="12" name="Ellipse 11"/>
          <p:cNvSpPr/>
          <p:nvPr/>
        </p:nvSpPr>
        <p:spPr>
          <a:xfrm>
            <a:off x="4322409" y="4494850"/>
            <a:ext cx="1119117" cy="436728"/>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rgbClr val="FF0000"/>
                </a:solidFill>
              </a:rPr>
              <a:t>Non</a:t>
            </a:r>
            <a:endParaRPr lang="fr-CA" b="1" dirty="0">
              <a:solidFill>
                <a:srgbClr val="FF0000"/>
              </a:solidFill>
            </a:endParaRPr>
          </a:p>
        </p:txBody>
      </p:sp>
      <p:sp>
        <p:nvSpPr>
          <p:cNvPr id="13" name="Ellipse 12"/>
          <p:cNvSpPr/>
          <p:nvPr/>
        </p:nvSpPr>
        <p:spPr>
          <a:xfrm>
            <a:off x="4983787" y="145650"/>
            <a:ext cx="973540" cy="436728"/>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000" b="1" dirty="0">
                <a:solidFill>
                  <a:srgbClr val="FF0000"/>
                </a:solidFill>
              </a:rPr>
              <a:t>Non</a:t>
            </a:r>
            <a:endParaRPr lang="fr-CA" b="1" dirty="0">
              <a:solidFill>
                <a:srgbClr val="FF0000"/>
              </a:solidFill>
            </a:endParaRPr>
          </a:p>
        </p:txBody>
      </p:sp>
      <p:sp>
        <p:nvSpPr>
          <p:cNvPr id="14" name="Ellipse 13"/>
          <p:cNvSpPr/>
          <p:nvPr/>
        </p:nvSpPr>
        <p:spPr>
          <a:xfrm>
            <a:off x="8643158" y="2004461"/>
            <a:ext cx="950795" cy="436728"/>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rgbClr val="FF0000"/>
                </a:solidFill>
              </a:rPr>
              <a:t>Non</a:t>
            </a:r>
          </a:p>
        </p:txBody>
      </p:sp>
      <p:sp>
        <p:nvSpPr>
          <p:cNvPr id="15" name="Ellipse 14"/>
          <p:cNvSpPr/>
          <p:nvPr/>
        </p:nvSpPr>
        <p:spPr>
          <a:xfrm>
            <a:off x="7742725" y="4858022"/>
            <a:ext cx="1119117" cy="436728"/>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prstClr val="black"/>
                </a:solidFill>
              </a:rPr>
              <a:t>Oui</a:t>
            </a:r>
            <a:endParaRPr lang="fr-CA" b="1" dirty="0">
              <a:solidFill>
                <a:prstClr val="black"/>
              </a:solidFill>
            </a:endParaRPr>
          </a:p>
        </p:txBody>
      </p:sp>
      <p:sp>
        <p:nvSpPr>
          <p:cNvPr id="2" name="Espace réservé du numéro de diapositive 1">
            <a:extLst>
              <a:ext uri="{FF2B5EF4-FFF2-40B4-BE49-F238E27FC236}">
                <a16:creationId xmlns:a16="http://schemas.microsoft.com/office/drawing/2014/main" id="{3AAA55B0-2C9A-994C-9344-EC132CE9E4B2}"/>
              </a:ext>
            </a:extLst>
          </p:cNvPr>
          <p:cNvSpPr>
            <a:spLocks noGrp="1"/>
          </p:cNvSpPr>
          <p:nvPr>
            <p:ph type="sldNum" sz="quarter" idx="12"/>
          </p:nvPr>
        </p:nvSpPr>
        <p:spPr/>
        <p:txBody>
          <a:bodyPr/>
          <a:lstStyle/>
          <a:p>
            <a:fld id="{D57F1E4F-1CFF-5643-939E-02111984F565}" type="slidenum">
              <a:rPr lang="en-US" smtClean="0"/>
              <a:t>84</a:t>
            </a:fld>
            <a:endParaRPr lang="en-US" dirty="0"/>
          </a:p>
        </p:txBody>
      </p:sp>
      <p:sp>
        <p:nvSpPr>
          <p:cNvPr id="3" name="Organigramme : Alternative 13">
            <a:extLst>
              <a:ext uri="{FF2B5EF4-FFF2-40B4-BE49-F238E27FC236}">
                <a16:creationId xmlns:a16="http://schemas.microsoft.com/office/drawing/2014/main" id="{303CFE4B-9C04-A86D-D4ED-2D29014C8DB1}"/>
              </a:ext>
            </a:extLst>
          </p:cNvPr>
          <p:cNvSpPr/>
          <p:nvPr/>
        </p:nvSpPr>
        <p:spPr>
          <a:xfrm>
            <a:off x="10502714" y="113029"/>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570</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39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3"/>
                                        </p:tgtEl>
                                        <p:attrNameLst>
                                          <p:attrName>style.visibility</p:attrName>
                                        </p:attrNameLst>
                                      </p:cBhvr>
                                      <p:to>
                                        <p:strVal val="visible"/>
                                      </p:to>
                                    </p:set>
                                    <p:anim calcmode="lin" valueType="num">
                                      <p:cBhvr additive="base">
                                        <p:cTn id="83" dur="500" fill="hold"/>
                                        <p:tgtEl>
                                          <p:spTgt spid="3"/>
                                        </p:tgtEl>
                                        <p:attrNameLst>
                                          <p:attrName>ppt_x</p:attrName>
                                        </p:attrNameLst>
                                      </p:cBhvr>
                                      <p:tavLst>
                                        <p:tav tm="0">
                                          <p:val>
                                            <p:strVal val="#ppt_x"/>
                                          </p:val>
                                        </p:tav>
                                        <p:tav tm="100000">
                                          <p:val>
                                            <p:strVal val="#ppt_x"/>
                                          </p:val>
                                        </p:tav>
                                      </p:tavLst>
                                    </p:anim>
                                    <p:anim calcmode="lin" valueType="num">
                                      <p:cBhvr additive="base">
                                        <p:cTn id="8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3"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7EAB22-0B5F-A743-8D7A-3E5418C2ED6B}"/>
              </a:ext>
            </a:extLst>
          </p:cNvPr>
          <p:cNvSpPr>
            <a:spLocks noGrp="1"/>
          </p:cNvSpPr>
          <p:nvPr>
            <p:ph type="title"/>
          </p:nvPr>
        </p:nvSpPr>
        <p:spPr/>
        <p:txBody>
          <a:bodyPr/>
          <a:lstStyle/>
          <a:p>
            <a:r>
              <a:rPr lang="fr-CA" dirty="0"/>
              <a:t>Responsabilités concernant les fraudes</a:t>
            </a:r>
          </a:p>
        </p:txBody>
      </p:sp>
      <p:sp>
        <p:nvSpPr>
          <p:cNvPr id="3" name="Espace réservé du texte 2">
            <a:extLst>
              <a:ext uri="{FF2B5EF4-FFF2-40B4-BE49-F238E27FC236}">
                <a16:creationId xmlns:a16="http://schemas.microsoft.com/office/drawing/2014/main" id="{69ABD8F2-25F4-9D48-AC48-6722F5E282C9}"/>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F530758C-9682-6B41-87DC-8FD407107CE3}"/>
              </a:ext>
            </a:extLst>
          </p:cNvPr>
          <p:cNvSpPr>
            <a:spLocks noGrp="1"/>
          </p:cNvSpPr>
          <p:nvPr>
            <p:ph type="sldNum" sz="quarter" idx="12"/>
          </p:nvPr>
        </p:nvSpPr>
        <p:spPr/>
        <p:txBody>
          <a:bodyPr/>
          <a:lstStyle/>
          <a:p>
            <a:fld id="{D57F1E4F-1CFF-5643-939E-02111984F565}" type="slidenum">
              <a:rPr lang="en-US" smtClean="0"/>
              <a:t>85</a:t>
            </a:fld>
            <a:endParaRPr lang="en-US" dirty="0"/>
          </a:p>
        </p:txBody>
      </p:sp>
    </p:spTree>
    <p:extLst>
      <p:ext uri="{BB962C8B-B14F-4D97-AF65-F5344CB8AC3E}">
        <p14:creationId xmlns:p14="http://schemas.microsoft.com/office/powerpoint/2010/main" val="42730866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17351-41B0-F941-B52C-6CB34F5B0435}"/>
              </a:ext>
            </a:extLst>
          </p:cNvPr>
          <p:cNvSpPr>
            <a:spLocks noGrp="1"/>
          </p:cNvSpPr>
          <p:nvPr>
            <p:ph type="title"/>
          </p:nvPr>
        </p:nvSpPr>
        <p:spPr/>
        <p:txBody>
          <a:bodyPr/>
          <a:lstStyle/>
          <a:p>
            <a:r>
              <a:rPr lang="fr-CA" sz="3200" dirty="0"/>
              <a:t>Fraudes</a:t>
            </a:r>
            <a:endParaRPr lang="fr-CA" dirty="0"/>
          </a:p>
        </p:txBody>
      </p:sp>
      <p:sp>
        <p:nvSpPr>
          <p:cNvPr id="4" name="Slide Number Placeholder 3">
            <a:extLst>
              <a:ext uri="{FF2B5EF4-FFF2-40B4-BE49-F238E27FC236}">
                <a16:creationId xmlns:a16="http://schemas.microsoft.com/office/drawing/2014/main" id="{8EB83386-2FA1-B549-B094-BA29C18D3495}"/>
              </a:ext>
            </a:extLst>
          </p:cNvPr>
          <p:cNvSpPr>
            <a:spLocks noGrp="1"/>
          </p:cNvSpPr>
          <p:nvPr>
            <p:ph type="sldNum" sz="quarter" idx="12"/>
          </p:nvPr>
        </p:nvSpPr>
        <p:spPr/>
        <p:txBody>
          <a:bodyPr/>
          <a:lstStyle/>
          <a:p>
            <a:fld id="{D57F1E4F-1CFF-5643-939E-02111984F565}" type="slidenum">
              <a:rPr lang="en-US" smtClean="0"/>
              <a:t>86</a:t>
            </a:fld>
            <a:endParaRPr lang="en-US" dirty="0"/>
          </a:p>
        </p:txBody>
      </p:sp>
      <p:sp>
        <p:nvSpPr>
          <p:cNvPr id="3" name="Content Placeholder 2">
            <a:extLst>
              <a:ext uri="{FF2B5EF4-FFF2-40B4-BE49-F238E27FC236}">
                <a16:creationId xmlns:a16="http://schemas.microsoft.com/office/drawing/2014/main" id="{9E82E288-8046-9844-B0CC-47C1AB410D24}"/>
              </a:ext>
            </a:extLst>
          </p:cNvPr>
          <p:cNvSpPr>
            <a:spLocks noGrp="1"/>
          </p:cNvSpPr>
          <p:nvPr>
            <p:ph idx="1"/>
          </p:nvPr>
        </p:nvSpPr>
        <p:spPr/>
        <p:txBody>
          <a:bodyPr>
            <a:normAutofit/>
          </a:bodyPr>
          <a:lstStyle/>
          <a:p>
            <a:pPr marL="0" indent="0">
              <a:buNone/>
            </a:pPr>
            <a:r>
              <a:rPr lang="fr-CA" b="1" dirty="0"/>
              <a:t>À l’EFC :</a:t>
            </a:r>
          </a:p>
          <a:p>
            <a:r>
              <a:rPr lang="fr-CA" dirty="0"/>
              <a:t>Y a-t-il des indices de fraudes dans le cas ? </a:t>
            </a:r>
          </a:p>
          <a:p>
            <a:pPr lvl="1"/>
            <a:r>
              <a:rPr lang="fr-CA" dirty="0"/>
              <a:t>Ex : Personne mal intentionnée, contrôles inefficients</a:t>
            </a:r>
          </a:p>
          <a:p>
            <a:r>
              <a:rPr lang="fr-CA" dirty="0"/>
              <a:t>Si oui, vous devez :</a:t>
            </a:r>
          </a:p>
          <a:p>
            <a:pPr lvl="1"/>
            <a:r>
              <a:rPr lang="fr-CA" dirty="0"/>
              <a:t>Identifier et expliquer avec des faits du cas les indices de fraude</a:t>
            </a:r>
          </a:p>
          <a:p>
            <a:pPr lvl="1"/>
            <a:r>
              <a:rPr lang="fr-CA" dirty="0"/>
              <a:t>Avoir une discussion sur l’acceptation de la mission </a:t>
            </a:r>
          </a:p>
          <a:p>
            <a:pPr lvl="1"/>
            <a:r>
              <a:rPr lang="fr-CA" dirty="0"/>
              <a:t>Indiquer les impacts sur l’évaluation des risques au niveau des </a:t>
            </a:r>
            <a:r>
              <a:rPr lang="fr-CA" dirty="0" err="1"/>
              <a:t>ÉFs</a:t>
            </a:r>
            <a:endParaRPr lang="fr-CA" dirty="0"/>
          </a:p>
          <a:p>
            <a:pPr lvl="1"/>
            <a:r>
              <a:rPr lang="fr-CA" dirty="0"/>
              <a:t>Mettre en œuvre des procédures supplémentaires</a:t>
            </a:r>
          </a:p>
          <a:p>
            <a:pPr lvl="1"/>
            <a:r>
              <a:rPr lang="fr-CA" dirty="0"/>
              <a:t>Communiquer avec la direction et les responsables de la gouvernance</a:t>
            </a:r>
          </a:p>
          <a:p>
            <a:pPr lvl="1"/>
            <a:endParaRPr lang="fr-CA" dirty="0"/>
          </a:p>
          <a:p>
            <a:pPr lvl="1"/>
            <a:endParaRPr lang="fr-CA" dirty="0"/>
          </a:p>
          <a:p>
            <a:pPr lvl="1"/>
            <a:endParaRPr lang="fr-CA" dirty="0"/>
          </a:p>
          <a:p>
            <a:pPr lvl="1"/>
            <a:endParaRPr lang="fr-CA" dirty="0"/>
          </a:p>
          <a:p>
            <a:endParaRPr lang="fr-CA" dirty="0"/>
          </a:p>
        </p:txBody>
      </p:sp>
    </p:spTree>
    <p:extLst>
      <p:ext uri="{BB962C8B-B14F-4D97-AF65-F5344CB8AC3E}">
        <p14:creationId xmlns:p14="http://schemas.microsoft.com/office/powerpoint/2010/main" val="7554717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0313" y="1"/>
            <a:ext cx="11749413" cy="548562"/>
          </a:xfrm>
        </p:spPr>
        <p:txBody>
          <a:bodyPr>
            <a:normAutofit fontScale="90000"/>
          </a:bodyPr>
          <a:lstStyle/>
          <a:p>
            <a:r>
              <a:rPr lang="fr-CA" sz="3600" b="1" dirty="0"/>
              <a:t>Responsabilités concernant les fraudes</a:t>
            </a:r>
            <a:endParaRPr lang="fr-CA" sz="3200" b="1" dirty="0"/>
          </a:p>
        </p:txBody>
      </p:sp>
      <p:sp>
        <p:nvSpPr>
          <p:cNvPr id="3" name="Espace réservé du contenu 2"/>
          <p:cNvSpPr>
            <a:spLocks noGrp="1"/>
          </p:cNvSpPr>
          <p:nvPr>
            <p:ph idx="1"/>
          </p:nvPr>
        </p:nvSpPr>
        <p:spPr>
          <a:xfrm>
            <a:off x="389965" y="548563"/>
            <a:ext cx="11294036" cy="6309436"/>
          </a:xfrm>
        </p:spPr>
        <p:txBody>
          <a:bodyPr>
            <a:noAutofit/>
          </a:bodyPr>
          <a:lstStyle/>
          <a:p>
            <a:pPr marL="0" indent="0" algn="just">
              <a:lnSpc>
                <a:spcPct val="100000"/>
              </a:lnSpc>
              <a:spcBef>
                <a:spcPts val="0"/>
              </a:spcBef>
              <a:buNone/>
            </a:pPr>
            <a:r>
              <a:rPr lang="fr-CA" sz="1800" b="1" dirty="0">
                <a:cs typeface="Times New Roman" panose="02020603050405020304" pitchFamily="18" charset="0"/>
              </a:rPr>
              <a:t>Caractéristiques de la fraude (vs Erreur)</a:t>
            </a:r>
          </a:p>
          <a:p>
            <a:pPr algn="just">
              <a:lnSpc>
                <a:spcPct val="100000"/>
              </a:lnSpc>
              <a:spcBef>
                <a:spcPts val="0"/>
              </a:spcBef>
            </a:pPr>
            <a:r>
              <a:rPr lang="fr-CA" sz="1800" dirty="0">
                <a:cs typeface="Times New Roman" panose="02020603050405020304" pitchFamily="18" charset="0"/>
              </a:rPr>
              <a:t>L'élément distinctif = </a:t>
            </a:r>
            <a:r>
              <a:rPr lang="fr-CA" sz="1800" b="1" u="sng" dirty="0">
                <a:cs typeface="Times New Roman" panose="02020603050405020304" pitchFamily="18" charset="0"/>
              </a:rPr>
              <a:t>caractère intentionnel</a:t>
            </a:r>
            <a:r>
              <a:rPr lang="fr-CA" sz="1800" dirty="0">
                <a:cs typeface="Times New Roman" panose="02020603050405020304" pitchFamily="18" charset="0"/>
              </a:rPr>
              <a:t> de l’acte à l’origine de l’AS. </a:t>
            </a:r>
          </a:p>
          <a:p>
            <a:pPr algn="just">
              <a:lnSpc>
                <a:spcPct val="100000"/>
              </a:lnSpc>
              <a:spcBef>
                <a:spcPts val="0"/>
              </a:spcBef>
            </a:pPr>
            <a:r>
              <a:rPr lang="fr-CA" sz="1800" dirty="0">
                <a:cs typeface="Times New Roman" panose="02020603050405020304" pitchFamily="18" charset="0"/>
              </a:rPr>
              <a:t>L'auditeur n'est concerné que par les fraudes entraînant des AS aux </a:t>
            </a:r>
            <a:r>
              <a:rPr lang="fr-CA" sz="1800" dirty="0" err="1">
                <a:cs typeface="Times New Roman" panose="02020603050405020304" pitchFamily="18" charset="0"/>
              </a:rPr>
              <a:t>ÉFs</a:t>
            </a:r>
            <a:r>
              <a:rPr lang="fr-CA" sz="1800" dirty="0">
                <a:cs typeface="Times New Roman" panose="02020603050405020304" pitchFamily="18" charset="0"/>
              </a:rPr>
              <a:t> </a:t>
            </a:r>
            <a:r>
              <a:rPr lang="fr-CA" sz="1800" dirty="0"/>
              <a:t>: </a:t>
            </a:r>
          </a:p>
          <a:p>
            <a:pPr lvl="1" algn="just">
              <a:spcBef>
                <a:spcPts val="0"/>
              </a:spcBef>
            </a:pPr>
            <a:r>
              <a:rPr lang="fr-CA" sz="1800" dirty="0">
                <a:cs typeface="Times New Roman" panose="02020603050405020304" pitchFamily="18" charset="0"/>
              </a:rPr>
              <a:t>Infos fin mensongères</a:t>
            </a:r>
            <a:endParaRPr lang="fr-CA" sz="1800" dirty="0"/>
          </a:p>
          <a:p>
            <a:pPr lvl="1" algn="just">
              <a:spcBef>
                <a:spcPts val="0"/>
              </a:spcBef>
            </a:pPr>
            <a:r>
              <a:rPr lang="fr-CA" sz="1800" dirty="0">
                <a:cs typeface="Times New Roman" panose="02020603050405020304" pitchFamily="18" charset="0"/>
              </a:rPr>
              <a:t>Détournement d'actifs souvent avec écritures fictives.</a:t>
            </a:r>
          </a:p>
          <a:p>
            <a:pPr marL="0" indent="0" algn="just">
              <a:lnSpc>
                <a:spcPct val="100000"/>
              </a:lnSpc>
              <a:spcBef>
                <a:spcPts val="0"/>
              </a:spcBef>
              <a:buNone/>
            </a:pPr>
            <a:r>
              <a:rPr lang="fr-CA" sz="1800" dirty="0">
                <a:cs typeface="Times New Roman" panose="02020603050405020304" pitchFamily="18" charset="0"/>
              </a:rPr>
              <a:t> </a:t>
            </a:r>
            <a:endParaRPr lang="fr-CA" sz="1800" b="1" dirty="0">
              <a:cs typeface="Times New Roman" panose="02020603050405020304" pitchFamily="18" charset="0"/>
            </a:endParaRPr>
          </a:p>
          <a:p>
            <a:pPr marL="0" lvl="0" indent="0" algn="just">
              <a:lnSpc>
                <a:spcPct val="100000"/>
              </a:lnSpc>
              <a:spcBef>
                <a:spcPts val="0"/>
              </a:spcBef>
              <a:buClr>
                <a:srgbClr val="0F6FC6">
                  <a:lumMod val="75000"/>
                </a:srgbClr>
              </a:buClr>
              <a:buNone/>
            </a:pPr>
            <a:r>
              <a:rPr lang="fr-CA" sz="1800" b="1" dirty="0">
                <a:cs typeface="Times New Roman" panose="02020603050405020304" pitchFamily="18" charset="0"/>
              </a:rPr>
              <a:t>Responsabilité à l’égard de la prévention et de la détection des fraudes</a:t>
            </a:r>
          </a:p>
          <a:p>
            <a:pPr lvl="0" algn="just">
              <a:lnSpc>
                <a:spcPct val="100000"/>
              </a:lnSpc>
              <a:spcBef>
                <a:spcPts val="0"/>
              </a:spcBef>
              <a:buClr>
                <a:srgbClr val="0F6FC6">
                  <a:lumMod val="75000"/>
                </a:srgbClr>
              </a:buClr>
            </a:pPr>
            <a:r>
              <a:rPr lang="fr-CA" sz="1800" dirty="0">
                <a:cs typeface="Times New Roman" panose="02020603050405020304" pitchFamily="18" charset="0"/>
              </a:rPr>
              <a:t>Responsabilité première incombe aux responsables de la gouvernance et à la direction de l’entité.</a:t>
            </a:r>
          </a:p>
          <a:p>
            <a:pPr lvl="0" algn="just">
              <a:lnSpc>
                <a:spcPct val="100000"/>
              </a:lnSpc>
              <a:spcBef>
                <a:spcPts val="0"/>
              </a:spcBef>
              <a:buClr>
                <a:srgbClr val="0F6FC6">
                  <a:lumMod val="75000"/>
                </a:srgbClr>
              </a:buClr>
            </a:pPr>
            <a:r>
              <a:rPr lang="fr-CA" sz="1800" b="1" i="1" dirty="0">
                <a:cs typeface="Times New Roman" panose="02020603050405020304" pitchFamily="18" charset="0"/>
              </a:rPr>
              <a:t>Responsabilités de l’auditeur </a:t>
            </a:r>
            <a:r>
              <a:rPr lang="fr-CA" sz="1800" b="1" dirty="0">
                <a:cs typeface="Times New Roman" panose="02020603050405020304" pitchFamily="18" charset="0"/>
              </a:rPr>
              <a:t>: </a:t>
            </a:r>
          </a:p>
          <a:p>
            <a:pPr marL="228600" lvl="1" algn="just">
              <a:lnSpc>
                <a:spcPct val="100000"/>
              </a:lnSpc>
              <a:spcBef>
                <a:spcPts val="0"/>
              </a:spcBef>
              <a:buClr>
                <a:srgbClr val="0F6FC6">
                  <a:lumMod val="75000"/>
                </a:srgbClr>
              </a:buClr>
            </a:pPr>
            <a:r>
              <a:rPr lang="fr-CA" sz="1800" dirty="0">
                <a:cs typeface="Times New Roman" panose="02020603050405020304" pitchFamily="18" charset="0"/>
              </a:rPr>
              <a:t>Réaliser un audit conforme aux NCA </a:t>
            </a:r>
            <a:r>
              <a:rPr lang="fr-CA" sz="1800" dirty="0"/>
              <a:t>● </a:t>
            </a:r>
            <a:r>
              <a:rPr lang="fr-CA" sz="1800" dirty="0">
                <a:cs typeface="Times New Roman" panose="02020603050405020304" pitchFamily="18" charset="0"/>
              </a:rPr>
              <a:t>Obtenir l’AR que les </a:t>
            </a:r>
            <a:r>
              <a:rPr lang="fr-CA" sz="1800" dirty="0" err="1">
                <a:cs typeface="Times New Roman" panose="02020603050405020304" pitchFamily="18" charset="0"/>
              </a:rPr>
              <a:t>ÉFs</a:t>
            </a:r>
            <a:r>
              <a:rPr lang="fr-CA" sz="1800" dirty="0">
                <a:cs typeface="Times New Roman" panose="02020603050405020304" pitchFamily="18" charset="0"/>
              </a:rPr>
              <a:t> ne comportent pas d’AS, résultant de fraudes ou d'erreurs. </a:t>
            </a:r>
          </a:p>
          <a:p>
            <a:pPr marL="228600" lvl="1" algn="just">
              <a:lnSpc>
                <a:spcPct val="100000"/>
              </a:lnSpc>
              <a:spcBef>
                <a:spcPts val="0"/>
              </a:spcBef>
              <a:buClr>
                <a:srgbClr val="0F6FC6">
                  <a:lumMod val="75000"/>
                </a:srgbClr>
              </a:buClr>
            </a:pPr>
            <a:r>
              <a:rPr lang="fr-CA" sz="1800" b="1" dirty="0">
                <a:cs typeface="Times New Roman" panose="02020603050405020304" pitchFamily="18" charset="0"/>
              </a:rPr>
              <a:t>LIMITES INHÉRENTES </a:t>
            </a:r>
            <a:r>
              <a:rPr lang="fr-CA" sz="1800" b="1" u="sng" dirty="0">
                <a:solidFill>
                  <a:srgbClr val="C00000"/>
                </a:solidFill>
                <a:cs typeface="Times New Roman" panose="02020603050405020304" pitchFamily="18" charset="0"/>
              </a:rPr>
              <a:t>ACCRUES</a:t>
            </a:r>
            <a:r>
              <a:rPr lang="fr-CA" sz="1800" dirty="0">
                <a:solidFill>
                  <a:srgbClr val="C00000"/>
                </a:solidFill>
                <a:cs typeface="Times New Roman" panose="02020603050405020304" pitchFamily="18" charset="0"/>
              </a:rPr>
              <a:t> </a:t>
            </a:r>
            <a:r>
              <a:rPr lang="fr-CA" sz="1800" b="1" dirty="0">
                <a:cs typeface="Times New Roman" panose="02020603050405020304" pitchFamily="18" charset="0"/>
              </a:rPr>
              <a:t>:</a:t>
            </a:r>
            <a:r>
              <a:rPr lang="fr-CA" sz="1800" dirty="0"/>
              <a:t> </a:t>
            </a:r>
            <a:r>
              <a:rPr lang="fr-CA" sz="1800" dirty="0">
                <a:cs typeface="Times New Roman" panose="02020603050405020304" pitchFamily="18" charset="0"/>
              </a:rPr>
              <a:t>Stratagèmes complexes, soigneusement orchestrés pour dissimuler </a:t>
            </a:r>
            <a:r>
              <a:rPr lang="fr-CA" sz="1800" dirty="0"/>
              <a:t>● Encore pire si la direction est impliquée</a:t>
            </a:r>
            <a:r>
              <a:rPr lang="fr-CA" sz="1800" b="1" dirty="0">
                <a:cs typeface="Times New Roman" panose="02020603050405020304" pitchFamily="18" charset="0"/>
              </a:rPr>
              <a:t> </a:t>
            </a:r>
            <a:r>
              <a:rPr lang="fr-CA" sz="1800" dirty="0"/>
              <a:t>● Importance de faire preuve d’un esprit critique tout au long de la mission. </a:t>
            </a:r>
            <a:endParaRPr lang="fr-CA" sz="1800" b="1" dirty="0">
              <a:cs typeface="Times New Roman" panose="02020603050405020304" pitchFamily="18" charset="0"/>
            </a:endParaRPr>
          </a:p>
          <a:p>
            <a:pPr marL="228600" lvl="1" algn="just">
              <a:lnSpc>
                <a:spcPct val="100000"/>
              </a:lnSpc>
              <a:spcBef>
                <a:spcPts val="0"/>
              </a:spcBef>
              <a:buClr>
                <a:srgbClr val="0F6FC6">
                  <a:lumMod val="75000"/>
                </a:srgbClr>
              </a:buClr>
            </a:pPr>
            <a:r>
              <a:rPr lang="fr-CA" sz="1800" b="1" dirty="0">
                <a:cs typeface="Times New Roman" panose="02020603050405020304" pitchFamily="18" charset="0"/>
              </a:rPr>
              <a:t>RESPONSABILITÉS ADDITIONNELLES : </a:t>
            </a:r>
            <a:r>
              <a:rPr lang="fr-CA" sz="1800" dirty="0">
                <a:cs typeface="Times New Roman" panose="02020603050405020304" pitchFamily="18" charset="0"/>
              </a:rPr>
              <a:t>selon textes légaux ou réglementaires ou aux règles de déontologie pertinentes. </a:t>
            </a:r>
          </a:p>
        </p:txBody>
      </p:sp>
      <p:sp>
        <p:nvSpPr>
          <p:cNvPr id="4" name="Espace réservé du numéro de diapositive 3">
            <a:extLst>
              <a:ext uri="{FF2B5EF4-FFF2-40B4-BE49-F238E27FC236}">
                <a16:creationId xmlns:a16="http://schemas.microsoft.com/office/drawing/2014/main" id="{1B6B1834-06D2-9241-BF28-298F1B2A9A83}"/>
              </a:ext>
            </a:extLst>
          </p:cNvPr>
          <p:cNvSpPr>
            <a:spLocks noGrp="1"/>
          </p:cNvSpPr>
          <p:nvPr>
            <p:ph type="sldNum" sz="quarter" idx="12"/>
          </p:nvPr>
        </p:nvSpPr>
        <p:spPr/>
        <p:txBody>
          <a:bodyPr/>
          <a:lstStyle/>
          <a:p>
            <a:fld id="{D57F1E4F-1CFF-5643-939E-02111984F565}" type="slidenum">
              <a:rPr lang="en-US" smtClean="0"/>
              <a:t>87</a:t>
            </a:fld>
            <a:endParaRPr lang="en-US" dirty="0"/>
          </a:p>
        </p:txBody>
      </p:sp>
      <p:sp>
        <p:nvSpPr>
          <p:cNvPr id="5" name="Organigramme : Alternative 13">
            <a:extLst>
              <a:ext uri="{FF2B5EF4-FFF2-40B4-BE49-F238E27FC236}">
                <a16:creationId xmlns:a16="http://schemas.microsoft.com/office/drawing/2014/main" id="{03BCF1A6-D3C7-1CC4-E47E-70442B157994}"/>
              </a:ext>
            </a:extLst>
          </p:cNvPr>
          <p:cNvSpPr/>
          <p:nvPr/>
        </p:nvSpPr>
        <p:spPr>
          <a:xfrm>
            <a:off x="10470415" y="71892"/>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240</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6299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00417" y="1"/>
            <a:ext cx="11749414" cy="557560"/>
          </a:xfrm>
        </p:spPr>
        <p:txBody>
          <a:bodyPr>
            <a:normAutofit fontScale="90000"/>
          </a:bodyPr>
          <a:lstStyle/>
          <a:p>
            <a:r>
              <a:rPr lang="fr-CA" sz="3600" b="1" dirty="0"/>
              <a:t>Responsabilités concernant les fraudes</a:t>
            </a:r>
            <a:endParaRPr lang="fr-CA" sz="3200" b="1" dirty="0"/>
          </a:p>
        </p:txBody>
      </p:sp>
      <p:sp>
        <p:nvSpPr>
          <p:cNvPr id="3" name="Espace réservé du contenu 2"/>
          <p:cNvSpPr>
            <a:spLocks noGrp="1"/>
          </p:cNvSpPr>
          <p:nvPr>
            <p:ph idx="1"/>
          </p:nvPr>
        </p:nvSpPr>
        <p:spPr>
          <a:xfrm>
            <a:off x="336175" y="557561"/>
            <a:ext cx="11443449" cy="6300439"/>
          </a:xfrm>
        </p:spPr>
        <p:txBody>
          <a:bodyPr>
            <a:normAutofit/>
          </a:bodyPr>
          <a:lstStyle/>
          <a:p>
            <a:pPr marL="0" indent="0" algn="just">
              <a:buNone/>
            </a:pPr>
            <a:r>
              <a:rPr lang="fr-CA" sz="1800" b="1" dirty="0">
                <a:cs typeface="Times New Roman" panose="02020603050405020304" pitchFamily="18" charset="0"/>
              </a:rPr>
              <a:t>EXIGENCES</a:t>
            </a:r>
          </a:p>
          <a:p>
            <a:pPr marL="0" lvl="0" indent="0" algn="just">
              <a:spcBef>
                <a:spcPts val="0"/>
              </a:spcBef>
              <a:buClr>
                <a:srgbClr val="0F6FC6">
                  <a:lumMod val="75000"/>
                </a:srgbClr>
              </a:buClr>
              <a:buNone/>
            </a:pPr>
            <a:r>
              <a:rPr lang="fr-CA" sz="1800" b="1" dirty="0">
                <a:cs typeface="Times New Roman" panose="02020603050405020304" pitchFamily="18" charset="0"/>
              </a:rPr>
              <a:t>Esprit critique</a:t>
            </a:r>
            <a:r>
              <a:rPr lang="fr-CA" sz="1800" dirty="0">
                <a:cs typeface="Times New Roman" panose="02020603050405020304" pitchFamily="18" charset="0"/>
              </a:rPr>
              <a:t> </a:t>
            </a:r>
          </a:p>
          <a:p>
            <a:pPr algn="just">
              <a:spcBef>
                <a:spcPts val="0"/>
              </a:spcBef>
              <a:buClr>
                <a:srgbClr val="0F6FC6">
                  <a:lumMod val="75000"/>
                </a:srgbClr>
              </a:buClr>
            </a:pPr>
            <a:r>
              <a:rPr lang="fr-CA" sz="1800" u="sng" dirty="0">
                <a:cs typeface="Times New Roman" panose="02020603050405020304" pitchFamily="18" charset="0"/>
              </a:rPr>
              <a:t>Nonobstant le jugement que son expérience passée</a:t>
            </a:r>
            <a:r>
              <a:rPr lang="fr-CA" sz="1800" dirty="0">
                <a:cs typeface="Times New Roman" panose="02020603050405020304" pitchFamily="18" charset="0"/>
              </a:rPr>
              <a:t> auprès de l'entité l’a amené à porter sur l’honnêteté et l’intégrité de la direction et des responsables de la gouvernance</a:t>
            </a:r>
            <a:r>
              <a:rPr lang="fr-CA" sz="1800" dirty="0"/>
              <a:t> </a:t>
            </a:r>
          </a:p>
          <a:p>
            <a:pPr algn="just">
              <a:spcBef>
                <a:spcPts val="0"/>
              </a:spcBef>
              <a:buClr>
                <a:srgbClr val="0F6FC6">
                  <a:lumMod val="75000"/>
                </a:srgbClr>
              </a:buClr>
            </a:pPr>
            <a:r>
              <a:rPr lang="fr-CA" sz="1800" dirty="0"/>
              <a:t>Porter attention à leurs réponses incohérentes.</a:t>
            </a:r>
            <a:endParaRPr lang="fr-CA" sz="700" b="1" dirty="0">
              <a:cs typeface="Times New Roman" panose="02020603050405020304" pitchFamily="18" charset="0"/>
            </a:endParaRPr>
          </a:p>
          <a:p>
            <a:pPr marL="0" lvl="0" indent="0" algn="just">
              <a:spcBef>
                <a:spcPts val="0"/>
              </a:spcBef>
              <a:buClr>
                <a:srgbClr val="0F6FC6">
                  <a:lumMod val="75000"/>
                </a:srgbClr>
              </a:buClr>
              <a:buNone/>
            </a:pPr>
            <a:endParaRPr lang="fr-CA" sz="1800" b="1" dirty="0">
              <a:cs typeface="Times New Roman" panose="02020603050405020304" pitchFamily="18" charset="0"/>
            </a:endParaRPr>
          </a:p>
          <a:p>
            <a:pPr marL="0" lvl="0" indent="0" algn="just">
              <a:spcBef>
                <a:spcPts val="0"/>
              </a:spcBef>
              <a:buClr>
                <a:srgbClr val="0F6FC6">
                  <a:lumMod val="75000"/>
                </a:srgbClr>
              </a:buClr>
              <a:buNone/>
            </a:pPr>
            <a:r>
              <a:rPr lang="fr-CA" sz="1800" b="1" dirty="0">
                <a:cs typeface="Times New Roman" panose="02020603050405020304" pitchFamily="18" charset="0"/>
              </a:rPr>
              <a:t>Entretiens avec membres de l’équipe</a:t>
            </a:r>
            <a:endParaRPr lang="fr-CA" sz="1800" dirty="0">
              <a:cs typeface="Times New Roman" panose="02020603050405020304" pitchFamily="18" charset="0"/>
            </a:endParaRPr>
          </a:p>
          <a:p>
            <a:pPr algn="just">
              <a:spcBef>
                <a:spcPts val="0"/>
              </a:spcBef>
              <a:buClr>
                <a:srgbClr val="0F6FC6">
                  <a:lumMod val="75000"/>
                </a:srgbClr>
              </a:buClr>
            </a:pPr>
            <a:r>
              <a:rPr lang="fr-CA" sz="1800" dirty="0">
                <a:cs typeface="Times New Roman" panose="02020603050405020304" pitchFamily="18" charset="0"/>
              </a:rPr>
              <a:t>Où les </a:t>
            </a:r>
            <a:r>
              <a:rPr lang="fr-CA" sz="1800" dirty="0" err="1">
                <a:cs typeface="Times New Roman" panose="02020603050405020304" pitchFamily="18" charset="0"/>
              </a:rPr>
              <a:t>ÉFs</a:t>
            </a:r>
            <a:r>
              <a:rPr lang="fr-CA" sz="1800" dirty="0">
                <a:cs typeface="Times New Roman" panose="02020603050405020304" pitchFamily="18" charset="0"/>
              </a:rPr>
              <a:t> sont susceptibles de comporter des AS résultant de fraude</a:t>
            </a:r>
          </a:p>
          <a:p>
            <a:pPr algn="just">
              <a:spcBef>
                <a:spcPts val="0"/>
              </a:spcBef>
              <a:buClr>
                <a:srgbClr val="0F6FC6">
                  <a:lumMod val="75000"/>
                </a:srgbClr>
              </a:buClr>
            </a:pPr>
            <a:r>
              <a:rPr lang="fr-CA" sz="1800" u="sng" dirty="0">
                <a:cs typeface="Times New Roman" panose="02020603050405020304" pitchFamily="18" charset="0"/>
              </a:rPr>
              <a:t>Faire abstraction de la confiance</a:t>
            </a:r>
            <a:r>
              <a:rPr lang="fr-CA" sz="1800" dirty="0">
                <a:cs typeface="Times New Roman" panose="02020603050405020304" pitchFamily="18" charset="0"/>
              </a:rPr>
              <a:t> que les membres de l'équipe peuvent avoir dans l’honnêteté et l’intégrité de la direction et des responsables de la gouvernance.</a:t>
            </a:r>
            <a:endParaRPr lang="fr-CA" sz="700" dirty="0">
              <a:cs typeface="Times New Roman" panose="02020603050405020304" pitchFamily="18" charset="0"/>
            </a:endParaRPr>
          </a:p>
          <a:p>
            <a:pPr marL="0" lvl="0" indent="0" algn="just">
              <a:spcBef>
                <a:spcPts val="0"/>
              </a:spcBef>
              <a:buClr>
                <a:srgbClr val="0F6FC6">
                  <a:lumMod val="75000"/>
                </a:srgbClr>
              </a:buClr>
              <a:buNone/>
            </a:pPr>
            <a:endParaRPr lang="fr-CA" sz="1800" b="1" dirty="0">
              <a:cs typeface="Times New Roman" panose="02020603050405020304" pitchFamily="18" charset="0"/>
            </a:endParaRPr>
          </a:p>
          <a:p>
            <a:pPr marL="0" lvl="0" indent="0" algn="just">
              <a:spcBef>
                <a:spcPts val="0"/>
              </a:spcBef>
              <a:buClr>
                <a:srgbClr val="0F6FC6">
                  <a:lumMod val="75000"/>
                </a:srgbClr>
              </a:buClr>
              <a:buNone/>
            </a:pPr>
            <a:r>
              <a:rPr lang="fr-CA" sz="1800" b="1" dirty="0">
                <a:cs typeface="Times New Roman" panose="02020603050405020304" pitchFamily="18" charset="0"/>
              </a:rPr>
              <a:t>Procédures d’évaluation des risques </a:t>
            </a:r>
            <a:r>
              <a:rPr lang="fr-CA" sz="1800" dirty="0">
                <a:cs typeface="Times New Roman" panose="02020603050405020304" pitchFamily="18" charset="0"/>
              </a:rPr>
              <a:t>(Auditeur interne</a:t>
            </a:r>
            <a:r>
              <a:rPr lang="fr-CA" sz="1800" dirty="0"/>
              <a:t> ● G</a:t>
            </a:r>
            <a:r>
              <a:rPr lang="fr-CA" sz="1800" dirty="0">
                <a:cs typeface="Times New Roman" panose="02020603050405020304" pitchFamily="18" charset="0"/>
              </a:rPr>
              <a:t>ouvernance</a:t>
            </a:r>
            <a:r>
              <a:rPr lang="fr-CA" sz="1800" dirty="0"/>
              <a:t> ● C</a:t>
            </a:r>
            <a:r>
              <a:rPr lang="fr-CA" sz="1800" dirty="0">
                <a:cs typeface="Times New Roman" panose="02020603050405020304" pitchFamily="18" charset="0"/>
              </a:rPr>
              <a:t>I pertinent) </a:t>
            </a:r>
            <a:endParaRPr lang="fr-CA" sz="700" b="1" dirty="0">
              <a:cs typeface="Times New Roman" panose="02020603050405020304" pitchFamily="18" charset="0"/>
            </a:endParaRPr>
          </a:p>
          <a:p>
            <a:pPr marL="0" lvl="0" indent="0" algn="just">
              <a:spcBef>
                <a:spcPts val="0"/>
              </a:spcBef>
              <a:buClr>
                <a:srgbClr val="0F6FC6">
                  <a:lumMod val="75000"/>
                </a:srgbClr>
              </a:buClr>
              <a:buNone/>
            </a:pPr>
            <a:endParaRPr lang="fr-CA" sz="1800" b="1" dirty="0">
              <a:cs typeface="Times New Roman" panose="02020603050405020304" pitchFamily="18" charset="0"/>
            </a:endParaRPr>
          </a:p>
          <a:p>
            <a:pPr marL="0" lvl="0" indent="0" algn="just">
              <a:spcBef>
                <a:spcPts val="0"/>
              </a:spcBef>
              <a:buClr>
                <a:srgbClr val="0F6FC6">
                  <a:lumMod val="75000"/>
                </a:srgbClr>
              </a:buClr>
              <a:buNone/>
            </a:pPr>
            <a:r>
              <a:rPr lang="fr-CA" sz="1800" b="1" dirty="0">
                <a:cs typeface="Times New Roman" panose="02020603050405020304" pitchFamily="18" charset="0"/>
              </a:rPr>
              <a:t>Identification des RAS résultant de fraude </a:t>
            </a:r>
            <a:r>
              <a:rPr lang="fr-CA" sz="1800" dirty="0">
                <a:cs typeface="Times New Roman" panose="02020603050405020304" pitchFamily="18" charset="0"/>
              </a:rPr>
              <a:t> </a:t>
            </a:r>
          </a:p>
          <a:p>
            <a:pPr algn="just">
              <a:spcBef>
                <a:spcPts val="0"/>
              </a:spcBef>
              <a:buClr>
                <a:srgbClr val="0F6FC6">
                  <a:lumMod val="75000"/>
                </a:srgbClr>
              </a:buClr>
            </a:pPr>
            <a:r>
              <a:rPr lang="fr-CA" sz="1800" dirty="0">
                <a:cs typeface="Times New Roman" panose="02020603050405020304" pitchFamily="18" charset="0"/>
              </a:rPr>
              <a:t>Présomption de fraude sur les produits</a:t>
            </a:r>
          </a:p>
          <a:p>
            <a:pPr marL="0" lvl="0" indent="0" algn="just">
              <a:spcBef>
                <a:spcPts val="0"/>
              </a:spcBef>
              <a:buClr>
                <a:srgbClr val="0F6FC6">
                  <a:lumMod val="75000"/>
                </a:srgbClr>
              </a:buClr>
              <a:buNone/>
            </a:pPr>
            <a:endParaRPr lang="fr-CA" sz="700" b="1" dirty="0">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CC49BF73-31CF-E644-AFF3-37420C9A0285}"/>
              </a:ext>
            </a:extLst>
          </p:cNvPr>
          <p:cNvSpPr>
            <a:spLocks noGrp="1"/>
          </p:cNvSpPr>
          <p:nvPr>
            <p:ph type="sldNum" sz="quarter" idx="12"/>
          </p:nvPr>
        </p:nvSpPr>
        <p:spPr/>
        <p:txBody>
          <a:bodyPr/>
          <a:lstStyle/>
          <a:p>
            <a:fld id="{D57F1E4F-1CFF-5643-939E-02111984F565}" type="slidenum">
              <a:rPr lang="en-US" smtClean="0"/>
              <a:t>88</a:t>
            </a:fld>
            <a:endParaRPr lang="en-US" dirty="0"/>
          </a:p>
        </p:txBody>
      </p:sp>
      <p:sp>
        <p:nvSpPr>
          <p:cNvPr id="5" name="Organigramme : Alternative 13">
            <a:extLst>
              <a:ext uri="{FF2B5EF4-FFF2-40B4-BE49-F238E27FC236}">
                <a16:creationId xmlns:a16="http://schemas.microsoft.com/office/drawing/2014/main" id="{D5698C2B-C699-66C4-6C57-9E8FB1EB444A}"/>
              </a:ext>
            </a:extLst>
          </p:cNvPr>
          <p:cNvSpPr/>
          <p:nvPr/>
        </p:nvSpPr>
        <p:spPr>
          <a:xfrm>
            <a:off x="10470415" y="71892"/>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240</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6717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1011" y="1"/>
            <a:ext cx="11689978" cy="557560"/>
          </a:xfrm>
        </p:spPr>
        <p:txBody>
          <a:bodyPr>
            <a:normAutofit fontScale="90000"/>
          </a:bodyPr>
          <a:lstStyle/>
          <a:p>
            <a:r>
              <a:rPr lang="fr-CA" sz="3600" b="1" dirty="0"/>
              <a:t>Responsabilités concernant les fraudes</a:t>
            </a:r>
            <a:endParaRPr lang="fr-CA" sz="3200" b="1" dirty="0"/>
          </a:p>
        </p:txBody>
      </p:sp>
      <p:sp>
        <p:nvSpPr>
          <p:cNvPr id="3" name="Espace réservé du contenu 2"/>
          <p:cNvSpPr>
            <a:spLocks noGrp="1"/>
          </p:cNvSpPr>
          <p:nvPr>
            <p:ph idx="1"/>
          </p:nvPr>
        </p:nvSpPr>
        <p:spPr>
          <a:xfrm>
            <a:off x="349625" y="557561"/>
            <a:ext cx="11591364" cy="6087079"/>
          </a:xfrm>
        </p:spPr>
        <p:txBody>
          <a:bodyPr>
            <a:normAutofit lnSpcReduction="10000"/>
          </a:bodyPr>
          <a:lstStyle/>
          <a:p>
            <a:pPr marL="0" indent="0" algn="just">
              <a:buNone/>
            </a:pPr>
            <a:r>
              <a:rPr lang="fr-CA" sz="1900" b="1" dirty="0">
                <a:cs typeface="Times New Roman" panose="02020603050405020304" pitchFamily="18" charset="0"/>
              </a:rPr>
              <a:t>EXIGENCES</a:t>
            </a:r>
          </a:p>
          <a:p>
            <a:pPr marL="0" lvl="0" indent="0" algn="just">
              <a:spcBef>
                <a:spcPts val="0"/>
              </a:spcBef>
              <a:buClr>
                <a:srgbClr val="0F6FC6">
                  <a:lumMod val="75000"/>
                </a:srgbClr>
              </a:buClr>
              <a:buNone/>
            </a:pPr>
            <a:r>
              <a:rPr lang="fr-CA" sz="1800" b="1" dirty="0">
                <a:cs typeface="Times New Roman" panose="02020603050405020304" pitchFamily="18" charset="0"/>
              </a:rPr>
              <a:t>Réponses</a:t>
            </a:r>
            <a:endParaRPr lang="fr-CA" sz="1800" dirty="0">
              <a:cs typeface="Times New Roman" panose="02020603050405020304" pitchFamily="18" charset="0"/>
            </a:endParaRPr>
          </a:p>
          <a:p>
            <a:pPr algn="just">
              <a:spcBef>
                <a:spcPts val="0"/>
              </a:spcBef>
              <a:buClr>
                <a:srgbClr val="0F6FC6">
                  <a:lumMod val="75000"/>
                </a:srgbClr>
              </a:buClr>
            </a:pPr>
            <a:r>
              <a:rPr lang="fr-CA" sz="1800" dirty="0">
                <a:cs typeface="Times New Roman" panose="02020603050405020304" pitchFamily="18" charset="0"/>
              </a:rPr>
              <a:t>Réponses globales : Membres de l’équipe </a:t>
            </a:r>
            <a:r>
              <a:rPr lang="fr-CA" sz="1800" dirty="0"/>
              <a:t>●</a:t>
            </a:r>
            <a:r>
              <a:rPr lang="fr-CA" sz="1800" dirty="0">
                <a:cs typeface="Times New Roman" panose="02020603050405020304" pitchFamily="18" charset="0"/>
              </a:rPr>
              <a:t> Imprévisibilité. </a:t>
            </a:r>
          </a:p>
          <a:p>
            <a:pPr algn="just">
              <a:spcBef>
                <a:spcPts val="0"/>
              </a:spcBef>
              <a:buClr>
                <a:srgbClr val="0F6FC6">
                  <a:lumMod val="75000"/>
                </a:srgbClr>
              </a:buClr>
            </a:pPr>
            <a:r>
              <a:rPr lang="fr-CA" sz="1800" dirty="0">
                <a:cs typeface="Times New Roman" panose="02020603050405020304" pitchFamily="18" charset="0"/>
              </a:rPr>
              <a:t>Réponses au niveau des assertions: adaptées, s’il y a lieu, aux RAS de fraude.</a:t>
            </a:r>
          </a:p>
          <a:p>
            <a:pPr algn="just">
              <a:spcBef>
                <a:spcPts val="0"/>
              </a:spcBef>
              <a:buClr>
                <a:srgbClr val="0F6FC6">
                  <a:lumMod val="75000"/>
                </a:srgbClr>
              </a:buClr>
            </a:pPr>
            <a:r>
              <a:rPr lang="fr-CA" sz="1800" dirty="0">
                <a:cs typeface="Times New Roman" panose="02020603050405020304" pitchFamily="18" charset="0"/>
              </a:rPr>
              <a:t>Risque de contournement des CI : Direction en position privilégiée et donc, présent dans toutes les entités. </a:t>
            </a:r>
            <a:r>
              <a:rPr lang="fr-CA" sz="1800" dirty="0"/>
              <a:t> </a:t>
            </a:r>
          </a:p>
          <a:p>
            <a:pPr lvl="1" algn="just">
              <a:spcBef>
                <a:spcPts val="0"/>
              </a:spcBef>
              <a:buClr>
                <a:srgbClr val="0F6FC6">
                  <a:lumMod val="75000"/>
                </a:srgbClr>
              </a:buClr>
            </a:pPr>
            <a:r>
              <a:rPr lang="fr-CA" sz="1800" b="1" u="sng" dirty="0"/>
              <a:t>PROCÉDURES TOUJOURS OBLIGATOIRES </a:t>
            </a:r>
            <a:r>
              <a:rPr lang="fr-CA" sz="1800" dirty="0"/>
              <a:t>: peu importe l’évaluation des RAS </a:t>
            </a:r>
            <a:r>
              <a:rPr lang="fr-CA" sz="1800" dirty="0">
                <a:sym typeface="Wingdings" panose="05000000000000000000" pitchFamily="2" charset="2"/>
              </a:rPr>
              <a:t></a:t>
            </a:r>
            <a:endParaRPr lang="fr-CA" sz="1800" dirty="0">
              <a:cs typeface="Times New Roman" panose="02020603050405020304" pitchFamily="18" charset="0"/>
            </a:endParaRPr>
          </a:p>
          <a:p>
            <a:pPr lvl="2" algn="just">
              <a:spcBef>
                <a:spcPts val="0"/>
              </a:spcBef>
              <a:buClr>
                <a:srgbClr val="0F6FC6">
                  <a:lumMod val="75000"/>
                </a:srgbClr>
              </a:buClr>
            </a:pPr>
            <a:r>
              <a:rPr lang="fr-CA" sz="1800" dirty="0">
                <a:cs typeface="Times New Roman" panose="02020603050405020304" pitchFamily="18" charset="0"/>
              </a:rPr>
              <a:t>Écritures de journal</a:t>
            </a:r>
          </a:p>
          <a:p>
            <a:pPr lvl="2" algn="just">
              <a:spcBef>
                <a:spcPts val="0"/>
              </a:spcBef>
              <a:buClr>
                <a:srgbClr val="0F6FC6">
                  <a:lumMod val="75000"/>
                </a:srgbClr>
              </a:buClr>
            </a:pPr>
            <a:r>
              <a:rPr lang="fr-CA" sz="1800" dirty="0">
                <a:cs typeface="Times New Roman" panose="02020603050405020304" pitchFamily="18" charset="0"/>
              </a:rPr>
              <a:t>Estimations comptables (examen rétrospectif) </a:t>
            </a:r>
          </a:p>
          <a:p>
            <a:pPr lvl="2" algn="just">
              <a:spcBef>
                <a:spcPts val="0"/>
              </a:spcBef>
              <a:buClr>
                <a:srgbClr val="0F6FC6">
                  <a:lumMod val="75000"/>
                </a:srgbClr>
              </a:buClr>
            </a:pPr>
            <a:r>
              <a:rPr lang="fr-CA" sz="1800" dirty="0">
                <a:cs typeface="Times New Roman" panose="02020603050405020304" pitchFamily="18" charset="0"/>
              </a:rPr>
              <a:t>Opérations importantes conclues hors du cours normal des affaires (justification économique, PL – A49)</a:t>
            </a:r>
          </a:p>
          <a:p>
            <a:pPr marL="0" lvl="0" indent="0" algn="just">
              <a:spcBef>
                <a:spcPts val="0"/>
              </a:spcBef>
              <a:buClr>
                <a:srgbClr val="0F6FC6">
                  <a:lumMod val="75000"/>
                </a:srgbClr>
              </a:buClr>
              <a:buNone/>
            </a:pPr>
            <a:endParaRPr lang="fr-CA" sz="700" b="1" dirty="0">
              <a:cs typeface="Times New Roman" panose="02020603050405020304" pitchFamily="18" charset="0"/>
            </a:endParaRPr>
          </a:p>
          <a:p>
            <a:pPr marL="0" lvl="0" indent="0" algn="just">
              <a:spcBef>
                <a:spcPts val="0"/>
              </a:spcBef>
              <a:buClr>
                <a:srgbClr val="0F6FC6">
                  <a:lumMod val="75000"/>
                </a:srgbClr>
              </a:buClr>
              <a:buNone/>
            </a:pPr>
            <a:r>
              <a:rPr lang="fr-CA" sz="1800" b="1" dirty="0">
                <a:cs typeface="Times New Roman" panose="02020603050405020304" pitchFamily="18" charset="0"/>
              </a:rPr>
              <a:t>Évaluation des éléments probants </a:t>
            </a:r>
            <a:r>
              <a:rPr lang="fr-CA" sz="1800" dirty="0">
                <a:cs typeface="Times New Roman" panose="02020603050405020304" pitchFamily="18" charset="0"/>
              </a:rPr>
              <a:t> </a:t>
            </a:r>
          </a:p>
          <a:p>
            <a:pPr lvl="0" algn="just">
              <a:spcBef>
                <a:spcPts val="0"/>
              </a:spcBef>
              <a:buClr>
                <a:srgbClr val="0F6FC6">
                  <a:lumMod val="75000"/>
                </a:srgbClr>
              </a:buClr>
            </a:pPr>
            <a:r>
              <a:rPr lang="fr-CA" sz="1800" dirty="0">
                <a:cs typeface="Times New Roman" panose="02020603050405020304" pitchFamily="18" charset="0"/>
              </a:rPr>
              <a:t>Incohérences</a:t>
            </a:r>
            <a:r>
              <a:rPr lang="fr-CA" sz="1800" dirty="0"/>
              <a:t> ● Risque de fraude ● Rarement cas isolé de fraude ● Haute direction impliquée ? ● Itération requise ?</a:t>
            </a:r>
            <a:endParaRPr lang="fr-CA" sz="2500" dirty="0">
              <a:solidFill>
                <a:prstClr val="black"/>
              </a:solidFill>
              <a:latin typeface="Times New Roman" panose="02020603050405020304" pitchFamily="18" charset="0"/>
              <a:cs typeface="Times New Roman" panose="02020603050405020304" pitchFamily="18" charset="0"/>
            </a:endParaRPr>
          </a:p>
          <a:p>
            <a:pPr lvl="0" algn="just">
              <a:spcBef>
                <a:spcPts val="0"/>
              </a:spcBef>
              <a:buClr>
                <a:srgbClr val="0F6FC6">
                  <a:lumMod val="75000"/>
                </a:srgbClr>
              </a:buClr>
            </a:pPr>
            <a:endParaRPr lang="fr-CA" sz="600" b="1" dirty="0">
              <a:cs typeface="Times New Roman" panose="02020603050405020304" pitchFamily="18" charset="0"/>
            </a:endParaRPr>
          </a:p>
          <a:p>
            <a:pPr marL="0" indent="0" algn="just">
              <a:spcBef>
                <a:spcPts val="0"/>
              </a:spcBef>
              <a:buNone/>
            </a:pPr>
            <a:r>
              <a:rPr lang="fr-CA" sz="1800" b="1" dirty="0">
                <a:cs typeface="Times New Roman" panose="02020603050405020304" pitchFamily="18" charset="0"/>
              </a:rPr>
              <a:t>Impossibilité de poursuivre la mission</a:t>
            </a:r>
            <a:r>
              <a:rPr lang="fr-CA" sz="1800" dirty="0">
                <a:cs typeface="Times New Roman" panose="02020603050405020304" pitchFamily="18" charset="0"/>
              </a:rPr>
              <a:t> </a:t>
            </a:r>
          </a:p>
          <a:p>
            <a:pPr lvl="0" algn="just">
              <a:spcBef>
                <a:spcPts val="0"/>
              </a:spcBef>
              <a:buClr>
                <a:srgbClr val="0F6FC6">
                  <a:lumMod val="75000"/>
                </a:srgbClr>
              </a:buClr>
            </a:pPr>
            <a:r>
              <a:rPr lang="fr-CA" sz="1800" dirty="0">
                <a:cs typeface="Times New Roman" panose="02020603050405020304" pitchFamily="18" charset="0"/>
              </a:rPr>
              <a:t>Si l’auditeur se trouve dans des </a:t>
            </a:r>
            <a:r>
              <a:rPr lang="fr-CA" sz="1800" b="1" u="sng" dirty="0">
                <a:cs typeface="Times New Roman" panose="02020603050405020304" pitchFamily="18" charset="0"/>
              </a:rPr>
              <a:t>circonstances exceptionnelles</a:t>
            </a:r>
            <a:r>
              <a:rPr lang="fr-CA" sz="1800" b="1" dirty="0">
                <a:cs typeface="Times New Roman" panose="02020603050405020304" pitchFamily="18" charset="0"/>
              </a:rPr>
              <a:t> </a:t>
            </a:r>
            <a:r>
              <a:rPr lang="fr-CA" sz="1800" dirty="0">
                <a:cs typeface="Times New Roman" panose="02020603050405020304" pitchFamily="18" charset="0"/>
              </a:rPr>
              <a:t>qui le conduisent à remettre en cause la possibilité de poursuivre sa mission, il doit :</a:t>
            </a:r>
          </a:p>
          <a:p>
            <a:pPr marL="701460" lvl="1" indent="-342900" algn="just">
              <a:buClr>
                <a:srgbClr val="0F6FC6">
                  <a:lumMod val="75000"/>
                </a:srgbClr>
              </a:buClr>
              <a:buFont typeface="+mj-lt"/>
              <a:buAutoNum type="alphaLcParenR"/>
            </a:pPr>
            <a:r>
              <a:rPr lang="fr-CA" sz="1800" dirty="0">
                <a:cs typeface="Times New Roman" panose="02020603050405020304" pitchFamily="18" charset="0"/>
              </a:rPr>
              <a:t>déterminer quelles sont ses </a:t>
            </a:r>
            <a:r>
              <a:rPr lang="fr-CA" sz="1800" b="1" dirty="0">
                <a:cs typeface="Times New Roman" panose="02020603050405020304" pitchFamily="18" charset="0"/>
              </a:rPr>
              <a:t>obligations professionnelles et légales</a:t>
            </a:r>
            <a:r>
              <a:rPr lang="fr-CA" sz="1800" dirty="0">
                <a:cs typeface="Times New Roman" panose="02020603050405020304" pitchFamily="18" charset="0"/>
              </a:rPr>
              <a:t>. </a:t>
            </a:r>
          </a:p>
          <a:p>
            <a:pPr marL="701460" lvl="1" indent="-342900" algn="just">
              <a:buClr>
                <a:srgbClr val="0F6FC6">
                  <a:lumMod val="75000"/>
                </a:srgbClr>
              </a:buClr>
              <a:buFont typeface="+mj-lt"/>
              <a:buAutoNum type="alphaLcParenR"/>
            </a:pPr>
            <a:r>
              <a:rPr lang="fr-CA" sz="1800" dirty="0">
                <a:cs typeface="Times New Roman" panose="02020603050405020304" pitchFamily="18" charset="0"/>
              </a:rPr>
              <a:t>se demander s’il est </a:t>
            </a:r>
            <a:r>
              <a:rPr lang="fr-CA" sz="1800" b="1" dirty="0">
                <a:cs typeface="Times New Roman" panose="02020603050405020304" pitchFamily="18" charset="0"/>
              </a:rPr>
              <a:t>approprié de démissionner</a:t>
            </a:r>
            <a:r>
              <a:rPr lang="fr-CA" sz="1800" dirty="0">
                <a:cs typeface="Times New Roman" panose="02020603050405020304" pitchFamily="18" charset="0"/>
              </a:rPr>
              <a:t>, lorsqu’il est possible.</a:t>
            </a:r>
          </a:p>
          <a:p>
            <a:pPr marL="717120" lvl="2" indent="0" algn="just">
              <a:buClr>
                <a:srgbClr val="0F6FC6">
                  <a:lumMod val="75000"/>
                </a:srgbClr>
              </a:buClr>
              <a:buNone/>
            </a:pPr>
            <a:endParaRPr lang="fr-CA" sz="600" b="1" dirty="0">
              <a:cs typeface="Times New Roman" panose="02020603050405020304" pitchFamily="18" charset="0"/>
            </a:endParaRPr>
          </a:p>
          <a:p>
            <a:pPr marL="0" lvl="0" indent="0" algn="just">
              <a:spcBef>
                <a:spcPts val="0"/>
              </a:spcBef>
              <a:buClr>
                <a:srgbClr val="0F6FC6">
                  <a:lumMod val="75000"/>
                </a:srgbClr>
              </a:buClr>
              <a:buNone/>
            </a:pPr>
            <a:r>
              <a:rPr lang="fr-CA" sz="1800" b="1" dirty="0">
                <a:cs typeface="Times New Roman" panose="02020603050405020304" pitchFamily="18" charset="0"/>
              </a:rPr>
              <a:t>Déclarations écrites / Communication avec la direction et avec les responsables de la gouvernance / Communication à une autorité extérieure à l’entité </a:t>
            </a:r>
            <a:r>
              <a:rPr lang="fr-CA" sz="1600" dirty="0">
                <a:cs typeface="Times New Roman" panose="02020603050405020304" pitchFamily="18" charset="0"/>
              </a:rPr>
              <a:t>(si exigé par les textes légaux </a:t>
            </a:r>
            <a:r>
              <a:rPr lang="fr-CA" sz="1600" dirty="0">
                <a:solidFill>
                  <a:prstClr val="black"/>
                </a:solidFill>
                <a:cs typeface="Times New Roman" panose="02020603050405020304" pitchFamily="18" charset="0"/>
              </a:rPr>
              <a:t>ou réglementaires ou les règles de déontologie pertinentes</a:t>
            </a:r>
            <a:r>
              <a:rPr lang="fr-CA" sz="1600" dirty="0">
                <a:cs typeface="Times New Roman" panose="02020603050405020304" pitchFamily="18" charset="0"/>
              </a:rPr>
              <a:t>)</a:t>
            </a:r>
          </a:p>
          <a:p>
            <a:pPr marL="0" lvl="0" indent="0" algn="just">
              <a:spcBef>
                <a:spcPts val="0"/>
              </a:spcBef>
              <a:buClr>
                <a:srgbClr val="0F6FC6">
                  <a:lumMod val="75000"/>
                </a:srgbClr>
              </a:buClr>
              <a:buNone/>
            </a:pPr>
            <a:endParaRPr lang="fr-CA" sz="600" dirty="0">
              <a:cs typeface="Times New Roman" panose="02020603050405020304" pitchFamily="18" charset="0"/>
            </a:endParaRPr>
          </a:p>
          <a:p>
            <a:pPr marL="0" indent="0" algn="just">
              <a:spcBef>
                <a:spcPts val="0"/>
              </a:spcBef>
              <a:buClr>
                <a:srgbClr val="0F6FC6">
                  <a:lumMod val="75000"/>
                </a:srgbClr>
              </a:buClr>
              <a:buNone/>
            </a:pPr>
            <a:r>
              <a:rPr lang="fr-CA" sz="1800" b="1" dirty="0">
                <a:cs typeface="Times New Roman" panose="02020603050405020304" pitchFamily="18" charset="0"/>
              </a:rPr>
              <a:t>Documentation</a:t>
            </a:r>
          </a:p>
          <a:p>
            <a:pPr marL="0" lvl="0" indent="0" algn="just">
              <a:spcBef>
                <a:spcPts val="0"/>
              </a:spcBef>
              <a:buClr>
                <a:srgbClr val="0F6FC6">
                  <a:lumMod val="75000"/>
                </a:srgbClr>
              </a:buClr>
              <a:buNone/>
            </a:pPr>
            <a:endParaRPr lang="fr-CA" sz="700" dirty="0">
              <a:solidFill>
                <a:prstClr val="black"/>
              </a:solidFill>
              <a:cs typeface="Times New Roman" panose="02020603050405020304" pitchFamily="18" charset="0"/>
            </a:endParaRPr>
          </a:p>
        </p:txBody>
      </p:sp>
      <p:sp>
        <p:nvSpPr>
          <p:cNvPr id="4" name="Espace réservé du numéro de diapositive 3">
            <a:extLst>
              <a:ext uri="{FF2B5EF4-FFF2-40B4-BE49-F238E27FC236}">
                <a16:creationId xmlns:a16="http://schemas.microsoft.com/office/drawing/2014/main" id="{7298603A-FC07-3549-A13D-8438FBF4B269}"/>
              </a:ext>
            </a:extLst>
          </p:cNvPr>
          <p:cNvSpPr>
            <a:spLocks noGrp="1"/>
          </p:cNvSpPr>
          <p:nvPr>
            <p:ph type="sldNum" sz="quarter" idx="12"/>
          </p:nvPr>
        </p:nvSpPr>
        <p:spPr/>
        <p:txBody>
          <a:bodyPr/>
          <a:lstStyle/>
          <a:p>
            <a:fld id="{D57F1E4F-1CFF-5643-939E-02111984F565}" type="slidenum">
              <a:rPr lang="en-US" smtClean="0"/>
              <a:t>89</a:t>
            </a:fld>
            <a:endParaRPr lang="en-US" dirty="0"/>
          </a:p>
        </p:txBody>
      </p:sp>
      <p:sp>
        <p:nvSpPr>
          <p:cNvPr id="5" name="Organigramme : Alternative 13">
            <a:extLst>
              <a:ext uri="{FF2B5EF4-FFF2-40B4-BE49-F238E27FC236}">
                <a16:creationId xmlns:a16="http://schemas.microsoft.com/office/drawing/2014/main" id="{306F898A-CF8B-C113-E817-6042A10B5D4F}"/>
              </a:ext>
            </a:extLst>
          </p:cNvPr>
          <p:cNvSpPr/>
          <p:nvPr/>
        </p:nvSpPr>
        <p:spPr>
          <a:xfrm>
            <a:off x="10470415" y="71892"/>
            <a:ext cx="1213586" cy="40478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rPr>
              <a:t>NCA</a:t>
            </a:r>
            <a:r>
              <a:rPr kumimoji="0" lang="fr-CA" sz="1800" b="1" i="0" u="none" strike="noStrike" kern="1200" cap="none" spc="0" normalizeH="0" noProof="0" dirty="0">
                <a:ln>
                  <a:noFill/>
                </a:ln>
                <a:solidFill>
                  <a:srgbClr val="7030A0"/>
                </a:solidFill>
                <a:effectLst/>
                <a:uLnTx/>
                <a:uFillTx/>
                <a:latin typeface="Calibri" panose="020F0502020204030204"/>
                <a:ea typeface="+mn-ea"/>
                <a:cs typeface="+mn-cs"/>
              </a:rPr>
              <a:t> 240</a:t>
            </a:r>
            <a:endParaRPr kumimoji="0" lang="fr-CA"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1223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CA" dirty="0"/>
              <a:t>Missions </a:t>
            </a:r>
            <a:r>
              <a:rPr lang="en-CA" dirty="0" err="1"/>
              <a:t>d’examen</a:t>
            </a:r>
            <a:r>
              <a:rPr lang="en-CA" dirty="0"/>
              <a:t> et de compilation</a:t>
            </a:r>
          </a:p>
        </p:txBody>
      </p:sp>
      <p:sp>
        <p:nvSpPr>
          <p:cNvPr id="3" name="Espace réservé du texte 2"/>
          <p:cNvSpPr>
            <a:spLocks noGrp="1"/>
          </p:cNvSpPr>
          <p:nvPr>
            <p:ph type="body" idx="1"/>
          </p:nvPr>
        </p:nvSpPr>
        <p:spPr/>
        <p:txBody>
          <a:bodyPr/>
          <a:lstStyle/>
          <a:p>
            <a:endParaRPr lang="en-CA"/>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90</a:t>
            </a:fld>
            <a:endParaRPr lang="en-US" dirty="0"/>
          </a:p>
        </p:txBody>
      </p:sp>
    </p:spTree>
    <p:extLst>
      <p:ext uri="{BB962C8B-B14F-4D97-AF65-F5344CB8AC3E}">
        <p14:creationId xmlns:p14="http://schemas.microsoft.com/office/powerpoint/2010/main" val="2732691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A41F1A70-B844-2143-80E2-7BFB1B9F665A}"/>
              </a:ext>
            </a:extLst>
          </p:cNvPr>
          <p:cNvPicPr>
            <a:picLocks noChangeAspect="1"/>
          </p:cNvPicPr>
          <p:nvPr/>
        </p:nvPicPr>
        <p:blipFill>
          <a:blip r:embed="rId3"/>
          <a:stretch>
            <a:fillRect/>
          </a:stretch>
        </p:blipFill>
        <p:spPr>
          <a:xfrm>
            <a:off x="1616984" y="1073591"/>
            <a:ext cx="8958032" cy="5552564"/>
          </a:xfrm>
          <a:prstGeom prst="rect">
            <a:avLst/>
          </a:prstGeom>
        </p:spPr>
      </p:pic>
      <p:sp>
        <p:nvSpPr>
          <p:cNvPr id="5" name="Espace réservé du numéro de diapositive 4"/>
          <p:cNvSpPr>
            <a:spLocks noGrp="1"/>
          </p:cNvSpPr>
          <p:nvPr>
            <p:ph type="sldNum" sz="quarter" idx="12"/>
          </p:nvPr>
        </p:nvSpPr>
        <p:spPr/>
        <p:txBody>
          <a:bodyPr/>
          <a:lstStyle/>
          <a:p>
            <a:fld id="{AC6A126F-ECAD-40CF-950D-291D558E4DF6}" type="slidenum">
              <a:rPr lang="fr-CA" smtClean="0"/>
              <a:t>91</a:t>
            </a:fld>
            <a:endParaRPr lang="fr-CA"/>
          </a:p>
        </p:txBody>
      </p:sp>
      <p:sp>
        <p:nvSpPr>
          <p:cNvPr id="15" name="Titre 1"/>
          <p:cNvSpPr>
            <a:spLocks noGrp="1"/>
          </p:cNvSpPr>
          <p:nvPr>
            <p:ph type="title"/>
          </p:nvPr>
        </p:nvSpPr>
        <p:spPr>
          <a:xfrm>
            <a:off x="962525" y="202019"/>
            <a:ext cx="10443411" cy="764767"/>
          </a:xfrm>
        </p:spPr>
        <p:txBody>
          <a:bodyPr>
            <a:noAutofit/>
          </a:bodyPr>
          <a:lstStyle/>
          <a:p>
            <a:r>
              <a:rPr lang="fr-CA" sz="2800" b="1" dirty="0"/>
              <a:t>Tableau synoptique Manuel CPA Canada – Certification</a:t>
            </a:r>
          </a:p>
        </p:txBody>
      </p:sp>
      <p:sp>
        <p:nvSpPr>
          <p:cNvPr id="3" name="Rounded Rectangle 2">
            <a:extLst>
              <a:ext uri="{FF2B5EF4-FFF2-40B4-BE49-F238E27FC236}">
                <a16:creationId xmlns:a16="http://schemas.microsoft.com/office/drawing/2014/main" id="{7FFC44CF-B994-A240-A17C-0CC4966B63D0}"/>
              </a:ext>
            </a:extLst>
          </p:cNvPr>
          <p:cNvSpPr/>
          <p:nvPr/>
        </p:nvSpPr>
        <p:spPr>
          <a:xfrm>
            <a:off x="8629069" y="1363786"/>
            <a:ext cx="914399" cy="4656768"/>
          </a:xfrm>
          <a:prstGeom prst="roundRect">
            <a:avLst/>
          </a:prstGeom>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fr-CA"/>
          </a:p>
        </p:txBody>
      </p:sp>
    </p:spTree>
    <p:extLst>
      <p:ext uri="{BB962C8B-B14F-4D97-AF65-F5344CB8AC3E}">
        <p14:creationId xmlns:p14="http://schemas.microsoft.com/office/powerpoint/2010/main" val="392590644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CA" dirty="0"/>
              <a:t>NCME 2400 </a:t>
            </a:r>
            <a:r>
              <a:rPr lang="mr-IN" dirty="0"/>
              <a:t>–</a:t>
            </a:r>
            <a:r>
              <a:rPr lang="en-CA" dirty="0"/>
              <a:t> Missions </a:t>
            </a:r>
            <a:r>
              <a:rPr lang="en-CA" dirty="0" err="1"/>
              <a:t>d’examen</a:t>
            </a:r>
            <a:r>
              <a:rPr lang="en-CA" dirty="0"/>
              <a:t> d’états financiers </a:t>
            </a:r>
            <a:r>
              <a:rPr lang="en-CA" dirty="0" err="1"/>
              <a:t>historiques</a:t>
            </a:r>
            <a:endParaRPr lang="en-CA" dirty="0"/>
          </a:p>
        </p:txBody>
      </p:sp>
      <p:sp>
        <p:nvSpPr>
          <p:cNvPr id="3" name="Espace réservé du contenu 2"/>
          <p:cNvSpPr>
            <a:spLocks noGrp="1"/>
          </p:cNvSpPr>
          <p:nvPr>
            <p:ph idx="1"/>
          </p:nvPr>
        </p:nvSpPr>
        <p:spPr>
          <a:xfrm>
            <a:off x="638400" y="1893224"/>
            <a:ext cx="10915200" cy="4119387"/>
          </a:xfrm>
        </p:spPr>
        <p:txBody>
          <a:bodyPr>
            <a:normAutofit fontScale="92500" lnSpcReduction="10000"/>
          </a:bodyPr>
          <a:lstStyle/>
          <a:p>
            <a:r>
              <a:rPr lang="fr-FR" dirty="0"/>
              <a:t>Objectifs :</a:t>
            </a:r>
          </a:p>
          <a:p>
            <a:pPr marL="457200" indent="-457200">
              <a:buFont typeface="+mj-lt"/>
              <a:buAutoNum type="alphaLcParenR"/>
            </a:pPr>
            <a:r>
              <a:rPr lang="fr-FR" dirty="0"/>
              <a:t>obtenir une </a:t>
            </a:r>
            <a:r>
              <a:rPr lang="fr-FR" u="sng" dirty="0"/>
              <a:t>assurance limitée</a:t>
            </a:r>
            <a:r>
              <a:rPr lang="fr-FR" dirty="0"/>
              <a:t> que les </a:t>
            </a:r>
            <a:r>
              <a:rPr lang="fr-FR" dirty="0" err="1"/>
              <a:t>ÉFs</a:t>
            </a:r>
            <a:r>
              <a:rPr lang="fr-FR" dirty="0"/>
              <a:t> pris dans leur ensemble ne comportent pas d'anomalies significatives </a:t>
            </a:r>
          </a:p>
          <a:p>
            <a:pPr marL="457200" indent="-457200">
              <a:buFont typeface="+mj-lt"/>
              <a:buAutoNum type="alphaLcParenR"/>
            </a:pPr>
            <a:r>
              <a:rPr lang="fr-FR" dirty="0"/>
              <a:t>délivrer un rapport sur les </a:t>
            </a:r>
            <a:r>
              <a:rPr lang="fr-FR" dirty="0" err="1"/>
              <a:t>ÉFs</a:t>
            </a:r>
            <a:r>
              <a:rPr lang="fr-FR" dirty="0"/>
              <a:t> pris dans leur ensemble.</a:t>
            </a:r>
          </a:p>
          <a:p>
            <a:pPr marL="457200" indent="-457200">
              <a:buFont typeface="+mj-lt"/>
              <a:buAutoNum type="alphaLcParenR"/>
            </a:pPr>
            <a:endParaRPr lang="fr-FR" dirty="0"/>
          </a:p>
          <a:p>
            <a:r>
              <a:rPr lang="fr-FR" dirty="0"/>
              <a:t>Procédures: </a:t>
            </a:r>
          </a:p>
          <a:p>
            <a:pPr lvl="1"/>
            <a:r>
              <a:rPr lang="fr-FR" dirty="0"/>
              <a:t>Demandes d'informations</a:t>
            </a:r>
          </a:p>
          <a:p>
            <a:pPr lvl="1"/>
            <a:r>
              <a:rPr lang="fr-FR" dirty="0"/>
              <a:t>Procédures analytiques</a:t>
            </a:r>
          </a:p>
          <a:p>
            <a:pPr lvl="1"/>
            <a:endParaRPr lang="fr-FR" dirty="0"/>
          </a:p>
          <a:p>
            <a:r>
              <a:rPr lang="fr-FR" dirty="0"/>
              <a:t>Ne pas faire des procédures d’audit ! </a:t>
            </a:r>
          </a:p>
          <a:p>
            <a:r>
              <a:rPr lang="en-CA" dirty="0" err="1"/>
              <a:t>Moins</a:t>
            </a:r>
            <a:r>
              <a:rPr lang="en-CA" dirty="0"/>
              <a:t> </a:t>
            </a:r>
            <a:r>
              <a:rPr lang="en-CA" dirty="0" err="1"/>
              <a:t>coûteux</a:t>
            </a:r>
            <a:r>
              <a:rPr lang="en-CA" dirty="0"/>
              <a:t> </a:t>
            </a:r>
            <a:r>
              <a:rPr lang="en-CA" dirty="0" err="1"/>
              <a:t>qu’un</a:t>
            </a:r>
            <a:r>
              <a:rPr lang="en-CA" dirty="0"/>
              <a:t> audit </a:t>
            </a:r>
            <a:r>
              <a:rPr lang="en-CA" dirty="0" err="1"/>
              <a:t>puisque</a:t>
            </a:r>
            <a:r>
              <a:rPr lang="en-CA" dirty="0"/>
              <a:t> </a:t>
            </a:r>
            <a:r>
              <a:rPr lang="en-CA" dirty="0" err="1"/>
              <a:t>moins</a:t>
            </a:r>
            <a:r>
              <a:rPr lang="en-CA" dirty="0"/>
              <a:t> de travail </a:t>
            </a:r>
            <a:r>
              <a:rPr lang="en-CA" dirty="0" err="1"/>
              <a:t>est</a:t>
            </a:r>
            <a:r>
              <a:rPr lang="en-CA" dirty="0"/>
              <a:t> </a:t>
            </a:r>
            <a:r>
              <a:rPr lang="en-CA" dirty="0" err="1"/>
              <a:t>effectué</a:t>
            </a:r>
            <a:r>
              <a:rPr lang="en-CA" dirty="0"/>
              <a:t>.</a:t>
            </a:r>
          </a:p>
          <a:p>
            <a:r>
              <a:rPr lang="en-CA" dirty="0"/>
              <a:t>La NCME 2400 </a:t>
            </a:r>
            <a:r>
              <a:rPr lang="en-CA" dirty="0" err="1"/>
              <a:t>s’applique</a:t>
            </a:r>
            <a:r>
              <a:rPr lang="en-CA" dirty="0"/>
              <a:t> aux missions </a:t>
            </a:r>
            <a:r>
              <a:rPr lang="en-CA" dirty="0" err="1"/>
              <a:t>d’examen</a:t>
            </a:r>
            <a:r>
              <a:rPr lang="en-CA" dirty="0"/>
              <a:t> </a:t>
            </a:r>
            <a:r>
              <a:rPr lang="en-CA" dirty="0" err="1"/>
              <a:t>d’autres</a:t>
            </a:r>
            <a:r>
              <a:rPr lang="en-CA" dirty="0"/>
              <a:t> </a:t>
            </a:r>
            <a:r>
              <a:rPr lang="en-CA" dirty="0" err="1"/>
              <a:t>informations</a:t>
            </a:r>
            <a:r>
              <a:rPr lang="en-CA" dirty="0"/>
              <a:t> </a:t>
            </a:r>
            <a:r>
              <a:rPr lang="en-CA" dirty="0" err="1"/>
              <a:t>financières</a:t>
            </a:r>
            <a:r>
              <a:rPr lang="en-CA" dirty="0"/>
              <a:t> </a:t>
            </a:r>
            <a:r>
              <a:rPr lang="en-CA" dirty="0" err="1"/>
              <a:t>historiques</a:t>
            </a:r>
            <a:r>
              <a:rPr lang="en-CA" dirty="0"/>
              <a:t>.</a:t>
            </a:r>
          </a:p>
        </p:txBody>
      </p:sp>
      <p:sp>
        <p:nvSpPr>
          <p:cNvPr id="4" name="Espace réservé du numéro de diapositive 3"/>
          <p:cNvSpPr>
            <a:spLocks noGrp="1"/>
          </p:cNvSpPr>
          <p:nvPr>
            <p:ph type="sldNum" sz="quarter" idx="12"/>
          </p:nvPr>
        </p:nvSpPr>
        <p:spPr/>
        <p:txBody>
          <a:bodyPr/>
          <a:lstStyle/>
          <a:p>
            <a:fld id="{D57F1E4F-1CFF-5643-939E-02111984F565}" type="slidenum">
              <a:rPr lang="en-US" smtClean="0"/>
              <a:t>92</a:t>
            </a:fld>
            <a:endParaRPr lang="en-US" dirty="0"/>
          </a:p>
        </p:txBody>
      </p:sp>
    </p:spTree>
    <p:extLst>
      <p:ext uri="{BB962C8B-B14F-4D97-AF65-F5344CB8AC3E}">
        <p14:creationId xmlns:p14="http://schemas.microsoft.com/office/powerpoint/2010/main" val="386141348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E459D4AC-CF54-0048-91D9-AC486A9D6714}"/>
              </a:ext>
            </a:extLst>
          </p:cNvPr>
          <p:cNvPicPr>
            <a:picLocks noChangeAspect="1"/>
          </p:cNvPicPr>
          <p:nvPr/>
        </p:nvPicPr>
        <p:blipFill>
          <a:blip r:embed="rId3"/>
          <a:stretch>
            <a:fillRect/>
          </a:stretch>
        </p:blipFill>
        <p:spPr>
          <a:xfrm>
            <a:off x="1616984" y="1073591"/>
            <a:ext cx="8958032" cy="5552564"/>
          </a:xfrm>
          <a:prstGeom prst="rect">
            <a:avLst/>
          </a:prstGeom>
        </p:spPr>
      </p:pic>
      <p:sp>
        <p:nvSpPr>
          <p:cNvPr id="5" name="Espace réservé du numéro de diapositive 4"/>
          <p:cNvSpPr>
            <a:spLocks noGrp="1"/>
          </p:cNvSpPr>
          <p:nvPr>
            <p:ph type="sldNum" sz="quarter" idx="12"/>
          </p:nvPr>
        </p:nvSpPr>
        <p:spPr/>
        <p:txBody>
          <a:bodyPr/>
          <a:lstStyle/>
          <a:p>
            <a:fld id="{AC6A126F-ECAD-40CF-950D-291D558E4DF6}" type="slidenum">
              <a:rPr lang="fr-CA" smtClean="0"/>
              <a:t>93</a:t>
            </a:fld>
            <a:endParaRPr lang="fr-CA"/>
          </a:p>
        </p:txBody>
      </p:sp>
      <p:sp>
        <p:nvSpPr>
          <p:cNvPr id="15" name="Titre 1"/>
          <p:cNvSpPr>
            <a:spLocks noGrp="1"/>
          </p:cNvSpPr>
          <p:nvPr>
            <p:ph type="title"/>
          </p:nvPr>
        </p:nvSpPr>
        <p:spPr>
          <a:xfrm>
            <a:off x="962525" y="202019"/>
            <a:ext cx="10443411" cy="764767"/>
          </a:xfrm>
        </p:spPr>
        <p:txBody>
          <a:bodyPr>
            <a:noAutofit/>
          </a:bodyPr>
          <a:lstStyle/>
          <a:p>
            <a:r>
              <a:rPr lang="fr-CA" sz="2800" b="1" dirty="0"/>
              <a:t>Tableau synoptique Manuel CPA Canada – Certification</a:t>
            </a:r>
          </a:p>
        </p:txBody>
      </p:sp>
      <p:sp>
        <p:nvSpPr>
          <p:cNvPr id="3" name="Rounded Rectangle 2">
            <a:extLst>
              <a:ext uri="{FF2B5EF4-FFF2-40B4-BE49-F238E27FC236}">
                <a16:creationId xmlns:a16="http://schemas.microsoft.com/office/drawing/2014/main" id="{7FFC44CF-B994-A240-A17C-0CC4966B63D0}"/>
              </a:ext>
            </a:extLst>
          </p:cNvPr>
          <p:cNvSpPr/>
          <p:nvPr/>
        </p:nvSpPr>
        <p:spPr>
          <a:xfrm>
            <a:off x="9559309" y="1382349"/>
            <a:ext cx="914399" cy="4754291"/>
          </a:xfrm>
          <a:prstGeom prst="roundRect">
            <a:avLst/>
          </a:prstGeom>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fr-CA"/>
          </a:p>
        </p:txBody>
      </p:sp>
    </p:spTree>
    <p:extLst>
      <p:ext uri="{BB962C8B-B14F-4D97-AF65-F5344CB8AC3E}">
        <p14:creationId xmlns:p14="http://schemas.microsoft.com/office/powerpoint/2010/main" val="144616197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CA" dirty="0"/>
              <a:t>NCSC 4200 </a:t>
            </a:r>
            <a:r>
              <a:rPr lang="mr-IN" dirty="0"/>
              <a:t>–</a:t>
            </a:r>
            <a:r>
              <a:rPr lang="en-CA" dirty="0"/>
              <a:t> Missions de compilation</a:t>
            </a:r>
          </a:p>
        </p:txBody>
      </p:sp>
      <p:sp>
        <p:nvSpPr>
          <p:cNvPr id="3" name="Espace réservé du contenu 2"/>
          <p:cNvSpPr>
            <a:spLocks noGrp="1"/>
          </p:cNvSpPr>
          <p:nvPr>
            <p:ph idx="1"/>
          </p:nvPr>
        </p:nvSpPr>
        <p:spPr>
          <a:xfrm>
            <a:off x="638400" y="1893224"/>
            <a:ext cx="10915200" cy="4328114"/>
          </a:xfrm>
        </p:spPr>
        <p:txBody>
          <a:bodyPr>
            <a:normAutofit fontScale="85000" lnSpcReduction="20000"/>
          </a:bodyPr>
          <a:lstStyle/>
          <a:p>
            <a:r>
              <a:rPr lang="fr-FR" dirty="0"/>
              <a:t>La mission de compilation est une mission dans laquelle l</a:t>
            </a:r>
            <a:r>
              <a:rPr lang="fr-CA" dirty="0"/>
              <a:t>e professionnel en exercice assiste la direction dans la préparation d'informations financières compilées conformément à la méthode de comptabilité qu'elle a retenue, y compris la rédaction d'une note qui décrit cette méthode de comptabilité;</a:t>
            </a:r>
          </a:p>
          <a:p>
            <a:r>
              <a:rPr lang="fr-FR" dirty="0"/>
              <a:t>Aucune assurance n’est fournie.</a:t>
            </a:r>
          </a:p>
          <a:p>
            <a:endParaRPr lang="fr-FR" dirty="0"/>
          </a:p>
          <a:p>
            <a:pPr marL="0" indent="0">
              <a:buNone/>
            </a:pPr>
            <a:r>
              <a:rPr lang="fr-CA" sz="2000" b="1" dirty="0"/>
              <a:t>Exigences en matière de réalisation de la mission</a:t>
            </a:r>
            <a:endParaRPr lang="fr-FR" sz="2000" dirty="0"/>
          </a:p>
          <a:p>
            <a:r>
              <a:rPr lang="fr-CA" dirty="0"/>
              <a:t>Acquisition d’une connaissance suffisante des affaires de l’entité, du système comptable et des méthodes comptables retenues. </a:t>
            </a:r>
          </a:p>
          <a:p>
            <a:r>
              <a:rPr lang="fr-CA" dirty="0"/>
              <a:t>Préparation des informations financières compilées et communication par voie de note de la méthode de comptabilité retenue. </a:t>
            </a:r>
          </a:p>
          <a:p>
            <a:r>
              <a:rPr lang="fr-CA" dirty="0"/>
              <a:t>Entretien sur les jugements importants pour lesquels une assistance est fournie.</a:t>
            </a:r>
          </a:p>
          <a:p>
            <a:r>
              <a:rPr lang="fr-CA" dirty="0"/>
              <a:t>Relecture, avec du recul et à la lumière de la connaissance acquise, des informations financières compilées.</a:t>
            </a:r>
          </a:p>
          <a:p>
            <a:r>
              <a:rPr lang="fr-CA" dirty="0"/>
              <a:t>Obtention d’une reconnaissance de responsabilité de la direction à l’égard des informations financières compilées.</a:t>
            </a:r>
          </a:p>
          <a:p>
            <a:pPr marL="0" indent="0">
              <a:buNone/>
            </a:pPr>
            <a:endParaRPr lang="fr-FR" dirty="0"/>
          </a:p>
          <a:p>
            <a:pPr marL="0" indent="0">
              <a:buNone/>
            </a:pPr>
            <a:r>
              <a:rPr lang="fr-FR" dirty="0"/>
              <a:t>Remplace le chapitre 9200 – Missions de compilation</a:t>
            </a:r>
            <a:endParaRPr lang="en-CA" dirty="0"/>
          </a:p>
        </p:txBody>
      </p:sp>
      <p:sp>
        <p:nvSpPr>
          <p:cNvPr id="4" name="Espace réservé du numéro de diapositive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7F1E4F-1CFF-5643-939E-02111984F565}" type="slidenum">
              <a:rPr kumimoji="0" lang="en-US" sz="804" b="0" i="0" u="none" strike="noStrike" kern="1200" cap="none" spc="0" normalizeH="0" baseline="0" noProof="0" smtClean="0">
                <a:ln>
                  <a:noFill/>
                </a:ln>
                <a:solidFill>
                  <a:srgbClr val="003C71"/>
                </a:solidFill>
                <a:effectLst/>
                <a:uLnTx/>
                <a:uFillTx/>
                <a:latin typeface="Arial" panose="020B06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94</a:t>
            </a:fld>
            <a:endParaRPr kumimoji="0" lang="en-US" sz="804" b="0" i="0" u="none" strike="noStrike" kern="1200" cap="none" spc="0" normalizeH="0" baseline="0" noProof="0" dirty="0">
              <a:ln>
                <a:noFill/>
              </a:ln>
              <a:solidFill>
                <a:srgbClr val="003C71"/>
              </a:solidFill>
              <a:effectLst/>
              <a:uLnTx/>
              <a:uFillTx/>
              <a:latin typeface="Arial" panose="020B0604020202020204"/>
              <a:ea typeface="+mn-ea"/>
              <a:cs typeface="+mn-cs"/>
            </a:endParaRPr>
          </a:p>
        </p:txBody>
      </p:sp>
    </p:spTree>
    <p:extLst>
      <p:ext uri="{BB962C8B-B14F-4D97-AF65-F5344CB8AC3E}">
        <p14:creationId xmlns:p14="http://schemas.microsoft.com/office/powerpoint/2010/main" val="70595882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DD6B16-6073-174F-BB16-EB8D6D9C30AE}"/>
              </a:ext>
            </a:extLst>
          </p:cNvPr>
          <p:cNvSpPr>
            <a:spLocks noGrp="1"/>
          </p:cNvSpPr>
          <p:nvPr>
            <p:ph type="title"/>
          </p:nvPr>
        </p:nvSpPr>
        <p:spPr/>
        <p:txBody>
          <a:bodyPr/>
          <a:lstStyle/>
          <a:p>
            <a:r>
              <a:rPr lang="fr-CA" dirty="0"/>
              <a:t>Évaluation du contrôle interne</a:t>
            </a:r>
          </a:p>
        </p:txBody>
      </p:sp>
      <p:sp>
        <p:nvSpPr>
          <p:cNvPr id="3" name="Espace réservé du texte 2">
            <a:extLst>
              <a:ext uri="{FF2B5EF4-FFF2-40B4-BE49-F238E27FC236}">
                <a16:creationId xmlns:a16="http://schemas.microsoft.com/office/drawing/2014/main" id="{DBCDD146-D1D8-FC44-A6BF-FD625EB16F37}"/>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867FC05F-2F45-3448-86B9-48EDB6803D63}"/>
              </a:ext>
            </a:extLst>
          </p:cNvPr>
          <p:cNvSpPr>
            <a:spLocks noGrp="1"/>
          </p:cNvSpPr>
          <p:nvPr>
            <p:ph type="sldNum" sz="quarter" idx="12"/>
          </p:nvPr>
        </p:nvSpPr>
        <p:spPr/>
        <p:txBody>
          <a:bodyPr/>
          <a:lstStyle/>
          <a:p>
            <a:fld id="{D57F1E4F-1CFF-5643-939E-02111984F565}" type="slidenum">
              <a:rPr lang="en-US" smtClean="0"/>
              <a:t>95</a:t>
            </a:fld>
            <a:endParaRPr lang="en-US" dirty="0"/>
          </a:p>
        </p:txBody>
      </p:sp>
    </p:spTree>
    <p:extLst>
      <p:ext uri="{BB962C8B-B14F-4D97-AF65-F5344CB8AC3E}">
        <p14:creationId xmlns:p14="http://schemas.microsoft.com/office/powerpoint/2010/main" val="212024711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2541DA-D9A3-8444-9571-3476B346BED8}"/>
              </a:ext>
            </a:extLst>
          </p:cNvPr>
          <p:cNvSpPr>
            <a:spLocks noGrp="1"/>
          </p:cNvSpPr>
          <p:nvPr>
            <p:ph type="title"/>
          </p:nvPr>
        </p:nvSpPr>
        <p:spPr/>
        <p:txBody>
          <a:bodyPr>
            <a:normAutofit fontScale="90000"/>
          </a:bodyPr>
          <a:lstStyle/>
          <a:p>
            <a:r>
              <a:rPr lang="fr-CA" dirty="0"/>
              <a:t>Contrôle interne</a:t>
            </a:r>
          </a:p>
        </p:txBody>
      </p:sp>
      <p:sp>
        <p:nvSpPr>
          <p:cNvPr id="3" name="Espace réservé du numéro de diapositive 2">
            <a:extLst>
              <a:ext uri="{FF2B5EF4-FFF2-40B4-BE49-F238E27FC236}">
                <a16:creationId xmlns:a16="http://schemas.microsoft.com/office/drawing/2014/main" id="{6E12774F-1A00-6448-9BD8-DDC14AAF5044}"/>
              </a:ext>
            </a:extLst>
          </p:cNvPr>
          <p:cNvSpPr>
            <a:spLocks noGrp="1"/>
          </p:cNvSpPr>
          <p:nvPr>
            <p:ph type="sldNum" sz="quarter" idx="12"/>
          </p:nvPr>
        </p:nvSpPr>
        <p:spPr/>
        <p:txBody>
          <a:bodyPr/>
          <a:lstStyle/>
          <a:p>
            <a:fld id="{CB0E5D99-33F0-8E4B-A561-48D81EB9177A}" type="slidenum">
              <a:rPr lang="fr-CA" smtClean="0"/>
              <a:t>96</a:t>
            </a:fld>
            <a:endParaRPr lang="fr-CA"/>
          </a:p>
        </p:txBody>
      </p:sp>
      <p:sp>
        <p:nvSpPr>
          <p:cNvPr id="4" name="Espace réservé du contenu 3">
            <a:extLst>
              <a:ext uri="{FF2B5EF4-FFF2-40B4-BE49-F238E27FC236}">
                <a16:creationId xmlns:a16="http://schemas.microsoft.com/office/drawing/2014/main" id="{22F6864A-655A-DA4B-9424-20B2D1D627AB}"/>
              </a:ext>
            </a:extLst>
          </p:cNvPr>
          <p:cNvSpPr>
            <a:spLocks noGrp="1"/>
          </p:cNvSpPr>
          <p:nvPr>
            <p:ph idx="1"/>
          </p:nvPr>
        </p:nvSpPr>
        <p:spPr/>
        <p:txBody>
          <a:bodyPr>
            <a:normAutofit lnSpcReduction="10000"/>
          </a:bodyPr>
          <a:lstStyle/>
          <a:p>
            <a:pPr marL="0" indent="0">
              <a:buNone/>
            </a:pPr>
            <a:r>
              <a:rPr lang="fr-CA" dirty="0"/>
              <a:t>Types de demandes à l’EFC :</a:t>
            </a:r>
          </a:p>
          <a:p>
            <a:r>
              <a:rPr lang="fr-CA" dirty="0"/>
              <a:t>Déficiences de contrôles et recommandations (structure PIR</a:t>
            </a:r>
            <a:r>
              <a:rPr lang="fr-CA"/>
              <a:t>) Exemples :</a:t>
            </a:r>
            <a:endParaRPr lang="fr-CA" dirty="0"/>
          </a:p>
          <a:p>
            <a:pPr lvl="1"/>
            <a:r>
              <a:rPr lang="fr-CA" dirty="0"/>
              <a:t>Contrôles des systèmes TI</a:t>
            </a:r>
          </a:p>
          <a:p>
            <a:pPr lvl="1"/>
            <a:r>
              <a:rPr lang="fr-CA" dirty="0"/>
              <a:t>Contrôles sur les cycles opérationnels (ventes, achats, paie)</a:t>
            </a:r>
          </a:p>
          <a:p>
            <a:pPr lvl="2"/>
            <a:r>
              <a:rPr lang="fr-CA" dirty="0"/>
              <a:t>Séparation des tâches (garde, autorisation, enregistrement), pièces justificatives, liste approuvée, autorisations et signatures, rapprochements bancaires</a:t>
            </a:r>
          </a:p>
          <a:p>
            <a:pPr lvl="1"/>
            <a:r>
              <a:rPr lang="fr-CA" dirty="0"/>
              <a:t>Contrôles sur les activités de l’organisation</a:t>
            </a:r>
          </a:p>
          <a:p>
            <a:pPr lvl="1"/>
            <a:r>
              <a:rPr lang="fr-CA" dirty="0"/>
              <a:t>Contrôles sur les stocks</a:t>
            </a:r>
          </a:p>
          <a:p>
            <a:r>
              <a:rPr lang="fr-CA" dirty="0"/>
              <a:t>Tests des contrôles</a:t>
            </a:r>
          </a:p>
          <a:p>
            <a:endParaRPr lang="fr-CA" dirty="0"/>
          </a:p>
          <a:p>
            <a:r>
              <a:rPr lang="fr-CA" dirty="0"/>
              <a:t>Importance de l’impact et de la recommandation</a:t>
            </a:r>
          </a:p>
          <a:p>
            <a:pPr lvl="1"/>
            <a:r>
              <a:rPr lang="fr-CA" dirty="0"/>
              <a:t>Structure classique dans l’énoncé (2 PIR par paragraphe)</a:t>
            </a:r>
          </a:p>
          <a:p>
            <a:pPr lvl="1"/>
            <a:r>
              <a:rPr lang="fr-CA" dirty="0"/>
              <a:t>Moitié plus 1</a:t>
            </a:r>
          </a:p>
        </p:txBody>
      </p:sp>
    </p:spTree>
    <p:extLst>
      <p:ext uri="{BB962C8B-B14F-4D97-AF65-F5344CB8AC3E}">
        <p14:creationId xmlns:p14="http://schemas.microsoft.com/office/powerpoint/2010/main" val="10479193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Thème HEC">
  <a:themeElements>
    <a:clrScheme name="HEC2">
      <a:dk1>
        <a:srgbClr val="000000"/>
      </a:dk1>
      <a:lt1>
        <a:srgbClr val="FFFFFF"/>
      </a:lt1>
      <a:dk2>
        <a:srgbClr val="97999B"/>
      </a:dk2>
      <a:lt2>
        <a:srgbClr val="EFF0F0"/>
      </a:lt2>
      <a:accent1>
        <a:srgbClr val="009FDF"/>
      </a:accent1>
      <a:accent2>
        <a:srgbClr val="003C71"/>
      </a:accent2>
      <a:accent3>
        <a:srgbClr val="D40F7D"/>
      </a:accent3>
      <a:accent4>
        <a:srgbClr val="FE5000"/>
      </a:accent4>
      <a:accent5>
        <a:srgbClr val="00C1D5"/>
      </a:accent5>
      <a:accent6>
        <a:srgbClr val="005EB8"/>
      </a:accent6>
      <a:hlink>
        <a:srgbClr val="003C71"/>
      </a:hlink>
      <a:folHlink>
        <a:srgbClr val="9678D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ormAutofit/>
      </a:bodyPr>
      <a:lstStyle>
        <a:defPPr marL="154800" indent="-154800">
          <a:buClr>
            <a:schemeClr val="accent2"/>
          </a:buClr>
          <a:buSzPct val="125000"/>
          <a:buFont typeface="Arial" panose="020B0604020202020204" pitchFamily="34" charset="0"/>
          <a:buChar char="•"/>
          <a:defRPr sz="1670" dirty="0" smtClean="0"/>
        </a:defPPr>
      </a:lstStyle>
    </a:txDef>
  </a:objectDefaults>
  <a:extraClrSchemeLst/>
  <a:extLst>
    <a:ext uri="{05A4C25C-085E-4340-85A3-A5531E510DB2}">
      <thm15:themeFamily xmlns:thm15="http://schemas.microsoft.com/office/thememl/2012/main" name="Presentation5" id="{674E6988-9F81-9C4F-A395-617E099076A1}" vid="{7BA8343F-A308-F34A-AE1C-33F4B935B6F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 B</Template>
  <TotalTime>10839</TotalTime>
  <Words>8623</Words>
  <Application>Microsoft Office PowerPoint</Application>
  <PresentationFormat>Grand écran</PresentationFormat>
  <Paragraphs>993</Paragraphs>
  <Slides>96</Slides>
  <Notes>35</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96</vt:i4>
      </vt:variant>
    </vt:vector>
  </HeadingPairs>
  <TitlesOfParts>
    <vt:vector size="102" baseType="lpstr">
      <vt:lpstr>Arial</vt:lpstr>
      <vt:lpstr>Calibri</vt:lpstr>
      <vt:lpstr>Times New Roman</vt:lpstr>
      <vt:lpstr>Trebuchet MS</vt:lpstr>
      <vt:lpstr>Wingdings</vt:lpstr>
      <vt:lpstr>Thème HEC</vt:lpstr>
      <vt:lpstr>Révision en audit et certification</vt:lpstr>
      <vt:lpstr>Je me présente</vt:lpstr>
      <vt:lpstr>Révision en audit et certification</vt:lpstr>
      <vt:lpstr>Plan de la séance</vt:lpstr>
      <vt:lpstr>Matériel supplémentaire</vt:lpstr>
      <vt:lpstr>Grille de compétences</vt:lpstr>
      <vt:lpstr>Compétences en audit et certification</vt:lpstr>
      <vt:lpstr>Niveaux de maîtrise</vt:lpstr>
      <vt:lpstr>Éthique et indépendance</vt:lpstr>
      <vt:lpstr>Qu’est-ce que l’éthique ?</vt:lpstr>
      <vt:lpstr>Règle d’indépendance – Règle 204</vt:lpstr>
      <vt:lpstr>Règle d’indépendance (204) : Arbre décisionnel</vt:lpstr>
      <vt:lpstr>Présentation PowerPoint</vt:lpstr>
      <vt:lpstr>Règle d’indépendance 204  Mise en place des sauvegardes – Règle 204 art. 1-3, indications par. 36-41</vt:lpstr>
      <vt:lpstr>Règle d’indépendance – Règle 204.4: Interdictions (pages 28 à 84)</vt:lpstr>
      <vt:lpstr>Règle d’indépendance – Règle 204.4: Interdictions (pages 28 à 84)</vt:lpstr>
      <vt:lpstr>Tableau synthèse des normes</vt:lpstr>
      <vt:lpstr>Tableau synoptique Manuel CPA Canada – Certification</vt:lpstr>
      <vt:lpstr>Audits d’ÉFs et d’autres informations financières historiques</vt:lpstr>
      <vt:lpstr>Tableau synoptique Manuel CPA Canada – Certification</vt:lpstr>
      <vt:lpstr>Acceptation de la mission</vt:lpstr>
      <vt:lpstr>Acceptation de la mission</vt:lpstr>
      <vt:lpstr>Acceptation de la mission</vt:lpstr>
      <vt:lpstr>Acceptation de la mission</vt:lpstr>
      <vt:lpstr>Acceptation de la mission</vt:lpstr>
      <vt:lpstr>Acceptation de la mission</vt:lpstr>
      <vt:lpstr>Planification de la mission</vt:lpstr>
      <vt:lpstr>Planification de la mission</vt:lpstr>
      <vt:lpstr>Analyse des risques</vt:lpstr>
      <vt:lpstr>Analyse des risques</vt:lpstr>
      <vt:lpstr>Apprécier le RA – facteurs à considérer</vt:lpstr>
      <vt:lpstr>RAS – Risque inherent (1/2)</vt:lpstr>
      <vt:lpstr>RAS – Risque inherent (2/2)</vt:lpstr>
      <vt:lpstr>RAS – Risque lié au contrôle</vt:lpstr>
      <vt:lpstr>Analyse des risques</vt:lpstr>
      <vt:lpstr>Seuil de signification</vt:lpstr>
      <vt:lpstr>Seuil de signification</vt:lpstr>
      <vt:lpstr>Seuil de signification</vt:lpstr>
      <vt:lpstr>Seuil de signification</vt:lpstr>
      <vt:lpstr>Seuil de signification</vt:lpstr>
      <vt:lpstr>Seuil de signification</vt:lpstr>
      <vt:lpstr>Seuil de signification</vt:lpstr>
      <vt:lpstr>Seuil de signification</vt:lpstr>
      <vt:lpstr>Seuil de signification</vt:lpstr>
      <vt:lpstr>Stratégie d’audit</vt:lpstr>
      <vt:lpstr>Stratégie d’audit</vt:lpstr>
      <vt:lpstr>Stratégie d’audit</vt:lpstr>
      <vt:lpstr>Stratégie d’audit</vt:lpstr>
      <vt:lpstr>Stratégie d’audit</vt:lpstr>
      <vt:lpstr>Calendrier des travaux</vt:lpstr>
      <vt:lpstr>Revue analytique préliminaire</vt:lpstr>
      <vt:lpstr>Revue analytique préliminaire</vt:lpstr>
      <vt:lpstr>Procédures d’audit</vt:lpstr>
      <vt:lpstr>Procédures</vt:lpstr>
      <vt:lpstr>Procédures</vt:lpstr>
      <vt:lpstr>Procédures</vt:lpstr>
      <vt:lpstr>Procédures</vt:lpstr>
      <vt:lpstr>Procédures</vt:lpstr>
      <vt:lpstr>Procédures</vt:lpstr>
      <vt:lpstr>Révision du travail d’un autre auditeur</vt:lpstr>
      <vt:lpstr>Révision du travail d’un autre auditeur</vt:lpstr>
      <vt:lpstr>Utilisation par l’auditeur des travaux d’un expert</vt:lpstr>
      <vt:lpstr>Utilisation par l’auditeur des travaux d’un expert</vt:lpstr>
      <vt:lpstr>Utilisation par l’auditeur des travaux d’un expert</vt:lpstr>
      <vt:lpstr>Utilisation par l’auditeur des travaux d’un expert</vt:lpstr>
      <vt:lpstr>Conclusion de l’audit</vt:lpstr>
      <vt:lpstr>Révision de la stratégie</vt:lpstr>
      <vt:lpstr>Opinion de l’auditeur</vt:lpstr>
      <vt:lpstr>Opinion de l’auditeur</vt:lpstr>
      <vt:lpstr>Opinion de l’auditeur</vt:lpstr>
      <vt:lpstr>Rapport de l’auditeur</vt:lpstr>
      <vt:lpstr>Rapport de l’auditeur</vt:lpstr>
      <vt:lpstr>Rapport de l’auditeur</vt:lpstr>
      <vt:lpstr>Rapport de l’auditeur</vt:lpstr>
      <vt:lpstr>Rapport de l’auditeur</vt:lpstr>
      <vt:lpstr>Rapport de l’auditeur</vt:lpstr>
      <vt:lpstr>Continuité de l’exploitation</vt:lpstr>
      <vt:lpstr>Continuité de l’exploitation (CE)</vt:lpstr>
      <vt:lpstr>Présentation PowerPoint</vt:lpstr>
      <vt:lpstr>Continuité de l’exploitation (CE)</vt:lpstr>
      <vt:lpstr>Continuité de l’exploitation (CE)</vt:lpstr>
      <vt:lpstr>Continuité de l’exploitation (CE)</vt:lpstr>
      <vt:lpstr>Continuité de l’exploitation (CE)</vt:lpstr>
      <vt:lpstr>Présentation PowerPoint</vt:lpstr>
      <vt:lpstr>Responsabilités concernant les fraudes</vt:lpstr>
      <vt:lpstr>Fraudes</vt:lpstr>
      <vt:lpstr>Responsabilités concernant les fraudes</vt:lpstr>
      <vt:lpstr>Responsabilités concernant les fraudes</vt:lpstr>
      <vt:lpstr>Responsabilités concernant les fraudes</vt:lpstr>
      <vt:lpstr>Missions d’examen et de compilation</vt:lpstr>
      <vt:lpstr>Tableau synoptique Manuel CPA Canada – Certification</vt:lpstr>
      <vt:lpstr>NCME 2400 – Missions d’examen d’états financiers historiques</vt:lpstr>
      <vt:lpstr>Tableau synoptique Manuel CPA Canada – Certification</vt:lpstr>
      <vt:lpstr>NCSC 4200 – Missions de compilation</vt:lpstr>
      <vt:lpstr>Évaluation du contrôle interne</vt:lpstr>
      <vt:lpstr>Contrôle interne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Séances #1 et #2. Théorie</dc:title>
  <dc:creator>Anne-Marie</dc:creator>
  <cp:lastModifiedBy>SOKRI Marzouk</cp:lastModifiedBy>
  <cp:revision>516</cp:revision>
  <dcterms:created xsi:type="dcterms:W3CDTF">2015-09-07T12:46:39Z</dcterms:created>
  <dcterms:modified xsi:type="dcterms:W3CDTF">2025-02-28T01:18:34Z</dcterms:modified>
</cp:coreProperties>
</file>