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2" r:id="rId6"/>
    <p:sldId id="273" r:id="rId7"/>
    <p:sldId id="260" r:id="rId8"/>
    <p:sldId id="261" r:id="rId9"/>
    <p:sldId id="262" r:id="rId10"/>
    <p:sldId id="267" r:id="rId11"/>
    <p:sldId id="263" r:id="rId12"/>
    <p:sldId id="268" r:id="rId13"/>
    <p:sldId id="264" r:id="rId14"/>
    <p:sldId id="269" r:id="rId15"/>
    <p:sldId id="274" r:id="rId16"/>
    <p:sldId id="270" r:id="rId17"/>
    <p:sldId id="265" r:id="rId18"/>
    <p:sldId id="271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6869A4-A883-3F66-4AB4-DF08CBE158D2}" name="Yves Galarneau" initials="YG" userId="S::yves.galarneau@lcgcoaching.ca::02d826f2-a217-4f9c-8b55-8e9fe9339f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1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A6AB2F-F2C7-2140-B435-36282A0C09E5}" v="73" dt="2021-12-17T13:11:12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6" autoAdjust="0"/>
    <p:restoredTop sz="95514" autoAdjust="0"/>
  </p:normalViewPr>
  <p:slideViewPr>
    <p:cSldViewPr snapToGrid="0">
      <p:cViewPr varScale="1">
        <p:scale>
          <a:sx n="105" d="100"/>
          <a:sy n="105" d="100"/>
        </p:scale>
        <p:origin x="118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22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4590C4-4F80-4074-BAAD-1CBE51953CAC}" type="datetimeFigureOut">
              <a:rPr lang="fr-CA" smtClean="0"/>
              <a:t>2022-01-10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E8ECD-F393-4AE7-A045-62D9DCF923F5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4897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E8ECD-F393-4AE7-A045-62D9DCF923F5}" type="slidenum">
              <a:rPr lang="fr-CA" smtClean="0"/>
              <a:t>1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106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E8ECD-F393-4AE7-A045-62D9DCF923F5}" type="slidenum">
              <a:rPr lang="fr-CA" smtClean="0"/>
              <a:t>5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23501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4E8ECD-F393-4AE7-A045-62D9DCF923F5}" type="slidenum">
              <a:rPr lang="fr-CA" smtClean="0"/>
              <a:t>17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4204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BDFAF-25A5-41EF-806F-276DA0B65183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1748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88700-1E18-4E57-B2EF-B39E50D1EB92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49796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4DB14-F5EA-4828-B269-B9099E9B896C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4765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B4B16-E6F9-4BFE-9755-C07CBBD48E3C}" type="datetime1">
              <a:rPr lang="fr-CA" smtClean="0"/>
              <a:t>2022-01-10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6578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B4236-0B00-41E8-9D4D-B26C5B61DC5C}" type="datetime1">
              <a:rPr lang="fr-CA" smtClean="0"/>
              <a:t>2022-01-10</a:t>
            </a:fld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371938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E3116-CE8D-4084-A53C-7897F7AEE478}" type="datetime1">
              <a:rPr lang="fr-CA" smtClean="0"/>
              <a:t>2022-01-10</a:t>
            </a:fld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04804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6D1C83-90A3-4B40-87BF-0BDAC63DECA5}" type="datetime1">
              <a:rPr lang="fr-CA" smtClean="0"/>
              <a:t>2022-01-10</a:t>
            </a:fld>
            <a:endParaRPr lang="fr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30420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64007-8CC2-4D61-BB84-F05C6CF36C68}" type="datetime1">
              <a:rPr lang="fr-CA" smtClean="0"/>
              <a:t>2022-01-10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393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A0855-200E-402E-94DE-DBCE6A771860}" type="datetime1">
              <a:rPr lang="fr-CA" smtClean="0"/>
              <a:t>2022-01-10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80833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7BF93-7C03-43C6-A52D-50D0EE136301}" type="datetime1">
              <a:rPr lang="fr-CA" smtClean="0"/>
              <a:t>2022-01-10</a:t>
            </a:fld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714379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D61F-54C4-4A4C-AB25-A0FE48D55DE8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35294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E0CE4-0B7B-40DD-8E63-5441C9D722AE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7232404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7E14B-9ECD-4B77-90BA-5AF9EDE904CE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135595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C70FB-3819-461F-94DF-E2993617DC4B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72271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fr-FR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6270E-5E6C-4083-A8D4-D6CA903183F0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316868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D1AEE-1F35-4BB5-806B-1DAD6486E1B3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73297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86BB4-9F2D-41D4-A4CE-6A7DFAF57A2D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86778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A203D5F-668B-416A-94D4-339282935C3A}" type="datetime1">
              <a:rPr lang="fr-CA" smtClean="0"/>
              <a:t>2022-01-10</a:t>
            </a:fld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fr-CA"/>
              <a:t>© Hugo Lesley - HEC Montréal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25D5ECB-3EB5-46B4-A765-5958C79DB1EF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28320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CA" dirty="0"/>
              <a:t>Rôles et mandats en comptabilité professionnelle COMP40911</a:t>
            </a:r>
          </a:p>
        </p:txBody>
      </p:sp>
      <p:sp>
        <p:nvSpPr>
          <p:cNvPr id="4" name="Sous-titre 3"/>
          <p:cNvSpPr>
            <a:spLocks noGrp="1"/>
          </p:cNvSpPr>
          <p:nvPr>
            <p:ph type="subTitle" idx="1"/>
          </p:nvPr>
        </p:nvSpPr>
        <p:spPr>
          <a:xfrm>
            <a:off x="3566161" y="3996267"/>
            <a:ext cx="7936862" cy="1388534"/>
          </a:xfrm>
        </p:spPr>
        <p:txBody>
          <a:bodyPr/>
          <a:lstStyle/>
          <a:p>
            <a:endParaRPr lang="fr-CA" dirty="0"/>
          </a:p>
          <a:p>
            <a:r>
              <a:rPr lang="fr-CA" sz="2400" b="1" dirty="0"/>
              <a:t>ASAP (rétroaction)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7526014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943099" y="1259205"/>
            <a:ext cx="3181983" cy="1298787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pPr algn="ctr"/>
            <a:r>
              <a:rPr lang="fr-CA" sz="5400" dirty="0"/>
              <a:t>ASAP</a:t>
            </a:r>
          </a:p>
        </p:txBody>
      </p:sp>
      <p:pic>
        <p:nvPicPr>
          <p:cNvPr id="3" name="Picture 2" descr="Prise En Charge, Aide, Call Center, Casque D'Écou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8155" y="1259205"/>
            <a:ext cx="6298565" cy="4199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/>
          <p:cNvSpPr txBox="1"/>
          <p:nvPr/>
        </p:nvSpPr>
        <p:spPr>
          <a:xfrm>
            <a:off x="10713720" y="5242805"/>
            <a:ext cx="1897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i="1" dirty="0"/>
              <a:t>Crédit photo : </a:t>
            </a:r>
            <a:r>
              <a:rPr lang="fr-CA" sz="800" i="1" dirty="0" err="1"/>
              <a:t>Pixabay</a:t>
            </a:r>
            <a:endParaRPr lang="fr-CA" sz="800" i="1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031552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91544" y="620688"/>
            <a:ext cx="8229600" cy="1066800"/>
          </a:xfrm>
        </p:spPr>
        <p:txBody>
          <a:bodyPr>
            <a:normAutofit/>
          </a:bodyPr>
          <a:lstStyle/>
          <a:p>
            <a:r>
              <a:rPr lang="fr-CA" b="1" dirty="0"/>
              <a:t>Votre mandat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215952" y="1975892"/>
            <a:ext cx="8229600" cy="3457168"/>
          </a:xfrm>
        </p:spPr>
        <p:txBody>
          <a:bodyPr>
            <a:normAutofit/>
          </a:bodyPr>
          <a:lstStyle/>
          <a:p>
            <a:endParaRPr lang="en-CA" dirty="0"/>
          </a:p>
          <a:p>
            <a:r>
              <a:rPr lang="fr-CA" dirty="0"/>
              <a:t>Le conseil demande qu’un tiers indépendant valide le calcul et prépare un rapport assorti d’une forme d’assurance.</a:t>
            </a:r>
            <a:endParaRPr lang="en-CA" dirty="0"/>
          </a:p>
          <a:p>
            <a:pPr marL="457200" lvl="1" indent="0">
              <a:buNone/>
            </a:pPr>
            <a:r>
              <a:rPr lang="fr-CA" dirty="0"/>
              <a:t> </a:t>
            </a:r>
            <a:endParaRPr lang="en-CA" dirty="0"/>
          </a:p>
          <a:p>
            <a:pPr>
              <a:buNone/>
            </a:pPr>
            <a:endParaRPr lang="en-CA" dirty="0"/>
          </a:p>
          <a:p>
            <a:r>
              <a:rPr lang="fr-CA" dirty="0"/>
              <a:t>Le conseil se demande si le plan anti-sinistre doit être améliorer et comment ils devraient l’être.</a:t>
            </a:r>
            <a:endParaRPr lang="en-CA" dirty="0"/>
          </a:p>
          <a:p>
            <a:pPr lvl="1"/>
            <a:endParaRPr lang="en-CA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98944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97380" y="539140"/>
            <a:ext cx="8363272" cy="4968552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endParaRPr lang="fr-CA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fr-CA" sz="4100" b="1" u="sng" dirty="0"/>
              <a:t>Tout ce passe ici …</a:t>
            </a:r>
          </a:p>
          <a:p>
            <a:pPr>
              <a:buNone/>
            </a:pPr>
            <a:endParaRPr lang="fr-CA" dirty="0">
              <a:solidFill>
                <a:srgbClr val="FF0000"/>
              </a:solidFill>
            </a:endParaRPr>
          </a:p>
          <a:p>
            <a:pPr marL="269875" indent="0" algn="just">
              <a:lnSpc>
                <a:spcPct val="120000"/>
              </a:lnSpc>
              <a:buNone/>
            </a:pPr>
            <a:r>
              <a:rPr lang="fr-FR" sz="3100" dirty="0"/>
              <a:t>« C’est ici qu’entre en jeu votre cabinet. Chez ASAP, nous avons un </a:t>
            </a:r>
            <a:r>
              <a:rPr lang="fr-FR" sz="3100" b="1" u="sng" dirty="0">
                <a:solidFill>
                  <a:srgbClr val="FF0000"/>
                </a:solidFill>
              </a:rPr>
              <a:t>régime de primes annuelles </a:t>
            </a:r>
            <a:r>
              <a:rPr lang="fr-FR" sz="3100" dirty="0"/>
              <a:t>qui prévoit que les membres de la direction reçoivent une prime </a:t>
            </a:r>
            <a:r>
              <a:rPr lang="fr-FR" sz="3100" b="1" u="sng" dirty="0">
                <a:solidFill>
                  <a:srgbClr val="FF0000"/>
                </a:solidFill>
              </a:rPr>
              <a:t>basée sur un pourcentage du bénéfice net </a:t>
            </a:r>
            <a:r>
              <a:rPr lang="fr-FR" sz="3100" dirty="0"/>
              <a:t>de l’entreprise. Or, la direction estime qu’elle ne doit </a:t>
            </a:r>
            <a:r>
              <a:rPr lang="fr-FR" sz="3100" b="1" u="sng" dirty="0">
                <a:solidFill>
                  <a:srgbClr val="FF0000"/>
                </a:solidFill>
              </a:rPr>
              <a:t>pas être tenue responsable de facteurs indépendants </a:t>
            </a:r>
            <a:r>
              <a:rPr lang="fr-FR" sz="3100" dirty="0"/>
              <a:t>de sa volonté et elle a demandé que les résultats de fin d’exercice de l’entreprise au 30 septembre 2014 soient ajustés pour tenir compte de </a:t>
            </a:r>
            <a:r>
              <a:rPr lang="fr-FR" sz="3100" b="1" u="sng" dirty="0">
                <a:solidFill>
                  <a:srgbClr val="FF0000"/>
                </a:solidFill>
              </a:rPr>
              <a:t>l’impact financier du séisme aux fins du calcul des primes. </a:t>
            </a:r>
            <a:r>
              <a:rPr lang="fr-FR" sz="3100" dirty="0"/>
              <a:t>Notre Conseil d’administration a accepté que le calcul des primes soit ajusté en </a:t>
            </a:r>
            <a:r>
              <a:rPr lang="fr-CA" sz="3100" dirty="0"/>
              <a:t>conséquence</a:t>
            </a:r>
            <a:r>
              <a:rPr lang="en-CA" sz="3100" dirty="0"/>
              <a:t>. </a:t>
            </a:r>
            <a:r>
              <a:rPr lang="fr-CA" sz="3100" dirty="0"/>
              <a:t>Un montant a été calculé par le chef des finances, mais le Conseil demande </a:t>
            </a:r>
            <a:r>
              <a:rPr lang="fr-CA" sz="3100" b="1" u="sng" dirty="0">
                <a:solidFill>
                  <a:srgbClr val="00B0F0"/>
                </a:solidFill>
              </a:rPr>
              <a:t>qu’un tiers indépendant valide ce calcul</a:t>
            </a:r>
            <a:r>
              <a:rPr lang="fr-CA" sz="3100" dirty="0"/>
              <a:t> et prépare un </a:t>
            </a:r>
            <a:r>
              <a:rPr lang="fr-CA" sz="3100" b="1" u="sng" dirty="0">
                <a:solidFill>
                  <a:srgbClr val="00B0F0"/>
                </a:solidFill>
              </a:rPr>
              <a:t>rapport assorti d’une certaine forme d’assurance quant aux chiffres</a:t>
            </a:r>
            <a:r>
              <a:rPr lang="fr-CA" sz="3100" dirty="0"/>
              <a:t> (Annexe IV). Le Conseil s’inquiète aussi du nombre de plaintes de clients. Il se demande si </a:t>
            </a:r>
            <a:r>
              <a:rPr lang="fr-CA" sz="3100" b="1" u="sng" dirty="0">
                <a:solidFill>
                  <a:srgbClr val="00B050"/>
                </a:solidFill>
              </a:rPr>
              <a:t>le PA </a:t>
            </a:r>
            <a:r>
              <a:rPr lang="fr-CA" sz="3100" b="1" u="sng" dirty="0">
                <a:solidFill>
                  <a:srgbClr val="D719C9"/>
                </a:solidFill>
              </a:rPr>
              <a:t>et</a:t>
            </a:r>
            <a:r>
              <a:rPr lang="fr-CA" sz="3100" b="1" u="sng" dirty="0">
                <a:solidFill>
                  <a:srgbClr val="00B0F0"/>
                </a:solidFill>
              </a:rPr>
              <a:t> </a:t>
            </a:r>
            <a:r>
              <a:rPr lang="fr-CA" sz="3100" b="1" u="sng" dirty="0">
                <a:solidFill>
                  <a:srgbClr val="00B050"/>
                </a:solidFill>
              </a:rPr>
              <a:t>sa gestion </a:t>
            </a:r>
            <a:r>
              <a:rPr lang="fr-CA" sz="3100" b="1" u="sng" dirty="0">
                <a:solidFill>
                  <a:srgbClr val="00B0F0"/>
                </a:solidFill>
              </a:rPr>
              <a:t>auraient besoin d’être améliorés et, le cas échéant, comment ils devraient l’être</a:t>
            </a:r>
            <a:r>
              <a:rPr lang="fr-CA" sz="3100" dirty="0"/>
              <a:t>.» </a:t>
            </a:r>
          </a:p>
          <a:p>
            <a:pPr marL="269875" indent="0" algn="just">
              <a:lnSpc>
                <a:spcPct val="120000"/>
              </a:lnSpc>
              <a:buNone/>
            </a:pPr>
            <a:r>
              <a:rPr lang="fr-CA" sz="3100" dirty="0"/>
              <a:t> </a:t>
            </a:r>
            <a:endParaRPr lang="en-CA" sz="3100" dirty="0"/>
          </a:p>
          <a:p>
            <a:pPr marL="273050" indent="-3175">
              <a:lnSpc>
                <a:spcPct val="120000"/>
              </a:lnSpc>
              <a:buNone/>
            </a:pPr>
            <a:endParaRPr lang="fr-CA" sz="220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4091995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0" y="53342"/>
            <a:ext cx="10018713" cy="1752599"/>
          </a:xfrm>
        </p:spPr>
        <p:txBody>
          <a:bodyPr>
            <a:normAutofit/>
          </a:bodyPr>
          <a:lstStyle/>
          <a:p>
            <a:r>
              <a:rPr lang="fr-CA" sz="4800" b="1" dirty="0"/>
              <a:t>Plan de réponse	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97685" y="2403006"/>
            <a:ext cx="7873035" cy="2565234"/>
          </a:xfrm>
          <a:gradFill>
            <a:gsLst>
              <a:gs pos="0">
                <a:schemeClr val="accent1">
                  <a:lumMod val="5000"/>
                  <a:lumOff val="95000"/>
                  <a:alpha val="3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Autofit/>
          </a:bodyPr>
          <a:lstStyle/>
          <a:p>
            <a:r>
              <a:rPr lang="fr-CA" dirty="0"/>
              <a:t>Établir les coûts officiels du sinistre.</a:t>
            </a:r>
          </a:p>
          <a:p>
            <a:r>
              <a:rPr lang="fr-CA" dirty="0"/>
              <a:t>Rapport avec assurance.</a:t>
            </a:r>
          </a:p>
          <a:p>
            <a:r>
              <a:rPr lang="fr-CA" dirty="0"/>
              <a:t>Amélioration du plan anti-sinistre.</a:t>
            </a:r>
          </a:p>
          <a:p>
            <a:r>
              <a:rPr lang="fr-CA" dirty="0"/>
              <a:t>Gestion du plan anti-sinistre.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548215" y="6492875"/>
            <a:ext cx="7084177" cy="365125"/>
          </a:xfrm>
        </p:spPr>
        <p:txBody>
          <a:bodyPr/>
          <a:lstStyle/>
          <a:p>
            <a:r>
              <a:rPr lang="fr-CA" dirty="0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379767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84310" y="0"/>
            <a:ext cx="10018713" cy="1752599"/>
          </a:xfrm>
        </p:spPr>
        <p:txBody>
          <a:bodyPr>
            <a:normAutofit/>
          </a:bodyPr>
          <a:lstStyle/>
          <a:p>
            <a:r>
              <a:rPr lang="fr-CA" b="1" dirty="0"/>
              <a:t>Budget de temps et stratégie de rédaction	</a:t>
            </a:r>
            <a:br>
              <a:rPr lang="fr-CA" b="1" dirty="0"/>
            </a:br>
            <a:r>
              <a:rPr lang="fr-CA" sz="2800" b="1" i="1" dirty="0"/>
              <a:t>Temps de lecture approximative et plan : 30 minutes</a:t>
            </a:r>
            <a:endParaRPr lang="fr-CA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2"/>
          </p:nvPr>
        </p:nvSpPr>
        <p:spPr>
          <a:xfrm>
            <a:off x="1231650" y="2712375"/>
            <a:ext cx="5903076" cy="3592477"/>
          </a:xfrm>
          <a:gradFill>
            <a:gsLst>
              <a:gs pos="0">
                <a:schemeClr val="accent1">
                  <a:lumMod val="5000"/>
                  <a:lumOff val="95000"/>
                  <a:alpha val="30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Autofit/>
          </a:bodyPr>
          <a:lstStyle/>
          <a:p>
            <a:r>
              <a:rPr lang="fr-CA" sz="2400" dirty="0"/>
              <a:t>Établir les coûts officiels du sinistre. </a:t>
            </a:r>
          </a:p>
          <a:p>
            <a:r>
              <a:rPr lang="fr-CA" sz="2400" dirty="0"/>
              <a:t>Rapport avec assurance.</a:t>
            </a:r>
          </a:p>
          <a:p>
            <a:r>
              <a:rPr lang="fr-CA" sz="2400" dirty="0"/>
              <a:t>Amélioration du plan anti-sinistre.</a:t>
            </a:r>
          </a:p>
          <a:p>
            <a:r>
              <a:rPr lang="fr-CA" sz="2400" dirty="0"/>
              <a:t>Gestion du plan anti-sinistre.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7411453" y="1752599"/>
            <a:ext cx="1925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u="sng" dirty="0"/>
              <a:t>Budget de temps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9577137" y="1752599"/>
            <a:ext cx="20694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b="1" u="sng" dirty="0"/>
              <a:t>Ordre de rédaction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7578273" y="2812302"/>
            <a:ext cx="12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23 minutes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7578273" y="3340607"/>
            <a:ext cx="12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10 minutes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7578273" y="3832139"/>
            <a:ext cx="12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21 minutes</a:t>
            </a:r>
          </a:p>
        </p:txBody>
      </p:sp>
      <p:cxnSp>
        <p:nvCxnSpPr>
          <p:cNvPr id="15" name="Connecteur droit 14"/>
          <p:cNvCxnSpPr/>
          <p:nvPr/>
        </p:nvCxnSpPr>
        <p:spPr>
          <a:xfrm>
            <a:off x="7279105" y="5266425"/>
            <a:ext cx="1732548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7567863" y="5266425"/>
            <a:ext cx="12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60 minutes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10019728" y="3618116"/>
            <a:ext cx="7425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3200" b="1" dirty="0"/>
              <a:t># 3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10019729" y="3126804"/>
            <a:ext cx="74732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3200" b="1" dirty="0"/>
              <a:t># 2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10042169" y="2545813"/>
            <a:ext cx="7457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3200" b="1" dirty="0"/>
              <a:t># 1</a:t>
            </a:r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1"/>
          </p:nvPr>
        </p:nvSpPr>
        <p:spPr>
          <a:xfrm>
            <a:off x="2252328" y="6326128"/>
            <a:ext cx="7084177" cy="365125"/>
          </a:xfrm>
        </p:spPr>
        <p:txBody>
          <a:bodyPr/>
          <a:lstStyle/>
          <a:p>
            <a:r>
              <a:rPr lang="fr-CA" dirty="0"/>
              <a:t>© Hugo Lesley - HEC Montréal</a:t>
            </a:r>
          </a:p>
        </p:txBody>
      </p:sp>
      <p:sp>
        <p:nvSpPr>
          <p:cNvPr id="23" name="ZoneTexte 22"/>
          <p:cNvSpPr txBox="1"/>
          <p:nvPr/>
        </p:nvSpPr>
        <p:spPr>
          <a:xfrm>
            <a:off x="7664145" y="4257115"/>
            <a:ext cx="1239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6 minutes</a:t>
            </a:r>
          </a:p>
        </p:txBody>
      </p:sp>
      <p:sp>
        <p:nvSpPr>
          <p:cNvPr id="24" name="ZoneTexte 23"/>
          <p:cNvSpPr txBox="1"/>
          <p:nvPr/>
        </p:nvSpPr>
        <p:spPr>
          <a:xfrm>
            <a:off x="9995576" y="4069380"/>
            <a:ext cx="758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A" sz="3200" b="1" dirty="0"/>
              <a:t># 4</a:t>
            </a:r>
          </a:p>
        </p:txBody>
      </p:sp>
    </p:spTree>
    <p:extLst>
      <p:ext uri="{BB962C8B-B14F-4D97-AF65-F5344CB8AC3E}">
        <p14:creationId xmlns:p14="http://schemas.microsoft.com/office/powerpoint/2010/main" val="4635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8" grpId="0"/>
      <p:bldP spid="19" grpId="0"/>
      <p:bldP spid="20" grpId="0"/>
      <p:bldP spid="23" grpId="0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11618" y="2613891"/>
            <a:ext cx="8229600" cy="2896676"/>
          </a:xfrm>
        </p:spPr>
        <p:txBody>
          <a:bodyPr>
            <a:normAutofit/>
          </a:bodyPr>
          <a:lstStyle/>
          <a:p>
            <a:r>
              <a:rPr lang="fr-CA" dirty="0"/>
              <a:t>Redresser le calcul</a:t>
            </a:r>
          </a:p>
          <a:p>
            <a:r>
              <a:rPr lang="fr-CA" b="1" u="sng" dirty="0"/>
              <a:t>Justifier les ajustements</a:t>
            </a:r>
          </a:p>
          <a:p>
            <a:pPr lvl="1"/>
            <a:r>
              <a:rPr lang="fr-CA" dirty="0"/>
              <a:t>Possibilités de 9 ajustements</a:t>
            </a:r>
          </a:p>
          <a:p>
            <a:r>
              <a:rPr lang="fr-CA" dirty="0"/>
              <a:t>Comparer au résultat initial</a:t>
            </a:r>
          </a:p>
          <a:p>
            <a:r>
              <a:rPr lang="fr-CA" dirty="0"/>
              <a:t>Conclure le caractère adéquat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868218" y="482931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#1 – Comptabilité de gestion</a:t>
            </a:r>
            <a:br>
              <a:rPr lang="fr-CA" sz="3600" b="1" dirty="0"/>
            </a:br>
            <a:r>
              <a:rPr lang="fr-CA" sz="3600" b="1" dirty="0"/>
              <a:t>Évaluation des coûts du sinistre</a:t>
            </a:r>
          </a:p>
        </p:txBody>
      </p:sp>
      <p:pic>
        <p:nvPicPr>
          <p:cNvPr id="2050" name="Picture 2" descr="Fenêtre, Main, Loupe, Recherche, Contrôle, Surveillan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0012" y="3001489"/>
            <a:ext cx="3114098" cy="2121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9645420" y="5101324"/>
            <a:ext cx="1897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i="1" dirty="0"/>
              <a:t>Crédit photo : </a:t>
            </a:r>
            <a:r>
              <a:rPr lang="fr-CA" sz="800" i="1" dirty="0" err="1"/>
              <a:t>Pixabay</a:t>
            </a:r>
            <a:endParaRPr lang="fr-CA" sz="800" i="1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2220451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19536" y="476672"/>
            <a:ext cx="8229600" cy="1066800"/>
          </a:xfrm>
        </p:spPr>
        <p:txBody>
          <a:bodyPr>
            <a:normAutofit/>
          </a:bodyPr>
          <a:lstStyle/>
          <a:p>
            <a:r>
              <a:rPr lang="fr-CA" u="sng" dirty="0"/>
              <a:t>Exemple d’une annexe chiffrée Excel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49317" y="1540999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rgbClr val="FF0000"/>
                </a:solidFill>
              </a:rPr>
              <a:t>But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20093" y="2764686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rgbClr val="FF0000"/>
                </a:solidFill>
              </a:rPr>
              <a:t>Calcul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69016" y="3996006"/>
            <a:ext cx="2160240" cy="830104"/>
          </a:xfrm>
          <a:prstGeom prst="irregularSeal2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b="1" dirty="0" err="1">
                <a:solidFill>
                  <a:srgbClr val="FF0000"/>
                </a:solidFill>
              </a:rPr>
              <a:t>Détails</a:t>
            </a:r>
            <a:endParaRPr lang="en-CA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0" y="5248454"/>
            <a:ext cx="2123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3933655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>
                <a:solidFill>
                  <a:srgbClr val="FF0000"/>
                </a:solidFill>
              </a:rPr>
              <a:t>Validation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2424100" y="6279976"/>
            <a:ext cx="7084177" cy="365125"/>
          </a:xfrm>
        </p:spPr>
        <p:txBody>
          <a:bodyPr/>
          <a:lstStyle/>
          <a:p>
            <a:r>
              <a:rPr lang="fr-CA"/>
              <a:t>© Hugo Lesley - HEC Montréal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AA1CDA-3A87-9448-B786-5DAD86A1E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269" y="1668324"/>
            <a:ext cx="8229600" cy="4052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7930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345854" y="1976581"/>
            <a:ext cx="8424936" cy="3362038"/>
          </a:xfrm>
        </p:spPr>
        <p:txBody>
          <a:bodyPr>
            <a:noAutofit/>
          </a:bodyPr>
          <a:lstStyle/>
          <a:p>
            <a:r>
              <a:rPr lang="fr-CA" sz="3200" dirty="0"/>
              <a:t>Que nous dit le résultat de la validation?</a:t>
            </a:r>
          </a:p>
          <a:p>
            <a:r>
              <a:rPr lang="fr-CA" sz="3200" dirty="0"/>
              <a:t>Toujours mettre en évidence le biais. </a:t>
            </a:r>
          </a:p>
          <a:p>
            <a:r>
              <a:rPr lang="fr-CA" sz="3200" dirty="0"/>
              <a:t>Expliquer pourquoi les gens sont incités à agir de la sorte sans nécessairement les accuser</a:t>
            </a:r>
            <a:r>
              <a:rPr lang="fr-CA" dirty="0"/>
              <a:t>.</a:t>
            </a:r>
            <a:endParaRPr lang="fr-CA" sz="3200" dirty="0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438129" y="223981"/>
            <a:ext cx="10018713" cy="1752599"/>
          </a:xfrm>
        </p:spPr>
        <p:txBody>
          <a:bodyPr/>
          <a:lstStyle/>
          <a:p>
            <a:r>
              <a:rPr lang="fr-CA" b="1" dirty="0"/>
              <a:t>N’hésitez pas à commenter le résultat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23400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1584" y="2348881"/>
            <a:ext cx="7543800" cy="336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8936940" y="3943928"/>
            <a:ext cx="862842" cy="11360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868218" y="482931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#1 – Comptabilité de gestion</a:t>
            </a:r>
            <a:br>
              <a:rPr lang="fr-CA" sz="3600" b="1" dirty="0"/>
            </a:br>
            <a:r>
              <a:rPr lang="fr-CA" sz="3600" b="1" dirty="0"/>
              <a:t>Évaluation des coûts du sinistre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3679595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3473" y="2530763"/>
            <a:ext cx="5756999" cy="13208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>
              <a:buNone/>
            </a:pPr>
            <a:r>
              <a:rPr lang="fr-CA" dirty="0"/>
              <a:t>Est-ce que la direction semble</a:t>
            </a:r>
          </a:p>
          <a:p>
            <a:pPr algn="ctr">
              <a:buNone/>
            </a:pPr>
            <a:r>
              <a:rPr lang="fr-CA" dirty="0"/>
              <a:t>avoir un </a:t>
            </a:r>
            <a:r>
              <a:rPr lang="fr-CA" b="1" u="sng" dirty="0">
                <a:solidFill>
                  <a:srgbClr val="FF0000"/>
                </a:solidFill>
              </a:rPr>
              <a:t>parti pris</a:t>
            </a:r>
            <a:r>
              <a:rPr lang="fr-CA" dirty="0"/>
              <a:t>?</a:t>
            </a:r>
          </a:p>
        </p:txBody>
      </p:sp>
      <p:sp>
        <p:nvSpPr>
          <p:cNvPr id="5" name="Titr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#2</a:t>
            </a:r>
            <a:br>
              <a:rPr lang="fr-CA" sz="3600" b="1" dirty="0"/>
            </a:br>
            <a:r>
              <a:rPr lang="fr-CA" sz="3600" b="1" dirty="0"/>
              <a:t>Compétence habilitante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1373474" y="4354945"/>
            <a:ext cx="5756999" cy="1320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/>
              <a:buNone/>
            </a:pPr>
            <a:r>
              <a:rPr lang="fr-CA" dirty="0"/>
              <a:t>La direction a-t-elle une </a:t>
            </a:r>
            <a:r>
              <a:rPr lang="fr-CA" b="1" u="sng" dirty="0">
                <a:solidFill>
                  <a:srgbClr val="FF0000"/>
                </a:solidFill>
              </a:rPr>
              <a:t>part de responsabilité</a:t>
            </a:r>
            <a:r>
              <a:rPr lang="fr-CA" dirty="0"/>
              <a:t> dans la gestion de crise?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898966" y="3435927"/>
            <a:ext cx="3840452" cy="13208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/>
              <a:buNone/>
            </a:pPr>
            <a:r>
              <a:rPr lang="fr-CA" dirty="0"/>
              <a:t>Que pensez-vous de </a:t>
            </a:r>
            <a:r>
              <a:rPr lang="fr-CA" b="1" u="sng" dirty="0">
                <a:solidFill>
                  <a:srgbClr val="FF0000"/>
                </a:solidFill>
              </a:rPr>
              <a:t>l’ajustement pour le calcul de prime</a:t>
            </a:r>
            <a:r>
              <a:rPr lang="fr-CA" dirty="0"/>
              <a:t> pour les membres de la direction?</a:t>
            </a:r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500535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57557" y="1722282"/>
            <a:ext cx="75819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9373452" y="4775201"/>
            <a:ext cx="666467" cy="6144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558321" y="1768466"/>
            <a:ext cx="397163" cy="2308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fr-CA" sz="900" dirty="0"/>
          </a:p>
        </p:txBody>
      </p:sp>
      <p:sp>
        <p:nvSpPr>
          <p:cNvPr id="7" name="Oval 4"/>
          <p:cNvSpPr/>
          <p:nvPr/>
        </p:nvSpPr>
        <p:spPr>
          <a:xfrm>
            <a:off x="9368840" y="2406071"/>
            <a:ext cx="666467" cy="6144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8" name="Titre 1"/>
          <p:cNvSpPr txBox="1">
            <a:spLocks noGrp="1"/>
          </p:cNvSpPr>
          <p:nvPr>
            <p:ph type="title"/>
          </p:nvPr>
        </p:nvSpPr>
        <p:spPr>
          <a:xfrm>
            <a:off x="1484310" y="59943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#2</a:t>
            </a:r>
            <a:br>
              <a:rPr lang="fr-CA" sz="3600" b="1" dirty="0"/>
            </a:br>
            <a:r>
              <a:rPr lang="fr-CA" sz="3600" b="1" dirty="0"/>
              <a:t>Compétence habilitante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2617896" y="6588116"/>
            <a:ext cx="7084177" cy="365125"/>
          </a:xfrm>
        </p:spPr>
        <p:txBody>
          <a:bodyPr/>
          <a:lstStyle/>
          <a:p>
            <a:r>
              <a:rPr lang="fr-CA" dirty="0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1206969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35293" y="2556163"/>
            <a:ext cx="5636926" cy="312420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000" dirty="0"/>
              <a:t>Le conseil d’administration demande d’obtenir une assurance pour valider une information financière.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sz="1800" dirty="0"/>
              <a:t>Dommages financiers liés au sinistre</a:t>
            </a:r>
          </a:p>
          <a:p>
            <a:r>
              <a:rPr lang="fr-CA" sz="2000" dirty="0"/>
              <a:t>Rapports possibles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sz="1800" dirty="0"/>
              <a:t>805 : 	Assurance raisonnable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sz="1800" dirty="0"/>
              <a:t>2400 : 	Assurance limitée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fr-CA" sz="1800" dirty="0"/>
              <a:t>4400 : 	Aucune assurance</a:t>
            </a:r>
          </a:p>
          <a:p>
            <a:r>
              <a:rPr lang="fr-CA" sz="2000" dirty="0"/>
              <a:t>Limites de notre travail?</a:t>
            </a: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68218" y="482931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#3 – Certification</a:t>
            </a:r>
            <a:br>
              <a:rPr lang="fr-CA" sz="3600" b="1" dirty="0"/>
            </a:br>
            <a:r>
              <a:rPr lang="fr-CA" sz="3600" b="1" dirty="0"/>
              <a:t>Rapport avec assurance</a:t>
            </a:r>
          </a:p>
        </p:txBody>
      </p:sp>
      <p:pic>
        <p:nvPicPr>
          <p:cNvPr id="3074" name="Picture 2" descr="Icône, Sondage, Vérifier, Formulaire, Mark, Tes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6557" y="2658630"/>
            <a:ext cx="3021734" cy="3021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9905249" y="5680364"/>
            <a:ext cx="1897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i="1" dirty="0"/>
              <a:t>Crédit photo : </a:t>
            </a:r>
            <a:r>
              <a:rPr lang="fr-CA" sz="800" i="1" dirty="0" err="1"/>
              <a:t>Pixabay</a:t>
            </a:r>
            <a:endParaRPr lang="fr-CA" sz="800" i="1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 dirty="0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81928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7888" y="2438399"/>
            <a:ext cx="8648439" cy="38461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Oval 4"/>
          <p:cNvSpPr/>
          <p:nvPr/>
        </p:nvSpPr>
        <p:spPr>
          <a:xfrm>
            <a:off x="9853459" y="4184073"/>
            <a:ext cx="860713" cy="15723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6" name="Titre 1"/>
          <p:cNvSpPr txBox="1">
            <a:spLocks/>
          </p:cNvSpPr>
          <p:nvPr/>
        </p:nvSpPr>
        <p:spPr>
          <a:xfrm>
            <a:off x="868218" y="482931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#3 – Certification</a:t>
            </a:r>
            <a:br>
              <a:rPr lang="fr-CA" sz="3600" b="1" dirty="0"/>
            </a:br>
            <a:r>
              <a:rPr lang="fr-CA" sz="3600" b="1" dirty="0"/>
              <a:t>Rapport avec assurance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6160655" y="2493815"/>
            <a:ext cx="397163" cy="2308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fr-CA" sz="900" dirty="0"/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1"/>
          </p:nvPr>
        </p:nvSpPr>
        <p:spPr>
          <a:xfrm>
            <a:off x="2618566" y="6492875"/>
            <a:ext cx="7084177" cy="365125"/>
          </a:xfrm>
        </p:spPr>
        <p:txBody>
          <a:bodyPr/>
          <a:lstStyle/>
          <a:p>
            <a:r>
              <a:rPr lang="fr-CA" dirty="0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714928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825289" y="1902695"/>
            <a:ext cx="4787947" cy="41442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000" b="1" dirty="0"/>
              <a:t>Problématiques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Mise à l’essai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Menaces couvertes par le plan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Informations de contact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Diffusion du PA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Prise de décisions rapides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Gestion des employés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Information des clients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Clause sur sinistres dans les contrats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Postes de travail/équipe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Relocalisation des employés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Directeur de l’informatique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969818" y="0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#4 – Certification</a:t>
            </a:r>
            <a:br>
              <a:rPr lang="fr-CA" sz="3600" b="1" dirty="0"/>
            </a:br>
            <a:r>
              <a:rPr lang="fr-CA" sz="3600" b="1" dirty="0"/>
              <a:t>Amélioration du plan anti-sinistre (aspect contrôle)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9784022" y="5831496"/>
            <a:ext cx="1897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i="1" dirty="0"/>
              <a:t>Crédit photo : </a:t>
            </a:r>
            <a:r>
              <a:rPr lang="fr-CA" sz="800" i="1" dirty="0" err="1"/>
              <a:t>Pixabay</a:t>
            </a:r>
            <a:endParaRPr lang="fr-CA" sz="800" i="1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1"/>
          </p:nvPr>
        </p:nvSpPr>
        <p:spPr>
          <a:xfrm>
            <a:off x="2507624" y="6380222"/>
            <a:ext cx="7084177" cy="365125"/>
          </a:xfrm>
        </p:spPr>
        <p:txBody>
          <a:bodyPr/>
          <a:lstStyle/>
          <a:p>
            <a:r>
              <a:rPr lang="fr-CA" dirty="0"/>
              <a:t>© Hugo Lesley - HEC Montréal</a:t>
            </a:r>
          </a:p>
        </p:txBody>
      </p:sp>
      <p:pic>
        <p:nvPicPr>
          <p:cNvPr id="9220" name="Picture 4" descr="Plans, Entrepreneur, Mains, Ordinateur Portab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3236" y="2704979"/>
            <a:ext cx="4187190" cy="3140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114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264" y="2194520"/>
            <a:ext cx="87534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9430327" y="5006108"/>
            <a:ext cx="803564" cy="6911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096001" y="2253670"/>
            <a:ext cx="397163" cy="2308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fr-CA" sz="900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969818" y="0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#4 – Certification</a:t>
            </a:r>
            <a:br>
              <a:rPr lang="fr-CA" sz="3600" b="1" dirty="0"/>
            </a:br>
            <a:r>
              <a:rPr lang="fr-CA" sz="3600" b="1" dirty="0"/>
              <a:t>Amélioration du plan anti-sinistre (aspect contrôle)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2479916" y="6386116"/>
            <a:ext cx="7084177" cy="365125"/>
          </a:xfrm>
        </p:spPr>
        <p:txBody>
          <a:bodyPr/>
          <a:lstStyle/>
          <a:p>
            <a:r>
              <a:rPr lang="fr-CA" dirty="0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31361647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640561" y="1579423"/>
            <a:ext cx="4787947" cy="414424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A" sz="2000" b="1" dirty="0"/>
              <a:t>Problématiques 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Reconnexion des serveurs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Mise à niveau du réseau d’ASAP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Sauvegarde des informations clients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Mise à jour du centre de secours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Sécurité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CA" sz="1600" dirty="0"/>
              <a:t>Technicien du centre de secours</a:t>
            </a: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969818" y="0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#5 – Comptabilité de gestion</a:t>
            </a:r>
            <a:br>
              <a:rPr lang="fr-CA" sz="3600" b="1" dirty="0"/>
            </a:br>
            <a:r>
              <a:rPr lang="fr-CA" sz="3600" b="1" dirty="0"/>
              <a:t>Amélioration du plan anti-sinistre (aspect TI)</a:t>
            </a:r>
          </a:p>
        </p:txBody>
      </p:sp>
      <p:pic>
        <p:nvPicPr>
          <p:cNvPr id="10242" name="Picture 2" descr="Le Cyberespace, Données, Fil, Électronique, Électriqu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490" y="2346040"/>
            <a:ext cx="4176280" cy="2784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/>
          <p:cNvSpPr txBox="1"/>
          <p:nvPr/>
        </p:nvSpPr>
        <p:spPr>
          <a:xfrm>
            <a:off x="10007080" y="5130227"/>
            <a:ext cx="18973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800" i="1" dirty="0"/>
              <a:t>Crédit photo : </a:t>
            </a:r>
            <a:r>
              <a:rPr lang="fr-CA" sz="800" i="1" dirty="0" err="1"/>
              <a:t>Pixabay</a:t>
            </a:r>
            <a:endParaRPr lang="fr-CA" sz="800" i="1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3351011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777" y="2077786"/>
            <a:ext cx="873442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Oval 4"/>
          <p:cNvSpPr/>
          <p:nvPr/>
        </p:nvSpPr>
        <p:spPr>
          <a:xfrm>
            <a:off x="9767690" y="3906982"/>
            <a:ext cx="928017" cy="12930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>
              <a:solidFill>
                <a:prstClr val="white"/>
              </a:solidFill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206827" y="2122563"/>
            <a:ext cx="397163" cy="2308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endParaRPr lang="fr-CA" sz="900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969818" y="0"/>
            <a:ext cx="11619345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CA" sz="3600" b="1" dirty="0"/>
              <a:t>Occasion d’évaluation #5 – Comptabilité de gestion</a:t>
            </a:r>
            <a:br>
              <a:rPr lang="fr-CA" sz="3600" b="1" dirty="0"/>
            </a:br>
            <a:r>
              <a:rPr lang="fr-CA" sz="3600" b="1" dirty="0"/>
              <a:t>Amélioration du plan anti-sinistre (aspect TI)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CA"/>
              <a:t>© Hugo Lesley - HEC Montréal</a:t>
            </a:r>
          </a:p>
        </p:txBody>
      </p:sp>
    </p:spTree>
    <p:extLst>
      <p:ext uri="{BB962C8B-B14F-4D97-AF65-F5344CB8AC3E}">
        <p14:creationId xmlns:p14="http://schemas.microsoft.com/office/powerpoint/2010/main" val="25665461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e">
  <a:themeElements>
    <a:clrScheme name="Bleu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Parallaxe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Parallaxe</Template>
  <TotalTime>6925</TotalTime>
  <Words>793</Words>
  <Application>Microsoft Office PowerPoint</Application>
  <PresentationFormat>Grand écran</PresentationFormat>
  <Paragraphs>117</Paragraphs>
  <Slides>18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Corbel</vt:lpstr>
      <vt:lpstr>Courier New</vt:lpstr>
      <vt:lpstr>Parallaxe</vt:lpstr>
      <vt:lpstr>Rôles et mandats en comptabilité professionnelle COMP40911</vt:lpstr>
      <vt:lpstr>ASAP</vt:lpstr>
      <vt:lpstr>Votre mandat</vt:lpstr>
      <vt:lpstr>Présentation PowerPoint</vt:lpstr>
      <vt:lpstr>Plan de réponse </vt:lpstr>
      <vt:lpstr>Budget de temps et stratégie de rédaction  Temps de lecture approximative et plan : 30 minutes</vt:lpstr>
      <vt:lpstr>Présentation PowerPoint</vt:lpstr>
      <vt:lpstr>Exemple d’une annexe chiffrée Excel</vt:lpstr>
      <vt:lpstr>N’hésitez pas à commenter le résultat</vt:lpstr>
      <vt:lpstr>Présentation PowerPoint</vt:lpstr>
      <vt:lpstr>Occasion d’évaluation #2 Compétence habilitante</vt:lpstr>
      <vt:lpstr>Occasion d’évaluation #2 Compétence habilitante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HEC Montréal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Rôle et mandats en comptabilité professionnelle COMP40911</dc:title>
  <dc:creator>hugo lesley</dc:creator>
  <cp:lastModifiedBy>hugo lesley</cp:lastModifiedBy>
  <cp:revision>69</cp:revision>
  <dcterms:created xsi:type="dcterms:W3CDTF">2020-03-31T19:23:16Z</dcterms:created>
  <dcterms:modified xsi:type="dcterms:W3CDTF">2022-01-10T15:13:45Z</dcterms:modified>
</cp:coreProperties>
</file>