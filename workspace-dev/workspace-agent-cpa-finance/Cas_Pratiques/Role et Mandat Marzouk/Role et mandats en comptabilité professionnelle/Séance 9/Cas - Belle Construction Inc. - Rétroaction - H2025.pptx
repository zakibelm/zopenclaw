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notesSlides/notesSlide1.xml" ContentType="application/vnd.openxmlformats-officedocument.presentationml.notesSlide+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68"/>
  </p:notesMasterIdLst>
  <p:handoutMasterIdLst>
    <p:handoutMasterId r:id="rId69"/>
  </p:handoutMasterIdLst>
  <p:sldIdLst>
    <p:sldId id="306" r:id="rId5"/>
    <p:sldId id="311" r:id="rId6"/>
    <p:sldId id="258" r:id="rId7"/>
    <p:sldId id="259" r:id="rId8"/>
    <p:sldId id="260" r:id="rId9"/>
    <p:sldId id="261" r:id="rId10"/>
    <p:sldId id="320" r:id="rId11"/>
    <p:sldId id="321" r:id="rId12"/>
    <p:sldId id="325" r:id="rId13"/>
    <p:sldId id="324" r:id="rId14"/>
    <p:sldId id="326" r:id="rId15"/>
    <p:sldId id="327" r:id="rId16"/>
    <p:sldId id="328" r:id="rId17"/>
    <p:sldId id="329" r:id="rId18"/>
    <p:sldId id="330" r:id="rId19"/>
    <p:sldId id="331" r:id="rId20"/>
    <p:sldId id="1227" r:id="rId21"/>
    <p:sldId id="669" r:id="rId22"/>
    <p:sldId id="886" r:id="rId23"/>
    <p:sldId id="315" r:id="rId24"/>
    <p:sldId id="332" r:id="rId25"/>
    <p:sldId id="280" r:id="rId26"/>
    <p:sldId id="317" r:id="rId27"/>
    <p:sldId id="318" r:id="rId28"/>
    <p:sldId id="319" r:id="rId29"/>
    <p:sldId id="263" r:id="rId30"/>
    <p:sldId id="882" r:id="rId31"/>
    <p:sldId id="266" r:id="rId32"/>
    <p:sldId id="267" r:id="rId33"/>
    <p:sldId id="410" r:id="rId34"/>
    <p:sldId id="268" r:id="rId35"/>
    <p:sldId id="1216" r:id="rId36"/>
    <p:sldId id="1217" r:id="rId37"/>
    <p:sldId id="1218" r:id="rId38"/>
    <p:sldId id="1219" r:id="rId39"/>
    <p:sldId id="1220" r:id="rId40"/>
    <p:sldId id="1221" r:id="rId41"/>
    <p:sldId id="1222" r:id="rId42"/>
    <p:sldId id="269" r:id="rId43"/>
    <p:sldId id="270" r:id="rId44"/>
    <p:sldId id="1225" r:id="rId45"/>
    <p:sldId id="272" r:id="rId46"/>
    <p:sldId id="271" r:id="rId47"/>
    <p:sldId id="883" r:id="rId48"/>
    <p:sldId id="1223" r:id="rId49"/>
    <p:sldId id="482" r:id="rId50"/>
    <p:sldId id="1254" r:id="rId51"/>
    <p:sldId id="507" r:id="rId52"/>
    <p:sldId id="881" r:id="rId53"/>
    <p:sldId id="1209" r:id="rId54"/>
    <p:sldId id="764" r:id="rId55"/>
    <p:sldId id="1224" r:id="rId56"/>
    <p:sldId id="273" r:id="rId57"/>
    <p:sldId id="274" r:id="rId58"/>
    <p:sldId id="386" r:id="rId59"/>
    <p:sldId id="275" r:id="rId60"/>
    <p:sldId id="1215" r:id="rId61"/>
    <p:sldId id="276" r:id="rId62"/>
    <p:sldId id="277" r:id="rId63"/>
    <p:sldId id="1210" r:id="rId64"/>
    <p:sldId id="278" r:id="rId65"/>
    <p:sldId id="1213" r:id="rId66"/>
    <p:sldId id="281" r:id="rId67"/>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tion par défaut" id="{A79A5E7E-00CB-46E3-88D5-796DB8317CB5}">
          <p14:sldIdLst>
            <p14:sldId id="306"/>
            <p14:sldId id="311"/>
            <p14:sldId id="258"/>
            <p14:sldId id="259"/>
            <p14:sldId id="260"/>
            <p14:sldId id="261"/>
            <p14:sldId id="320"/>
            <p14:sldId id="321"/>
            <p14:sldId id="325"/>
            <p14:sldId id="324"/>
            <p14:sldId id="326"/>
            <p14:sldId id="327"/>
            <p14:sldId id="328"/>
            <p14:sldId id="329"/>
            <p14:sldId id="330"/>
            <p14:sldId id="331"/>
            <p14:sldId id="1227"/>
            <p14:sldId id="669"/>
            <p14:sldId id="886"/>
            <p14:sldId id="315"/>
            <p14:sldId id="332"/>
            <p14:sldId id="280"/>
            <p14:sldId id="317"/>
            <p14:sldId id="318"/>
            <p14:sldId id="319"/>
            <p14:sldId id="263"/>
            <p14:sldId id="882"/>
            <p14:sldId id="266"/>
            <p14:sldId id="267"/>
            <p14:sldId id="410"/>
            <p14:sldId id="268"/>
            <p14:sldId id="1216"/>
            <p14:sldId id="1217"/>
            <p14:sldId id="1218"/>
            <p14:sldId id="1219"/>
            <p14:sldId id="1220"/>
            <p14:sldId id="1221"/>
            <p14:sldId id="1222"/>
            <p14:sldId id="269"/>
            <p14:sldId id="270"/>
            <p14:sldId id="1225"/>
            <p14:sldId id="272"/>
            <p14:sldId id="271"/>
            <p14:sldId id="883"/>
            <p14:sldId id="1223"/>
            <p14:sldId id="482"/>
            <p14:sldId id="1254"/>
            <p14:sldId id="507"/>
            <p14:sldId id="881"/>
            <p14:sldId id="1209"/>
            <p14:sldId id="764"/>
            <p14:sldId id="1224"/>
            <p14:sldId id="273"/>
            <p14:sldId id="274"/>
            <p14:sldId id="386"/>
            <p14:sldId id="275"/>
            <p14:sldId id="1215"/>
            <p14:sldId id="276"/>
            <p14:sldId id="277"/>
            <p14:sldId id="1210"/>
            <p14:sldId id="278"/>
            <p14:sldId id="1213"/>
            <p14:sldId id="281"/>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219AB"/>
    <a:srgbClr val="02ABE8"/>
    <a:srgbClr val="449F42"/>
    <a:srgbClr val="581A2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419673F-55C2-4D98-8494-08B53FCAEB12}" v="303" dt="2023-01-31T15:14:24.832"/>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AF606853-7671-496A-8E4F-DF71F8EC918B}" styleName="Style foncé 1 - Accentuation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8603FDC-E32A-4AB5-989C-0864C3EAD2B8}" styleName="Style à thème 2 - Accentuation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846" autoAdjust="0"/>
    <p:restoredTop sz="95226" autoAdjust="0"/>
  </p:normalViewPr>
  <p:slideViewPr>
    <p:cSldViewPr snapToGrid="0">
      <p:cViewPr varScale="1">
        <p:scale>
          <a:sx n="209" d="100"/>
          <a:sy n="209" d="100"/>
        </p:scale>
        <p:origin x="728" y="184"/>
      </p:cViewPr>
      <p:guideLst/>
    </p:cSldViewPr>
  </p:slideViewPr>
  <p:notesTextViewPr>
    <p:cViewPr>
      <p:scale>
        <a:sx n="1" d="1"/>
        <a:sy n="1" d="1"/>
      </p:scale>
      <p:origin x="0" y="0"/>
    </p:cViewPr>
  </p:notesTextViewPr>
  <p:sorterViewPr>
    <p:cViewPr>
      <p:scale>
        <a:sx n="143" d="100"/>
        <a:sy n="143" d="100"/>
      </p:scale>
      <p:origin x="0" y="0"/>
    </p:cViewPr>
  </p:sorterViewPr>
  <p:notesViewPr>
    <p:cSldViewPr snapToGrid="0">
      <p:cViewPr varScale="1">
        <p:scale>
          <a:sx n="65" d="100"/>
          <a:sy n="65" d="100"/>
        </p:scale>
        <p:origin x="3154" y="48"/>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microsoft.com/office/2016/11/relationships/changesInfo" Target="changesInfos/changesInfo1.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handoutMaster" Target="handoutMasters/handoutMaster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presProps" Target="presProps.xml"/><Relationship Id="rId75"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 Type="http://schemas.openxmlformats.org/officeDocument/2006/relationships/slide" Target="slides/slide3.xml"/><Relationship Id="rId7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c-André Nadon" userId="cc43c1e5-0e40-46a9-9ae0-7b43257eb626" providerId="ADAL" clId="{A419673F-55C2-4D98-8494-08B53FCAEB12}"/>
    <pc:docChg chg="custSel modSld">
      <pc:chgData name="Marc-André Nadon" userId="cc43c1e5-0e40-46a9-9ae0-7b43257eb626" providerId="ADAL" clId="{A419673F-55C2-4D98-8494-08B53FCAEB12}" dt="2023-01-31T15:20:43.543" v="210" actId="20577"/>
      <pc:docMkLst>
        <pc:docMk/>
      </pc:docMkLst>
      <pc:sldChg chg="addSp modSp">
        <pc:chgData name="Marc-André Nadon" userId="cc43c1e5-0e40-46a9-9ae0-7b43257eb626" providerId="ADAL" clId="{A419673F-55C2-4D98-8494-08B53FCAEB12}" dt="2023-01-31T15:11:48.051" v="80"/>
        <pc:sldMkLst>
          <pc:docMk/>
          <pc:sldMk cId="2548066649" sldId="257"/>
        </pc:sldMkLst>
        <pc:spChg chg="add mod">
          <ac:chgData name="Marc-André Nadon" userId="cc43c1e5-0e40-46a9-9ae0-7b43257eb626" providerId="ADAL" clId="{A419673F-55C2-4D98-8494-08B53FCAEB12}" dt="2023-01-31T15:11:48.051" v="80"/>
          <ac:spMkLst>
            <pc:docMk/>
            <pc:sldMk cId="2548066649" sldId="257"/>
            <ac:spMk id="10" creationId="{3A40F78E-4A3F-C4C7-2D22-D6FE3F2E256C}"/>
          </ac:spMkLst>
        </pc:spChg>
      </pc:sldChg>
      <pc:sldChg chg="addSp delSp modSp mod">
        <pc:chgData name="Marc-André Nadon" userId="cc43c1e5-0e40-46a9-9ae0-7b43257eb626" providerId="ADAL" clId="{A419673F-55C2-4D98-8494-08B53FCAEB12}" dt="2023-01-31T15:13:14.782" v="123" actId="21"/>
        <pc:sldMkLst>
          <pc:docMk/>
          <pc:sldMk cId="1421817598" sldId="258"/>
        </pc:sldMkLst>
        <pc:spChg chg="add mod">
          <ac:chgData name="Marc-André Nadon" userId="cc43c1e5-0e40-46a9-9ae0-7b43257eb626" providerId="ADAL" clId="{A419673F-55C2-4D98-8494-08B53FCAEB12}" dt="2023-01-31T15:11:18.249" v="75" actId="1076"/>
          <ac:spMkLst>
            <pc:docMk/>
            <pc:sldMk cId="1421817598" sldId="258"/>
            <ac:spMk id="4" creationId="{BE2AE333-3742-80AB-F4E1-30134ECC4F22}"/>
          </ac:spMkLst>
        </pc:spChg>
        <pc:spChg chg="add del mod">
          <ac:chgData name="Marc-André Nadon" userId="cc43c1e5-0e40-46a9-9ae0-7b43257eb626" providerId="ADAL" clId="{A419673F-55C2-4D98-8494-08B53FCAEB12}" dt="2023-01-31T15:13:14.782" v="123" actId="21"/>
          <ac:spMkLst>
            <pc:docMk/>
            <pc:sldMk cId="1421817598" sldId="258"/>
            <ac:spMk id="6" creationId="{FF143224-76AF-4FA1-FE52-87B01F6C3EA2}"/>
          </ac:spMkLst>
        </pc:spChg>
      </pc:sldChg>
      <pc:sldChg chg="addSp modSp">
        <pc:chgData name="Marc-André Nadon" userId="cc43c1e5-0e40-46a9-9ae0-7b43257eb626" providerId="ADAL" clId="{A419673F-55C2-4D98-8494-08B53FCAEB12}" dt="2023-01-31T15:11:20.907" v="76"/>
        <pc:sldMkLst>
          <pc:docMk/>
          <pc:sldMk cId="2037706522" sldId="259"/>
        </pc:sldMkLst>
        <pc:spChg chg="add mod">
          <ac:chgData name="Marc-André Nadon" userId="cc43c1e5-0e40-46a9-9ae0-7b43257eb626" providerId="ADAL" clId="{A419673F-55C2-4D98-8494-08B53FCAEB12}" dt="2023-01-31T15:11:20.907" v="76"/>
          <ac:spMkLst>
            <pc:docMk/>
            <pc:sldMk cId="2037706522" sldId="259"/>
            <ac:spMk id="9" creationId="{A9E79BAA-EA54-557F-E0CB-13FF708C14E5}"/>
          </ac:spMkLst>
        </pc:spChg>
      </pc:sldChg>
      <pc:sldChg chg="addSp delSp modSp mod">
        <pc:chgData name="Marc-André Nadon" userId="cc43c1e5-0e40-46a9-9ae0-7b43257eb626" providerId="ADAL" clId="{A419673F-55C2-4D98-8494-08B53FCAEB12}" dt="2023-01-31T15:13:49.503" v="140"/>
        <pc:sldMkLst>
          <pc:docMk/>
          <pc:sldMk cId="2169776486" sldId="260"/>
        </pc:sldMkLst>
        <pc:spChg chg="add mod">
          <ac:chgData name="Marc-André Nadon" userId="cc43c1e5-0e40-46a9-9ae0-7b43257eb626" providerId="ADAL" clId="{A419673F-55C2-4D98-8494-08B53FCAEB12}" dt="2023-01-31T15:11:34.500" v="78" actId="1076"/>
          <ac:spMkLst>
            <pc:docMk/>
            <pc:sldMk cId="2169776486" sldId="260"/>
            <ac:spMk id="8" creationId="{8FFC85E8-E3DF-4BCF-9611-D9C75887B0BE}"/>
          </ac:spMkLst>
        </pc:spChg>
        <pc:spChg chg="add del mod">
          <ac:chgData name="Marc-André Nadon" userId="cc43c1e5-0e40-46a9-9ae0-7b43257eb626" providerId="ADAL" clId="{A419673F-55C2-4D98-8494-08B53FCAEB12}" dt="2023-01-31T15:13:49.503" v="140"/>
          <ac:spMkLst>
            <pc:docMk/>
            <pc:sldMk cId="2169776486" sldId="260"/>
            <ac:spMk id="9" creationId="{46DDA9E1-9C8C-78C6-12ED-0F748032EB8F}"/>
          </ac:spMkLst>
        </pc:spChg>
      </pc:sldChg>
      <pc:sldChg chg="addSp modSp">
        <pc:chgData name="Marc-André Nadon" userId="cc43c1e5-0e40-46a9-9ae0-7b43257eb626" providerId="ADAL" clId="{A419673F-55C2-4D98-8494-08B53FCAEB12}" dt="2023-01-31T15:11:38.834" v="79"/>
        <pc:sldMkLst>
          <pc:docMk/>
          <pc:sldMk cId="501365027" sldId="261"/>
        </pc:sldMkLst>
        <pc:spChg chg="add mod">
          <ac:chgData name="Marc-André Nadon" userId="cc43c1e5-0e40-46a9-9ae0-7b43257eb626" providerId="ADAL" clId="{A419673F-55C2-4D98-8494-08B53FCAEB12}" dt="2023-01-31T15:11:38.834" v="79"/>
          <ac:spMkLst>
            <pc:docMk/>
            <pc:sldMk cId="501365027" sldId="261"/>
            <ac:spMk id="6" creationId="{74028882-5A16-0D36-A446-90B4FF9D4EB4}"/>
          </ac:spMkLst>
        </pc:spChg>
      </pc:sldChg>
      <pc:sldChg chg="addSp modSp">
        <pc:chgData name="Marc-André Nadon" userId="cc43c1e5-0e40-46a9-9ae0-7b43257eb626" providerId="ADAL" clId="{A419673F-55C2-4D98-8494-08B53FCAEB12}" dt="2023-01-31T15:12:05.262" v="87"/>
        <pc:sldMkLst>
          <pc:docMk/>
          <pc:sldMk cId="3773097596" sldId="263"/>
        </pc:sldMkLst>
        <pc:spChg chg="add mod">
          <ac:chgData name="Marc-André Nadon" userId="cc43c1e5-0e40-46a9-9ae0-7b43257eb626" providerId="ADAL" clId="{A419673F-55C2-4D98-8494-08B53FCAEB12}" dt="2023-01-31T15:12:05.262" v="87"/>
          <ac:spMkLst>
            <pc:docMk/>
            <pc:sldMk cId="3773097596" sldId="263"/>
            <ac:spMk id="8" creationId="{9D9BE6DA-C72E-7D1F-5519-6F33518108C2}"/>
          </ac:spMkLst>
        </pc:spChg>
      </pc:sldChg>
      <pc:sldChg chg="addSp modSp">
        <pc:chgData name="Marc-André Nadon" userId="cc43c1e5-0e40-46a9-9ae0-7b43257eb626" providerId="ADAL" clId="{A419673F-55C2-4D98-8494-08B53FCAEB12}" dt="2023-01-31T15:12:06.885" v="88"/>
        <pc:sldMkLst>
          <pc:docMk/>
          <pc:sldMk cId="3469865147" sldId="264"/>
        </pc:sldMkLst>
        <pc:spChg chg="add mod">
          <ac:chgData name="Marc-André Nadon" userId="cc43c1e5-0e40-46a9-9ae0-7b43257eb626" providerId="ADAL" clId="{A419673F-55C2-4D98-8494-08B53FCAEB12}" dt="2023-01-31T15:12:06.885" v="88"/>
          <ac:spMkLst>
            <pc:docMk/>
            <pc:sldMk cId="3469865147" sldId="264"/>
            <ac:spMk id="7" creationId="{DCCDC355-7658-F0FE-CC25-CCDEB6ECB537}"/>
          </ac:spMkLst>
        </pc:spChg>
      </pc:sldChg>
      <pc:sldChg chg="addSp modSp">
        <pc:chgData name="Marc-André Nadon" userId="cc43c1e5-0e40-46a9-9ae0-7b43257eb626" providerId="ADAL" clId="{A419673F-55C2-4D98-8494-08B53FCAEB12}" dt="2023-01-31T15:12:12.861" v="89"/>
        <pc:sldMkLst>
          <pc:docMk/>
          <pc:sldMk cId="1491084882" sldId="265"/>
        </pc:sldMkLst>
        <pc:spChg chg="add mod">
          <ac:chgData name="Marc-André Nadon" userId="cc43c1e5-0e40-46a9-9ae0-7b43257eb626" providerId="ADAL" clId="{A419673F-55C2-4D98-8494-08B53FCAEB12}" dt="2023-01-31T15:12:12.861" v="89"/>
          <ac:spMkLst>
            <pc:docMk/>
            <pc:sldMk cId="1491084882" sldId="265"/>
            <ac:spMk id="27" creationId="{AF63E004-977E-0421-E122-A2414CF17ACD}"/>
          </ac:spMkLst>
        </pc:spChg>
      </pc:sldChg>
      <pc:sldChg chg="addSp modSp">
        <pc:chgData name="Marc-André Nadon" userId="cc43c1e5-0e40-46a9-9ae0-7b43257eb626" providerId="ADAL" clId="{A419673F-55C2-4D98-8494-08B53FCAEB12}" dt="2023-01-31T15:12:24.232" v="92"/>
        <pc:sldMkLst>
          <pc:docMk/>
          <pc:sldMk cId="1935884270" sldId="267"/>
        </pc:sldMkLst>
        <pc:spChg chg="add mod">
          <ac:chgData name="Marc-André Nadon" userId="cc43c1e5-0e40-46a9-9ae0-7b43257eb626" providerId="ADAL" clId="{A419673F-55C2-4D98-8494-08B53FCAEB12}" dt="2023-01-31T15:12:24.232" v="92"/>
          <ac:spMkLst>
            <pc:docMk/>
            <pc:sldMk cId="1935884270" sldId="267"/>
            <ac:spMk id="21" creationId="{8DCD5A38-3DAE-2514-5F84-ED1B32C3B6D6}"/>
          </ac:spMkLst>
        </pc:spChg>
      </pc:sldChg>
      <pc:sldChg chg="addSp modSp">
        <pc:chgData name="Marc-André Nadon" userId="cc43c1e5-0e40-46a9-9ae0-7b43257eb626" providerId="ADAL" clId="{A419673F-55C2-4D98-8494-08B53FCAEB12}" dt="2023-01-31T15:12:29.772" v="93"/>
        <pc:sldMkLst>
          <pc:docMk/>
          <pc:sldMk cId="1101052513" sldId="268"/>
        </pc:sldMkLst>
        <pc:spChg chg="add mod">
          <ac:chgData name="Marc-André Nadon" userId="cc43c1e5-0e40-46a9-9ae0-7b43257eb626" providerId="ADAL" clId="{A419673F-55C2-4D98-8494-08B53FCAEB12}" dt="2023-01-31T15:12:29.772" v="93"/>
          <ac:spMkLst>
            <pc:docMk/>
            <pc:sldMk cId="1101052513" sldId="268"/>
            <ac:spMk id="6" creationId="{ABB46850-3046-1A42-865B-A23B0F7742BA}"/>
          </ac:spMkLst>
        </pc:spChg>
      </pc:sldChg>
      <pc:sldChg chg="addSp modSp">
        <pc:chgData name="Marc-André Nadon" userId="cc43c1e5-0e40-46a9-9ae0-7b43257eb626" providerId="ADAL" clId="{A419673F-55C2-4D98-8494-08B53FCAEB12}" dt="2023-01-31T15:12:34.906" v="94"/>
        <pc:sldMkLst>
          <pc:docMk/>
          <pc:sldMk cId="2789336821" sldId="270"/>
        </pc:sldMkLst>
        <pc:spChg chg="add mod">
          <ac:chgData name="Marc-André Nadon" userId="cc43c1e5-0e40-46a9-9ae0-7b43257eb626" providerId="ADAL" clId="{A419673F-55C2-4D98-8494-08B53FCAEB12}" dt="2023-01-31T15:12:34.906" v="94"/>
          <ac:spMkLst>
            <pc:docMk/>
            <pc:sldMk cId="2789336821" sldId="270"/>
            <ac:spMk id="9" creationId="{4AEBD905-7D8D-ED41-ABA6-4480E2E415FA}"/>
          </ac:spMkLst>
        </pc:spChg>
      </pc:sldChg>
      <pc:sldChg chg="addSp modSp">
        <pc:chgData name="Marc-André Nadon" userId="cc43c1e5-0e40-46a9-9ae0-7b43257eb626" providerId="ADAL" clId="{A419673F-55C2-4D98-8494-08B53FCAEB12}" dt="2023-01-31T15:12:36.457" v="95"/>
        <pc:sldMkLst>
          <pc:docMk/>
          <pc:sldMk cId="654981531" sldId="271"/>
        </pc:sldMkLst>
        <pc:spChg chg="add mod">
          <ac:chgData name="Marc-André Nadon" userId="cc43c1e5-0e40-46a9-9ae0-7b43257eb626" providerId="ADAL" clId="{A419673F-55C2-4D98-8494-08B53FCAEB12}" dt="2023-01-31T15:12:36.457" v="95"/>
          <ac:spMkLst>
            <pc:docMk/>
            <pc:sldMk cId="654981531" sldId="271"/>
            <ac:spMk id="5" creationId="{DD495B08-AA48-7E2F-155A-CAF43A7E0EC8}"/>
          </ac:spMkLst>
        </pc:spChg>
      </pc:sldChg>
      <pc:sldChg chg="addSp modSp">
        <pc:chgData name="Marc-André Nadon" userId="cc43c1e5-0e40-46a9-9ae0-7b43257eb626" providerId="ADAL" clId="{A419673F-55C2-4D98-8494-08B53FCAEB12}" dt="2023-01-31T15:12:39.754" v="96"/>
        <pc:sldMkLst>
          <pc:docMk/>
          <pc:sldMk cId="1056633056" sldId="272"/>
        </pc:sldMkLst>
        <pc:spChg chg="add mod">
          <ac:chgData name="Marc-André Nadon" userId="cc43c1e5-0e40-46a9-9ae0-7b43257eb626" providerId="ADAL" clId="{A419673F-55C2-4D98-8494-08B53FCAEB12}" dt="2023-01-31T15:12:39.754" v="96"/>
          <ac:spMkLst>
            <pc:docMk/>
            <pc:sldMk cId="1056633056" sldId="272"/>
            <ac:spMk id="5" creationId="{9E3A5311-A692-F5E5-BF02-E4FBCC1B31A3}"/>
          </ac:spMkLst>
        </pc:spChg>
      </pc:sldChg>
      <pc:sldChg chg="addSp modSp">
        <pc:chgData name="Marc-André Nadon" userId="cc43c1e5-0e40-46a9-9ae0-7b43257eb626" providerId="ADAL" clId="{A419673F-55C2-4D98-8494-08B53FCAEB12}" dt="2023-01-31T15:12:42.342" v="97"/>
        <pc:sldMkLst>
          <pc:docMk/>
          <pc:sldMk cId="2150207819" sldId="275"/>
        </pc:sldMkLst>
        <pc:spChg chg="add mod">
          <ac:chgData name="Marc-André Nadon" userId="cc43c1e5-0e40-46a9-9ae0-7b43257eb626" providerId="ADAL" clId="{A419673F-55C2-4D98-8494-08B53FCAEB12}" dt="2023-01-31T15:12:42.342" v="97"/>
          <ac:spMkLst>
            <pc:docMk/>
            <pc:sldMk cId="2150207819" sldId="275"/>
            <ac:spMk id="6" creationId="{FCA49D78-A2D2-7E17-1804-08B38B00BA50}"/>
          </ac:spMkLst>
        </pc:spChg>
      </pc:sldChg>
      <pc:sldChg chg="addSp modSp">
        <pc:chgData name="Marc-André Nadon" userId="cc43c1e5-0e40-46a9-9ae0-7b43257eb626" providerId="ADAL" clId="{A419673F-55C2-4D98-8494-08B53FCAEB12}" dt="2023-01-31T15:12:44.586" v="98"/>
        <pc:sldMkLst>
          <pc:docMk/>
          <pc:sldMk cId="2327760971" sldId="277"/>
        </pc:sldMkLst>
        <pc:spChg chg="add mod">
          <ac:chgData name="Marc-André Nadon" userId="cc43c1e5-0e40-46a9-9ae0-7b43257eb626" providerId="ADAL" clId="{A419673F-55C2-4D98-8494-08B53FCAEB12}" dt="2023-01-31T15:12:44.586" v="98"/>
          <ac:spMkLst>
            <pc:docMk/>
            <pc:sldMk cId="2327760971" sldId="277"/>
            <ac:spMk id="11" creationId="{91B61191-ADFE-044D-D73D-77BA0D919B2B}"/>
          </ac:spMkLst>
        </pc:spChg>
      </pc:sldChg>
      <pc:sldChg chg="addSp modSp">
        <pc:chgData name="Marc-André Nadon" userId="cc43c1e5-0e40-46a9-9ae0-7b43257eb626" providerId="ADAL" clId="{A419673F-55C2-4D98-8494-08B53FCAEB12}" dt="2023-01-31T15:12:46.987" v="99"/>
        <pc:sldMkLst>
          <pc:docMk/>
          <pc:sldMk cId="3133652289" sldId="278"/>
        </pc:sldMkLst>
        <pc:spChg chg="add mod">
          <ac:chgData name="Marc-André Nadon" userId="cc43c1e5-0e40-46a9-9ae0-7b43257eb626" providerId="ADAL" clId="{A419673F-55C2-4D98-8494-08B53FCAEB12}" dt="2023-01-31T15:12:46.987" v="99"/>
          <ac:spMkLst>
            <pc:docMk/>
            <pc:sldMk cId="3133652289" sldId="278"/>
            <ac:spMk id="5" creationId="{3697692A-7363-5066-819E-A9B0528B62F9}"/>
          </ac:spMkLst>
        </pc:spChg>
      </pc:sldChg>
      <pc:sldChg chg="addSp modSp">
        <pc:chgData name="Marc-André Nadon" userId="cc43c1e5-0e40-46a9-9ae0-7b43257eb626" providerId="ADAL" clId="{A419673F-55C2-4D98-8494-08B53FCAEB12}" dt="2023-01-31T15:11:53.160" v="82"/>
        <pc:sldMkLst>
          <pc:docMk/>
          <pc:sldMk cId="4145583811" sldId="280"/>
        </pc:sldMkLst>
        <pc:spChg chg="add mod">
          <ac:chgData name="Marc-André Nadon" userId="cc43c1e5-0e40-46a9-9ae0-7b43257eb626" providerId="ADAL" clId="{A419673F-55C2-4D98-8494-08B53FCAEB12}" dt="2023-01-31T15:11:53.160" v="82"/>
          <ac:spMkLst>
            <pc:docMk/>
            <pc:sldMk cId="4145583811" sldId="280"/>
            <ac:spMk id="3" creationId="{37E7D5D9-754C-E976-1CF2-8422EB4C681B}"/>
          </ac:spMkLst>
        </pc:spChg>
      </pc:sldChg>
      <pc:sldChg chg="addSp modSp">
        <pc:chgData name="Marc-André Nadon" userId="cc43c1e5-0e40-46a9-9ae0-7b43257eb626" providerId="ADAL" clId="{A419673F-55C2-4D98-8494-08B53FCAEB12}" dt="2023-01-31T15:12:48.856" v="100"/>
        <pc:sldMkLst>
          <pc:docMk/>
          <pc:sldMk cId="282831367" sldId="281"/>
        </pc:sldMkLst>
        <pc:spChg chg="add mod">
          <ac:chgData name="Marc-André Nadon" userId="cc43c1e5-0e40-46a9-9ae0-7b43257eb626" providerId="ADAL" clId="{A419673F-55C2-4D98-8494-08B53FCAEB12}" dt="2023-01-31T15:12:48.856" v="100"/>
          <ac:spMkLst>
            <pc:docMk/>
            <pc:sldMk cId="282831367" sldId="281"/>
            <ac:spMk id="7" creationId="{F4CA1CBE-EDF7-F218-73F2-38B18CB2363B}"/>
          </ac:spMkLst>
        </pc:spChg>
      </pc:sldChg>
      <pc:sldChg chg="addSp modSp">
        <pc:chgData name="Marc-André Nadon" userId="cc43c1e5-0e40-46a9-9ae0-7b43257eb626" providerId="ADAL" clId="{A419673F-55C2-4D98-8494-08B53FCAEB12}" dt="2023-01-31T15:12:57.440" v="101"/>
        <pc:sldMkLst>
          <pc:docMk/>
          <pc:sldMk cId="2649077524" sldId="312"/>
        </pc:sldMkLst>
        <pc:spChg chg="add mod">
          <ac:chgData name="Marc-André Nadon" userId="cc43c1e5-0e40-46a9-9ae0-7b43257eb626" providerId="ADAL" clId="{A419673F-55C2-4D98-8494-08B53FCAEB12}" dt="2023-01-31T15:12:57.440" v="101"/>
          <ac:spMkLst>
            <pc:docMk/>
            <pc:sldMk cId="2649077524" sldId="312"/>
            <ac:spMk id="10" creationId="{AF0D7730-F327-51FF-D475-78013CE459DC}"/>
          </ac:spMkLst>
        </pc:spChg>
      </pc:sldChg>
      <pc:sldChg chg="addSp modSp">
        <pc:chgData name="Marc-André Nadon" userId="cc43c1e5-0e40-46a9-9ae0-7b43257eb626" providerId="ADAL" clId="{A419673F-55C2-4D98-8494-08B53FCAEB12}" dt="2023-01-31T15:11:49.563" v="81"/>
        <pc:sldMkLst>
          <pc:docMk/>
          <pc:sldMk cId="2300783686" sldId="315"/>
        </pc:sldMkLst>
        <pc:spChg chg="add mod">
          <ac:chgData name="Marc-André Nadon" userId="cc43c1e5-0e40-46a9-9ae0-7b43257eb626" providerId="ADAL" clId="{A419673F-55C2-4D98-8494-08B53FCAEB12}" dt="2023-01-31T15:11:49.563" v="81"/>
          <ac:spMkLst>
            <pc:docMk/>
            <pc:sldMk cId="2300783686" sldId="315"/>
            <ac:spMk id="13" creationId="{C6A2783D-50D9-9C9C-2887-CB055DA56191}"/>
          </ac:spMkLst>
        </pc:spChg>
      </pc:sldChg>
      <pc:sldChg chg="addSp modSp">
        <pc:chgData name="Marc-André Nadon" userId="cc43c1e5-0e40-46a9-9ae0-7b43257eb626" providerId="ADAL" clId="{A419673F-55C2-4D98-8494-08B53FCAEB12}" dt="2023-01-31T15:11:55.916" v="83"/>
        <pc:sldMkLst>
          <pc:docMk/>
          <pc:sldMk cId="623355643" sldId="316"/>
        </pc:sldMkLst>
        <pc:spChg chg="add mod">
          <ac:chgData name="Marc-André Nadon" userId="cc43c1e5-0e40-46a9-9ae0-7b43257eb626" providerId="ADAL" clId="{A419673F-55C2-4D98-8494-08B53FCAEB12}" dt="2023-01-31T15:11:55.916" v="83"/>
          <ac:spMkLst>
            <pc:docMk/>
            <pc:sldMk cId="623355643" sldId="316"/>
            <ac:spMk id="8" creationId="{D40A4258-F528-F5E1-33C8-0E6ADB5FA1C5}"/>
          </ac:spMkLst>
        </pc:spChg>
      </pc:sldChg>
      <pc:sldChg chg="addSp modSp">
        <pc:chgData name="Marc-André Nadon" userId="cc43c1e5-0e40-46a9-9ae0-7b43257eb626" providerId="ADAL" clId="{A419673F-55C2-4D98-8494-08B53FCAEB12}" dt="2023-01-31T15:11:57.434" v="84"/>
        <pc:sldMkLst>
          <pc:docMk/>
          <pc:sldMk cId="2655836561" sldId="317"/>
        </pc:sldMkLst>
        <pc:spChg chg="add mod">
          <ac:chgData name="Marc-André Nadon" userId="cc43c1e5-0e40-46a9-9ae0-7b43257eb626" providerId="ADAL" clId="{A419673F-55C2-4D98-8494-08B53FCAEB12}" dt="2023-01-31T15:11:57.434" v="84"/>
          <ac:spMkLst>
            <pc:docMk/>
            <pc:sldMk cId="2655836561" sldId="317"/>
            <ac:spMk id="8" creationId="{84B0BC2D-4BE0-46EF-1374-2703327C7771}"/>
          </ac:spMkLst>
        </pc:spChg>
      </pc:sldChg>
      <pc:sldChg chg="addSp modSp">
        <pc:chgData name="Marc-André Nadon" userId="cc43c1e5-0e40-46a9-9ae0-7b43257eb626" providerId="ADAL" clId="{A419673F-55C2-4D98-8494-08B53FCAEB12}" dt="2023-01-31T15:12:00.659" v="85"/>
        <pc:sldMkLst>
          <pc:docMk/>
          <pc:sldMk cId="2469127793" sldId="318"/>
        </pc:sldMkLst>
        <pc:spChg chg="mod">
          <ac:chgData name="Marc-André Nadon" userId="cc43c1e5-0e40-46a9-9ae0-7b43257eb626" providerId="ADAL" clId="{A419673F-55C2-4D98-8494-08B53FCAEB12}" dt="2023-01-30T18:09:28.274" v="17" actId="6549"/>
          <ac:spMkLst>
            <pc:docMk/>
            <pc:sldMk cId="2469127793" sldId="318"/>
            <ac:spMk id="4" creationId="{00000000-0000-0000-0000-000000000000}"/>
          </ac:spMkLst>
        </pc:spChg>
        <pc:spChg chg="add mod">
          <ac:chgData name="Marc-André Nadon" userId="cc43c1e5-0e40-46a9-9ae0-7b43257eb626" providerId="ADAL" clId="{A419673F-55C2-4D98-8494-08B53FCAEB12}" dt="2023-01-31T15:12:00.659" v="85"/>
          <ac:spMkLst>
            <pc:docMk/>
            <pc:sldMk cId="2469127793" sldId="318"/>
            <ac:spMk id="8" creationId="{0A02E371-D4B4-852E-E9C8-58EFF9989EE2}"/>
          </ac:spMkLst>
        </pc:spChg>
      </pc:sldChg>
      <pc:sldChg chg="addSp modSp">
        <pc:chgData name="Marc-André Nadon" userId="cc43c1e5-0e40-46a9-9ae0-7b43257eb626" providerId="ADAL" clId="{A419673F-55C2-4D98-8494-08B53FCAEB12}" dt="2023-01-31T15:12:03.778" v="86"/>
        <pc:sldMkLst>
          <pc:docMk/>
          <pc:sldMk cId="512826822" sldId="319"/>
        </pc:sldMkLst>
        <pc:spChg chg="add mod">
          <ac:chgData name="Marc-André Nadon" userId="cc43c1e5-0e40-46a9-9ae0-7b43257eb626" providerId="ADAL" clId="{A419673F-55C2-4D98-8494-08B53FCAEB12}" dt="2023-01-31T15:12:03.778" v="86"/>
          <ac:spMkLst>
            <pc:docMk/>
            <pc:sldMk cId="512826822" sldId="319"/>
            <ac:spMk id="8" creationId="{33D1A490-870D-8EBF-0E76-28FA64944E55}"/>
          </ac:spMkLst>
        </pc:spChg>
      </pc:sldChg>
      <pc:sldChg chg="addSp modSp mod">
        <pc:chgData name="Marc-André Nadon" userId="cc43c1e5-0e40-46a9-9ae0-7b43257eb626" providerId="ADAL" clId="{A419673F-55C2-4D98-8494-08B53FCAEB12}" dt="2023-01-31T15:18:08.152" v="150" actId="27636"/>
        <pc:sldMkLst>
          <pc:docMk/>
          <pc:sldMk cId="4281642951" sldId="320"/>
        </pc:sldMkLst>
        <pc:spChg chg="add mod">
          <ac:chgData name="Marc-André Nadon" userId="cc43c1e5-0e40-46a9-9ae0-7b43257eb626" providerId="ADAL" clId="{A419673F-55C2-4D98-8494-08B53FCAEB12}" dt="2023-01-31T15:18:08.152" v="150" actId="27636"/>
          <ac:spMkLst>
            <pc:docMk/>
            <pc:sldMk cId="4281642951" sldId="320"/>
            <ac:spMk id="17" creationId="{5119256F-4676-ED53-9519-D8AD0487BC18}"/>
          </ac:spMkLst>
        </pc:spChg>
      </pc:sldChg>
      <pc:sldChg chg="addSp modSp mod">
        <pc:chgData name="Marc-André Nadon" userId="cc43c1e5-0e40-46a9-9ae0-7b43257eb626" providerId="ADAL" clId="{A419673F-55C2-4D98-8494-08B53FCAEB12}" dt="2023-01-31T15:18:15.325" v="152" actId="14100"/>
        <pc:sldMkLst>
          <pc:docMk/>
          <pc:sldMk cId="656338514" sldId="321"/>
        </pc:sldMkLst>
        <pc:spChg chg="add mod">
          <ac:chgData name="Marc-André Nadon" userId="cc43c1e5-0e40-46a9-9ae0-7b43257eb626" providerId="ADAL" clId="{A419673F-55C2-4D98-8494-08B53FCAEB12}" dt="2023-01-31T15:18:15.325" v="152" actId="14100"/>
          <ac:spMkLst>
            <pc:docMk/>
            <pc:sldMk cId="656338514" sldId="321"/>
            <ac:spMk id="10" creationId="{924D6FB3-F0AE-7813-A30C-1AB6558EE718}"/>
          </ac:spMkLst>
        </pc:spChg>
      </pc:sldChg>
      <pc:sldChg chg="addSp modSp mod">
        <pc:chgData name="Marc-André Nadon" userId="cc43c1e5-0e40-46a9-9ae0-7b43257eb626" providerId="ADAL" clId="{A419673F-55C2-4D98-8494-08B53FCAEB12}" dt="2023-01-31T15:18:20.839" v="154" actId="14100"/>
        <pc:sldMkLst>
          <pc:docMk/>
          <pc:sldMk cId="287871392" sldId="322"/>
        </pc:sldMkLst>
        <pc:spChg chg="add mod">
          <ac:chgData name="Marc-André Nadon" userId="cc43c1e5-0e40-46a9-9ae0-7b43257eb626" providerId="ADAL" clId="{A419673F-55C2-4D98-8494-08B53FCAEB12}" dt="2023-01-31T15:18:20.839" v="154" actId="14100"/>
          <ac:spMkLst>
            <pc:docMk/>
            <pc:sldMk cId="287871392" sldId="322"/>
            <ac:spMk id="8" creationId="{DB35B1F7-A495-C637-1A8D-FD57738FE7B3}"/>
          </ac:spMkLst>
        </pc:spChg>
      </pc:sldChg>
      <pc:sldChg chg="addSp modSp mod">
        <pc:chgData name="Marc-André Nadon" userId="cc43c1e5-0e40-46a9-9ae0-7b43257eb626" providerId="ADAL" clId="{A419673F-55C2-4D98-8494-08B53FCAEB12}" dt="2023-01-31T15:18:28.780" v="158" actId="14100"/>
        <pc:sldMkLst>
          <pc:docMk/>
          <pc:sldMk cId="81557981" sldId="323"/>
        </pc:sldMkLst>
        <pc:spChg chg="add mod">
          <ac:chgData name="Marc-André Nadon" userId="cc43c1e5-0e40-46a9-9ae0-7b43257eb626" providerId="ADAL" clId="{A419673F-55C2-4D98-8494-08B53FCAEB12}" dt="2023-01-31T15:18:28.780" v="158" actId="14100"/>
          <ac:spMkLst>
            <pc:docMk/>
            <pc:sldMk cId="81557981" sldId="323"/>
            <ac:spMk id="10" creationId="{A0C07200-295E-5446-AF38-511A0E2CDD04}"/>
          </ac:spMkLst>
        </pc:spChg>
      </pc:sldChg>
      <pc:sldChg chg="addSp modSp mod">
        <pc:chgData name="Marc-André Nadon" userId="cc43c1e5-0e40-46a9-9ae0-7b43257eb626" providerId="ADAL" clId="{A419673F-55C2-4D98-8494-08B53FCAEB12}" dt="2023-01-31T15:18:41.334" v="163" actId="14100"/>
        <pc:sldMkLst>
          <pc:docMk/>
          <pc:sldMk cId="780741413" sldId="324"/>
        </pc:sldMkLst>
        <pc:spChg chg="add mod">
          <ac:chgData name="Marc-André Nadon" userId="cc43c1e5-0e40-46a9-9ae0-7b43257eb626" providerId="ADAL" clId="{A419673F-55C2-4D98-8494-08B53FCAEB12}" dt="2023-01-31T15:18:41.334" v="163" actId="14100"/>
          <ac:spMkLst>
            <pc:docMk/>
            <pc:sldMk cId="780741413" sldId="324"/>
            <ac:spMk id="10" creationId="{580EC44B-6288-5238-8CBF-B4C043893BC7}"/>
          </ac:spMkLst>
        </pc:spChg>
      </pc:sldChg>
      <pc:sldChg chg="addSp modSp mod">
        <pc:chgData name="Marc-André Nadon" userId="cc43c1e5-0e40-46a9-9ae0-7b43257eb626" providerId="ADAL" clId="{A419673F-55C2-4D98-8494-08B53FCAEB12}" dt="2023-01-31T15:18:35.407" v="161" actId="27636"/>
        <pc:sldMkLst>
          <pc:docMk/>
          <pc:sldMk cId="2098671737" sldId="325"/>
        </pc:sldMkLst>
        <pc:spChg chg="add mod">
          <ac:chgData name="Marc-André Nadon" userId="cc43c1e5-0e40-46a9-9ae0-7b43257eb626" providerId="ADAL" clId="{A419673F-55C2-4D98-8494-08B53FCAEB12}" dt="2023-01-31T15:18:35.407" v="161" actId="27636"/>
          <ac:spMkLst>
            <pc:docMk/>
            <pc:sldMk cId="2098671737" sldId="325"/>
            <ac:spMk id="9" creationId="{55782131-AD3B-4724-B5F2-F810F590CBAB}"/>
          </ac:spMkLst>
        </pc:spChg>
      </pc:sldChg>
      <pc:sldChg chg="addSp modSp mod">
        <pc:chgData name="Marc-André Nadon" userId="cc43c1e5-0e40-46a9-9ae0-7b43257eb626" providerId="ADAL" clId="{A419673F-55C2-4D98-8494-08B53FCAEB12}" dt="2023-01-31T15:18:46.682" v="165" actId="14100"/>
        <pc:sldMkLst>
          <pc:docMk/>
          <pc:sldMk cId="2842788366" sldId="326"/>
        </pc:sldMkLst>
        <pc:spChg chg="add mod">
          <ac:chgData name="Marc-André Nadon" userId="cc43c1e5-0e40-46a9-9ae0-7b43257eb626" providerId="ADAL" clId="{A419673F-55C2-4D98-8494-08B53FCAEB12}" dt="2023-01-31T15:18:46.682" v="165" actId="14100"/>
          <ac:spMkLst>
            <pc:docMk/>
            <pc:sldMk cId="2842788366" sldId="326"/>
            <ac:spMk id="12" creationId="{104BC0EB-4394-7EC5-DBE3-EC1CC490860E}"/>
          </ac:spMkLst>
        </pc:spChg>
      </pc:sldChg>
      <pc:sldChg chg="addSp modSp mod">
        <pc:chgData name="Marc-André Nadon" userId="cc43c1e5-0e40-46a9-9ae0-7b43257eb626" providerId="ADAL" clId="{A419673F-55C2-4D98-8494-08B53FCAEB12}" dt="2023-01-31T15:18:53.454" v="168" actId="27636"/>
        <pc:sldMkLst>
          <pc:docMk/>
          <pc:sldMk cId="4005400512" sldId="327"/>
        </pc:sldMkLst>
        <pc:spChg chg="add mod">
          <ac:chgData name="Marc-André Nadon" userId="cc43c1e5-0e40-46a9-9ae0-7b43257eb626" providerId="ADAL" clId="{A419673F-55C2-4D98-8494-08B53FCAEB12}" dt="2023-01-31T15:18:53.454" v="168" actId="27636"/>
          <ac:spMkLst>
            <pc:docMk/>
            <pc:sldMk cId="4005400512" sldId="327"/>
            <ac:spMk id="11" creationId="{3F167457-40BF-E102-7E72-18951D89D27C}"/>
          </ac:spMkLst>
        </pc:spChg>
      </pc:sldChg>
      <pc:sldChg chg="addSp modSp mod">
        <pc:chgData name="Marc-André Nadon" userId="cc43c1e5-0e40-46a9-9ae0-7b43257eb626" providerId="ADAL" clId="{A419673F-55C2-4D98-8494-08B53FCAEB12}" dt="2023-01-31T15:19:02.095" v="170" actId="14100"/>
        <pc:sldMkLst>
          <pc:docMk/>
          <pc:sldMk cId="197942251" sldId="328"/>
        </pc:sldMkLst>
        <pc:spChg chg="add mod">
          <ac:chgData name="Marc-André Nadon" userId="cc43c1e5-0e40-46a9-9ae0-7b43257eb626" providerId="ADAL" clId="{A419673F-55C2-4D98-8494-08B53FCAEB12}" dt="2023-01-31T15:19:02.095" v="170" actId="14100"/>
          <ac:spMkLst>
            <pc:docMk/>
            <pc:sldMk cId="197942251" sldId="328"/>
            <ac:spMk id="10" creationId="{02157A78-8689-CD76-406F-0F7B9BE037CD}"/>
          </ac:spMkLst>
        </pc:spChg>
      </pc:sldChg>
      <pc:sldChg chg="addSp modSp mod">
        <pc:chgData name="Marc-André Nadon" userId="cc43c1e5-0e40-46a9-9ae0-7b43257eb626" providerId="ADAL" clId="{A419673F-55C2-4D98-8494-08B53FCAEB12}" dt="2023-01-31T15:19:08.546" v="172" actId="14100"/>
        <pc:sldMkLst>
          <pc:docMk/>
          <pc:sldMk cId="287150381" sldId="329"/>
        </pc:sldMkLst>
        <pc:spChg chg="add mod">
          <ac:chgData name="Marc-André Nadon" userId="cc43c1e5-0e40-46a9-9ae0-7b43257eb626" providerId="ADAL" clId="{A419673F-55C2-4D98-8494-08B53FCAEB12}" dt="2023-01-31T15:19:08.546" v="172" actId="14100"/>
          <ac:spMkLst>
            <pc:docMk/>
            <pc:sldMk cId="287150381" sldId="329"/>
            <ac:spMk id="14" creationId="{0DB96484-7D26-2ECE-E94B-65A95EFA0A2F}"/>
          </ac:spMkLst>
        </pc:spChg>
      </pc:sldChg>
      <pc:sldChg chg="addSp modSp mod">
        <pc:chgData name="Marc-André Nadon" userId="cc43c1e5-0e40-46a9-9ae0-7b43257eb626" providerId="ADAL" clId="{A419673F-55C2-4D98-8494-08B53FCAEB12}" dt="2023-01-31T15:19:13.523" v="174" actId="14100"/>
        <pc:sldMkLst>
          <pc:docMk/>
          <pc:sldMk cId="1025615024" sldId="330"/>
        </pc:sldMkLst>
        <pc:spChg chg="add mod">
          <ac:chgData name="Marc-André Nadon" userId="cc43c1e5-0e40-46a9-9ae0-7b43257eb626" providerId="ADAL" clId="{A419673F-55C2-4D98-8494-08B53FCAEB12}" dt="2023-01-31T15:19:13.523" v="174" actId="14100"/>
          <ac:spMkLst>
            <pc:docMk/>
            <pc:sldMk cId="1025615024" sldId="330"/>
            <ac:spMk id="12" creationId="{FF42970D-DCC8-B48E-B32A-1512A19CC334}"/>
          </ac:spMkLst>
        </pc:spChg>
      </pc:sldChg>
      <pc:sldChg chg="addSp modSp mod">
        <pc:chgData name="Marc-André Nadon" userId="cc43c1e5-0e40-46a9-9ae0-7b43257eb626" providerId="ADAL" clId="{A419673F-55C2-4D98-8494-08B53FCAEB12}" dt="2023-01-31T15:19:19.487" v="176" actId="14100"/>
        <pc:sldMkLst>
          <pc:docMk/>
          <pc:sldMk cId="3124802291" sldId="331"/>
        </pc:sldMkLst>
        <pc:spChg chg="add mod">
          <ac:chgData name="Marc-André Nadon" userId="cc43c1e5-0e40-46a9-9ae0-7b43257eb626" providerId="ADAL" clId="{A419673F-55C2-4D98-8494-08B53FCAEB12}" dt="2023-01-31T15:19:19.487" v="176" actId="14100"/>
          <ac:spMkLst>
            <pc:docMk/>
            <pc:sldMk cId="3124802291" sldId="331"/>
            <ac:spMk id="11" creationId="{A63A0AAE-E606-496F-7F57-ED160D1D2B85}"/>
          </ac:spMkLst>
        </pc:spChg>
      </pc:sldChg>
      <pc:sldChg chg="addSp modSp mod">
        <pc:chgData name="Marc-André Nadon" userId="cc43c1e5-0e40-46a9-9ae0-7b43257eb626" providerId="ADAL" clId="{A419673F-55C2-4D98-8494-08B53FCAEB12}" dt="2023-01-31T15:19:28.688" v="178" actId="14100"/>
        <pc:sldMkLst>
          <pc:docMk/>
          <pc:sldMk cId="3949954837" sldId="332"/>
        </pc:sldMkLst>
        <pc:spChg chg="add mod">
          <ac:chgData name="Marc-André Nadon" userId="cc43c1e5-0e40-46a9-9ae0-7b43257eb626" providerId="ADAL" clId="{A419673F-55C2-4D98-8494-08B53FCAEB12}" dt="2023-01-31T15:19:28.688" v="178" actId="14100"/>
          <ac:spMkLst>
            <pc:docMk/>
            <pc:sldMk cId="3949954837" sldId="332"/>
            <ac:spMk id="5" creationId="{BB4CDAE2-C4E6-D804-5017-48C8EB2232A2}"/>
          </ac:spMkLst>
        </pc:spChg>
      </pc:sldChg>
      <pc:sldChg chg="addSp delSp modSp mod">
        <pc:chgData name="Marc-André Nadon" userId="cc43c1e5-0e40-46a9-9ae0-7b43257eb626" providerId="ADAL" clId="{A419673F-55C2-4D98-8494-08B53FCAEB12}" dt="2023-01-31T15:19:51.887" v="183" actId="478"/>
        <pc:sldMkLst>
          <pc:docMk/>
          <pc:sldMk cId="2341609983" sldId="507"/>
        </pc:sldMkLst>
        <pc:spChg chg="add del mod">
          <ac:chgData name="Marc-André Nadon" userId="cc43c1e5-0e40-46a9-9ae0-7b43257eb626" providerId="ADAL" clId="{A419673F-55C2-4D98-8494-08B53FCAEB12}" dt="2023-01-31T15:19:51.887" v="183" actId="478"/>
          <ac:spMkLst>
            <pc:docMk/>
            <pc:sldMk cId="2341609983" sldId="507"/>
            <ac:spMk id="2" creationId="{3C471AAB-AB5C-DA1B-62AF-5CF3C5152016}"/>
          </ac:spMkLst>
        </pc:spChg>
      </pc:sldChg>
      <pc:sldChg chg="addSp modSp mod">
        <pc:chgData name="Marc-André Nadon" userId="cc43c1e5-0e40-46a9-9ae0-7b43257eb626" providerId="ADAL" clId="{A419673F-55C2-4D98-8494-08B53FCAEB12}" dt="2023-01-31T15:20:11.577" v="201" actId="20577"/>
        <pc:sldMkLst>
          <pc:docMk/>
          <pc:sldMk cId="453902125" sldId="881"/>
        </pc:sldMkLst>
        <pc:spChg chg="add mod">
          <ac:chgData name="Marc-André Nadon" userId="cc43c1e5-0e40-46a9-9ae0-7b43257eb626" providerId="ADAL" clId="{A419673F-55C2-4D98-8494-08B53FCAEB12}" dt="2023-01-31T15:20:11.577" v="201" actId="20577"/>
          <ac:spMkLst>
            <pc:docMk/>
            <pc:sldMk cId="453902125" sldId="881"/>
            <ac:spMk id="2" creationId="{85F54926-56CD-7D27-2085-F19F0A5105DA}"/>
          </ac:spMkLst>
        </pc:spChg>
      </pc:sldChg>
      <pc:sldChg chg="addSp modSp mod">
        <pc:chgData name="Marc-André Nadon" userId="cc43c1e5-0e40-46a9-9ae0-7b43257eb626" providerId="ADAL" clId="{A419673F-55C2-4D98-8494-08B53FCAEB12}" dt="2023-01-31T15:12:18.298" v="91" actId="1076"/>
        <pc:sldMkLst>
          <pc:docMk/>
          <pc:sldMk cId="1871153934" sldId="882"/>
        </pc:sldMkLst>
        <pc:spChg chg="add mod">
          <ac:chgData name="Marc-André Nadon" userId="cc43c1e5-0e40-46a9-9ae0-7b43257eb626" providerId="ADAL" clId="{A419673F-55C2-4D98-8494-08B53FCAEB12}" dt="2023-01-31T15:12:18.298" v="91" actId="1076"/>
          <ac:spMkLst>
            <pc:docMk/>
            <pc:sldMk cId="1871153934" sldId="882"/>
            <ac:spMk id="4" creationId="{A5CDAACB-6DF2-87D1-B60A-ACBDB66111C8}"/>
          </ac:spMkLst>
        </pc:spChg>
      </pc:sldChg>
      <pc:sldChg chg="addSp modSp mod">
        <pc:chgData name="Marc-André Nadon" userId="cc43c1e5-0e40-46a9-9ae0-7b43257eb626" providerId="ADAL" clId="{A419673F-55C2-4D98-8494-08B53FCAEB12}" dt="2023-01-31T15:20:43.543" v="210" actId="20577"/>
        <pc:sldMkLst>
          <pc:docMk/>
          <pc:sldMk cId="2574484605" sldId="883"/>
        </pc:sldMkLst>
        <pc:spChg chg="add mod">
          <ac:chgData name="Marc-André Nadon" userId="cc43c1e5-0e40-46a9-9ae0-7b43257eb626" providerId="ADAL" clId="{A419673F-55C2-4D98-8494-08B53FCAEB12}" dt="2023-01-31T15:20:43.543" v="210" actId="20577"/>
          <ac:spMkLst>
            <pc:docMk/>
            <pc:sldMk cId="2574484605" sldId="883"/>
            <ac:spMk id="19" creationId="{59B130FC-4A52-81AD-7EFC-86A68E774636}"/>
          </ac:spMkLst>
        </pc:spChg>
      </pc:sldChg>
      <pc:sldChg chg="addSp modSp mod">
        <pc:chgData name="Marc-André Nadon" userId="cc43c1e5-0e40-46a9-9ae0-7b43257eb626" providerId="ADAL" clId="{A419673F-55C2-4D98-8494-08B53FCAEB12}" dt="2023-01-31T15:20:25.493" v="204" actId="27636"/>
        <pc:sldMkLst>
          <pc:docMk/>
          <pc:sldMk cId="2806934521" sldId="884"/>
        </pc:sldMkLst>
        <pc:spChg chg="add mod">
          <ac:chgData name="Marc-André Nadon" userId="cc43c1e5-0e40-46a9-9ae0-7b43257eb626" providerId="ADAL" clId="{A419673F-55C2-4D98-8494-08B53FCAEB12}" dt="2023-01-31T15:20:25.493" v="204" actId="27636"/>
          <ac:spMkLst>
            <pc:docMk/>
            <pc:sldMk cId="2806934521" sldId="884"/>
            <ac:spMk id="5" creationId="{DC8EA189-86E9-511C-2EC9-B488126661E4}"/>
          </ac:spMkLst>
        </pc:spChg>
      </pc:sldChg>
      <pc:sldChg chg="addSp modSp mod">
        <pc:chgData name="Marc-André Nadon" userId="cc43c1e5-0e40-46a9-9ae0-7b43257eb626" providerId="ADAL" clId="{A419673F-55C2-4D98-8494-08B53FCAEB12}" dt="2023-01-31T15:20:33.300" v="206" actId="14100"/>
        <pc:sldMkLst>
          <pc:docMk/>
          <pc:sldMk cId="374775927" sldId="885"/>
        </pc:sldMkLst>
        <pc:spChg chg="add mod">
          <ac:chgData name="Marc-André Nadon" userId="cc43c1e5-0e40-46a9-9ae0-7b43257eb626" providerId="ADAL" clId="{A419673F-55C2-4D98-8494-08B53FCAEB12}" dt="2023-01-31T15:20:33.300" v="206" actId="14100"/>
          <ac:spMkLst>
            <pc:docMk/>
            <pc:sldMk cId="374775927" sldId="885"/>
            <ac:spMk id="9" creationId="{6E358B88-388E-A0FC-5ED2-9E91AB42FAC7}"/>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0197C095-AAC8-40FE-9BB4-15CB0253059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CA"/>
          </a:p>
        </p:txBody>
      </p:sp>
      <p:sp>
        <p:nvSpPr>
          <p:cNvPr id="3" name="Espace réservé de la date 2">
            <a:extLst>
              <a:ext uri="{FF2B5EF4-FFF2-40B4-BE49-F238E27FC236}">
                <a16:creationId xmlns:a16="http://schemas.microsoft.com/office/drawing/2014/main" id="{DB0DFEAA-05C6-4BE7-A18C-361C96A2695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D92E8EE-38DB-4EC8-BD4A-52CC18CA48F8}" type="datetimeFigureOut">
              <a:rPr lang="fr-CA" smtClean="0"/>
              <a:t>2025-03-17</a:t>
            </a:fld>
            <a:endParaRPr lang="fr-CA"/>
          </a:p>
        </p:txBody>
      </p:sp>
      <p:sp>
        <p:nvSpPr>
          <p:cNvPr id="4" name="Espace réservé du pied de page 3">
            <a:extLst>
              <a:ext uri="{FF2B5EF4-FFF2-40B4-BE49-F238E27FC236}">
                <a16:creationId xmlns:a16="http://schemas.microsoft.com/office/drawing/2014/main" id="{22F97052-4F4D-45F6-A7E5-A9C5A1663AB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fr-CA"/>
              <a:t>© Hugo Lesley - HEC Montréal</a:t>
            </a:r>
          </a:p>
        </p:txBody>
      </p:sp>
      <p:sp>
        <p:nvSpPr>
          <p:cNvPr id="5" name="Espace réservé du numéro de diapositive 4">
            <a:extLst>
              <a:ext uri="{FF2B5EF4-FFF2-40B4-BE49-F238E27FC236}">
                <a16:creationId xmlns:a16="http://schemas.microsoft.com/office/drawing/2014/main" id="{2209CD42-8C3C-43E1-8F09-DB5206B908E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80736B7-249E-46C2-9018-B807EEEA1592}" type="slidenum">
              <a:rPr lang="fr-CA" smtClean="0"/>
              <a:t>‹n°›</a:t>
            </a:fld>
            <a:endParaRPr lang="fr-CA"/>
          </a:p>
        </p:txBody>
      </p:sp>
    </p:spTree>
    <p:extLst>
      <p:ext uri="{BB962C8B-B14F-4D97-AF65-F5344CB8AC3E}">
        <p14:creationId xmlns:p14="http://schemas.microsoft.com/office/powerpoint/2010/main" val="3050160356"/>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fr-CA"/>
          </a:p>
        </p:txBody>
      </p:sp>
      <p:sp>
        <p:nvSpPr>
          <p:cNvPr id="3" name="Espace réservé de la date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B44E640-7D2A-42EF-BA39-2B32D5A16C68}" type="datetimeFigureOut">
              <a:rPr lang="fr-CA" smtClean="0"/>
              <a:pPr/>
              <a:t>2025-03-17</a:t>
            </a:fld>
            <a:endParaRPr lang="fr-CA"/>
          </a:p>
        </p:txBody>
      </p:sp>
      <p:sp>
        <p:nvSpPr>
          <p:cNvPr id="4" name="Espace réservé de l'image des diapositives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fr-CA"/>
          </a:p>
        </p:txBody>
      </p:sp>
      <p:sp>
        <p:nvSpPr>
          <p:cNvPr id="5" name="Espace réservé des commentaires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6" name="Espace réservé du pied de pag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r>
              <a:rPr lang="fr-CA"/>
              <a:t>© Hugo Lesley - HEC Montréal</a:t>
            </a:r>
          </a:p>
        </p:txBody>
      </p:sp>
      <p:sp>
        <p:nvSpPr>
          <p:cNvPr id="7" name="Espace réservé du numéro de diapositiv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C8BC42A-5C03-431D-B855-CCCF13E3B37E}" type="slidenum">
              <a:rPr lang="fr-CA" smtClean="0"/>
              <a:pPr/>
              <a:t>‹n°›</a:t>
            </a:fld>
            <a:endParaRPr lang="fr-CA"/>
          </a:p>
        </p:txBody>
      </p:sp>
    </p:spTree>
    <p:extLst>
      <p:ext uri="{BB962C8B-B14F-4D97-AF65-F5344CB8AC3E}">
        <p14:creationId xmlns:p14="http://schemas.microsoft.com/office/powerpoint/2010/main" val="426511410"/>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CA"/>
          </a:p>
        </p:txBody>
      </p:sp>
      <p:sp>
        <p:nvSpPr>
          <p:cNvPr id="4" name="Espace réservé du numéro de diapositive 3"/>
          <p:cNvSpPr>
            <a:spLocks noGrp="1"/>
          </p:cNvSpPr>
          <p:nvPr>
            <p:ph type="sldNum" sz="quarter" idx="10"/>
          </p:nvPr>
        </p:nvSpPr>
        <p:spPr/>
        <p:txBody>
          <a:bodyPr/>
          <a:lstStyle/>
          <a:p>
            <a:fld id="{C22B8E3F-A8EB-4A4C-8D7F-37835099C421}" type="slidenum">
              <a:rPr lang="fr-CA" smtClean="0"/>
              <a:t>48</a:t>
            </a:fld>
            <a:endParaRPr lang="fr-CA"/>
          </a:p>
        </p:txBody>
      </p:sp>
    </p:spTree>
    <p:extLst>
      <p:ext uri="{BB962C8B-B14F-4D97-AF65-F5344CB8AC3E}">
        <p14:creationId xmlns:p14="http://schemas.microsoft.com/office/powerpoint/2010/main" val="3443977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CA"/>
          </a:p>
        </p:txBody>
      </p:sp>
      <p:sp>
        <p:nvSpPr>
          <p:cNvPr id="4" name="Espace réservé du numéro de diapositive 3"/>
          <p:cNvSpPr>
            <a:spLocks noGrp="1"/>
          </p:cNvSpPr>
          <p:nvPr>
            <p:ph type="sldNum" sz="quarter" idx="10"/>
          </p:nvPr>
        </p:nvSpPr>
        <p:spPr/>
        <p:txBody>
          <a:bodyPr/>
          <a:lstStyle/>
          <a:p>
            <a:fld id="{C22B8E3F-A8EB-4A4C-8D7F-37835099C421}" type="slidenum">
              <a:rPr lang="fr-CA" smtClean="0"/>
              <a:t>49</a:t>
            </a:fld>
            <a:endParaRPr lang="fr-CA"/>
          </a:p>
        </p:txBody>
      </p:sp>
    </p:spTree>
    <p:extLst>
      <p:ext uri="{BB962C8B-B14F-4D97-AF65-F5344CB8AC3E}">
        <p14:creationId xmlns:p14="http://schemas.microsoft.com/office/powerpoint/2010/main" val="3978086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a:p>
        </p:txBody>
      </p:sp>
      <p:sp>
        <p:nvSpPr>
          <p:cNvPr id="4" name="Espace réservé du pied de page 3"/>
          <p:cNvSpPr>
            <a:spLocks noGrp="1"/>
          </p:cNvSpPr>
          <p:nvPr>
            <p:ph type="ftr" sz="quarter" idx="10"/>
          </p:nvPr>
        </p:nvSpPr>
        <p:spPr/>
        <p:txBody>
          <a:bodyPr/>
          <a:lstStyle/>
          <a:p>
            <a:r>
              <a:rPr lang="fr-CA"/>
              <a:t>Simon Dermarkar</a:t>
            </a:r>
          </a:p>
        </p:txBody>
      </p:sp>
      <p:sp>
        <p:nvSpPr>
          <p:cNvPr id="5" name="Espace réservé du numéro de diapositive 4"/>
          <p:cNvSpPr>
            <a:spLocks noGrp="1"/>
          </p:cNvSpPr>
          <p:nvPr>
            <p:ph type="sldNum" sz="quarter" idx="11"/>
          </p:nvPr>
        </p:nvSpPr>
        <p:spPr/>
        <p:txBody>
          <a:bodyPr/>
          <a:lstStyle/>
          <a:p>
            <a:fld id="{BC887482-05D9-4D32-9364-6613339E3323}" type="slidenum">
              <a:rPr lang="fr-CA" smtClean="0"/>
              <a:t>51</a:t>
            </a:fld>
            <a:endParaRPr lang="fr-CA"/>
          </a:p>
        </p:txBody>
      </p:sp>
    </p:spTree>
    <p:extLst>
      <p:ext uri="{BB962C8B-B14F-4D97-AF65-F5344CB8AC3E}">
        <p14:creationId xmlns:p14="http://schemas.microsoft.com/office/powerpoint/2010/main" val="115891568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spTree>
      <p:nvGrpSpPr>
        <p:cNvPr id="1" name=""/>
        <p:cNvGrpSpPr/>
        <p:nvPr/>
      </p:nvGrpSpPr>
      <p:grpSpPr>
        <a:xfrm>
          <a:off x="0" y="0"/>
          <a:ext cx="0" cy="0"/>
          <a:chOff x="0" y="0"/>
          <a:chExt cx="0" cy="0"/>
        </a:xfrm>
      </p:grpSpPr>
      <p:pic>
        <p:nvPicPr>
          <p:cNvPr id="4" name="Picture 3" descr="A group of people walking on a sidewalk&#10;&#10;Description automatically generated">
            <a:extLst>
              <a:ext uri="{FF2B5EF4-FFF2-40B4-BE49-F238E27FC236}">
                <a16:creationId xmlns:a16="http://schemas.microsoft.com/office/drawing/2014/main" id="{12C47200-DA22-1F45-B80B-C588ED20F1F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5" name="Title 1">
            <a:extLst>
              <a:ext uri="{FF2B5EF4-FFF2-40B4-BE49-F238E27FC236}">
                <a16:creationId xmlns:a16="http://schemas.microsoft.com/office/drawing/2014/main" id="{F39C312D-7B7E-DC4F-822B-B07C630DC7BB}"/>
              </a:ext>
            </a:extLst>
          </p:cNvPr>
          <p:cNvSpPr>
            <a:spLocks noGrp="1"/>
          </p:cNvSpPr>
          <p:nvPr>
            <p:ph type="title" hasCustomPrompt="1"/>
          </p:nvPr>
        </p:nvSpPr>
        <p:spPr>
          <a:xfrm>
            <a:off x="280902" y="1493045"/>
            <a:ext cx="4483601" cy="1690621"/>
          </a:xfrm>
        </p:spPr>
        <p:txBody>
          <a:bodyPr anchor="b" anchorCtr="0"/>
          <a:lstStyle>
            <a:lvl1pPr>
              <a:defRPr sz="4500"/>
            </a:lvl1pPr>
          </a:lstStyle>
          <a:p>
            <a:r>
              <a:rPr lang="en-US" dirty="0" err="1"/>
              <a:t>Titre</a:t>
            </a:r>
            <a:endParaRPr lang="en-US" dirty="0"/>
          </a:p>
        </p:txBody>
      </p:sp>
      <p:sp>
        <p:nvSpPr>
          <p:cNvPr id="6" name="Text Placeholder 12">
            <a:extLst>
              <a:ext uri="{FF2B5EF4-FFF2-40B4-BE49-F238E27FC236}">
                <a16:creationId xmlns:a16="http://schemas.microsoft.com/office/drawing/2014/main" id="{F57E83D3-5DC7-CC40-8CEF-5A831CCB86B2}"/>
              </a:ext>
            </a:extLst>
          </p:cNvPr>
          <p:cNvSpPr>
            <a:spLocks noGrp="1"/>
          </p:cNvSpPr>
          <p:nvPr>
            <p:ph type="body" sz="quarter" idx="11" hasCustomPrompt="1"/>
          </p:nvPr>
        </p:nvSpPr>
        <p:spPr>
          <a:xfrm>
            <a:off x="280903" y="3133952"/>
            <a:ext cx="4483602" cy="1413986"/>
          </a:xfrm>
        </p:spPr>
        <p:txBody>
          <a:bodyPr>
            <a:normAutofit/>
          </a:bodyPr>
          <a:lstStyle>
            <a:lvl1pPr marL="0" indent="0">
              <a:buNone/>
              <a:defRPr sz="2000">
                <a:solidFill>
                  <a:schemeClr val="accent1"/>
                </a:solidFill>
              </a:defRPr>
            </a:lvl1pPr>
          </a:lstStyle>
          <a:p>
            <a:pPr lvl="0"/>
            <a:r>
              <a:rPr lang="en-US" dirty="0"/>
              <a:t>Sous-</a:t>
            </a:r>
            <a:r>
              <a:rPr lang="en-US" dirty="0" err="1"/>
              <a:t>titre</a:t>
            </a:r>
            <a:endParaRPr lang="en-US" dirty="0"/>
          </a:p>
        </p:txBody>
      </p:sp>
      <p:pic>
        <p:nvPicPr>
          <p:cNvPr id="10" name="Picture 9" descr="A close up of a sign&#10;&#10;Description automatically generated">
            <a:extLst>
              <a:ext uri="{FF2B5EF4-FFF2-40B4-BE49-F238E27FC236}">
                <a16:creationId xmlns:a16="http://schemas.microsoft.com/office/drawing/2014/main" id="{565FE128-B25A-2246-949C-DFF179096C9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84162" y="320940"/>
            <a:ext cx="1172105" cy="1172105"/>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Diapositive de titre">
    <p:spTree>
      <p:nvGrpSpPr>
        <p:cNvPr id="1" name=""/>
        <p:cNvGrpSpPr/>
        <p:nvPr/>
      </p:nvGrpSpPr>
      <p:grpSpPr>
        <a:xfrm>
          <a:off x="0" y="0"/>
          <a:ext cx="0" cy="0"/>
          <a:chOff x="0" y="0"/>
          <a:chExt cx="0" cy="0"/>
        </a:xfrm>
      </p:grpSpPr>
      <p:pic>
        <p:nvPicPr>
          <p:cNvPr id="3" name="Picture 2" descr="A large white building&#10;&#10;Description automatically generated">
            <a:extLst>
              <a:ext uri="{FF2B5EF4-FFF2-40B4-BE49-F238E27FC236}">
                <a16:creationId xmlns:a16="http://schemas.microsoft.com/office/drawing/2014/main" id="{EEE9ACBE-C4EE-D34F-A8D0-AED8FDB0D89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5" name="Title 1">
            <a:extLst>
              <a:ext uri="{FF2B5EF4-FFF2-40B4-BE49-F238E27FC236}">
                <a16:creationId xmlns:a16="http://schemas.microsoft.com/office/drawing/2014/main" id="{F39C312D-7B7E-DC4F-822B-B07C630DC7BB}"/>
              </a:ext>
            </a:extLst>
          </p:cNvPr>
          <p:cNvSpPr>
            <a:spLocks noGrp="1"/>
          </p:cNvSpPr>
          <p:nvPr>
            <p:ph type="title" hasCustomPrompt="1"/>
          </p:nvPr>
        </p:nvSpPr>
        <p:spPr>
          <a:xfrm>
            <a:off x="280902" y="1493045"/>
            <a:ext cx="4483601" cy="1690621"/>
          </a:xfrm>
        </p:spPr>
        <p:txBody>
          <a:bodyPr anchor="b" anchorCtr="0"/>
          <a:lstStyle>
            <a:lvl1pPr>
              <a:defRPr sz="4500">
                <a:solidFill>
                  <a:schemeClr val="bg1"/>
                </a:solidFill>
              </a:defRPr>
            </a:lvl1pPr>
          </a:lstStyle>
          <a:p>
            <a:r>
              <a:rPr lang="en-US" dirty="0" err="1"/>
              <a:t>Titre</a:t>
            </a:r>
            <a:endParaRPr lang="en-US" dirty="0"/>
          </a:p>
        </p:txBody>
      </p:sp>
      <p:sp>
        <p:nvSpPr>
          <p:cNvPr id="6" name="Text Placeholder 12">
            <a:extLst>
              <a:ext uri="{FF2B5EF4-FFF2-40B4-BE49-F238E27FC236}">
                <a16:creationId xmlns:a16="http://schemas.microsoft.com/office/drawing/2014/main" id="{F57E83D3-5DC7-CC40-8CEF-5A831CCB86B2}"/>
              </a:ext>
            </a:extLst>
          </p:cNvPr>
          <p:cNvSpPr>
            <a:spLocks noGrp="1"/>
          </p:cNvSpPr>
          <p:nvPr>
            <p:ph type="body" sz="quarter" idx="11" hasCustomPrompt="1"/>
          </p:nvPr>
        </p:nvSpPr>
        <p:spPr>
          <a:xfrm>
            <a:off x="280903" y="3133952"/>
            <a:ext cx="4483602" cy="1413986"/>
          </a:xfrm>
        </p:spPr>
        <p:txBody>
          <a:bodyPr>
            <a:normAutofit/>
          </a:bodyPr>
          <a:lstStyle>
            <a:lvl1pPr marL="0" indent="0">
              <a:buNone/>
              <a:defRPr sz="2000">
                <a:solidFill>
                  <a:schemeClr val="accent2"/>
                </a:solidFill>
              </a:defRPr>
            </a:lvl1pPr>
          </a:lstStyle>
          <a:p>
            <a:pPr lvl="0"/>
            <a:r>
              <a:rPr lang="en-US" dirty="0"/>
              <a:t>Sous-</a:t>
            </a:r>
            <a:r>
              <a:rPr lang="en-US" dirty="0" err="1"/>
              <a:t>titre</a:t>
            </a:r>
            <a:endParaRPr lang="en-US" dirty="0"/>
          </a:p>
        </p:txBody>
      </p:sp>
      <p:pic>
        <p:nvPicPr>
          <p:cNvPr id="10" name="Picture 9" descr="A close up of a sign&#10;&#10;Description automatically generated">
            <a:extLst>
              <a:ext uri="{FF2B5EF4-FFF2-40B4-BE49-F238E27FC236}">
                <a16:creationId xmlns:a16="http://schemas.microsoft.com/office/drawing/2014/main" id="{565FE128-B25A-2246-949C-DFF179096C9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84162" y="320940"/>
            <a:ext cx="1172105" cy="1172105"/>
          </a:xfrm>
          <a:prstGeom prst="rect">
            <a:avLst/>
          </a:prstGeom>
        </p:spPr>
      </p:pic>
    </p:spTree>
    <p:extLst>
      <p:ext uri="{BB962C8B-B14F-4D97-AF65-F5344CB8AC3E}">
        <p14:creationId xmlns:p14="http://schemas.microsoft.com/office/powerpoint/2010/main" val="32352046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2_Diapositive de titre">
    <p:spTree>
      <p:nvGrpSpPr>
        <p:cNvPr id="1" name=""/>
        <p:cNvGrpSpPr/>
        <p:nvPr/>
      </p:nvGrpSpPr>
      <p:grpSpPr>
        <a:xfrm>
          <a:off x="0" y="0"/>
          <a:ext cx="0" cy="0"/>
          <a:chOff x="0" y="0"/>
          <a:chExt cx="0" cy="0"/>
        </a:xfrm>
      </p:grpSpPr>
      <p:pic>
        <p:nvPicPr>
          <p:cNvPr id="4" name="Picture 3" descr="A tall building&#10;&#10;Description automatically generated">
            <a:extLst>
              <a:ext uri="{FF2B5EF4-FFF2-40B4-BE49-F238E27FC236}">
                <a16:creationId xmlns:a16="http://schemas.microsoft.com/office/drawing/2014/main" id="{E23B6219-8B08-854C-BCF1-0024EE9CF58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5" name="Title 1">
            <a:extLst>
              <a:ext uri="{FF2B5EF4-FFF2-40B4-BE49-F238E27FC236}">
                <a16:creationId xmlns:a16="http://schemas.microsoft.com/office/drawing/2014/main" id="{F39C312D-7B7E-DC4F-822B-B07C630DC7BB}"/>
              </a:ext>
            </a:extLst>
          </p:cNvPr>
          <p:cNvSpPr>
            <a:spLocks noGrp="1"/>
          </p:cNvSpPr>
          <p:nvPr>
            <p:ph type="title" hasCustomPrompt="1"/>
          </p:nvPr>
        </p:nvSpPr>
        <p:spPr>
          <a:xfrm>
            <a:off x="280902" y="1493045"/>
            <a:ext cx="4483601" cy="1690621"/>
          </a:xfrm>
        </p:spPr>
        <p:txBody>
          <a:bodyPr anchor="b" anchorCtr="0"/>
          <a:lstStyle>
            <a:lvl1pPr>
              <a:defRPr sz="4500">
                <a:solidFill>
                  <a:schemeClr val="bg1"/>
                </a:solidFill>
              </a:defRPr>
            </a:lvl1pPr>
          </a:lstStyle>
          <a:p>
            <a:r>
              <a:rPr lang="en-US" dirty="0" err="1"/>
              <a:t>Titre</a:t>
            </a:r>
            <a:endParaRPr lang="en-US" dirty="0"/>
          </a:p>
        </p:txBody>
      </p:sp>
      <p:sp>
        <p:nvSpPr>
          <p:cNvPr id="6" name="Text Placeholder 12">
            <a:extLst>
              <a:ext uri="{FF2B5EF4-FFF2-40B4-BE49-F238E27FC236}">
                <a16:creationId xmlns:a16="http://schemas.microsoft.com/office/drawing/2014/main" id="{F57E83D3-5DC7-CC40-8CEF-5A831CCB86B2}"/>
              </a:ext>
            </a:extLst>
          </p:cNvPr>
          <p:cNvSpPr>
            <a:spLocks noGrp="1"/>
          </p:cNvSpPr>
          <p:nvPr>
            <p:ph type="body" sz="quarter" idx="11" hasCustomPrompt="1"/>
          </p:nvPr>
        </p:nvSpPr>
        <p:spPr>
          <a:xfrm>
            <a:off x="280903" y="3133952"/>
            <a:ext cx="4483602" cy="1413986"/>
          </a:xfrm>
        </p:spPr>
        <p:txBody>
          <a:bodyPr>
            <a:normAutofit/>
          </a:bodyPr>
          <a:lstStyle>
            <a:lvl1pPr marL="0" indent="0">
              <a:buNone/>
              <a:defRPr sz="2000">
                <a:solidFill>
                  <a:schemeClr val="accent2"/>
                </a:solidFill>
              </a:defRPr>
            </a:lvl1pPr>
          </a:lstStyle>
          <a:p>
            <a:pPr lvl="0"/>
            <a:r>
              <a:rPr lang="en-US" dirty="0"/>
              <a:t>Sous-</a:t>
            </a:r>
            <a:r>
              <a:rPr lang="en-US" dirty="0" err="1"/>
              <a:t>titre</a:t>
            </a:r>
            <a:endParaRPr lang="en-US" dirty="0"/>
          </a:p>
        </p:txBody>
      </p:sp>
      <p:pic>
        <p:nvPicPr>
          <p:cNvPr id="10" name="Picture 9" descr="A close up of a sign&#10;&#10;Description automatically generated">
            <a:extLst>
              <a:ext uri="{FF2B5EF4-FFF2-40B4-BE49-F238E27FC236}">
                <a16:creationId xmlns:a16="http://schemas.microsoft.com/office/drawing/2014/main" id="{565FE128-B25A-2246-949C-DFF179096C9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84162" y="320940"/>
            <a:ext cx="1172105" cy="1172105"/>
          </a:xfrm>
          <a:prstGeom prst="rect">
            <a:avLst/>
          </a:prstGeom>
        </p:spPr>
      </p:pic>
    </p:spTree>
    <p:extLst>
      <p:ext uri="{BB962C8B-B14F-4D97-AF65-F5344CB8AC3E}">
        <p14:creationId xmlns:p14="http://schemas.microsoft.com/office/powerpoint/2010/main" val="9268993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pic>
        <p:nvPicPr>
          <p:cNvPr id="9" name="Picture 8" descr="A picture containing white&#10;&#10;Description automatically generated">
            <a:extLst>
              <a:ext uri="{FF2B5EF4-FFF2-40B4-BE49-F238E27FC236}">
                <a16:creationId xmlns:a16="http://schemas.microsoft.com/office/drawing/2014/main" id="{30395B53-D0A8-7E41-994E-AD13CC74F91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3" name="Espace réservé du contenu 2"/>
          <p:cNvSpPr>
            <a:spLocks noGrp="1"/>
          </p:cNvSpPr>
          <p:nvPr>
            <p:ph idx="1"/>
          </p:nvPr>
        </p:nvSpPr>
        <p:spPr>
          <a:xfrm>
            <a:off x="369382" y="1595057"/>
            <a:ext cx="8186400" cy="2869190"/>
          </a:xfrm>
        </p:spPr>
        <p:txBody>
          <a:body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CA" noProof="0"/>
          </a:p>
        </p:txBody>
      </p:sp>
      <p:sp>
        <p:nvSpPr>
          <p:cNvPr id="7" name="TextBox 6"/>
          <p:cNvSpPr txBox="1"/>
          <p:nvPr userDrawn="1"/>
        </p:nvSpPr>
        <p:spPr>
          <a:xfrm>
            <a:off x="346075" y="4289108"/>
            <a:ext cx="914400" cy="822960"/>
          </a:xfrm>
          <a:prstGeom prst="rect">
            <a:avLst/>
          </a:prstGeom>
        </p:spPr>
        <p:txBody>
          <a:bodyPr vert="horz" wrap="none" lIns="82296" tIns="41148" rIns="82296" bIns="41148" rtlCol="0">
            <a:normAutofit/>
          </a:bodyPr>
          <a:lstStyle/>
          <a:p>
            <a:pPr marL="139320" indent="-139320">
              <a:buClr>
                <a:schemeClr val="accent2"/>
              </a:buClr>
              <a:buSzPct val="125000"/>
              <a:buFont typeface="Arial" panose="020B0604020202020204" pitchFamily="34" charset="0"/>
              <a:buChar char="•"/>
            </a:pPr>
            <a:endParaRPr lang="fr-CA" sz="1503" noProof="0"/>
          </a:p>
        </p:txBody>
      </p:sp>
      <p:sp>
        <p:nvSpPr>
          <p:cNvPr id="11" name="Titre 1">
            <a:extLst>
              <a:ext uri="{FF2B5EF4-FFF2-40B4-BE49-F238E27FC236}">
                <a16:creationId xmlns:a16="http://schemas.microsoft.com/office/drawing/2014/main" id="{B80B1BCF-CD6C-E84F-90BB-05BEA3F2C6DC}"/>
              </a:ext>
            </a:extLst>
          </p:cNvPr>
          <p:cNvSpPr>
            <a:spLocks noGrp="1"/>
          </p:cNvSpPr>
          <p:nvPr>
            <p:ph type="title" hasCustomPrompt="1"/>
          </p:nvPr>
        </p:nvSpPr>
        <p:spPr>
          <a:xfrm>
            <a:off x="369382" y="226626"/>
            <a:ext cx="8186400" cy="740664"/>
          </a:xfrm>
        </p:spPr>
        <p:txBody>
          <a:bodyPr/>
          <a:lstStyle>
            <a:lvl1pPr>
              <a:defRPr sz="3000">
                <a:solidFill>
                  <a:srgbClr val="00B0F0"/>
                </a:solidFill>
              </a:defRPr>
            </a:lvl1pPr>
          </a:lstStyle>
          <a:p>
            <a:r>
              <a:rPr lang="fr-CA" noProof="0"/>
              <a:t>Click to </a:t>
            </a:r>
            <a:r>
              <a:rPr lang="fr-CA" noProof="0" err="1"/>
              <a:t>edit</a:t>
            </a:r>
            <a:r>
              <a:rPr lang="fr-CA" noProof="0"/>
              <a:t> </a:t>
            </a:r>
            <a:r>
              <a:rPr lang="fr-CA" noProof="0" err="1"/>
              <a:t>title</a:t>
            </a:r>
            <a:r>
              <a:rPr lang="fr-CA" noProof="0"/>
              <a:t> style</a:t>
            </a:r>
          </a:p>
        </p:txBody>
      </p:sp>
      <p:sp>
        <p:nvSpPr>
          <p:cNvPr id="16" name="Text Placeholder 14">
            <a:extLst>
              <a:ext uri="{FF2B5EF4-FFF2-40B4-BE49-F238E27FC236}">
                <a16:creationId xmlns:a16="http://schemas.microsoft.com/office/drawing/2014/main" id="{C464AAE5-5DAC-A240-98C4-F842ECA49723}"/>
              </a:ext>
            </a:extLst>
          </p:cNvPr>
          <p:cNvSpPr>
            <a:spLocks noGrp="1"/>
          </p:cNvSpPr>
          <p:nvPr>
            <p:ph type="body" sz="quarter" idx="10"/>
          </p:nvPr>
        </p:nvSpPr>
        <p:spPr>
          <a:xfrm>
            <a:off x="369382" y="854393"/>
            <a:ext cx="5243512" cy="432540"/>
          </a:xfrm>
        </p:spPr>
        <p:txBody>
          <a:bodyPr>
            <a:normAutofit/>
          </a:bodyPr>
          <a:lstStyle>
            <a:lvl1pPr>
              <a:defRPr sz="1600" b="1">
                <a:solidFill>
                  <a:srgbClr val="002060"/>
                </a:solidFill>
              </a:defRPr>
            </a:lvl1pPr>
          </a:lstStyle>
          <a:p>
            <a:pPr lvl="0"/>
            <a:r>
              <a:rPr lang="fr-FR"/>
              <a:t>Cliquez pour modifier les styles du texte du masque</a:t>
            </a:r>
          </a:p>
        </p:txBody>
      </p:sp>
    </p:spTree>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Page vide">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eux contenus">
    <p:spTree>
      <p:nvGrpSpPr>
        <p:cNvPr id="1" name=""/>
        <p:cNvGrpSpPr/>
        <p:nvPr/>
      </p:nvGrpSpPr>
      <p:grpSpPr>
        <a:xfrm>
          <a:off x="0" y="0"/>
          <a:ext cx="0" cy="0"/>
          <a:chOff x="0" y="0"/>
          <a:chExt cx="0" cy="0"/>
        </a:xfrm>
      </p:grpSpPr>
      <p:sp>
        <p:nvSpPr>
          <p:cNvPr id="3" name="Espace réservé du contenu 2"/>
          <p:cNvSpPr>
            <a:spLocks noGrp="1"/>
          </p:cNvSpPr>
          <p:nvPr>
            <p:ph sz="half" idx="1"/>
          </p:nvPr>
        </p:nvSpPr>
        <p:spPr>
          <a:xfrm>
            <a:off x="369382" y="1595057"/>
            <a:ext cx="4038600" cy="2923147"/>
          </a:xfrm>
        </p:spPr>
        <p:txBody>
          <a:bodyPr>
            <a:normAutofit/>
          </a:bodyPr>
          <a:lstStyle>
            <a:lvl1pPr>
              <a:defRPr sz="1503"/>
            </a:lvl1pPr>
            <a:lvl2pPr>
              <a:defRPr sz="1503"/>
            </a:lvl2pPr>
            <a:lvl3pPr>
              <a:defRPr sz="1503"/>
            </a:lvl3pPr>
            <a:lvl4pPr>
              <a:defRPr sz="1503"/>
            </a:lvl4pPr>
            <a:lvl5pPr>
              <a:defRPr sz="1503"/>
            </a:lvl5pPr>
            <a:lvl6pPr>
              <a:defRPr sz="1620"/>
            </a:lvl6pPr>
            <a:lvl7pPr>
              <a:defRPr sz="1620"/>
            </a:lvl7pPr>
            <a:lvl8pPr>
              <a:defRPr sz="1620"/>
            </a:lvl8pPr>
            <a:lvl9pPr>
              <a:defRPr sz="1620"/>
            </a:lvl9p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CA" noProof="0"/>
          </a:p>
        </p:txBody>
      </p:sp>
      <p:sp>
        <p:nvSpPr>
          <p:cNvPr id="4" name="Espace réservé du contenu 3"/>
          <p:cNvSpPr>
            <a:spLocks noGrp="1"/>
          </p:cNvSpPr>
          <p:nvPr>
            <p:ph sz="half" idx="2"/>
          </p:nvPr>
        </p:nvSpPr>
        <p:spPr>
          <a:xfrm>
            <a:off x="4560382" y="1595057"/>
            <a:ext cx="4038600" cy="2923147"/>
          </a:xfrm>
        </p:spPr>
        <p:txBody>
          <a:bodyPr>
            <a:normAutofit/>
          </a:bodyPr>
          <a:lstStyle>
            <a:lvl1pPr>
              <a:defRPr sz="1503"/>
            </a:lvl1pPr>
            <a:lvl2pPr>
              <a:defRPr sz="1503"/>
            </a:lvl2pPr>
            <a:lvl3pPr>
              <a:defRPr sz="1503"/>
            </a:lvl3pPr>
            <a:lvl4pPr>
              <a:defRPr sz="1503"/>
            </a:lvl4pPr>
            <a:lvl5pPr>
              <a:defRPr sz="1503"/>
            </a:lvl5pPr>
            <a:lvl6pPr>
              <a:defRPr sz="1620"/>
            </a:lvl6pPr>
            <a:lvl7pPr>
              <a:defRPr sz="1620"/>
            </a:lvl7pPr>
            <a:lvl8pPr>
              <a:defRPr sz="1620"/>
            </a:lvl8pPr>
            <a:lvl9pPr>
              <a:defRPr sz="1620"/>
            </a:lvl9p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CA" noProof="0"/>
          </a:p>
        </p:txBody>
      </p:sp>
      <p:sp>
        <p:nvSpPr>
          <p:cNvPr id="6" name="Titre 1">
            <a:extLst>
              <a:ext uri="{FF2B5EF4-FFF2-40B4-BE49-F238E27FC236}">
                <a16:creationId xmlns:a16="http://schemas.microsoft.com/office/drawing/2014/main" id="{5DC87F9A-0B14-5044-A85E-4048F6B5FFD3}"/>
              </a:ext>
            </a:extLst>
          </p:cNvPr>
          <p:cNvSpPr>
            <a:spLocks noGrp="1"/>
          </p:cNvSpPr>
          <p:nvPr>
            <p:ph type="title" hasCustomPrompt="1"/>
          </p:nvPr>
        </p:nvSpPr>
        <p:spPr>
          <a:xfrm>
            <a:off x="369382" y="226626"/>
            <a:ext cx="8186400" cy="740664"/>
          </a:xfrm>
        </p:spPr>
        <p:txBody>
          <a:bodyPr/>
          <a:lstStyle>
            <a:lvl1pPr>
              <a:defRPr sz="3000">
                <a:solidFill>
                  <a:srgbClr val="00B0F0"/>
                </a:solidFill>
              </a:defRPr>
            </a:lvl1pPr>
          </a:lstStyle>
          <a:p>
            <a:r>
              <a:rPr lang="fr-CA" noProof="0"/>
              <a:t>Click to </a:t>
            </a:r>
            <a:r>
              <a:rPr lang="fr-CA" noProof="0" err="1"/>
              <a:t>edit</a:t>
            </a:r>
            <a:r>
              <a:rPr lang="fr-CA" noProof="0"/>
              <a:t> </a:t>
            </a:r>
            <a:r>
              <a:rPr lang="fr-CA" noProof="0" err="1"/>
              <a:t>title</a:t>
            </a:r>
            <a:r>
              <a:rPr lang="fr-CA" noProof="0"/>
              <a:t> style</a:t>
            </a:r>
          </a:p>
        </p:txBody>
      </p:sp>
      <p:sp>
        <p:nvSpPr>
          <p:cNvPr id="7" name="Text Placeholder 14">
            <a:extLst>
              <a:ext uri="{FF2B5EF4-FFF2-40B4-BE49-F238E27FC236}">
                <a16:creationId xmlns:a16="http://schemas.microsoft.com/office/drawing/2014/main" id="{9EF46E6C-4B7F-3C48-9C35-05A210759582}"/>
              </a:ext>
            </a:extLst>
          </p:cNvPr>
          <p:cNvSpPr>
            <a:spLocks noGrp="1"/>
          </p:cNvSpPr>
          <p:nvPr>
            <p:ph type="body" sz="quarter" idx="10"/>
          </p:nvPr>
        </p:nvSpPr>
        <p:spPr>
          <a:xfrm>
            <a:off x="369382" y="854393"/>
            <a:ext cx="5243512" cy="432540"/>
          </a:xfrm>
        </p:spPr>
        <p:txBody>
          <a:bodyPr>
            <a:normAutofit/>
          </a:bodyPr>
          <a:lstStyle>
            <a:lvl1pPr>
              <a:defRPr sz="1600" b="1">
                <a:solidFill>
                  <a:srgbClr val="002060"/>
                </a:solidFill>
              </a:defRPr>
            </a:lvl1pPr>
          </a:lstStyle>
          <a:p>
            <a:pPr lvl="0"/>
            <a:r>
              <a:rPr lang="fr-FR"/>
              <a:t>Cliquez pour modifier les styles du texte du masque</a:t>
            </a:r>
          </a:p>
        </p:txBody>
      </p:sp>
    </p:spTree>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aison">
    <p:spTree>
      <p:nvGrpSpPr>
        <p:cNvPr id="1" name=""/>
        <p:cNvGrpSpPr/>
        <p:nvPr/>
      </p:nvGrpSpPr>
      <p:grpSpPr>
        <a:xfrm>
          <a:off x="0" y="0"/>
          <a:ext cx="0" cy="0"/>
          <a:chOff x="0" y="0"/>
          <a:chExt cx="0" cy="0"/>
        </a:xfrm>
      </p:grpSpPr>
      <p:sp>
        <p:nvSpPr>
          <p:cNvPr id="3" name="Espace réservé du texte 2"/>
          <p:cNvSpPr>
            <a:spLocks noGrp="1"/>
          </p:cNvSpPr>
          <p:nvPr>
            <p:ph type="body" idx="1"/>
          </p:nvPr>
        </p:nvSpPr>
        <p:spPr>
          <a:xfrm>
            <a:off x="369382" y="1595057"/>
            <a:ext cx="4040188" cy="479822"/>
          </a:xfrm>
        </p:spPr>
        <p:txBody>
          <a:bodyPr anchor="b">
            <a:noAutofit/>
          </a:bodyPr>
          <a:lstStyle>
            <a:lvl1pPr marL="0" indent="0">
              <a:buNone/>
              <a:defRPr sz="1350" b="1" cap="all" baseline="0"/>
            </a:lvl1pPr>
            <a:lvl2pPr marL="411480" indent="0">
              <a:buNone/>
              <a:defRPr sz="1800" b="1"/>
            </a:lvl2pPr>
            <a:lvl3pPr marL="822960" indent="0">
              <a:buNone/>
              <a:defRPr sz="1620" b="1"/>
            </a:lvl3pPr>
            <a:lvl4pPr marL="1234440" indent="0">
              <a:buNone/>
              <a:defRPr sz="1440" b="1"/>
            </a:lvl4pPr>
            <a:lvl5pPr marL="1645920" indent="0">
              <a:buNone/>
              <a:defRPr sz="1440" b="1"/>
            </a:lvl5pPr>
            <a:lvl6pPr marL="2057400" indent="0">
              <a:buNone/>
              <a:defRPr sz="1440" b="1"/>
            </a:lvl6pPr>
            <a:lvl7pPr marL="2468880" indent="0">
              <a:buNone/>
              <a:defRPr sz="1440" b="1"/>
            </a:lvl7pPr>
            <a:lvl8pPr marL="2880360" indent="0">
              <a:buNone/>
              <a:defRPr sz="1440" b="1"/>
            </a:lvl8pPr>
            <a:lvl9pPr marL="3291840" indent="0">
              <a:buNone/>
              <a:defRPr sz="1440" b="1"/>
            </a:lvl9pPr>
          </a:lstStyle>
          <a:p>
            <a:pPr lvl="0"/>
            <a:r>
              <a:rPr lang="fr-FR" noProof="0"/>
              <a:t>Cliquez pour modifier les styles du texte du masque</a:t>
            </a:r>
          </a:p>
        </p:txBody>
      </p:sp>
      <p:sp>
        <p:nvSpPr>
          <p:cNvPr id="4" name="Espace réservé du contenu 3"/>
          <p:cNvSpPr>
            <a:spLocks noGrp="1"/>
          </p:cNvSpPr>
          <p:nvPr>
            <p:ph sz="half" idx="2"/>
          </p:nvPr>
        </p:nvSpPr>
        <p:spPr>
          <a:xfrm>
            <a:off x="369382" y="2074879"/>
            <a:ext cx="4040188" cy="2449116"/>
          </a:xfrm>
        </p:spPr>
        <p:txBody>
          <a:bodyPr>
            <a:normAutofit/>
          </a:bodyPr>
          <a:lstStyle>
            <a:lvl1pPr>
              <a:defRPr sz="1503"/>
            </a:lvl1pPr>
            <a:lvl2pPr>
              <a:defRPr sz="1503"/>
            </a:lvl2pPr>
            <a:lvl3pPr>
              <a:defRPr sz="1503"/>
            </a:lvl3pPr>
            <a:lvl4pPr>
              <a:defRPr sz="1503"/>
            </a:lvl4pPr>
            <a:lvl5pPr>
              <a:defRPr sz="1503"/>
            </a:lvl5pPr>
            <a:lvl6pPr>
              <a:defRPr sz="1440"/>
            </a:lvl6pPr>
            <a:lvl7pPr>
              <a:defRPr sz="1440"/>
            </a:lvl7pPr>
            <a:lvl8pPr>
              <a:defRPr sz="1440"/>
            </a:lvl8pPr>
            <a:lvl9pPr>
              <a:defRPr sz="1440"/>
            </a:lvl9p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CA" noProof="0"/>
          </a:p>
        </p:txBody>
      </p:sp>
      <p:sp>
        <p:nvSpPr>
          <p:cNvPr id="5" name="Espace réservé du texte 4"/>
          <p:cNvSpPr>
            <a:spLocks noGrp="1"/>
          </p:cNvSpPr>
          <p:nvPr>
            <p:ph type="body" sz="quarter" idx="3"/>
          </p:nvPr>
        </p:nvSpPr>
        <p:spPr>
          <a:xfrm>
            <a:off x="4557209" y="1595057"/>
            <a:ext cx="4041775" cy="479822"/>
          </a:xfrm>
        </p:spPr>
        <p:txBody>
          <a:bodyPr anchor="b">
            <a:noAutofit/>
          </a:bodyPr>
          <a:lstStyle>
            <a:lvl1pPr marL="0" indent="0">
              <a:buNone/>
              <a:defRPr sz="1350" b="1" cap="all" baseline="0"/>
            </a:lvl1pPr>
            <a:lvl2pPr marL="411480" indent="0">
              <a:buNone/>
              <a:defRPr sz="1800" b="1"/>
            </a:lvl2pPr>
            <a:lvl3pPr marL="822960" indent="0">
              <a:buNone/>
              <a:defRPr sz="1620" b="1"/>
            </a:lvl3pPr>
            <a:lvl4pPr marL="1234440" indent="0">
              <a:buNone/>
              <a:defRPr sz="1440" b="1"/>
            </a:lvl4pPr>
            <a:lvl5pPr marL="1645920" indent="0">
              <a:buNone/>
              <a:defRPr sz="1440" b="1"/>
            </a:lvl5pPr>
            <a:lvl6pPr marL="2057400" indent="0">
              <a:buNone/>
              <a:defRPr sz="1440" b="1"/>
            </a:lvl6pPr>
            <a:lvl7pPr marL="2468880" indent="0">
              <a:buNone/>
              <a:defRPr sz="1440" b="1"/>
            </a:lvl7pPr>
            <a:lvl8pPr marL="2880360" indent="0">
              <a:buNone/>
              <a:defRPr sz="1440" b="1"/>
            </a:lvl8pPr>
            <a:lvl9pPr marL="3291840" indent="0">
              <a:buNone/>
              <a:defRPr sz="1440" b="1"/>
            </a:lvl9pPr>
          </a:lstStyle>
          <a:p>
            <a:pPr lvl="0"/>
            <a:r>
              <a:rPr lang="fr-FR" noProof="0"/>
              <a:t>Cliquez pour modifier les styles du texte du masque</a:t>
            </a:r>
          </a:p>
        </p:txBody>
      </p:sp>
      <p:sp>
        <p:nvSpPr>
          <p:cNvPr id="6" name="Espace réservé du contenu 5"/>
          <p:cNvSpPr>
            <a:spLocks noGrp="1"/>
          </p:cNvSpPr>
          <p:nvPr>
            <p:ph sz="quarter" idx="4"/>
          </p:nvPr>
        </p:nvSpPr>
        <p:spPr>
          <a:xfrm>
            <a:off x="4557209" y="2074879"/>
            <a:ext cx="4041775" cy="2449116"/>
          </a:xfrm>
        </p:spPr>
        <p:txBody>
          <a:bodyPr>
            <a:normAutofit/>
          </a:bodyPr>
          <a:lstStyle>
            <a:lvl1pPr>
              <a:defRPr sz="1503"/>
            </a:lvl1pPr>
            <a:lvl2pPr>
              <a:defRPr sz="1503"/>
            </a:lvl2pPr>
            <a:lvl3pPr>
              <a:defRPr sz="1503"/>
            </a:lvl3pPr>
            <a:lvl4pPr>
              <a:defRPr sz="1503"/>
            </a:lvl4pPr>
            <a:lvl5pPr>
              <a:defRPr sz="1503"/>
            </a:lvl5pPr>
            <a:lvl6pPr>
              <a:defRPr sz="1440"/>
            </a:lvl6pPr>
            <a:lvl7pPr>
              <a:defRPr sz="1440"/>
            </a:lvl7pPr>
            <a:lvl8pPr>
              <a:defRPr sz="1440"/>
            </a:lvl8pPr>
            <a:lvl9pPr>
              <a:defRPr sz="1440"/>
            </a:lvl9p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CA" noProof="0"/>
          </a:p>
        </p:txBody>
      </p:sp>
      <p:sp>
        <p:nvSpPr>
          <p:cNvPr id="8" name="Titre 1">
            <a:extLst>
              <a:ext uri="{FF2B5EF4-FFF2-40B4-BE49-F238E27FC236}">
                <a16:creationId xmlns:a16="http://schemas.microsoft.com/office/drawing/2014/main" id="{774571B3-8C99-AF4B-A06D-5BCDBDA55509}"/>
              </a:ext>
            </a:extLst>
          </p:cNvPr>
          <p:cNvSpPr>
            <a:spLocks noGrp="1"/>
          </p:cNvSpPr>
          <p:nvPr>
            <p:ph type="title" hasCustomPrompt="1"/>
          </p:nvPr>
        </p:nvSpPr>
        <p:spPr>
          <a:xfrm>
            <a:off x="369382" y="226626"/>
            <a:ext cx="8186400" cy="740664"/>
          </a:xfrm>
        </p:spPr>
        <p:txBody>
          <a:bodyPr/>
          <a:lstStyle>
            <a:lvl1pPr>
              <a:defRPr sz="3000">
                <a:solidFill>
                  <a:srgbClr val="00B0F0"/>
                </a:solidFill>
              </a:defRPr>
            </a:lvl1pPr>
          </a:lstStyle>
          <a:p>
            <a:r>
              <a:rPr lang="fr-CA" noProof="0"/>
              <a:t>Click to </a:t>
            </a:r>
            <a:r>
              <a:rPr lang="fr-CA" noProof="0" err="1"/>
              <a:t>edit</a:t>
            </a:r>
            <a:r>
              <a:rPr lang="fr-CA" noProof="0"/>
              <a:t> </a:t>
            </a:r>
            <a:r>
              <a:rPr lang="fr-CA" noProof="0" err="1"/>
              <a:t>title</a:t>
            </a:r>
            <a:r>
              <a:rPr lang="fr-CA" noProof="0"/>
              <a:t> style</a:t>
            </a:r>
          </a:p>
        </p:txBody>
      </p:sp>
      <p:sp>
        <p:nvSpPr>
          <p:cNvPr id="9" name="Text Placeholder 14">
            <a:extLst>
              <a:ext uri="{FF2B5EF4-FFF2-40B4-BE49-F238E27FC236}">
                <a16:creationId xmlns:a16="http://schemas.microsoft.com/office/drawing/2014/main" id="{6C4B472A-7EF1-4148-BA9C-E519EA28DFD7}"/>
              </a:ext>
            </a:extLst>
          </p:cNvPr>
          <p:cNvSpPr>
            <a:spLocks noGrp="1"/>
          </p:cNvSpPr>
          <p:nvPr>
            <p:ph type="body" sz="quarter" idx="10"/>
          </p:nvPr>
        </p:nvSpPr>
        <p:spPr>
          <a:xfrm>
            <a:off x="369382" y="854393"/>
            <a:ext cx="5243512" cy="432540"/>
          </a:xfrm>
        </p:spPr>
        <p:txBody>
          <a:bodyPr>
            <a:normAutofit/>
          </a:bodyPr>
          <a:lstStyle>
            <a:lvl1pPr>
              <a:defRPr sz="1600" b="1">
                <a:solidFill>
                  <a:srgbClr val="002060"/>
                </a:solidFill>
              </a:defRPr>
            </a:lvl1pPr>
          </a:lstStyle>
          <a:p>
            <a:pPr lvl="0"/>
            <a:r>
              <a:rPr lang="fr-FR"/>
              <a:t>Cliquez pour modifier les styles du texte du masque</a:t>
            </a:r>
          </a:p>
        </p:txBody>
      </p:sp>
    </p:spTree>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re seul">
    <p:spTree>
      <p:nvGrpSpPr>
        <p:cNvPr id="1" name=""/>
        <p:cNvGrpSpPr/>
        <p:nvPr/>
      </p:nvGrpSpPr>
      <p:grpSpPr>
        <a:xfrm>
          <a:off x="0" y="0"/>
          <a:ext cx="0" cy="0"/>
          <a:chOff x="0" y="0"/>
          <a:chExt cx="0" cy="0"/>
        </a:xfrm>
      </p:grpSpPr>
      <p:pic>
        <p:nvPicPr>
          <p:cNvPr id="3" name="Picture 2" descr="A picture containing sitting, computer, laptop, game&#10;&#10;Description automatically generated">
            <a:extLst>
              <a:ext uri="{FF2B5EF4-FFF2-40B4-BE49-F238E27FC236}">
                <a16:creationId xmlns:a16="http://schemas.microsoft.com/office/drawing/2014/main" id="{9D41478B-8AD6-D542-8657-FAEFBD0F236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5" name="Titre 1">
            <a:extLst>
              <a:ext uri="{FF2B5EF4-FFF2-40B4-BE49-F238E27FC236}">
                <a16:creationId xmlns:a16="http://schemas.microsoft.com/office/drawing/2014/main" id="{D53DE90F-EE13-BE4E-8537-0BF93F44AB3B}"/>
              </a:ext>
            </a:extLst>
          </p:cNvPr>
          <p:cNvSpPr>
            <a:spLocks noGrp="1"/>
          </p:cNvSpPr>
          <p:nvPr>
            <p:ph type="title" hasCustomPrompt="1"/>
          </p:nvPr>
        </p:nvSpPr>
        <p:spPr>
          <a:xfrm>
            <a:off x="369382" y="226626"/>
            <a:ext cx="8186400" cy="740664"/>
          </a:xfrm>
        </p:spPr>
        <p:txBody>
          <a:bodyPr/>
          <a:lstStyle>
            <a:lvl1pPr>
              <a:defRPr sz="3000">
                <a:solidFill>
                  <a:srgbClr val="00B0F0"/>
                </a:solidFill>
              </a:defRPr>
            </a:lvl1pPr>
          </a:lstStyle>
          <a:p>
            <a:r>
              <a:rPr lang="fr-CA" noProof="0"/>
              <a:t>Click to </a:t>
            </a:r>
            <a:r>
              <a:rPr lang="fr-CA" noProof="0" err="1"/>
              <a:t>edit</a:t>
            </a:r>
            <a:r>
              <a:rPr lang="fr-CA" noProof="0"/>
              <a:t> </a:t>
            </a:r>
            <a:r>
              <a:rPr lang="fr-CA" noProof="0" err="1"/>
              <a:t>title</a:t>
            </a:r>
            <a:r>
              <a:rPr lang="fr-CA" noProof="0"/>
              <a:t> style</a:t>
            </a:r>
          </a:p>
        </p:txBody>
      </p:sp>
      <p:sp>
        <p:nvSpPr>
          <p:cNvPr id="6" name="Text Placeholder 14">
            <a:extLst>
              <a:ext uri="{FF2B5EF4-FFF2-40B4-BE49-F238E27FC236}">
                <a16:creationId xmlns:a16="http://schemas.microsoft.com/office/drawing/2014/main" id="{453A668A-512D-B24E-A0FF-F58D1ABCA061}"/>
              </a:ext>
            </a:extLst>
          </p:cNvPr>
          <p:cNvSpPr>
            <a:spLocks noGrp="1"/>
          </p:cNvSpPr>
          <p:nvPr>
            <p:ph type="body" sz="quarter" idx="10"/>
          </p:nvPr>
        </p:nvSpPr>
        <p:spPr>
          <a:xfrm>
            <a:off x="369382" y="854393"/>
            <a:ext cx="5243512" cy="432540"/>
          </a:xfrm>
        </p:spPr>
        <p:txBody>
          <a:bodyPr>
            <a:normAutofit/>
          </a:bodyPr>
          <a:lstStyle>
            <a:lvl1pPr>
              <a:defRPr sz="1600" b="1">
                <a:solidFill>
                  <a:srgbClr val="002060"/>
                </a:solidFill>
              </a:defRPr>
            </a:lvl1pPr>
          </a:lstStyle>
          <a:p>
            <a:pPr lvl="0"/>
            <a:r>
              <a:rPr lang="fr-FR"/>
              <a:t>Cliquez pour modifier les styles du texte du masque</a:t>
            </a:r>
          </a:p>
        </p:txBody>
      </p:sp>
    </p:spTree>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u avec légende">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3450982" y="1595057"/>
            <a:ext cx="5097600" cy="2935148"/>
          </a:xfrm>
        </p:spPr>
        <p:txBody>
          <a:bodyPr>
            <a:normAutofit/>
          </a:bodyPr>
          <a:lstStyle>
            <a:lvl1pPr>
              <a:defRPr sz="1503"/>
            </a:lvl1pPr>
            <a:lvl2pPr>
              <a:defRPr sz="1503"/>
            </a:lvl2pPr>
            <a:lvl3pPr>
              <a:defRPr sz="1503"/>
            </a:lvl3pPr>
            <a:lvl4pPr>
              <a:defRPr sz="1503"/>
            </a:lvl4pPr>
            <a:lvl5pPr>
              <a:defRPr sz="1503"/>
            </a:lvl5pPr>
            <a:lvl6pPr>
              <a:defRPr sz="1800"/>
            </a:lvl6pPr>
            <a:lvl7pPr>
              <a:defRPr sz="1800"/>
            </a:lvl7pPr>
            <a:lvl8pPr>
              <a:defRPr sz="1800"/>
            </a:lvl8pPr>
            <a:lvl9pPr>
              <a:defRPr sz="1800"/>
            </a:lvl9p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CA" noProof="0"/>
          </a:p>
        </p:txBody>
      </p:sp>
      <p:sp>
        <p:nvSpPr>
          <p:cNvPr id="4" name="Espace réservé du texte 3"/>
          <p:cNvSpPr>
            <a:spLocks noGrp="1"/>
          </p:cNvSpPr>
          <p:nvPr>
            <p:ph type="body" sz="half" idx="2"/>
          </p:nvPr>
        </p:nvSpPr>
        <p:spPr>
          <a:xfrm>
            <a:off x="369382" y="1595057"/>
            <a:ext cx="2988000" cy="2935148"/>
          </a:xfrm>
        </p:spPr>
        <p:txBody>
          <a:bodyPr>
            <a:normAutofit/>
          </a:bodyPr>
          <a:lstStyle>
            <a:lvl1pPr marL="0" indent="0">
              <a:buNone/>
              <a:defRPr sz="1350" b="1" cap="all" baseline="0"/>
            </a:lvl1pPr>
            <a:lvl2pPr marL="411480" indent="0">
              <a:buNone/>
              <a:defRPr sz="1080"/>
            </a:lvl2pPr>
            <a:lvl3pPr marL="822960" indent="0">
              <a:buNone/>
              <a:defRPr sz="900"/>
            </a:lvl3pPr>
            <a:lvl4pPr marL="1234440" indent="0">
              <a:buNone/>
              <a:defRPr sz="810"/>
            </a:lvl4pPr>
            <a:lvl5pPr marL="1645920" indent="0">
              <a:buNone/>
              <a:defRPr sz="810"/>
            </a:lvl5pPr>
            <a:lvl6pPr marL="2057400" indent="0">
              <a:buNone/>
              <a:defRPr sz="810"/>
            </a:lvl6pPr>
            <a:lvl7pPr marL="2468880" indent="0">
              <a:buNone/>
              <a:defRPr sz="810"/>
            </a:lvl7pPr>
            <a:lvl8pPr marL="2880360" indent="0">
              <a:buNone/>
              <a:defRPr sz="810"/>
            </a:lvl8pPr>
            <a:lvl9pPr marL="3291840" indent="0">
              <a:buNone/>
              <a:defRPr sz="810"/>
            </a:lvl9pPr>
          </a:lstStyle>
          <a:p>
            <a:pPr lvl="0"/>
            <a:r>
              <a:rPr lang="fr-FR" noProof="0"/>
              <a:t>Cliquez pour modifier les styles du texte du masque</a:t>
            </a:r>
          </a:p>
        </p:txBody>
      </p:sp>
      <p:sp>
        <p:nvSpPr>
          <p:cNvPr id="7" name="Titre 1">
            <a:extLst>
              <a:ext uri="{FF2B5EF4-FFF2-40B4-BE49-F238E27FC236}">
                <a16:creationId xmlns:a16="http://schemas.microsoft.com/office/drawing/2014/main" id="{58858A58-66D0-B848-B566-D94130F68089}"/>
              </a:ext>
            </a:extLst>
          </p:cNvPr>
          <p:cNvSpPr>
            <a:spLocks noGrp="1"/>
          </p:cNvSpPr>
          <p:nvPr>
            <p:ph type="title" hasCustomPrompt="1"/>
          </p:nvPr>
        </p:nvSpPr>
        <p:spPr>
          <a:xfrm>
            <a:off x="369382" y="226626"/>
            <a:ext cx="8186400" cy="740664"/>
          </a:xfrm>
        </p:spPr>
        <p:txBody>
          <a:bodyPr/>
          <a:lstStyle>
            <a:lvl1pPr>
              <a:defRPr sz="3000">
                <a:solidFill>
                  <a:srgbClr val="00B0F0"/>
                </a:solidFill>
              </a:defRPr>
            </a:lvl1pPr>
          </a:lstStyle>
          <a:p>
            <a:r>
              <a:rPr lang="fr-CA" noProof="0"/>
              <a:t>Click to </a:t>
            </a:r>
            <a:r>
              <a:rPr lang="fr-CA" noProof="0" err="1"/>
              <a:t>edit</a:t>
            </a:r>
            <a:r>
              <a:rPr lang="fr-CA" noProof="0"/>
              <a:t> </a:t>
            </a:r>
            <a:r>
              <a:rPr lang="fr-CA" noProof="0" err="1"/>
              <a:t>title</a:t>
            </a:r>
            <a:r>
              <a:rPr lang="fr-CA" noProof="0"/>
              <a:t> style</a:t>
            </a:r>
          </a:p>
        </p:txBody>
      </p:sp>
      <p:sp>
        <p:nvSpPr>
          <p:cNvPr id="8" name="Text Placeholder 14">
            <a:extLst>
              <a:ext uri="{FF2B5EF4-FFF2-40B4-BE49-F238E27FC236}">
                <a16:creationId xmlns:a16="http://schemas.microsoft.com/office/drawing/2014/main" id="{4F34D983-8FC4-6B4C-A271-28E076618E57}"/>
              </a:ext>
            </a:extLst>
          </p:cNvPr>
          <p:cNvSpPr>
            <a:spLocks noGrp="1"/>
          </p:cNvSpPr>
          <p:nvPr>
            <p:ph type="body" sz="quarter" idx="10"/>
          </p:nvPr>
        </p:nvSpPr>
        <p:spPr>
          <a:xfrm>
            <a:off x="369382" y="854393"/>
            <a:ext cx="5243512" cy="432540"/>
          </a:xfrm>
        </p:spPr>
        <p:txBody>
          <a:bodyPr>
            <a:normAutofit/>
          </a:bodyPr>
          <a:lstStyle>
            <a:lvl1pPr>
              <a:defRPr sz="1600" b="1">
                <a:solidFill>
                  <a:srgbClr val="002060"/>
                </a:solidFill>
              </a:defRPr>
            </a:lvl1pPr>
          </a:lstStyle>
          <a:p>
            <a:pPr lvl="0"/>
            <a:r>
              <a:rPr lang="fr-FR"/>
              <a:t>Cliquez pour modifier les styles du texte du masque</a:t>
            </a:r>
          </a:p>
        </p:txBody>
      </p:sp>
    </p:spTree>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mage avec sous-titre">
    <p:spTree>
      <p:nvGrpSpPr>
        <p:cNvPr id="1" name=""/>
        <p:cNvGrpSpPr/>
        <p:nvPr/>
      </p:nvGrpSpPr>
      <p:grpSpPr>
        <a:xfrm>
          <a:off x="0" y="0"/>
          <a:ext cx="0" cy="0"/>
          <a:chOff x="0" y="0"/>
          <a:chExt cx="0" cy="0"/>
        </a:xfrm>
      </p:grpSpPr>
      <p:sp>
        <p:nvSpPr>
          <p:cNvPr id="3" name="Espace réservé pour une image  2"/>
          <p:cNvSpPr>
            <a:spLocks noGrp="1"/>
          </p:cNvSpPr>
          <p:nvPr>
            <p:ph type="pic" idx="1"/>
          </p:nvPr>
        </p:nvSpPr>
        <p:spPr>
          <a:xfrm>
            <a:off x="369382" y="2093887"/>
            <a:ext cx="8179200" cy="2430538"/>
          </a:xfrm>
        </p:spPr>
        <p:txBody>
          <a:bodyPr>
            <a:normAutofit/>
          </a:bodyPr>
          <a:lstStyle>
            <a:lvl1pPr marL="0" indent="0">
              <a:buNone/>
              <a:defRPr sz="1503"/>
            </a:lvl1pPr>
            <a:lvl2pPr marL="411480" indent="0">
              <a:buNone/>
              <a:defRPr sz="2520"/>
            </a:lvl2pPr>
            <a:lvl3pPr marL="822960" indent="0">
              <a:buNone/>
              <a:defRPr sz="2160"/>
            </a:lvl3pPr>
            <a:lvl4pPr marL="1234440" indent="0">
              <a:buNone/>
              <a:defRPr sz="1800"/>
            </a:lvl4pPr>
            <a:lvl5pPr marL="1645920" indent="0">
              <a:buNone/>
              <a:defRPr sz="1800"/>
            </a:lvl5pPr>
            <a:lvl6pPr marL="2057400" indent="0">
              <a:buNone/>
              <a:defRPr sz="1800"/>
            </a:lvl6pPr>
            <a:lvl7pPr marL="2468880" indent="0">
              <a:buNone/>
              <a:defRPr sz="1800"/>
            </a:lvl7pPr>
            <a:lvl8pPr marL="2880360" indent="0">
              <a:buNone/>
              <a:defRPr sz="1800"/>
            </a:lvl8pPr>
            <a:lvl9pPr marL="3291840" indent="0">
              <a:buNone/>
              <a:defRPr sz="1800"/>
            </a:lvl9pPr>
          </a:lstStyle>
          <a:p>
            <a:r>
              <a:rPr lang="fr-FR" noProof="0"/>
              <a:t>Cliquez sur l'icône pour ajouter une image</a:t>
            </a:r>
            <a:endParaRPr lang="fr-CA" noProof="0"/>
          </a:p>
        </p:txBody>
      </p:sp>
      <p:sp>
        <p:nvSpPr>
          <p:cNvPr id="4" name="Espace réservé du texte 3"/>
          <p:cNvSpPr>
            <a:spLocks noGrp="1"/>
          </p:cNvSpPr>
          <p:nvPr>
            <p:ph type="body" sz="half" idx="2"/>
          </p:nvPr>
        </p:nvSpPr>
        <p:spPr>
          <a:xfrm>
            <a:off x="369382" y="1601407"/>
            <a:ext cx="8179200" cy="469800"/>
          </a:xfrm>
        </p:spPr>
        <p:txBody>
          <a:bodyPr>
            <a:normAutofit/>
          </a:bodyPr>
          <a:lstStyle>
            <a:lvl1pPr marL="0" indent="0">
              <a:buNone/>
              <a:defRPr sz="1350" b="1" cap="all" baseline="0"/>
            </a:lvl1pPr>
            <a:lvl2pPr marL="411480" indent="0">
              <a:buNone/>
              <a:defRPr sz="1080"/>
            </a:lvl2pPr>
            <a:lvl3pPr marL="822960" indent="0">
              <a:buNone/>
              <a:defRPr sz="900"/>
            </a:lvl3pPr>
            <a:lvl4pPr marL="1234440" indent="0">
              <a:buNone/>
              <a:defRPr sz="810"/>
            </a:lvl4pPr>
            <a:lvl5pPr marL="1645920" indent="0">
              <a:buNone/>
              <a:defRPr sz="810"/>
            </a:lvl5pPr>
            <a:lvl6pPr marL="2057400" indent="0">
              <a:buNone/>
              <a:defRPr sz="810"/>
            </a:lvl6pPr>
            <a:lvl7pPr marL="2468880" indent="0">
              <a:buNone/>
              <a:defRPr sz="810"/>
            </a:lvl7pPr>
            <a:lvl8pPr marL="2880360" indent="0">
              <a:buNone/>
              <a:defRPr sz="810"/>
            </a:lvl8pPr>
            <a:lvl9pPr marL="3291840" indent="0">
              <a:buNone/>
              <a:defRPr sz="810"/>
            </a:lvl9pPr>
          </a:lstStyle>
          <a:p>
            <a:pPr lvl="0"/>
            <a:r>
              <a:rPr lang="fr-FR" noProof="0"/>
              <a:t>Cliquez pour modifier les styles du texte du masque</a:t>
            </a:r>
          </a:p>
        </p:txBody>
      </p:sp>
      <p:sp>
        <p:nvSpPr>
          <p:cNvPr id="6" name="Titre 1">
            <a:extLst>
              <a:ext uri="{FF2B5EF4-FFF2-40B4-BE49-F238E27FC236}">
                <a16:creationId xmlns:a16="http://schemas.microsoft.com/office/drawing/2014/main" id="{31F822D9-3DEC-3047-80E7-91FEF03ADEEA}"/>
              </a:ext>
            </a:extLst>
          </p:cNvPr>
          <p:cNvSpPr>
            <a:spLocks noGrp="1"/>
          </p:cNvSpPr>
          <p:nvPr>
            <p:ph type="title" hasCustomPrompt="1"/>
          </p:nvPr>
        </p:nvSpPr>
        <p:spPr>
          <a:xfrm>
            <a:off x="369382" y="226626"/>
            <a:ext cx="8186400" cy="740664"/>
          </a:xfrm>
        </p:spPr>
        <p:txBody>
          <a:bodyPr/>
          <a:lstStyle>
            <a:lvl1pPr>
              <a:defRPr sz="3000">
                <a:solidFill>
                  <a:srgbClr val="00B0F0"/>
                </a:solidFill>
              </a:defRPr>
            </a:lvl1pPr>
          </a:lstStyle>
          <a:p>
            <a:r>
              <a:rPr lang="fr-CA" noProof="0"/>
              <a:t>Click to </a:t>
            </a:r>
            <a:r>
              <a:rPr lang="fr-CA" noProof="0" err="1"/>
              <a:t>edit</a:t>
            </a:r>
            <a:r>
              <a:rPr lang="fr-CA" noProof="0"/>
              <a:t> </a:t>
            </a:r>
            <a:r>
              <a:rPr lang="fr-CA" noProof="0" err="1"/>
              <a:t>title</a:t>
            </a:r>
            <a:r>
              <a:rPr lang="fr-CA" noProof="0"/>
              <a:t> style</a:t>
            </a:r>
          </a:p>
        </p:txBody>
      </p:sp>
      <p:sp>
        <p:nvSpPr>
          <p:cNvPr id="7" name="Text Placeholder 14">
            <a:extLst>
              <a:ext uri="{FF2B5EF4-FFF2-40B4-BE49-F238E27FC236}">
                <a16:creationId xmlns:a16="http://schemas.microsoft.com/office/drawing/2014/main" id="{012413CD-0402-DF4B-B461-41211EB387C5}"/>
              </a:ext>
            </a:extLst>
          </p:cNvPr>
          <p:cNvSpPr>
            <a:spLocks noGrp="1"/>
          </p:cNvSpPr>
          <p:nvPr>
            <p:ph type="body" sz="quarter" idx="10"/>
          </p:nvPr>
        </p:nvSpPr>
        <p:spPr>
          <a:xfrm>
            <a:off x="369382" y="854393"/>
            <a:ext cx="5243512" cy="432540"/>
          </a:xfrm>
        </p:spPr>
        <p:txBody>
          <a:bodyPr>
            <a:normAutofit/>
          </a:bodyPr>
          <a:lstStyle>
            <a:lvl1pPr>
              <a:defRPr sz="1600" b="1">
                <a:solidFill>
                  <a:srgbClr val="002060"/>
                </a:solidFill>
              </a:defRPr>
            </a:lvl1pPr>
          </a:lstStyle>
          <a:p>
            <a:pPr lvl="0"/>
            <a:r>
              <a:rPr lang="fr-FR"/>
              <a:t>Cliquez pour modifier les styles du texte du masque</a:t>
            </a:r>
          </a:p>
        </p:txBody>
      </p:sp>
    </p:spTree>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tion 1">
    <p:spTree>
      <p:nvGrpSpPr>
        <p:cNvPr id="1" name=""/>
        <p:cNvGrpSpPr/>
        <p:nvPr/>
      </p:nvGrpSpPr>
      <p:grpSpPr>
        <a:xfrm>
          <a:off x="0" y="0"/>
          <a:ext cx="0" cy="0"/>
          <a:chOff x="0" y="0"/>
          <a:chExt cx="0" cy="0"/>
        </a:xfrm>
      </p:grpSpPr>
      <p:sp>
        <p:nvSpPr>
          <p:cNvPr id="7" name="Espace réservé du contenu 2">
            <a:extLst>
              <a:ext uri="{FF2B5EF4-FFF2-40B4-BE49-F238E27FC236}">
                <a16:creationId xmlns:a16="http://schemas.microsoft.com/office/drawing/2014/main" id="{A4852420-8753-0547-A124-EA1822DD273F}"/>
              </a:ext>
            </a:extLst>
          </p:cNvPr>
          <p:cNvSpPr>
            <a:spLocks noGrp="1"/>
          </p:cNvSpPr>
          <p:nvPr>
            <p:ph idx="1"/>
          </p:nvPr>
        </p:nvSpPr>
        <p:spPr>
          <a:xfrm>
            <a:off x="369382" y="1595057"/>
            <a:ext cx="8186400" cy="2869190"/>
          </a:xfrm>
        </p:spPr>
        <p:txBody>
          <a:body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CA" noProof="0"/>
          </a:p>
        </p:txBody>
      </p:sp>
      <p:sp>
        <p:nvSpPr>
          <p:cNvPr id="8" name="Titre 1">
            <a:extLst>
              <a:ext uri="{FF2B5EF4-FFF2-40B4-BE49-F238E27FC236}">
                <a16:creationId xmlns:a16="http://schemas.microsoft.com/office/drawing/2014/main" id="{1A0E864F-8F4A-CC42-8321-8A205C5B033B}"/>
              </a:ext>
            </a:extLst>
          </p:cNvPr>
          <p:cNvSpPr>
            <a:spLocks noGrp="1"/>
          </p:cNvSpPr>
          <p:nvPr>
            <p:ph type="title" hasCustomPrompt="1"/>
          </p:nvPr>
        </p:nvSpPr>
        <p:spPr>
          <a:xfrm>
            <a:off x="369382" y="226626"/>
            <a:ext cx="8186400" cy="740664"/>
          </a:xfrm>
        </p:spPr>
        <p:txBody>
          <a:bodyPr/>
          <a:lstStyle>
            <a:lvl1pPr>
              <a:defRPr sz="3000">
                <a:solidFill>
                  <a:srgbClr val="00B0F0"/>
                </a:solidFill>
              </a:defRPr>
            </a:lvl1pPr>
          </a:lstStyle>
          <a:p>
            <a:r>
              <a:rPr lang="fr-CA" noProof="0"/>
              <a:t>Click to </a:t>
            </a:r>
            <a:r>
              <a:rPr lang="fr-CA" noProof="0" err="1"/>
              <a:t>edit</a:t>
            </a:r>
            <a:r>
              <a:rPr lang="fr-CA" noProof="0"/>
              <a:t> </a:t>
            </a:r>
            <a:r>
              <a:rPr lang="fr-CA" noProof="0" err="1"/>
              <a:t>title</a:t>
            </a:r>
            <a:r>
              <a:rPr lang="fr-CA" noProof="0"/>
              <a:t> style</a:t>
            </a:r>
          </a:p>
        </p:txBody>
      </p:sp>
      <p:sp>
        <p:nvSpPr>
          <p:cNvPr id="9" name="Text Placeholder 14">
            <a:extLst>
              <a:ext uri="{FF2B5EF4-FFF2-40B4-BE49-F238E27FC236}">
                <a16:creationId xmlns:a16="http://schemas.microsoft.com/office/drawing/2014/main" id="{0D22B6CC-C7ED-5745-BD28-3822207DE776}"/>
              </a:ext>
            </a:extLst>
          </p:cNvPr>
          <p:cNvSpPr>
            <a:spLocks noGrp="1"/>
          </p:cNvSpPr>
          <p:nvPr>
            <p:ph type="body" sz="quarter" idx="10"/>
          </p:nvPr>
        </p:nvSpPr>
        <p:spPr>
          <a:xfrm>
            <a:off x="369382" y="854393"/>
            <a:ext cx="5243512" cy="432540"/>
          </a:xfrm>
        </p:spPr>
        <p:txBody>
          <a:bodyPr>
            <a:normAutofit/>
          </a:bodyPr>
          <a:lstStyle>
            <a:lvl1pPr>
              <a:defRPr sz="1600" b="1">
                <a:solidFill>
                  <a:srgbClr val="002060"/>
                </a:solidFill>
              </a:defRPr>
            </a:lvl1pPr>
          </a:lstStyle>
          <a:p>
            <a:pPr lvl="0"/>
            <a:r>
              <a:rPr lang="fr-FR"/>
              <a:t>Cliquez pour modifier les styles du texte du masque</a:t>
            </a:r>
          </a:p>
        </p:txBody>
      </p:sp>
    </p:spTree>
    <p:extLst>
      <p:ext uri="{BB962C8B-B14F-4D97-AF65-F5344CB8AC3E}">
        <p14:creationId xmlns:p14="http://schemas.microsoft.com/office/powerpoint/2010/main" val="16744184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2">
    <p:spTree>
      <p:nvGrpSpPr>
        <p:cNvPr id="1" name=""/>
        <p:cNvGrpSpPr/>
        <p:nvPr/>
      </p:nvGrpSpPr>
      <p:grpSpPr>
        <a:xfrm>
          <a:off x="0" y="0"/>
          <a:ext cx="0" cy="0"/>
          <a:chOff x="0" y="0"/>
          <a:chExt cx="0" cy="0"/>
        </a:xfrm>
      </p:grpSpPr>
      <p:sp>
        <p:nvSpPr>
          <p:cNvPr id="6" name="Titre 1">
            <a:extLst>
              <a:ext uri="{FF2B5EF4-FFF2-40B4-BE49-F238E27FC236}">
                <a16:creationId xmlns:a16="http://schemas.microsoft.com/office/drawing/2014/main" id="{1AD97A31-589D-5648-AA82-BCBA4A39247D}"/>
              </a:ext>
            </a:extLst>
          </p:cNvPr>
          <p:cNvSpPr>
            <a:spLocks noGrp="1"/>
          </p:cNvSpPr>
          <p:nvPr>
            <p:ph type="title" hasCustomPrompt="1"/>
          </p:nvPr>
        </p:nvSpPr>
        <p:spPr>
          <a:xfrm>
            <a:off x="369382" y="226626"/>
            <a:ext cx="8186400" cy="740664"/>
          </a:xfrm>
        </p:spPr>
        <p:txBody>
          <a:bodyPr/>
          <a:lstStyle>
            <a:lvl1pPr>
              <a:defRPr sz="3000">
                <a:solidFill>
                  <a:srgbClr val="00B0F0"/>
                </a:solidFill>
              </a:defRPr>
            </a:lvl1pPr>
          </a:lstStyle>
          <a:p>
            <a:r>
              <a:rPr lang="fr-CA" noProof="0"/>
              <a:t>Click to </a:t>
            </a:r>
            <a:r>
              <a:rPr lang="fr-CA" noProof="0" err="1"/>
              <a:t>edit</a:t>
            </a:r>
            <a:r>
              <a:rPr lang="fr-CA" noProof="0"/>
              <a:t> </a:t>
            </a:r>
            <a:r>
              <a:rPr lang="fr-CA" noProof="0" err="1"/>
              <a:t>title</a:t>
            </a:r>
            <a:r>
              <a:rPr lang="fr-CA" noProof="0"/>
              <a:t> style</a:t>
            </a:r>
          </a:p>
        </p:txBody>
      </p:sp>
      <p:sp>
        <p:nvSpPr>
          <p:cNvPr id="8" name="Text Placeholder 14">
            <a:extLst>
              <a:ext uri="{FF2B5EF4-FFF2-40B4-BE49-F238E27FC236}">
                <a16:creationId xmlns:a16="http://schemas.microsoft.com/office/drawing/2014/main" id="{2CC07A2E-488D-9643-9E9E-69C3CB294B7B}"/>
              </a:ext>
            </a:extLst>
          </p:cNvPr>
          <p:cNvSpPr>
            <a:spLocks noGrp="1"/>
          </p:cNvSpPr>
          <p:nvPr>
            <p:ph type="body" sz="quarter" idx="10"/>
          </p:nvPr>
        </p:nvSpPr>
        <p:spPr>
          <a:xfrm>
            <a:off x="369382" y="854393"/>
            <a:ext cx="5243512" cy="432540"/>
          </a:xfrm>
        </p:spPr>
        <p:txBody>
          <a:bodyPr>
            <a:normAutofit/>
          </a:bodyPr>
          <a:lstStyle>
            <a:lvl1pPr>
              <a:defRPr sz="1600" b="1">
                <a:solidFill>
                  <a:srgbClr val="002060"/>
                </a:solidFill>
              </a:defRPr>
            </a:lvl1pPr>
          </a:lstStyle>
          <a:p>
            <a:pPr lvl="0"/>
            <a:r>
              <a:rPr lang="fr-FR"/>
              <a:t>Cliquez pour modifier les styles du texte du masque</a:t>
            </a:r>
          </a:p>
        </p:txBody>
      </p:sp>
    </p:spTree>
    <p:extLst>
      <p:ext uri="{BB962C8B-B14F-4D97-AF65-F5344CB8AC3E}">
        <p14:creationId xmlns:p14="http://schemas.microsoft.com/office/powerpoint/2010/main" val="20307613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Deux contenus">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113235" y="2000250"/>
            <a:ext cx="3671291" cy="2343151"/>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4955975" y="2000250"/>
            <a:ext cx="3671292" cy="2343150"/>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Tree>
    <p:extLst>
      <p:ext uri="{BB962C8B-B14F-4D97-AF65-F5344CB8AC3E}">
        <p14:creationId xmlns:p14="http://schemas.microsoft.com/office/powerpoint/2010/main" val="17438641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cSld name="1_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nchor="ctr"/>
          <a:lstStyle>
            <a:lvl2pPr>
              <a:buClr>
                <a:schemeClr val="tx1"/>
              </a:buClr>
              <a:defRPr/>
            </a:lvl2pPr>
            <a:lvl3pPr>
              <a:buClr>
                <a:schemeClr val="tx1"/>
              </a:buClr>
              <a:defRPr/>
            </a:lvl3pPr>
            <a:lvl4pPr>
              <a:buClr>
                <a:schemeClr val="tx1"/>
              </a:buClr>
              <a:defRPr/>
            </a:lvl4pPr>
            <a:lvl5pPr>
              <a:buClr>
                <a:schemeClr val="tx1"/>
              </a:buClr>
              <a:defRPr/>
            </a:lvl5pPr>
          </a:lstStyle>
          <a:p>
            <a:pPr lvl="0"/>
            <a:r>
              <a:rPr lang="fr-FR" dirty="0"/>
              <a:t>Modifiez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Tree>
    <p:extLst>
      <p:ext uri="{BB962C8B-B14F-4D97-AF65-F5344CB8AC3E}">
        <p14:creationId xmlns:p14="http://schemas.microsoft.com/office/powerpoint/2010/main" val="12718343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1929210" y="2000249"/>
            <a:ext cx="6698060" cy="1582787"/>
          </a:xfrm>
        </p:spPr>
        <p:txBody>
          <a:bodyPr anchor="b"/>
          <a:lstStyle>
            <a:lvl1pPr algn="r">
              <a:defRPr sz="3000" b="0" cap="none"/>
            </a:lvl1pPr>
          </a:lstStyle>
          <a:p>
            <a:r>
              <a:rPr lang="fr-FR"/>
              <a:t>Modifiez le style du titre</a:t>
            </a:r>
            <a:endParaRPr lang="en-US" dirty="0"/>
          </a:p>
        </p:txBody>
      </p:sp>
      <p:sp>
        <p:nvSpPr>
          <p:cNvPr id="3" name="Text Placeholder 2"/>
          <p:cNvSpPr>
            <a:spLocks noGrp="1"/>
          </p:cNvSpPr>
          <p:nvPr>
            <p:ph type="body" idx="1"/>
          </p:nvPr>
        </p:nvSpPr>
        <p:spPr>
          <a:xfrm>
            <a:off x="1929209" y="3583036"/>
            <a:ext cx="6698061" cy="645300"/>
          </a:xfrm>
        </p:spPr>
        <p:txBody>
          <a:bodyPr anchor="t">
            <a:normAutofit/>
          </a:bodyPr>
          <a:lstStyle>
            <a:lvl1pPr marL="0" indent="0" algn="r">
              <a:buNone/>
              <a:defRPr sz="15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fr-FR"/>
              <a:t>Modifiez les styles du texte du masque</a:t>
            </a:r>
          </a:p>
        </p:txBody>
      </p:sp>
      <p:sp>
        <p:nvSpPr>
          <p:cNvPr id="4" name="Date Placeholder 3"/>
          <p:cNvSpPr>
            <a:spLocks noGrp="1"/>
          </p:cNvSpPr>
          <p:nvPr>
            <p:ph type="dt" sz="half" idx="10"/>
          </p:nvPr>
        </p:nvSpPr>
        <p:spPr/>
        <p:txBody>
          <a:bodyPr/>
          <a:lstStyle/>
          <a:p>
            <a:fld id="{10778CA2-B2A2-4C83-AAB6-319A8A92C4A7}" type="datetime1">
              <a:rPr lang="fr-CA" smtClean="0"/>
              <a:t>2025-03-17</a:t>
            </a:fld>
            <a:endParaRPr lang="fr-CA"/>
          </a:p>
        </p:txBody>
      </p:sp>
      <p:sp>
        <p:nvSpPr>
          <p:cNvPr id="5" name="Footer Placeholder 4"/>
          <p:cNvSpPr>
            <a:spLocks noGrp="1"/>
          </p:cNvSpPr>
          <p:nvPr>
            <p:ph type="ftr" sz="quarter" idx="11"/>
          </p:nvPr>
        </p:nvSpPr>
        <p:spPr/>
        <p:txBody>
          <a:bodyPr/>
          <a:lstStyle/>
          <a:p>
            <a:r>
              <a:rPr lang="fr-CA"/>
              <a:t>© Hugo Lesley - HEC Montréal</a:t>
            </a:r>
          </a:p>
        </p:txBody>
      </p:sp>
      <p:sp>
        <p:nvSpPr>
          <p:cNvPr id="6" name="Slide Number Placeholder 5"/>
          <p:cNvSpPr>
            <a:spLocks noGrp="1"/>
          </p:cNvSpPr>
          <p:nvPr>
            <p:ph type="sldNum" sz="quarter" idx="12"/>
          </p:nvPr>
        </p:nvSpPr>
        <p:spPr/>
        <p:txBody>
          <a:bodyPr/>
          <a:lstStyle/>
          <a:p>
            <a:fld id="{925D5ECB-3EB5-46B4-A765-5958C79DB1EF}" type="slidenum">
              <a:rPr lang="fr-CA" smtClean="0"/>
              <a:t>‹n°›</a:t>
            </a:fld>
            <a:endParaRPr lang="fr-CA"/>
          </a:p>
        </p:txBody>
      </p:sp>
    </p:spTree>
    <p:extLst>
      <p:ext uri="{BB962C8B-B14F-4D97-AF65-F5344CB8AC3E}">
        <p14:creationId xmlns:p14="http://schemas.microsoft.com/office/powerpoint/2010/main" val="406520330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cSld name="1_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77222A99-17C7-46B3-8666-514CF59DC49C}" type="datetime1">
              <a:rPr lang="fr-CA" smtClean="0"/>
              <a:t>2025-03-17</a:t>
            </a:fld>
            <a:endParaRPr lang="fr-CA"/>
          </a:p>
        </p:txBody>
      </p:sp>
      <p:sp>
        <p:nvSpPr>
          <p:cNvPr id="4" name="Footer Placeholder 3"/>
          <p:cNvSpPr>
            <a:spLocks noGrp="1"/>
          </p:cNvSpPr>
          <p:nvPr>
            <p:ph type="ftr" sz="quarter" idx="11"/>
          </p:nvPr>
        </p:nvSpPr>
        <p:spPr/>
        <p:txBody>
          <a:bodyPr/>
          <a:lstStyle/>
          <a:p>
            <a:r>
              <a:rPr lang="fr-CA"/>
              <a:t>© Hugo Lesley - HEC Montréal</a:t>
            </a:r>
          </a:p>
        </p:txBody>
      </p:sp>
      <p:sp>
        <p:nvSpPr>
          <p:cNvPr id="5" name="Slide Number Placeholder 4"/>
          <p:cNvSpPr>
            <a:spLocks noGrp="1"/>
          </p:cNvSpPr>
          <p:nvPr>
            <p:ph type="sldNum" sz="quarter" idx="12"/>
          </p:nvPr>
        </p:nvSpPr>
        <p:spPr/>
        <p:txBody>
          <a:bodyPr/>
          <a:lstStyle/>
          <a:p>
            <a:fld id="{925D5ECB-3EB5-46B4-A765-5958C79DB1EF}" type="slidenum">
              <a:rPr lang="fr-CA" smtClean="0"/>
              <a:t>‹n°›</a:t>
            </a:fld>
            <a:endParaRPr lang="fr-CA"/>
          </a:p>
        </p:txBody>
      </p:sp>
    </p:spTree>
    <p:extLst>
      <p:ext uri="{BB962C8B-B14F-4D97-AF65-F5344CB8AC3E}">
        <p14:creationId xmlns:p14="http://schemas.microsoft.com/office/powerpoint/2010/main" val="417393692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2_Titre seul">
    <p:spTree>
      <p:nvGrpSpPr>
        <p:cNvPr id="1" name=""/>
        <p:cNvGrpSpPr/>
        <p:nvPr/>
      </p:nvGrpSpPr>
      <p:grpSpPr>
        <a:xfrm>
          <a:off x="0" y="0"/>
          <a:ext cx="0" cy="0"/>
          <a:chOff x="0" y="0"/>
          <a:chExt cx="0" cy="0"/>
        </a:xfrm>
      </p:grpSpPr>
      <p:sp>
        <p:nvSpPr>
          <p:cNvPr id="6" name="Titre 1"/>
          <p:cNvSpPr>
            <a:spLocks noGrp="1"/>
          </p:cNvSpPr>
          <p:nvPr>
            <p:ph type="title"/>
          </p:nvPr>
        </p:nvSpPr>
        <p:spPr>
          <a:xfrm>
            <a:off x="628650" y="135226"/>
            <a:ext cx="7886700" cy="773911"/>
          </a:xfrm>
        </p:spPr>
        <p:txBody>
          <a:bodyPr/>
          <a:lstStyle/>
          <a:p>
            <a:r>
              <a:rPr lang="fr-FR" dirty="0"/>
              <a:t>Modifiez le style du titre</a:t>
            </a:r>
            <a:endParaRPr lang="fr-CA" dirty="0"/>
          </a:p>
        </p:txBody>
      </p:sp>
      <p:cxnSp>
        <p:nvCxnSpPr>
          <p:cNvPr id="5" name="Connecteur droit 4"/>
          <p:cNvCxnSpPr/>
          <p:nvPr userDrawn="1"/>
        </p:nvCxnSpPr>
        <p:spPr>
          <a:xfrm>
            <a:off x="600659" y="932114"/>
            <a:ext cx="78867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7" name="Connecteur droit 6"/>
          <p:cNvCxnSpPr/>
          <p:nvPr userDrawn="1"/>
        </p:nvCxnSpPr>
        <p:spPr>
          <a:xfrm>
            <a:off x="720791" y="1033317"/>
            <a:ext cx="7865706" cy="0"/>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sp>
        <p:nvSpPr>
          <p:cNvPr id="8" name="Espace réservé du pied de page 4">
            <a:extLst>
              <a:ext uri="{FF2B5EF4-FFF2-40B4-BE49-F238E27FC236}">
                <a16:creationId xmlns:a16="http://schemas.microsoft.com/office/drawing/2014/main" id="{ED9A88C4-991A-4E8E-A7AD-3E5DA51B1CA2}"/>
              </a:ext>
            </a:extLst>
          </p:cNvPr>
          <p:cNvSpPr>
            <a:spLocks noGrp="1"/>
          </p:cNvSpPr>
          <p:nvPr>
            <p:ph type="ftr" sz="quarter" idx="11"/>
          </p:nvPr>
        </p:nvSpPr>
        <p:spPr>
          <a:xfrm>
            <a:off x="3351229" y="4814684"/>
            <a:ext cx="2611033" cy="227507"/>
          </a:xfrm>
          <a:prstGeom prst="rect">
            <a:avLst/>
          </a:prstGeom>
        </p:spPr>
        <p:txBody>
          <a:bodyPr/>
          <a:lstStyle>
            <a:lvl1pPr>
              <a:defRPr sz="900">
                <a:solidFill>
                  <a:schemeClr val="tx2"/>
                </a:solidFill>
              </a:defRPr>
            </a:lvl1pPr>
          </a:lstStyle>
          <a:p>
            <a:r>
              <a:rPr lang="fr-CA" dirty="0"/>
              <a:t>Par Marc-André Nadon - HEC Montréal</a:t>
            </a:r>
          </a:p>
        </p:txBody>
      </p:sp>
      <p:sp>
        <p:nvSpPr>
          <p:cNvPr id="10" name="Espace réservé du numéro de diapositive 5">
            <a:extLst>
              <a:ext uri="{FF2B5EF4-FFF2-40B4-BE49-F238E27FC236}">
                <a16:creationId xmlns:a16="http://schemas.microsoft.com/office/drawing/2014/main" id="{B318387E-A56E-48F1-A5F6-54FDF7AC39D2}"/>
              </a:ext>
            </a:extLst>
          </p:cNvPr>
          <p:cNvSpPr>
            <a:spLocks noGrp="1"/>
          </p:cNvSpPr>
          <p:nvPr>
            <p:ph type="sldNum" sz="quarter" idx="12"/>
          </p:nvPr>
        </p:nvSpPr>
        <p:spPr>
          <a:xfrm>
            <a:off x="8691465" y="4816751"/>
            <a:ext cx="397718" cy="225440"/>
          </a:xfrm>
          <a:prstGeom prst="rect">
            <a:avLst/>
          </a:prstGeom>
        </p:spPr>
        <p:txBody>
          <a:bodyPr/>
          <a:lstStyle>
            <a:lvl1pPr>
              <a:defRPr sz="900">
                <a:solidFill>
                  <a:schemeClr val="tx2"/>
                </a:solidFill>
              </a:defRPr>
            </a:lvl1pPr>
          </a:lstStyle>
          <a:p>
            <a:fld id="{1F20FBA3-27E4-4E13-841E-B59ED0E8E620}" type="slidenum">
              <a:rPr lang="fr-CA" smtClean="0"/>
              <a:pPr/>
              <a:t>‹n°›</a:t>
            </a:fld>
            <a:endParaRPr lang="fr-CA" dirty="0"/>
          </a:p>
        </p:txBody>
      </p:sp>
    </p:spTree>
    <p:extLst>
      <p:ext uri="{BB962C8B-B14F-4D97-AF65-F5344CB8AC3E}">
        <p14:creationId xmlns:p14="http://schemas.microsoft.com/office/powerpoint/2010/main" val="89848259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3_Titre seul">
    <p:spTree>
      <p:nvGrpSpPr>
        <p:cNvPr id="1" name=""/>
        <p:cNvGrpSpPr/>
        <p:nvPr/>
      </p:nvGrpSpPr>
      <p:grpSpPr>
        <a:xfrm>
          <a:off x="0" y="0"/>
          <a:ext cx="0" cy="0"/>
          <a:chOff x="0" y="0"/>
          <a:chExt cx="0" cy="0"/>
        </a:xfrm>
      </p:grpSpPr>
      <p:sp>
        <p:nvSpPr>
          <p:cNvPr id="6" name="Titre 1"/>
          <p:cNvSpPr>
            <a:spLocks noGrp="1"/>
          </p:cNvSpPr>
          <p:nvPr>
            <p:ph type="title"/>
          </p:nvPr>
        </p:nvSpPr>
        <p:spPr>
          <a:xfrm>
            <a:off x="628650" y="135226"/>
            <a:ext cx="7886700" cy="773911"/>
          </a:xfrm>
        </p:spPr>
        <p:txBody>
          <a:bodyPr/>
          <a:lstStyle/>
          <a:p>
            <a:r>
              <a:rPr lang="fr-FR" dirty="0"/>
              <a:t>Modifiez le style du titre</a:t>
            </a:r>
            <a:endParaRPr lang="fr-CA" dirty="0"/>
          </a:p>
        </p:txBody>
      </p:sp>
      <p:cxnSp>
        <p:nvCxnSpPr>
          <p:cNvPr id="5" name="Connecteur droit 4"/>
          <p:cNvCxnSpPr/>
          <p:nvPr userDrawn="1"/>
        </p:nvCxnSpPr>
        <p:spPr>
          <a:xfrm>
            <a:off x="600659" y="932114"/>
            <a:ext cx="78867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7" name="Connecteur droit 6"/>
          <p:cNvCxnSpPr/>
          <p:nvPr userDrawn="1"/>
        </p:nvCxnSpPr>
        <p:spPr>
          <a:xfrm>
            <a:off x="720791" y="1033317"/>
            <a:ext cx="7865706" cy="0"/>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sp>
        <p:nvSpPr>
          <p:cNvPr id="8" name="Espace réservé du pied de page 4">
            <a:extLst>
              <a:ext uri="{FF2B5EF4-FFF2-40B4-BE49-F238E27FC236}">
                <a16:creationId xmlns:a16="http://schemas.microsoft.com/office/drawing/2014/main" id="{ED9A88C4-991A-4E8E-A7AD-3E5DA51B1CA2}"/>
              </a:ext>
            </a:extLst>
          </p:cNvPr>
          <p:cNvSpPr>
            <a:spLocks noGrp="1"/>
          </p:cNvSpPr>
          <p:nvPr>
            <p:ph type="ftr" sz="quarter" idx="11"/>
          </p:nvPr>
        </p:nvSpPr>
        <p:spPr>
          <a:xfrm>
            <a:off x="3351229" y="4814684"/>
            <a:ext cx="2611033" cy="227507"/>
          </a:xfrm>
          <a:prstGeom prst="rect">
            <a:avLst/>
          </a:prstGeom>
        </p:spPr>
        <p:txBody>
          <a:bodyPr/>
          <a:lstStyle>
            <a:lvl1pPr>
              <a:defRPr sz="900">
                <a:solidFill>
                  <a:schemeClr val="tx2"/>
                </a:solidFill>
              </a:defRPr>
            </a:lvl1pPr>
          </a:lstStyle>
          <a:p>
            <a:r>
              <a:rPr lang="fr-CA" dirty="0"/>
              <a:t>Par Marc-André Nadon - HEC Montréal</a:t>
            </a:r>
          </a:p>
        </p:txBody>
      </p:sp>
      <p:sp>
        <p:nvSpPr>
          <p:cNvPr id="10" name="Espace réservé du numéro de diapositive 5">
            <a:extLst>
              <a:ext uri="{FF2B5EF4-FFF2-40B4-BE49-F238E27FC236}">
                <a16:creationId xmlns:a16="http://schemas.microsoft.com/office/drawing/2014/main" id="{B318387E-A56E-48F1-A5F6-54FDF7AC39D2}"/>
              </a:ext>
            </a:extLst>
          </p:cNvPr>
          <p:cNvSpPr>
            <a:spLocks noGrp="1"/>
          </p:cNvSpPr>
          <p:nvPr>
            <p:ph type="sldNum" sz="quarter" idx="12"/>
          </p:nvPr>
        </p:nvSpPr>
        <p:spPr>
          <a:xfrm>
            <a:off x="8691465" y="4816751"/>
            <a:ext cx="397718" cy="225440"/>
          </a:xfrm>
          <a:prstGeom prst="rect">
            <a:avLst/>
          </a:prstGeom>
        </p:spPr>
        <p:txBody>
          <a:bodyPr/>
          <a:lstStyle>
            <a:lvl1pPr>
              <a:defRPr sz="900">
                <a:solidFill>
                  <a:schemeClr val="tx2"/>
                </a:solidFill>
              </a:defRPr>
            </a:lvl1pPr>
          </a:lstStyle>
          <a:p>
            <a:fld id="{1F20FBA3-27E4-4E13-841E-B59ED0E8E620}" type="slidenum">
              <a:rPr lang="fr-CA" smtClean="0"/>
              <a:pPr/>
              <a:t>‹n°›</a:t>
            </a:fld>
            <a:endParaRPr lang="fr-CA" dirty="0"/>
          </a:p>
        </p:txBody>
      </p:sp>
    </p:spTree>
    <p:extLst>
      <p:ext uri="{BB962C8B-B14F-4D97-AF65-F5344CB8AC3E}">
        <p14:creationId xmlns:p14="http://schemas.microsoft.com/office/powerpoint/2010/main" val="257236935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Important">
    <p:spTree>
      <p:nvGrpSpPr>
        <p:cNvPr id="1" name=""/>
        <p:cNvGrpSpPr/>
        <p:nvPr/>
      </p:nvGrpSpPr>
      <p:grpSpPr>
        <a:xfrm>
          <a:off x="0" y="0"/>
          <a:ext cx="0" cy="0"/>
          <a:chOff x="0" y="0"/>
          <a:chExt cx="0" cy="0"/>
        </a:xfrm>
      </p:grpSpPr>
      <p:sp>
        <p:nvSpPr>
          <p:cNvPr id="2" name="Titre 1"/>
          <p:cNvSpPr>
            <a:spLocks noGrp="1"/>
          </p:cNvSpPr>
          <p:nvPr>
            <p:ph type="title"/>
          </p:nvPr>
        </p:nvSpPr>
        <p:spPr>
          <a:xfrm>
            <a:off x="293427" y="161250"/>
            <a:ext cx="6936865" cy="518357"/>
          </a:xfrm>
          <a:solidFill>
            <a:srgbClr val="029FDF"/>
          </a:solidFill>
        </p:spPr>
        <p:txBody>
          <a:bodyPr>
            <a:normAutofit/>
          </a:bodyPr>
          <a:lstStyle>
            <a:lvl1pPr>
              <a:defRPr sz="3000">
                <a:solidFill>
                  <a:schemeClr val="bg1"/>
                </a:solidFill>
                <a:latin typeface="Arial" charset="0"/>
                <a:ea typeface="Arial" charset="0"/>
                <a:cs typeface="Arial" charset="0"/>
              </a:defRPr>
            </a:lvl1pPr>
          </a:lstStyle>
          <a:p>
            <a:r>
              <a:rPr lang="fr-FR" dirty="0"/>
              <a:t>Cliquez et modifiez le titre</a:t>
            </a:r>
            <a:endParaRPr lang="fr-CA" dirty="0"/>
          </a:p>
        </p:txBody>
      </p:sp>
      <p:sp>
        <p:nvSpPr>
          <p:cNvPr id="5" name="Espace réservé de la date 4"/>
          <p:cNvSpPr>
            <a:spLocks noGrp="1"/>
          </p:cNvSpPr>
          <p:nvPr>
            <p:ph type="dt" sz="half" idx="10"/>
          </p:nvPr>
        </p:nvSpPr>
        <p:spPr/>
        <p:txBody>
          <a:bodyPr/>
          <a:lstStyle/>
          <a:p>
            <a:fld id="{E2A03F80-EE20-C04F-9E1A-19C44C1AE772}" type="datetimeFigureOut">
              <a:rPr lang="fr-CA" smtClean="0"/>
              <a:t>2025-03-17</a:t>
            </a:fld>
            <a:endParaRPr lang="fr-CA"/>
          </a:p>
        </p:txBody>
      </p:sp>
      <p:sp>
        <p:nvSpPr>
          <p:cNvPr id="6" name="Espace réservé du pied de page 5"/>
          <p:cNvSpPr>
            <a:spLocks noGrp="1"/>
          </p:cNvSpPr>
          <p:nvPr>
            <p:ph type="ftr" sz="quarter" idx="11"/>
          </p:nvPr>
        </p:nvSpPr>
        <p:spPr/>
        <p:txBody>
          <a:bodyPr/>
          <a:lstStyle/>
          <a:p>
            <a:endParaRPr lang="fr-CA"/>
          </a:p>
        </p:txBody>
      </p:sp>
      <p:sp>
        <p:nvSpPr>
          <p:cNvPr id="7" name="Espace réservé du numéro de diapositive 6"/>
          <p:cNvSpPr>
            <a:spLocks noGrp="1"/>
          </p:cNvSpPr>
          <p:nvPr>
            <p:ph type="sldNum" sz="quarter" idx="12"/>
          </p:nvPr>
        </p:nvSpPr>
        <p:spPr/>
        <p:txBody>
          <a:bodyPr/>
          <a:lstStyle/>
          <a:p>
            <a:fld id="{CB0E5D99-33F0-8E4B-A561-48D81EB9177A}" type="slidenum">
              <a:rPr lang="fr-CA" smtClean="0"/>
              <a:t>‹n°›</a:t>
            </a:fld>
            <a:endParaRPr lang="fr-CA"/>
          </a:p>
        </p:txBody>
      </p:sp>
      <p:sp>
        <p:nvSpPr>
          <p:cNvPr id="9" name="Espace réservé du contenu 2"/>
          <p:cNvSpPr>
            <a:spLocks noGrp="1"/>
          </p:cNvSpPr>
          <p:nvPr>
            <p:ph idx="1"/>
          </p:nvPr>
        </p:nvSpPr>
        <p:spPr>
          <a:xfrm>
            <a:off x="296839" y="788159"/>
            <a:ext cx="6326030" cy="3870552"/>
          </a:xfrm>
        </p:spPr>
        <p:txBody>
          <a:bodyPr/>
          <a:lstStyle>
            <a:lvl1pPr>
              <a:defRPr>
                <a:latin typeface="Arial" charset="0"/>
                <a:ea typeface="Arial" charset="0"/>
                <a:cs typeface="Arial" charset="0"/>
              </a:defRPr>
            </a:lvl1pPr>
            <a:lvl2pPr>
              <a:defRPr>
                <a:latin typeface="Arial" charset="0"/>
                <a:ea typeface="Arial" charset="0"/>
                <a:cs typeface="Arial" charset="0"/>
              </a:defRPr>
            </a:lvl2pPr>
            <a:lvl3pPr>
              <a:defRPr>
                <a:latin typeface="Arial" charset="0"/>
                <a:ea typeface="Arial" charset="0"/>
                <a:cs typeface="Arial" charset="0"/>
              </a:defRPr>
            </a:lvl3pPr>
            <a:lvl4pPr>
              <a:defRPr>
                <a:latin typeface="Arial" charset="0"/>
                <a:ea typeface="Arial" charset="0"/>
                <a:cs typeface="Arial" charset="0"/>
              </a:defRPr>
            </a:lvl4pPr>
            <a:lvl5pPr>
              <a:defRPr>
                <a:latin typeface="Arial" charset="0"/>
                <a:ea typeface="Arial" charset="0"/>
                <a:cs typeface="Arial" charset="0"/>
              </a:defRPr>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fr-CA" dirty="0"/>
          </a:p>
        </p:txBody>
      </p:sp>
      <p:sp>
        <p:nvSpPr>
          <p:cNvPr id="3" name="Rectangle 2"/>
          <p:cNvSpPr/>
          <p:nvPr userDrawn="1"/>
        </p:nvSpPr>
        <p:spPr>
          <a:xfrm>
            <a:off x="7445828" y="0"/>
            <a:ext cx="1698173" cy="5143500"/>
          </a:xfrm>
          <a:prstGeom prst="rect">
            <a:avLst/>
          </a:prstGeom>
          <a:solidFill>
            <a:srgbClr val="003D6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1350"/>
          </a:p>
        </p:txBody>
      </p:sp>
      <p:sp>
        <p:nvSpPr>
          <p:cNvPr id="4" name="Ellipse 3"/>
          <p:cNvSpPr/>
          <p:nvPr userDrawn="1"/>
        </p:nvSpPr>
        <p:spPr>
          <a:xfrm>
            <a:off x="6622868" y="1762197"/>
            <a:ext cx="1645920" cy="1704704"/>
          </a:xfrm>
          <a:prstGeom prst="ellipse">
            <a:avLst/>
          </a:prstGeom>
          <a:solidFill>
            <a:srgbClr val="00BBD9"/>
          </a:solidFill>
          <a:ln w="63500" cmpd="db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1350"/>
          </a:p>
        </p:txBody>
      </p:sp>
      <p:pic>
        <p:nvPicPr>
          <p:cNvPr id="10" name="Imag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795898" y="1871083"/>
            <a:ext cx="1299861" cy="1141441"/>
          </a:xfrm>
          <a:prstGeom prst="rect">
            <a:avLst/>
          </a:prstGeom>
        </p:spPr>
      </p:pic>
    </p:spTree>
    <p:extLst>
      <p:ext uri="{BB962C8B-B14F-4D97-AF65-F5344CB8AC3E}">
        <p14:creationId xmlns:p14="http://schemas.microsoft.com/office/powerpoint/2010/main" val="2307792569"/>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478800" y="436673"/>
            <a:ext cx="8186400" cy="744737"/>
          </a:xfrm>
          <a:prstGeom prst="rect">
            <a:avLst/>
          </a:prstGeom>
          <a:noFill/>
        </p:spPr>
        <p:txBody>
          <a:bodyPr vert="horz" lIns="91440" tIns="45720" rIns="91440" bIns="45720" rtlCol="0" anchor="ctr">
            <a:noAutofit/>
          </a:bodyPr>
          <a:lstStyle/>
          <a:p>
            <a:r>
              <a:rPr lang="fr-CA" noProof="0"/>
              <a:t>Cliquez pour modifier le style du titre</a:t>
            </a:r>
          </a:p>
        </p:txBody>
      </p:sp>
      <p:sp>
        <p:nvSpPr>
          <p:cNvPr id="3" name="Espace réservé du texte 2"/>
          <p:cNvSpPr>
            <a:spLocks noGrp="1"/>
          </p:cNvSpPr>
          <p:nvPr>
            <p:ph type="body" idx="1"/>
          </p:nvPr>
        </p:nvSpPr>
        <p:spPr>
          <a:xfrm>
            <a:off x="478800" y="1366089"/>
            <a:ext cx="8186400" cy="2923018"/>
          </a:xfrm>
          <a:prstGeom prst="rect">
            <a:avLst/>
          </a:prstGeom>
        </p:spPr>
        <p:txBody>
          <a:bodyPr vert="horz" lIns="91440" tIns="45720" rIns="91440" bIns="45720" rtlCol="0">
            <a:normAutofit/>
          </a:bodyPr>
          <a:lstStyle/>
          <a:p>
            <a:pPr lvl="0"/>
            <a:r>
              <a:rPr lang="fr-CA" noProof="0"/>
              <a:t>Cliquez pour modifier les styles du texte du masque</a:t>
            </a:r>
          </a:p>
          <a:p>
            <a:pPr lvl="1"/>
            <a:r>
              <a:rPr lang="fr-CA" noProof="0"/>
              <a:t>Deuxième niveau</a:t>
            </a:r>
          </a:p>
          <a:p>
            <a:pPr lvl="2"/>
            <a:r>
              <a:rPr lang="fr-CA" noProof="0"/>
              <a:t>Troisième niveau</a:t>
            </a:r>
          </a:p>
          <a:p>
            <a:pPr lvl="3"/>
            <a:r>
              <a:rPr lang="fr-CA" noProof="0"/>
              <a:t>Quatrième niveau</a:t>
            </a:r>
          </a:p>
          <a:p>
            <a:pPr lvl="4"/>
            <a:r>
              <a:rPr lang="fr-CA" noProof="0"/>
              <a:t>Cinquième niveau</a:t>
            </a:r>
          </a:p>
        </p:txBody>
      </p:sp>
    </p:spTree>
  </p:cSld>
  <p:clrMap bg1="dk1" tx1="lt1" bg2="dk2" tx2="lt2" accent1="accent1" accent2="accent2" accent3="accent3" accent4="accent4" accent5="accent5" accent6="accent6" hlink="hlink" folHlink="folHlink"/>
  <p:sldLayoutIdLst>
    <p:sldLayoutId id="2147483664" r:id="rId1"/>
    <p:sldLayoutId id="2147483668" r:id="rId2"/>
    <p:sldLayoutId id="2147483669" r:id="rId3"/>
    <p:sldLayoutId id="2147483650" r:id="rId4"/>
    <p:sldLayoutId id="2147483651" r:id="rId5"/>
    <p:sldLayoutId id="2147483652" r:id="rId6"/>
    <p:sldLayoutId id="2147483653" r:id="rId7"/>
    <p:sldLayoutId id="2147483654" r:id="rId8"/>
    <p:sldLayoutId id="2147483656" r:id="rId9"/>
    <p:sldLayoutId id="2147483657" r:id="rId10"/>
    <p:sldLayoutId id="2147483665" r:id="rId11"/>
    <p:sldLayoutId id="2147483666" r:id="rId12"/>
    <p:sldLayoutId id="2147483674" r:id="rId13"/>
    <p:sldLayoutId id="2147483675" r:id="rId14"/>
    <p:sldLayoutId id="2147483677" r:id="rId15"/>
    <p:sldLayoutId id="2147483678" r:id="rId16"/>
    <p:sldLayoutId id="2147483679" r:id="rId17"/>
    <p:sldLayoutId id="2147483680" r:id="rId18"/>
    <p:sldLayoutId id="2147483681" r:id="rId19"/>
  </p:sldLayoutIdLst>
  <p:hf sldNum="0" hdr="0" ftr="0" dt="0"/>
  <p:txStyles>
    <p:titleStyle>
      <a:lvl1pPr algn="l" defTabSz="822960" rtl="0" eaLnBrk="1" latinLnBrk="0" hangingPunct="1">
        <a:spcBef>
          <a:spcPct val="0"/>
        </a:spcBef>
        <a:buNone/>
        <a:defRPr sz="2340" b="1" kern="1200">
          <a:solidFill>
            <a:schemeClr val="accent2"/>
          </a:solidFill>
          <a:latin typeface="+mj-lt"/>
          <a:ea typeface="+mj-ea"/>
          <a:cs typeface="+mj-cs"/>
        </a:defRPr>
      </a:lvl1pPr>
    </p:titleStyle>
    <p:bodyStyle>
      <a:lvl1pPr marL="0" indent="0" algn="l" defTabSz="822960" rtl="0" eaLnBrk="1" latinLnBrk="0" hangingPunct="1">
        <a:spcBef>
          <a:spcPct val="20000"/>
        </a:spcBef>
        <a:buClr>
          <a:schemeClr val="accent2"/>
        </a:buClr>
        <a:buSzPct val="125000"/>
        <a:buFont typeface="Arial" pitchFamily="34" charset="0"/>
        <a:buNone/>
        <a:defRPr sz="1503" kern="1200">
          <a:solidFill>
            <a:schemeClr val="tx1"/>
          </a:solidFill>
          <a:latin typeface="+mn-lt"/>
          <a:ea typeface="+mn-ea"/>
          <a:cs typeface="+mn-cs"/>
        </a:defRPr>
      </a:lvl1pPr>
      <a:lvl2pPr marL="408240" indent="-139320" algn="l" defTabSz="822960" rtl="0" eaLnBrk="1" latinLnBrk="0" hangingPunct="1">
        <a:spcBef>
          <a:spcPct val="20000"/>
        </a:spcBef>
        <a:buClr>
          <a:schemeClr val="accent2"/>
        </a:buClr>
        <a:buSzPct val="125000"/>
        <a:buFont typeface="Arial" pitchFamily="34" charset="0"/>
        <a:buChar char="•"/>
        <a:defRPr sz="1503" kern="1200">
          <a:solidFill>
            <a:schemeClr val="tx1"/>
          </a:solidFill>
          <a:latin typeface="+mn-lt"/>
          <a:ea typeface="+mn-ea"/>
          <a:cs typeface="+mn-cs"/>
        </a:defRPr>
      </a:lvl2pPr>
      <a:lvl3pPr marL="677160" indent="-139320" algn="l" defTabSz="822960" rtl="0" eaLnBrk="1" latinLnBrk="0" hangingPunct="1">
        <a:spcBef>
          <a:spcPct val="20000"/>
        </a:spcBef>
        <a:buClr>
          <a:schemeClr val="accent2"/>
        </a:buClr>
        <a:buSzPct val="125000"/>
        <a:buFont typeface="Arial" pitchFamily="34" charset="0"/>
        <a:buChar char="•"/>
        <a:defRPr sz="1503" kern="1200">
          <a:solidFill>
            <a:schemeClr val="tx1"/>
          </a:solidFill>
          <a:latin typeface="+mn-lt"/>
          <a:ea typeface="+mn-ea"/>
          <a:cs typeface="+mn-cs"/>
        </a:defRPr>
      </a:lvl3pPr>
      <a:lvl4pPr marL="942840" indent="-139320" algn="l" defTabSz="822960" rtl="0" eaLnBrk="1" latinLnBrk="0" hangingPunct="1">
        <a:spcBef>
          <a:spcPct val="20000"/>
        </a:spcBef>
        <a:buClr>
          <a:schemeClr val="accent2"/>
        </a:buClr>
        <a:buSzPct val="125000"/>
        <a:buFont typeface="Arial" pitchFamily="34" charset="0"/>
        <a:buChar char="•"/>
        <a:defRPr sz="1503" kern="1200">
          <a:solidFill>
            <a:schemeClr val="tx1"/>
          </a:solidFill>
          <a:latin typeface="+mn-lt"/>
          <a:ea typeface="+mn-ea"/>
          <a:cs typeface="+mn-cs"/>
        </a:defRPr>
      </a:lvl4pPr>
      <a:lvl5pPr marL="1211760" indent="-139320" algn="l" defTabSz="822960" rtl="0" eaLnBrk="1" latinLnBrk="0" hangingPunct="1">
        <a:spcBef>
          <a:spcPct val="20000"/>
        </a:spcBef>
        <a:buClr>
          <a:schemeClr val="accent2"/>
        </a:buClr>
        <a:buSzPct val="125000"/>
        <a:buFont typeface="Arial" pitchFamily="34" charset="0"/>
        <a:buChar char="•"/>
        <a:defRPr sz="1503" kern="1200">
          <a:solidFill>
            <a:schemeClr val="tx1"/>
          </a:solidFill>
          <a:latin typeface="+mn-lt"/>
          <a:ea typeface="+mn-ea"/>
          <a:cs typeface="+mn-cs"/>
        </a:defRPr>
      </a:lvl5pPr>
      <a:lvl6pPr marL="2263140" indent="-205740" algn="l" defTabSz="82296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674620" indent="-205740" algn="l" defTabSz="82296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086100" indent="-205740" algn="l" defTabSz="82296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497580" indent="-205740" algn="l" defTabSz="822960" rtl="0" eaLnBrk="1" latinLnBrk="0" hangingPunct="1">
        <a:spcBef>
          <a:spcPct val="20000"/>
        </a:spcBef>
        <a:buFont typeface="Arial" pitchFamily="34" charset="0"/>
        <a:buChar char="•"/>
        <a:defRPr sz="1800" kern="1200">
          <a:solidFill>
            <a:schemeClr val="tx1"/>
          </a:solidFill>
          <a:latin typeface="+mn-lt"/>
          <a:ea typeface="+mn-ea"/>
          <a:cs typeface="+mn-cs"/>
        </a:defRPr>
      </a:lvl9pPr>
    </p:bodyStyle>
    <p:otherStyle>
      <a:defPPr>
        <a:defRPr lang="en-US"/>
      </a:defPPr>
      <a:lvl1pPr marL="0" algn="l" defTabSz="822960" rtl="0" eaLnBrk="1" latinLnBrk="0" hangingPunct="1">
        <a:defRPr sz="1620" kern="1200">
          <a:solidFill>
            <a:schemeClr val="tx1"/>
          </a:solidFill>
          <a:latin typeface="+mn-lt"/>
          <a:ea typeface="+mn-ea"/>
          <a:cs typeface="+mn-cs"/>
        </a:defRPr>
      </a:lvl1pPr>
      <a:lvl2pPr marL="411480" algn="l" defTabSz="822960" rtl="0" eaLnBrk="1" latinLnBrk="0" hangingPunct="1">
        <a:defRPr sz="1620" kern="1200">
          <a:solidFill>
            <a:schemeClr val="tx1"/>
          </a:solidFill>
          <a:latin typeface="+mn-lt"/>
          <a:ea typeface="+mn-ea"/>
          <a:cs typeface="+mn-cs"/>
        </a:defRPr>
      </a:lvl2pPr>
      <a:lvl3pPr marL="822960" algn="l" defTabSz="822960" rtl="0" eaLnBrk="1" latinLnBrk="0" hangingPunct="1">
        <a:defRPr sz="1620" kern="1200">
          <a:solidFill>
            <a:schemeClr val="tx1"/>
          </a:solidFill>
          <a:latin typeface="+mn-lt"/>
          <a:ea typeface="+mn-ea"/>
          <a:cs typeface="+mn-cs"/>
        </a:defRPr>
      </a:lvl3pPr>
      <a:lvl4pPr marL="1234440" algn="l" defTabSz="822960" rtl="0" eaLnBrk="1" latinLnBrk="0" hangingPunct="1">
        <a:defRPr sz="1620" kern="1200">
          <a:solidFill>
            <a:schemeClr val="tx1"/>
          </a:solidFill>
          <a:latin typeface="+mn-lt"/>
          <a:ea typeface="+mn-ea"/>
          <a:cs typeface="+mn-cs"/>
        </a:defRPr>
      </a:lvl4pPr>
      <a:lvl5pPr marL="1645920" algn="l" defTabSz="822960" rtl="0" eaLnBrk="1" latinLnBrk="0" hangingPunct="1">
        <a:defRPr sz="1620" kern="1200">
          <a:solidFill>
            <a:schemeClr val="tx1"/>
          </a:solidFill>
          <a:latin typeface="+mn-lt"/>
          <a:ea typeface="+mn-ea"/>
          <a:cs typeface="+mn-cs"/>
        </a:defRPr>
      </a:lvl5pPr>
      <a:lvl6pPr marL="2057400" algn="l" defTabSz="822960" rtl="0" eaLnBrk="1" latinLnBrk="0" hangingPunct="1">
        <a:defRPr sz="1620" kern="1200">
          <a:solidFill>
            <a:schemeClr val="tx1"/>
          </a:solidFill>
          <a:latin typeface="+mn-lt"/>
          <a:ea typeface="+mn-ea"/>
          <a:cs typeface="+mn-cs"/>
        </a:defRPr>
      </a:lvl6pPr>
      <a:lvl7pPr marL="2468880" algn="l" defTabSz="822960" rtl="0" eaLnBrk="1" latinLnBrk="0" hangingPunct="1">
        <a:defRPr sz="1620" kern="1200">
          <a:solidFill>
            <a:schemeClr val="tx1"/>
          </a:solidFill>
          <a:latin typeface="+mn-lt"/>
          <a:ea typeface="+mn-ea"/>
          <a:cs typeface="+mn-cs"/>
        </a:defRPr>
      </a:lvl7pPr>
      <a:lvl8pPr marL="2880360" algn="l" defTabSz="822960" rtl="0" eaLnBrk="1" latinLnBrk="0" hangingPunct="1">
        <a:defRPr sz="1620" kern="1200">
          <a:solidFill>
            <a:schemeClr val="tx1"/>
          </a:solidFill>
          <a:latin typeface="+mn-lt"/>
          <a:ea typeface="+mn-ea"/>
          <a:cs typeface="+mn-cs"/>
        </a:defRPr>
      </a:lvl8pPr>
      <a:lvl9pPr marL="3291840" algn="l" defTabSz="822960" rtl="0" eaLnBrk="1" latinLnBrk="0" hangingPunct="1">
        <a:defRPr sz="162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2.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8" Type="http://schemas.openxmlformats.org/officeDocument/2006/relationships/tags" Target="../tags/tag10.xml"/><Relationship Id="rId3" Type="http://schemas.openxmlformats.org/officeDocument/2006/relationships/tags" Target="../tags/tag5.xml"/><Relationship Id="rId7" Type="http://schemas.openxmlformats.org/officeDocument/2006/relationships/tags" Target="../tags/tag9.xml"/><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tags" Target="../tags/tag8.xml"/><Relationship Id="rId11" Type="http://schemas.openxmlformats.org/officeDocument/2006/relationships/image" Target="../media/image9.svg"/><Relationship Id="rId5" Type="http://schemas.openxmlformats.org/officeDocument/2006/relationships/tags" Target="../tags/tag7.xml"/><Relationship Id="rId10" Type="http://schemas.openxmlformats.org/officeDocument/2006/relationships/image" Target="../media/image8.png"/><Relationship Id="rId4" Type="http://schemas.openxmlformats.org/officeDocument/2006/relationships/tags" Target="../tags/tag6.xml"/><Relationship Id="rId9"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8" Type="http://schemas.openxmlformats.org/officeDocument/2006/relationships/tags" Target="../tags/tag18.xml"/><Relationship Id="rId3" Type="http://schemas.openxmlformats.org/officeDocument/2006/relationships/tags" Target="../tags/tag13.xml"/><Relationship Id="rId7" Type="http://schemas.openxmlformats.org/officeDocument/2006/relationships/tags" Target="../tags/tag17.xml"/><Relationship Id="rId2" Type="http://schemas.openxmlformats.org/officeDocument/2006/relationships/tags" Target="../tags/tag12.xml"/><Relationship Id="rId1" Type="http://schemas.openxmlformats.org/officeDocument/2006/relationships/tags" Target="../tags/tag11.xml"/><Relationship Id="rId6" Type="http://schemas.openxmlformats.org/officeDocument/2006/relationships/tags" Target="../tags/tag16.xml"/><Relationship Id="rId11" Type="http://schemas.openxmlformats.org/officeDocument/2006/relationships/image" Target="../media/image9.svg"/><Relationship Id="rId5" Type="http://schemas.openxmlformats.org/officeDocument/2006/relationships/tags" Target="../tags/tag15.xml"/><Relationship Id="rId10" Type="http://schemas.openxmlformats.org/officeDocument/2006/relationships/image" Target="../media/image8.png"/><Relationship Id="rId4" Type="http://schemas.openxmlformats.org/officeDocument/2006/relationships/tags" Target="../tags/tag14.xml"/><Relationship Id="rId9"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8.xml.rels><?xml version="1.0" encoding="UTF-8" standalone="yes"?>
<Relationships xmlns="http://schemas.openxmlformats.org/package/2006/relationships"><Relationship Id="rId3" Type="http://schemas.openxmlformats.org/officeDocument/2006/relationships/tags" Target="../tags/tag21.xml"/><Relationship Id="rId2" Type="http://schemas.openxmlformats.org/officeDocument/2006/relationships/tags" Target="../tags/tag20.xml"/><Relationship Id="rId1" Type="http://schemas.openxmlformats.org/officeDocument/2006/relationships/tags" Target="../tags/tag19.xml"/><Relationship Id="rId6" Type="http://schemas.openxmlformats.org/officeDocument/2006/relationships/notesSlide" Target="../notesSlides/notesSlide1.xml"/><Relationship Id="rId5" Type="http://schemas.openxmlformats.org/officeDocument/2006/relationships/slideLayout" Target="../slideLayouts/slideLayout16.xml"/><Relationship Id="rId4" Type="http://schemas.openxmlformats.org/officeDocument/2006/relationships/tags" Target="../tags/tag22.xml"/></Relationships>
</file>

<file path=ppt/slides/_rels/slide49.xml.rels><?xml version="1.0" encoding="UTF-8" standalone="yes"?>
<Relationships xmlns="http://schemas.openxmlformats.org/package/2006/relationships"><Relationship Id="rId3" Type="http://schemas.openxmlformats.org/officeDocument/2006/relationships/tags" Target="../tags/tag25.xml"/><Relationship Id="rId7" Type="http://schemas.openxmlformats.org/officeDocument/2006/relationships/notesSlide" Target="../notesSlides/notesSlide2.xml"/><Relationship Id="rId2" Type="http://schemas.openxmlformats.org/officeDocument/2006/relationships/tags" Target="../tags/tag24.xml"/><Relationship Id="rId1" Type="http://schemas.openxmlformats.org/officeDocument/2006/relationships/tags" Target="../tags/tag23.xml"/><Relationship Id="rId6" Type="http://schemas.openxmlformats.org/officeDocument/2006/relationships/slideLayout" Target="../slideLayouts/slideLayout16.xml"/><Relationship Id="rId5" Type="http://schemas.openxmlformats.org/officeDocument/2006/relationships/tags" Target="../tags/tag27.xml"/><Relationship Id="rId4" Type="http://schemas.openxmlformats.org/officeDocument/2006/relationships/tags" Target="../tags/tag2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6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4.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7A3E67-AC31-8A48-9C46-25D0BF886C70}"/>
              </a:ext>
            </a:extLst>
          </p:cNvPr>
          <p:cNvSpPr>
            <a:spLocks noGrp="1"/>
          </p:cNvSpPr>
          <p:nvPr>
            <p:ph type="title"/>
            <p:custDataLst>
              <p:tags r:id="rId1"/>
            </p:custDataLst>
          </p:nvPr>
        </p:nvSpPr>
        <p:spPr/>
        <p:txBody>
          <a:bodyPr/>
          <a:lstStyle/>
          <a:p>
            <a:r>
              <a:rPr lang="fr-CA" sz="2400" dirty="0"/>
              <a:t>COMP40911 </a:t>
            </a:r>
            <a:br>
              <a:rPr lang="fr-CA" sz="2400" dirty="0"/>
            </a:br>
            <a:r>
              <a:rPr lang="fr-CA" sz="2400" dirty="0"/>
              <a:t>Rôles et mandats en comptabilité professionnelle</a:t>
            </a:r>
          </a:p>
        </p:txBody>
      </p:sp>
      <p:sp>
        <p:nvSpPr>
          <p:cNvPr id="3" name="Text Placeholder 2">
            <a:extLst>
              <a:ext uri="{FF2B5EF4-FFF2-40B4-BE49-F238E27FC236}">
                <a16:creationId xmlns:a16="http://schemas.microsoft.com/office/drawing/2014/main" id="{AEB16659-4290-C445-850C-BB470E3827FB}"/>
              </a:ext>
            </a:extLst>
          </p:cNvPr>
          <p:cNvSpPr>
            <a:spLocks noGrp="1"/>
          </p:cNvSpPr>
          <p:nvPr>
            <p:ph type="body" sz="quarter" idx="11"/>
            <p:custDataLst>
              <p:tags r:id="rId2"/>
            </p:custDataLst>
          </p:nvPr>
        </p:nvSpPr>
        <p:spPr/>
        <p:txBody>
          <a:bodyPr/>
          <a:lstStyle/>
          <a:p>
            <a:r>
              <a:rPr lang="fr-CA" dirty="0"/>
              <a:t>Semaine 9</a:t>
            </a:r>
          </a:p>
        </p:txBody>
      </p:sp>
      <p:sp>
        <p:nvSpPr>
          <p:cNvPr id="4" name="ZoneTexte 3">
            <a:extLst>
              <a:ext uri="{FF2B5EF4-FFF2-40B4-BE49-F238E27FC236}">
                <a16:creationId xmlns:a16="http://schemas.microsoft.com/office/drawing/2014/main" id="{33AEC1D6-2954-E742-A86C-A5D276EB764A}"/>
              </a:ext>
            </a:extLst>
          </p:cNvPr>
          <p:cNvSpPr txBox="1"/>
          <p:nvPr/>
        </p:nvSpPr>
        <p:spPr>
          <a:xfrm>
            <a:off x="280903" y="3720623"/>
            <a:ext cx="2629212" cy="827315"/>
          </a:xfrm>
          <a:prstGeom prst="rect">
            <a:avLst/>
          </a:prstGeom>
        </p:spPr>
        <p:txBody>
          <a:bodyPr vert="horz" wrap="square" lIns="91440" tIns="45720" rIns="91440" bIns="45720" rtlCol="0">
            <a:normAutofit/>
          </a:bodyPr>
          <a:lstStyle/>
          <a:p>
            <a:pPr>
              <a:buClr>
                <a:schemeClr val="accent2"/>
              </a:buClr>
              <a:buSzPct val="125000"/>
            </a:pPr>
            <a:r>
              <a:rPr lang="fr-CA" sz="1200" b="0" dirty="0">
                <a:solidFill>
                  <a:srgbClr val="002060"/>
                </a:solidFill>
              </a:rPr>
              <a:t>© Adaptation par Laurence Daoust de la présentation de Hugo Lesley et Marc-André Nadon. Hiver 2025.</a:t>
            </a:r>
            <a:endParaRPr lang="fr-CA" sz="1100" dirty="0">
              <a:solidFill>
                <a:srgbClr val="002060"/>
              </a:solidFill>
            </a:endParaRPr>
          </a:p>
        </p:txBody>
      </p:sp>
    </p:spTree>
    <p:extLst>
      <p:ext uri="{BB962C8B-B14F-4D97-AF65-F5344CB8AC3E}">
        <p14:creationId xmlns:p14="http://schemas.microsoft.com/office/powerpoint/2010/main" val="4778935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2C6F877-6017-CB4A-B39C-146618E9D870}"/>
              </a:ext>
            </a:extLst>
          </p:cNvPr>
          <p:cNvSpPr/>
          <p:nvPr>
            <p:custDataLst>
              <p:tags r:id="rId1"/>
            </p:custDataLst>
          </p:nvPr>
        </p:nvSpPr>
        <p:spPr>
          <a:xfrm>
            <a:off x="0" y="1028784"/>
            <a:ext cx="9144000" cy="161390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767AF946-DEF3-7A49-BB05-AB39E242A598}"/>
              </a:ext>
            </a:extLst>
          </p:cNvPr>
          <p:cNvSpPr/>
          <p:nvPr>
            <p:custDataLst>
              <p:tags r:id="rId2"/>
            </p:custDataLst>
          </p:nvPr>
        </p:nvSpPr>
        <p:spPr>
          <a:xfrm>
            <a:off x="0" y="2608986"/>
            <a:ext cx="9144000" cy="1472024"/>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Content Placeholder 1">
            <a:extLst>
              <a:ext uri="{FF2B5EF4-FFF2-40B4-BE49-F238E27FC236}">
                <a16:creationId xmlns:a16="http://schemas.microsoft.com/office/drawing/2014/main" id="{F8E21C7D-95F7-6F4A-95EB-748ABBF7AF08}"/>
              </a:ext>
            </a:extLst>
          </p:cNvPr>
          <p:cNvSpPr txBox="1">
            <a:spLocks/>
          </p:cNvSpPr>
          <p:nvPr>
            <p:custDataLst>
              <p:tags r:id="rId3"/>
            </p:custDataLst>
          </p:nvPr>
        </p:nvSpPr>
        <p:spPr>
          <a:xfrm>
            <a:off x="1075285" y="1253237"/>
            <a:ext cx="8186400" cy="1247573"/>
          </a:xfrm>
          <a:prstGeom prst="rect">
            <a:avLst/>
          </a:prstGeom>
        </p:spPr>
        <p:txBody>
          <a:bodyPr vert="horz" lIns="91440" tIns="45720" rIns="91440" bIns="45720" rtlCol="0">
            <a:normAutofit/>
          </a:bodyPr>
          <a:lstStyle>
            <a:lvl1pPr marL="0" indent="0" algn="l" defTabSz="822960" rtl="0" eaLnBrk="1" latinLnBrk="0" hangingPunct="1">
              <a:spcBef>
                <a:spcPct val="20000"/>
              </a:spcBef>
              <a:buClr>
                <a:schemeClr val="accent2"/>
              </a:buClr>
              <a:buSzPct val="125000"/>
              <a:buFont typeface="Arial" pitchFamily="34" charset="0"/>
              <a:buNone/>
              <a:defRPr sz="1503" kern="1200">
                <a:solidFill>
                  <a:schemeClr val="tx1"/>
                </a:solidFill>
                <a:latin typeface="+mn-lt"/>
                <a:ea typeface="+mn-ea"/>
                <a:cs typeface="+mn-cs"/>
              </a:defRPr>
            </a:lvl1pPr>
            <a:lvl2pPr marL="408240" indent="-139320" algn="l" defTabSz="822960" rtl="0" eaLnBrk="1" latinLnBrk="0" hangingPunct="1">
              <a:spcBef>
                <a:spcPct val="20000"/>
              </a:spcBef>
              <a:buClr>
                <a:schemeClr val="accent2"/>
              </a:buClr>
              <a:buSzPct val="125000"/>
              <a:buFont typeface="Arial" pitchFamily="34" charset="0"/>
              <a:buChar char="•"/>
              <a:defRPr sz="1503" kern="1200">
                <a:solidFill>
                  <a:schemeClr val="tx1"/>
                </a:solidFill>
                <a:latin typeface="+mn-lt"/>
                <a:ea typeface="+mn-ea"/>
                <a:cs typeface="+mn-cs"/>
              </a:defRPr>
            </a:lvl2pPr>
            <a:lvl3pPr marL="677160" indent="-139320" algn="l" defTabSz="822960" rtl="0" eaLnBrk="1" latinLnBrk="0" hangingPunct="1">
              <a:spcBef>
                <a:spcPct val="20000"/>
              </a:spcBef>
              <a:buClr>
                <a:schemeClr val="accent2"/>
              </a:buClr>
              <a:buSzPct val="125000"/>
              <a:buFont typeface="Arial" pitchFamily="34" charset="0"/>
              <a:buChar char="•"/>
              <a:defRPr sz="1503" kern="1200">
                <a:solidFill>
                  <a:schemeClr val="tx1"/>
                </a:solidFill>
                <a:latin typeface="+mn-lt"/>
                <a:ea typeface="+mn-ea"/>
                <a:cs typeface="+mn-cs"/>
              </a:defRPr>
            </a:lvl3pPr>
            <a:lvl4pPr marL="942840" indent="-139320" algn="l" defTabSz="822960" rtl="0" eaLnBrk="1" latinLnBrk="0" hangingPunct="1">
              <a:spcBef>
                <a:spcPct val="20000"/>
              </a:spcBef>
              <a:buClr>
                <a:schemeClr val="accent2"/>
              </a:buClr>
              <a:buSzPct val="125000"/>
              <a:buFont typeface="Arial" pitchFamily="34" charset="0"/>
              <a:buChar char="•"/>
              <a:defRPr sz="1503" kern="1200">
                <a:solidFill>
                  <a:schemeClr val="tx1"/>
                </a:solidFill>
                <a:latin typeface="+mn-lt"/>
                <a:ea typeface="+mn-ea"/>
                <a:cs typeface="+mn-cs"/>
              </a:defRPr>
            </a:lvl4pPr>
            <a:lvl5pPr marL="1211760" indent="-139320" algn="l" defTabSz="822960" rtl="0" eaLnBrk="1" latinLnBrk="0" hangingPunct="1">
              <a:spcBef>
                <a:spcPct val="20000"/>
              </a:spcBef>
              <a:buClr>
                <a:schemeClr val="accent2"/>
              </a:buClr>
              <a:buSzPct val="125000"/>
              <a:buFont typeface="Arial" pitchFamily="34" charset="0"/>
              <a:buChar char="•"/>
              <a:defRPr sz="1503" kern="1200">
                <a:solidFill>
                  <a:schemeClr val="tx1"/>
                </a:solidFill>
                <a:latin typeface="+mn-lt"/>
                <a:ea typeface="+mn-ea"/>
                <a:cs typeface="+mn-cs"/>
              </a:defRPr>
            </a:lvl5pPr>
            <a:lvl6pPr marL="2263140" indent="-205740" algn="l" defTabSz="82296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674620" indent="-205740" algn="l" defTabSz="82296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086100" indent="-205740" algn="l" defTabSz="82296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497580" indent="-205740" algn="l" defTabSz="822960" rtl="0" eaLnBrk="1" latinLnBrk="0" hangingPunct="1">
              <a:spcBef>
                <a:spcPct val="20000"/>
              </a:spcBef>
              <a:buFont typeface="Arial" pitchFamily="34" charset="0"/>
              <a:buChar char="•"/>
              <a:defRPr sz="1800" kern="1200">
                <a:solidFill>
                  <a:schemeClr val="tx1"/>
                </a:solidFill>
                <a:latin typeface="+mn-lt"/>
                <a:ea typeface="+mn-ea"/>
                <a:cs typeface="+mn-cs"/>
              </a:defRPr>
            </a:lvl9pPr>
          </a:lstStyle>
          <a:p>
            <a:pPr>
              <a:spcBef>
                <a:spcPts val="1800"/>
              </a:spcBef>
            </a:pPr>
            <a:r>
              <a:rPr lang="fr-CA" sz="1800" dirty="0"/>
              <a:t>Rôles et mandats en certification</a:t>
            </a:r>
          </a:p>
          <a:p>
            <a:pPr marL="342900" indent="-342900">
              <a:buClr>
                <a:schemeClr val="tx1"/>
              </a:buClr>
              <a:buFont typeface="+mj-lt"/>
              <a:buAutoNum type="alphaLcParenR"/>
            </a:pPr>
            <a:r>
              <a:rPr lang="fr-CA" sz="1600" dirty="0"/>
              <a:t>Enjeux des missions de certification</a:t>
            </a:r>
          </a:p>
          <a:p>
            <a:pPr marL="342900" indent="-342900">
              <a:buClr>
                <a:schemeClr val="tx1"/>
              </a:buClr>
              <a:buFont typeface="+mj-lt"/>
              <a:buAutoNum type="alphaLcParenR"/>
            </a:pPr>
            <a:r>
              <a:rPr lang="fr-CA" sz="1600" dirty="0"/>
              <a:t>Plan de réponse classique</a:t>
            </a:r>
          </a:p>
        </p:txBody>
      </p:sp>
      <p:sp>
        <p:nvSpPr>
          <p:cNvPr id="11" name="Content Placeholder 1">
            <a:extLst>
              <a:ext uri="{FF2B5EF4-FFF2-40B4-BE49-F238E27FC236}">
                <a16:creationId xmlns:a16="http://schemas.microsoft.com/office/drawing/2014/main" id="{94EB02BD-9BF8-C548-8787-F51ED6B82FDA}"/>
              </a:ext>
            </a:extLst>
          </p:cNvPr>
          <p:cNvSpPr txBox="1">
            <a:spLocks/>
          </p:cNvSpPr>
          <p:nvPr>
            <p:custDataLst>
              <p:tags r:id="rId4"/>
            </p:custDataLst>
          </p:nvPr>
        </p:nvSpPr>
        <p:spPr>
          <a:xfrm>
            <a:off x="561880" y="1023383"/>
            <a:ext cx="545809" cy="826017"/>
          </a:xfrm>
          <a:prstGeom prst="rect">
            <a:avLst/>
          </a:prstGeom>
        </p:spPr>
        <p:txBody>
          <a:bodyPr vert="horz" lIns="91440" tIns="45720" rIns="91440" bIns="45720" rtlCol="0">
            <a:noAutofit/>
          </a:bodyPr>
          <a:lstStyle>
            <a:lvl1pPr marL="139320" indent="-139320" algn="l" defTabSz="822960" rtl="0" eaLnBrk="1" latinLnBrk="0" hangingPunct="1">
              <a:spcBef>
                <a:spcPct val="20000"/>
              </a:spcBef>
              <a:buClr>
                <a:schemeClr val="accent2"/>
              </a:buClr>
              <a:buSzPct val="125000"/>
              <a:buFont typeface="Arial" pitchFamily="34" charset="0"/>
              <a:buChar char="•"/>
              <a:defRPr sz="1503" kern="1200">
                <a:solidFill>
                  <a:schemeClr val="tx1"/>
                </a:solidFill>
                <a:latin typeface="+mn-lt"/>
                <a:ea typeface="+mn-ea"/>
                <a:cs typeface="+mn-cs"/>
              </a:defRPr>
            </a:lvl1pPr>
            <a:lvl2pPr marL="408240" indent="-139320" algn="l" defTabSz="822960" rtl="0" eaLnBrk="1" latinLnBrk="0" hangingPunct="1">
              <a:spcBef>
                <a:spcPct val="20000"/>
              </a:spcBef>
              <a:buClr>
                <a:schemeClr val="accent2"/>
              </a:buClr>
              <a:buSzPct val="125000"/>
              <a:buFont typeface="Arial" pitchFamily="34" charset="0"/>
              <a:buChar char="•"/>
              <a:defRPr sz="1503" kern="1200">
                <a:solidFill>
                  <a:schemeClr val="tx1"/>
                </a:solidFill>
                <a:latin typeface="+mn-lt"/>
                <a:ea typeface="+mn-ea"/>
                <a:cs typeface="+mn-cs"/>
              </a:defRPr>
            </a:lvl2pPr>
            <a:lvl3pPr marL="677160" indent="-139320" algn="l" defTabSz="822960" rtl="0" eaLnBrk="1" latinLnBrk="0" hangingPunct="1">
              <a:spcBef>
                <a:spcPct val="20000"/>
              </a:spcBef>
              <a:buClr>
                <a:schemeClr val="accent2"/>
              </a:buClr>
              <a:buSzPct val="125000"/>
              <a:buFont typeface="Arial" pitchFamily="34" charset="0"/>
              <a:buChar char="•"/>
              <a:defRPr sz="1503" kern="1200">
                <a:solidFill>
                  <a:schemeClr val="tx1"/>
                </a:solidFill>
                <a:latin typeface="+mn-lt"/>
                <a:ea typeface="+mn-ea"/>
                <a:cs typeface="+mn-cs"/>
              </a:defRPr>
            </a:lvl3pPr>
            <a:lvl4pPr marL="942840" indent="-139320" algn="l" defTabSz="822960" rtl="0" eaLnBrk="1" latinLnBrk="0" hangingPunct="1">
              <a:spcBef>
                <a:spcPct val="20000"/>
              </a:spcBef>
              <a:buClr>
                <a:schemeClr val="accent2"/>
              </a:buClr>
              <a:buSzPct val="125000"/>
              <a:buFont typeface="Arial" pitchFamily="34" charset="0"/>
              <a:buChar char="•"/>
              <a:defRPr sz="1503" kern="1200">
                <a:solidFill>
                  <a:schemeClr val="tx1"/>
                </a:solidFill>
                <a:latin typeface="+mn-lt"/>
                <a:ea typeface="+mn-ea"/>
                <a:cs typeface="+mn-cs"/>
              </a:defRPr>
            </a:lvl4pPr>
            <a:lvl5pPr marL="1211760" indent="-139320" algn="l" defTabSz="822960" rtl="0" eaLnBrk="1" latinLnBrk="0" hangingPunct="1">
              <a:spcBef>
                <a:spcPct val="20000"/>
              </a:spcBef>
              <a:buClr>
                <a:schemeClr val="accent2"/>
              </a:buClr>
              <a:buSzPct val="125000"/>
              <a:buFont typeface="Arial" pitchFamily="34" charset="0"/>
              <a:buChar char="•"/>
              <a:defRPr sz="1503" kern="1200">
                <a:solidFill>
                  <a:schemeClr val="tx1"/>
                </a:solidFill>
                <a:latin typeface="+mn-lt"/>
                <a:ea typeface="+mn-ea"/>
                <a:cs typeface="+mn-cs"/>
              </a:defRPr>
            </a:lvl5pPr>
            <a:lvl6pPr marL="2263140" indent="-205740" algn="l" defTabSz="82296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674620" indent="-205740" algn="l" defTabSz="82296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086100" indent="-205740" algn="l" defTabSz="82296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497580" indent="-205740" algn="l" defTabSz="822960" rtl="0" eaLnBrk="1" latinLnBrk="0" hangingPunct="1">
              <a:spcBef>
                <a:spcPct val="20000"/>
              </a:spcBef>
              <a:buFont typeface="Arial" pitchFamily="34" charset="0"/>
              <a:buChar char="•"/>
              <a:defRPr sz="1800" kern="1200">
                <a:solidFill>
                  <a:schemeClr val="tx1"/>
                </a:solidFill>
                <a:latin typeface="+mn-lt"/>
                <a:ea typeface="+mn-ea"/>
                <a:cs typeface="+mn-cs"/>
              </a:defRPr>
            </a:lvl9pPr>
          </a:lstStyle>
          <a:p>
            <a:pPr marL="0" indent="0">
              <a:spcBef>
                <a:spcPts val="1800"/>
              </a:spcBef>
              <a:buFont typeface="Arial" pitchFamily="34" charset="0"/>
              <a:buNone/>
            </a:pPr>
            <a:r>
              <a:rPr lang="fr-CA" sz="4400" b="1" dirty="0"/>
              <a:t>1</a:t>
            </a:r>
          </a:p>
        </p:txBody>
      </p:sp>
      <p:sp>
        <p:nvSpPr>
          <p:cNvPr id="12" name="Content Placeholder 1">
            <a:extLst>
              <a:ext uri="{FF2B5EF4-FFF2-40B4-BE49-F238E27FC236}">
                <a16:creationId xmlns:a16="http://schemas.microsoft.com/office/drawing/2014/main" id="{DCC4DBD2-B9E7-394F-8022-1135EFA62246}"/>
              </a:ext>
            </a:extLst>
          </p:cNvPr>
          <p:cNvSpPr txBox="1">
            <a:spLocks/>
          </p:cNvSpPr>
          <p:nvPr>
            <p:custDataLst>
              <p:tags r:id="rId5"/>
            </p:custDataLst>
          </p:nvPr>
        </p:nvSpPr>
        <p:spPr>
          <a:xfrm>
            <a:off x="561880" y="2615594"/>
            <a:ext cx="545809" cy="826017"/>
          </a:xfrm>
          <a:prstGeom prst="rect">
            <a:avLst/>
          </a:prstGeom>
        </p:spPr>
        <p:txBody>
          <a:bodyPr vert="horz" lIns="91440" tIns="45720" rIns="91440" bIns="45720" rtlCol="0">
            <a:noAutofit/>
          </a:bodyPr>
          <a:lstStyle>
            <a:lvl1pPr marL="139320" indent="-139320" algn="l" defTabSz="822960" rtl="0" eaLnBrk="1" latinLnBrk="0" hangingPunct="1">
              <a:spcBef>
                <a:spcPct val="20000"/>
              </a:spcBef>
              <a:buClr>
                <a:schemeClr val="accent2"/>
              </a:buClr>
              <a:buSzPct val="125000"/>
              <a:buFont typeface="Arial" pitchFamily="34" charset="0"/>
              <a:buChar char="•"/>
              <a:defRPr sz="1503" kern="1200">
                <a:solidFill>
                  <a:schemeClr val="tx1"/>
                </a:solidFill>
                <a:latin typeface="+mn-lt"/>
                <a:ea typeface="+mn-ea"/>
                <a:cs typeface="+mn-cs"/>
              </a:defRPr>
            </a:lvl1pPr>
            <a:lvl2pPr marL="408240" indent="-139320" algn="l" defTabSz="822960" rtl="0" eaLnBrk="1" latinLnBrk="0" hangingPunct="1">
              <a:spcBef>
                <a:spcPct val="20000"/>
              </a:spcBef>
              <a:buClr>
                <a:schemeClr val="accent2"/>
              </a:buClr>
              <a:buSzPct val="125000"/>
              <a:buFont typeface="Arial" pitchFamily="34" charset="0"/>
              <a:buChar char="•"/>
              <a:defRPr sz="1503" kern="1200">
                <a:solidFill>
                  <a:schemeClr val="tx1"/>
                </a:solidFill>
                <a:latin typeface="+mn-lt"/>
                <a:ea typeface="+mn-ea"/>
                <a:cs typeface="+mn-cs"/>
              </a:defRPr>
            </a:lvl2pPr>
            <a:lvl3pPr marL="677160" indent="-139320" algn="l" defTabSz="822960" rtl="0" eaLnBrk="1" latinLnBrk="0" hangingPunct="1">
              <a:spcBef>
                <a:spcPct val="20000"/>
              </a:spcBef>
              <a:buClr>
                <a:schemeClr val="accent2"/>
              </a:buClr>
              <a:buSzPct val="125000"/>
              <a:buFont typeface="Arial" pitchFamily="34" charset="0"/>
              <a:buChar char="•"/>
              <a:defRPr sz="1503" kern="1200">
                <a:solidFill>
                  <a:schemeClr val="tx1"/>
                </a:solidFill>
                <a:latin typeface="+mn-lt"/>
                <a:ea typeface="+mn-ea"/>
                <a:cs typeface="+mn-cs"/>
              </a:defRPr>
            </a:lvl3pPr>
            <a:lvl4pPr marL="942840" indent="-139320" algn="l" defTabSz="822960" rtl="0" eaLnBrk="1" latinLnBrk="0" hangingPunct="1">
              <a:spcBef>
                <a:spcPct val="20000"/>
              </a:spcBef>
              <a:buClr>
                <a:schemeClr val="accent2"/>
              </a:buClr>
              <a:buSzPct val="125000"/>
              <a:buFont typeface="Arial" pitchFamily="34" charset="0"/>
              <a:buChar char="•"/>
              <a:defRPr sz="1503" kern="1200">
                <a:solidFill>
                  <a:schemeClr val="tx1"/>
                </a:solidFill>
                <a:latin typeface="+mn-lt"/>
                <a:ea typeface="+mn-ea"/>
                <a:cs typeface="+mn-cs"/>
              </a:defRPr>
            </a:lvl4pPr>
            <a:lvl5pPr marL="1211760" indent="-139320" algn="l" defTabSz="822960" rtl="0" eaLnBrk="1" latinLnBrk="0" hangingPunct="1">
              <a:spcBef>
                <a:spcPct val="20000"/>
              </a:spcBef>
              <a:buClr>
                <a:schemeClr val="accent2"/>
              </a:buClr>
              <a:buSzPct val="125000"/>
              <a:buFont typeface="Arial" pitchFamily="34" charset="0"/>
              <a:buChar char="•"/>
              <a:defRPr sz="1503" kern="1200">
                <a:solidFill>
                  <a:schemeClr val="tx1"/>
                </a:solidFill>
                <a:latin typeface="+mn-lt"/>
                <a:ea typeface="+mn-ea"/>
                <a:cs typeface="+mn-cs"/>
              </a:defRPr>
            </a:lvl5pPr>
            <a:lvl6pPr marL="2263140" indent="-205740" algn="l" defTabSz="82296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674620" indent="-205740" algn="l" defTabSz="82296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086100" indent="-205740" algn="l" defTabSz="82296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497580" indent="-205740" algn="l" defTabSz="822960" rtl="0" eaLnBrk="1" latinLnBrk="0" hangingPunct="1">
              <a:spcBef>
                <a:spcPct val="20000"/>
              </a:spcBef>
              <a:buFont typeface="Arial" pitchFamily="34" charset="0"/>
              <a:buChar char="•"/>
              <a:defRPr sz="1800" kern="1200">
                <a:solidFill>
                  <a:schemeClr val="tx1"/>
                </a:solidFill>
                <a:latin typeface="+mn-lt"/>
                <a:ea typeface="+mn-ea"/>
                <a:cs typeface="+mn-cs"/>
              </a:defRPr>
            </a:lvl9pPr>
          </a:lstStyle>
          <a:p>
            <a:pPr marL="0" indent="0">
              <a:spcBef>
                <a:spcPts val="1800"/>
              </a:spcBef>
              <a:buFont typeface="Arial" pitchFamily="34" charset="0"/>
              <a:buNone/>
            </a:pPr>
            <a:r>
              <a:rPr lang="fr-CA" sz="4400" b="1" dirty="0">
                <a:solidFill>
                  <a:schemeClr val="bg2"/>
                </a:solidFill>
              </a:rPr>
              <a:t>2</a:t>
            </a:r>
          </a:p>
        </p:txBody>
      </p:sp>
      <p:sp>
        <p:nvSpPr>
          <p:cNvPr id="13" name="Content Placeholder 1">
            <a:extLst>
              <a:ext uri="{FF2B5EF4-FFF2-40B4-BE49-F238E27FC236}">
                <a16:creationId xmlns:a16="http://schemas.microsoft.com/office/drawing/2014/main" id="{A749742A-D9FB-6F47-BD34-0BBEE13177EF}"/>
              </a:ext>
            </a:extLst>
          </p:cNvPr>
          <p:cNvSpPr txBox="1">
            <a:spLocks/>
          </p:cNvSpPr>
          <p:nvPr>
            <p:custDataLst>
              <p:tags r:id="rId6"/>
            </p:custDataLst>
          </p:nvPr>
        </p:nvSpPr>
        <p:spPr>
          <a:xfrm>
            <a:off x="561880" y="2673763"/>
            <a:ext cx="545809" cy="826017"/>
          </a:xfrm>
          <a:prstGeom prst="rect">
            <a:avLst/>
          </a:prstGeom>
        </p:spPr>
        <p:txBody>
          <a:bodyPr vert="horz" lIns="91440" tIns="45720" rIns="91440" bIns="45720" rtlCol="0">
            <a:noAutofit/>
          </a:bodyPr>
          <a:lstStyle>
            <a:lvl1pPr marL="139320" indent="-139320" algn="l" defTabSz="822960" rtl="0" eaLnBrk="1" latinLnBrk="0" hangingPunct="1">
              <a:spcBef>
                <a:spcPct val="20000"/>
              </a:spcBef>
              <a:buClr>
                <a:schemeClr val="accent2"/>
              </a:buClr>
              <a:buSzPct val="125000"/>
              <a:buFont typeface="Arial" pitchFamily="34" charset="0"/>
              <a:buChar char="•"/>
              <a:defRPr sz="1503" kern="1200">
                <a:solidFill>
                  <a:schemeClr val="tx1"/>
                </a:solidFill>
                <a:latin typeface="+mn-lt"/>
                <a:ea typeface="+mn-ea"/>
                <a:cs typeface="+mn-cs"/>
              </a:defRPr>
            </a:lvl1pPr>
            <a:lvl2pPr marL="408240" indent="-139320" algn="l" defTabSz="822960" rtl="0" eaLnBrk="1" latinLnBrk="0" hangingPunct="1">
              <a:spcBef>
                <a:spcPct val="20000"/>
              </a:spcBef>
              <a:buClr>
                <a:schemeClr val="accent2"/>
              </a:buClr>
              <a:buSzPct val="125000"/>
              <a:buFont typeface="Arial" pitchFamily="34" charset="0"/>
              <a:buChar char="•"/>
              <a:defRPr sz="1503" kern="1200">
                <a:solidFill>
                  <a:schemeClr val="tx1"/>
                </a:solidFill>
                <a:latin typeface="+mn-lt"/>
                <a:ea typeface="+mn-ea"/>
                <a:cs typeface="+mn-cs"/>
              </a:defRPr>
            </a:lvl2pPr>
            <a:lvl3pPr marL="677160" indent="-139320" algn="l" defTabSz="822960" rtl="0" eaLnBrk="1" latinLnBrk="0" hangingPunct="1">
              <a:spcBef>
                <a:spcPct val="20000"/>
              </a:spcBef>
              <a:buClr>
                <a:schemeClr val="accent2"/>
              </a:buClr>
              <a:buSzPct val="125000"/>
              <a:buFont typeface="Arial" pitchFamily="34" charset="0"/>
              <a:buChar char="•"/>
              <a:defRPr sz="1503" kern="1200">
                <a:solidFill>
                  <a:schemeClr val="tx1"/>
                </a:solidFill>
                <a:latin typeface="+mn-lt"/>
                <a:ea typeface="+mn-ea"/>
                <a:cs typeface="+mn-cs"/>
              </a:defRPr>
            </a:lvl3pPr>
            <a:lvl4pPr marL="942840" indent="-139320" algn="l" defTabSz="822960" rtl="0" eaLnBrk="1" latinLnBrk="0" hangingPunct="1">
              <a:spcBef>
                <a:spcPct val="20000"/>
              </a:spcBef>
              <a:buClr>
                <a:schemeClr val="accent2"/>
              </a:buClr>
              <a:buSzPct val="125000"/>
              <a:buFont typeface="Arial" pitchFamily="34" charset="0"/>
              <a:buChar char="•"/>
              <a:defRPr sz="1503" kern="1200">
                <a:solidFill>
                  <a:schemeClr val="tx1"/>
                </a:solidFill>
                <a:latin typeface="+mn-lt"/>
                <a:ea typeface="+mn-ea"/>
                <a:cs typeface="+mn-cs"/>
              </a:defRPr>
            </a:lvl4pPr>
            <a:lvl5pPr marL="1211760" indent="-139320" algn="l" defTabSz="822960" rtl="0" eaLnBrk="1" latinLnBrk="0" hangingPunct="1">
              <a:spcBef>
                <a:spcPct val="20000"/>
              </a:spcBef>
              <a:buClr>
                <a:schemeClr val="accent2"/>
              </a:buClr>
              <a:buSzPct val="125000"/>
              <a:buFont typeface="Arial" pitchFamily="34" charset="0"/>
              <a:buChar char="•"/>
              <a:defRPr sz="1503" kern="1200">
                <a:solidFill>
                  <a:schemeClr val="tx1"/>
                </a:solidFill>
                <a:latin typeface="+mn-lt"/>
                <a:ea typeface="+mn-ea"/>
                <a:cs typeface="+mn-cs"/>
              </a:defRPr>
            </a:lvl5pPr>
            <a:lvl6pPr marL="2263140" indent="-205740" algn="l" defTabSz="82296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674620" indent="-205740" algn="l" defTabSz="82296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086100" indent="-205740" algn="l" defTabSz="82296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497580" indent="-205740" algn="l" defTabSz="822960" rtl="0" eaLnBrk="1" latinLnBrk="0" hangingPunct="1">
              <a:spcBef>
                <a:spcPct val="20000"/>
              </a:spcBef>
              <a:buFont typeface="Arial" pitchFamily="34" charset="0"/>
              <a:buChar char="•"/>
              <a:defRPr sz="1800" kern="1200">
                <a:solidFill>
                  <a:schemeClr val="tx1"/>
                </a:solidFill>
                <a:latin typeface="+mn-lt"/>
                <a:ea typeface="+mn-ea"/>
                <a:cs typeface="+mn-cs"/>
              </a:defRPr>
            </a:lvl9pPr>
          </a:lstStyle>
          <a:p>
            <a:pPr marL="0" indent="0">
              <a:spcBef>
                <a:spcPts val="1800"/>
              </a:spcBef>
              <a:buFont typeface="Arial" pitchFamily="34" charset="0"/>
              <a:buNone/>
            </a:pPr>
            <a:endParaRPr lang="fr-CA" sz="4400" b="1" dirty="0">
              <a:solidFill>
                <a:schemeClr val="bg1"/>
              </a:solidFill>
            </a:endParaRPr>
          </a:p>
        </p:txBody>
      </p:sp>
      <p:sp>
        <p:nvSpPr>
          <p:cNvPr id="16" name="Content Placeholder 1">
            <a:extLst>
              <a:ext uri="{FF2B5EF4-FFF2-40B4-BE49-F238E27FC236}">
                <a16:creationId xmlns:a16="http://schemas.microsoft.com/office/drawing/2014/main" id="{3CFB5115-273C-1147-9C2A-02BE1CAB7C60}"/>
              </a:ext>
            </a:extLst>
          </p:cNvPr>
          <p:cNvSpPr txBox="1">
            <a:spLocks/>
          </p:cNvSpPr>
          <p:nvPr>
            <p:custDataLst>
              <p:tags r:id="rId7"/>
            </p:custDataLst>
          </p:nvPr>
        </p:nvSpPr>
        <p:spPr>
          <a:xfrm>
            <a:off x="1075285" y="2823146"/>
            <a:ext cx="8186400" cy="1324656"/>
          </a:xfrm>
          <a:prstGeom prst="rect">
            <a:avLst/>
          </a:prstGeom>
        </p:spPr>
        <p:txBody>
          <a:bodyPr vert="horz" lIns="91440" tIns="45720" rIns="91440" bIns="45720" rtlCol="0">
            <a:normAutofit/>
          </a:bodyPr>
          <a:lstStyle>
            <a:lvl1pPr marL="139320" indent="-139320" algn="l" defTabSz="822960" rtl="0" eaLnBrk="1" latinLnBrk="0" hangingPunct="1">
              <a:spcBef>
                <a:spcPct val="20000"/>
              </a:spcBef>
              <a:buClr>
                <a:schemeClr val="accent2"/>
              </a:buClr>
              <a:buSzPct val="125000"/>
              <a:buFont typeface="Arial" pitchFamily="34" charset="0"/>
              <a:buChar char="•"/>
              <a:defRPr sz="1503" kern="1200">
                <a:solidFill>
                  <a:schemeClr val="tx1"/>
                </a:solidFill>
                <a:latin typeface="+mn-lt"/>
                <a:ea typeface="+mn-ea"/>
                <a:cs typeface="+mn-cs"/>
              </a:defRPr>
            </a:lvl1pPr>
            <a:lvl2pPr marL="408240" indent="-139320" algn="l" defTabSz="822960" rtl="0" eaLnBrk="1" latinLnBrk="0" hangingPunct="1">
              <a:spcBef>
                <a:spcPct val="20000"/>
              </a:spcBef>
              <a:buClr>
                <a:schemeClr val="accent2"/>
              </a:buClr>
              <a:buSzPct val="125000"/>
              <a:buFont typeface="Arial" pitchFamily="34" charset="0"/>
              <a:buChar char="•"/>
              <a:defRPr sz="1503" kern="1200">
                <a:solidFill>
                  <a:schemeClr val="tx1"/>
                </a:solidFill>
                <a:latin typeface="+mn-lt"/>
                <a:ea typeface="+mn-ea"/>
                <a:cs typeface="+mn-cs"/>
              </a:defRPr>
            </a:lvl2pPr>
            <a:lvl3pPr marL="677160" indent="-139320" algn="l" defTabSz="822960" rtl="0" eaLnBrk="1" latinLnBrk="0" hangingPunct="1">
              <a:spcBef>
                <a:spcPct val="20000"/>
              </a:spcBef>
              <a:buClr>
                <a:schemeClr val="accent2"/>
              </a:buClr>
              <a:buSzPct val="125000"/>
              <a:buFont typeface="Arial" pitchFamily="34" charset="0"/>
              <a:buChar char="•"/>
              <a:defRPr sz="1503" kern="1200">
                <a:solidFill>
                  <a:schemeClr val="tx1"/>
                </a:solidFill>
                <a:latin typeface="+mn-lt"/>
                <a:ea typeface="+mn-ea"/>
                <a:cs typeface="+mn-cs"/>
              </a:defRPr>
            </a:lvl3pPr>
            <a:lvl4pPr marL="942840" indent="-139320" algn="l" defTabSz="822960" rtl="0" eaLnBrk="1" latinLnBrk="0" hangingPunct="1">
              <a:spcBef>
                <a:spcPct val="20000"/>
              </a:spcBef>
              <a:buClr>
                <a:schemeClr val="accent2"/>
              </a:buClr>
              <a:buSzPct val="125000"/>
              <a:buFont typeface="Arial" pitchFamily="34" charset="0"/>
              <a:buChar char="•"/>
              <a:defRPr sz="1503" kern="1200">
                <a:solidFill>
                  <a:schemeClr val="tx1"/>
                </a:solidFill>
                <a:latin typeface="+mn-lt"/>
                <a:ea typeface="+mn-ea"/>
                <a:cs typeface="+mn-cs"/>
              </a:defRPr>
            </a:lvl4pPr>
            <a:lvl5pPr marL="1211760" indent="-139320" algn="l" defTabSz="822960" rtl="0" eaLnBrk="1" latinLnBrk="0" hangingPunct="1">
              <a:spcBef>
                <a:spcPct val="20000"/>
              </a:spcBef>
              <a:buClr>
                <a:schemeClr val="accent2"/>
              </a:buClr>
              <a:buSzPct val="125000"/>
              <a:buFont typeface="Arial" pitchFamily="34" charset="0"/>
              <a:buChar char="•"/>
              <a:defRPr sz="1503" kern="1200">
                <a:solidFill>
                  <a:schemeClr val="tx1"/>
                </a:solidFill>
                <a:latin typeface="+mn-lt"/>
                <a:ea typeface="+mn-ea"/>
                <a:cs typeface="+mn-cs"/>
              </a:defRPr>
            </a:lvl5pPr>
            <a:lvl6pPr marL="2263140" indent="-205740" algn="l" defTabSz="82296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674620" indent="-205740" algn="l" defTabSz="82296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086100" indent="-205740" algn="l" defTabSz="82296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497580" indent="-205740" algn="l" defTabSz="822960" rtl="0" eaLnBrk="1" latinLnBrk="0" hangingPunct="1">
              <a:spcBef>
                <a:spcPct val="20000"/>
              </a:spcBef>
              <a:buFont typeface="Arial" pitchFamily="34" charset="0"/>
              <a:buChar char="•"/>
              <a:defRPr sz="1800" kern="1200">
                <a:solidFill>
                  <a:schemeClr val="tx1"/>
                </a:solidFill>
                <a:latin typeface="+mn-lt"/>
                <a:ea typeface="+mn-ea"/>
                <a:cs typeface="+mn-cs"/>
              </a:defRPr>
            </a:lvl9pPr>
          </a:lstStyle>
          <a:p>
            <a:pPr marL="0" indent="0">
              <a:spcBef>
                <a:spcPts val="1800"/>
              </a:spcBef>
              <a:buNone/>
            </a:pPr>
            <a:r>
              <a:rPr lang="fr-CA" sz="1800" dirty="0">
                <a:solidFill>
                  <a:schemeClr val="bg2"/>
                </a:solidFill>
              </a:rPr>
              <a:t>Rétroaction du cas Belle Construction Inc.</a:t>
            </a:r>
          </a:p>
          <a:p>
            <a:pPr marL="342900" indent="-342900">
              <a:buClr>
                <a:schemeClr val="bg2"/>
              </a:buClr>
              <a:buFont typeface="+mj-lt"/>
              <a:buAutoNum type="alphaLcParenR"/>
            </a:pPr>
            <a:r>
              <a:rPr lang="fr-CA" sz="1600" dirty="0">
                <a:solidFill>
                  <a:schemeClr val="bg2"/>
                </a:solidFill>
              </a:rPr>
              <a:t>Rétroaction</a:t>
            </a:r>
          </a:p>
          <a:p>
            <a:pPr marL="342900" indent="-342900">
              <a:buClr>
                <a:schemeClr val="bg2"/>
              </a:buClr>
              <a:buFont typeface="+mj-lt"/>
              <a:buAutoNum type="alphaLcParenR"/>
            </a:pPr>
            <a:r>
              <a:rPr lang="fr-CA" sz="1600" dirty="0">
                <a:solidFill>
                  <a:schemeClr val="bg2"/>
                </a:solidFill>
              </a:rPr>
              <a:t>Évaluation de copies d’étudiants</a:t>
            </a:r>
          </a:p>
          <a:p>
            <a:pPr marL="342900" indent="-342900">
              <a:buClr>
                <a:schemeClr val="bg2"/>
              </a:buClr>
              <a:buFont typeface="+mj-lt"/>
              <a:buAutoNum type="alphaLcParenR"/>
            </a:pPr>
            <a:endParaRPr lang="fr-CA" sz="1600" dirty="0">
              <a:solidFill>
                <a:schemeClr val="bg2"/>
              </a:solidFill>
            </a:endParaRPr>
          </a:p>
          <a:p>
            <a:pPr marL="342900" indent="-342900">
              <a:spcBef>
                <a:spcPts val="1800"/>
              </a:spcBef>
              <a:buFont typeface="+mj-lt"/>
              <a:buAutoNum type="alphaLcParenR"/>
            </a:pPr>
            <a:endParaRPr lang="fr-CA" sz="1000" dirty="0"/>
          </a:p>
          <a:p>
            <a:pPr marL="0" indent="0">
              <a:spcBef>
                <a:spcPts val="1800"/>
              </a:spcBef>
              <a:buNone/>
            </a:pPr>
            <a:endParaRPr lang="fr-CA" sz="1000" dirty="0"/>
          </a:p>
        </p:txBody>
      </p:sp>
      <p:sp>
        <p:nvSpPr>
          <p:cNvPr id="22" name="Title 19">
            <a:extLst>
              <a:ext uri="{FF2B5EF4-FFF2-40B4-BE49-F238E27FC236}">
                <a16:creationId xmlns:a16="http://schemas.microsoft.com/office/drawing/2014/main" id="{DA30F7FF-20D6-9D4B-8886-26D71E3CBE8E}"/>
              </a:ext>
            </a:extLst>
          </p:cNvPr>
          <p:cNvSpPr>
            <a:spLocks noGrp="1"/>
          </p:cNvSpPr>
          <p:nvPr>
            <p:ph type="title"/>
            <p:custDataLst>
              <p:tags r:id="rId8"/>
            </p:custDataLst>
          </p:nvPr>
        </p:nvSpPr>
        <p:spPr/>
        <p:txBody>
          <a:bodyPr/>
          <a:lstStyle/>
          <a:p>
            <a:r>
              <a:rPr lang="en-US" b="0" dirty="0">
                <a:solidFill>
                  <a:schemeClr val="accent2"/>
                </a:solidFill>
              </a:rPr>
              <a:t>Agenda</a:t>
            </a:r>
          </a:p>
        </p:txBody>
      </p:sp>
      <p:pic>
        <p:nvPicPr>
          <p:cNvPr id="3" name="Graphique 2" descr="Cible avec un remplissage uni">
            <a:extLst>
              <a:ext uri="{FF2B5EF4-FFF2-40B4-BE49-F238E27FC236}">
                <a16:creationId xmlns:a16="http://schemas.microsoft.com/office/drawing/2014/main" id="{6C61F764-65D7-5FD8-7F42-295C0C46E5DA}"/>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5168485" y="1311987"/>
            <a:ext cx="648970" cy="648970"/>
          </a:xfrm>
          <a:prstGeom prst="rect">
            <a:avLst/>
          </a:prstGeom>
        </p:spPr>
      </p:pic>
    </p:spTree>
    <p:extLst>
      <p:ext uri="{BB962C8B-B14F-4D97-AF65-F5344CB8AC3E}">
        <p14:creationId xmlns:p14="http://schemas.microsoft.com/office/powerpoint/2010/main" val="39170170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690607" y="1369125"/>
            <a:ext cx="7171275" cy="2631734"/>
          </a:xfrm>
        </p:spPr>
        <p:txBody>
          <a:bodyPr>
            <a:normAutofit/>
          </a:bodyPr>
          <a:lstStyle/>
          <a:p>
            <a:pPr algn="ctr"/>
            <a:r>
              <a:rPr lang="fr-CA" sz="2160" b="1" dirty="0"/>
              <a:t>Les missions de certification, il s’agit d’abord d’une question de niveau d’assurance.</a:t>
            </a:r>
          </a:p>
          <a:p>
            <a:endParaRPr lang="fr-CA" sz="2160" b="1" dirty="0"/>
          </a:p>
          <a:p>
            <a:pPr marL="531485" lvl="1" indent="-257175">
              <a:buFont typeface="Wingdings" panose="05000000000000000000" pitchFamily="2" charset="2"/>
              <a:buChar char="q"/>
            </a:pPr>
            <a:r>
              <a:rPr lang="fr-CA" sz="1620" dirty="0"/>
              <a:t>Audit (niveau d’assurance raisonnable)</a:t>
            </a:r>
          </a:p>
          <a:p>
            <a:pPr marL="531485" lvl="1" indent="-257175">
              <a:buFont typeface="Wingdings" panose="05000000000000000000" pitchFamily="2" charset="2"/>
              <a:buChar char="q"/>
            </a:pPr>
            <a:r>
              <a:rPr lang="fr-CA" sz="1620" dirty="0"/>
              <a:t>Examen (niveau d’assurance limitée)</a:t>
            </a:r>
          </a:p>
          <a:p>
            <a:pPr marL="531485" lvl="1" indent="-257175">
              <a:buFont typeface="Wingdings" panose="05000000000000000000" pitchFamily="2" charset="2"/>
              <a:buChar char="q"/>
            </a:pPr>
            <a:r>
              <a:rPr lang="fr-CA" sz="1620" dirty="0"/>
              <a:t>Mission de compilation (aucune assurance)</a:t>
            </a:r>
          </a:p>
          <a:p>
            <a:pPr marL="531485" lvl="1" indent="-257175">
              <a:buFont typeface="Wingdings" panose="05000000000000000000" pitchFamily="2" charset="2"/>
              <a:buChar char="q"/>
            </a:pPr>
            <a:r>
              <a:rPr lang="fr-CA" sz="1620" dirty="0"/>
              <a:t>Services connexes (avec ou sans niveau d’assurance)</a:t>
            </a:r>
          </a:p>
        </p:txBody>
      </p:sp>
      <p:sp>
        <p:nvSpPr>
          <p:cNvPr id="5" name="Espace réservé du numéro de diapositive 4"/>
          <p:cNvSpPr>
            <a:spLocks noGrp="1"/>
          </p:cNvSpPr>
          <p:nvPr>
            <p:ph type="sldNum" sz="quarter" idx="4294967295"/>
          </p:nvPr>
        </p:nvSpPr>
        <p:spPr>
          <a:xfrm>
            <a:off x="8545786" y="4644190"/>
            <a:ext cx="413375" cy="273844"/>
          </a:xfrm>
        </p:spPr>
        <p:txBody>
          <a:bodyPr/>
          <a:lstStyle/>
          <a:p>
            <a:fld id="{BB5DEC05-AB38-4F58-9609-FFF4AA167839}" type="slidenum">
              <a:rPr lang="fr-CA" sz="1050" smtClean="0"/>
              <a:t>3</a:t>
            </a:fld>
            <a:endParaRPr lang="fr-CA" sz="1050" dirty="0"/>
          </a:p>
        </p:txBody>
      </p:sp>
      <p:sp>
        <p:nvSpPr>
          <p:cNvPr id="4" name="ZoneTexte 3">
            <a:extLst>
              <a:ext uri="{FF2B5EF4-FFF2-40B4-BE49-F238E27FC236}">
                <a16:creationId xmlns:a16="http://schemas.microsoft.com/office/drawing/2014/main" id="{BE2AE333-3742-80AB-F4E1-30134ECC4F22}"/>
              </a:ext>
            </a:extLst>
          </p:cNvPr>
          <p:cNvSpPr txBox="1"/>
          <p:nvPr/>
        </p:nvSpPr>
        <p:spPr>
          <a:xfrm>
            <a:off x="3061547" y="4870248"/>
            <a:ext cx="1747520" cy="273845"/>
          </a:xfrm>
          <a:prstGeom prst="rect">
            <a:avLst/>
          </a:prstGeom>
        </p:spPr>
        <p:txBody>
          <a:bodyPr vert="horz" wrap="square" lIns="91440" tIns="45720" rIns="91440" bIns="45720" rtlCol="0">
            <a:normAutofit fontScale="92500"/>
          </a:bodyPr>
          <a:lstStyle/>
          <a:p>
            <a:pPr>
              <a:buClr>
                <a:schemeClr val="accent2"/>
              </a:buClr>
              <a:buSzPct val="125000"/>
            </a:pPr>
            <a:r>
              <a:rPr lang="fr-CA" sz="900" dirty="0"/>
              <a:t>Par Hugo Lesley – HEC Montréal</a:t>
            </a:r>
          </a:p>
        </p:txBody>
      </p:sp>
    </p:spTree>
    <p:extLst>
      <p:ext uri="{BB962C8B-B14F-4D97-AF65-F5344CB8AC3E}">
        <p14:creationId xmlns:p14="http://schemas.microsoft.com/office/powerpoint/2010/main" val="14218175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sz="half" idx="1"/>
          </p:nvPr>
        </p:nvSpPr>
        <p:spPr>
          <a:xfrm>
            <a:off x="351956" y="1159956"/>
            <a:ext cx="3671291" cy="1901435"/>
          </a:xfrm>
        </p:spPr>
        <p:txBody>
          <a:bodyPr>
            <a:noAutofit/>
          </a:bodyPr>
          <a:lstStyle/>
          <a:p>
            <a:pPr marL="337184" indent="-285750">
              <a:buClr>
                <a:schemeClr val="tx1"/>
              </a:buClr>
              <a:buFont typeface="Arial" panose="020B0604020202020204" pitchFamily="34" charset="0"/>
              <a:buChar char="•"/>
            </a:pPr>
            <a:endParaRPr lang="fr-CA" sz="1440" b="1" u="sng" dirty="0"/>
          </a:p>
          <a:p>
            <a:pPr marL="617196" lvl="1" indent="-342887">
              <a:buClr>
                <a:schemeClr val="tx1"/>
              </a:buClr>
            </a:pPr>
            <a:r>
              <a:rPr lang="fr-CA" sz="1440" dirty="0"/>
              <a:t>Considérations éthiques et déontologiques </a:t>
            </a:r>
          </a:p>
          <a:p>
            <a:pPr marL="886116" lvl="2" indent="-342887">
              <a:buClr>
                <a:schemeClr val="tx1"/>
              </a:buClr>
            </a:pPr>
            <a:r>
              <a:rPr lang="fr-CA" sz="1290" dirty="0"/>
              <a:t>Intégrité</a:t>
            </a:r>
          </a:p>
          <a:p>
            <a:pPr marL="886116" lvl="2" indent="-342887">
              <a:buClr>
                <a:schemeClr val="tx1"/>
              </a:buClr>
            </a:pPr>
            <a:r>
              <a:rPr lang="fr-CA" sz="1290" dirty="0"/>
              <a:t>Autres</a:t>
            </a:r>
          </a:p>
          <a:p>
            <a:pPr marL="886116" lvl="2" indent="-342887">
              <a:buClr>
                <a:schemeClr val="tx1"/>
              </a:buClr>
            </a:pPr>
            <a:endParaRPr lang="fr-CA" sz="1290" dirty="0"/>
          </a:p>
          <a:p>
            <a:pPr marL="617196" lvl="1" indent="-342887">
              <a:buClr>
                <a:schemeClr val="tx1"/>
              </a:buClr>
            </a:pPr>
            <a:r>
              <a:rPr lang="fr-CA" sz="1440" dirty="0"/>
              <a:t>Acceptation de la mission</a:t>
            </a:r>
          </a:p>
          <a:p>
            <a:pPr marL="274309" lvl="1" indent="0">
              <a:buClr>
                <a:schemeClr val="tx1"/>
              </a:buClr>
              <a:buNone/>
            </a:pPr>
            <a:endParaRPr lang="fr-CA" sz="1440" dirty="0"/>
          </a:p>
          <a:p>
            <a:pPr marL="617196" lvl="1" indent="-342887">
              <a:buClr>
                <a:schemeClr val="tx1"/>
              </a:buClr>
            </a:pPr>
            <a:r>
              <a:rPr lang="fr-CA" sz="1440" dirty="0"/>
              <a:t>Planification de la mission</a:t>
            </a:r>
          </a:p>
          <a:p>
            <a:pPr marL="822927" lvl="2" indent="-342887">
              <a:buClr>
                <a:schemeClr val="tx1"/>
              </a:buClr>
            </a:pPr>
            <a:r>
              <a:rPr lang="fr-CA" sz="1440" dirty="0"/>
              <a:t>Utilisateurs et risques</a:t>
            </a:r>
          </a:p>
          <a:p>
            <a:pPr marL="822927" lvl="2" indent="-342887">
              <a:buClr>
                <a:schemeClr val="tx1"/>
              </a:buClr>
            </a:pPr>
            <a:r>
              <a:rPr lang="fr-CA" sz="1440" dirty="0"/>
              <a:t>Caractère significatif</a:t>
            </a:r>
          </a:p>
          <a:p>
            <a:pPr marL="822927" lvl="2" indent="-342887">
              <a:buClr>
                <a:schemeClr val="tx1"/>
              </a:buClr>
            </a:pPr>
            <a:r>
              <a:rPr lang="fr-CA" sz="1440" dirty="0"/>
              <a:t>Réponse à l’appréciation des risques</a:t>
            </a:r>
          </a:p>
        </p:txBody>
      </p:sp>
      <p:sp>
        <p:nvSpPr>
          <p:cNvPr id="6" name="Espace réservé du contenu 5"/>
          <p:cNvSpPr>
            <a:spLocks noGrp="1"/>
          </p:cNvSpPr>
          <p:nvPr>
            <p:ph sz="half" idx="2"/>
          </p:nvPr>
        </p:nvSpPr>
        <p:spPr>
          <a:xfrm>
            <a:off x="4660978" y="1388708"/>
            <a:ext cx="4131066" cy="1901435"/>
          </a:xfrm>
        </p:spPr>
        <p:txBody>
          <a:bodyPr>
            <a:noAutofit/>
          </a:bodyPr>
          <a:lstStyle/>
          <a:p>
            <a:pPr marL="560059" lvl="1" indent="-285750">
              <a:buClr>
                <a:schemeClr val="tx1"/>
              </a:buClr>
            </a:pPr>
            <a:r>
              <a:rPr lang="fr-CA" sz="1440" dirty="0"/>
              <a:t>Exécution de la mission</a:t>
            </a:r>
          </a:p>
          <a:p>
            <a:pPr marL="765790" lvl="2" indent="-285750">
              <a:buClr>
                <a:schemeClr val="tx1"/>
              </a:buClr>
            </a:pPr>
            <a:r>
              <a:rPr lang="fr-CA" sz="1440" dirty="0"/>
              <a:t>Cueillette d’éléments probants</a:t>
            </a:r>
            <a:endParaRPr lang="fr-CA" sz="1440" dirty="0">
              <a:solidFill>
                <a:schemeClr val="accent3">
                  <a:lumMod val="75000"/>
                </a:schemeClr>
              </a:solidFill>
            </a:endParaRPr>
          </a:p>
          <a:p>
            <a:pPr marL="765790" lvl="2" indent="-285750">
              <a:buClr>
                <a:schemeClr val="tx1"/>
              </a:buClr>
            </a:pPr>
            <a:r>
              <a:rPr lang="fr-CA" sz="1440" dirty="0"/>
              <a:t>Analyse des éléments probants</a:t>
            </a:r>
          </a:p>
          <a:p>
            <a:pPr marL="765790" lvl="2" indent="-285750">
              <a:buClr>
                <a:schemeClr val="tx1"/>
              </a:buClr>
            </a:pPr>
            <a:endParaRPr lang="fr-CA" sz="1440" dirty="0"/>
          </a:p>
          <a:p>
            <a:pPr marL="560059" lvl="1" indent="-285750">
              <a:buClr>
                <a:schemeClr val="tx1"/>
              </a:buClr>
            </a:pPr>
            <a:r>
              <a:rPr lang="fr-CA" sz="1440" dirty="0"/>
              <a:t>Conclusion du professionnel en exercice</a:t>
            </a:r>
          </a:p>
          <a:p>
            <a:pPr marL="765790" lvl="2" indent="-285750">
              <a:buClr>
                <a:schemeClr val="tx1"/>
              </a:buClr>
            </a:pPr>
            <a:r>
              <a:rPr lang="fr-CA" sz="1440" dirty="0"/>
              <a:t>Libellé du rapport</a:t>
            </a:r>
          </a:p>
          <a:p>
            <a:pPr marL="765790" lvl="2" indent="-285750">
              <a:buClr>
                <a:schemeClr val="tx1"/>
              </a:buClr>
            </a:pPr>
            <a:r>
              <a:rPr lang="fr-CA" sz="1440" dirty="0"/>
              <a:t>Communication à la gouvernance</a:t>
            </a:r>
          </a:p>
          <a:p>
            <a:pPr marL="765790" lvl="2" indent="-285750">
              <a:buClr>
                <a:schemeClr val="tx1"/>
              </a:buClr>
            </a:pPr>
            <a:endParaRPr lang="fr-CA" sz="1440" dirty="0"/>
          </a:p>
          <a:p>
            <a:pPr marL="560059" lvl="1" indent="-285750">
              <a:buClr>
                <a:schemeClr val="tx1"/>
              </a:buClr>
            </a:pPr>
            <a:r>
              <a:rPr lang="fr-CA" sz="1440" dirty="0"/>
              <a:t>Documentation conforme</a:t>
            </a:r>
          </a:p>
          <a:p>
            <a:endParaRPr lang="fr-CA" sz="1620" dirty="0"/>
          </a:p>
        </p:txBody>
      </p:sp>
      <p:sp>
        <p:nvSpPr>
          <p:cNvPr id="5" name="Espace réservé du numéro de diapositive 4"/>
          <p:cNvSpPr>
            <a:spLocks noGrp="1"/>
          </p:cNvSpPr>
          <p:nvPr>
            <p:ph type="sldNum" sz="quarter" idx="4294967295"/>
          </p:nvPr>
        </p:nvSpPr>
        <p:spPr/>
        <p:txBody>
          <a:bodyPr/>
          <a:lstStyle/>
          <a:p>
            <a:endParaRPr lang="fr-CA" dirty="0"/>
          </a:p>
        </p:txBody>
      </p:sp>
      <p:sp>
        <p:nvSpPr>
          <p:cNvPr id="7" name="ZoneTexte 6">
            <a:extLst>
              <a:ext uri="{FF2B5EF4-FFF2-40B4-BE49-F238E27FC236}">
                <a16:creationId xmlns:a16="http://schemas.microsoft.com/office/drawing/2014/main" id="{6A0B2452-A9F3-F480-1D7D-0A6728EE191C}"/>
              </a:ext>
            </a:extLst>
          </p:cNvPr>
          <p:cNvSpPr txBox="1"/>
          <p:nvPr/>
        </p:nvSpPr>
        <p:spPr>
          <a:xfrm>
            <a:off x="351956" y="790624"/>
            <a:ext cx="4643120" cy="369332"/>
          </a:xfrm>
          <a:prstGeom prst="rect">
            <a:avLst/>
          </a:prstGeom>
          <a:noFill/>
        </p:spPr>
        <p:txBody>
          <a:bodyPr wrap="square">
            <a:spAutoFit/>
          </a:bodyPr>
          <a:lstStyle/>
          <a:p>
            <a:r>
              <a:rPr lang="fr-CA" b="1" u="sng" dirty="0">
                <a:solidFill>
                  <a:schemeClr val="accent5">
                    <a:lumMod val="50000"/>
                  </a:schemeClr>
                </a:solidFill>
              </a:rPr>
              <a:t>Enjeux des missions de certification</a:t>
            </a:r>
            <a:endParaRPr lang="fr-CA" dirty="0">
              <a:solidFill>
                <a:schemeClr val="accent5">
                  <a:lumMod val="50000"/>
                </a:schemeClr>
              </a:solidFill>
            </a:endParaRPr>
          </a:p>
        </p:txBody>
      </p:sp>
      <p:sp>
        <p:nvSpPr>
          <p:cNvPr id="8" name="Espace réservé du numéro de diapositive 4">
            <a:extLst>
              <a:ext uri="{FF2B5EF4-FFF2-40B4-BE49-F238E27FC236}">
                <a16:creationId xmlns:a16="http://schemas.microsoft.com/office/drawing/2014/main" id="{4D298588-8EEB-3D38-EF58-2274B9675554}"/>
              </a:ext>
            </a:extLst>
          </p:cNvPr>
          <p:cNvSpPr txBox="1">
            <a:spLocks/>
          </p:cNvSpPr>
          <p:nvPr/>
        </p:nvSpPr>
        <p:spPr>
          <a:xfrm>
            <a:off x="8545786" y="4657736"/>
            <a:ext cx="413375" cy="273844"/>
          </a:xfr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B5DEC05-AB38-4F58-9609-FFF4AA167839}" type="slidenum">
              <a:rPr lang="fr-CA" sz="1050" smtClean="0"/>
              <a:pPr/>
              <a:t>4</a:t>
            </a:fld>
            <a:endParaRPr lang="fr-CA" sz="1050" dirty="0"/>
          </a:p>
        </p:txBody>
      </p:sp>
      <p:sp>
        <p:nvSpPr>
          <p:cNvPr id="9" name="ZoneTexte 8">
            <a:extLst>
              <a:ext uri="{FF2B5EF4-FFF2-40B4-BE49-F238E27FC236}">
                <a16:creationId xmlns:a16="http://schemas.microsoft.com/office/drawing/2014/main" id="{A9E79BAA-EA54-557F-E0CB-13FF708C14E5}"/>
              </a:ext>
            </a:extLst>
          </p:cNvPr>
          <p:cNvSpPr txBox="1"/>
          <p:nvPr/>
        </p:nvSpPr>
        <p:spPr>
          <a:xfrm>
            <a:off x="3061547" y="4870248"/>
            <a:ext cx="1747520" cy="273845"/>
          </a:xfrm>
          <a:prstGeom prst="rect">
            <a:avLst/>
          </a:prstGeom>
        </p:spPr>
        <p:txBody>
          <a:bodyPr vert="horz" wrap="square" lIns="91440" tIns="45720" rIns="91440" bIns="45720" rtlCol="0">
            <a:normAutofit fontScale="92500"/>
          </a:bodyPr>
          <a:lstStyle/>
          <a:p>
            <a:pPr>
              <a:buClr>
                <a:schemeClr val="accent2"/>
              </a:buClr>
              <a:buSzPct val="125000"/>
            </a:pPr>
            <a:r>
              <a:rPr lang="fr-CA" sz="900" dirty="0"/>
              <a:t>Par Hugo Lesley – HEC Montréal</a:t>
            </a:r>
          </a:p>
        </p:txBody>
      </p:sp>
    </p:spTree>
    <p:extLst>
      <p:ext uri="{BB962C8B-B14F-4D97-AF65-F5344CB8AC3E}">
        <p14:creationId xmlns:p14="http://schemas.microsoft.com/office/powerpoint/2010/main" val="2037706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animEffect transition="in" filter="fade">
                                      <p:cBhvr>
                                        <p:cTn id="27" dur="500"/>
                                        <p:tgtEl>
                                          <p:spTgt spid="3">
                                            <p:txEl>
                                              <p:pRg st="7" end="7"/>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3">
                                            <p:txEl>
                                              <p:pRg st="8" end="8"/>
                                            </p:txEl>
                                          </p:spTgt>
                                        </p:tgtEl>
                                        <p:attrNameLst>
                                          <p:attrName>style.visibility</p:attrName>
                                        </p:attrNameLst>
                                      </p:cBhvr>
                                      <p:to>
                                        <p:strVal val="visible"/>
                                      </p:to>
                                    </p:set>
                                    <p:animEffect transition="in" filter="fade">
                                      <p:cBhvr>
                                        <p:cTn id="30" dur="500"/>
                                        <p:tgtEl>
                                          <p:spTgt spid="3">
                                            <p:txEl>
                                              <p:pRg st="8" end="8"/>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animEffect transition="in" filter="fade">
                                      <p:cBhvr>
                                        <p:cTn id="33" dur="500"/>
                                        <p:tgtEl>
                                          <p:spTgt spid="3">
                                            <p:txEl>
                                              <p:pRg st="9" end="9"/>
                                            </p:txEl>
                                          </p:spTgt>
                                        </p:tgtEl>
                                      </p:cBhvr>
                                    </p:animEffect>
                                  </p:childTnLst>
                                </p:cTn>
                              </p:par>
                              <p:par>
                                <p:cTn id="34" presetID="10" presetClass="entr" presetSubtype="0" fill="hold" nodeType="withEffect">
                                  <p:stCondLst>
                                    <p:cond delay="0"/>
                                  </p:stCondLst>
                                  <p:childTnLst>
                                    <p:set>
                                      <p:cBhvr>
                                        <p:cTn id="35" dur="1" fill="hold">
                                          <p:stCondLst>
                                            <p:cond delay="0"/>
                                          </p:stCondLst>
                                        </p:cTn>
                                        <p:tgtEl>
                                          <p:spTgt spid="3">
                                            <p:txEl>
                                              <p:pRg st="10" end="10"/>
                                            </p:txEl>
                                          </p:spTgt>
                                        </p:tgtEl>
                                        <p:attrNameLst>
                                          <p:attrName>style.visibility</p:attrName>
                                        </p:attrNameLst>
                                      </p:cBhvr>
                                      <p:to>
                                        <p:strVal val="visible"/>
                                      </p:to>
                                    </p:set>
                                    <p:animEffect transition="in" filter="fade">
                                      <p:cBhvr>
                                        <p:cTn id="36" dur="500"/>
                                        <p:tgtEl>
                                          <p:spTgt spid="3">
                                            <p:txEl>
                                              <p:pRg st="10" end="10"/>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6">
                                            <p:txEl>
                                              <p:pRg st="0" end="0"/>
                                            </p:txEl>
                                          </p:spTgt>
                                        </p:tgtEl>
                                        <p:attrNameLst>
                                          <p:attrName>style.visibility</p:attrName>
                                        </p:attrNameLst>
                                      </p:cBhvr>
                                      <p:to>
                                        <p:strVal val="visible"/>
                                      </p:to>
                                    </p:set>
                                    <p:animEffect transition="in" filter="fade">
                                      <p:cBhvr>
                                        <p:cTn id="41" dur="500"/>
                                        <p:tgtEl>
                                          <p:spTgt spid="6">
                                            <p:txEl>
                                              <p:pRg st="0" end="0"/>
                                            </p:txEl>
                                          </p:spTgt>
                                        </p:tgtEl>
                                      </p:cBhvr>
                                    </p:animEffect>
                                  </p:childTnLst>
                                </p:cTn>
                              </p:par>
                              <p:par>
                                <p:cTn id="42" presetID="10" presetClass="entr" presetSubtype="0" fill="hold" nodeType="withEffect">
                                  <p:stCondLst>
                                    <p:cond delay="0"/>
                                  </p:stCondLst>
                                  <p:childTnLst>
                                    <p:set>
                                      <p:cBhvr>
                                        <p:cTn id="43" dur="1" fill="hold">
                                          <p:stCondLst>
                                            <p:cond delay="0"/>
                                          </p:stCondLst>
                                        </p:cTn>
                                        <p:tgtEl>
                                          <p:spTgt spid="6">
                                            <p:txEl>
                                              <p:pRg st="1" end="1"/>
                                            </p:txEl>
                                          </p:spTgt>
                                        </p:tgtEl>
                                        <p:attrNameLst>
                                          <p:attrName>style.visibility</p:attrName>
                                        </p:attrNameLst>
                                      </p:cBhvr>
                                      <p:to>
                                        <p:strVal val="visible"/>
                                      </p:to>
                                    </p:set>
                                    <p:animEffect transition="in" filter="fade">
                                      <p:cBhvr>
                                        <p:cTn id="44" dur="500"/>
                                        <p:tgtEl>
                                          <p:spTgt spid="6">
                                            <p:txEl>
                                              <p:pRg st="1" end="1"/>
                                            </p:txEl>
                                          </p:spTgt>
                                        </p:tgtEl>
                                      </p:cBhvr>
                                    </p:animEffect>
                                  </p:childTnLst>
                                </p:cTn>
                              </p:par>
                              <p:par>
                                <p:cTn id="45" presetID="10" presetClass="entr" presetSubtype="0" fill="hold" nodeType="withEffect">
                                  <p:stCondLst>
                                    <p:cond delay="0"/>
                                  </p:stCondLst>
                                  <p:childTnLst>
                                    <p:set>
                                      <p:cBhvr>
                                        <p:cTn id="46" dur="1" fill="hold">
                                          <p:stCondLst>
                                            <p:cond delay="0"/>
                                          </p:stCondLst>
                                        </p:cTn>
                                        <p:tgtEl>
                                          <p:spTgt spid="6">
                                            <p:txEl>
                                              <p:pRg st="2" end="2"/>
                                            </p:txEl>
                                          </p:spTgt>
                                        </p:tgtEl>
                                        <p:attrNameLst>
                                          <p:attrName>style.visibility</p:attrName>
                                        </p:attrNameLst>
                                      </p:cBhvr>
                                      <p:to>
                                        <p:strVal val="visible"/>
                                      </p:to>
                                    </p:set>
                                    <p:animEffect transition="in" filter="fade">
                                      <p:cBhvr>
                                        <p:cTn id="47" dur="500"/>
                                        <p:tgtEl>
                                          <p:spTgt spid="6">
                                            <p:txEl>
                                              <p:pRg st="2" end="2"/>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6">
                                            <p:txEl>
                                              <p:pRg st="4" end="4"/>
                                            </p:txEl>
                                          </p:spTgt>
                                        </p:tgtEl>
                                        <p:attrNameLst>
                                          <p:attrName>style.visibility</p:attrName>
                                        </p:attrNameLst>
                                      </p:cBhvr>
                                      <p:to>
                                        <p:strVal val="visible"/>
                                      </p:to>
                                    </p:set>
                                    <p:animEffect transition="in" filter="fade">
                                      <p:cBhvr>
                                        <p:cTn id="52" dur="500"/>
                                        <p:tgtEl>
                                          <p:spTgt spid="6">
                                            <p:txEl>
                                              <p:pRg st="4" end="4"/>
                                            </p:txEl>
                                          </p:spTgt>
                                        </p:tgtEl>
                                      </p:cBhvr>
                                    </p:animEffect>
                                  </p:childTnLst>
                                </p:cTn>
                              </p:par>
                              <p:par>
                                <p:cTn id="53" presetID="10" presetClass="entr" presetSubtype="0" fill="hold" nodeType="withEffect">
                                  <p:stCondLst>
                                    <p:cond delay="0"/>
                                  </p:stCondLst>
                                  <p:childTnLst>
                                    <p:set>
                                      <p:cBhvr>
                                        <p:cTn id="54" dur="1" fill="hold">
                                          <p:stCondLst>
                                            <p:cond delay="0"/>
                                          </p:stCondLst>
                                        </p:cTn>
                                        <p:tgtEl>
                                          <p:spTgt spid="6">
                                            <p:txEl>
                                              <p:pRg st="5" end="5"/>
                                            </p:txEl>
                                          </p:spTgt>
                                        </p:tgtEl>
                                        <p:attrNameLst>
                                          <p:attrName>style.visibility</p:attrName>
                                        </p:attrNameLst>
                                      </p:cBhvr>
                                      <p:to>
                                        <p:strVal val="visible"/>
                                      </p:to>
                                    </p:set>
                                    <p:animEffect transition="in" filter="fade">
                                      <p:cBhvr>
                                        <p:cTn id="55" dur="500"/>
                                        <p:tgtEl>
                                          <p:spTgt spid="6">
                                            <p:txEl>
                                              <p:pRg st="5" end="5"/>
                                            </p:txEl>
                                          </p:spTgt>
                                        </p:tgtEl>
                                      </p:cBhvr>
                                    </p:animEffect>
                                  </p:childTnLst>
                                </p:cTn>
                              </p:par>
                              <p:par>
                                <p:cTn id="56" presetID="10" presetClass="entr" presetSubtype="0" fill="hold" nodeType="withEffect">
                                  <p:stCondLst>
                                    <p:cond delay="0"/>
                                  </p:stCondLst>
                                  <p:childTnLst>
                                    <p:set>
                                      <p:cBhvr>
                                        <p:cTn id="57" dur="1" fill="hold">
                                          <p:stCondLst>
                                            <p:cond delay="0"/>
                                          </p:stCondLst>
                                        </p:cTn>
                                        <p:tgtEl>
                                          <p:spTgt spid="6">
                                            <p:txEl>
                                              <p:pRg st="6" end="6"/>
                                            </p:txEl>
                                          </p:spTgt>
                                        </p:tgtEl>
                                        <p:attrNameLst>
                                          <p:attrName>style.visibility</p:attrName>
                                        </p:attrNameLst>
                                      </p:cBhvr>
                                      <p:to>
                                        <p:strVal val="visible"/>
                                      </p:to>
                                    </p:set>
                                    <p:animEffect transition="in" filter="fade">
                                      <p:cBhvr>
                                        <p:cTn id="58" dur="500"/>
                                        <p:tgtEl>
                                          <p:spTgt spid="6">
                                            <p:txEl>
                                              <p:pRg st="6" end="6"/>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6">
                                            <p:txEl>
                                              <p:pRg st="8" end="8"/>
                                            </p:txEl>
                                          </p:spTgt>
                                        </p:tgtEl>
                                        <p:attrNameLst>
                                          <p:attrName>style.visibility</p:attrName>
                                        </p:attrNameLst>
                                      </p:cBhvr>
                                      <p:to>
                                        <p:strVal val="visible"/>
                                      </p:to>
                                    </p:set>
                                    <p:animEffect transition="in" filter="fade">
                                      <p:cBhvr>
                                        <p:cTn id="63" dur="500"/>
                                        <p:tgtEl>
                                          <p:spTgt spid="6">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693307" y="954858"/>
            <a:ext cx="7367760" cy="3320656"/>
          </a:xfrm>
        </p:spPr>
        <p:txBody>
          <a:bodyPr>
            <a:noAutofit/>
          </a:bodyPr>
          <a:lstStyle/>
          <a:p>
            <a:pPr marL="617196" lvl="1" indent="-342887">
              <a:buFont typeface="+mj-lt"/>
              <a:buAutoNum type="arabicPeriod"/>
            </a:pPr>
            <a:r>
              <a:rPr lang="fr-CA" sz="1440" dirty="0"/>
              <a:t>Analyse des risques</a:t>
            </a:r>
          </a:p>
          <a:p>
            <a:pPr marL="617196" lvl="1" indent="-342887">
              <a:buFont typeface="+mj-lt"/>
              <a:buAutoNum type="arabicPeriod"/>
            </a:pPr>
            <a:r>
              <a:rPr lang="fr-CA" sz="1440" dirty="0"/>
              <a:t>Seuil de signification et seuil de signification des travaux</a:t>
            </a:r>
          </a:p>
          <a:p>
            <a:pPr marL="617196" lvl="1" indent="-342887">
              <a:buFont typeface="+mj-lt"/>
              <a:buAutoNum type="arabicPeriod"/>
            </a:pPr>
            <a:r>
              <a:rPr lang="fr-CA" sz="1440" dirty="0"/>
              <a:t>Stratégie</a:t>
            </a:r>
          </a:p>
          <a:p>
            <a:pPr marL="617196" lvl="1" indent="-342887">
              <a:buFont typeface="+mj-lt"/>
              <a:buAutoNum type="arabicPeriod"/>
            </a:pPr>
            <a:r>
              <a:rPr lang="fr-CA" sz="1440" dirty="0"/>
              <a:t>Postes à risque</a:t>
            </a:r>
          </a:p>
          <a:p>
            <a:pPr marL="886116" lvl="2" indent="-342887">
              <a:buFont typeface="+mj-lt"/>
              <a:buAutoNum type="alphaLcParenR"/>
            </a:pPr>
            <a:r>
              <a:rPr lang="fr-CA" sz="1440" dirty="0"/>
              <a:t>Poste 1</a:t>
            </a:r>
          </a:p>
          <a:p>
            <a:pPr marL="1151796" lvl="3" indent="-342887">
              <a:buFont typeface="Wingdings" panose="05000000000000000000" pitchFamily="2" charset="2"/>
              <a:buChar char="Ø"/>
            </a:pPr>
            <a:r>
              <a:rPr lang="fr-CA" sz="1440" dirty="0"/>
              <a:t>Traitement de la problématique comptable</a:t>
            </a:r>
          </a:p>
          <a:p>
            <a:pPr marL="1151796" lvl="3" indent="-342887">
              <a:buFont typeface="Wingdings" panose="05000000000000000000" pitchFamily="2" charset="2"/>
              <a:buChar char="Ø"/>
            </a:pPr>
            <a:r>
              <a:rPr lang="fr-CA" sz="1440" dirty="0"/>
              <a:t>Procédures de certification (assurance raisonnable ou limitée)</a:t>
            </a:r>
          </a:p>
          <a:p>
            <a:pPr marL="886116" lvl="2" indent="-342887">
              <a:buFont typeface="+mj-lt"/>
              <a:buAutoNum type="alphaLcParenR"/>
            </a:pPr>
            <a:r>
              <a:rPr lang="fr-CA" sz="1440" dirty="0"/>
              <a:t>Poste 2</a:t>
            </a:r>
          </a:p>
          <a:p>
            <a:pPr marL="1151796" lvl="3" indent="-342887">
              <a:buFont typeface="Wingdings" panose="05000000000000000000" pitchFamily="2" charset="2"/>
              <a:buChar char="Ø"/>
            </a:pPr>
            <a:r>
              <a:rPr lang="fr-CA" sz="1440" dirty="0"/>
              <a:t>Traitement de la problématique comptable</a:t>
            </a:r>
          </a:p>
          <a:p>
            <a:pPr marL="1151796" lvl="3" indent="-342887">
              <a:buFont typeface="Wingdings" panose="05000000000000000000" pitchFamily="2" charset="2"/>
              <a:buChar char="Ø"/>
            </a:pPr>
            <a:r>
              <a:rPr lang="fr-CA" sz="1440" dirty="0"/>
              <a:t>Procédures de certification (assurance raisonnable ou limitée)</a:t>
            </a:r>
          </a:p>
          <a:p>
            <a:pPr marL="617196" lvl="1" indent="-342887">
              <a:buFont typeface="+mj-lt"/>
              <a:buAutoNum type="arabicPeriod"/>
            </a:pPr>
            <a:r>
              <a:rPr lang="fr-CA" sz="1440" dirty="0"/>
              <a:t>Conclusion (biais – clauses restrictives – impacts sur le rapport)</a:t>
            </a:r>
          </a:p>
        </p:txBody>
      </p:sp>
      <p:sp>
        <p:nvSpPr>
          <p:cNvPr id="6" name="ZoneTexte 5">
            <a:extLst>
              <a:ext uri="{FF2B5EF4-FFF2-40B4-BE49-F238E27FC236}">
                <a16:creationId xmlns:a16="http://schemas.microsoft.com/office/drawing/2014/main" id="{1990E853-5637-17D2-2C02-A0A6CED6C23B}"/>
              </a:ext>
            </a:extLst>
          </p:cNvPr>
          <p:cNvSpPr txBox="1"/>
          <p:nvPr/>
        </p:nvSpPr>
        <p:spPr>
          <a:xfrm>
            <a:off x="269703" y="632346"/>
            <a:ext cx="6341268" cy="369332"/>
          </a:xfrm>
          <a:prstGeom prst="rect">
            <a:avLst/>
          </a:prstGeom>
          <a:noFill/>
        </p:spPr>
        <p:txBody>
          <a:bodyPr wrap="square">
            <a:spAutoFit/>
          </a:bodyPr>
          <a:lstStyle/>
          <a:p>
            <a:r>
              <a:rPr lang="fr-CA" b="1" u="sng" dirty="0">
                <a:solidFill>
                  <a:schemeClr val="accent5">
                    <a:lumMod val="50000"/>
                  </a:schemeClr>
                </a:solidFill>
              </a:rPr>
              <a:t>Plan de réponse classique</a:t>
            </a:r>
            <a:endParaRPr lang="fr-CA" dirty="0">
              <a:solidFill>
                <a:schemeClr val="accent5">
                  <a:lumMod val="50000"/>
                </a:schemeClr>
              </a:solidFill>
            </a:endParaRPr>
          </a:p>
        </p:txBody>
      </p:sp>
      <p:sp>
        <p:nvSpPr>
          <p:cNvPr id="7" name="Espace réservé du numéro de diapositive 4">
            <a:extLst>
              <a:ext uri="{FF2B5EF4-FFF2-40B4-BE49-F238E27FC236}">
                <a16:creationId xmlns:a16="http://schemas.microsoft.com/office/drawing/2014/main" id="{1B65452E-C29B-3CE7-25AD-D6EE80E8C810}"/>
              </a:ext>
            </a:extLst>
          </p:cNvPr>
          <p:cNvSpPr txBox="1">
            <a:spLocks/>
          </p:cNvSpPr>
          <p:nvPr/>
        </p:nvSpPr>
        <p:spPr>
          <a:xfrm>
            <a:off x="8545786" y="4650963"/>
            <a:ext cx="413375" cy="273844"/>
          </a:xfr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B5DEC05-AB38-4F58-9609-FFF4AA167839}" type="slidenum">
              <a:rPr lang="fr-CA" sz="1050" smtClean="0"/>
              <a:pPr/>
              <a:t>5</a:t>
            </a:fld>
            <a:endParaRPr lang="fr-CA" sz="1050" dirty="0"/>
          </a:p>
        </p:txBody>
      </p:sp>
      <p:sp>
        <p:nvSpPr>
          <p:cNvPr id="8" name="ZoneTexte 7">
            <a:extLst>
              <a:ext uri="{FF2B5EF4-FFF2-40B4-BE49-F238E27FC236}">
                <a16:creationId xmlns:a16="http://schemas.microsoft.com/office/drawing/2014/main" id="{8FFC85E8-E3DF-4BCF-9611-D9C75887B0BE}"/>
              </a:ext>
            </a:extLst>
          </p:cNvPr>
          <p:cNvSpPr txBox="1"/>
          <p:nvPr/>
        </p:nvSpPr>
        <p:spPr>
          <a:xfrm>
            <a:off x="3034454" y="4924807"/>
            <a:ext cx="1747520" cy="273845"/>
          </a:xfrm>
          <a:prstGeom prst="rect">
            <a:avLst/>
          </a:prstGeom>
        </p:spPr>
        <p:txBody>
          <a:bodyPr vert="horz" wrap="square" lIns="91440" tIns="45720" rIns="91440" bIns="45720" rtlCol="0">
            <a:normAutofit fontScale="92500"/>
          </a:bodyPr>
          <a:lstStyle/>
          <a:p>
            <a:pPr>
              <a:buClr>
                <a:schemeClr val="accent2"/>
              </a:buClr>
              <a:buSzPct val="125000"/>
            </a:pPr>
            <a:r>
              <a:rPr lang="fr-CA" sz="900" dirty="0"/>
              <a:t>Par Hugo Lesley – HEC Montréal</a:t>
            </a:r>
          </a:p>
        </p:txBody>
      </p:sp>
      <p:sp>
        <p:nvSpPr>
          <p:cNvPr id="9" name="Accolade fermante 8">
            <a:extLst>
              <a:ext uri="{FF2B5EF4-FFF2-40B4-BE49-F238E27FC236}">
                <a16:creationId xmlns:a16="http://schemas.microsoft.com/office/drawing/2014/main" id="{6B177329-CBA8-4C48-8395-47EB57AB16D8}"/>
              </a:ext>
            </a:extLst>
          </p:cNvPr>
          <p:cNvSpPr/>
          <p:nvPr/>
        </p:nvSpPr>
        <p:spPr>
          <a:xfrm>
            <a:off x="7103553" y="1271682"/>
            <a:ext cx="186593" cy="661821"/>
          </a:xfrm>
          <a:prstGeom prst="rightBrace">
            <a:avLst/>
          </a:prstGeom>
          <a:ln w="1905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CA" sz="1350"/>
          </a:p>
        </p:txBody>
      </p:sp>
      <p:sp>
        <p:nvSpPr>
          <p:cNvPr id="10" name="ZoneTexte 9">
            <a:extLst>
              <a:ext uri="{FF2B5EF4-FFF2-40B4-BE49-F238E27FC236}">
                <a16:creationId xmlns:a16="http://schemas.microsoft.com/office/drawing/2014/main" id="{0CADDD06-2BE7-AA4B-9E10-CB0EFA80BB30}"/>
              </a:ext>
            </a:extLst>
          </p:cNvPr>
          <p:cNvSpPr txBox="1"/>
          <p:nvPr/>
        </p:nvSpPr>
        <p:spPr>
          <a:xfrm>
            <a:off x="7368047" y="1328721"/>
            <a:ext cx="1407603" cy="584775"/>
          </a:xfrm>
          <a:prstGeom prst="rect">
            <a:avLst/>
          </a:prstGeom>
          <a:noFill/>
        </p:spPr>
        <p:txBody>
          <a:bodyPr wrap="square" rtlCol="0">
            <a:spAutoFit/>
          </a:bodyPr>
          <a:lstStyle/>
          <a:p>
            <a:r>
              <a:rPr lang="fr-CA" sz="1600" b="1" u="sng" dirty="0"/>
              <a:t>Planification de mission</a:t>
            </a:r>
          </a:p>
        </p:txBody>
      </p:sp>
      <p:sp>
        <p:nvSpPr>
          <p:cNvPr id="11" name="Accolade fermante 10">
            <a:extLst>
              <a:ext uri="{FF2B5EF4-FFF2-40B4-BE49-F238E27FC236}">
                <a16:creationId xmlns:a16="http://schemas.microsoft.com/office/drawing/2014/main" id="{FFFBB2BA-6ADC-D148-AE8E-0001E9E37BA5}"/>
              </a:ext>
            </a:extLst>
          </p:cNvPr>
          <p:cNvSpPr/>
          <p:nvPr/>
        </p:nvSpPr>
        <p:spPr>
          <a:xfrm>
            <a:off x="7103553" y="2095515"/>
            <a:ext cx="189415" cy="1604647"/>
          </a:xfrm>
          <a:prstGeom prst="rightBrace">
            <a:avLst/>
          </a:prstGeom>
          <a:ln w="1905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CA" sz="1350"/>
          </a:p>
        </p:txBody>
      </p:sp>
      <p:sp>
        <p:nvSpPr>
          <p:cNvPr id="12" name="ZoneTexte 11">
            <a:extLst>
              <a:ext uri="{FF2B5EF4-FFF2-40B4-BE49-F238E27FC236}">
                <a16:creationId xmlns:a16="http://schemas.microsoft.com/office/drawing/2014/main" id="{A9D82969-AD4C-8043-8B31-7035814AE939}"/>
              </a:ext>
            </a:extLst>
          </p:cNvPr>
          <p:cNvSpPr txBox="1"/>
          <p:nvPr/>
        </p:nvSpPr>
        <p:spPr>
          <a:xfrm>
            <a:off x="7290146" y="2315710"/>
            <a:ext cx="1671488" cy="1077218"/>
          </a:xfrm>
          <a:prstGeom prst="rect">
            <a:avLst/>
          </a:prstGeom>
          <a:noFill/>
        </p:spPr>
        <p:txBody>
          <a:bodyPr wrap="square" rtlCol="0">
            <a:spAutoFit/>
          </a:bodyPr>
          <a:lstStyle/>
          <a:p>
            <a:r>
              <a:rPr lang="fr-CA" sz="1600" b="1" u="sng" dirty="0"/>
              <a:t>Information financière et procédures (si demandées)</a:t>
            </a:r>
          </a:p>
        </p:txBody>
      </p:sp>
      <p:sp>
        <p:nvSpPr>
          <p:cNvPr id="13" name="Accolade fermante 12">
            <a:extLst>
              <a:ext uri="{FF2B5EF4-FFF2-40B4-BE49-F238E27FC236}">
                <a16:creationId xmlns:a16="http://schemas.microsoft.com/office/drawing/2014/main" id="{6877A5EA-F252-994D-95DC-8B11E46CF97A}"/>
              </a:ext>
            </a:extLst>
          </p:cNvPr>
          <p:cNvSpPr/>
          <p:nvPr/>
        </p:nvSpPr>
        <p:spPr>
          <a:xfrm>
            <a:off x="7103553" y="3801842"/>
            <a:ext cx="186593" cy="245128"/>
          </a:xfrm>
          <a:prstGeom prst="rightBrace">
            <a:avLst/>
          </a:prstGeom>
          <a:ln w="1905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CA" sz="1350"/>
          </a:p>
        </p:txBody>
      </p:sp>
      <p:sp>
        <p:nvSpPr>
          <p:cNvPr id="14" name="ZoneTexte 13">
            <a:extLst>
              <a:ext uri="{FF2B5EF4-FFF2-40B4-BE49-F238E27FC236}">
                <a16:creationId xmlns:a16="http://schemas.microsoft.com/office/drawing/2014/main" id="{4ABACAD1-5BE4-404F-A67C-8A015A73CDFE}"/>
              </a:ext>
            </a:extLst>
          </p:cNvPr>
          <p:cNvSpPr txBox="1"/>
          <p:nvPr/>
        </p:nvSpPr>
        <p:spPr>
          <a:xfrm>
            <a:off x="7316623" y="3755129"/>
            <a:ext cx="1510453" cy="338554"/>
          </a:xfrm>
          <a:prstGeom prst="rect">
            <a:avLst/>
          </a:prstGeom>
          <a:noFill/>
        </p:spPr>
        <p:txBody>
          <a:bodyPr wrap="square" rtlCol="0">
            <a:spAutoFit/>
          </a:bodyPr>
          <a:lstStyle/>
          <a:p>
            <a:r>
              <a:rPr lang="fr-CA" sz="1600" b="1" u="sng" dirty="0"/>
              <a:t>Si pertinent</a:t>
            </a:r>
          </a:p>
        </p:txBody>
      </p:sp>
    </p:spTree>
    <p:extLst>
      <p:ext uri="{BB962C8B-B14F-4D97-AF65-F5344CB8AC3E}">
        <p14:creationId xmlns:p14="http://schemas.microsoft.com/office/powerpoint/2010/main" val="21697764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fade">
                                      <p:cBhvr>
                                        <p:cTn id="19" dur="500"/>
                                        <p:tgtEl>
                                          <p:spTgt spid="3">
                                            <p:txEl>
                                              <p:pRg st="4" end="4"/>
                                            </p:txEl>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Effect transition="in" filter="fade">
                                      <p:cBhvr>
                                        <p:cTn id="25" dur="500"/>
                                        <p:tgtEl>
                                          <p:spTgt spid="3">
                                            <p:txEl>
                                              <p:pRg st="6" end="6"/>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
                                            <p:txEl>
                                              <p:pRg st="7" end="7"/>
                                            </p:txEl>
                                          </p:spTgt>
                                        </p:tgtEl>
                                        <p:attrNameLst>
                                          <p:attrName>style.visibility</p:attrName>
                                        </p:attrNameLst>
                                      </p:cBhvr>
                                      <p:to>
                                        <p:strVal val="visible"/>
                                      </p:to>
                                    </p:set>
                                    <p:animEffect transition="in" filter="fade">
                                      <p:cBhvr>
                                        <p:cTn id="28" dur="500"/>
                                        <p:tgtEl>
                                          <p:spTgt spid="3">
                                            <p:txEl>
                                              <p:pRg st="7" end="7"/>
                                            </p:tx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animEffect transition="in" filter="fade">
                                      <p:cBhvr>
                                        <p:cTn id="31" dur="500"/>
                                        <p:tgtEl>
                                          <p:spTgt spid="3">
                                            <p:txEl>
                                              <p:pRg st="8" end="8"/>
                                            </p:txEl>
                                          </p:spTgt>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
                                            <p:txEl>
                                              <p:pRg st="9" end="9"/>
                                            </p:txEl>
                                          </p:spTgt>
                                        </p:tgtEl>
                                        <p:attrNameLst>
                                          <p:attrName>style.visibility</p:attrName>
                                        </p:attrNameLst>
                                      </p:cBhvr>
                                      <p:to>
                                        <p:strVal val="visible"/>
                                      </p:to>
                                    </p:set>
                                    <p:animEffect transition="in" filter="fade">
                                      <p:cBhvr>
                                        <p:cTn id="34" dur="500"/>
                                        <p:tgtEl>
                                          <p:spTgt spid="3">
                                            <p:txEl>
                                              <p:pRg st="9" end="9"/>
                                            </p:txEl>
                                          </p:spTgt>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
                                            <p:txEl>
                                              <p:pRg st="10" end="10"/>
                                            </p:txEl>
                                          </p:spTgt>
                                        </p:tgtEl>
                                        <p:attrNameLst>
                                          <p:attrName>style.visibility</p:attrName>
                                        </p:attrNameLst>
                                      </p:cBhvr>
                                      <p:to>
                                        <p:strVal val="visible"/>
                                      </p:to>
                                    </p:set>
                                    <p:animEffect transition="in" filter="fade">
                                      <p:cBhvr>
                                        <p:cTn id="37" dur="500"/>
                                        <p:tgtEl>
                                          <p:spTgt spid="3">
                                            <p:txEl>
                                              <p:pRg st="10" end="1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wipe(down)">
                                      <p:cBhvr>
                                        <p:cTn id="42" dur="500"/>
                                        <p:tgtEl>
                                          <p:spTgt spid="9"/>
                                        </p:tgtEl>
                                      </p:cBhvr>
                                    </p:animEffect>
                                  </p:childTnLst>
                                </p:cTn>
                              </p:par>
                              <p:par>
                                <p:cTn id="43" presetID="22" presetClass="entr" presetSubtype="4" fill="hold" grpId="0" nodeType="withEffect">
                                  <p:stCondLst>
                                    <p:cond delay="0"/>
                                  </p:stCondLst>
                                  <p:childTnLst>
                                    <p:set>
                                      <p:cBhvr>
                                        <p:cTn id="44" dur="1" fill="hold">
                                          <p:stCondLst>
                                            <p:cond delay="0"/>
                                          </p:stCondLst>
                                        </p:cTn>
                                        <p:tgtEl>
                                          <p:spTgt spid="10"/>
                                        </p:tgtEl>
                                        <p:attrNameLst>
                                          <p:attrName>style.visibility</p:attrName>
                                        </p:attrNameLst>
                                      </p:cBhvr>
                                      <p:to>
                                        <p:strVal val="visible"/>
                                      </p:to>
                                    </p:set>
                                    <p:animEffect transition="in" filter="wipe(down)">
                                      <p:cBhvr>
                                        <p:cTn id="45" dur="500"/>
                                        <p:tgtEl>
                                          <p:spTgt spid="10"/>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4" fill="hold" grpId="0" nodeType="clickEffect">
                                  <p:stCondLst>
                                    <p:cond delay="0"/>
                                  </p:stCondLst>
                                  <p:childTnLst>
                                    <p:set>
                                      <p:cBhvr>
                                        <p:cTn id="49" dur="1" fill="hold">
                                          <p:stCondLst>
                                            <p:cond delay="0"/>
                                          </p:stCondLst>
                                        </p:cTn>
                                        <p:tgtEl>
                                          <p:spTgt spid="11"/>
                                        </p:tgtEl>
                                        <p:attrNameLst>
                                          <p:attrName>style.visibility</p:attrName>
                                        </p:attrNameLst>
                                      </p:cBhvr>
                                      <p:to>
                                        <p:strVal val="visible"/>
                                      </p:to>
                                    </p:set>
                                    <p:animEffect transition="in" filter="wipe(down)">
                                      <p:cBhvr>
                                        <p:cTn id="50" dur="500"/>
                                        <p:tgtEl>
                                          <p:spTgt spid="11"/>
                                        </p:tgtEl>
                                      </p:cBhvr>
                                    </p:animEffect>
                                  </p:childTnLst>
                                </p:cTn>
                              </p:par>
                              <p:par>
                                <p:cTn id="51" presetID="22" presetClass="entr" presetSubtype="4" fill="hold" grpId="0" nodeType="withEffect">
                                  <p:stCondLst>
                                    <p:cond delay="0"/>
                                  </p:stCondLst>
                                  <p:childTnLst>
                                    <p:set>
                                      <p:cBhvr>
                                        <p:cTn id="52" dur="1" fill="hold">
                                          <p:stCondLst>
                                            <p:cond delay="0"/>
                                          </p:stCondLst>
                                        </p:cTn>
                                        <p:tgtEl>
                                          <p:spTgt spid="12"/>
                                        </p:tgtEl>
                                        <p:attrNameLst>
                                          <p:attrName>style.visibility</p:attrName>
                                        </p:attrNameLst>
                                      </p:cBhvr>
                                      <p:to>
                                        <p:strVal val="visible"/>
                                      </p:to>
                                    </p:set>
                                    <p:animEffect transition="in" filter="wipe(down)">
                                      <p:cBhvr>
                                        <p:cTn id="53" dur="500"/>
                                        <p:tgtEl>
                                          <p:spTgt spid="12"/>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4" fill="hold" grpId="0" nodeType="clickEffect">
                                  <p:stCondLst>
                                    <p:cond delay="0"/>
                                  </p:stCondLst>
                                  <p:childTnLst>
                                    <p:set>
                                      <p:cBhvr>
                                        <p:cTn id="57" dur="1" fill="hold">
                                          <p:stCondLst>
                                            <p:cond delay="0"/>
                                          </p:stCondLst>
                                        </p:cTn>
                                        <p:tgtEl>
                                          <p:spTgt spid="13"/>
                                        </p:tgtEl>
                                        <p:attrNameLst>
                                          <p:attrName>style.visibility</p:attrName>
                                        </p:attrNameLst>
                                      </p:cBhvr>
                                      <p:to>
                                        <p:strVal val="visible"/>
                                      </p:to>
                                    </p:set>
                                    <p:animEffect transition="in" filter="wipe(down)">
                                      <p:cBhvr>
                                        <p:cTn id="58" dur="500"/>
                                        <p:tgtEl>
                                          <p:spTgt spid="13"/>
                                        </p:tgtEl>
                                      </p:cBhvr>
                                    </p:animEffect>
                                  </p:childTnLst>
                                </p:cTn>
                              </p:par>
                              <p:par>
                                <p:cTn id="59" presetID="22" presetClass="entr" presetSubtype="4" fill="hold" grpId="0" nodeType="withEffect">
                                  <p:stCondLst>
                                    <p:cond delay="0"/>
                                  </p:stCondLst>
                                  <p:childTnLst>
                                    <p:set>
                                      <p:cBhvr>
                                        <p:cTn id="60" dur="1" fill="hold">
                                          <p:stCondLst>
                                            <p:cond delay="0"/>
                                          </p:stCondLst>
                                        </p:cTn>
                                        <p:tgtEl>
                                          <p:spTgt spid="14"/>
                                        </p:tgtEl>
                                        <p:attrNameLst>
                                          <p:attrName>style.visibility</p:attrName>
                                        </p:attrNameLst>
                                      </p:cBhvr>
                                      <p:to>
                                        <p:strVal val="visible"/>
                                      </p:to>
                                    </p:set>
                                    <p:animEffect transition="in" filter="wipe(down)">
                                      <p:cBhvr>
                                        <p:cTn id="61"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9" grpId="0" animBg="1"/>
      <p:bldP spid="10" grpId="0"/>
      <p:bldP spid="11" grpId="0" animBg="1"/>
      <p:bldP spid="12" grpId="0"/>
      <p:bldP spid="13" grpId="0" animBg="1"/>
      <p:bldP spid="1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674001" y="1520184"/>
            <a:ext cx="6957384" cy="2821280"/>
          </a:xfrm>
        </p:spPr>
        <p:txBody>
          <a:bodyPr>
            <a:normAutofit/>
          </a:bodyPr>
          <a:lstStyle/>
          <a:p>
            <a:pPr marL="389191" indent="-342900">
              <a:buFont typeface="+mj-lt"/>
              <a:buAutoNum type="arabicPeriod"/>
            </a:pPr>
            <a:r>
              <a:rPr lang="fr-CA" sz="1620" dirty="0"/>
              <a:t>Prendre le temps de discuter des </a:t>
            </a:r>
            <a:r>
              <a:rPr lang="fr-CA" sz="1620" b="1" u="sng" dirty="0"/>
              <a:t>niveaux d’assurance</a:t>
            </a:r>
            <a:r>
              <a:rPr lang="fr-CA" sz="1620" dirty="0"/>
              <a:t> en lien avec les besoins de votre client ;</a:t>
            </a:r>
          </a:p>
          <a:p>
            <a:pPr marL="389191" indent="-342900">
              <a:buFont typeface="+mj-lt"/>
              <a:buAutoNum type="arabicPeriod"/>
            </a:pPr>
            <a:r>
              <a:rPr lang="fr-CA" sz="1620" dirty="0"/>
              <a:t>Relevez les </a:t>
            </a:r>
            <a:r>
              <a:rPr lang="fr-CA" sz="1620" b="1" u="sng" dirty="0"/>
              <a:t>enjeux déontologiques</a:t>
            </a:r>
            <a:r>
              <a:rPr lang="fr-CA" sz="1620" dirty="0"/>
              <a:t> lorsqu’ils sont présents ;</a:t>
            </a:r>
          </a:p>
          <a:p>
            <a:pPr marL="389191" indent="-342900">
              <a:buFont typeface="+mj-lt"/>
              <a:buAutoNum type="arabicPeriod"/>
            </a:pPr>
            <a:r>
              <a:rPr lang="fr-CA" sz="1620" dirty="0"/>
              <a:t>Toutes les missions de certification se déroulent dans la </a:t>
            </a:r>
            <a:r>
              <a:rPr lang="fr-CA" sz="1620" b="1" u="sng" dirty="0"/>
              <a:t>même séquence</a:t>
            </a:r>
            <a:r>
              <a:rPr lang="fr-CA" sz="1620" dirty="0"/>
              <a:t> : </a:t>
            </a:r>
          </a:p>
          <a:p>
            <a:pPr marL="732091" lvl="1" indent="-342900">
              <a:buFont typeface="Wingdings" panose="05000000000000000000" pitchFamily="2" charset="2"/>
              <a:buChar char="Ø"/>
            </a:pPr>
            <a:r>
              <a:rPr lang="fr-CA" sz="1320" dirty="0"/>
              <a:t>Planification ;</a:t>
            </a:r>
          </a:p>
          <a:p>
            <a:pPr marL="732091" lvl="1" indent="-342900">
              <a:buFont typeface="Wingdings" panose="05000000000000000000" pitchFamily="2" charset="2"/>
              <a:buChar char="Ø"/>
            </a:pPr>
            <a:r>
              <a:rPr lang="fr-CA" sz="1320" dirty="0"/>
              <a:t>Exécution (analyse d’éléments probants) ; et </a:t>
            </a:r>
          </a:p>
          <a:p>
            <a:pPr marL="732091" lvl="1" indent="-342900">
              <a:buFont typeface="Wingdings" panose="05000000000000000000" pitchFamily="2" charset="2"/>
              <a:buChar char="Ø"/>
            </a:pPr>
            <a:r>
              <a:rPr lang="fr-CA" sz="1320" dirty="0"/>
              <a:t>Émission d’un rapport</a:t>
            </a:r>
          </a:p>
        </p:txBody>
      </p:sp>
      <p:sp>
        <p:nvSpPr>
          <p:cNvPr id="7" name="Titre 1"/>
          <p:cNvSpPr>
            <a:spLocks noGrp="1"/>
          </p:cNvSpPr>
          <p:nvPr>
            <p:ph type="title"/>
          </p:nvPr>
        </p:nvSpPr>
        <p:spPr/>
        <p:txBody>
          <a:bodyPr>
            <a:normAutofit/>
          </a:bodyPr>
          <a:lstStyle/>
          <a:p>
            <a:pPr algn="l"/>
            <a:r>
              <a:rPr lang="fr-CA" sz="3600" dirty="0"/>
              <a:t>À retenir :</a:t>
            </a:r>
          </a:p>
        </p:txBody>
      </p:sp>
      <p:sp>
        <p:nvSpPr>
          <p:cNvPr id="4" name="Espace réservé du pied de page 3"/>
          <p:cNvSpPr>
            <a:spLocks noGrp="1"/>
          </p:cNvSpPr>
          <p:nvPr>
            <p:ph type="ftr" sz="quarter" idx="4294967295"/>
          </p:nvPr>
        </p:nvSpPr>
        <p:spPr/>
        <p:txBody>
          <a:bodyPr/>
          <a:lstStyle/>
          <a:p>
            <a:endParaRPr lang="fr-CA" dirty="0"/>
          </a:p>
        </p:txBody>
      </p:sp>
      <p:sp>
        <p:nvSpPr>
          <p:cNvPr id="2" name="Espace réservé du numéro de diapositive 4">
            <a:extLst>
              <a:ext uri="{FF2B5EF4-FFF2-40B4-BE49-F238E27FC236}">
                <a16:creationId xmlns:a16="http://schemas.microsoft.com/office/drawing/2014/main" id="{12345B0C-53D6-A702-B03E-8ABDA9821F3E}"/>
              </a:ext>
            </a:extLst>
          </p:cNvPr>
          <p:cNvSpPr txBox="1">
            <a:spLocks/>
          </p:cNvSpPr>
          <p:nvPr/>
        </p:nvSpPr>
        <p:spPr>
          <a:xfrm>
            <a:off x="8545786" y="4650963"/>
            <a:ext cx="413375" cy="273844"/>
          </a:xfr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B5DEC05-AB38-4F58-9609-FFF4AA167839}" type="slidenum">
              <a:rPr lang="fr-CA" sz="1050" smtClean="0"/>
              <a:pPr/>
              <a:t>6</a:t>
            </a:fld>
            <a:endParaRPr lang="fr-CA" sz="1050" dirty="0"/>
          </a:p>
        </p:txBody>
      </p:sp>
      <p:sp>
        <p:nvSpPr>
          <p:cNvPr id="6" name="ZoneTexte 5">
            <a:extLst>
              <a:ext uri="{FF2B5EF4-FFF2-40B4-BE49-F238E27FC236}">
                <a16:creationId xmlns:a16="http://schemas.microsoft.com/office/drawing/2014/main" id="{74028882-5A16-0D36-A446-90B4FF9D4EB4}"/>
              </a:ext>
            </a:extLst>
          </p:cNvPr>
          <p:cNvSpPr txBox="1"/>
          <p:nvPr/>
        </p:nvSpPr>
        <p:spPr>
          <a:xfrm>
            <a:off x="3034454" y="4924807"/>
            <a:ext cx="1747520" cy="273845"/>
          </a:xfrm>
          <a:prstGeom prst="rect">
            <a:avLst/>
          </a:prstGeom>
        </p:spPr>
        <p:txBody>
          <a:bodyPr vert="horz" wrap="square" lIns="91440" tIns="45720" rIns="91440" bIns="45720" rtlCol="0">
            <a:normAutofit fontScale="92500"/>
          </a:bodyPr>
          <a:lstStyle/>
          <a:p>
            <a:pPr>
              <a:buClr>
                <a:schemeClr val="accent2"/>
              </a:buClr>
              <a:buSzPct val="125000"/>
            </a:pPr>
            <a:r>
              <a:rPr lang="fr-CA" sz="900" dirty="0"/>
              <a:t>Par Hugo Lesley – HEC Montréal</a:t>
            </a:r>
          </a:p>
        </p:txBody>
      </p:sp>
    </p:spTree>
    <p:extLst>
      <p:ext uri="{BB962C8B-B14F-4D97-AF65-F5344CB8AC3E}">
        <p14:creationId xmlns:p14="http://schemas.microsoft.com/office/powerpoint/2010/main" val="5013650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idx="4294967295"/>
          </p:nvPr>
        </p:nvSpPr>
        <p:spPr>
          <a:xfrm>
            <a:off x="92599" y="424719"/>
            <a:ext cx="7514035" cy="469361"/>
          </a:xfrm>
        </p:spPr>
        <p:txBody>
          <a:bodyPr>
            <a:normAutofit fontScale="90000"/>
          </a:bodyPr>
          <a:lstStyle/>
          <a:p>
            <a:r>
              <a:rPr lang="fr-CA" dirty="0"/>
              <a:t>Rôles et mandats en certification</a:t>
            </a:r>
            <a:br>
              <a:rPr lang="fr-CA" b="1" u="sng" dirty="0"/>
            </a:br>
            <a:endParaRPr lang="fr-CA" dirty="0"/>
          </a:p>
        </p:txBody>
      </p:sp>
      <p:sp>
        <p:nvSpPr>
          <p:cNvPr id="5" name="Espace réservé du numéro de diapositive 4"/>
          <p:cNvSpPr>
            <a:spLocks noGrp="1"/>
          </p:cNvSpPr>
          <p:nvPr>
            <p:ph type="sldNum" sz="quarter" idx="4294967295"/>
          </p:nvPr>
        </p:nvSpPr>
        <p:spPr/>
        <p:txBody>
          <a:bodyPr/>
          <a:lstStyle/>
          <a:p>
            <a:endParaRPr lang="fr-CA" dirty="0"/>
          </a:p>
        </p:txBody>
      </p:sp>
      <p:sp>
        <p:nvSpPr>
          <p:cNvPr id="12" name="ZoneTexte 11">
            <a:extLst>
              <a:ext uri="{FF2B5EF4-FFF2-40B4-BE49-F238E27FC236}">
                <a16:creationId xmlns:a16="http://schemas.microsoft.com/office/drawing/2014/main" id="{5FF2610C-F9E1-0B03-D63B-282A59849C79}"/>
              </a:ext>
            </a:extLst>
          </p:cNvPr>
          <p:cNvSpPr txBox="1"/>
          <p:nvPr/>
        </p:nvSpPr>
        <p:spPr>
          <a:xfrm>
            <a:off x="440267" y="1728797"/>
            <a:ext cx="7843520" cy="2358915"/>
          </a:xfrm>
          <a:prstGeom prst="rect">
            <a:avLst/>
          </a:prstGeom>
          <a:noFill/>
        </p:spPr>
        <p:txBody>
          <a:bodyPr wrap="square">
            <a:spAutoFit/>
          </a:bodyPr>
          <a:lstStyle/>
          <a:p>
            <a:pPr algn="just">
              <a:lnSpc>
                <a:spcPct val="107000"/>
              </a:lnSpc>
              <a:spcAft>
                <a:spcPts val="800"/>
              </a:spcAft>
            </a:pPr>
            <a:r>
              <a:rPr lang="fr-CA" sz="1800" dirty="0">
                <a:effectLst/>
                <a:latin typeface="Calibri" panose="020F0502020204030204" pitchFamily="34" charset="0"/>
                <a:ea typeface="Calibri" panose="020F0502020204030204" pitchFamily="34" charset="0"/>
                <a:cs typeface="Times New Roman" panose="02020603050405020304" pitchFamily="18" charset="0"/>
              </a:rPr>
              <a:t>Les procédures analytiques sont les plus susceptibles de détecter :</a:t>
            </a:r>
            <a:endParaRPr lang="fr-CA" sz="16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fr-CA" sz="1800" dirty="0">
                <a:effectLst/>
                <a:latin typeface="Calibri" panose="020F0502020204030204" pitchFamily="34" charset="0"/>
                <a:ea typeface="Calibri" panose="020F0502020204030204" pitchFamily="34" charset="0"/>
                <a:cs typeface="Times New Roman" panose="02020603050405020304" pitchFamily="18" charset="0"/>
              </a:rPr>
              <a:t> </a:t>
            </a:r>
            <a:endParaRPr lang="fr-CA"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buFont typeface="+mj-lt"/>
              <a:buAutoNum type="alphaLcParenR"/>
            </a:pPr>
            <a:r>
              <a:rPr lang="fr-CA" sz="1800" dirty="0">
                <a:effectLst/>
                <a:latin typeface="Calibri" panose="020F0502020204030204" pitchFamily="34" charset="0"/>
                <a:ea typeface="Calibri" panose="020F0502020204030204" pitchFamily="34" charset="0"/>
                <a:cs typeface="Times New Roman" panose="02020603050405020304" pitchFamily="18" charset="0"/>
              </a:rPr>
              <a:t>Des lacunes importantes dans les contrôles internes.</a:t>
            </a:r>
            <a:endParaRPr lang="fr-CA"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buFont typeface="+mj-lt"/>
              <a:buAutoNum type="alphaLcParenR"/>
            </a:pPr>
            <a:r>
              <a:rPr lang="fr-CA" sz="1800" dirty="0">
                <a:effectLst/>
                <a:latin typeface="Calibri" panose="020F0502020204030204" pitchFamily="34" charset="0"/>
                <a:ea typeface="Calibri" panose="020F0502020204030204" pitchFamily="34" charset="0"/>
                <a:cs typeface="Times New Roman" panose="02020603050405020304" pitchFamily="18" charset="0"/>
              </a:rPr>
              <a:t>Des transactions inhabituelles.</a:t>
            </a:r>
            <a:endParaRPr lang="fr-CA"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buFont typeface="+mj-lt"/>
              <a:buAutoNum type="alphaLcParenR"/>
            </a:pPr>
            <a:r>
              <a:rPr lang="fr-CA" sz="1800" dirty="0">
                <a:effectLst/>
                <a:latin typeface="Calibri" panose="020F0502020204030204" pitchFamily="34" charset="0"/>
                <a:ea typeface="Calibri" panose="020F0502020204030204" pitchFamily="34" charset="0"/>
                <a:cs typeface="Times New Roman" panose="02020603050405020304" pitchFamily="18" charset="0"/>
              </a:rPr>
              <a:t>Le non-respect des activités de contrôle prescrites.</a:t>
            </a:r>
            <a:endParaRPr lang="fr-CA"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Font typeface="+mj-lt"/>
              <a:buAutoNum type="alphaLcParenR"/>
            </a:pPr>
            <a:r>
              <a:rPr lang="fr-CA" sz="1800" dirty="0">
                <a:effectLst/>
                <a:latin typeface="Calibri" panose="020F0502020204030204" pitchFamily="34" charset="0"/>
                <a:ea typeface="Calibri" panose="020F0502020204030204" pitchFamily="34" charset="0"/>
                <a:cs typeface="Times New Roman" panose="02020603050405020304" pitchFamily="18" charset="0"/>
              </a:rPr>
              <a:t>Une séparation inadéquate des tâches comptables et des autres tâches financières.</a:t>
            </a:r>
            <a:endParaRPr lang="fr-CA"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5" name="ZoneTexte 14">
            <a:extLst>
              <a:ext uri="{FF2B5EF4-FFF2-40B4-BE49-F238E27FC236}">
                <a16:creationId xmlns:a16="http://schemas.microsoft.com/office/drawing/2014/main" id="{DA201264-7C2F-577B-9D18-29D35D2DDCCF}"/>
              </a:ext>
            </a:extLst>
          </p:cNvPr>
          <p:cNvSpPr txBox="1"/>
          <p:nvPr/>
        </p:nvSpPr>
        <p:spPr>
          <a:xfrm>
            <a:off x="187961" y="1055788"/>
            <a:ext cx="4643120" cy="369332"/>
          </a:xfrm>
          <a:prstGeom prst="rect">
            <a:avLst/>
          </a:prstGeom>
          <a:noFill/>
        </p:spPr>
        <p:txBody>
          <a:bodyPr wrap="square">
            <a:spAutoFit/>
          </a:bodyPr>
          <a:lstStyle/>
          <a:p>
            <a:r>
              <a:rPr lang="fr-CA" b="1" u="sng" dirty="0">
                <a:solidFill>
                  <a:schemeClr val="accent5">
                    <a:lumMod val="50000"/>
                  </a:schemeClr>
                </a:solidFill>
              </a:rPr>
              <a:t>Éléments probants</a:t>
            </a:r>
            <a:endParaRPr lang="fr-CA" dirty="0">
              <a:solidFill>
                <a:schemeClr val="accent5">
                  <a:lumMod val="50000"/>
                </a:schemeClr>
              </a:solidFill>
            </a:endParaRPr>
          </a:p>
        </p:txBody>
      </p:sp>
      <p:sp>
        <p:nvSpPr>
          <p:cNvPr id="16" name="Espace réservé du numéro de diapositive 4">
            <a:extLst>
              <a:ext uri="{FF2B5EF4-FFF2-40B4-BE49-F238E27FC236}">
                <a16:creationId xmlns:a16="http://schemas.microsoft.com/office/drawing/2014/main" id="{DB06940E-9C07-06DF-2DA9-59E2CD83452D}"/>
              </a:ext>
            </a:extLst>
          </p:cNvPr>
          <p:cNvSpPr txBox="1">
            <a:spLocks/>
          </p:cNvSpPr>
          <p:nvPr/>
        </p:nvSpPr>
        <p:spPr>
          <a:xfrm>
            <a:off x="8545786" y="4650963"/>
            <a:ext cx="413375" cy="273844"/>
          </a:xfr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B5DEC05-AB38-4F58-9609-FFF4AA167839}" type="slidenum">
              <a:rPr lang="fr-CA" sz="1050" smtClean="0"/>
              <a:pPr/>
              <a:t>7</a:t>
            </a:fld>
            <a:endParaRPr lang="fr-CA" sz="1050" dirty="0"/>
          </a:p>
        </p:txBody>
      </p:sp>
      <p:sp>
        <p:nvSpPr>
          <p:cNvPr id="17" name="ZoneTexte 16">
            <a:extLst>
              <a:ext uri="{FF2B5EF4-FFF2-40B4-BE49-F238E27FC236}">
                <a16:creationId xmlns:a16="http://schemas.microsoft.com/office/drawing/2014/main" id="{5119256F-4676-ED53-9519-D8AD0487BC18}"/>
              </a:ext>
            </a:extLst>
          </p:cNvPr>
          <p:cNvSpPr txBox="1"/>
          <p:nvPr/>
        </p:nvSpPr>
        <p:spPr>
          <a:xfrm>
            <a:off x="3488267" y="4869655"/>
            <a:ext cx="2072640" cy="273845"/>
          </a:xfrm>
          <a:prstGeom prst="rect">
            <a:avLst/>
          </a:prstGeom>
        </p:spPr>
        <p:txBody>
          <a:bodyPr vert="horz" wrap="square" lIns="91440" tIns="45720" rIns="91440" bIns="45720" rtlCol="0">
            <a:normAutofit fontScale="92500"/>
          </a:bodyPr>
          <a:lstStyle/>
          <a:p>
            <a:pPr>
              <a:buClr>
                <a:schemeClr val="accent2"/>
              </a:buClr>
              <a:buSzPct val="125000"/>
            </a:pPr>
            <a:r>
              <a:rPr lang="fr-CA" sz="900" dirty="0"/>
              <a:t>Par Marc-André Nadon – HEC Montréal</a:t>
            </a:r>
          </a:p>
        </p:txBody>
      </p:sp>
    </p:spTree>
    <p:extLst>
      <p:ext uri="{BB962C8B-B14F-4D97-AF65-F5344CB8AC3E}">
        <p14:creationId xmlns:p14="http://schemas.microsoft.com/office/powerpoint/2010/main" val="42816429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idx="4294967295"/>
          </p:nvPr>
        </p:nvSpPr>
        <p:spPr>
          <a:xfrm>
            <a:off x="92599" y="424719"/>
            <a:ext cx="7514035" cy="469361"/>
          </a:xfrm>
        </p:spPr>
        <p:txBody>
          <a:bodyPr>
            <a:normAutofit fontScale="90000"/>
          </a:bodyPr>
          <a:lstStyle/>
          <a:p>
            <a:r>
              <a:rPr lang="fr-CA" dirty="0"/>
              <a:t>Rôles et mandats en certification</a:t>
            </a:r>
            <a:br>
              <a:rPr lang="fr-CA" b="1" u="sng" dirty="0"/>
            </a:br>
            <a:endParaRPr lang="fr-CA" dirty="0"/>
          </a:p>
        </p:txBody>
      </p:sp>
      <p:sp>
        <p:nvSpPr>
          <p:cNvPr id="5" name="Espace réservé du numéro de diapositive 4"/>
          <p:cNvSpPr>
            <a:spLocks noGrp="1"/>
          </p:cNvSpPr>
          <p:nvPr>
            <p:ph type="sldNum" sz="quarter" idx="4294967295"/>
          </p:nvPr>
        </p:nvSpPr>
        <p:spPr/>
        <p:txBody>
          <a:bodyPr/>
          <a:lstStyle/>
          <a:p>
            <a:endParaRPr lang="fr-CA" dirty="0"/>
          </a:p>
        </p:txBody>
      </p:sp>
      <p:sp>
        <p:nvSpPr>
          <p:cNvPr id="4" name="ZoneTexte 3">
            <a:extLst>
              <a:ext uri="{FF2B5EF4-FFF2-40B4-BE49-F238E27FC236}">
                <a16:creationId xmlns:a16="http://schemas.microsoft.com/office/drawing/2014/main" id="{6B9A5245-287A-E408-623C-3299D4C71AEB}"/>
              </a:ext>
            </a:extLst>
          </p:cNvPr>
          <p:cNvSpPr txBox="1"/>
          <p:nvPr/>
        </p:nvSpPr>
        <p:spPr>
          <a:xfrm>
            <a:off x="410765" y="3978795"/>
            <a:ext cx="7599680" cy="968278"/>
          </a:xfrm>
          <a:prstGeom prst="rect">
            <a:avLst/>
          </a:prstGeom>
          <a:noFill/>
        </p:spPr>
        <p:txBody>
          <a:bodyPr wrap="square">
            <a:spAutoFit/>
          </a:bodyPr>
          <a:lstStyle/>
          <a:p>
            <a:pPr lvl="0" algn="just">
              <a:lnSpc>
                <a:spcPct val="107000"/>
              </a:lnSpc>
            </a:pPr>
            <a:r>
              <a:rPr lang="fr-CA" sz="1800" dirty="0">
                <a:effectLst/>
                <a:latin typeface="Calibri" panose="020F0502020204030204" pitchFamily="34" charset="0"/>
                <a:ea typeface="Calibri" panose="020F0502020204030204" pitchFamily="34" charset="0"/>
                <a:cs typeface="Times New Roman" panose="02020603050405020304" pitchFamily="18" charset="0"/>
              </a:rPr>
              <a:t>Les procédures analytiques portent sur les variations ou les corrélations relevées qui sont incohérentes avec d'autres informations pertinentes ou qui s'écartent de façon importante des valeurs attendues.</a:t>
            </a:r>
            <a:endParaRPr lang="fr-CA"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6" name="ZoneTexte 5">
            <a:extLst>
              <a:ext uri="{FF2B5EF4-FFF2-40B4-BE49-F238E27FC236}">
                <a16:creationId xmlns:a16="http://schemas.microsoft.com/office/drawing/2014/main" id="{277405B9-F5FA-9901-3246-E4F00E7C114F}"/>
              </a:ext>
            </a:extLst>
          </p:cNvPr>
          <p:cNvSpPr txBox="1"/>
          <p:nvPr/>
        </p:nvSpPr>
        <p:spPr>
          <a:xfrm>
            <a:off x="336258" y="1355193"/>
            <a:ext cx="7843520" cy="2358915"/>
          </a:xfrm>
          <a:prstGeom prst="rect">
            <a:avLst/>
          </a:prstGeom>
          <a:noFill/>
        </p:spPr>
        <p:txBody>
          <a:bodyPr wrap="square">
            <a:spAutoFit/>
          </a:bodyPr>
          <a:lstStyle/>
          <a:p>
            <a:pPr algn="just">
              <a:lnSpc>
                <a:spcPct val="107000"/>
              </a:lnSpc>
              <a:spcAft>
                <a:spcPts val="800"/>
              </a:spcAft>
            </a:pPr>
            <a:r>
              <a:rPr lang="fr-CA" sz="1800" dirty="0">
                <a:effectLst/>
                <a:latin typeface="Calibri" panose="020F0502020204030204" pitchFamily="34" charset="0"/>
                <a:ea typeface="Calibri" panose="020F0502020204030204" pitchFamily="34" charset="0"/>
                <a:cs typeface="Times New Roman" panose="02020603050405020304" pitchFamily="18" charset="0"/>
              </a:rPr>
              <a:t>Les procédures analytiques sont les plus susceptibles de détecter :</a:t>
            </a:r>
            <a:endParaRPr lang="fr-CA" sz="16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fr-CA" sz="1800" dirty="0">
                <a:effectLst/>
                <a:latin typeface="Calibri" panose="020F0502020204030204" pitchFamily="34" charset="0"/>
                <a:ea typeface="Calibri" panose="020F0502020204030204" pitchFamily="34" charset="0"/>
                <a:cs typeface="Times New Roman" panose="02020603050405020304" pitchFamily="18" charset="0"/>
              </a:rPr>
              <a:t> </a:t>
            </a:r>
            <a:endParaRPr lang="fr-CA"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buFont typeface="+mj-lt"/>
              <a:buAutoNum type="alphaLcParenR"/>
            </a:pPr>
            <a:r>
              <a:rPr lang="fr-CA" sz="1800" dirty="0">
                <a:effectLst/>
                <a:latin typeface="Calibri" panose="020F0502020204030204" pitchFamily="34" charset="0"/>
                <a:ea typeface="Calibri" panose="020F0502020204030204" pitchFamily="34" charset="0"/>
                <a:cs typeface="Times New Roman" panose="02020603050405020304" pitchFamily="18" charset="0"/>
              </a:rPr>
              <a:t>Des lacunes importantes dans les contrôles internes.</a:t>
            </a:r>
            <a:endParaRPr lang="fr-CA"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buFont typeface="+mj-lt"/>
              <a:buAutoNum type="alphaLcParenR"/>
            </a:pPr>
            <a:r>
              <a:rPr lang="fr-CA" sz="1800" dirty="0">
                <a:effectLst/>
                <a:latin typeface="Calibri" panose="020F0502020204030204" pitchFamily="34" charset="0"/>
                <a:ea typeface="Calibri" panose="020F0502020204030204" pitchFamily="34" charset="0"/>
                <a:cs typeface="Times New Roman" panose="02020603050405020304" pitchFamily="18" charset="0"/>
              </a:rPr>
              <a:t>Des transactions inhabituelles.</a:t>
            </a:r>
            <a:endParaRPr lang="fr-CA"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buFont typeface="+mj-lt"/>
              <a:buAutoNum type="alphaLcParenR"/>
            </a:pPr>
            <a:r>
              <a:rPr lang="fr-CA" sz="1800" dirty="0">
                <a:effectLst/>
                <a:latin typeface="Calibri" panose="020F0502020204030204" pitchFamily="34" charset="0"/>
                <a:ea typeface="Calibri" panose="020F0502020204030204" pitchFamily="34" charset="0"/>
                <a:cs typeface="Times New Roman" panose="02020603050405020304" pitchFamily="18" charset="0"/>
              </a:rPr>
              <a:t>Le non-respect des activités de contrôle prescrites.</a:t>
            </a:r>
            <a:endParaRPr lang="fr-CA"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Font typeface="+mj-lt"/>
              <a:buAutoNum type="alphaLcParenR"/>
            </a:pPr>
            <a:r>
              <a:rPr lang="fr-CA" sz="1800" dirty="0">
                <a:effectLst/>
                <a:latin typeface="Calibri" panose="020F0502020204030204" pitchFamily="34" charset="0"/>
                <a:ea typeface="Calibri" panose="020F0502020204030204" pitchFamily="34" charset="0"/>
                <a:cs typeface="Times New Roman" panose="02020603050405020304" pitchFamily="18" charset="0"/>
              </a:rPr>
              <a:t>Une séparation inadéquate des tâches comptables et des autres tâches financières.</a:t>
            </a:r>
            <a:endParaRPr lang="fr-CA"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Rectangle 6">
            <a:extLst>
              <a:ext uri="{FF2B5EF4-FFF2-40B4-BE49-F238E27FC236}">
                <a16:creationId xmlns:a16="http://schemas.microsoft.com/office/drawing/2014/main" id="{EC1BCFB6-238C-C982-F701-74C90968A035}"/>
              </a:ext>
            </a:extLst>
          </p:cNvPr>
          <p:cNvSpPr/>
          <p:nvPr/>
        </p:nvSpPr>
        <p:spPr>
          <a:xfrm>
            <a:off x="250613" y="2500785"/>
            <a:ext cx="6143414" cy="255963"/>
          </a:xfrm>
          <a:prstGeom prst="rect">
            <a:avLst/>
          </a:prstGeom>
          <a:no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sp>
        <p:nvSpPr>
          <p:cNvPr id="8" name="ZoneTexte 7">
            <a:extLst>
              <a:ext uri="{FF2B5EF4-FFF2-40B4-BE49-F238E27FC236}">
                <a16:creationId xmlns:a16="http://schemas.microsoft.com/office/drawing/2014/main" id="{4B813332-1B5A-DAD7-216B-5511A4251EDE}"/>
              </a:ext>
            </a:extLst>
          </p:cNvPr>
          <p:cNvSpPr txBox="1"/>
          <p:nvPr/>
        </p:nvSpPr>
        <p:spPr>
          <a:xfrm>
            <a:off x="92599" y="841758"/>
            <a:ext cx="4643120" cy="369332"/>
          </a:xfrm>
          <a:prstGeom prst="rect">
            <a:avLst/>
          </a:prstGeom>
          <a:noFill/>
        </p:spPr>
        <p:txBody>
          <a:bodyPr wrap="square">
            <a:spAutoFit/>
          </a:bodyPr>
          <a:lstStyle/>
          <a:p>
            <a:r>
              <a:rPr lang="fr-CA" b="1" u="sng" dirty="0">
                <a:solidFill>
                  <a:schemeClr val="accent5">
                    <a:lumMod val="50000"/>
                  </a:schemeClr>
                </a:solidFill>
              </a:rPr>
              <a:t>Éléments probants</a:t>
            </a:r>
            <a:endParaRPr lang="fr-CA" dirty="0">
              <a:solidFill>
                <a:schemeClr val="accent5">
                  <a:lumMod val="50000"/>
                </a:schemeClr>
              </a:solidFill>
            </a:endParaRPr>
          </a:p>
        </p:txBody>
      </p:sp>
      <p:sp>
        <p:nvSpPr>
          <p:cNvPr id="9" name="Espace réservé du numéro de diapositive 4">
            <a:extLst>
              <a:ext uri="{FF2B5EF4-FFF2-40B4-BE49-F238E27FC236}">
                <a16:creationId xmlns:a16="http://schemas.microsoft.com/office/drawing/2014/main" id="{EE3AA7A4-ED0B-9F49-D4CF-E6E0BF66F923}"/>
              </a:ext>
            </a:extLst>
          </p:cNvPr>
          <p:cNvSpPr txBox="1">
            <a:spLocks/>
          </p:cNvSpPr>
          <p:nvPr/>
        </p:nvSpPr>
        <p:spPr>
          <a:xfrm>
            <a:off x="8545786" y="4650963"/>
            <a:ext cx="413375" cy="273844"/>
          </a:xfr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B5DEC05-AB38-4F58-9609-FFF4AA167839}" type="slidenum">
              <a:rPr lang="fr-CA" sz="1050" smtClean="0"/>
              <a:pPr/>
              <a:t>8</a:t>
            </a:fld>
            <a:endParaRPr lang="fr-CA" sz="1050" dirty="0"/>
          </a:p>
        </p:txBody>
      </p:sp>
      <p:sp>
        <p:nvSpPr>
          <p:cNvPr id="10" name="ZoneTexte 9">
            <a:extLst>
              <a:ext uri="{FF2B5EF4-FFF2-40B4-BE49-F238E27FC236}">
                <a16:creationId xmlns:a16="http://schemas.microsoft.com/office/drawing/2014/main" id="{924D6FB3-F0AE-7813-A30C-1AB6558EE718}"/>
              </a:ext>
            </a:extLst>
          </p:cNvPr>
          <p:cNvSpPr txBox="1"/>
          <p:nvPr/>
        </p:nvSpPr>
        <p:spPr>
          <a:xfrm>
            <a:off x="6262924" y="4859700"/>
            <a:ext cx="1916853" cy="273845"/>
          </a:xfrm>
          <a:prstGeom prst="rect">
            <a:avLst/>
          </a:prstGeom>
        </p:spPr>
        <p:txBody>
          <a:bodyPr vert="horz" wrap="square" lIns="91440" tIns="45720" rIns="91440" bIns="45720" rtlCol="0">
            <a:normAutofit fontScale="77500" lnSpcReduction="20000"/>
          </a:bodyPr>
          <a:lstStyle/>
          <a:p>
            <a:pPr>
              <a:buClr>
                <a:schemeClr val="accent2"/>
              </a:buClr>
              <a:buSzPct val="125000"/>
            </a:pPr>
            <a:r>
              <a:rPr lang="fr-CA" sz="900" dirty="0"/>
              <a:t>Par Marc-André Nadon – HEC Montréal</a:t>
            </a:r>
          </a:p>
        </p:txBody>
      </p:sp>
    </p:spTree>
    <p:extLst>
      <p:ext uri="{BB962C8B-B14F-4D97-AF65-F5344CB8AC3E}">
        <p14:creationId xmlns:p14="http://schemas.microsoft.com/office/powerpoint/2010/main" val="6563385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idx="4294967295"/>
          </p:nvPr>
        </p:nvSpPr>
        <p:spPr>
          <a:xfrm>
            <a:off x="92599" y="424719"/>
            <a:ext cx="7514035" cy="469361"/>
          </a:xfrm>
        </p:spPr>
        <p:txBody>
          <a:bodyPr>
            <a:normAutofit fontScale="90000"/>
          </a:bodyPr>
          <a:lstStyle/>
          <a:p>
            <a:r>
              <a:rPr lang="fr-CA" dirty="0"/>
              <a:t>Rôles et mandats en certification</a:t>
            </a:r>
            <a:br>
              <a:rPr lang="fr-CA" b="1" u="sng" dirty="0"/>
            </a:br>
            <a:endParaRPr lang="fr-CA" dirty="0"/>
          </a:p>
        </p:txBody>
      </p:sp>
      <p:sp>
        <p:nvSpPr>
          <p:cNvPr id="5" name="Espace réservé du numéro de diapositive 4"/>
          <p:cNvSpPr>
            <a:spLocks noGrp="1"/>
          </p:cNvSpPr>
          <p:nvPr>
            <p:ph type="sldNum" sz="quarter" idx="4294967295"/>
          </p:nvPr>
        </p:nvSpPr>
        <p:spPr/>
        <p:txBody>
          <a:bodyPr/>
          <a:lstStyle/>
          <a:p>
            <a:endParaRPr lang="fr-CA" dirty="0"/>
          </a:p>
        </p:txBody>
      </p:sp>
      <p:sp>
        <p:nvSpPr>
          <p:cNvPr id="6" name="ZoneTexte 5">
            <a:extLst>
              <a:ext uri="{FF2B5EF4-FFF2-40B4-BE49-F238E27FC236}">
                <a16:creationId xmlns:a16="http://schemas.microsoft.com/office/drawing/2014/main" id="{97A3D5A6-DFFF-102D-0254-3447132E56ED}"/>
              </a:ext>
            </a:extLst>
          </p:cNvPr>
          <p:cNvSpPr txBox="1"/>
          <p:nvPr/>
        </p:nvSpPr>
        <p:spPr>
          <a:xfrm>
            <a:off x="187961" y="1425120"/>
            <a:ext cx="8753374" cy="2951642"/>
          </a:xfrm>
          <a:prstGeom prst="rect">
            <a:avLst/>
          </a:prstGeom>
          <a:noFill/>
        </p:spPr>
        <p:txBody>
          <a:bodyPr wrap="square">
            <a:spAutoFit/>
          </a:bodyPr>
          <a:lstStyle/>
          <a:p>
            <a:pPr>
              <a:lnSpc>
                <a:spcPct val="107000"/>
              </a:lnSpc>
              <a:spcAft>
                <a:spcPts val="800"/>
              </a:spcAft>
            </a:pPr>
            <a:r>
              <a:rPr lang="fr-CA" sz="1800" dirty="0">
                <a:effectLst/>
                <a:latin typeface="Calibri" panose="020F0502020204030204" pitchFamily="34" charset="0"/>
                <a:ea typeface="Calibri" panose="020F0502020204030204" pitchFamily="34" charset="0"/>
                <a:cs typeface="Times New Roman" panose="02020603050405020304" pitchFamily="18" charset="0"/>
              </a:rPr>
              <a:t>Si l'inventaire est significatif, qu'il est impossible d'assister au comptage physique de l'inventaire et que des éléments probants suffisants et appropriés concernant l'existence et l'état des stocks ne peuvent être obtenus en mettant en œuvre des procédures d'audit alternatives, l'auditeur doit :</a:t>
            </a:r>
            <a:endParaRPr lang="fr-CA" sz="16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fr-CA" sz="1800" dirty="0">
                <a:effectLst/>
                <a:latin typeface="Calibri" panose="020F0502020204030204" pitchFamily="34" charset="0"/>
                <a:ea typeface="Calibri" panose="020F0502020204030204" pitchFamily="34" charset="0"/>
                <a:cs typeface="Times New Roman" panose="02020603050405020304" pitchFamily="18" charset="0"/>
              </a:rPr>
              <a:t> </a:t>
            </a:r>
            <a:endParaRPr lang="fr-CA"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mj-lt"/>
              <a:buAutoNum type="alphaLcParenR"/>
            </a:pPr>
            <a:r>
              <a:rPr lang="fr-CA" sz="1800" dirty="0">
                <a:effectLst/>
                <a:latin typeface="Calibri" panose="020F0502020204030204" pitchFamily="34" charset="0"/>
                <a:ea typeface="Calibri" panose="020F0502020204030204" pitchFamily="34" charset="0"/>
                <a:cs typeface="Times New Roman" panose="02020603050405020304" pitchFamily="18" charset="0"/>
              </a:rPr>
              <a:t>S'appuyer sur la direction et obtenir des lettres de déclaration de la direction.</a:t>
            </a:r>
            <a:endParaRPr lang="fr-CA"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mj-lt"/>
              <a:buAutoNum type="alphaLcParenR"/>
            </a:pPr>
            <a:r>
              <a:rPr lang="fr-CA" sz="1800" dirty="0">
                <a:effectLst/>
                <a:latin typeface="Calibri" panose="020F0502020204030204" pitchFamily="34" charset="0"/>
                <a:ea typeface="Calibri" panose="020F0502020204030204" pitchFamily="34" charset="0"/>
                <a:cs typeface="Times New Roman" panose="02020603050405020304" pitchFamily="18" charset="0"/>
              </a:rPr>
              <a:t>Modifier l'opinion exprimée dans le rapport de l'auditeur.</a:t>
            </a:r>
            <a:endParaRPr lang="fr-CA"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mj-lt"/>
              <a:buAutoNum type="alphaLcParenR"/>
            </a:pPr>
            <a:r>
              <a:rPr lang="fr-CA" sz="1800" dirty="0">
                <a:effectLst/>
                <a:latin typeface="Calibri" panose="020F0502020204030204" pitchFamily="34" charset="0"/>
                <a:ea typeface="Calibri" panose="020F0502020204030204" pitchFamily="34" charset="0"/>
                <a:cs typeface="Times New Roman" panose="02020603050405020304" pitchFamily="18" charset="0"/>
              </a:rPr>
              <a:t>S'appuyer sur le rapport de l'auditeur interne.</a:t>
            </a:r>
            <a:endParaRPr lang="fr-CA"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lphaLcParenR"/>
            </a:pPr>
            <a:r>
              <a:rPr lang="fr-CA" sz="1800" dirty="0">
                <a:effectLst/>
                <a:latin typeface="Calibri" panose="020F0502020204030204" pitchFamily="34" charset="0"/>
                <a:ea typeface="Calibri" panose="020F0502020204030204" pitchFamily="34" charset="0"/>
                <a:cs typeface="Times New Roman" panose="02020603050405020304" pitchFamily="18" charset="0"/>
              </a:rPr>
              <a:t>Toutes ces réponses.</a:t>
            </a:r>
            <a:endParaRPr lang="fr-CA"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ZoneTexte 6">
            <a:extLst>
              <a:ext uri="{FF2B5EF4-FFF2-40B4-BE49-F238E27FC236}">
                <a16:creationId xmlns:a16="http://schemas.microsoft.com/office/drawing/2014/main" id="{E3D00746-A4D7-96CF-AA1E-5178B8156F76}"/>
              </a:ext>
            </a:extLst>
          </p:cNvPr>
          <p:cNvSpPr txBox="1"/>
          <p:nvPr/>
        </p:nvSpPr>
        <p:spPr>
          <a:xfrm>
            <a:off x="187961" y="1055788"/>
            <a:ext cx="4643120" cy="369332"/>
          </a:xfrm>
          <a:prstGeom prst="rect">
            <a:avLst/>
          </a:prstGeom>
          <a:noFill/>
        </p:spPr>
        <p:txBody>
          <a:bodyPr wrap="square">
            <a:spAutoFit/>
          </a:bodyPr>
          <a:lstStyle/>
          <a:p>
            <a:r>
              <a:rPr lang="fr-CA" b="1" u="sng" dirty="0">
                <a:solidFill>
                  <a:schemeClr val="accent5">
                    <a:lumMod val="50000"/>
                  </a:schemeClr>
                </a:solidFill>
              </a:rPr>
              <a:t>Éléments probants</a:t>
            </a:r>
            <a:endParaRPr lang="fr-CA" dirty="0">
              <a:solidFill>
                <a:schemeClr val="accent5">
                  <a:lumMod val="50000"/>
                </a:schemeClr>
              </a:solidFill>
            </a:endParaRPr>
          </a:p>
        </p:txBody>
      </p:sp>
      <p:sp>
        <p:nvSpPr>
          <p:cNvPr id="8" name="Espace réservé du numéro de diapositive 4">
            <a:extLst>
              <a:ext uri="{FF2B5EF4-FFF2-40B4-BE49-F238E27FC236}">
                <a16:creationId xmlns:a16="http://schemas.microsoft.com/office/drawing/2014/main" id="{389091AF-A02E-AE43-FA04-1E51F90EBB34}"/>
              </a:ext>
            </a:extLst>
          </p:cNvPr>
          <p:cNvSpPr txBox="1">
            <a:spLocks/>
          </p:cNvSpPr>
          <p:nvPr/>
        </p:nvSpPr>
        <p:spPr>
          <a:xfrm>
            <a:off x="8545786" y="4650963"/>
            <a:ext cx="413375" cy="273844"/>
          </a:xfr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B5DEC05-AB38-4F58-9609-FFF4AA167839}" type="slidenum">
              <a:rPr lang="fr-CA" sz="1050" smtClean="0"/>
              <a:pPr/>
              <a:t>9</a:t>
            </a:fld>
            <a:endParaRPr lang="fr-CA" sz="1050" dirty="0"/>
          </a:p>
        </p:txBody>
      </p:sp>
      <p:sp>
        <p:nvSpPr>
          <p:cNvPr id="9" name="ZoneTexte 8">
            <a:extLst>
              <a:ext uri="{FF2B5EF4-FFF2-40B4-BE49-F238E27FC236}">
                <a16:creationId xmlns:a16="http://schemas.microsoft.com/office/drawing/2014/main" id="{55782131-AD3B-4724-B5F2-F810F590CBAB}"/>
              </a:ext>
            </a:extLst>
          </p:cNvPr>
          <p:cNvSpPr txBox="1"/>
          <p:nvPr/>
        </p:nvSpPr>
        <p:spPr>
          <a:xfrm>
            <a:off x="6262925" y="4859700"/>
            <a:ext cx="2041182" cy="273845"/>
          </a:xfrm>
          <a:prstGeom prst="rect">
            <a:avLst/>
          </a:prstGeom>
        </p:spPr>
        <p:txBody>
          <a:bodyPr vert="horz" wrap="square" lIns="91440" tIns="45720" rIns="91440" bIns="45720" rtlCol="0">
            <a:normAutofit fontScale="92500"/>
          </a:bodyPr>
          <a:lstStyle/>
          <a:p>
            <a:pPr>
              <a:buClr>
                <a:schemeClr val="accent2"/>
              </a:buClr>
              <a:buSzPct val="125000"/>
            </a:pPr>
            <a:r>
              <a:rPr lang="fr-CA" sz="900" dirty="0"/>
              <a:t>Par Marc-André Nadon – HEC Montréal</a:t>
            </a:r>
          </a:p>
        </p:txBody>
      </p:sp>
    </p:spTree>
    <p:extLst>
      <p:ext uri="{BB962C8B-B14F-4D97-AF65-F5344CB8AC3E}">
        <p14:creationId xmlns:p14="http://schemas.microsoft.com/office/powerpoint/2010/main" val="20986717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idx="4294967295"/>
          </p:nvPr>
        </p:nvSpPr>
        <p:spPr>
          <a:xfrm>
            <a:off x="92599" y="424719"/>
            <a:ext cx="7514035" cy="469361"/>
          </a:xfrm>
        </p:spPr>
        <p:txBody>
          <a:bodyPr>
            <a:normAutofit fontScale="90000"/>
          </a:bodyPr>
          <a:lstStyle/>
          <a:p>
            <a:r>
              <a:rPr lang="fr-CA" dirty="0"/>
              <a:t>Rôles et mandats en certification</a:t>
            </a:r>
            <a:br>
              <a:rPr lang="fr-CA" b="1" u="sng" dirty="0"/>
            </a:br>
            <a:endParaRPr lang="fr-CA" dirty="0"/>
          </a:p>
        </p:txBody>
      </p:sp>
      <p:sp>
        <p:nvSpPr>
          <p:cNvPr id="5" name="Espace réservé du numéro de diapositive 4"/>
          <p:cNvSpPr>
            <a:spLocks noGrp="1"/>
          </p:cNvSpPr>
          <p:nvPr>
            <p:ph type="sldNum" sz="quarter" idx="4294967295"/>
          </p:nvPr>
        </p:nvSpPr>
        <p:spPr/>
        <p:txBody>
          <a:bodyPr/>
          <a:lstStyle/>
          <a:p>
            <a:endParaRPr lang="fr-CA" dirty="0"/>
          </a:p>
        </p:txBody>
      </p:sp>
      <p:sp>
        <p:nvSpPr>
          <p:cNvPr id="3" name="ZoneTexte 2">
            <a:extLst>
              <a:ext uri="{FF2B5EF4-FFF2-40B4-BE49-F238E27FC236}">
                <a16:creationId xmlns:a16="http://schemas.microsoft.com/office/drawing/2014/main" id="{F1E0F0AF-5CC3-1A0B-36D1-D37277735AA4}"/>
              </a:ext>
            </a:extLst>
          </p:cNvPr>
          <p:cNvSpPr txBox="1"/>
          <p:nvPr/>
        </p:nvSpPr>
        <p:spPr>
          <a:xfrm>
            <a:off x="195313" y="1546040"/>
            <a:ext cx="8753374" cy="2552686"/>
          </a:xfrm>
          <a:prstGeom prst="rect">
            <a:avLst/>
          </a:prstGeom>
          <a:noFill/>
        </p:spPr>
        <p:txBody>
          <a:bodyPr wrap="square">
            <a:spAutoFit/>
          </a:bodyPr>
          <a:lstStyle/>
          <a:p>
            <a:pPr>
              <a:lnSpc>
                <a:spcPct val="107000"/>
              </a:lnSpc>
              <a:spcAft>
                <a:spcPts val="800"/>
              </a:spcAft>
            </a:pPr>
            <a:r>
              <a:rPr lang="fr-CA" sz="1800" dirty="0">
                <a:effectLst/>
                <a:latin typeface="Calibri" panose="020F0502020204030204" pitchFamily="34" charset="0"/>
                <a:ea typeface="Calibri" panose="020F0502020204030204" pitchFamily="34" charset="0"/>
                <a:cs typeface="Times New Roman" panose="02020603050405020304" pitchFamily="18" charset="0"/>
              </a:rPr>
              <a:t>Si l'inventaire est significatif, qu'il est impossible d'assister au comptage physique de l'inventaire et que des éléments probants suffisants et appropriés concernant l'existence et l'état des stocks ne peuvent être obtenus en mettant en œuvre des procédures d'audit alternatives, l'auditeur doit :</a:t>
            </a:r>
            <a:endParaRPr lang="fr-CA"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mj-lt"/>
              <a:buAutoNum type="alphaLcParenR"/>
            </a:pPr>
            <a:r>
              <a:rPr lang="fr-CA" sz="1800" dirty="0">
                <a:effectLst/>
                <a:latin typeface="Calibri" panose="020F0502020204030204" pitchFamily="34" charset="0"/>
                <a:ea typeface="Calibri" panose="020F0502020204030204" pitchFamily="34" charset="0"/>
                <a:cs typeface="Times New Roman" panose="02020603050405020304" pitchFamily="18" charset="0"/>
              </a:rPr>
              <a:t>S'appuyer sur la direction et obtenir des lettres de déclaration de la direction.</a:t>
            </a:r>
            <a:endParaRPr lang="fr-CA"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mj-lt"/>
              <a:buAutoNum type="alphaLcParenR"/>
            </a:pPr>
            <a:r>
              <a:rPr lang="fr-CA" sz="1800" dirty="0">
                <a:effectLst/>
                <a:latin typeface="Calibri" panose="020F0502020204030204" pitchFamily="34" charset="0"/>
                <a:ea typeface="Calibri" panose="020F0502020204030204" pitchFamily="34" charset="0"/>
                <a:cs typeface="Times New Roman" panose="02020603050405020304" pitchFamily="18" charset="0"/>
              </a:rPr>
              <a:t>Modifier l'opinion exprimée dans le rapport de l'auditeur.</a:t>
            </a:r>
            <a:endParaRPr lang="fr-CA"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mj-lt"/>
              <a:buAutoNum type="alphaLcParenR"/>
            </a:pPr>
            <a:r>
              <a:rPr lang="fr-CA" sz="1800" dirty="0">
                <a:effectLst/>
                <a:latin typeface="Calibri" panose="020F0502020204030204" pitchFamily="34" charset="0"/>
                <a:ea typeface="Calibri" panose="020F0502020204030204" pitchFamily="34" charset="0"/>
                <a:cs typeface="Times New Roman" panose="02020603050405020304" pitchFamily="18" charset="0"/>
              </a:rPr>
              <a:t>S'appuyer sur le rapport de l'auditeur interne.</a:t>
            </a:r>
            <a:endParaRPr lang="fr-CA"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lphaLcParenR"/>
            </a:pPr>
            <a:r>
              <a:rPr lang="fr-CA" sz="1800" dirty="0">
                <a:effectLst/>
                <a:latin typeface="Calibri" panose="020F0502020204030204" pitchFamily="34" charset="0"/>
                <a:ea typeface="Calibri" panose="020F0502020204030204" pitchFamily="34" charset="0"/>
                <a:cs typeface="Times New Roman" panose="02020603050405020304" pitchFamily="18" charset="0"/>
              </a:rPr>
              <a:t>Toutes ces réponses.</a:t>
            </a:r>
            <a:endParaRPr lang="fr-CA"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6" name="Rectangle 5">
            <a:extLst>
              <a:ext uri="{FF2B5EF4-FFF2-40B4-BE49-F238E27FC236}">
                <a16:creationId xmlns:a16="http://schemas.microsoft.com/office/drawing/2014/main" id="{B920B5EE-99E4-C5DE-F153-960772561DDF}"/>
              </a:ext>
            </a:extLst>
          </p:cNvPr>
          <p:cNvSpPr/>
          <p:nvPr/>
        </p:nvSpPr>
        <p:spPr>
          <a:xfrm>
            <a:off x="147900" y="3163272"/>
            <a:ext cx="7030720" cy="296602"/>
          </a:xfrm>
          <a:prstGeom prst="rect">
            <a:avLst/>
          </a:prstGeom>
          <a:no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sp>
        <p:nvSpPr>
          <p:cNvPr id="8" name="ZoneTexte 7">
            <a:extLst>
              <a:ext uri="{FF2B5EF4-FFF2-40B4-BE49-F238E27FC236}">
                <a16:creationId xmlns:a16="http://schemas.microsoft.com/office/drawing/2014/main" id="{E9A4BA34-1935-6A58-E123-EEF7B0B3F686}"/>
              </a:ext>
            </a:extLst>
          </p:cNvPr>
          <p:cNvSpPr txBox="1"/>
          <p:nvPr/>
        </p:nvSpPr>
        <p:spPr>
          <a:xfrm>
            <a:off x="147900" y="4221280"/>
            <a:ext cx="8996100" cy="646331"/>
          </a:xfrm>
          <a:prstGeom prst="rect">
            <a:avLst/>
          </a:prstGeom>
          <a:noFill/>
        </p:spPr>
        <p:txBody>
          <a:bodyPr wrap="square">
            <a:spAutoFit/>
          </a:bodyPr>
          <a:lstStyle/>
          <a:p>
            <a:r>
              <a:rPr lang="fr-CA" sz="1800" dirty="0">
                <a:effectLst/>
                <a:latin typeface="Calibri" panose="020F0502020204030204" pitchFamily="34" charset="0"/>
                <a:ea typeface="Calibri" panose="020F0502020204030204" pitchFamily="34" charset="0"/>
                <a:cs typeface="Times New Roman" panose="02020603050405020304" pitchFamily="18" charset="0"/>
              </a:rPr>
              <a:t>L'auditeur doit exprimer une opinion modifiée dans son rapport, conformément à la NCA 705. S’il s’agit du seul problème, ce serait une opinion avec réserve.</a:t>
            </a:r>
            <a:endParaRPr lang="fr-CA" dirty="0"/>
          </a:p>
        </p:txBody>
      </p:sp>
      <p:sp>
        <p:nvSpPr>
          <p:cNvPr id="9" name="ZoneTexte 8">
            <a:extLst>
              <a:ext uri="{FF2B5EF4-FFF2-40B4-BE49-F238E27FC236}">
                <a16:creationId xmlns:a16="http://schemas.microsoft.com/office/drawing/2014/main" id="{7A37BF5C-F490-60C7-C46D-5C369F316247}"/>
              </a:ext>
            </a:extLst>
          </p:cNvPr>
          <p:cNvSpPr txBox="1"/>
          <p:nvPr/>
        </p:nvSpPr>
        <p:spPr>
          <a:xfrm>
            <a:off x="195313" y="1176708"/>
            <a:ext cx="4643120" cy="369332"/>
          </a:xfrm>
          <a:prstGeom prst="rect">
            <a:avLst/>
          </a:prstGeom>
          <a:noFill/>
        </p:spPr>
        <p:txBody>
          <a:bodyPr wrap="square">
            <a:spAutoFit/>
          </a:bodyPr>
          <a:lstStyle/>
          <a:p>
            <a:r>
              <a:rPr lang="fr-CA" b="1" u="sng" dirty="0">
                <a:solidFill>
                  <a:schemeClr val="accent5">
                    <a:lumMod val="50000"/>
                  </a:schemeClr>
                </a:solidFill>
              </a:rPr>
              <a:t>Éléments probants</a:t>
            </a:r>
            <a:endParaRPr lang="fr-CA" dirty="0">
              <a:solidFill>
                <a:schemeClr val="accent5">
                  <a:lumMod val="50000"/>
                </a:schemeClr>
              </a:solidFill>
            </a:endParaRPr>
          </a:p>
        </p:txBody>
      </p:sp>
      <p:sp>
        <p:nvSpPr>
          <p:cNvPr id="10" name="ZoneTexte 9">
            <a:extLst>
              <a:ext uri="{FF2B5EF4-FFF2-40B4-BE49-F238E27FC236}">
                <a16:creationId xmlns:a16="http://schemas.microsoft.com/office/drawing/2014/main" id="{580EC44B-6288-5238-8CBF-B4C043893BC7}"/>
              </a:ext>
            </a:extLst>
          </p:cNvPr>
          <p:cNvSpPr txBox="1"/>
          <p:nvPr/>
        </p:nvSpPr>
        <p:spPr>
          <a:xfrm>
            <a:off x="6168097" y="4990165"/>
            <a:ext cx="1912489" cy="273845"/>
          </a:xfrm>
          <a:prstGeom prst="rect">
            <a:avLst/>
          </a:prstGeom>
        </p:spPr>
        <p:txBody>
          <a:bodyPr vert="horz" wrap="square" lIns="91440" tIns="45720" rIns="91440" bIns="45720" rtlCol="0">
            <a:normAutofit fontScale="77500" lnSpcReduction="20000"/>
          </a:bodyPr>
          <a:lstStyle/>
          <a:p>
            <a:pPr>
              <a:buClr>
                <a:schemeClr val="accent2"/>
              </a:buClr>
              <a:buSzPct val="125000"/>
            </a:pPr>
            <a:r>
              <a:rPr lang="fr-CA" sz="900" dirty="0"/>
              <a:t>Par Marc-André Nadon – HEC Montréal</a:t>
            </a:r>
          </a:p>
        </p:txBody>
      </p:sp>
    </p:spTree>
    <p:extLst>
      <p:ext uri="{BB962C8B-B14F-4D97-AF65-F5344CB8AC3E}">
        <p14:creationId xmlns:p14="http://schemas.microsoft.com/office/powerpoint/2010/main" val="7807414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idx="4294967295"/>
          </p:nvPr>
        </p:nvSpPr>
        <p:spPr>
          <a:xfrm>
            <a:off x="92599" y="424719"/>
            <a:ext cx="7514035" cy="469361"/>
          </a:xfrm>
        </p:spPr>
        <p:txBody>
          <a:bodyPr>
            <a:normAutofit fontScale="90000"/>
          </a:bodyPr>
          <a:lstStyle/>
          <a:p>
            <a:r>
              <a:rPr lang="fr-CA" dirty="0"/>
              <a:t>Rôles et mandats en certification</a:t>
            </a:r>
            <a:br>
              <a:rPr lang="fr-CA" b="1" u="sng" dirty="0"/>
            </a:br>
            <a:endParaRPr lang="fr-CA" dirty="0"/>
          </a:p>
        </p:txBody>
      </p:sp>
      <p:sp>
        <p:nvSpPr>
          <p:cNvPr id="5" name="Espace réservé du numéro de diapositive 4"/>
          <p:cNvSpPr>
            <a:spLocks noGrp="1"/>
          </p:cNvSpPr>
          <p:nvPr>
            <p:ph type="sldNum" sz="quarter" idx="4294967295"/>
          </p:nvPr>
        </p:nvSpPr>
        <p:spPr/>
        <p:txBody>
          <a:bodyPr/>
          <a:lstStyle/>
          <a:p>
            <a:endParaRPr lang="fr-CA" dirty="0"/>
          </a:p>
        </p:txBody>
      </p:sp>
      <p:sp>
        <p:nvSpPr>
          <p:cNvPr id="4" name="ZoneTexte 3">
            <a:extLst>
              <a:ext uri="{FF2B5EF4-FFF2-40B4-BE49-F238E27FC236}">
                <a16:creationId xmlns:a16="http://schemas.microsoft.com/office/drawing/2014/main" id="{20F441DE-0E47-4B04-34DA-345915423F75}"/>
              </a:ext>
            </a:extLst>
          </p:cNvPr>
          <p:cNvSpPr txBox="1"/>
          <p:nvPr/>
        </p:nvSpPr>
        <p:spPr>
          <a:xfrm>
            <a:off x="230293" y="1652174"/>
            <a:ext cx="8534400" cy="2951642"/>
          </a:xfrm>
          <a:prstGeom prst="rect">
            <a:avLst/>
          </a:prstGeom>
          <a:noFill/>
        </p:spPr>
        <p:txBody>
          <a:bodyPr wrap="square">
            <a:spAutoFit/>
          </a:bodyPr>
          <a:lstStyle/>
          <a:p>
            <a:pPr algn="just">
              <a:lnSpc>
                <a:spcPct val="107000"/>
              </a:lnSpc>
              <a:spcAft>
                <a:spcPts val="800"/>
              </a:spcAft>
            </a:pPr>
            <a:r>
              <a:rPr lang="fr-CA" sz="1800" dirty="0">
                <a:effectLst/>
                <a:latin typeface="Calibri" panose="020F0502020204030204" pitchFamily="34" charset="0"/>
                <a:ea typeface="Calibri" panose="020F0502020204030204" pitchFamily="34" charset="0"/>
                <a:cs typeface="Times New Roman" panose="02020603050405020304" pitchFamily="18" charset="0"/>
              </a:rPr>
              <a:t>L'auditeur doit demander à la direction de fournir des déclarations écrites indiquant que _______________ dont les effets doivent être pris en compte lors de la préparation des </a:t>
            </a:r>
            <a:r>
              <a:rPr lang="fr-CA" sz="1800" dirty="0" err="1">
                <a:effectLst/>
                <a:latin typeface="Calibri" panose="020F0502020204030204" pitchFamily="34" charset="0"/>
                <a:ea typeface="Calibri" panose="020F0502020204030204" pitchFamily="34" charset="0"/>
                <a:cs typeface="Times New Roman" panose="02020603050405020304" pitchFamily="18" charset="0"/>
              </a:rPr>
              <a:t>ÉFs</a:t>
            </a:r>
            <a:r>
              <a:rPr lang="fr-CA" sz="1800" dirty="0">
                <a:effectLst/>
                <a:latin typeface="Calibri" panose="020F0502020204030204" pitchFamily="34" charset="0"/>
                <a:ea typeface="Calibri" panose="020F0502020204030204" pitchFamily="34" charset="0"/>
                <a:cs typeface="Times New Roman" panose="02020603050405020304" pitchFamily="18" charset="0"/>
              </a:rPr>
              <a:t> ont été communiqués à l'auditeur et ont fait l'objet d'une comptabilisation et d'une communication appropriées conformément au référentiel d'information financière applicable.</a:t>
            </a:r>
            <a:r>
              <a:rPr lang="fr-CA" sz="1800" b="1" dirty="0">
                <a:effectLst/>
                <a:latin typeface="Calibri" panose="020F0502020204030204" pitchFamily="34" charset="0"/>
                <a:ea typeface="Calibri" panose="020F0502020204030204" pitchFamily="34" charset="0"/>
                <a:cs typeface="Times New Roman" panose="02020603050405020304" pitchFamily="18" charset="0"/>
              </a:rPr>
              <a:t> </a:t>
            </a:r>
            <a:endParaRPr lang="fr-CA"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buFont typeface="+mj-lt"/>
              <a:buAutoNum type="alphaLcParenR"/>
            </a:pPr>
            <a:r>
              <a:rPr lang="fr-CA" sz="1800" dirty="0">
                <a:effectLst/>
                <a:latin typeface="Calibri" panose="020F0502020204030204" pitchFamily="34" charset="0"/>
                <a:ea typeface="Calibri" panose="020F0502020204030204" pitchFamily="34" charset="0"/>
                <a:cs typeface="Times New Roman" panose="02020603050405020304" pitchFamily="18" charset="0"/>
              </a:rPr>
              <a:t>Les réclamations en cours.</a:t>
            </a:r>
            <a:endParaRPr lang="fr-CA"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indent="-342900" algn="just">
              <a:lnSpc>
                <a:spcPct val="107000"/>
              </a:lnSpc>
              <a:buFont typeface="+mj-lt"/>
              <a:buAutoNum type="alphaLcParenR"/>
            </a:pPr>
            <a:r>
              <a:rPr lang="fr-CA" dirty="0">
                <a:latin typeface="Calibri" panose="020F0502020204030204" pitchFamily="34" charset="0"/>
                <a:ea typeface="Calibri" panose="020F0502020204030204" pitchFamily="34" charset="0"/>
                <a:cs typeface="Times New Roman" panose="02020603050405020304" pitchFamily="18" charset="0"/>
              </a:rPr>
              <a:t>Les litiges en cours.</a:t>
            </a:r>
            <a:endParaRPr lang="fr-CA" sz="16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buFont typeface="+mj-lt"/>
              <a:buAutoNum type="alphaLcParenR"/>
            </a:pPr>
            <a:r>
              <a:rPr lang="fr-CA" sz="1800" dirty="0">
                <a:effectLst/>
                <a:latin typeface="Calibri" panose="020F0502020204030204" pitchFamily="34" charset="0"/>
                <a:ea typeface="Calibri" panose="020F0502020204030204" pitchFamily="34" charset="0"/>
                <a:cs typeface="Times New Roman" panose="02020603050405020304" pitchFamily="18" charset="0"/>
              </a:rPr>
              <a:t>Les litiges éventuels.</a:t>
            </a:r>
            <a:endParaRPr lang="fr-CA"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buFont typeface="+mj-lt"/>
              <a:buAutoNum type="alphaLcParenR"/>
            </a:pPr>
            <a:r>
              <a:rPr lang="fr-CA" sz="1800" dirty="0">
                <a:effectLst/>
                <a:latin typeface="Calibri" panose="020F0502020204030204" pitchFamily="34" charset="0"/>
                <a:ea typeface="Calibri" panose="020F0502020204030204" pitchFamily="34" charset="0"/>
                <a:cs typeface="Times New Roman" panose="02020603050405020304" pitchFamily="18" charset="0"/>
              </a:rPr>
              <a:t>Les litiges et réclamations en cours et éventuels.</a:t>
            </a:r>
            <a:endParaRPr lang="fr-CA"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0" name="ZoneTexte 9">
            <a:extLst>
              <a:ext uri="{FF2B5EF4-FFF2-40B4-BE49-F238E27FC236}">
                <a16:creationId xmlns:a16="http://schemas.microsoft.com/office/drawing/2014/main" id="{0D844DCB-A739-D0E3-E7E0-43A0B26C787E}"/>
              </a:ext>
            </a:extLst>
          </p:cNvPr>
          <p:cNvSpPr txBox="1"/>
          <p:nvPr/>
        </p:nvSpPr>
        <p:spPr>
          <a:xfrm>
            <a:off x="187961" y="1055788"/>
            <a:ext cx="4643120" cy="369332"/>
          </a:xfrm>
          <a:prstGeom prst="rect">
            <a:avLst/>
          </a:prstGeom>
          <a:noFill/>
        </p:spPr>
        <p:txBody>
          <a:bodyPr wrap="square">
            <a:spAutoFit/>
          </a:bodyPr>
          <a:lstStyle/>
          <a:p>
            <a:r>
              <a:rPr lang="fr-CA" b="1" u="sng" dirty="0">
                <a:solidFill>
                  <a:schemeClr val="accent5">
                    <a:lumMod val="50000"/>
                  </a:schemeClr>
                </a:solidFill>
              </a:rPr>
              <a:t>Éléments probants</a:t>
            </a:r>
            <a:endParaRPr lang="fr-CA" dirty="0">
              <a:solidFill>
                <a:schemeClr val="accent5">
                  <a:lumMod val="50000"/>
                </a:schemeClr>
              </a:solidFill>
            </a:endParaRPr>
          </a:p>
        </p:txBody>
      </p:sp>
      <p:sp>
        <p:nvSpPr>
          <p:cNvPr id="11" name="Espace réservé du numéro de diapositive 4">
            <a:extLst>
              <a:ext uri="{FF2B5EF4-FFF2-40B4-BE49-F238E27FC236}">
                <a16:creationId xmlns:a16="http://schemas.microsoft.com/office/drawing/2014/main" id="{D4A66074-8E99-2B14-273D-9998596B17C2}"/>
              </a:ext>
            </a:extLst>
          </p:cNvPr>
          <p:cNvSpPr txBox="1">
            <a:spLocks/>
          </p:cNvSpPr>
          <p:nvPr/>
        </p:nvSpPr>
        <p:spPr>
          <a:xfrm>
            <a:off x="8545786" y="4650963"/>
            <a:ext cx="413375" cy="273844"/>
          </a:xfr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B5DEC05-AB38-4F58-9609-FFF4AA167839}" type="slidenum">
              <a:rPr lang="fr-CA" sz="1050" smtClean="0"/>
              <a:pPr/>
              <a:t>11</a:t>
            </a:fld>
            <a:endParaRPr lang="fr-CA" sz="1050" dirty="0"/>
          </a:p>
        </p:txBody>
      </p:sp>
      <p:sp>
        <p:nvSpPr>
          <p:cNvPr id="12" name="ZoneTexte 11">
            <a:extLst>
              <a:ext uri="{FF2B5EF4-FFF2-40B4-BE49-F238E27FC236}">
                <a16:creationId xmlns:a16="http://schemas.microsoft.com/office/drawing/2014/main" id="{104BC0EB-4394-7EC5-DBE3-EC1CC490860E}"/>
              </a:ext>
            </a:extLst>
          </p:cNvPr>
          <p:cNvSpPr txBox="1"/>
          <p:nvPr/>
        </p:nvSpPr>
        <p:spPr>
          <a:xfrm>
            <a:off x="6262925" y="4859700"/>
            <a:ext cx="1878622" cy="273845"/>
          </a:xfrm>
          <a:prstGeom prst="rect">
            <a:avLst/>
          </a:prstGeom>
        </p:spPr>
        <p:txBody>
          <a:bodyPr vert="horz" wrap="square" lIns="91440" tIns="45720" rIns="91440" bIns="45720" rtlCol="0">
            <a:normAutofit fontScale="77500" lnSpcReduction="20000"/>
          </a:bodyPr>
          <a:lstStyle/>
          <a:p>
            <a:pPr>
              <a:buClr>
                <a:schemeClr val="accent2"/>
              </a:buClr>
              <a:buSzPct val="125000"/>
            </a:pPr>
            <a:r>
              <a:rPr lang="fr-CA" sz="900" dirty="0"/>
              <a:t>Par Marc-André Nadon – HEC Montréal</a:t>
            </a:r>
          </a:p>
        </p:txBody>
      </p:sp>
    </p:spTree>
    <p:extLst>
      <p:ext uri="{BB962C8B-B14F-4D97-AF65-F5344CB8AC3E}">
        <p14:creationId xmlns:p14="http://schemas.microsoft.com/office/powerpoint/2010/main" val="28427883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idx="4294967295"/>
          </p:nvPr>
        </p:nvSpPr>
        <p:spPr>
          <a:xfrm>
            <a:off x="92599" y="424719"/>
            <a:ext cx="7514035" cy="469361"/>
          </a:xfrm>
        </p:spPr>
        <p:txBody>
          <a:bodyPr>
            <a:normAutofit fontScale="90000"/>
          </a:bodyPr>
          <a:lstStyle/>
          <a:p>
            <a:r>
              <a:rPr lang="fr-CA" dirty="0"/>
              <a:t>Rôles et mandats en certification</a:t>
            </a:r>
            <a:br>
              <a:rPr lang="fr-CA" b="1" u="sng" dirty="0"/>
            </a:br>
            <a:endParaRPr lang="fr-CA" dirty="0"/>
          </a:p>
        </p:txBody>
      </p:sp>
      <p:sp>
        <p:nvSpPr>
          <p:cNvPr id="5" name="Espace réservé du numéro de diapositive 4"/>
          <p:cNvSpPr>
            <a:spLocks noGrp="1"/>
          </p:cNvSpPr>
          <p:nvPr>
            <p:ph type="sldNum" sz="quarter" idx="4294967295"/>
          </p:nvPr>
        </p:nvSpPr>
        <p:spPr/>
        <p:txBody>
          <a:bodyPr/>
          <a:lstStyle/>
          <a:p>
            <a:endParaRPr lang="fr-CA" dirty="0"/>
          </a:p>
        </p:txBody>
      </p:sp>
      <p:sp>
        <p:nvSpPr>
          <p:cNvPr id="4" name="ZoneTexte 3">
            <a:extLst>
              <a:ext uri="{FF2B5EF4-FFF2-40B4-BE49-F238E27FC236}">
                <a16:creationId xmlns:a16="http://schemas.microsoft.com/office/drawing/2014/main" id="{365E06D6-4C1D-DE65-A319-55D595D76848}"/>
              </a:ext>
            </a:extLst>
          </p:cNvPr>
          <p:cNvSpPr txBox="1"/>
          <p:nvPr/>
        </p:nvSpPr>
        <p:spPr>
          <a:xfrm>
            <a:off x="243840" y="1401063"/>
            <a:ext cx="8778240" cy="2951642"/>
          </a:xfrm>
          <a:prstGeom prst="rect">
            <a:avLst/>
          </a:prstGeom>
          <a:noFill/>
        </p:spPr>
        <p:txBody>
          <a:bodyPr wrap="square">
            <a:spAutoFit/>
          </a:bodyPr>
          <a:lstStyle/>
          <a:p>
            <a:pPr algn="just">
              <a:lnSpc>
                <a:spcPct val="107000"/>
              </a:lnSpc>
              <a:spcAft>
                <a:spcPts val="800"/>
              </a:spcAft>
            </a:pPr>
            <a:r>
              <a:rPr lang="fr-CA" sz="1800" dirty="0">
                <a:effectLst/>
                <a:latin typeface="Calibri" panose="020F0502020204030204" pitchFamily="34" charset="0"/>
                <a:ea typeface="Calibri" panose="020F0502020204030204" pitchFamily="34" charset="0"/>
                <a:cs typeface="Times New Roman" panose="02020603050405020304" pitchFamily="18" charset="0"/>
              </a:rPr>
              <a:t>L'auditeur doit demander à la direction de fournir des déclarations écrites indiquant que _______________ dont les effets doivent être pris en compte lors de la préparation des </a:t>
            </a:r>
            <a:r>
              <a:rPr lang="fr-CA" sz="1800" dirty="0" err="1">
                <a:effectLst/>
                <a:latin typeface="Calibri" panose="020F0502020204030204" pitchFamily="34" charset="0"/>
                <a:ea typeface="Calibri" panose="020F0502020204030204" pitchFamily="34" charset="0"/>
                <a:cs typeface="Times New Roman" panose="02020603050405020304" pitchFamily="18" charset="0"/>
              </a:rPr>
              <a:t>ÉFs</a:t>
            </a:r>
            <a:r>
              <a:rPr lang="fr-CA" sz="1800" dirty="0">
                <a:effectLst/>
                <a:latin typeface="Calibri" panose="020F0502020204030204" pitchFamily="34" charset="0"/>
                <a:ea typeface="Calibri" panose="020F0502020204030204" pitchFamily="34" charset="0"/>
                <a:cs typeface="Times New Roman" panose="02020603050405020304" pitchFamily="18" charset="0"/>
              </a:rPr>
              <a:t> ont été communiqués à l'auditeur et ont fait l'objet d'une comptabilisation et d'une communication appropriées conformément au référentiel d'information financière applicable.</a:t>
            </a:r>
            <a:r>
              <a:rPr lang="fr-CA" sz="1800" b="1" dirty="0">
                <a:effectLst/>
                <a:latin typeface="Calibri" panose="020F0502020204030204" pitchFamily="34" charset="0"/>
                <a:ea typeface="Calibri" panose="020F0502020204030204" pitchFamily="34" charset="0"/>
                <a:cs typeface="Times New Roman" panose="02020603050405020304" pitchFamily="18" charset="0"/>
              </a:rPr>
              <a:t> </a:t>
            </a:r>
            <a:endParaRPr lang="fr-CA"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buFont typeface="+mj-lt"/>
              <a:buAutoNum type="alphaLcParenR"/>
            </a:pPr>
            <a:r>
              <a:rPr lang="fr-CA" sz="1800" dirty="0">
                <a:effectLst/>
                <a:latin typeface="Calibri" panose="020F0502020204030204" pitchFamily="34" charset="0"/>
                <a:ea typeface="Calibri" panose="020F0502020204030204" pitchFamily="34" charset="0"/>
                <a:cs typeface="Times New Roman" panose="02020603050405020304" pitchFamily="18" charset="0"/>
              </a:rPr>
              <a:t>Les réclamations en cours.</a:t>
            </a:r>
            <a:endParaRPr lang="fr-CA"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indent="-342900" algn="just">
              <a:lnSpc>
                <a:spcPct val="107000"/>
              </a:lnSpc>
              <a:buFont typeface="+mj-lt"/>
              <a:buAutoNum type="alphaLcParenR"/>
            </a:pPr>
            <a:r>
              <a:rPr lang="fr-CA" dirty="0">
                <a:latin typeface="Calibri" panose="020F0502020204030204" pitchFamily="34" charset="0"/>
                <a:ea typeface="Calibri" panose="020F0502020204030204" pitchFamily="34" charset="0"/>
                <a:cs typeface="Times New Roman" panose="02020603050405020304" pitchFamily="18" charset="0"/>
              </a:rPr>
              <a:t>Les litiges en cours.</a:t>
            </a:r>
            <a:endParaRPr lang="fr-CA" sz="16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buFont typeface="+mj-lt"/>
              <a:buAutoNum type="alphaLcParenR"/>
            </a:pPr>
            <a:r>
              <a:rPr lang="fr-CA" sz="1800" dirty="0">
                <a:effectLst/>
                <a:latin typeface="Calibri" panose="020F0502020204030204" pitchFamily="34" charset="0"/>
                <a:ea typeface="Calibri" panose="020F0502020204030204" pitchFamily="34" charset="0"/>
                <a:cs typeface="Times New Roman" panose="02020603050405020304" pitchFamily="18" charset="0"/>
              </a:rPr>
              <a:t>Les litiges éventuels.</a:t>
            </a:r>
            <a:endParaRPr lang="fr-CA"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buFont typeface="+mj-lt"/>
              <a:buAutoNum type="alphaLcParenR"/>
            </a:pPr>
            <a:r>
              <a:rPr lang="fr-CA" sz="1800" dirty="0">
                <a:effectLst/>
                <a:latin typeface="Calibri" panose="020F0502020204030204" pitchFamily="34" charset="0"/>
                <a:ea typeface="Calibri" panose="020F0502020204030204" pitchFamily="34" charset="0"/>
                <a:cs typeface="Times New Roman" panose="02020603050405020304" pitchFamily="18" charset="0"/>
              </a:rPr>
              <a:t>Les litiges et réclamations en cours et éventuels.</a:t>
            </a:r>
            <a:endParaRPr lang="fr-CA"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Rectangle 6">
            <a:extLst>
              <a:ext uri="{FF2B5EF4-FFF2-40B4-BE49-F238E27FC236}">
                <a16:creationId xmlns:a16="http://schemas.microsoft.com/office/drawing/2014/main" id="{AE499188-E537-A739-A677-24374B56C31E}"/>
              </a:ext>
            </a:extLst>
          </p:cNvPr>
          <p:cNvSpPr/>
          <p:nvPr/>
        </p:nvSpPr>
        <p:spPr>
          <a:xfrm>
            <a:off x="243840" y="3883993"/>
            <a:ext cx="7030720" cy="296602"/>
          </a:xfrm>
          <a:prstGeom prst="rect">
            <a:avLst/>
          </a:prstGeom>
          <a:no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sp>
        <p:nvSpPr>
          <p:cNvPr id="8" name="ZoneTexte 7">
            <a:extLst>
              <a:ext uri="{FF2B5EF4-FFF2-40B4-BE49-F238E27FC236}">
                <a16:creationId xmlns:a16="http://schemas.microsoft.com/office/drawing/2014/main" id="{08F06BEA-76D8-B5B0-FD84-CD6F184A0A76}"/>
              </a:ext>
            </a:extLst>
          </p:cNvPr>
          <p:cNvSpPr txBox="1"/>
          <p:nvPr/>
        </p:nvSpPr>
        <p:spPr>
          <a:xfrm>
            <a:off x="243840" y="4382823"/>
            <a:ext cx="8595360" cy="671915"/>
          </a:xfrm>
          <a:prstGeom prst="rect">
            <a:avLst/>
          </a:prstGeom>
          <a:noFill/>
        </p:spPr>
        <p:txBody>
          <a:bodyPr wrap="square">
            <a:spAutoFit/>
          </a:bodyPr>
          <a:lstStyle/>
          <a:p>
            <a:pPr lvl="0" algn="just">
              <a:lnSpc>
                <a:spcPct val="107000"/>
              </a:lnSpc>
              <a:spcAft>
                <a:spcPts val="800"/>
              </a:spcAft>
            </a:pPr>
            <a:r>
              <a:rPr lang="fr-CA" sz="1800" dirty="0">
                <a:effectLst/>
                <a:latin typeface="Calibri" panose="020F0502020204030204" pitchFamily="34" charset="0"/>
                <a:ea typeface="Calibri" panose="020F0502020204030204" pitchFamily="34" charset="0"/>
                <a:cs typeface="Times New Roman" panose="02020603050405020304" pitchFamily="18" charset="0"/>
              </a:rPr>
              <a:t>L’auditeur doit s’assurer que toute affaire litigieuse ou pouvant le devenir concernant la société fait partie des déclarations écrites.</a:t>
            </a:r>
            <a:endParaRPr lang="fr-CA"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9" name="ZoneTexte 8">
            <a:extLst>
              <a:ext uri="{FF2B5EF4-FFF2-40B4-BE49-F238E27FC236}">
                <a16:creationId xmlns:a16="http://schemas.microsoft.com/office/drawing/2014/main" id="{5B06BB8A-A144-CB62-7529-1DA31FF10D95}"/>
              </a:ext>
            </a:extLst>
          </p:cNvPr>
          <p:cNvSpPr txBox="1"/>
          <p:nvPr/>
        </p:nvSpPr>
        <p:spPr>
          <a:xfrm>
            <a:off x="243840" y="962905"/>
            <a:ext cx="4643120" cy="369332"/>
          </a:xfrm>
          <a:prstGeom prst="rect">
            <a:avLst/>
          </a:prstGeom>
          <a:noFill/>
        </p:spPr>
        <p:txBody>
          <a:bodyPr wrap="square">
            <a:spAutoFit/>
          </a:bodyPr>
          <a:lstStyle/>
          <a:p>
            <a:r>
              <a:rPr lang="fr-CA" b="1" u="sng" dirty="0">
                <a:solidFill>
                  <a:schemeClr val="accent5">
                    <a:lumMod val="50000"/>
                  </a:schemeClr>
                </a:solidFill>
              </a:rPr>
              <a:t>Éléments probants</a:t>
            </a:r>
            <a:endParaRPr lang="fr-CA" dirty="0">
              <a:solidFill>
                <a:schemeClr val="accent5">
                  <a:lumMod val="50000"/>
                </a:schemeClr>
              </a:solidFill>
            </a:endParaRPr>
          </a:p>
        </p:txBody>
      </p:sp>
      <p:sp>
        <p:nvSpPr>
          <p:cNvPr id="10" name="Espace réservé du numéro de diapositive 4">
            <a:extLst>
              <a:ext uri="{FF2B5EF4-FFF2-40B4-BE49-F238E27FC236}">
                <a16:creationId xmlns:a16="http://schemas.microsoft.com/office/drawing/2014/main" id="{F8BEA58A-6458-8019-8D48-D69BB11D3A88}"/>
              </a:ext>
            </a:extLst>
          </p:cNvPr>
          <p:cNvSpPr txBox="1">
            <a:spLocks/>
          </p:cNvSpPr>
          <p:nvPr/>
        </p:nvSpPr>
        <p:spPr>
          <a:xfrm>
            <a:off x="8632512" y="4757096"/>
            <a:ext cx="413375" cy="273844"/>
          </a:xfr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B5DEC05-AB38-4F58-9609-FFF4AA167839}" type="slidenum">
              <a:rPr lang="fr-CA" sz="1050" smtClean="0"/>
              <a:pPr/>
              <a:t>12</a:t>
            </a:fld>
            <a:endParaRPr lang="fr-CA" sz="1050" dirty="0"/>
          </a:p>
        </p:txBody>
      </p:sp>
      <p:sp>
        <p:nvSpPr>
          <p:cNvPr id="11" name="ZoneTexte 10">
            <a:extLst>
              <a:ext uri="{FF2B5EF4-FFF2-40B4-BE49-F238E27FC236}">
                <a16:creationId xmlns:a16="http://schemas.microsoft.com/office/drawing/2014/main" id="{3F167457-40BF-E102-7E72-18951D89D27C}"/>
              </a:ext>
            </a:extLst>
          </p:cNvPr>
          <p:cNvSpPr txBox="1"/>
          <p:nvPr/>
        </p:nvSpPr>
        <p:spPr>
          <a:xfrm>
            <a:off x="6262924" y="4859700"/>
            <a:ext cx="1986995" cy="273845"/>
          </a:xfrm>
          <a:prstGeom prst="rect">
            <a:avLst/>
          </a:prstGeom>
        </p:spPr>
        <p:txBody>
          <a:bodyPr vert="horz" wrap="square" lIns="91440" tIns="45720" rIns="91440" bIns="45720" rtlCol="0">
            <a:normAutofit fontScale="92500"/>
          </a:bodyPr>
          <a:lstStyle/>
          <a:p>
            <a:pPr>
              <a:buClr>
                <a:schemeClr val="accent2"/>
              </a:buClr>
              <a:buSzPct val="125000"/>
            </a:pPr>
            <a:r>
              <a:rPr lang="fr-CA" sz="900" dirty="0"/>
              <a:t>Par Marc-André Nadon – HEC Montréal</a:t>
            </a:r>
          </a:p>
        </p:txBody>
      </p:sp>
    </p:spTree>
    <p:extLst>
      <p:ext uri="{BB962C8B-B14F-4D97-AF65-F5344CB8AC3E}">
        <p14:creationId xmlns:p14="http://schemas.microsoft.com/office/powerpoint/2010/main" val="40054005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idx="4294967295"/>
          </p:nvPr>
        </p:nvSpPr>
        <p:spPr>
          <a:xfrm>
            <a:off x="92599" y="424719"/>
            <a:ext cx="7514035" cy="469361"/>
          </a:xfrm>
        </p:spPr>
        <p:txBody>
          <a:bodyPr>
            <a:normAutofit fontScale="90000"/>
          </a:bodyPr>
          <a:lstStyle/>
          <a:p>
            <a:r>
              <a:rPr lang="fr-CA" dirty="0"/>
              <a:t>Rôles et mandats en certification</a:t>
            </a:r>
            <a:br>
              <a:rPr lang="fr-CA" b="1" u="sng" dirty="0"/>
            </a:br>
            <a:endParaRPr lang="fr-CA" dirty="0"/>
          </a:p>
        </p:txBody>
      </p:sp>
      <p:sp>
        <p:nvSpPr>
          <p:cNvPr id="5" name="Espace réservé du numéro de diapositive 4"/>
          <p:cNvSpPr>
            <a:spLocks noGrp="1"/>
          </p:cNvSpPr>
          <p:nvPr>
            <p:ph type="sldNum" sz="quarter" idx="4294967295"/>
          </p:nvPr>
        </p:nvSpPr>
        <p:spPr/>
        <p:txBody>
          <a:bodyPr/>
          <a:lstStyle/>
          <a:p>
            <a:endParaRPr lang="fr-CA" dirty="0"/>
          </a:p>
        </p:txBody>
      </p:sp>
      <p:sp>
        <p:nvSpPr>
          <p:cNvPr id="6" name="ZoneTexte 5">
            <a:extLst>
              <a:ext uri="{FF2B5EF4-FFF2-40B4-BE49-F238E27FC236}">
                <a16:creationId xmlns:a16="http://schemas.microsoft.com/office/drawing/2014/main" id="{F28E50CE-ADD7-8C42-BEC9-0E8A05B540FA}"/>
              </a:ext>
            </a:extLst>
          </p:cNvPr>
          <p:cNvSpPr txBox="1"/>
          <p:nvPr/>
        </p:nvSpPr>
        <p:spPr>
          <a:xfrm>
            <a:off x="386080" y="1737235"/>
            <a:ext cx="8371840" cy="2358915"/>
          </a:xfrm>
          <a:prstGeom prst="rect">
            <a:avLst/>
          </a:prstGeom>
          <a:noFill/>
        </p:spPr>
        <p:txBody>
          <a:bodyPr wrap="square">
            <a:spAutoFit/>
          </a:bodyPr>
          <a:lstStyle/>
          <a:p>
            <a:pPr algn="just">
              <a:lnSpc>
                <a:spcPct val="107000"/>
              </a:lnSpc>
              <a:spcAft>
                <a:spcPts val="800"/>
              </a:spcAft>
            </a:pPr>
            <a:r>
              <a:rPr lang="fr-CA" sz="1800" dirty="0">
                <a:effectLst/>
                <a:latin typeface="Calibri" panose="020F0502020204030204" pitchFamily="34" charset="0"/>
                <a:ea typeface="Calibri" panose="020F0502020204030204" pitchFamily="34" charset="0"/>
                <a:cs typeface="Times New Roman" panose="02020603050405020304" pitchFamily="18" charset="0"/>
              </a:rPr>
              <a:t>La NCA 580 impose à l'auditeur d'obtenir des déclarations écrites de la direction :</a:t>
            </a:r>
            <a:endParaRPr lang="fr-CA" sz="16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fr-CA" sz="1800" dirty="0">
                <a:effectLst/>
                <a:latin typeface="Calibri" panose="020F0502020204030204" pitchFamily="34" charset="0"/>
                <a:ea typeface="Calibri" panose="020F0502020204030204" pitchFamily="34" charset="0"/>
                <a:cs typeface="Times New Roman" panose="02020603050405020304" pitchFamily="18" charset="0"/>
              </a:rPr>
              <a:t> </a:t>
            </a:r>
            <a:endParaRPr lang="fr-CA"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buFont typeface="+mj-lt"/>
              <a:buAutoNum type="alphaLcParenR"/>
            </a:pPr>
            <a:r>
              <a:rPr lang="fr-CA" sz="1800" dirty="0">
                <a:effectLst/>
                <a:latin typeface="Calibri" panose="020F0502020204030204" pitchFamily="34" charset="0"/>
                <a:ea typeface="Calibri" panose="020F0502020204030204" pitchFamily="34" charset="0"/>
                <a:cs typeface="Times New Roman" panose="02020603050405020304" pitchFamily="18" charset="0"/>
              </a:rPr>
              <a:t>Qu'ils ont assumé leurs responsabilités dans l'établissement des </a:t>
            </a:r>
            <a:r>
              <a:rPr lang="fr-CA" sz="1800" dirty="0" err="1">
                <a:effectLst/>
                <a:latin typeface="Calibri" panose="020F0502020204030204" pitchFamily="34" charset="0"/>
                <a:ea typeface="Calibri" panose="020F0502020204030204" pitchFamily="34" charset="0"/>
                <a:cs typeface="Times New Roman" panose="02020603050405020304" pitchFamily="18" charset="0"/>
              </a:rPr>
              <a:t>ÉFs</a:t>
            </a:r>
            <a:r>
              <a:rPr lang="fr-CA" sz="1800" dirty="0">
                <a:effectLst/>
                <a:latin typeface="Calibri" panose="020F0502020204030204" pitchFamily="34" charset="0"/>
                <a:ea typeface="Calibri" panose="020F0502020204030204" pitchFamily="34" charset="0"/>
                <a:cs typeface="Times New Roman" panose="02020603050405020304" pitchFamily="18" charset="0"/>
              </a:rPr>
              <a:t>.</a:t>
            </a:r>
            <a:endParaRPr lang="fr-CA"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buFont typeface="+mj-lt"/>
              <a:buAutoNum type="alphaLcParenR"/>
            </a:pPr>
            <a:r>
              <a:rPr lang="fr-CA" sz="1800" dirty="0">
                <a:effectLst/>
                <a:latin typeface="Calibri" panose="020F0502020204030204" pitchFamily="34" charset="0"/>
                <a:ea typeface="Calibri" panose="020F0502020204030204" pitchFamily="34" charset="0"/>
                <a:cs typeface="Times New Roman" panose="02020603050405020304" pitchFamily="18" charset="0"/>
              </a:rPr>
              <a:t>Qu'ils ont fourni à l'auditeur toutes les informations pertinentes.</a:t>
            </a:r>
            <a:endParaRPr lang="fr-CA"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buFont typeface="+mj-lt"/>
              <a:buAutoNum type="alphaLcParenR"/>
            </a:pPr>
            <a:r>
              <a:rPr lang="fr-CA" sz="1800" dirty="0">
                <a:effectLst/>
                <a:latin typeface="Calibri" panose="020F0502020204030204" pitchFamily="34" charset="0"/>
                <a:ea typeface="Calibri" panose="020F0502020204030204" pitchFamily="34" charset="0"/>
                <a:cs typeface="Times New Roman" panose="02020603050405020304" pitchFamily="18" charset="0"/>
              </a:rPr>
              <a:t>Pour étayer d'autres éléments probants relatifs aux </a:t>
            </a:r>
            <a:r>
              <a:rPr lang="fr-CA" sz="1800" dirty="0" err="1">
                <a:effectLst/>
                <a:latin typeface="Calibri" panose="020F0502020204030204" pitchFamily="34" charset="0"/>
                <a:ea typeface="Calibri" panose="020F0502020204030204" pitchFamily="34" charset="0"/>
                <a:cs typeface="Times New Roman" panose="02020603050405020304" pitchFamily="18" charset="0"/>
              </a:rPr>
              <a:t>É</a:t>
            </a:r>
            <a:r>
              <a:rPr lang="fr-CA" dirty="0" err="1">
                <a:latin typeface="Calibri" panose="020F0502020204030204" pitchFamily="34" charset="0"/>
                <a:ea typeface="Calibri" panose="020F0502020204030204" pitchFamily="34" charset="0"/>
                <a:cs typeface="Times New Roman" panose="02020603050405020304" pitchFamily="18" charset="0"/>
              </a:rPr>
              <a:t>Fs</a:t>
            </a:r>
            <a:r>
              <a:rPr lang="fr-CA" sz="1800" dirty="0">
                <a:effectLst/>
                <a:latin typeface="Calibri" panose="020F0502020204030204" pitchFamily="34" charset="0"/>
                <a:ea typeface="Calibri" panose="020F0502020204030204" pitchFamily="34" charset="0"/>
                <a:cs typeface="Times New Roman" panose="02020603050405020304" pitchFamily="18" charset="0"/>
              </a:rPr>
              <a:t> ou des assertions spécifiques si l'auditeur le juge nécessaire.</a:t>
            </a:r>
            <a:endParaRPr lang="fr-CA"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Font typeface="+mj-lt"/>
              <a:buAutoNum type="alphaLcParenR"/>
            </a:pPr>
            <a:r>
              <a:rPr lang="fr-CA" sz="1800" dirty="0">
                <a:effectLst/>
                <a:latin typeface="Calibri" panose="020F0502020204030204" pitchFamily="34" charset="0"/>
                <a:ea typeface="Calibri" panose="020F0502020204030204" pitchFamily="34" charset="0"/>
                <a:cs typeface="Times New Roman" panose="02020603050405020304" pitchFamily="18" charset="0"/>
              </a:rPr>
              <a:t>Toutes ces réponses.</a:t>
            </a:r>
            <a:endParaRPr lang="fr-CA"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ZoneTexte 6">
            <a:extLst>
              <a:ext uri="{FF2B5EF4-FFF2-40B4-BE49-F238E27FC236}">
                <a16:creationId xmlns:a16="http://schemas.microsoft.com/office/drawing/2014/main" id="{AEAB4D2A-B82F-9790-EE6D-2E9D001CA908}"/>
              </a:ext>
            </a:extLst>
          </p:cNvPr>
          <p:cNvSpPr txBox="1"/>
          <p:nvPr/>
        </p:nvSpPr>
        <p:spPr>
          <a:xfrm>
            <a:off x="187961" y="1055788"/>
            <a:ext cx="4643120" cy="369332"/>
          </a:xfrm>
          <a:prstGeom prst="rect">
            <a:avLst/>
          </a:prstGeom>
          <a:noFill/>
        </p:spPr>
        <p:txBody>
          <a:bodyPr wrap="square">
            <a:spAutoFit/>
          </a:bodyPr>
          <a:lstStyle/>
          <a:p>
            <a:r>
              <a:rPr lang="fr-CA" b="1" u="sng" dirty="0">
                <a:solidFill>
                  <a:schemeClr val="accent5">
                    <a:lumMod val="50000"/>
                  </a:schemeClr>
                </a:solidFill>
              </a:rPr>
              <a:t>Éléments probants</a:t>
            </a:r>
            <a:endParaRPr lang="fr-CA" dirty="0">
              <a:solidFill>
                <a:schemeClr val="accent5">
                  <a:lumMod val="50000"/>
                </a:schemeClr>
              </a:solidFill>
            </a:endParaRPr>
          </a:p>
        </p:txBody>
      </p:sp>
      <p:sp>
        <p:nvSpPr>
          <p:cNvPr id="9" name="Espace réservé du numéro de diapositive 4">
            <a:extLst>
              <a:ext uri="{FF2B5EF4-FFF2-40B4-BE49-F238E27FC236}">
                <a16:creationId xmlns:a16="http://schemas.microsoft.com/office/drawing/2014/main" id="{627F8544-9EC0-2AFF-886B-738B750323D6}"/>
              </a:ext>
            </a:extLst>
          </p:cNvPr>
          <p:cNvSpPr txBox="1">
            <a:spLocks/>
          </p:cNvSpPr>
          <p:nvPr/>
        </p:nvSpPr>
        <p:spPr>
          <a:xfrm>
            <a:off x="8545786" y="4650963"/>
            <a:ext cx="413375" cy="273844"/>
          </a:xfr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B5DEC05-AB38-4F58-9609-FFF4AA167839}" type="slidenum">
              <a:rPr lang="fr-CA" sz="1050" smtClean="0"/>
              <a:pPr/>
              <a:t>13</a:t>
            </a:fld>
            <a:endParaRPr lang="fr-CA" sz="1050" dirty="0"/>
          </a:p>
        </p:txBody>
      </p:sp>
      <p:sp>
        <p:nvSpPr>
          <p:cNvPr id="10" name="ZoneTexte 9">
            <a:extLst>
              <a:ext uri="{FF2B5EF4-FFF2-40B4-BE49-F238E27FC236}">
                <a16:creationId xmlns:a16="http://schemas.microsoft.com/office/drawing/2014/main" id="{02157A78-8689-CD76-406F-0F7B9BE037CD}"/>
              </a:ext>
            </a:extLst>
          </p:cNvPr>
          <p:cNvSpPr txBox="1"/>
          <p:nvPr/>
        </p:nvSpPr>
        <p:spPr>
          <a:xfrm>
            <a:off x="6262924" y="4859700"/>
            <a:ext cx="1824435" cy="273845"/>
          </a:xfrm>
          <a:prstGeom prst="rect">
            <a:avLst/>
          </a:prstGeom>
        </p:spPr>
        <p:txBody>
          <a:bodyPr vert="horz" wrap="square" lIns="91440" tIns="45720" rIns="91440" bIns="45720" rtlCol="0">
            <a:normAutofit fontScale="77500" lnSpcReduction="20000"/>
          </a:bodyPr>
          <a:lstStyle/>
          <a:p>
            <a:pPr>
              <a:buClr>
                <a:schemeClr val="accent2"/>
              </a:buClr>
              <a:buSzPct val="125000"/>
            </a:pPr>
            <a:r>
              <a:rPr lang="fr-CA" sz="900" dirty="0"/>
              <a:t>Par Marc-André Nadon – HEC Montréal</a:t>
            </a:r>
          </a:p>
        </p:txBody>
      </p:sp>
    </p:spTree>
    <p:extLst>
      <p:ext uri="{BB962C8B-B14F-4D97-AF65-F5344CB8AC3E}">
        <p14:creationId xmlns:p14="http://schemas.microsoft.com/office/powerpoint/2010/main" val="1979422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idx="4294967295"/>
          </p:nvPr>
        </p:nvSpPr>
        <p:spPr>
          <a:xfrm>
            <a:off x="92599" y="424719"/>
            <a:ext cx="7514035" cy="469361"/>
          </a:xfrm>
        </p:spPr>
        <p:txBody>
          <a:bodyPr>
            <a:normAutofit fontScale="90000"/>
          </a:bodyPr>
          <a:lstStyle/>
          <a:p>
            <a:r>
              <a:rPr lang="fr-CA" dirty="0"/>
              <a:t>Rôles et mandats en certification</a:t>
            </a:r>
            <a:br>
              <a:rPr lang="fr-CA" b="1" u="sng" dirty="0"/>
            </a:br>
            <a:endParaRPr lang="fr-CA" dirty="0"/>
          </a:p>
        </p:txBody>
      </p:sp>
      <p:sp>
        <p:nvSpPr>
          <p:cNvPr id="5" name="Espace réservé du numéro de diapositive 4"/>
          <p:cNvSpPr>
            <a:spLocks noGrp="1"/>
          </p:cNvSpPr>
          <p:nvPr>
            <p:ph type="sldNum" sz="quarter" idx="4294967295"/>
          </p:nvPr>
        </p:nvSpPr>
        <p:spPr/>
        <p:txBody>
          <a:bodyPr/>
          <a:lstStyle/>
          <a:p>
            <a:endParaRPr lang="fr-CA" dirty="0"/>
          </a:p>
        </p:txBody>
      </p:sp>
      <p:sp>
        <p:nvSpPr>
          <p:cNvPr id="3" name="ZoneTexte 2">
            <a:extLst>
              <a:ext uri="{FF2B5EF4-FFF2-40B4-BE49-F238E27FC236}">
                <a16:creationId xmlns:a16="http://schemas.microsoft.com/office/drawing/2014/main" id="{EAC9CBA9-9E35-963E-29FD-32134C6B9986}"/>
              </a:ext>
            </a:extLst>
          </p:cNvPr>
          <p:cNvSpPr txBox="1"/>
          <p:nvPr/>
        </p:nvSpPr>
        <p:spPr>
          <a:xfrm>
            <a:off x="386080" y="1899795"/>
            <a:ext cx="8371840" cy="2358915"/>
          </a:xfrm>
          <a:prstGeom prst="rect">
            <a:avLst/>
          </a:prstGeom>
          <a:noFill/>
        </p:spPr>
        <p:txBody>
          <a:bodyPr wrap="square">
            <a:spAutoFit/>
          </a:bodyPr>
          <a:lstStyle/>
          <a:p>
            <a:pPr algn="just">
              <a:lnSpc>
                <a:spcPct val="107000"/>
              </a:lnSpc>
              <a:spcAft>
                <a:spcPts val="800"/>
              </a:spcAft>
            </a:pPr>
            <a:r>
              <a:rPr lang="fr-CA" sz="1800" dirty="0">
                <a:effectLst/>
                <a:latin typeface="Calibri" panose="020F0502020204030204" pitchFamily="34" charset="0"/>
                <a:ea typeface="Calibri" panose="020F0502020204030204" pitchFamily="34" charset="0"/>
                <a:cs typeface="Times New Roman" panose="02020603050405020304" pitchFamily="18" charset="0"/>
              </a:rPr>
              <a:t>La NCA 580 impose à l'auditeur d'obtenir des déclarations écrites de la direction :</a:t>
            </a:r>
            <a:endParaRPr lang="fr-CA" sz="16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fr-CA" sz="1800" dirty="0">
                <a:effectLst/>
                <a:latin typeface="Calibri" panose="020F0502020204030204" pitchFamily="34" charset="0"/>
                <a:ea typeface="Calibri" panose="020F0502020204030204" pitchFamily="34" charset="0"/>
                <a:cs typeface="Times New Roman" panose="02020603050405020304" pitchFamily="18" charset="0"/>
              </a:rPr>
              <a:t> </a:t>
            </a:r>
            <a:endParaRPr lang="fr-CA"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buFont typeface="+mj-lt"/>
              <a:buAutoNum type="alphaLcParenR"/>
            </a:pPr>
            <a:r>
              <a:rPr lang="fr-CA" sz="1800" dirty="0">
                <a:effectLst/>
                <a:latin typeface="Calibri" panose="020F0502020204030204" pitchFamily="34" charset="0"/>
                <a:ea typeface="Calibri" panose="020F0502020204030204" pitchFamily="34" charset="0"/>
                <a:cs typeface="Times New Roman" panose="02020603050405020304" pitchFamily="18" charset="0"/>
              </a:rPr>
              <a:t>Qu'ils ont assumé leurs responsabilités dans l'établissement des </a:t>
            </a:r>
            <a:r>
              <a:rPr lang="fr-CA" sz="1800" dirty="0" err="1">
                <a:effectLst/>
                <a:latin typeface="Calibri" panose="020F0502020204030204" pitchFamily="34" charset="0"/>
                <a:ea typeface="Calibri" panose="020F0502020204030204" pitchFamily="34" charset="0"/>
                <a:cs typeface="Times New Roman" panose="02020603050405020304" pitchFamily="18" charset="0"/>
              </a:rPr>
              <a:t>ÉFs</a:t>
            </a:r>
            <a:r>
              <a:rPr lang="fr-CA" sz="1800" dirty="0">
                <a:effectLst/>
                <a:latin typeface="Calibri" panose="020F0502020204030204" pitchFamily="34" charset="0"/>
                <a:ea typeface="Calibri" panose="020F0502020204030204" pitchFamily="34" charset="0"/>
                <a:cs typeface="Times New Roman" panose="02020603050405020304" pitchFamily="18" charset="0"/>
              </a:rPr>
              <a:t>.</a:t>
            </a:r>
            <a:endParaRPr lang="fr-CA"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buFont typeface="+mj-lt"/>
              <a:buAutoNum type="alphaLcParenR"/>
            </a:pPr>
            <a:r>
              <a:rPr lang="fr-CA" sz="1800" dirty="0">
                <a:effectLst/>
                <a:latin typeface="Calibri" panose="020F0502020204030204" pitchFamily="34" charset="0"/>
                <a:ea typeface="Calibri" panose="020F0502020204030204" pitchFamily="34" charset="0"/>
                <a:cs typeface="Times New Roman" panose="02020603050405020304" pitchFamily="18" charset="0"/>
              </a:rPr>
              <a:t>Qu'ils ont fourni à l'auditeur toutes les informations pertinentes.</a:t>
            </a:r>
            <a:endParaRPr lang="fr-CA"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buFont typeface="+mj-lt"/>
              <a:buAutoNum type="alphaLcParenR"/>
            </a:pPr>
            <a:r>
              <a:rPr lang="fr-CA" sz="1800" dirty="0">
                <a:effectLst/>
                <a:latin typeface="Calibri" panose="020F0502020204030204" pitchFamily="34" charset="0"/>
                <a:ea typeface="Calibri" panose="020F0502020204030204" pitchFamily="34" charset="0"/>
                <a:cs typeface="Times New Roman" panose="02020603050405020304" pitchFamily="18" charset="0"/>
              </a:rPr>
              <a:t>Pour étayer d'autres éléments probants relatifs aux </a:t>
            </a:r>
            <a:r>
              <a:rPr lang="fr-CA" sz="1800" dirty="0" err="1">
                <a:effectLst/>
                <a:latin typeface="Calibri" panose="020F0502020204030204" pitchFamily="34" charset="0"/>
                <a:ea typeface="Calibri" panose="020F0502020204030204" pitchFamily="34" charset="0"/>
                <a:cs typeface="Times New Roman" panose="02020603050405020304" pitchFamily="18" charset="0"/>
              </a:rPr>
              <a:t>ÉFs</a:t>
            </a:r>
            <a:r>
              <a:rPr lang="fr-CA" sz="1800" dirty="0">
                <a:effectLst/>
                <a:latin typeface="Calibri" panose="020F0502020204030204" pitchFamily="34" charset="0"/>
                <a:ea typeface="Calibri" panose="020F0502020204030204" pitchFamily="34" charset="0"/>
                <a:cs typeface="Times New Roman" panose="02020603050405020304" pitchFamily="18" charset="0"/>
              </a:rPr>
              <a:t> ou des assertions spécifiques si l'auditeur le juge nécessaire.</a:t>
            </a:r>
            <a:endParaRPr lang="fr-CA"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Font typeface="+mj-lt"/>
              <a:buAutoNum type="alphaLcParenR"/>
            </a:pPr>
            <a:r>
              <a:rPr lang="fr-CA" sz="1800" dirty="0">
                <a:effectLst/>
                <a:latin typeface="Calibri" panose="020F0502020204030204" pitchFamily="34" charset="0"/>
                <a:ea typeface="Calibri" panose="020F0502020204030204" pitchFamily="34" charset="0"/>
                <a:cs typeface="Times New Roman" panose="02020603050405020304" pitchFamily="18" charset="0"/>
              </a:rPr>
              <a:t>Toutes ces réponses.</a:t>
            </a:r>
            <a:endParaRPr lang="fr-CA"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9" name="Rectangle 8">
            <a:extLst>
              <a:ext uri="{FF2B5EF4-FFF2-40B4-BE49-F238E27FC236}">
                <a16:creationId xmlns:a16="http://schemas.microsoft.com/office/drawing/2014/main" id="{AFD44B37-CFBC-9598-B3D1-4C3571B0CB88}"/>
              </a:ext>
            </a:extLst>
          </p:cNvPr>
          <p:cNvSpPr/>
          <p:nvPr/>
        </p:nvSpPr>
        <p:spPr>
          <a:xfrm>
            <a:off x="182880" y="3894307"/>
            <a:ext cx="7030720" cy="296602"/>
          </a:xfrm>
          <a:prstGeom prst="rect">
            <a:avLst/>
          </a:prstGeom>
          <a:no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sp>
        <p:nvSpPr>
          <p:cNvPr id="12" name="ZoneTexte 11">
            <a:extLst>
              <a:ext uri="{FF2B5EF4-FFF2-40B4-BE49-F238E27FC236}">
                <a16:creationId xmlns:a16="http://schemas.microsoft.com/office/drawing/2014/main" id="{3CCF266B-24B0-5DE8-B0FD-3041CEED9E69}"/>
              </a:ext>
            </a:extLst>
          </p:cNvPr>
          <p:cNvSpPr txBox="1"/>
          <p:nvPr/>
        </p:nvSpPr>
        <p:spPr>
          <a:xfrm>
            <a:off x="229447" y="1169485"/>
            <a:ext cx="4643120" cy="369332"/>
          </a:xfrm>
          <a:prstGeom prst="rect">
            <a:avLst/>
          </a:prstGeom>
          <a:noFill/>
        </p:spPr>
        <p:txBody>
          <a:bodyPr wrap="square">
            <a:spAutoFit/>
          </a:bodyPr>
          <a:lstStyle/>
          <a:p>
            <a:r>
              <a:rPr lang="fr-CA" b="1" u="sng" dirty="0">
                <a:solidFill>
                  <a:schemeClr val="accent5">
                    <a:lumMod val="50000"/>
                  </a:schemeClr>
                </a:solidFill>
              </a:rPr>
              <a:t>Éléments probants</a:t>
            </a:r>
            <a:endParaRPr lang="fr-CA" dirty="0">
              <a:solidFill>
                <a:schemeClr val="accent5">
                  <a:lumMod val="50000"/>
                </a:schemeClr>
              </a:solidFill>
            </a:endParaRPr>
          </a:p>
        </p:txBody>
      </p:sp>
      <p:sp>
        <p:nvSpPr>
          <p:cNvPr id="13" name="Espace réservé du numéro de diapositive 4">
            <a:extLst>
              <a:ext uri="{FF2B5EF4-FFF2-40B4-BE49-F238E27FC236}">
                <a16:creationId xmlns:a16="http://schemas.microsoft.com/office/drawing/2014/main" id="{506A3B76-2077-936E-75A6-FD2922B47316}"/>
              </a:ext>
            </a:extLst>
          </p:cNvPr>
          <p:cNvSpPr txBox="1">
            <a:spLocks/>
          </p:cNvSpPr>
          <p:nvPr/>
        </p:nvSpPr>
        <p:spPr>
          <a:xfrm>
            <a:off x="8545786" y="4650963"/>
            <a:ext cx="413375" cy="273844"/>
          </a:xfr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B5DEC05-AB38-4F58-9609-FFF4AA167839}" type="slidenum">
              <a:rPr lang="fr-CA" sz="1050" smtClean="0"/>
              <a:pPr/>
              <a:t>14</a:t>
            </a:fld>
            <a:endParaRPr lang="fr-CA" sz="1050" dirty="0"/>
          </a:p>
        </p:txBody>
      </p:sp>
      <p:sp>
        <p:nvSpPr>
          <p:cNvPr id="14" name="ZoneTexte 13">
            <a:extLst>
              <a:ext uri="{FF2B5EF4-FFF2-40B4-BE49-F238E27FC236}">
                <a16:creationId xmlns:a16="http://schemas.microsoft.com/office/drawing/2014/main" id="{0DB96484-7D26-2ECE-E94B-65A95EFA0A2F}"/>
              </a:ext>
            </a:extLst>
          </p:cNvPr>
          <p:cNvSpPr txBox="1"/>
          <p:nvPr/>
        </p:nvSpPr>
        <p:spPr>
          <a:xfrm>
            <a:off x="6262925" y="4859700"/>
            <a:ext cx="1871848" cy="273845"/>
          </a:xfrm>
          <a:prstGeom prst="rect">
            <a:avLst/>
          </a:prstGeom>
        </p:spPr>
        <p:txBody>
          <a:bodyPr vert="horz" wrap="square" lIns="91440" tIns="45720" rIns="91440" bIns="45720" rtlCol="0">
            <a:normAutofit fontScale="77500" lnSpcReduction="20000"/>
          </a:bodyPr>
          <a:lstStyle/>
          <a:p>
            <a:pPr>
              <a:buClr>
                <a:schemeClr val="accent2"/>
              </a:buClr>
              <a:buSzPct val="125000"/>
            </a:pPr>
            <a:r>
              <a:rPr lang="fr-CA" sz="900" dirty="0"/>
              <a:t>Par Marc-André Nadon – HEC Montréal</a:t>
            </a:r>
          </a:p>
        </p:txBody>
      </p:sp>
    </p:spTree>
    <p:extLst>
      <p:ext uri="{BB962C8B-B14F-4D97-AF65-F5344CB8AC3E}">
        <p14:creationId xmlns:p14="http://schemas.microsoft.com/office/powerpoint/2010/main" val="2871503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idx="4294967295"/>
          </p:nvPr>
        </p:nvSpPr>
        <p:spPr>
          <a:xfrm>
            <a:off x="92599" y="424719"/>
            <a:ext cx="7514035" cy="469361"/>
          </a:xfrm>
        </p:spPr>
        <p:txBody>
          <a:bodyPr>
            <a:normAutofit fontScale="90000"/>
          </a:bodyPr>
          <a:lstStyle/>
          <a:p>
            <a:r>
              <a:rPr lang="fr-CA" dirty="0"/>
              <a:t>Rôles et mandats en certification</a:t>
            </a:r>
            <a:br>
              <a:rPr lang="fr-CA" b="1" u="sng" dirty="0"/>
            </a:br>
            <a:endParaRPr lang="fr-CA" dirty="0"/>
          </a:p>
        </p:txBody>
      </p:sp>
      <p:sp>
        <p:nvSpPr>
          <p:cNvPr id="5" name="Espace réservé du numéro de diapositive 4"/>
          <p:cNvSpPr>
            <a:spLocks noGrp="1"/>
          </p:cNvSpPr>
          <p:nvPr>
            <p:ph type="sldNum" sz="quarter" idx="4294967295"/>
          </p:nvPr>
        </p:nvSpPr>
        <p:spPr/>
        <p:txBody>
          <a:bodyPr/>
          <a:lstStyle/>
          <a:p>
            <a:endParaRPr lang="fr-CA" dirty="0"/>
          </a:p>
        </p:txBody>
      </p:sp>
      <p:sp>
        <p:nvSpPr>
          <p:cNvPr id="6" name="ZoneTexte 5">
            <a:extLst>
              <a:ext uri="{FF2B5EF4-FFF2-40B4-BE49-F238E27FC236}">
                <a16:creationId xmlns:a16="http://schemas.microsoft.com/office/drawing/2014/main" id="{EFA45BAB-710B-73A1-12AF-7B4215BCB1B6}"/>
              </a:ext>
            </a:extLst>
          </p:cNvPr>
          <p:cNvSpPr txBox="1"/>
          <p:nvPr/>
        </p:nvSpPr>
        <p:spPr>
          <a:xfrm>
            <a:off x="311573" y="1703368"/>
            <a:ext cx="8412480" cy="2655279"/>
          </a:xfrm>
          <a:prstGeom prst="rect">
            <a:avLst/>
          </a:prstGeom>
          <a:noFill/>
        </p:spPr>
        <p:txBody>
          <a:bodyPr wrap="square">
            <a:spAutoFit/>
          </a:bodyPr>
          <a:lstStyle/>
          <a:p>
            <a:pPr algn="just">
              <a:lnSpc>
                <a:spcPct val="107000"/>
              </a:lnSpc>
              <a:spcAft>
                <a:spcPts val="800"/>
              </a:spcAft>
            </a:pPr>
            <a:r>
              <a:rPr lang="fr-CA" sz="1800" dirty="0">
                <a:effectLst/>
                <a:latin typeface="Calibri" panose="020F0502020204030204" pitchFamily="34" charset="0"/>
                <a:ea typeface="Calibri" panose="020F0502020204030204" pitchFamily="34" charset="0"/>
                <a:cs typeface="Times New Roman" panose="02020603050405020304" pitchFamily="18" charset="0"/>
              </a:rPr>
              <a:t>Si une déclaration de la direction est contredite par d'autres éléments probants recueillis par l’auditeur, ce dernier doit :</a:t>
            </a:r>
            <a:endParaRPr lang="fr-CA" sz="16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fr-CA" sz="1800" dirty="0">
                <a:effectLst/>
                <a:latin typeface="Calibri" panose="020F0502020204030204" pitchFamily="34" charset="0"/>
                <a:ea typeface="Calibri" panose="020F0502020204030204" pitchFamily="34" charset="0"/>
                <a:cs typeface="Times New Roman" panose="02020603050405020304" pitchFamily="18" charset="0"/>
              </a:rPr>
              <a:t> </a:t>
            </a:r>
            <a:endParaRPr lang="fr-CA"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buFont typeface="+mj-lt"/>
              <a:buAutoNum type="alphaLcParenR"/>
            </a:pPr>
            <a:r>
              <a:rPr lang="fr-CA" sz="1800" dirty="0">
                <a:effectLst/>
                <a:latin typeface="Calibri" panose="020F0502020204030204" pitchFamily="34" charset="0"/>
                <a:ea typeface="Calibri" panose="020F0502020204030204" pitchFamily="34" charset="0"/>
                <a:cs typeface="Times New Roman" panose="02020603050405020304" pitchFamily="18" charset="0"/>
              </a:rPr>
              <a:t>Déterminer si son évaluation des risques dans ce domaine est toujours appropriée.</a:t>
            </a:r>
            <a:endParaRPr lang="fr-CA"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buFont typeface="+mj-lt"/>
              <a:buAutoNum type="alphaLcParenR"/>
            </a:pPr>
            <a:r>
              <a:rPr lang="fr-CA" sz="1800" dirty="0">
                <a:effectLst/>
                <a:latin typeface="Calibri" panose="020F0502020204030204" pitchFamily="34" charset="0"/>
                <a:ea typeface="Calibri" panose="020F0502020204030204" pitchFamily="34" charset="0"/>
                <a:cs typeface="Times New Roman" panose="02020603050405020304" pitchFamily="18" charset="0"/>
              </a:rPr>
              <a:t>Déterminer si des procédures d'audit supplémentaires sont nécessaires.</a:t>
            </a:r>
            <a:endParaRPr lang="fr-CA"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buFont typeface="+mj-lt"/>
              <a:buAutoNum type="alphaLcParenR"/>
            </a:pPr>
            <a:r>
              <a:rPr lang="fr-CA" sz="1800" dirty="0">
                <a:effectLst/>
                <a:latin typeface="Calibri" panose="020F0502020204030204" pitchFamily="34" charset="0"/>
                <a:ea typeface="Calibri" panose="020F0502020204030204" pitchFamily="34" charset="0"/>
                <a:cs typeface="Times New Roman" panose="02020603050405020304" pitchFamily="18" charset="0"/>
              </a:rPr>
              <a:t>S'il a des doutes sur l'intégrité de la direction, documenter ces doutes et envisager de se retirer du dossier.</a:t>
            </a:r>
            <a:endParaRPr lang="fr-CA"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Font typeface="+mj-lt"/>
              <a:buAutoNum type="alphaLcParenR"/>
            </a:pPr>
            <a:r>
              <a:rPr lang="fr-CA" sz="1800" dirty="0">
                <a:effectLst/>
                <a:latin typeface="Calibri" panose="020F0502020204030204" pitchFamily="34" charset="0"/>
                <a:ea typeface="Calibri" panose="020F0502020204030204" pitchFamily="34" charset="0"/>
                <a:cs typeface="Times New Roman" panose="02020603050405020304" pitchFamily="18" charset="0"/>
              </a:rPr>
              <a:t>Toutes ces réponses.</a:t>
            </a:r>
            <a:endParaRPr lang="fr-CA"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0" name="ZoneTexte 9">
            <a:extLst>
              <a:ext uri="{FF2B5EF4-FFF2-40B4-BE49-F238E27FC236}">
                <a16:creationId xmlns:a16="http://schemas.microsoft.com/office/drawing/2014/main" id="{DFF098A1-2459-D707-AEA3-3CBA515B10B9}"/>
              </a:ext>
            </a:extLst>
          </p:cNvPr>
          <p:cNvSpPr txBox="1"/>
          <p:nvPr/>
        </p:nvSpPr>
        <p:spPr>
          <a:xfrm>
            <a:off x="92599" y="1027245"/>
            <a:ext cx="4643120" cy="369332"/>
          </a:xfrm>
          <a:prstGeom prst="rect">
            <a:avLst/>
          </a:prstGeom>
          <a:noFill/>
        </p:spPr>
        <p:txBody>
          <a:bodyPr wrap="square">
            <a:spAutoFit/>
          </a:bodyPr>
          <a:lstStyle/>
          <a:p>
            <a:r>
              <a:rPr lang="fr-CA" b="1" u="sng" dirty="0">
                <a:solidFill>
                  <a:schemeClr val="accent5">
                    <a:lumMod val="50000"/>
                  </a:schemeClr>
                </a:solidFill>
              </a:rPr>
              <a:t>Éléments probants</a:t>
            </a:r>
            <a:endParaRPr lang="fr-CA" dirty="0">
              <a:solidFill>
                <a:schemeClr val="accent5">
                  <a:lumMod val="50000"/>
                </a:schemeClr>
              </a:solidFill>
            </a:endParaRPr>
          </a:p>
        </p:txBody>
      </p:sp>
      <p:sp>
        <p:nvSpPr>
          <p:cNvPr id="11" name="Espace réservé du numéro de diapositive 4">
            <a:extLst>
              <a:ext uri="{FF2B5EF4-FFF2-40B4-BE49-F238E27FC236}">
                <a16:creationId xmlns:a16="http://schemas.microsoft.com/office/drawing/2014/main" id="{E17BDBAA-CDE1-3689-46CA-A6CF596EF0DF}"/>
              </a:ext>
            </a:extLst>
          </p:cNvPr>
          <p:cNvSpPr txBox="1">
            <a:spLocks/>
          </p:cNvSpPr>
          <p:nvPr/>
        </p:nvSpPr>
        <p:spPr>
          <a:xfrm>
            <a:off x="8545786" y="4650963"/>
            <a:ext cx="413375" cy="273844"/>
          </a:xfr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B5DEC05-AB38-4F58-9609-FFF4AA167839}" type="slidenum">
              <a:rPr lang="fr-CA" sz="1050" smtClean="0"/>
              <a:pPr/>
              <a:t>15</a:t>
            </a:fld>
            <a:endParaRPr lang="fr-CA" sz="1050" dirty="0"/>
          </a:p>
        </p:txBody>
      </p:sp>
      <p:sp>
        <p:nvSpPr>
          <p:cNvPr id="12" name="ZoneTexte 11">
            <a:extLst>
              <a:ext uri="{FF2B5EF4-FFF2-40B4-BE49-F238E27FC236}">
                <a16:creationId xmlns:a16="http://schemas.microsoft.com/office/drawing/2014/main" id="{FF42970D-DCC8-B48E-B32A-1512A19CC334}"/>
              </a:ext>
            </a:extLst>
          </p:cNvPr>
          <p:cNvSpPr txBox="1"/>
          <p:nvPr/>
        </p:nvSpPr>
        <p:spPr>
          <a:xfrm>
            <a:off x="6262924" y="4859700"/>
            <a:ext cx="1844755" cy="273845"/>
          </a:xfrm>
          <a:prstGeom prst="rect">
            <a:avLst/>
          </a:prstGeom>
        </p:spPr>
        <p:txBody>
          <a:bodyPr vert="horz" wrap="square" lIns="91440" tIns="45720" rIns="91440" bIns="45720" rtlCol="0">
            <a:normAutofit fontScale="77500" lnSpcReduction="20000"/>
          </a:bodyPr>
          <a:lstStyle/>
          <a:p>
            <a:pPr>
              <a:buClr>
                <a:schemeClr val="accent2"/>
              </a:buClr>
              <a:buSzPct val="125000"/>
            </a:pPr>
            <a:r>
              <a:rPr lang="fr-CA" sz="900" dirty="0"/>
              <a:t>Par Marc-André Nadon – HEC Montréal</a:t>
            </a:r>
          </a:p>
        </p:txBody>
      </p:sp>
    </p:spTree>
    <p:extLst>
      <p:ext uri="{BB962C8B-B14F-4D97-AF65-F5344CB8AC3E}">
        <p14:creationId xmlns:p14="http://schemas.microsoft.com/office/powerpoint/2010/main" val="10256150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idx="4294967295"/>
          </p:nvPr>
        </p:nvSpPr>
        <p:spPr>
          <a:xfrm>
            <a:off x="92599" y="424719"/>
            <a:ext cx="7514035" cy="469361"/>
          </a:xfrm>
        </p:spPr>
        <p:txBody>
          <a:bodyPr>
            <a:normAutofit fontScale="90000"/>
          </a:bodyPr>
          <a:lstStyle/>
          <a:p>
            <a:r>
              <a:rPr lang="fr-CA" dirty="0"/>
              <a:t>Rôles et mandats en certification</a:t>
            </a:r>
            <a:br>
              <a:rPr lang="fr-CA" b="1" u="sng" dirty="0"/>
            </a:br>
            <a:endParaRPr lang="fr-CA" dirty="0"/>
          </a:p>
        </p:txBody>
      </p:sp>
      <p:sp>
        <p:nvSpPr>
          <p:cNvPr id="5" name="Espace réservé du numéro de diapositive 4"/>
          <p:cNvSpPr>
            <a:spLocks noGrp="1"/>
          </p:cNvSpPr>
          <p:nvPr>
            <p:ph type="sldNum" sz="quarter" idx="4294967295"/>
          </p:nvPr>
        </p:nvSpPr>
        <p:spPr/>
        <p:txBody>
          <a:bodyPr/>
          <a:lstStyle/>
          <a:p>
            <a:endParaRPr lang="fr-CA" dirty="0"/>
          </a:p>
        </p:txBody>
      </p:sp>
      <p:sp>
        <p:nvSpPr>
          <p:cNvPr id="9" name="Rectangle 8">
            <a:extLst>
              <a:ext uri="{FF2B5EF4-FFF2-40B4-BE49-F238E27FC236}">
                <a16:creationId xmlns:a16="http://schemas.microsoft.com/office/drawing/2014/main" id="{AFD44B37-CFBC-9598-B3D1-4C3571B0CB88}"/>
              </a:ext>
            </a:extLst>
          </p:cNvPr>
          <p:cNvSpPr/>
          <p:nvPr/>
        </p:nvSpPr>
        <p:spPr>
          <a:xfrm>
            <a:off x="216746" y="4013911"/>
            <a:ext cx="7030720" cy="296602"/>
          </a:xfrm>
          <a:prstGeom prst="rect">
            <a:avLst/>
          </a:prstGeom>
          <a:no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sp>
        <p:nvSpPr>
          <p:cNvPr id="6" name="ZoneTexte 5">
            <a:extLst>
              <a:ext uri="{FF2B5EF4-FFF2-40B4-BE49-F238E27FC236}">
                <a16:creationId xmlns:a16="http://schemas.microsoft.com/office/drawing/2014/main" id="{0E53949F-2200-78CE-478F-24628B6F1A6E}"/>
              </a:ext>
            </a:extLst>
          </p:cNvPr>
          <p:cNvSpPr txBox="1"/>
          <p:nvPr/>
        </p:nvSpPr>
        <p:spPr>
          <a:xfrm>
            <a:off x="358987" y="1683048"/>
            <a:ext cx="8324426" cy="2655279"/>
          </a:xfrm>
          <a:prstGeom prst="rect">
            <a:avLst/>
          </a:prstGeom>
          <a:noFill/>
        </p:spPr>
        <p:txBody>
          <a:bodyPr wrap="square">
            <a:spAutoFit/>
          </a:bodyPr>
          <a:lstStyle/>
          <a:p>
            <a:pPr algn="just">
              <a:lnSpc>
                <a:spcPct val="107000"/>
              </a:lnSpc>
              <a:spcAft>
                <a:spcPts val="800"/>
              </a:spcAft>
            </a:pPr>
            <a:r>
              <a:rPr lang="fr-CA" sz="1800" dirty="0">
                <a:effectLst/>
                <a:latin typeface="Calibri" panose="020F0502020204030204" pitchFamily="34" charset="0"/>
                <a:ea typeface="Calibri" panose="020F0502020204030204" pitchFamily="34" charset="0"/>
                <a:cs typeface="Times New Roman" panose="02020603050405020304" pitchFamily="18" charset="0"/>
              </a:rPr>
              <a:t>Si une déclaration de la direction est contredite par d'autres éléments probants recueillis par l’auditeur, ce dernier doit :</a:t>
            </a:r>
            <a:endParaRPr lang="fr-CA" sz="16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fr-CA" sz="1800" dirty="0">
                <a:effectLst/>
                <a:latin typeface="Calibri" panose="020F0502020204030204" pitchFamily="34" charset="0"/>
                <a:ea typeface="Calibri" panose="020F0502020204030204" pitchFamily="34" charset="0"/>
                <a:cs typeface="Times New Roman" panose="02020603050405020304" pitchFamily="18" charset="0"/>
              </a:rPr>
              <a:t> </a:t>
            </a:r>
            <a:endParaRPr lang="fr-CA"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buFont typeface="+mj-lt"/>
              <a:buAutoNum type="alphaLcParenR"/>
            </a:pPr>
            <a:r>
              <a:rPr lang="fr-CA" sz="1800" dirty="0">
                <a:effectLst/>
                <a:latin typeface="Calibri" panose="020F0502020204030204" pitchFamily="34" charset="0"/>
                <a:ea typeface="Calibri" panose="020F0502020204030204" pitchFamily="34" charset="0"/>
                <a:cs typeface="Times New Roman" panose="02020603050405020304" pitchFamily="18" charset="0"/>
              </a:rPr>
              <a:t>Déterminer si son évaluation des risques dans ce domaine est toujours appropriée.</a:t>
            </a:r>
            <a:endParaRPr lang="fr-CA"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buFont typeface="+mj-lt"/>
              <a:buAutoNum type="alphaLcParenR"/>
            </a:pPr>
            <a:r>
              <a:rPr lang="fr-CA" sz="1800" dirty="0">
                <a:effectLst/>
                <a:latin typeface="Calibri" panose="020F0502020204030204" pitchFamily="34" charset="0"/>
                <a:ea typeface="Calibri" panose="020F0502020204030204" pitchFamily="34" charset="0"/>
                <a:cs typeface="Times New Roman" panose="02020603050405020304" pitchFamily="18" charset="0"/>
              </a:rPr>
              <a:t>Déterminer si des procédures d'audit supplémentaires sont nécessaires.</a:t>
            </a:r>
            <a:endParaRPr lang="fr-CA"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buFont typeface="+mj-lt"/>
              <a:buAutoNum type="alphaLcParenR"/>
            </a:pPr>
            <a:r>
              <a:rPr lang="fr-CA" sz="1800" dirty="0">
                <a:effectLst/>
                <a:latin typeface="Calibri" panose="020F0502020204030204" pitchFamily="34" charset="0"/>
                <a:ea typeface="Calibri" panose="020F0502020204030204" pitchFamily="34" charset="0"/>
                <a:cs typeface="Times New Roman" panose="02020603050405020304" pitchFamily="18" charset="0"/>
              </a:rPr>
              <a:t>S'il a des doutes sur l'intégrité de la direction, documenter ces doutes et envisager de se retirer du dossier.</a:t>
            </a:r>
            <a:endParaRPr lang="fr-CA"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Font typeface="+mj-lt"/>
              <a:buAutoNum type="alphaLcParenR"/>
            </a:pPr>
            <a:r>
              <a:rPr lang="fr-CA" sz="1800" dirty="0">
                <a:effectLst/>
                <a:latin typeface="Calibri" panose="020F0502020204030204" pitchFamily="34" charset="0"/>
                <a:ea typeface="Calibri" panose="020F0502020204030204" pitchFamily="34" charset="0"/>
                <a:cs typeface="Times New Roman" panose="02020603050405020304" pitchFamily="18" charset="0"/>
              </a:rPr>
              <a:t>Toutes ces réponses.</a:t>
            </a:r>
            <a:endParaRPr lang="fr-CA"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ZoneTexte 7">
            <a:extLst>
              <a:ext uri="{FF2B5EF4-FFF2-40B4-BE49-F238E27FC236}">
                <a16:creationId xmlns:a16="http://schemas.microsoft.com/office/drawing/2014/main" id="{0116A6DD-CA2E-B127-1D94-D6B5A4BC4AA9}"/>
              </a:ext>
            </a:extLst>
          </p:cNvPr>
          <p:cNvSpPr txBox="1"/>
          <p:nvPr/>
        </p:nvSpPr>
        <p:spPr>
          <a:xfrm>
            <a:off x="216746" y="1103898"/>
            <a:ext cx="4643120" cy="369332"/>
          </a:xfrm>
          <a:prstGeom prst="rect">
            <a:avLst/>
          </a:prstGeom>
          <a:noFill/>
        </p:spPr>
        <p:txBody>
          <a:bodyPr wrap="square">
            <a:spAutoFit/>
          </a:bodyPr>
          <a:lstStyle/>
          <a:p>
            <a:r>
              <a:rPr lang="fr-CA" b="1" u="sng" dirty="0">
                <a:solidFill>
                  <a:schemeClr val="accent5">
                    <a:lumMod val="50000"/>
                  </a:schemeClr>
                </a:solidFill>
              </a:rPr>
              <a:t>Éléments probants</a:t>
            </a:r>
            <a:endParaRPr lang="fr-CA" dirty="0">
              <a:solidFill>
                <a:schemeClr val="accent5">
                  <a:lumMod val="50000"/>
                </a:schemeClr>
              </a:solidFill>
            </a:endParaRPr>
          </a:p>
        </p:txBody>
      </p:sp>
      <p:sp>
        <p:nvSpPr>
          <p:cNvPr id="10" name="Espace réservé du numéro de diapositive 4">
            <a:extLst>
              <a:ext uri="{FF2B5EF4-FFF2-40B4-BE49-F238E27FC236}">
                <a16:creationId xmlns:a16="http://schemas.microsoft.com/office/drawing/2014/main" id="{37330EAF-BC40-1C56-5CB0-8CE029B3EBB1}"/>
              </a:ext>
            </a:extLst>
          </p:cNvPr>
          <p:cNvSpPr txBox="1">
            <a:spLocks/>
          </p:cNvSpPr>
          <p:nvPr/>
        </p:nvSpPr>
        <p:spPr>
          <a:xfrm>
            <a:off x="8545786" y="4650963"/>
            <a:ext cx="413375" cy="273844"/>
          </a:xfr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B5DEC05-AB38-4F58-9609-FFF4AA167839}" type="slidenum">
              <a:rPr lang="fr-CA" sz="1050" smtClean="0"/>
              <a:pPr/>
              <a:t>16</a:t>
            </a:fld>
            <a:endParaRPr lang="fr-CA" sz="1050" dirty="0"/>
          </a:p>
        </p:txBody>
      </p:sp>
      <p:sp>
        <p:nvSpPr>
          <p:cNvPr id="11" name="ZoneTexte 10">
            <a:extLst>
              <a:ext uri="{FF2B5EF4-FFF2-40B4-BE49-F238E27FC236}">
                <a16:creationId xmlns:a16="http://schemas.microsoft.com/office/drawing/2014/main" id="{A63A0AAE-E606-496F-7F57-ED160D1D2B85}"/>
              </a:ext>
            </a:extLst>
          </p:cNvPr>
          <p:cNvSpPr txBox="1"/>
          <p:nvPr/>
        </p:nvSpPr>
        <p:spPr>
          <a:xfrm>
            <a:off x="6262924" y="4859700"/>
            <a:ext cx="1844755" cy="273845"/>
          </a:xfrm>
          <a:prstGeom prst="rect">
            <a:avLst/>
          </a:prstGeom>
        </p:spPr>
        <p:txBody>
          <a:bodyPr vert="horz" wrap="square" lIns="91440" tIns="45720" rIns="91440" bIns="45720" rtlCol="0">
            <a:normAutofit fontScale="77500" lnSpcReduction="20000"/>
          </a:bodyPr>
          <a:lstStyle/>
          <a:p>
            <a:pPr>
              <a:buClr>
                <a:schemeClr val="accent2"/>
              </a:buClr>
              <a:buSzPct val="125000"/>
            </a:pPr>
            <a:r>
              <a:rPr lang="fr-CA" sz="900" dirty="0"/>
              <a:t>Par Marc-André Nadon – HEC Montréal</a:t>
            </a:r>
          </a:p>
        </p:txBody>
      </p:sp>
    </p:spTree>
    <p:extLst>
      <p:ext uri="{BB962C8B-B14F-4D97-AF65-F5344CB8AC3E}">
        <p14:creationId xmlns:p14="http://schemas.microsoft.com/office/powerpoint/2010/main" val="31248022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2C6F877-6017-CB4A-B39C-146618E9D870}"/>
              </a:ext>
            </a:extLst>
          </p:cNvPr>
          <p:cNvSpPr/>
          <p:nvPr>
            <p:custDataLst>
              <p:tags r:id="rId1"/>
            </p:custDataLst>
          </p:nvPr>
        </p:nvSpPr>
        <p:spPr>
          <a:xfrm>
            <a:off x="0" y="1028784"/>
            <a:ext cx="9144000" cy="161390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767AF946-DEF3-7A49-BB05-AB39E242A598}"/>
              </a:ext>
            </a:extLst>
          </p:cNvPr>
          <p:cNvSpPr/>
          <p:nvPr>
            <p:custDataLst>
              <p:tags r:id="rId2"/>
            </p:custDataLst>
          </p:nvPr>
        </p:nvSpPr>
        <p:spPr>
          <a:xfrm>
            <a:off x="0" y="2608986"/>
            <a:ext cx="9144000" cy="1472024"/>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Content Placeholder 1">
            <a:extLst>
              <a:ext uri="{FF2B5EF4-FFF2-40B4-BE49-F238E27FC236}">
                <a16:creationId xmlns:a16="http://schemas.microsoft.com/office/drawing/2014/main" id="{F8E21C7D-95F7-6F4A-95EB-748ABBF7AF08}"/>
              </a:ext>
            </a:extLst>
          </p:cNvPr>
          <p:cNvSpPr txBox="1">
            <a:spLocks/>
          </p:cNvSpPr>
          <p:nvPr>
            <p:custDataLst>
              <p:tags r:id="rId3"/>
            </p:custDataLst>
          </p:nvPr>
        </p:nvSpPr>
        <p:spPr>
          <a:xfrm>
            <a:off x="1075285" y="1253237"/>
            <a:ext cx="8186400" cy="1247573"/>
          </a:xfrm>
          <a:prstGeom prst="rect">
            <a:avLst/>
          </a:prstGeom>
        </p:spPr>
        <p:txBody>
          <a:bodyPr vert="horz" lIns="91440" tIns="45720" rIns="91440" bIns="45720" rtlCol="0">
            <a:normAutofit/>
          </a:bodyPr>
          <a:lstStyle>
            <a:lvl1pPr marL="0" indent="0" algn="l" defTabSz="822960" rtl="0" eaLnBrk="1" latinLnBrk="0" hangingPunct="1">
              <a:spcBef>
                <a:spcPct val="20000"/>
              </a:spcBef>
              <a:buClr>
                <a:schemeClr val="accent2"/>
              </a:buClr>
              <a:buSzPct val="125000"/>
              <a:buFont typeface="Arial" pitchFamily="34" charset="0"/>
              <a:buNone/>
              <a:defRPr sz="1503" kern="1200">
                <a:solidFill>
                  <a:schemeClr val="tx1"/>
                </a:solidFill>
                <a:latin typeface="+mn-lt"/>
                <a:ea typeface="+mn-ea"/>
                <a:cs typeface="+mn-cs"/>
              </a:defRPr>
            </a:lvl1pPr>
            <a:lvl2pPr marL="408240" indent="-139320" algn="l" defTabSz="822960" rtl="0" eaLnBrk="1" latinLnBrk="0" hangingPunct="1">
              <a:spcBef>
                <a:spcPct val="20000"/>
              </a:spcBef>
              <a:buClr>
                <a:schemeClr val="accent2"/>
              </a:buClr>
              <a:buSzPct val="125000"/>
              <a:buFont typeface="Arial" pitchFamily="34" charset="0"/>
              <a:buChar char="•"/>
              <a:defRPr sz="1503" kern="1200">
                <a:solidFill>
                  <a:schemeClr val="tx1"/>
                </a:solidFill>
                <a:latin typeface="+mn-lt"/>
                <a:ea typeface="+mn-ea"/>
                <a:cs typeface="+mn-cs"/>
              </a:defRPr>
            </a:lvl2pPr>
            <a:lvl3pPr marL="677160" indent="-139320" algn="l" defTabSz="822960" rtl="0" eaLnBrk="1" latinLnBrk="0" hangingPunct="1">
              <a:spcBef>
                <a:spcPct val="20000"/>
              </a:spcBef>
              <a:buClr>
                <a:schemeClr val="accent2"/>
              </a:buClr>
              <a:buSzPct val="125000"/>
              <a:buFont typeface="Arial" pitchFamily="34" charset="0"/>
              <a:buChar char="•"/>
              <a:defRPr sz="1503" kern="1200">
                <a:solidFill>
                  <a:schemeClr val="tx1"/>
                </a:solidFill>
                <a:latin typeface="+mn-lt"/>
                <a:ea typeface="+mn-ea"/>
                <a:cs typeface="+mn-cs"/>
              </a:defRPr>
            </a:lvl3pPr>
            <a:lvl4pPr marL="942840" indent="-139320" algn="l" defTabSz="822960" rtl="0" eaLnBrk="1" latinLnBrk="0" hangingPunct="1">
              <a:spcBef>
                <a:spcPct val="20000"/>
              </a:spcBef>
              <a:buClr>
                <a:schemeClr val="accent2"/>
              </a:buClr>
              <a:buSzPct val="125000"/>
              <a:buFont typeface="Arial" pitchFamily="34" charset="0"/>
              <a:buChar char="•"/>
              <a:defRPr sz="1503" kern="1200">
                <a:solidFill>
                  <a:schemeClr val="tx1"/>
                </a:solidFill>
                <a:latin typeface="+mn-lt"/>
                <a:ea typeface="+mn-ea"/>
                <a:cs typeface="+mn-cs"/>
              </a:defRPr>
            </a:lvl4pPr>
            <a:lvl5pPr marL="1211760" indent="-139320" algn="l" defTabSz="822960" rtl="0" eaLnBrk="1" latinLnBrk="0" hangingPunct="1">
              <a:spcBef>
                <a:spcPct val="20000"/>
              </a:spcBef>
              <a:buClr>
                <a:schemeClr val="accent2"/>
              </a:buClr>
              <a:buSzPct val="125000"/>
              <a:buFont typeface="Arial" pitchFamily="34" charset="0"/>
              <a:buChar char="•"/>
              <a:defRPr sz="1503" kern="1200">
                <a:solidFill>
                  <a:schemeClr val="tx1"/>
                </a:solidFill>
                <a:latin typeface="+mn-lt"/>
                <a:ea typeface="+mn-ea"/>
                <a:cs typeface="+mn-cs"/>
              </a:defRPr>
            </a:lvl5pPr>
            <a:lvl6pPr marL="2263140" indent="-205740" algn="l" defTabSz="82296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674620" indent="-205740" algn="l" defTabSz="82296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086100" indent="-205740" algn="l" defTabSz="82296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497580" indent="-205740" algn="l" defTabSz="822960" rtl="0" eaLnBrk="1" latinLnBrk="0" hangingPunct="1">
              <a:spcBef>
                <a:spcPct val="20000"/>
              </a:spcBef>
              <a:buFont typeface="Arial" pitchFamily="34" charset="0"/>
              <a:buChar char="•"/>
              <a:defRPr sz="1800" kern="1200">
                <a:solidFill>
                  <a:schemeClr val="tx1"/>
                </a:solidFill>
                <a:latin typeface="+mn-lt"/>
                <a:ea typeface="+mn-ea"/>
                <a:cs typeface="+mn-cs"/>
              </a:defRPr>
            </a:lvl9pPr>
          </a:lstStyle>
          <a:p>
            <a:pPr>
              <a:spcBef>
                <a:spcPts val="1800"/>
              </a:spcBef>
              <a:buClr>
                <a:schemeClr val="bg2"/>
              </a:buClr>
            </a:pPr>
            <a:r>
              <a:rPr lang="fr-CA" sz="1800" dirty="0">
                <a:solidFill>
                  <a:schemeClr val="bg2"/>
                </a:solidFill>
              </a:rPr>
              <a:t>Rôles et mandats en certification</a:t>
            </a:r>
          </a:p>
          <a:p>
            <a:pPr marL="342900" indent="-342900">
              <a:buClr>
                <a:schemeClr val="bg2"/>
              </a:buClr>
              <a:buFont typeface="+mj-lt"/>
              <a:buAutoNum type="alphaLcParenR"/>
            </a:pPr>
            <a:r>
              <a:rPr lang="fr-CA" sz="1600" dirty="0">
                <a:solidFill>
                  <a:schemeClr val="bg2"/>
                </a:solidFill>
              </a:rPr>
              <a:t>Enjeux des missions de certification</a:t>
            </a:r>
          </a:p>
          <a:p>
            <a:pPr marL="342900" indent="-342900">
              <a:buClr>
                <a:schemeClr val="bg2"/>
              </a:buClr>
              <a:buFont typeface="+mj-lt"/>
              <a:buAutoNum type="alphaLcParenR"/>
            </a:pPr>
            <a:r>
              <a:rPr lang="fr-CA" sz="1600" dirty="0">
                <a:solidFill>
                  <a:schemeClr val="bg2"/>
                </a:solidFill>
              </a:rPr>
              <a:t>Plan de réponse classique</a:t>
            </a:r>
          </a:p>
          <a:p>
            <a:pPr marL="342900" indent="-342900">
              <a:buClr>
                <a:schemeClr val="bg2"/>
              </a:buClr>
              <a:buFont typeface="+mj-lt"/>
              <a:buAutoNum type="alphaLcParenR"/>
            </a:pPr>
            <a:endParaRPr lang="fr-CA" sz="1800" dirty="0">
              <a:solidFill>
                <a:schemeClr val="bg2"/>
              </a:solidFill>
            </a:endParaRPr>
          </a:p>
        </p:txBody>
      </p:sp>
      <p:sp>
        <p:nvSpPr>
          <p:cNvPr id="11" name="Content Placeholder 1">
            <a:extLst>
              <a:ext uri="{FF2B5EF4-FFF2-40B4-BE49-F238E27FC236}">
                <a16:creationId xmlns:a16="http://schemas.microsoft.com/office/drawing/2014/main" id="{94EB02BD-9BF8-C548-8787-F51ED6B82FDA}"/>
              </a:ext>
            </a:extLst>
          </p:cNvPr>
          <p:cNvSpPr txBox="1">
            <a:spLocks/>
          </p:cNvSpPr>
          <p:nvPr>
            <p:custDataLst>
              <p:tags r:id="rId4"/>
            </p:custDataLst>
          </p:nvPr>
        </p:nvSpPr>
        <p:spPr>
          <a:xfrm>
            <a:off x="561880" y="1023383"/>
            <a:ext cx="545809" cy="826017"/>
          </a:xfrm>
          <a:prstGeom prst="rect">
            <a:avLst/>
          </a:prstGeom>
        </p:spPr>
        <p:txBody>
          <a:bodyPr vert="horz" lIns="91440" tIns="45720" rIns="91440" bIns="45720" rtlCol="0">
            <a:noAutofit/>
          </a:bodyPr>
          <a:lstStyle>
            <a:lvl1pPr marL="139320" indent="-139320" algn="l" defTabSz="822960" rtl="0" eaLnBrk="1" latinLnBrk="0" hangingPunct="1">
              <a:spcBef>
                <a:spcPct val="20000"/>
              </a:spcBef>
              <a:buClr>
                <a:schemeClr val="accent2"/>
              </a:buClr>
              <a:buSzPct val="125000"/>
              <a:buFont typeface="Arial" pitchFamily="34" charset="0"/>
              <a:buChar char="•"/>
              <a:defRPr sz="1503" kern="1200">
                <a:solidFill>
                  <a:schemeClr val="tx1"/>
                </a:solidFill>
                <a:latin typeface="+mn-lt"/>
                <a:ea typeface="+mn-ea"/>
                <a:cs typeface="+mn-cs"/>
              </a:defRPr>
            </a:lvl1pPr>
            <a:lvl2pPr marL="408240" indent="-139320" algn="l" defTabSz="822960" rtl="0" eaLnBrk="1" latinLnBrk="0" hangingPunct="1">
              <a:spcBef>
                <a:spcPct val="20000"/>
              </a:spcBef>
              <a:buClr>
                <a:schemeClr val="accent2"/>
              </a:buClr>
              <a:buSzPct val="125000"/>
              <a:buFont typeface="Arial" pitchFamily="34" charset="0"/>
              <a:buChar char="•"/>
              <a:defRPr sz="1503" kern="1200">
                <a:solidFill>
                  <a:schemeClr val="tx1"/>
                </a:solidFill>
                <a:latin typeface="+mn-lt"/>
                <a:ea typeface="+mn-ea"/>
                <a:cs typeface="+mn-cs"/>
              </a:defRPr>
            </a:lvl2pPr>
            <a:lvl3pPr marL="677160" indent="-139320" algn="l" defTabSz="822960" rtl="0" eaLnBrk="1" latinLnBrk="0" hangingPunct="1">
              <a:spcBef>
                <a:spcPct val="20000"/>
              </a:spcBef>
              <a:buClr>
                <a:schemeClr val="accent2"/>
              </a:buClr>
              <a:buSzPct val="125000"/>
              <a:buFont typeface="Arial" pitchFamily="34" charset="0"/>
              <a:buChar char="•"/>
              <a:defRPr sz="1503" kern="1200">
                <a:solidFill>
                  <a:schemeClr val="tx1"/>
                </a:solidFill>
                <a:latin typeface="+mn-lt"/>
                <a:ea typeface="+mn-ea"/>
                <a:cs typeface="+mn-cs"/>
              </a:defRPr>
            </a:lvl3pPr>
            <a:lvl4pPr marL="942840" indent="-139320" algn="l" defTabSz="822960" rtl="0" eaLnBrk="1" latinLnBrk="0" hangingPunct="1">
              <a:spcBef>
                <a:spcPct val="20000"/>
              </a:spcBef>
              <a:buClr>
                <a:schemeClr val="accent2"/>
              </a:buClr>
              <a:buSzPct val="125000"/>
              <a:buFont typeface="Arial" pitchFamily="34" charset="0"/>
              <a:buChar char="•"/>
              <a:defRPr sz="1503" kern="1200">
                <a:solidFill>
                  <a:schemeClr val="tx1"/>
                </a:solidFill>
                <a:latin typeface="+mn-lt"/>
                <a:ea typeface="+mn-ea"/>
                <a:cs typeface="+mn-cs"/>
              </a:defRPr>
            </a:lvl4pPr>
            <a:lvl5pPr marL="1211760" indent="-139320" algn="l" defTabSz="822960" rtl="0" eaLnBrk="1" latinLnBrk="0" hangingPunct="1">
              <a:spcBef>
                <a:spcPct val="20000"/>
              </a:spcBef>
              <a:buClr>
                <a:schemeClr val="accent2"/>
              </a:buClr>
              <a:buSzPct val="125000"/>
              <a:buFont typeface="Arial" pitchFamily="34" charset="0"/>
              <a:buChar char="•"/>
              <a:defRPr sz="1503" kern="1200">
                <a:solidFill>
                  <a:schemeClr val="tx1"/>
                </a:solidFill>
                <a:latin typeface="+mn-lt"/>
                <a:ea typeface="+mn-ea"/>
                <a:cs typeface="+mn-cs"/>
              </a:defRPr>
            </a:lvl5pPr>
            <a:lvl6pPr marL="2263140" indent="-205740" algn="l" defTabSz="82296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674620" indent="-205740" algn="l" defTabSz="82296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086100" indent="-205740" algn="l" defTabSz="82296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497580" indent="-205740" algn="l" defTabSz="822960" rtl="0" eaLnBrk="1" latinLnBrk="0" hangingPunct="1">
              <a:spcBef>
                <a:spcPct val="20000"/>
              </a:spcBef>
              <a:buFont typeface="Arial" pitchFamily="34" charset="0"/>
              <a:buChar char="•"/>
              <a:defRPr sz="1800" kern="1200">
                <a:solidFill>
                  <a:schemeClr val="tx1"/>
                </a:solidFill>
                <a:latin typeface="+mn-lt"/>
                <a:ea typeface="+mn-ea"/>
                <a:cs typeface="+mn-cs"/>
              </a:defRPr>
            </a:lvl9pPr>
          </a:lstStyle>
          <a:p>
            <a:pPr marL="0" indent="0">
              <a:spcBef>
                <a:spcPts val="1800"/>
              </a:spcBef>
              <a:buFont typeface="Arial" pitchFamily="34" charset="0"/>
              <a:buNone/>
            </a:pPr>
            <a:r>
              <a:rPr lang="fr-CA" sz="4400" b="1" dirty="0">
                <a:solidFill>
                  <a:schemeClr val="bg2"/>
                </a:solidFill>
              </a:rPr>
              <a:t>1</a:t>
            </a:r>
          </a:p>
        </p:txBody>
      </p:sp>
      <p:sp>
        <p:nvSpPr>
          <p:cNvPr id="12" name="Content Placeholder 1">
            <a:extLst>
              <a:ext uri="{FF2B5EF4-FFF2-40B4-BE49-F238E27FC236}">
                <a16:creationId xmlns:a16="http://schemas.microsoft.com/office/drawing/2014/main" id="{DCC4DBD2-B9E7-394F-8022-1135EFA62246}"/>
              </a:ext>
            </a:extLst>
          </p:cNvPr>
          <p:cNvSpPr txBox="1">
            <a:spLocks/>
          </p:cNvSpPr>
          <p:nvPr>
            <p:custDataLst>
              <p:tags r:id="rId5"/>
            </p:custDataLst>
          </p:nvPr>
        </p:nvSpPr>
        <p:spPr>
          <a:xfrm>
            <a:off x="561880" y="2615594"/>
            <a:ext cx="545809" cy="826017"/>
          </a:xfrm>
          <a:prstGeom prst="rect">
            <a:avLst/>
          </a:prstGeom>
        </p:spPr>
        <p:txBody>
          <a:bodyPr vert="horz" lIns="91440" tIns="45720" rIns="91440" bIns="45720" rtlCol="0">
            <a:noAutofit/>
          </a:bodyPr>
          <a:lstStyle>
            <a:lvl1pPr marL="139320" indent="-139320" algn="l" defTabSz="822960" rtl="0" eaLnBrk="1" latinLnBrk="0" hangingPunct="1">
              <a:spcBef>
                <a:spcPct val="20000"/>
              </a:spcBef>
              <a:buClr>
                <a:schemeClr val="accent2"/>
              </a:buClr>
              <a:buSzPct val="125000"/>
              <a:buFont typeface="Arial" pitchFamily="34" charset="0"/>
              <a:buChar char="•"/>
              <a:defRPr sz="1503" kern="1200">
                <a:solidFill>
                  <a:schemeClr val="tx1"/>
                </a:solidFill>
                <a:latin typeface="+mn-lt"/>
                <a:ea typeface="+mn-ea"/>
                <a:cs typeface="+mn-cs"/>
              </a:defRPr>
            </a:lvl1pPr>
            <a:lvl2pPr marL="408240" indent="-139320" algn="l" defTabSz="822960" rtl="0" eaLnBrk="1" latinLnBrk="0" hangingPunct="1">
              <a:spcBef>
                <a:spcPct val="20000"/>
              </a:spcBef>
              <a:buClr>
                <a:schemeClr val="accent2"/>
              </a:buClr>
              <a:buSzPct val="125000"/>
              <a:buFont typeface="Arial" pitchFamily="34" charset="0"/>
              <a:buChar char="•"/>
              <a:defRPr sz="1503" kern="1200">
                <a:solidFill>
                  <a:schemeClr val="tx1"/>
                </a:solidFill>
                <a:latin typeface="+mn-lt"/>
                <a:ea typeface="+mn-ea"/>
                <a:cs typeface="+mn-cs"/>
              </a:defRPr>
            </a:lvl2pPr>
            <a:lvl3pPr marL="677160" indent="-139320" algn="l" defTabSz="822960" rtl="0" eaLnBrk="1" latinLnBrk="0" hangingPunct="1">
              <a:spcBef>
                <a:spcPct val="20000"/>
              </a:spcBef>
              <a:buClr>
                <a:schemeClr val="accent2"/>
              </a:buClr>
              <a:buSzPct val="125000"/>
              <a:buFont typeface="Arial" pitchFamily="34" charset="0"/>
              <a:buChar char="•"/>
              <a:defRPr sz="1503" kern="1200">
                <a:solidFill>
                  <a:schemeClr val="tx1"/>
                </a:solidFill>
                <a:latin typeface="+mn-lt"/>
                <a:ea typeface="+mn-ea"/>
                <a:cs typeface="+mn-cs"/>
              </a:defRPr>
            </a:lvl3pPr>
            <a:lvl4pPr marL="942840" indent="-139320" algn="l" defTabSz="822960" rtl="0" eaLnBrk="1" latinLnBrk="0" hangingPunct="1">
              <a:spcBef>
                <a:spcPct val="20000"/>
              </a:spcBef>
              <a:buClr>
                <a:schemeClr val="accent2"/>
              </a:buClr>
              <a:buSzPct val="125000"/>
              <a:buFont typeface="Arial" pitchFamily="34" charset="0"/>
              <a:buChar char="•"/>
              <a:defRPr sz="1503" kern="1200">
                <a:solidFill>
                  <a:schemeClr val="tx1"/>
                </a:solidFill>
                <a:latin typeface="+mn-lt"/>
                <a:ea typeface="+mn-ea"/>
                <a:cs typeface="+mn-cs"/>
              </a:defRPr>
            </a:lvl4pPr>
            <a:lvl5pPr marL="1211760" indent="-139320" algn="l" defTabSz="822960" rtl="0" eaLnBrk="1" latinLnBrk="0" hangingPunct="1">
              <a:spcBef>
                <a:spcPct val="20000"/>
              </a:spcBef>
              <a:buClr>
                <a:schemeClr val="accent2"/>
              </a:buClr>
              <a:buSzPct val="125000"/>
              <a:buFont typeface="Arial" pitchFamily="34" charset="0"/>
              <a:buChar char="•"/>
              <a:defRPr sz="1503" kern="1200">
                <a:solidFill>
                  <a:schemeClr val="tx1"/>
                </a:solidFill>
                <a:latin typeface="+mn-lt"/>
                <a:ea typeface="+mn-ea"/>
                <a:cs typeface="+mn-cs"/>
              </a:defRPr>
            </a:lvl5pPr>
            <a:lvl6pPr marL="2263140" indent="-205740" algn="l" defTabSz="82296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674620" indent="-205740" algn="l" defTabSz="82296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086100" indent="-205740" algn="l" defTabSz="82296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497580" indent="-205740" algn="l" defTabSz="822960" rtl="0" eaLnBrk="1" latinLnBrk="0" hangingPunct="1">
              <a:spcBef>
                <a:spcPct val="20000"/>
              </a:spcBef>
              <a:buFont typeface="Arial" pitchFamily="34" charset="0"/>
              <a:buChar char="•"/>
              <a:defRPr sz="1800" kern="1200">
                <a:solidFill>
                  <a:schemeClr val="tx1"/>
                </a:solidFill>
                <a:latin typeface="+mn-lt"/>
                <a:ea typeface="+mn-ea"/>
                <a:cs typeface="+mn-cs"/>
              </a:defRPr>
            </a:lvl9pPr>
          </a:lstStyle>
          <a:p>
            <a:pPr marL="0" indent="0">
              <a:spcBef>
                <a:spcPts val="1800"/>
              </a:spcBef>
              <a:buFont typeface="Arial" pitchFamily="34" charset="0"/>
              <a:buNone/>
            </a:pPr>
            <a:r>
              <a:rPr lang="fr-CA" sz="4400" b="1" dirty="0"/>
              <a:t>2</a:t>
            </a:r>
          </a:p>
        </p:txBody>
      </p:sp>
      <p:sp>
        <p:nvSpPr>
          <p:cNvPr id="13" name="Content Placeholder 1">
            <a:extLst>
              <a:ext uri="{FF2B5EF4-FFF2-40B4-BE49-F238E27FC236}">
                <a16:creationId xmlns:a16="http://schemas.microsoft.com/office/drawing/2014/main" id="{A749742A-D9FB-6F47-BD34-0BBEE13177EF}"/>
              </a:ext>
            </a:extLst>
          </p:cNvPr>
          <p:cNvSpPr txBox="1">
            <a:spLocks/>
          </p:cNvSpPr>
          <p:nvPr>
            <p:custDataLst>
              <p:tags r:id="rId6"/>
            </p:custDataLst>
          </p:nvPr>
        </p:nvSpPr>
        <p:spPr>
          <a:xfrm>
            <a:off x="561880" y="2673763"/>
            <a:ext cx="545809" cy="826017"/>
          </a:xfrm>
          <a:prstGeom prst="rect">
            <a:avLst/>
          </a:prstGeom>
        </p:spPr>
        <p:txBody>
          <a:bodyPr vert="horz" lIns="91440" tIns="45720" rIns="91440" bIns="45720" rtlCol="0">
            <a:noAutofit/>
          </a:bodyPr>
          <a:lstStyle>
            <a:lvl1pPr marL="139320" indent="-139320" algn="l" defTabSz="822960" rtl="0" eaLnBrk="1" latinLnBrk="0" hangingPunct="1">
              <a:spcBef>
                <a:spcPct val="20000"/>
              </a:spcBef>
              <a:buClr>
                <a:schemeClr val="accent2"/>
              </a:buClr>
              <a:buSzPct val="125000"/>
              <a:buFont typeface="Arial" pitchFamily="34" charset="0"/>
              <a:buChar char="•"/>
              <a:defRPr sz="1503" kern="1200">
                <a:solidFill>
                  <a:schemeClr val="tx1"/>
                </a:solidFill>
                <a:latin typeface="+mn-lt"/>
                <a:ea typeface="+mn-ea"/>
                <a:cs typeface="+mn-cs"/>
              </a:defRPr>
            </a:lvl1pPr>
            <a:lvl2pPr marL="408240" indent="-139320" algn="l" defTabSz="822960" rtl="0" eaLnBrk="1" latinLnBrk="0" hangingPunct="1">
              <a:spcBef>
                <a:spcPct val="20000"/>
              </a:spcBef>
              <a:buClr>
                <a:schemeClr val="accent2"/>
              </a:buClr>
              <a:buSzPct val="125000"/>
              <a:buFont typeface="Arial" pitchFamily="34" charset="0"/>
              <a:buChar char="•"/>
              <a:defRPr sz="1503" kern="1200">
                <a:solidFill>
                  <a:schemeClr val="tx1"/>
                </a:solidFill>
                <a:latin typeface="+mn-lt"/>
                <a:ea typeface="+mn-ea"/>
                <a:cs typeface="+mn-cs"/>
              </a:defRPr>
            </a:lvl2pPr>
            <a:lvl3pPr marL="677160" indent="-139320" algn="l" defTabSz="822960" rtl="0" eaLnBrk="1" latinLnBrk="0" hangingPunct="1">
              <a:spcBef>
                <a:spcPct val="20000"/>
              </a:spcBef>
              <a:buClr>
                <a:schemeClr val="accent2"/>
              </a:buClr>
              <a:buSzPct val="125000"/>
              <a:buFont typeface="Arial" pitchFamily="34" charset="0"/>
              <a:buChar char="•"/>
              <a:defRPr sz="1503" kern="1200">
                <a:solidFill>
                  <a:schemeClr val="tx1"/>
                </a:solidFill>
                <a:latin typeface="+mn-lt"/>
                <a:ea typeface="+mn-ea"/>
                <a:cs typeface="+mn-cs"/>
              </a:defRPr>
            </a:lvl3pPr>
            <a:lvl4pPr marL="942840" indent="-139320" algn="l" defTabSz="822960" rtl="0" eaLnBrk="1" latinLnBrk="0" hangingPunct="1">
              <a:spcBef>
                <a:spcPct val="20000"/>
              </a:spcBef>
              <a:buClr>
                <a:schemeClr val="accent2"/>
              </a:buClr>
              <a:buSzPct val="125000"/>
              <a:buFont typeface="Arial" pitchFamily="34" charset="0"/>
              <a:buChar char="•"/>
              <a:defRPr sz="1503" kern="1200">
                <a:solidFill>
                  <a:schemeClr val="tx1"/>
                </a:solidFill>
                <a:latin typeface="+mn-lt"/>
                <a:ea typeface="+mn-ea"/>
                <a:cs typeface="+mn-cs"/>
              </a:defRPr>
            </a:lvl4pPr>
            <a:lvl5pPr marL="1211760" indent="-139320" algn="l" defTabSz="822960" rtl="0" eaLnBrk="1" latinLnBrk="0" hangingPunct="1">
              <a:spcBef>
                <a:spcPct val="20000"/>
              </a:spcBef>
              <a:buClr>
                <a:schemeClr val="accent2"/>
              </a:buClr>
              <a:buSzPct val="125000"/>
              <a:buFont typeface="Arial" pitchFamily="34" charset="0"/>
              <a:buChar char="•"/>
              <a:defRPr sz="1503" kern="1200">
                <a:solidFill>
                  <a:schemeClr val="tx1"/>
                </a:solidFill>
                <a:latin typeface="+mn-lt"/>
                <a:ea typeface="+mn-ea"/>
                <a:cs typeface="+mn-cs"/>
              </a:defRPr>
            </a:lvl5pPr>
            <a:lvl6pPr marL="2263140" indent="-205740" algn="l" defTabSz="82296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674620" indent="-205740" algn="l" defTabSz="82296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086100" indent="-205740" algn="l" defTabSz="82296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497580" indent="-205740" algn="l" defTabSz="822960" rtl="0" eaLnBrk="1" latinLnBrk="0" hangingPunct="1">
              <a:spcBef>
                <a:spcPct val="20000"/>
              </a:spcBef>
              <a:buFont typeface="Arial" pitchFamily="34" charset="0"/>
              <a:buChar char="•"/>
              <a:defRPr sz="1800" kern="1200">
                <a:solidFill>
                  <a:schemeClr val="tx1"/>
                </a:solidFill>
                <a:latin typeface="+mn-lt"/>
                <a:ea typeface="+mn-ea"/>
                <a:cs typeface="+mn-cs"/>
              </a:defRPr>
            </a:lvl9pPr>
          </a:lstStyle>
          <a:p>
            <a:pPr marL="0" indent="0">
              <a:spcBef>
                <a:spcPts val="1800"/>
              </a:spcBef>
              <a:buFont typeface="Arial" pitchFamily="34" charset="0"/>
              <a:buNone/>
            </a:pPr>
            <a:endParaRPr lang="fr-CA" sz="4400" b="1" dirty="0">
              <a:solidFill>
                <a:schemeClr val="bg1"/>
              </a:solidFill>
            </a:endParaRPr>
          </a:p>
        </p:txBody>
      </p:sp>
      <p:sp>
        <p:nvSpPr>
          <p:cNvPr id="16" name="Content Placeholder 1">
            <a:extLst>
              <a:ext uri="{FF2B5EF4-FFF2-40B4-BE49-F238E27FC236}">
                <a16:creationId xmlns:a16="http://schemas.microsoft.com/office/drawing/2014/main" id="{3CFB5115-273C-1147-9C2A-02BE1CAB7C60}"/>
              </a:ext>
            </a:extLst>
          </p:cNvPr>
          <p:cNvSpPr txBox="1">
            <a:spLocks/>
          </p:cNvSpPr>
          <p:nvPr>
            <p:custDataLst>
              <p:tags r:id="rId7"/>
            </p:custDataLst>
          </p:nvPr>
        </p:nvSpPr>
        <p:spPr>
          <a:xfrm>
            <a:off x="1075285" y="2823146"/>
            <a:ext cx="8186400" cy="1324656"/>
          </a:xfrm>
          <a:prstGeom prst="rect">
            <a:avLst/>
          </a:prstGeom>
        </p:spPr>
        <p:txBody>
          <a:bodyPr vert="horz" lIns="91440" tIns="45720" rIns="91440" bIns="45720" rtlCol="0">
            <a:normAutofit/>
          </a:bodyPr>
          <a:lstStyle>
            <a:lvl1pPr marL="139320" indent="-139320" algn="l" defTabSz="822960" rtl="0" eaLnBrk="1" latinLnBrk="0" hangingPunct="1">
              <a:spcBef>
                <a:spcPct val="20000"/>
              </a:spcBef>
              <a:buClr>
                <a:schemeClr val="accent2"/>
              </a:buClr>
              <a:buSzPct val="125000"/>
              <a:buFont typeface="Arial" pitchFamily="34" charset="0"/>
              <a:buChar char="•"/>
              <a:defRPr sz="1503" kern="1200">
                <a:solidFill>
                  <a:schemeClr val="tx1"/>
                </a:solidFill>
                <a:latin typeface="+mn-lt"/>
                <a:ea typeface="+mn-ea"/>
                <a:cs typeface="+mn-cs"/>
              </a:defRPr>
            </a:lvl1pPr>
            <a:lvl2pPr marL="408240" indent="-139320" algn="l" defTabSz="822960" rtl="0" eaLnBrk="1" latinLnBrk="0" hangingPunct="1">
              <a:spcBef>
                <a:spcPct val="20000"/>
              </a:spcBef>
              <a:buClr>
                <a:schemeClr val="accent2"/>
              </a:buClr>
              <a:buSzPct val="125000"/>
              <a:buFont typeface="Arial" pitchFamily="34" charset="0"/>
              <a:buChar char="•"/>
              <a:defRPr sz="1503" kern="1200">
                <a:solidFill>
                  <a:schemeClr val="tx1"/>
                </a:solidFill>
                <a:latin typeface="+mn-lt"/>
                <a:ea typeface="+mn-ea"/>
                <a:cs typeface="+mn-cs"/>
              </a:defRPr>
            </a:lvl2pPr>
            <a:lvl3pPr marL="677160" indent="-139320" algn="l" defTabSz="822960" rtl="0" eaLnBrk="1" latinLnBrk="0" hangingPunct="1">
              <a:spcBef>
                <a:spcPct val="20000"/>
              </a:spcBef>
              <a:buClr>
                <a:schemeClr val="accent2"/>
              </a:buClr>
              <a:buSzPct val="125000"/>
              <a:buFont typeface="Arial" pitchFamily="34" charset="0"/>
              <a:buChar char="•"/>
              <a:defRPr sz="1503" kern="1200">
                <a:solidFill>
                  <a:schemeClr val="tx1"/>
                </a:solidFill>
                <a:latin typeface="+mn-lt"/>
                <a:ea typeface="+mn-ea"/>
                <a:cs typeface="+mn-cs"/>
              </a:defRPr>
            </a:lvl3pPr>
            <a:lvl4pPr marL="942840" indent="-139320" algn="l" defTabSz="822960" rtl="0" eaLnBrk="1" latinLnBrk="0" hangingPunct="1">
              <a:spcBef>
                <a:spcPct val="20000"/>
              </a:spcBef>
              <a:buClr>
                <a:schemeClr val="accent2"/>
              </a:buClr>
              <a:buSzPct val="125000"/>
              <a:buFont typeface="Arial" pitchFamily="34" charset="0"/>
              <a:buChar char="•"/>
              <a:defRPr sz="1503" kern="1200">
                <a:solidFill>
                  <a:schemeClr val="tx1"/>
                </a:solidFill>
                <a:latin typeface="+mn-lt"/>
                <a:ea typeface="+mn-ea"/>
                <a:cs typeface="+mn-cs"/>
              </a:defRPr>
            </a:lvl4pPr>
            <a:lvl5pPr marL="1211760" indent="-139320" algn="l" defTabSz="822960" rtl="0" eaLnBrk="1" latinLnBrk="0" hangingPunct="1">
              <a:spcBef>
                <a:spcPct val="20000"/>
              </a:spcBef>
              <a:buClr>
                <a:schemeClr val="accent2"/>
              </a:buClr>
              <a:buSzPct val="125000"/>
              <a:buFont typeface="Arial" pitchFamily="34" charset="0"/>
              <a:buChar char="•"/>
              <a:defRPr sz="1503" kern="1200">
                <a:solidFill>
                  <a:schemeClr val="tx1"/>
                </a:solidFill>
                <a:latin typeface="+mn-lt"/>
                <a:ea typeface="+mn-ea"/>
                <a:cs typeface="+mn-cs"/>
              </a:defRPr>
            </a:lvl5pPr>
            <a:lvl6pPr marL="2263140" indent="-205740" algn="l" defTabSz="82296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674620" indent="-205740" algn="l" defTabSz="82296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086100" indent="-205740" algn="l" defTabSz="82296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497580" indent="-205740" algn="l" defTabSz="822960" rtl="0" eaLnBrk="1" latinLnBrk="0" hangingPunct="1">
              <a:spcBef>
                <a:spcPct val="20000"/>
              </a:spcBef>
              <a:buFont typeface="Arial" pitchFamily="34" charset="0"/>
              <a:buChar char="•"/>
              <a:defRPr sz="1800" kern="1200">
                <a:solidFill>
                  <a:schemeClr val="tx1"/>
                </a:solidFill>
                <a:latin typeface="+mn-lt"/>
                <a:ea typeface="+mn-ea"/>
                <a:cs typeface="+mn-cs"/>
              </a:defRPr>
            </a:lvl9pPr>
          </a:lstStyle>
          <a:p>
            <a:pPr marL="0" indent="0">
              <a:spcBef>
                <a:spcPts val="1800"/>
              </a:spcBef>
              <a:buNone/>
            </a:pPr>
            <a:r>
              <a:rPr lang="fr-CA" sz="1800" dirty="0"/>
              <a:t>Rétroaction du cas Belle Construction Inc.</a:t>
            </a:r>
            <a:endParaRPr lang="fr-CA" sz="1600" dirty="0"/>
          </a:p>
          <a:p>
            <a:pPr marL="342900" indent="-342900">
              <a:buClr>
                <a:schemeClr val="tx1"/>
              </a:buClr>
              <a:buFont typeface="+mj-lt"/>
              <a:buAutoNum type="alphaLcParenR"/>
            </a:pPr>
            <a:r>
              <a:rPr lang="fr-CA" sz="1600" dirty="0"/>
              <a:t>Rétroaction</a:t>
            </a:r>
          </a:p>
          <a:p>
            <a:pPr marL="342900" indent="-342900">
              <a:buClr>
                <a:schemeClr val="tx1"/>
              </a:buClr>
              <a:buFont typeface="+mj-lt"/>
              <a:buAutoNum type="alphaLcParenR"/>
            </a:pPr>
            <a:r>
              <a:rPr lang="fr-CA" sz="1600" dirty="0"/>
              <a:t>Évaluation de copies d’étudiants</a:t>
            </a:r>
          </a:p>
          <a:p>
            <a:pPr marL="342900" indent="-342900">
              <a:spcBef>
                <a:spcPts val="1800"/>
              </a:spcBef>
              <a:buFont typeface="+mj-lt"/>
              <a:buAutoNum type="alphaLcParenR"/>
            </a:pPr>
            <a:endParaRPr lang="fr-CA" sz="1000" dirty="0"/>
          </a:p>
          <a:p>
            <a:pPr marL="0" indent="0">
              <a:spcBef>
                <a:spcPts val="1800"/>
              </a:spcBef>
              <a:buNone/>
            </a:pPr>
            <a:endParaRPr lang="fr-CA" sz="1000" dirty="0"/>
          </a:p>
        </p:txBody>
      </p:sp>
      <p:sp>
        <p:nvSpPr>
          <p:cNvPr id="22" name="Title 19">
            <a:extLst>
              <a:ext uri="{FF2B5EF4-FFF2-40B4-BE49-F238E27FC236}">
                <a16:creationId xmlns:a16="http://schemas.microsoft.com/office/drawing/2014/main" id="{DA30F7FF-20D6-9D4B-8886-26D71E3CBE8E}"/>
              </a:ext>
            </a:extLst>
          </p:cNvPr>
          <p:cNvSpPr>
            <a:spLocks noGrp="1"/>
          </p:cNvSpPr>
          <p:nvPr>
            <p:ph type="title"/>
            <p:custDataLst>
              <p:tags r:id="rId8"/>
            </p:custDataLst>
          </p:nvPr>
        </p:nvSpPr>
        <p:spPr/>
        <p:txBody>
          <a:bodyPr/>
          <a:lstStyle/>
          <a:p>
            <a:r>
              <a:rPr lang="en-US" b="0" dirty="0">
                <a:solidFill>
                  <a:schemeClr val="accent2"/>
                </a:solidFill>
              </a:rPr>
              <a:t>Agenda</a:t>
            </a:r>
          </a:p>
        </p:txBody>
      </p:sp>
      <p:pic>
        <p:nvPicPr>
          <p:cNvPr id="3" name="Graphique 2" descr="Cible avec un remplissage uni">
            <a:extLst>
              <a:ext uri="{FF2B5EF4-FFF2-40B4-BE49-F238E27FC236}">
                <a16:creationId xmlns:a16="http://schemas.microsoft.com/office/drawing/2014/main" id="{6C61F764-65D7-5FD8-7F42-295C0C46E5DA}"/>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5392419" y="3037365"/>
            <a:ext cx="648970" cy="648970"/>
          </a:xfrm>
          <a:prstGeom prst="rect">
            <a:avLst/>
          </a:prstGeom>
        </p:spPr>
      </p:pic>
    </p:spTree>
    <p:extLst>
      <p:ext uri="{BB962C8B-B14F-4D97-AF65-F5344CB8AC3E}">
        <p14:creationId xmlns:p14="http://schemas.microsoft.com/office/powerpoint/2010/main" val="16794384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re 5">
            <a:extLst>
              <a:ext uri="{FF2B5EF4-FFF2-40B4-BE49-F238E27FC236}">
                <a16:creationId xmlns:a16="http://schemas.microsoft.com/office/drawing/2014/main" id="{E17F10AC-510F-B34B-B7D7-7F7F0063CF6B}"/>
              </a:ext>
            </a:extLst>
          </p:cNvPr>
          <p:cNvSpPr>
            <a:spLocks noGrp="1"/>
          </p:cNvSpPr>
          <p:nvPr>
            <p:ph type="title"/>
          </p:nvPr>
        </p:nvSpPr>
        <p:spPr>
          <a:xfrm>
            <a:off x="180000" y="248400"/>
            <a:ext cx="8186400" cy="744737"/>
          </a:xfrm>
        </p:spPr>
        <p:txBody>
          <a:bodyPr/>
          <a:lstStyle/>
          <a:p>
            <a:r>
              <a:rPr lang="fr-CA" dirty="0"/>
              <a:t>Lecture active</a:t>
            </a:r>
          </a:p>
        </p:txBody>
      </p:sp>
      <p:sp>
        <p:nvSpPr>
          <p:cNvPr id="3" name="Espace réservé du contenu 2">
            <a:extLst>
              <a:ext uri="{FF2B5EF4-FFF2-40B4-BE49-F238E27FC236}">
                <a16:creationId xmlns:a16="http://schemas.microsoft.com/office/drawing/2014/main" id="{182FE46B-44F7-5543-AB95-6117D4911FB6}"/>
              </a:ext>
            </a:extLst>
          </p:cNvPr>
          <p:cNvSpPr>
            <a:spLocks noGrp="1"/>
          </p:cNvSpPr>
          <p:nvPr>
            <p:ph idx="1"/>
          </p:nvPr>
        </p:nvSpPr>
        <p:spPr/>
        <p:txBody>
          <a:bodyPr/>
          <a:lstStyle/>
          <a:p>
            <a:pPr marL="285750" indent="-285750">
              <a:spcBef>
                <a:spcPts val="0"/>
              </a:spcBef>
              <a:spcAft>
                <a:spcPts val="450"/>
              </a:spcAft>
              <a:buClr>
                <a:schemeClr val="tx1"/>
              </a:buClr>
              <a:buFont typeface="Arial" panose="020B0604020202020204" pitchFamily="34" charset="0"/>
              <a:buChar char="•"/>
              <a:defRPr/>
            </a:pPr>
            <a:r>
              <a:rPr lang="fr-CA" sz="1500" dirty="0">
                <a:latin typeface="Arial" panose="020B0604020202020204" pitchFamily="34" charset="0"/>
                <a:ea typeface="+mn-ea"/>
                <a:cs typeface="Arial" panose="020B0604020202020204" pitchFamily="34" charset="0"/>
                <a:sym typeface="Wingdings" panose="05000000000000000000" pitchFamily="2" charset="2"/>
              </a:rPr>
              <a:t>Où se situe-t-on dans le temps (dates importantes) ?</a:t>
            </a:r>
          </a:p>
          <a:p>
            <a:pPr marL="285750" indent="-285750">
              <a:spcBef>
                <a:spcPts val="0"/>
              </a:spcBef>
              <a:spcAft>
                <a:spcPts val="450"/>
              </a:spcAft>
              <a:buClr>
                <a:schemeClr val="tx1"/>
              </a:buClr>
              <a:buFont typeface="Arial" panose="020B0604020202020204" pitchFamily="34" charset="0"/>
              <a:buChar char="•"/>
              <a:defRPr/>
            </a:pPr>
            <a:r>
              <a:rPr lang="fr-CA" sz="1500" dirty="0">
                <a:latin typeface="Arial" panose="020B0604020202020204" pitchFamily="34" charset="0"/>
                <a:ea typeface="+mn-ea"/>
                <a:cs typeface="Arial" panose="020B0604020202020204" pitchFamily="34" charset="0"/>
                <a:sym typeface="Wingdings" panose="05000000000000000000" pitchFamily="2" charset="2"/>
              </a:rPr>
              <a:t>Référentiel ?</a:t>
            </a:r>
          </a:p>
          <a:p>
            <a:pPr marL="285750" indent="-285750">
              <a:spcBef>
                <a:spcPts val="0"/>
              </a:spcBef>
              <a:spcAft>
                <a:spcPts val="450"/>
              </a:spcAft>
              <a:buClr>
                <a:schemeClr val="tx1"/>
              </a:buClr>
              <a:buFont typeface="Arial" panose="020B0604020202020204" pitchFamily="34" charset="0"/>
              <a:buChar char="•"/>
              <a:defRPr/>
            </a:pPr>
            <a:r>
              <a:rPr lang="fr-CA" sz="1500" dirty="0">
                <a:latin typeface="Arial" panose="020B0604020202020204" pitchFamily="34" charset="0"/>
                <a:ea typeface="+mn-ea"/>
                <a:cs typeface="Arial" panose="020B0604020202020204" pitchFamily="34" charset="0"/>
                <a:sym typeface="Wingdings" panose="05000000000000000000" pitchFamily="2" charset="2"/>
              </a:rPr>
              <a:t>Contexte ?</a:t>
            </a:r>
          </a:p>
          <a:p>
            <a:pPr marL="285750" indent="-285750">
              <a:spcBef>
                <a:spcPts val="0"/>
              </a:spcBef>
              <a:spcAft>
                <a:spcPts val="450"/>
              </a:spcAft>
              <a:buClr>
                <a:schemeClr val="tx1"/>
              </a:buClr>
              <a:buFont typeface="Arial" panose="020B0604020202020204" pitchFamily="34" charset="0"/>
              <a:buChar char="•"/>
              <a:defRPr/>
            </a:pPr>
            <a:r>
              <a:rPr lang="fr-CA" sz="1500" dirty="0">
                <a:latin typeface="Arial" panose="020B0604020202020204" pitchFamily="34" charset="0"/>
                <a:ea typeface="+mn-ea"/>
                <a:cs typeface="Arial" panose="020B0604020202020204" pitchFamily="34" charset="0"/>
                <a:sym typeface="Wingdings" panose="05000000000000000000" pitchFamily="2" charset="2"/>
              </a:rPr>
              <a:t>Rôle ?</a:t>
            </a:r>
          </a:p>
          <a:p>
            <a:pPr marL="285750" indent="-285750" defTabSz="685800">
              <a:spcBef>
                <a:spcPts val="0"/>
              </a:spcBef>
              <a:spcAft>
                <a:spcPts val="450"/>
              </a:spcAft>
              <a:buClr>
                <a:schemeClr val="tx1"/>
              </a:buClr>
              <a:buSzTx/>
              <a:buFont typeface="Arial" panose="020B0604020202020204" pitchFamily="34" charset="0"/>
              <a:buChar char="•"/>
              <a:defRPr/>
            </a:pPr>
            <a:r>
              <a:rPr lang="fr-CA" sz="1500" dirty="0">
                <a:latin typeface="Arial" panose="020B0604020202020204" pitchFamily="34" charset="0"/>
                <a:ea typeface="+mn-ea"/>
                <a:cs typeface="Arial" panose="020B0604020202020204" pitchFamily="34" charset="0"/>
                <a:sym typeface="Wingdings" panose="05000000000000000000" pitchFamily="2" charset="2"/>
              </a:rPr>
              <a:t>Quels sont les personnages du cas ? </a:t>
            </a:r>
          </a:p>
          <a:p>
            <a:pPr marL="285750" indent="-285750" defTabSz="685800">
              <a:spcBef>
                <a:spcPts val="0"/>
              </a:spcBef>
              <a:spcAft>
                <a:spcPts val="450"/>
              </a:spcAft>
              <a:buClr>
                <a:schemeClr val="tx1"/>
              </a:buClr>
              <a:buSzTx/>
              <a:buFont typeface="Arial" panose="020B0604020202020204" pitchFamily="34" charset="0"/>
              <a:buChar char="•"/>
              <a:defRPr/>
            </a:pPr>
            <a:r>
              <a:rPr lang="fr-CA" sz="1500" dirty="0">
                <a:latin typeface="Arial" panose="020B0604020202020204" pitchFamily="34" charset="0"/>
                <a:ea typeface="+mn-ea"/>
                <a:cs typeface="Arial" panose="020B0604020202020204" pitchFamily="34" charset="0"/>
                <a:sym typeface="Wingdings" panose="05000000000000000000" pitchFamily="2" charset="2"/>
              </a:rPr>
              <a:t>Quelles sont les demandes ?</a:t>
            </a:r>
          </a:p>
          <a:p>
            <a:endParaRPr lang="fr-CA" dirty="0"/>
          </a:p>
        </p:txBody>
      </p:sp>
      <p:sp>
        <p:nvSpPr>
          <p:cNvPr id="7" name="ZoneTexte 6">
            <a:extLst>
              <a:ext uri="{FF2B5EF4-FFF2-40B4-BE49-F238E27FC236}">
                <a16:creationId xmlns:a16="http://schemas.microsoft.com/office/drawing/2014/main" id="{5FC3A0D2-3B9D-8949-9ACD-CE7676D287E8}"/>
              </a:ext>
            </a:extLst>
          </p:cNvPr>
          <p:cNvSpPr txBox="1"/>
          <p:nvPr/>
        </p:nvSpPr>
        <p:spPr>
          <a:xfrm>
            <a:off x="3034454" y="4924807"/>
            <a:ext cx="2015848" cy="273845"/>
          </a:xfrm>
          <a:prstGeom prst="rect">
            <a:avLst/>
          </a:prstGeom>
        </p:spPr>
        <p:txBody>
          <a:bodyPr vert="horz" wrap="square" lIns="91440" tIns="45720" rIns="91440" bIns="45720" rtlCol="0">
            <a:normAutofit fontScale="92500"/>
          </a:bodyPr>
          <a:lstStyle/>
          <a:p>
            <a:pPr>
              <a:buClr>
                <a:schemeClr val="accent2"/>
              </a:buClr>
              <a:buSzPct val="125000"/>
            </a:pPr>
            <a:r>
              <a:rPr lang="fr-CA" sz="900" dirty="0"/>
              <a:t>Par Laurence Daoust – HEC Montréal</a:t>
            </a:r>
          </a:p>
        </p:txBody>
      </p:sp>
      <p:sp>
        <p:nvSpPr>
          <p:cNvPr id="5" name="Espace réservé du numéro de diapositive 4">
            <a:extLst>
              <a:ext uri="{FF2B5EF4-FFF2-40B4-BE49-F238E27FC236}">
                <a16:creationId xmlns:a16="http://schemas.microsoft.com/office/drawing/2014/main" id="{EA2A811E-7180-9747-A1A5-F37A7F8BEFE3}"/>
              </a:ext>
            </a:extLst>
          </p:cNvPr>
          <p:cNvSpPr txBox="1">
            <a:spLocks/>
          </p:cNvSpPr>
          <p:nvPr/>
        </p:nvSpPr>
        <p:spPr>
          <a:xfrm>
            <a:off x="8545786" y="4650963"/>
            <a:ext cx="413375" cy="273844"/>
          </a:xfr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B5DEC05-AB38-4F58-9609-FFF4AA167839}" type="slidenum">
              <a:rPr lang="fr-CA" sz="1050" smtClean="0"/>
              <a:pPr/>
              <a:t>18</a:t>
            </a:fld>
            <a:endParaRPr lang="fr-CA" sz="1050" dirty="0"/>
          </a:p>
        </p:txBody>
      </p:sp>
    </p:spTree>
    <p:extLst>
      <p:ext uri="{BB962C8B-B14F-4D97-AF65-F5344CB8AC3E}">
        <p14:creationId xmlns:p14="http://schemas.microsoft.com/office/powerpoint/2010/main" val="26087097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DF5F0A42-5399-F64E-AC61-1D14482ECD5E}"/>
              </a:ext>
            </a:extLst>
          </p:cNvPr>
          <p:cNvSpPr>
            <a:spLocks noGrp="1"/>
          </p:cNvSpPr>
          <p:nvPr>
            <p:ph idx="1"/>
          </p:nvPr>
        </p:nvSpPr>
        <p:spPr>
          <a:xfrm>
            <a:off x="369382" y="993136"/>
            <a:ext cx="8186400" cy="3901963"/>
          </a:xfrm>
        </p:spPr>
        <p:txBody>
          <a:bodyPr>
            <a:normAutofit fontScale="92500" lnSpcReduction="20000"/>
          </a:bodyPr>
          <a:lstStyle/>
          <a:p>
            <a:pPr marL="285750" indent="-285750">
              <a:spcBef>
                <a:spcPts val="0"/>
              </a:spcBef>
              <a:spcAft>
                <a:spcPts val="450"/>
              </a:spcAft>
              <a:buClr>
                <a:schemeClr val="tx1"/>
              </a:buClr>
              <a:buFont typeface="Arial" panose="020B0604020202020204" pitchFamily="34" charset="0"/>
              <a:buChar char="•"/>
              <a:defRPr/>
            </a:pPr>
            <a:r>
              <a:rPr lang="fr-CA" sz="1600" b="1" dirty="0">
                <a:latin typeface="Arial" panose="020B0604020202020204" pitchFamily="34" charset="0"/>
                <a:ea typeface="+mn-ea"/>
                <a:cs typeface="Arial" panose="020B0604020202020204" pitchFamily="34" charset="0"/>
                <a:sym typeface="Wingdings" panose="05000000000000000000" pitchFamily="2" charset="2"/>
              </a:rPr>
              <a:t>Temps (dates importantes)</a:t>
            </a:r>
          </a:p>
          <a:p>
            <a:pPr marL="693990" lvl="1" indent="-285750">
              <a:spcBef>
                <a:spcPts val="0"/>
              </a:spcBef>
              <a:spcAft>
                <a:spcPts val="450"/>
              </a:spcAft>
              <a:buClr>
                <a:schemeClr val="tx1"/>
              </a:buClr>
              <a:defRPr/>
            </a:pPr>
            <a:r>
              <a:rPr lang="fr-CA" sz="1600" dirty="0">
                <a:latin typeface="Arial" panose="020B0604020202020204" pitchFamily="34" charset="0"/>
                <a:cs typeface="Arial" panose="020B0604020202020204" pitchFamily="34" charset="0"/>
                <a:sym typeface="Wingdings" panose="05000000000000000000" pitchFamily="2" charset="2"/>
              </a:rPr>
              <a:t>Fin d’exercice 31 juillet 2019.</a:t>
            </a:r>
          </a:p>
          <a:p>
            <a:pPr marL="693990" lvl="1" indent="-285750">
              <a:spcBef>
                <a:spcPts val="0"/>
              </a:spcBef>
              <a:spcAft>
                <a:spcPts val="450"/>
              </a:spcAft>
              <a:buClr>
                <a:schemeClr val="tx1"/>
              </a:buClr>
              <a:defRPr/>
            </a:pPr>
            <a:r>
              <a:rPr lang="fr-CA" sz="1600" dirty="0">
                <a:latin typeface="Arial" panose="020B0604020202020204" pitchFamily="34" charset="0"/>
                <a:ea typeface="+mn-ea"/>
                <a:cs typeface="Arial" panose="020B0604020202020204" pitchFamily="34" charset="0"/>
                <a:sym typeface="Wingdings" panose="05000000000000000000" pitchFamily="2" charset="2"/>
              </a:rPr>
              <a:t>Nous sommes le 19 septembre 2019 (après la fin d’exercice). Le travail d’audit sur place de fin d’exercice vient de se terminer.</a:t>
            </a:r>
          </a:p>
          <a:p>
            <a:pPr marL="285750" indent="-285750">
              <a:spcBef>
                <a:spcPts val="0"/>
              </a:spcBef>
              <a:spcAft>
                <a:spcPts val="450"/>
              </a:spcAft>
              <a:buClr>
                <a:schemeClr val="tx1"/>
              </a:buClr>
              <a:buFont typeface="Arial" panose="020B0604020202020204" pitchFamily="34" charset="0"/>
              <a:buChar char="•"/>
              <a:defRPr/>
            </a:pPr>
            <a:r>
              <a:rPr lang="fr-CA" sz="1600" b="1" dirty="0">
                <a:latin typeface="Arial" panose="020B0604020202020204" pitchFamily="34" charset="0"/>
                <a:ea typeface="+mn-ea"/>
                <a:cs typeface="Arial" panose="020B0604020202020204" pitchFamily="34" charset="0"/>
                <a:sym typeface="Wingdings" panose="05000000000000000000" pitchFamily="2" charset="2"/>
              </a:rPr>
              <a:t>Référentiel</a:t>
            </a:r>
          </a:p>
          <a:p>
            <a:pPr marL="693990" lvl="1" indent="-285750">
              <a:spcBef>
                <a:spcPts val="0"/>
              </a:spcBef>
              <a:spcAft>
                <a:spcPts val="450"/>
              </a:spcAft>
              <a:buClr>
                <a:schemeClr val="tx1"/>
              </a:buClr>
              <a:defRPr/>
            </a:pPr>
            <a:r>
              <a:rPr lang="fr-CA" sz="1600" dirty="0">
                <a:latin typeface="Arial" panose="020B0604020202020204" pitchFamily="34" charset="0"/>
                <a:ea typeface="+mn-ea"/>
                <a:cs typeface="Arial" panose="020B0604020202020204" pitchFamily="34" charset="0"/>
                <a:sym typeface="Wingdings" panose="05000000000000000000" pitchFamily="2" charset="2"/>
              </a:rPr>
              <a:t>Société ouverte donc IFRS.</a:t>
            </a:r>
          </a:p>
          <a:p>
            <a:pPr marL="285750" indent="-285750">
              <a:spcBef>
                <a:spcPts val="0"/>
              </a:spcBef>
              <a:spcAft>
                <a:spcPts val="450"/>
              </a:spcAft>
              <a:buClr>
                <a:schemeClr val="tx1"/>
              </a:buClr>
              <a:buFont typeface="Arial" panose="020B0604020202020204" pitchFamily="34" charset="0"/>
              <a:buChar char="•"/>
              <a:defRPr/>
            </a:pPr>
            <a:r>
              <a:rPr lang="fr-CA" sz="1600" b="1" dirty="0">
                <a:latin typeface="Arial" panose="020B0604020202020204" pitchFamily="34" charset="0"/>
                <a:ea typeface="+mn-ea"/>
                <a:cs typeface="Arial" panose="020B0604020202020204" pitchFamily="34" charset="0"/>
                <a:sym typeface="Wingdings" panose="05000000000000000000" pitchFamily="2" charset="2"/>
              </a:rPr>
              <a:t>Rôle</a:t>
            </a:r>
          </a:p>
          <a:p>
            <a:pPr marL="693990" lvl="1" indent="-285750" defTabSz="685800">
              <a:spcBef>
                <a:spcPts val="0"/>
              </a:spcBef>
              <a:spcAft>
                <a:spcPts val="450"/>
              </a:spcAft>
              <a:buClr>
                <a:schemeClr val="tx1"/>
              </a:buClr>
              <a:buSzTx/>
              <a:defRPr/>
            </a:pPr>
            <a:r>
              <a:rPr lang="fr-CA" sz="1600" dirty="0">
                <a:latin typeface="Arial" panose="020B0604020202020204" pitchFamily="34" charset="0"/>
                <a:ea typeface="+mn-ea"/>
                <a:cs typeface="Arial" panose="020B0604020202020204" pitchFamily="34" charset="0"/>
                <a:sym typeface="Wingdings" panose="05000000000000000000" pitchFamily="2" charset="2"/>
              </a:rPr>
              <a:t>CPA, chef de mission d’audit.</a:t>
            </a:r>
          </a:p>
          <a:p>
            <a:pPr marL="285750" indent="-285750" defTabSz="685800">
              <a:spcBef>
                <a:spcPts val="0"/>
              </a:spcBef>
              <a:spcAft>
                <a:spcPts val="450"/>
              </a:spcAft>
              <a:buClr>
                <a:schemeClr val="tx1"/>
              </a:buClr>
              <a:buSzTx/>
              <a:buFont typeface="Arial" panose="020B0604020202020204" pitchFamily="34" charset="0"/>
              <a:buChar char="•"/>
              <a:defRPr/>
            </a:pPr>
            <a:r>
              <a:rPr lang="fr-CA" sz="1600" b="1" dirty="0">
                <a:latin typeface="Arial" panose="020B0604020202020204" pitchFamily="34" charset="0"/>
                <a:ea typeface="+mn-ea"/>
                <a:cs typeface="Arial" panose="020B0604020202020204" pitchFamily="34" charset="0"/>
                <a:sym typeface="Wingdings" panose="05000000000000000000" pitchFamily="2" charset="2"/>
              </a:rPr>
              <a:t>Personnages du cas</a:t>
            </a:r>
          </a:p>
          <a:p>
            <a:pPr marL="693990" lvl="1" indent="-285750" defTabSz="685800">
              <a:spcBef>
                <a:spcPts val="0"/>
              </a:spcBef>
              <a:spcAft>
                <a:spcPts val="450"/>
              </a:spcAft>
              <a:buClr>
                <a:schemeClr val="tx1"/>
              </a:buClr>
              <a:buSzTx/>
              <a:defRPr/>
            </a:pPr>
            <a:r>
              <a:rPr lang="fr-CA" sz="1600" dirty="0">
                <a:latin typeface="Arial" panose="020B0604020202020204" pitchFamily="34" charset="0"/>
                <a:cs typeface="Arial" panose="020B0604020202020204" pitchFamily="34" charset="0"/>
                <a:sym typeface="Wingdings" panose="05000000000000000000" pitchFamily="2" charset="2"/>
              </a:rPr>
              <a:t>Arthur Denis, associé responsable de l’audit</a:t>
            </a:r>
          </a:p>
          <a:p>
            <a:pPr marL="693990" lvl="1" indent="-285750" defTabSz="685800">
              <a:spcBef>
                <a:spcPts val="0"/>
              </a:spcBef>
              <a:spcAft>
                <a:spcPts val="450"/>
              </a:spcAft>
              <a:buClr>
                <a:schemeClr val="tx1"/>
              </a:buClr>
              <a:buSzTx/>
              <a:defRPr/>
            </a:pPr>
            <a:r>
              <a:rPr lang="fr-CA" sz="1600" dirty="0">
                <a:latin typeface="Arial" panose="020B0604020202020204" pitchFamily="34" charset="0"/>
                <a:ea typeface="+mn-ea"/>
                <a:cs typeface="Arial" panose="020B0604020202020204" pitchFamily="34" charset="0"/>
                <a:sym typeface="Wingdings" panose="05000000000000000000" pitchFamily="2" charset="2"/>
              </a:rPr>
              <a:t>Chef des finances de BC</a:t>
            </a:r>
          </a:p>
          <a:p>
            <a:pPr marL="693990" lvl="1" indent="-285750" defTabSz="685800">
              <a:spcBef>
                <a:spcPts val="0"/>
              </a:spcBef>
              <a:spcAft>
                <a:spcPts val="450"/>
              </a:spcAft>
              <a:buClr>
                <a:schemeClr val="tx1"/>
              </a:buClr>
              <a:buSzTx/>
              <a:defRPr/>
            </a:pPr>
            <a:r>
              <a:rPr lang="fr-CA" sz="1600" dirty="0">
                <a:latin typeface="Arial" panose="020B0604020202020204" pitchFamily="34" charset="0"/>
                <a:ea typeface="+mn-ea"/>
                <a:cs typeface="Arial" panose="020B0604020202020204" pitchFamily="34" charset="0"/>
                <a:sym typeface="Wingdings" panose="05000000000000000000" pitchFamily="2" charset="2"/>
              </a:rPr>
              <a:t>Contrôleur qui a quitté</a:t>
            </a:r>
          </a:p>
          <a:p>
            <a:pPr marL="693990" lvl="1" indent="-285750" defTabSz="685800">
              <a:spcBef>
                <a:spcPts val="0"/>
              </a:spcBef>
              <a:spcAft>
                <a:spcPts val="450"/>
              </a:spcAft>
              <a:buClr>
                <a:schemeClr val="tx1"/>
              </a:buClr>
              <a:buSzTx/>
              <a:defRPr/>
            </a:pPr>
            <a:r>
              <a:rPr lang="fr-CA" sz="1600" dirty="0">
                <a:latin typeface="Arial" panose="020B0604020202020204" pitchFamily="34" charset="0"/>
                <a:cs typeface="Arial" panose="020B0604020202020204" pitchFamily="34" charset="0"/>
                <a:sym typeface="Wingdings" panose="05000000000000000000" pitchFamily="2" charset="2"/>
              </a:rPr>
              <a:t>Différents employés (personnel du service des finances, directeurs des travaux)</a:t>
            </a:r>
            <a:endParaRPr lang="fr-CA" sz="1600" dirty="0">
              <a:latin typeface="Arial" panose="020B0604020202020204" pitchFamily="34" charset="0"/>
              <a:ea typeface="+mn-ea"/>
              <a:cs typeface="Arial" panose="020B0604020202020204" pitchFamily="34" charset="0"/>
              <a:sym typeface="Wingdings" panose="05000000000000000000" pitchFamily="2" charset="2"/>
            </a:endParaRPr>
          </a:p>
          <a:p>
            <a:pPr marL="693990" lvl="1" indent="-285750" defTabSz="685800">
              <a:spcBef>
                <a:spcPts val="0"/>
              </a:spcBef>
              <a:spcAft>
                <a:spcPts val="450"/>
              </a:spcAft>
              <a:buClr>
                <a:schemeClr val="tx1"/>
              </a:buClr>
              <a:buSzTx/>
              <a:defRPr/>
            </a:pPr>
            <a:r>
              <a:rPr lang="fr-CA" sz="1600" dirty="0">
                <a:latin typeface="Arial" panose="020B0604020202020204" pitchFamily="34" charset="0"/>
                <a:cs typeface="Arial" panose="020B0604020202020204" pitchFamily="34" charset="0"/>
                <a:sym typeface="Wingdings" panose="05000000000000000000" pitchFamily="2" charset="2"/>
              </a:rPr>
              <a:t>Employé récemment parti à la retraite (programme de prêts à l’habitation)</a:t>
            </a:r>
          </a:p>
          <a:p>
            <a:pPr marL="693990" lvl="1" indent="-285750" defTabSz="685800">
              <a:spcBef>
                <a:spcPts val="0"/>
              </a:spcBef>
              <a:spcAft>
                <a:spcPts val="450"/>
              </a:spcAft>
              <a:buClr>
                <a:schemeClr val="tx1"/>
              </a:buClr>
              <a:buSzTx/>
              <a:defRPr/>
            </a:pPr>
            <a:r>
              <a:rPr lang="fr-CA" sz="1600" dirty="0">
                <a:latin typeface="Arial" panose="020B0604020202020204" pitchFamily="34" charset="0"/>
                <a:cs typeface="Arial" panose="020B0604020202020204" pitchFamily="34" charset="0"/>
                <a:sym typeface="Wingdings" panose="05000000000000000000" pitchFamily="2" charset="2"/>
              </a:rPr>
              <a:t>La banque</a:t>
            </a:r>
            <a:endParaRPr lang="fr-CA" sz="1600" dirty="0">
              <a:latin typeface="Arial" panose="020B0604020202020204" pitchFamily="34" charset="0"/>
              <a:ea typeface="+mn-ea"/>
              <a:cs typeface="Arial" panose="020B0604020202020204" pitchFamily="34" charset="0"/>
              <a:sym typeface="Wingdings" panose="05000000000000000000" pitchFamily="2" charset="2"/>
            </a:endParaRPr>
          </a:p>
        </p:txBody>
      </p:sp>
      <p:sp>
        <p:nvSpPr>
          <p:cNvPr id="7" name="Titre 5">
            <a:extLst>
              <a:ext uri="{FF2B5EF4-FFF2-40B4-BE49-F238E27FC236}">
                <a16:creationId xmlns:a16="http://schemas.microsoft.com/office/drawing/2014/main" id="{07F8BD0A-0643-B54D-9031-DD7C7B94BC1E}"/>
              </a:ext>
            </a:extLst>
          </p:cNvPr>
          <p:cNvSpPr>
            <a:spLocks noGrp="1"/>
          </p:cNvSpPr>
          <p:nvPr>
            <p:ph type="title"/>
          </p:nvPr>
        </p:nvSpPr>
        <p:spPr>
          <a:xfrm>
            <a:off x="180000" y="248400"/>
            <a:ext cx="8186400" cy="744737"/>
          </a:xfrm>
        </p:spPr>
        <p:txBody>
          <a:bodyPr/>
          <a:lstStyle/>
          <a:p>
            <a:r>
              <a:rPr lang="fr-CA" sz="2340" dirty="0">
                <a:solidFill>
                  <a:schemeClr val="accent2"/>
                </a:solidFill>
              </a:rPr>
              <a:t>Lecture active</a:t>
            </a:r>
          </a:p>
        </p:txBody>
      </p:sp>
      <p:sp>
        <p:nvSpPr>
          <p:cNvPr id="8" name="ZoneTexte 7">
            <a:extLst>
              <a:ext uri="{FF2B5EF4-FFF2-40B4-BE49-F238E27FC236}">
                <a16:creationId xmlns:a16="http://schemas.microsoft.com/office/drawing/2014/main" id="{A9D92F42-315E-9D41-940A-6AEF9F3F7D48}"/>
              </a:ext>
            </a:extLst>
          </p:cNvPr>
          <p:cNvSpPr txBox="1"/>
          <p:nvPr/>
        </p:nvSpPr>
        <p:spPr>
          <a:xfrm>
            <a:off x="3034454" y="4924807"/>
            <a:ext cx="2015848" cy="273845"/>
          </a:xfrm>
          <a:prstGeom prst="rect">
            <a:avLst/>
          </a:prstGeom>
        </p:spPr>
        <p:txBody>
          <a:bodyPr vert="horz" wrap="square" lIns="91440" tIns="45720" rIns="91440" bIns="45720" rtlCol="0">
            <a:normAutofit fontScale="92500"/>
          </a:bodyPr>
          <a:lstStyle/>
          <a:p>
            <a:pPr>
              <a:buClr>
                <a:schemeClr val="accent2"/>
              </a:buClr>
              <a:buSzPct val="125000"/>
            </a:pPr>
            <a:r>
              <a:rPr lang="fr-CA" sz="900" dirty="0"/>
              <a:t>Par Laurence Daoust – HEC Montréal</a:t>
            </a:r>
          </a:p>
        </p:txBody>
      </p:sp>
      <p:sp>
        <p:nvSpPr>
          <p:cNvPr id="5" name="Espace réservé du numéro de diapositive 4">
            <a:extLst>
              <a:ext uri="{FF2B5EF4-FFF2-40B4-BE49-F238E27FC236}">
                <a16:creationId xmlns:a16="http://schemas.microsoft.com/office/drawing/2014/main" id="{BFF5F258-3A64-6D47-A1C8-692688E10F53}"/>
              </a:ext>
            </a:extLst>
          </p:cNvPr>
          <p:cNvSpPr txBox="1">
            <a:spLocks/>
          </p:cNvSpPr>
          <p:nvPr/>
        </p:nvSpPr>
        <p:spPr>
          <a:xfrm>
            <a:off x="8545786" y="4650963"/>
            <a:ext cx="413375" cy="273844"/>
          </a:xfr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B5DEC05-AB38-4F58-9609-FFF4AA167839}" type="slidenum">
              <a:rPr lang="fr-CA" sz="1050" smtClean="0"/>
              <a:pPr/>
              <a:t>19</a:t>
            </a:fld>
            <a:endParaRPr lang="fr-CA" sz="1050" dirty="0"/>
          </a:p>
        </p:txBody>
      </p:sp>
    </p:spTree>
    <p:extLst>
      <p:ext uri="{BB962C8B-B14F-4D97-AF65-F5344CB8AC3E}">
        <p14:creationId xmlns:p14="http://schemas.microsoft.com/office/powerpoint/2010/main" val="41865183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80773" y="248071"/>
            <a:ext cx="8186400" cy="744737"/>
          </a:xfrm>
        </p:spPr>
        <p:txBody>
          <a:bodyPr/>
          <a:lstStyle/>
          <a:p>
            <a:r>
              <a:rPr lang="fr-CA" dirty="0"/>
              <a:t>Lecture active</a:t>
            </a:r>
          </a:p>
        </p:txBody>
      </p:sp>
      <p:sp>
        <p:nvSpPr>
          <p:cNvPr id="3" name="Espace réservé du pied de page 2"/>
          <p:cNvSpPr>
            <a:spLocks noGrp="1"/>
          </p:cNvSpPr>
          <p:nvPr>
            <p:ph type="ftr" sz="quarter" idx="4294967295"/>
          </p:nvPr>
        </p:nvSpPr>
        <p:spPr/>
        <p:txBody>
          <a:bodyPr/>
          <a:lstStyle/>
          <a:p>
            <a:endParaRPr lang="fr-CA" dirty="0"/>
          </a:p>
        </p:txBody>
      </p:sp>
      <p:sp>
        <p:nvSpPr>
          <p:cNvPr id="4" name="Espace réservé du contenu 3"/>
          <p:cNvSpPr>
            <a:spLocks noGrp="1"/>
          </p:cNvSpPr>
          <p:nvPr>
            <p:ph sz="quarter" idx="1"/>
          </p:nvPr>
        </p:nvSpPr>
        <p:spPr/>
        <p:txBody>
          <a:bodyPr>
            <a:normAutofit/>
          </a:bodyPr>
          <a:lstStyle/>
          <a:p>
            <a:pPr marL="285750" indent="-285750">
              <a:buClr>
                <a:schemeClr val="tx1"/>
              </a:buClr>
              <a:buFont typeface="Arial" panose="020B0604020202020204" pitchFamily="34" charset="0"/>
              <a:buChar char="•"/>
            </a:pPr>
            <a:r>
              <a:rPr lang="fr-CA" b="1" dirty="0"/>
              <a:t>Contexte</a:t>
            </a:r>
          </a:p>
          <a:p>
            <a:pPr marL="693990" lvl="1" indent="-285750">
              <a:buClr>
                <a:schemeClr val="tx1"/>
              </a:buClr>
            </a:pPr>
            <a:r>
              <a:rPr lang="fr-CA" dirty="0"/>
              <a:t>Construction de bâtiments</a:t>
            </a:r>
          </a:p>
          <a:p>
            <a:pPr marL="693990" lvl="1" indent="-285750">
              <a:buClr>
                <a:schemeClr val="tx1"/>
              </a:buClr>
            </a:pPr>
            <a:r>
              <a:rPr lang="fr-CA" dirty="0"/>
              <a:t>Expansion récente dans le sud-ouest américain</a:t>
            </a:r>
          </a:p>
          <a:p>
            <a:pPr marL="693990" lvl="1" indent="-285750">
              <a:buClr>
                <a:schemeClr val="tx1"/>
              </a:buClr>
            </a:pPr>
            <a:r>
              <a:rPr lang="fr-CA" dirty="0"/>
              <a:t>Brevet pour des fondations (Canada vs. É-U)</a:t>
            </a:r>
          </a:p>
          <a:p>
            <a:pPr marL="693990" lvl="1" indent="-285750">
              <a:buClr>
                <a:schemeClr val="tx1"/>
              </a:buClr>
            </a:pPr>
            <a:r>
              <a:rPr lang="fr-CA" dirty="0"/>
              <a:t>Nouveaux programmes : </a:t>
            </a:r>
          </a:p>
          <a:p>
            <a:pPr marL="962910" lvl="2" indent="-285750"/>
            <a:r>
              <a:rPr lang="fr-CA" dirty="0"/>
              <a:t>« Mettez-vous dans la peau de vos collègues »</a:t>
            </a:r>
          </a:p>
          <a:p>
            <a:pPr marL="962910" lvl="2" indent="-285750"/>
            <a:r>
              <a:rPr lang="fr-CA" dirty="0"/>
              <a:t>Prêts à l’habitation pour les employés</a:t>
            </a:r>
          </a:p>
          <a:p>
            <a:pPr marL="693990" lvl="1" indent="-285750">
              <a:buClr>
                <a:schemeClr val="tx1"/>
              </a:buClr>
            </a:pPr>
            <a:r>
              <a:rPr lang="fr-CA" dirty="0"/>
              <a:t>Communiquer les résultats financiers à la banque, clauses restrictives</a:t>
            </a:r>
          </a:p>
          <a:p>
            <a:endParaRPr lang="fr-CA" dirty="0"/>
          </a:p>
        </p:txBody>
      </p:sp>
      <p:sp>
        <p:nvSpPr>
          <p:cNvPr id="12" name="Espace réservé du numéro de diapositive 4">
            <a:extLst>
              <a:ext uri="{FF2B5EF4-FFF2-40B4-BE49-F238E27FC236}">
                <a16:creationId xmlns:a16="http://schemas.microsoft.com/office/drawing/2014/main" id="{D2643061-0EBB-D6AA-C987-CCAF837CA55B}"/>
              </a:ext>
            </a:extLst>
          </p:cNvPr>
          <p:cNvSpPr txBox="1">
            <a:spLocks/>
          </p:cNvSpPr>
          <p:nvPr/>
        </p:nvSpPr>
        <p:spPr>
          <a:xfrm>
            <a:off x="8545786" y="4650963"/>
            <a:ext cx="413375" cy="273844"/>
          </a:xfr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B5DEC05-AB38-4F58-9609-FFF4AA167839}" type="slidenum">
              <a:rPr lang="fr-CA" sz="1050" smtClean="0"/>
              <a:pPr/>
              <a:t>20</a:t>
            </a:fld>
            <a:endParaRPr lang="fr-CA" sz="1050" dirty="0"/>
          </a:p>
        </p:txBody>
      </p:sp>
      <p:sp>
        <p:nvSpPr>
          <p:cNvPr id="13" name="ZoneTexte 12">
            <a:extLst>
              <a:ext uri="{FF2B5EF4-FFF2-40B4-BE49-F238E27FC236}">
                <a16:creationId xmlns:a16="http://schemas.microsoft.com/office/drawing/2014/main" id="{C6A2783D-50D9-9C9C-2887-CB055DA56191}"/>
              </a:ext>
            </a:extLst>
          </p:cNvPr>
          <p:cNvSpPr txBox="1"/>
          <p:nvPr/>
        </p:nvSpPr>
        <p:spPr>
          <a:xfrm>
            <a:off x="3034454" y="4924807"/>
            <a:ext cx="1747520" cy="273845"/>
          </a:xfrm>
          <a:prstGeom prst="rect">
            <a:avLst/>
          </a:prstGeom>
        </p:spPr>
        <p:txBody>
          <a:bodyPr vert="horz" wrap="square" lIns="91440" tIns="45720" rIns="91440" bIns="45720" rtlCol="0">
            <a:normAutofit fontScale="92500"/>
          </a:bodyPr>
          <a:lstStyle/>
          <a:p>
            <a:pPr>
              <a:buClr>
                <a:schemeClr val="accent2"/>
              </a:buClr>
              <a:buSzPct val="125000"/>
            </a:pPr>
            <a:r>
              <a:rPr lang="fr-CA" sz="900" dirty="0"/>
              <a:t>Par Hugo Lesley – HEC Montréal</a:t>
            </a:r>
          </a:p>
        </p:txBody>
      </p:sp>
    </p:spTree>
    <p:extLst>
      <p:ext uri="{BB962C8B-B14F-4D97-AF65-F5344CB8AC3E}">
        <p14:creationId xmlns:p14="http://schemas.microsoft.com/office/powerpoint/2010/main" val="23007836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D3EA2A3F-FDFA-98EF-7CF4-425B61B1DF15}"/>
              </a:ext>
            </a:extLst>
          </p:cNvPr>
          <p:cNvPicPr>
            <a:picLocks noChangeAspect="1"/>
          </p:cNvPicPr>
          <p:nvPr/>
        </p:nvPicPr>
        <p:blipFill>
          <a:blip r:embed="rId2"/>
          <a:stretch>
            <a:fillRect/>
          </a:stretch>
        </p:blipFill>
        <p:spPr>
          <a:xfrm>
            <a:off x="4521599" y="112780"/>
            <a:ext cx="4128107" cy="4917939"/>
          </a:xfrm>
          <a:prstGeom prst="rect">
            <a:avLst/>
          </a:prstGeom>
        </p:spPr>
      </p:pic>
      <p:sp>
        <p:nvSpPr>
          <p:cNvPr id="4" name="ZoneTexte 3">
            <a:extLst>
              <a:ext uri="{FF2B5EF4-FFF2-40B4-BE49-F238E27FC236}">
                <a16:creationId xmlns:a16="http://schemas.microsoft.com/office/drawing/2014/main" id="{1F223EB0-0F4B-3078-835D-CEA361182F6B}"/>
              </a:ext>
            </a:extLst>
          </p:cNvPr>
          <p:cNvSpPr txBox="1"/>
          <p:nvPr/>
        </p:nvSpPr>
        <p:spPr>
          <a:xfrm>
            <a:off x="494293" y="1533599"/>
            <a:ext cx="2621439" cy="1568587"/>
          </a:xfrm>
          <a:prstGeom prst="rect">
            <a:avLst/>
          </a:prstGeom>
        </p:spPr>
        <p:txBody>
          <a:bodyPr vert="horz" wrap="square" lIns="91440" tIns="45720" rIns="91440" bIns="45720" rtlCol="0">
            <a:normAutofit fontScale="92500"/>
          </a:bodyPr>
          <a:lstStyle/>
          <a:p>
            <a:pPr>
              <a:buClr>
                <a:schemeClr val="accent2"/>
              </a:buClr>
              <a:buSzPct val="125000"/>
            </a:pPr>
            <a:r>
              <a:rPr lang="fr-CA" sz="2800" dirty="0">
                <a:solidFill>
                  <a:schemeClr val="accent5">
                    <a:lumMod val="50000"/>
                  </a:schemeClr>
                </a:solidFill>
              </a:rPr>
              <a:t>Quelle est la première chose à regarder ?</a:t>
            </a:r>
          </a:p>
        </p:txBody>
      </p:sp>
      <p:sp>
        <p:nvSpPr>
          <p:cNvPr id="5" name="ZoneTexte 4">
            <a:extLst>
              <a:ext uri="{FF2B5EF4-FFF2-40B4-BE49-F238E27FC236}">
                <a16:creationId xmlns:a16="http://schemas.microsoft.com/office/drawing/2014/main" id="{BB4CDAE2-C4E6-D804-5017-48C8EB2232A2}"/>
              </a:ext>
            </a:extLst>
          </p:cNvPr>
          <p:cNvSpPr txBox="1"/>
          <p:nvPr/>
        </p:nvSpPr>
        <p:spPr>
          <a:xfrm>
            <a:off x="160151" y="4893796"/>
            <a:ext cx="1865076" cy="273845"/>
          </a:xfrm>
          <a:prstGeom prst="rect">
            <a:avLst/>
          </a:prstGeom>
        </p:spPr>
        <p:txBody>
          <a:bodyPr vert="horz" wrap="square" lIns="91440" tIns="45720" rIns="91440" bIns="45720" rtlCol="0">
            <a:normAutofit fontScale="77500" lnSpcReduction="20000"/>
          </a:bodyPr>
          <a:lstStyle/>
          <a:p>
            <a:pPr>
              <a:buClr>
                <a:schemeClr val="accent2"/>
              </a:buClr>
              <a:buSzPct val="125000"/>
            </a:pPr>
            <a:r>
              <a:rPr lang="fr-CA" sz="900" dirty="0"/>
              <a:t>Par Marc-André Nadon – HEC Montréal</a:t>
            </a:r>
          </a:p>
        </p:txBody>
      </p:sp>
    </p:spTree>
    <p:extLst>
      <p:ext uri="{BB962C8B-B14F-4D97-AF65-F5344CB8AC3E}">
        <p14:creationId xmlns:p14="http://schemas.microsoft.com/office/powerpoint/2010/main" val="39499548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gradFill>
          <a:gsLst>
            <a:gs pos="0">
              <a:schemeClr val="bg2">
                <a:tint val="40000"/>
                <a:satMod val="350000"/>
              </a:schemeClr>
            </a:gs>
            <a:gs pos="40000">
              <a:schemeClr val="bg2">
                <a:tint val="45000"/>
                <a:shade val="99000"/>
                <a:satMod val="350000"/>
              </a:schemeClr>
            </a:gs>
            <a:gs pos="100000">
              <a:schemeClr val="bg2">
                <a:shade val="20000"/>
                <a:satMod val="255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6" name="Titre 5"/>
          <p:cNvSpPr>
            <a:spLocks noGrp="1"/>
          </p:cNvSpPr>
          <p:nvPr>
            <p:ph type="title"/>
          </p:nvPr>
        </p:nvSpPr>
        <p:spPr>
          <a:xfrm>
            <a:off x="374939" y="264909"/>
            <a:ext cx="7514035" cy="581758"/>
          </a:xfrm>
        </p:spPr>
        <p:txBody>
          <a:bodyPr>
            <a:normAutofit/>
          </a:bodyPr>
          <a:lstStyle/>
          <a:p>
            <a:r>
              <a:rPr lang="fr-CA" sz="2400" dirty="0"/>
              <a:t>Lecture active</a:t>
            </a:r>
          </a:p>
        </p:txBody>
      </p:sp>
      <p:sp>
        <p:nvSpPr>
          <p:cNvPr id="7" name="Espace réservé du contenu 6"/>
          <p:cNvSpPr>
            <a:spLocks noGrp="1"/>
          </p:cNvSpPr>
          <p:nvPr>
            <p:ph idx="1"/>
          </p:nvPr>
        </p:nvSpPr>
        <p:spPr>
          <a:xfrm>
            <a:off x="516732" y="1265893"/>
            <a:ext cx="7631342" cy="3385070"/>
          </a:xfrm>
        </p:spPr>
        <p:txBody>
          <a:bodyPr>
            <a:normAutofit/>
          </a:bodyPr>
          <a:lstStyle/>
          <a:p>
            <a:pPr marL="285750" indent="-285750" algn="just">
              <a:buClr>
                <a:schemeClr val="tx1"/>
              </a:buClr>
              <a:buFont typeface="Arial" panose="020B0604020202020204" pitchFamily="34" charset="0"/>
              <a:buChar char="•"/>
            </a:pPr>
            <a:r>
              <a:rPr lang="fr-CA" b="1" dirty="0"/>
              <a:t>Les demandes (votre mandat) – page 1 du cas</a:t>
            </a:r>
          </a:p>
          <a:p>
            <a:pPr marL="693990" lvl="1" indent="-285750" algn="just">
              <a:buClr>
                <a:schemeClr val="tx1"/>
              </a:buClr>
            </a:pPr>
            <a:r>
              <a:rPr lang="fr-CA" dirty="0"/>
              <a:t>L’associé responsable de l’audit, Arthur Denis, vous dit au téléphone : « Notre client veut nous rencontrer jeudi prochain pour </a:t>
            </a:r>
            <a:r>
              <a:rPr lang="fr-CA" b="1" u="sng" dirty="0"/>
              <a:t>achever l’audit</a:t>
            </a:r>
            <a:r>
              <a:rPr lang="fr-CA" dirty="0"/>
              <a:t> de sorte que BC puisse remettre ses </a:t>
            </a:r>
            <a:r>
              <a:rPr lang="fr-CA" dirty="0" err="1"/>
              <a:t>ÉFs</a:t>
            </a:r>
            <a:r>
              <a:rPr lang="fr-CA" dirty="0"/>
              <a:t> à sa banque. À la lumière de nos discussions, </a:t>
            </a:r>
            <a:r>
              <a:rPr lang="fr-CA" b="1" u="sng" dirty="0"/>
              <a:t>je suis satisfait de la quantité de travail</a:t>
            </a:r>
            <a:r>
              <a:rPr lang="fr-CA" dirty="0"/>
              <a:t> fait sur place, mais j’aimerais voir le dossier une fois terminé. </a:t>
            </a:r>
          </a:p>
          <a:p>
            <a:pPr marL="962910" lvl="2" indent="-285750" algn="just">
              <a:buClr>
                <a:schemeClr val="tx1"/>
              </a:buClr>
            </a:pPr>
            <a:r>
              <a:rPr lang="fr-CA" dirty="0"/>
              <a:t>Veuillez préparer un mémo traitant des questions d’audit que je devrais signaler à la direction, et résumer l’incidence qu’auront ces questions sur notre rapport d’audit.</a:t>
            </a:r>
          </a:p>
          <a:p>
            <a:pPr marL="962910" lvl="2" indent="-285750" algn="just">
              <a:buClr>
                <a:schemeClr val="tx1"/>
              </a:buClr>
            </a:pPr>
            <a:r>
              <a:rPr lang="fr-CA" dirty="0"/>
              <a:t>Discutez également des problèmes comptables relevés. </a:t>
            </a:r>
          </a:p>
          <a:p>
            <a:pPr marL="962910" lvl="2" indent="-285750" algn="just">
              <a:buClr>
                <a:schemeClr val="tx1"/>
              </a:buClr>
            </a:pPr>
            <a:r>
              <a:rPr lang="fr-CA" dirty="0"/>
              <a:t>Enfin, veuillez relever tous les points importants qui, à votre avis, devraient être mentionnés dans la lettre de recommandations que nous présenterons au client. »</a:t>
            </a:r>
          </a:p>
        </p:txBody>
      </p:sp>
      <p:sp>
        <p:nvSpPr>
          <p:cNvPr id="4" name="Espace réservé du pied de page 3"/>
          <p:cNvSpPr>
            <a:spLocks noGrp="1"/>
          </p:cNvSpPr>
          <p:nvPr>
            <p:ph type="ftr" sz="quarter" idx="4294967295"/>
          </p:nvPr>
        </p:nvSpPr>
        <p:spPr/>
        <p:txBody>
          <a:bodyPr/>
          <a:lstStyle/>
          <a:p>
            <a:endParaRPr lang="fr-CA" dirty="0"/>
          </a:p>
        </p:txBody>
      </p:sp>
      <p:sp>
        <p:nvSpPr>
          <p:cNvPr id="2" name="Espace réservé du numéro de diapositive 4">
            <a:extLst>
              <a:ext uri="{FF2B5EF4-FFF2-40B4-BE49-F238E27FC236}">
                <a16:creationId xmlns:a16="http://schemas.microsoft.com/office/drawing/2014/main" id="{B82BA0A3-ABDB-6939-F5C3-A1E618A24024}"/>
              </a:ext>
            </a:extLst>
          </p:cNvPr>
          <p:cNvSpPr txBox="1">
            <a:spLocks/>
          </p:cNvSpPr>
          <p:nvPr/>
        </p:nvSpPr>
        <p:spPr>
          <a:xfrm>
            <a:off x="8545786" y="4650963"/>
            <a:ext cx="413375" cy="273844"/>
          </a:xfr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B5DEC05-AB38-4F58-9609-FFF4AA167839}" type="slidenum">
              <a:rPr lang="fr-CA" sz="1050" smtClean="0"/>
              <a:pPr/>
              <a:t>22</a:t>
            </a:fld>
            <a:endParaRPr lang="fr-CA" sz="1050" dirty="0"/>
          </a:p>
        </p:txBody>
      </p:sp>
      <p:sp>
        <p:nvSpPr>
          <p:cNvPr id="3" name="ZoneTexte 2">
            <a:extLst>
              <a:ext uri="{FF2B5EF4-FFF2-40B4-BE49-F238E27FC236}">
                <a16:creationId xmlns:a16="http://schemas.microsoft.com/office/drawing/2014/main" id="{37E7D5D9-754C-E976-1CF2-8422EB4C681B}"/>
              </a:ext>
            </a:extLst>
          </p:cNvPr>
          <p:cNvSpPr txBox="1"/>
          <p:nvPr/>
        </p:nvSpPr>
        <p:spPr>
          <a:xfrm>
            <a:off x="3034454" y="4924807"/>
            <a:ext cx="1747520" cy="273845"/>
          </a:xfrm>
          <a:prstGeom prst="rect">
            <a:avLst/>
          </a:prstGeom>
        </p:spPr>
        <p:txBody>
          <a:bodyPr vert="horz" wrap="square" lIns="91440" tIns="45720" rIns="91440" bIns="45720" rtlCol="0">
            <a:normAutofit fontScale="92500"/>
          </a:bodyPr>
          <a:lstStyle/>
          <a:p>
            <a:pPr>
              <a:buClr>
                <a:schemeClr val="accent2"/>
              </a:buClr>
              <a:buSzPct val="125000"/>
            </a:pPr>
            <a:r>
              <a:rPr lang="fr-CA" sz="900" dirty="0"/>
              <a:t>Par Hugo Lesley – HEC Montréal</a:t>
            </a:r>
          </a:p>
        </p:txBody>
      </p:sp>
    </p:spTree>
    <p:extLst>
      <p:ext uri="{BB962C8B-B14F-4D97-AF65-F5344CB8AC3E}">
        <p14:creationId xmlns:p14="http://schemas.microsoft.com/office/powerpoint/2010/main" val="41455838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pied de page 3"/>
          <p:cNvSpPr>
            <a:spLocks noGrp="1"/>
          </p:cNvSpPr>
          <p:nvPr>
            <p:ph type="ftr" sz="quarter" idx="4294967295"/>
          </p:nvPr>
        </p:nvSpPr>
        <p:spPr/>
        <p:txBody>
          <a:bodyPr/>
          <a:lstStyle/>
          <a:p>
            <a:endParaRPr lang="fr-CA" dirty="0"/>
          </a:p>
        </p:txBody>
      </p:sp>
      <p:sp>
        <p:nvSpPr>
          <p:cNvPr id="5" name="Espace réservé du contenu 4"/>
          <p:cNvSpPr>
            <a:spLocks noGrp="1"/>
          </p:cNvSpPr>
          <p:nvPr>
            <p:ph sz="quarter" idx="1"/>
          </p:nvPr>
        </p:nvSpPr>
        <p:spPr>
          <a:xfrm>
            <a:off x="975360" y="957853"/>
            <a:ext cx="7855586" cy="567923"/>
          </a:xfrm>
        </p:spPr>
        <p:txBody>
          <a:bodyPr>
            <a:noAutofit/>
          </a:bodyPr>
          <a:lstStyle/>
          <a:p>
            <a:pPr>
              <a:buNone/>
            </a:pPr>
            <a:r>
              <a:rPr lang="fr-CA" sz="3600" b="1" dirty="0">
                <a:solidFill>
                  <a:schemeClr val="accent5">
                    <a:lumMod val="50000"/>
                  </a:schemeClr>
                </a:solidFill>
              </a:rPr>
              <a:t>Deux documents à produire</a:t>
            </a:r>
          </a:p>
        </p:txBody>
      </p:sp>
      <p:sp>
        <p:nvSpPr>
          <p:cNvPr id="6" name="Rectangle 5"/>
          <p:cNvSpPr/>
          <p:nvPr/>
        </p:nvSpPr>
        <p:spPr>
          <a:xfrm>
            <a:off x="1281676" y="1834532"/>
            <a:ext cx="2768777" cy="283966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sz="2000" b="1" u="sng" dirty="0"/>
              <a:t>MÉMO</a:t>
            </a:r>
          </a:p>
          <a:p>
            <a:pPr algn="ctr"/>
            <a:endParaRPr lang="fr-CA" sz="1350" dirty="0"/>
          </a:p>
          <a:p>
            <a:pPr algn="ctr"/>
            <a:endParaRPr lang="fr-CA" sz="1350" dirty="0"/>
          </a:p>
          <a:p>
            <a:pPr algn="ctr"/>
            <a:endParaRPr lang="fr-CA" sz="1350" dirty="0"/>
          </a:p>
          <a:p>
            <a:pPr marL="257175" indent="-257175">
              <a:buFont typeface="+mj-lt"/>
              <a:buAutoNum type="arabicPeriod"/>
            </a:pPr>
            <a:r>
              <a:rPr lang="fr-CA" sz="1500" b="1" dirty="0"/>
              <a:t>Questions d’audit à signaler à la direction</a:t>
            </a:r>
          </a:p>
          <a:p>
            <a:pPr marL="257175" indent="-257175">
              <a:buFont typeface="+mj-lt"/>
              <a:buAutoNum type="arabicPeriod"/>
            </a:pPr>
            <a:endParaRPr lang="fr-CA" sz="1500" b="1" dirty="0"/>
          </a:p>
          <a:p>
            <a:pPr marL="257175" indent="-257175">
              <a:buFont typeface="+mj-lt"/>
              <a:buAutoNum type="arabicPeriod"/>
            </a:pPr>
            <a:r>
              <a:rPr lang="fr-CA" sz="1500" b="1" dirty="0"/>
              <a:t>Questions comptables</a:t>
            </a:r>
          </a:p>
          <a:p>
            <a:pPr marL="257175" indent="-257175">
              <a:buFont typeface="+mj-lt"/>
              <a:buAutoNum type="arabicPeriod"/>
            </a:pPr>
            <a:endParaRPr lang="fr-CA" sz="1500" b="1" dirty="0"/>
          </a:p>
          <a:p>
            <a:pPr marL="257175" indent="-257175">
              <a:buFont typeface="+mj-lt"/>
              <a:buAutoNum type="arabicPeriod"/>
            </a:pPr>
            <a:r>
              <a:rPr lang="fr-CA" sz="1500" b="1" dirty="0"/>
              <a:t>Incidences sur le rapport</a:t>
            </a:r>
          </a:p>
          <a:p>
            <a:pPr marL="257175" indent="-257175">
              <a:buFont typeface="+mj-lt"/>
              <a:buAutoNum type="arabicPeriod"/>
            </a:pPr>
            <a:endParaRPr lang="fr-CA" sz="1500" b="1" dirty="0"/>
          </a:p>
          <a:p>
            <a:pPr marL="257175" indent="-257175">
              <a:buFont typeface="+mj-lt"/>
              <a:buAutoNum type="arabicPeriod"/>
            </a:pPr>
            <a:endParaRPr lang="fr-CA" sz="1500" b="1" dirty="0"/>
          </a:p>
        </p:txBody>
      </p:sp>
      <p:sp>
        <p:nvSpPr>
          <p:cNvPr id="7" name="Rectangle 6"/>
          <p:cNvSpPr/>
          <p:nvPr/>
        </p:nvSpPr>
        <p:spPr>
          <a:xfrm>
            <a:off x="4777881" y="1834532"/>
            <a:ext cx="2893239" cy="283966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sz="2000" b="1" u="sng" dirty="0"/>
              <a:t>Lettre de recommandations</a:t>
            </a:r>
          </a:p>
          <a:p>
            <a:pPr algn="ctr"/>
            <a:r>
              <a:rPr lang="fr-CA" sz="1350" dirty="0"/>
              <a:t> </a:t>
            </a:r>
          </a:p>
          <a:p>
            <a:pPr algn="ctr"/>
            <a:endParaRPr lang="fr-CA" sz="1350" dirty="0"/>
          </a:p>
          <a:p>
            <a:pPr marL="257175" indent="-257175">
              <a:buFont typeface="+mj-lt"/>
              <a:buAutoNum type="arabicPeriod"/>
            </a:pPr>
            <a:r>
              <a:rPr lang="fr-CA" sz="1500" b="1" dirty="0"/>
              <a:t>Éléments importants devant être mentionnés au client </a:t>
            </a:r>
          </a:p>
          <a:p>
            <a:pPr marL="257175" indent="-257175">
              <a:buFont typeface="+mj-lt"/>
              <a:buAutoNum type="arabicPeriod"/>
            </a:pPr>
            <a:endParaRPr lang="fr-CA" sz="1500" b="1" dirty="0"/>
          </a:p>
          <a:p>
            <a:pPr marL="257175" indent="-257175">
              <a:buFont typeface="+mj-lt"/>
              <a:buAutoNum type="arabicPeriod"/>
            </a:pPr>
            <a:endParaRPr lang="fr-CA" sz="1500" b="1" dirty="0"/>
          </a:p>
          <a:p>
            <a:pPr marL="257175" indent="-257175">
              <a:buFont typeface="+mj-lt"/>
              <a:buAutoNum type="arabicPeriod"/>
            </a:pPr>
            <a:endParaRPr lang="fr-CA" sz="1500" b="1" dirty="0"/>
          </a:p>
          <a:p>
            <a:pPr marL="257175" indent="-257175">
              <a:buFont typeface="+mj-lt"/>
              <a:buAutoNum type="arabicPeriod"/>
            </a:pPr>
            <a:endParaRPr lang="fr-CA" sz="1500" b="1" dirty="0"/>
          </a:p>
        </p:txBody>
      </p:sp>
      <p:sp>
        <p:nvSpPr>
          <p:cNvPr id="2" name="Espace réservé du numéro de diapositive 4">
            <a:extLst>
              <a:ext uri="{FF2B5EF4-FFF2-40B4-BE49-F238E27FC236}">
                <a16:creationId xmlns:a16="http://schemas.microsoft.com/office/drawing/2014/main" id="{1633E073-8483-08B9-1218-4447D1D09667}"/>
              </a:ext>
            </a:extLst>
          </p:cNvPr>
          <p:cNvSpPr txBox="1">
            <a:spLocks/>
          </p:cNvSpPr>
          <p:nvPr/>
        </p:nvSpPr>
        <p:spPr>
          <a:xfrm>
            <a:off x="8545786" y="4650963"/>
            <a:ext cx="413375" cy="273844"/>
          </a:xfr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B5DEC05-AB38-4F58-9609-FFF4AA167839}" type="slidenum">
              <a:rPr lang="fr-CA" sz="1050" smtClean="0"/>
              <a:pPr/>
              <a:t>23</a:t>
            </a:fld>
            <a:endParaRPr lang="fr-CA" sz="1050" dirty="0"/>
          </a:p>
        </p:txBody>
      </p:sp>
      <p:sp>
        <p:nvSpPr>
          <p:cNvPr id="8" name="ZoneTexte 7">
            <a:extLst>
              <a:ext uri="{FF2B5EF4-FFF2-40B4-BE49-F238E27FC236}">
                <a16:creationId xmlns:a16="http://schemas.microsoft.com/office/drawing/2014/main" id="{84B0BC2D-4BE0-46EF-1374-2703327C7771}"/>
              </a:ext>
            </a:extLst>
          </p:cNvPr>
          <p:cNvSpPr txBox="1"/>
          <p:nvPr/>
        </p:nvSpPr>
        <p:spPr>
          <a:xfrm>
            <a:off x="3034454" y="4924807"/>
            <a:ext cx="1747520" cy="273845"/>
          </a:xfrm>
          <a:prstGeom prst="rect">
            <a:avLst/>
          </a:prstGeom>
        </p:spPr>
        <p:txBody>
          <a:bodyPr vert="horz" wrap="square" lIns="91440" tIns="45720" rIns="91440" bIns="45720" rtlCol="0">
            <a:normAutofit fontScale="92500"/>
          </a:bodyPr>
          <a:lstStyle/>
          <a:p>
            <a:pPr>
              <a:buClr>
                <a:schemeClr val="accent2"/>
              </a:buClr>
              <a:buSzPct val="125000"/>
            </a:pPr>
            <a:r>
              <a:rPr lang="fr-CA" sz="900" dirty="0"/>
              <a:t>Par Hugo Lesley – HEC Montréal</a:t>
            </a:r>
          </a:p>
        </p:txBody>
      </p:sp>
    </p:spTree>
    <p:extLst>
      <p:ext uri="{BB962C8B-B14F-4D97-AF65-F5344CB8AC3E}">
        <p14:creationId xmlns:p14="http://schemas.microsoft.com/office/powerpoint/2010/main" val="26558365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85288" y="370173"/>
            <a:ext cx="4766020" cy="462948"/>
          </a:xfrm>
        </p:spPr>
        <p:txBody>
          <a:bodyPr>
            <a:normAutofit/>
          </a:bodyPr>
          <a:lstStyle/>
          <a:p>
            <a:r>
              <a:rPr lang="fr-CA" dirty="0"/>
              <a:t>Éléments liés à l’audit</a:t>
            </a:r>
          </a:p>
        </p:txBody>
      </p:sp>
      <p:sp>
        <p:nvSpPr>
          <p:cNvPr id="3" name="Espace réservé du pied de page 2"/>
          <p:cNvSpPr>
            <a:spLocks noGrp="1"/>
          </p:cNvSpPr>
          <p:nvPr>
            <p:ph type="ftr" sz="quarter" idx="4294967295"/>
          </p:nvPr>
        </p:nvSpPr>
        <p:spPr/>
        <p:txBody>
          <a:bodyPr/>
          <a:lstStyle/>
          <a:p>
            <a:endParaRPr lang="fr-CA" dirty="0"/>
          </a:p>
        </p:txBody>
      </p:sp>
      <p:sp>
        <p:nvSpPr>
          <p:cNvPr id="4" name="Espace réservé du contenu 3"/>
          <p:cNvSpPr>
            <a:spLocks noGrp="1"/>
          </p:cNvSpPr>
          <p:nvPr>
            <p:ph sz="quarter" idx="1"/>
          </p:nvPr>
        </p:nvSpPr>
        <p:spPr>
          <a:xfrm>
            <a:off x="286886" y="1199473"/>
            <a:ext cx="7894269" cy="3725334"/>
          </a:xfrm>
        </p:spPr>
        <p:txBody>
          <a:bodyPr>
            <a:normAutofit/>
          </a:bodyPr>
          <a:lstStyle/>
          <a:p>
            <a:pPr marL="285750" indent="-285750">
              <a:buClr>
                <a:schemeClr val="tx1"/>
              </a:buClr>
              <a:buFont typeface="Arial" panose="020B0604020202020204" pitchFamily="34" charset="0"/>
              <a:buChar char="•"/>
            </a:pPr>
            <a:r>
              <a:rPr lang="fr-CA" dirty="0"/>
              <a:t>Reconduction de mandat</a:t>
            </a:r>
          </a:p>
          <a:p>
            <a:pPr marL="285750" indent="-285750">
              <a:buClr>
                <a:schemeClr val="tx1"/>
              </a:buClr>
              <a:buFont typeface="Arial" panose="020B0604020202020204" pitchFamily="34" charset="0"/>
              <a:buChar char="•"/>
            </a:pPr>
            <a:r>
              <a:rPr lang="fr-CA" dirty="0"/>
              <a:t>Le risque de la mission est passé de moyen à ÉLEVÉ</a:t>
            </a:r>
          </a:p>
          <a:p>
            <a:pPr marL="285750" indent="-285750">
              <a:buClr>
                <a:schemeClr val="tx1"/>
              </a:buClr>
              <a:buFont typeface="Arial" panose="020B0604020202020204" pitchFamily="34" charset="0"/>
              <a:buChar char="•"/>
            </a:pPr>
            <a:r>
              <a:rPr lang="fr-CA" dirty="0"/>
              <a:t>Instabilité du marché résidentiel</a:t>
            </a:r>
          </a:p>
          <a:p>
            <a:pPr marL="285750" indent="-285750">
              <a:buClr>
                <a:schemeClr val="tx1"/>
              </a:buClr>
              <a:buFont typeface="Arial" panose="020B0604020202020204" pitchFamily="34" charset="0"/>
              <a:buChar char="•"/>
            </a:pPr>
            <a:r>
              <a:rPr lang="fr-CA" dirty="0"/>
              <a:t>Crise du crédit</a:t>
            </a:r>
          </a:p>
          <a:p>
            <a:pPr marL="285750" indent="-285750">
              <a:buClr>
                <a:schemeClr val="tx1"/>
              </a:buClr>
              <a:buFont typeface="Arial" panose="020B0604020202020204" pitchFamily="34" charset="0"/>
              <a:buChar char="•"/>
            </a:pPr>
            <a:r>
              <a:rPr lang="fr-CA" dirty="0"/>
              <a:t>Poste de contrôleur vacant</a:t>
            </a:r>
          </a:p>
          <a:p>
            <a:pPr marL="285750" indent="-285750">
              <a:buClr>
                <a:schemeClr val="tx1"/>
              </a:buClr>
              <a:buFont typeface="Arial" panose="020B0604020202020204" pitchFamily="34" charset="0"/>
              <a:buChar char="•"/>
            </a:pPr>
            <a:r>
              <a:rPr lang="fr-CA" dirty="0"/>
              <a:t>Hausse du taux d’intérêt (BC plus risquée)</a:t>
            </a:r>
          </a:p>
          <a:p>
            <a:pPr marL="285750" indent="-285750">
              <a:buClr>
                <a:schemeClr val="tx1"/>
              </a:buClr>
              <a:buFont typeface="Arial" panose="020B0604020202020204" pitchFamily="34" charset="0"/>
              <a:buChar char="•"/>
            </a:pPr>
            <a:r>
              <a:rPr lang="fr-CA" dirty="0"/>
              <a:t>Clauses restrictives </a:t>
            </a:r>
          </a:p>
          <a:p>
            <a:pPr marL="693990" lvl="1" indent="-285750"/>
            <a:r>
              <a:rPr lang="fr-CA" dirty="0"/>
              <a:t>Ligne de crédit d’exploitation limitée à 80% des comptes clients + 50% des stocks + 30% des TEC</a:t>
            </a:r>
          </a:p>
          <a:p>
            <a:pPr marL="693990" lvl="1" indent="-285750"/>
            <a:r>
              <a:rPr lang="fr-CA" dirty="0" err="1"/>
              <a:t>FdR</a:t>
            </a:r>
            <a:r>
              <a:rPr lang="fr-CA" dirty="0"/>
              <a:t> &gt; 1,35</a:t>
            </a:r>
          </a:p>
          <a:p>
            <a:pPr marL="285750" indent="-285750">
              <a:buClr>
                <a:schemeClr val="tx1"/>
              </a:buClr>
              <a:buFont typeface="Arial" panose="020B0604020202020204" pitchFamily="34" charset="0"/>
              <a:buChar char="•"/>
            </a:pPr>
            <a:r>
              <a:rPr lang="fr-CA" dirty="0"/>
              <a:t>Chef des finances obstiné</a:t>
            </a:r>
          </a:p>
        </p:txBody>
      </p:sp>
      <p:sp>
        <p:nvSpPr>
          <p:cNvPr id="6" name="Espace réservé du numéro de diapositive 4">
            <a:extLst>
              <a:ext uri="{FF2B5EF4-FFF2-40B4-BE49-F238E27FC236}">
                <a16:creationId xmlns:a16="http://schemas.microsoft.com/office/drawing/2014/main" id="{FE301C26-6B81-C082-6346-B6144FC1ADA2}"/>
              </a:ext>
            </a:extLst>
          </p:cNvPr>
          <p:cNvSpPr txBox="1">
            <a:spLocks/>
          </p:cNvSpPr>
          <p:nvPr/>
        </p:nvSpPr>
        <p:spPr>
          <a:xfrm>
            <a:off x="8545786" y="4650963"/>
            <a:ext cx="413375" cy="273844"/>
          </a:xfr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B5DEC05-AB38-4F58-9609-FFF4AA167839}" type="slidenum">
              <a:rPr lang="fr-CA" sz="1050" smtClean="0"/>
              <a:pPr/>
              <a:t>24</a:t>
            </a:fld>
            <a:endParaRPr lang="fr-CA" sz="1050" dirty="0"/>
          </a:p>
        </p:txBody>
      </p:sp>
      <p:sp>
        <p:nvSpPr>
          <p:cNvPr id="8" name="ZoneTexte 7">
            <a:extLst>
              <a:ext uri="{FF2B5EF4-FFF2-40B4-BE49-F238E27FC236}">
                <a16:creationId xmlns:a16="http://schemas.microsoft.com/office/drawing/2014/main" id="{0A02E371-D4B4-852E-E9C8-58EFF9989EE2}"/>
              </a:ext>
            </a:extLst>
          </p:cNvPr>
          <p:cNvSpPr txBox="1"/>
          <p:nvPr/>
        </p:nvSpPr>
        <p:spPr>
          <a:xfrm>
            <a:off x="3034454" y="4924807"/>
            <a:ext cx="1747520" cy="273845"/>
          </a:xfrm>
          <a:prstGeom prst="rect">
            <a:avLst/>
          </a:prstGeom>
        </p:spPr>
        <p:txBody>
          <a:bodyPr vert="horz" wrap="square" lIns="91440" tIns="45720" rIns="91440" bIns="45720" rtlCol="0">
            <a:normAutofit fontScale="92500"/>
          </a:bodyPr>
          <a:lstStyle/>
          <a:p>
            <a:pPr>
              <a:buClr>
                <a:schemeClr val="accent2"/>
              </a:buClr>
              <a:buSzPct val="125000"/>
            </a:pPr>
            <a:r>
              <a:rPr lang="fr-CA" sz="900" dirty="0"/>
              <a:t>Par Hugo Lesley – HEC Montréal</a:t>
            </a:r>
          </a:p>
        </p:txBody>
      </p:sp>
    </p:spTree>
    <p:extLst>
      <p:ext uri="{BB962C8B-B14F-4D97-AF65-F5344CB8AC3E}">
        <p14:creationId xmlns:p14="http://schemas.microsoft.com/office/powerpoint/2010/main" val="24691277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p:cTn id="7" dur="500" fill="hold"/>
                                        <p:tgtEl>
                                          <p:spTgt spid="4">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4">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4">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4">
                                            <p:txEl>
                                              <p:pRg st="1" end="1"/>
                                            </p:txEl>
                                          </p:spTgt>
                                        </p:tgtEl>
                                        <p:attrNameLst>
                                          <p:attrName>style.visibility</p:attrName>
                                        </p:attrNameLst>
                                      </p:cBhvr>
                                      <p:to>
                                        <p:strVal val="visible"/>
                                      </p:to>
                                    </p:set>
                                    <p:anim calcmode="lin" valueType="num">
                                      <p:cBhvr>
                                        <p:cTn id="14" dur="500" fill="hold"/>
                                        <p:tgtEl>
                                          <p:spTgt spid="4">
                                            <p:txEl>
                                              <p:pRg st="1" end="1"/>
                                            </p:txEl>
                                          </p:spTgt>
                                        </p:tgtEl>
                                        <p:attrNameLst>
                                          <p:attrName>ppt_w</p:attrName>
                                        </p:attrNameLst>
                                      </p:cBhvr>
                                      <p:tavLst>
                                        <p:tav tm="0">
                                          <p:val>
                                            <p:fltVal val="0"/>
                                          </p:val>
                                        </p:tav>
                                        <p:tav tm="100000">
                                          <p:val>
                                            <p:strVal val="#ppt_w"/>
                                          </p:val>
                                        </p:tav>
                                      </p:tavLst>
                                    </p:anim>
                                    <p:anim calcmode="lin" valueType="num">
                                      <p:cBhvr>
                                        <p:cTn id="15" dur="500" fill="hold"/>
                                        <p:tgtEl>
                                          <p:spTgt spid="4">
                                            <p:txEl>
                                              <p:pRg st="1" end="1"/>
                                            </p:txEl>
                                          </p:spTgt>
                                        </p:tgtEl>
                                        <p:attrNameLst>
                                          <p:attrName>ppt_h</p:attrName>
                                        </p:attrNameLst>
                                      </p:cBhvr>
                                      <p:tavLst>
                                        <p:tav tm="0">
                                          <p:val>
                                            <p:fltVal val="0"/>
                                          </p:val>
                                        </p:tav>
                                        <p:tav tm="100000">
                                          <p:val>
                                            <p:strVal val="#ppt_h"/>
                                          </p:val>
                                        </p:tav>
                                      </p:tavLst>
                                    </p:anim>
                                    <p:animEffect transition="in" filter="fade">
                                      <p:cBhvr>
                                        <p:cTn id="16" dur="500"/>
                                        <p:tgtEl>
                                          <p:spTgt spid="4">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4">
                                            <p:txEl>
                                              <p:pRg st="2" end="2"/>
                                            </p:txEl>
                                          </p:spTgt>
                                        </p:tgtEl>
                                        <p:attrNameLst>
                                          <p:attrName>style.visibility</p:attrName>
                                        </p:attrNameLst>
                                      </p:cBhvr>
                                      <p:to>
                                        <p:strVal val="visible"/>
                                      </p:to>
                                    </p:set>
                                    <p:anim calcmode="lin" valueType="num">
                                      <p:cBhvr>
                                        <p:cTn id="21" dur="500" fill="hold"/>
                                        <p:tgtEl>
                                          <p:spTgt spid="4">
                                            <p:txEl>
                                              <p:pRg st="2" end="2"/>
                                            </p:txEl>
                                          </p:spTgt>
                                        </p:tgtEl>
                                        <p:attrNameLst>
                                          <p:attrName>ppt_w</p:attrName>
                                        </p:attrNameLst>
                                      </p:cBhvr>
                                      <p:tavLst>
                                        <p:tav tm="0">
                                          <p:val>
                                            <p:fltVal val="0"/>
                                          </p:val>
                                        </p:tav>
                                        <p:tav tm="100000">
                                          <p:val>
                                            <p:strVal val="#ppt_w"/>
                                          </p:val>
                                        </p:tav>
                                      </p:tavLst>
                                    </p:anim>
                                    <p:anim calcmode="lin" valueType="num">
                                      <p:cBhvr>
                                        <p:cTn id="22" dur="500" fill="hold"/>
                                        <p:tgtEl>
                                          <p:spTgt spid="4">
                                            <p:txEl>
                                              <p:pRg st="2" end="2"/>
                                            </p:txEl>
                                          </p:spTgt>
                                        </p:tgtEl>
                                        <p:attrNameLst>
                                          <p:attrName>ppt_h</p:attrName>
                                        </p:attrNameLst>
                                      </p:cBhvr>
                                      <p:tavLst>
                                        <p:tav tm="0">
                                          <p:val>
                                            <p:fltVal val="0"/>
                                          </p:val>
                                        </p:tav>
                                        <p:tav tm="100000">
                                          <p:val>
                                            <p:strVal val="#ppt_h"/>
                                          </p:val>
                                        </p:tav>
                                      </p:tavLst>
                                    </p:anim>
                                    <p:animEffect transition="in" filter="fade">
                                      <p:cBhvr>
                                        <p:cTn id="23" dur="500"/>
                                        <p:tgtEl>
                                          <p:spTgt spid="4">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nodeType="clickEffect">
                                  <p:stCondLst>
                                    <p:cond delay="0"/>
                                  </p:stCondLst>
                                  <p:childTnLst>
                                    <p:set>
                                      <p:cBhvr>
                                        <p:cTn id="27" dur="1" fill="hold">
                                          <p:stCondLst>
                                            <p:cond delay="0"/>
                                          </p:stCondLst>
                                        </p:cTn>
                                        <p:tgtEl>
                                          <p:spTgt spid="4">
                                            <p:txEl>
                                              <p:pRg st="3" end="3"/>
                                            </p:txEl>
                                          </p:spTgt>
                                        </p:tgtEl>
                                        <p:attrNameLst>
                                          <p:attrName>style.visibility</p:attrName>
                                        </p:attrNameLst>
                                      </p:cBhvr>
                                      <p:to>
                                        <p:strVal val="visible"/>
                                      </p:to>
                                    </p:set>
                                    <p:anim calcmode="lin" valueType="num">
                                      <p:cBhvr>
                                        <p:cTn id="28" dur="500" fill="hold"/>
                                        <p:tgtEl>
                                          <p:spTgt spid="4">
                                            <p:txEl>
                                              <p:pRg st="3" end="3"/>
                                            </p:txEl>
                                          </p:spTgt>
                                        </p:tgtEl>
                                        <p:attrNameLst>
                                          <p:attrName>ppt_w</p:attrName>
                                        </p:attrNameLst>
                                      </p:cBhvr>
                                      <p:tavLst>
                                        <p:tav tm="0">
                                          <p:val>
                                            <p:fltVal val="0"/>
                                          </p:val>
                                        </p:tav>
                                        <p:tav tm="100000">
                                          <p:val>
                                            <p:strVal val="#ppt_w"/>
                                          </p:val>
                                        </p:tav>
                                      </p:tavLst>
                                    </p:anim>
                                    <p:anim calcmode="lin" valueType="num">
                                      <p:cBhvr>
                                        <p:cTn id="29" dur="500" fill="hold"/>
                                        <p:tgtEl>
                                          <p:spTgt spid="4">
                                            <p:txEl>
                                              <p:pRg st="3" end="3"/>
                                            </p:txEl>
                                          </p:spTgt>
                                        </p:tgtEl>
                                        <p:attrNameLst>
                                          <p:attrName>ppt_h</p:attrName>
                                        </p:attrNameLst>
                                      </p:cBhvr>
                                      <p:tavLst>
                                        <p:tav tm="0">
                                          <p:val>
                                            <p:fltVal val="0"/>
                                          </p:val>
                                        </p:tav>
                                        <p:tav tm="100000">
                                          <p:val>
                                            <p:strVal val="#ppt_h"/>
                                          </p:val>
                                        </p:tav>
                                      </p:tavLst>
                                    </p:anim>
                                    <p:animEffect transition="in" filter="fade">
                                      <p:cBhvr>
                                        <p:cTn id="30" dur="500"/>
                                        <p:tgtEl>
                                          <p:spTgt spid="4">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nodeType="clickEffect">
                                  <p:stCondLst>
                                    <p:cond delay="0"/>
                                  </p:stCondLst>
                                  <p:childTnLst>
                                    <p:set>
                                      <p:cBhvr>
                                        <p:cTn id="34" dur="1" fill="hold">
                                          <p:stCondLst>
                                            <p:cond delay="0"/>
                                          </p:stCondLst>
                                        </p:cTn>
                                        <p:tgtEl>
                                          <p:spTgt spid="4">
                                            <p:txEl>
                                              <p:pRg st="4" end="4"/>
                                            </p:txEl>
                                          </p:spTgt>
                                        </p:tgtEl>
                                        <p:attrNameLst>
                                          <p:attrName>style.visibility</p:attrName>
                                        </p:attrNameLst>
                                      </p:cBhvr>
                                      <p:to>
                                        <p:strVal val="visible"/>
                                      </p:to>
                                    </p:set>
                                    <p:anim calcmode="lin" valueType="num">
                                      <p:cBhvr>
                                        <p:cTn id="35" dur="500" fill="hold"/>
                                        <p:tgtEl>
                                          <p:spTgt spid="4">
                                            <p:txEl>
                                              <p:pRg st="4" end="4"/>
                                            </p:txEl>
                                          </p:spTgt>
                                        </p:tgtEl>
                                        <p:attrNameLst>
                                          <p:attrName>ppt_w</p:attrName>
                                        </p:attrNameLst>
                                      </p:cBhvr>
                                      <p:tavLst>
                                        <p:tav tm="0">
                                          <p:val>
                                            <p:fltVal val="0"/>
                                          </p:val>
                                        </p:tav>
                                        <p:tav tm="100000">
                                          <p:val>
                                            <p:strVal val="#ppt_w"/>
                                          </p:val>
                                        </p:tav>
                                      </p:tavLst>
                                    </p:anim>
                                    <p:anim calcmode="lin" valueType="num">
                                      <p:cBhvr>
                                        <p:cTn id="36" dur="500" fill="hold"/>
                                        <p:tgtEl>
                                          <p:spTgt spid="4">
                                            <p:txEl>
                                              <p:pRg st="4" end="4"/>
                                            </p:txEl>
                                          </p:spTgt>
                                        </p:tgtEl>
                                        <p:attrNameLst>
                                          <p:attrName>ppt_h</p:attrName>
                                        </p:attrNameLst>
                                      </p:cBhvr>
                                      <p:tavLst>
                                        <p:tav tm="0">
                                          <p:val>
                                            <p:fltVal val="0"/>
                                          </p:val>
                                        </p:tav>
                                        <p:tav tm="100000">
                                          <p:val>
                                            <p:strVal val="#ppt_h"/>
                                          </p:val>
                                        </p:tav>
                                      </p:tavLst>
                                    </p:anim>
                                    <p:animEffect transition="in" filter="fade">
                                      <p:cBhvr>
                                        <p:cTn id="37" dur="500"/>
                                        <p:tgtEl>
                                          <p:spTgt spid="4">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3" presetClass="entr" presetSubtype="16" fill="hold" nodeType="clickEffect">
                                  <p:stCondLst>
                                    <p:cond delay="0"/>
                                  </p:stCondLst>
                                  <p:childTnLst>
                                    <p:set>
                                      <p:cBhvr>
                                        <p:cTn id="41" dur="1" fill="hold">
                                          <p:stCondLst>
                                            <p:cond delay="0"/>
                                          </p:stCondLst>
                                        </p:cTn>
                                        <p:tgtEl>
                                          <p:spTgt spid="4">
                                            <p:txEl>
                                              <p:pRg st="5" end="5"/>
                                            </p:txEl>
                                          </p:spTgt>
                                        </p:tgtEl>
                                        <p:attrNameLst>
                                          <p:attrName>style.visibility</p:attrName>
                                        </p:attrNameLst>
                                      </p:cBhvr>
                                      <p:to>
                                        <p:strVal val="visible"/>
                                      </p:to>
                                    </p:set>
                                    <p:anim calcmode="lin" valueType="num">
                                      <p:cBhvr>
                                        <p:cTn id="42" dur="500" fill="hold"/>
                                        <p:tgtEl>
                                          <p:spTgt spid="4">
                                            <p:txEl>
                                              <p:pRg st="5" end="5"/>
                                            </p:txEl>
                                          </p:spTgt>
                                        </p:tgtEl>
                                        <p:attrNameLst>
                                          <p:attrName>ppt_w</p:attrName>
                                        </p:attrNameLst>
                                      </p:cBhvr>
                                      <p:tavLst>
                                        <p:tav tm="0">
                                          <p:val>
                                            <p:fltVal val="0"/>
                                          </p:val>
                                        </p:tav>
                                        <p:tav tm="100000">
                                          <p:val>
                                            <p:strVal val="#ppt_w"/>
                                          </p:val>
                                        </p:tav>
                                      </p:tavLst>
                                    </p:anim>
                                    <p:anim calcmode="lin" valueType="num">
                                      <p:cBhvr>
                                        <p:cTn id="43" dur="500" fill="hold"/>
                                        <p:tgtEl>
                                          <p:spTgt spid="4">
                                            <p:txEl>
                                              <p:pRg st="5" end="5"/>
                                            </p:txEl>
                                          </p:spTgt>
                                        </p:tgtEl>
                                        <p:attrNameLst>
                                          <p:attrName>ppt_h</p:attrName>
                                        </p:attrNameLst>
                                      </p:cBhvr>
                                      <p:tavLst>
                                        <p:tav tm="0">
                                          <p:val>
                                            <p:fltVal val="0"/>
                                          </p:val>
                                        </p:tav>
                                        <p:tav tm="100000">
                                          <p:val>
                                            <p:strVal val="#ppt_h"/>
                                          </p:val>
                                        </p:tav>
                                      </p:tavLst>
                                    </p:anim>
                                    <p:animEffect transition="in" filter="fade">
                                      <p:cBhvr>
                                        <p:cTn id="44" dur="500"/>
                                        <p:tgtEl>
                                          <p:spTgt spid="4">
                                            <p:txEl>
                                              <p:pRg st="5" end="5"/>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53" presetClass="entr" presetSubtype="16" fill="hold" nodeType="clickEffect">
                                  <p:stCondLst>
                                    <p:cond delay="0"/>
                                  </p:stCondLst>
                                  <p:childTnLst>
                                    <p:set>
                                      <p:cBhvr>
                                        <p:cTn id="48" dur="1" fill="hold">
                                          <p:stCondLst>
                                            <p:cond delay="0"/>
                                          </p:stCondLst>
                                        </p:cTn>
                                        <p:tgtEl>
                                          <p:spTgt spid="4">
                                            <p:txEl>
                                              <p:pRg st="6" end="6"/>
                                            </p:txEl>
                                          </p:spTgt>
                                        </p:tgtEl>
                                        <p:attrNameLst>
                                          <p:attrName>style.visibility</p:attrName>
                                        </p:attrNameLst>
                                      </p:cBhvr>
                                      <p:to>
                                        <p:strVal val="visible"/>
                                      </p:to>
                                    </p:set>
                                    <p:anim calcmode="lin" valueType="num">
                                      <p:cBhvr>
                                        <p:cTn id="49" dur="500" fill="hold"/>
                                        <p:tgtEl>
                                          <p:spTgt spid="4">
                                            <p:txEl>
                                              <p:pRg st="6" end="6"/>
                                            </p:txEl>
                                          </p:spTgt>
                                        </p:tgtEl>
                                        <p:attrNameLst>
                                          <p:attrName>ppt_w</p:attrName>
                                        </p:attrNameLst>
                                      </p:cBhvr>
                                      <p:tavLst>
                                        <p:tav tm="0">
                                          <p:val>
                                            <p:fltVal val="0"/>
                                          </p:val>
                                        </p:tav>
                                        <p:tav tm="100000">
                                          <p:val>
                                            <p:strVal val="#ppt_w"/>
                                          </p:val>
                                        </p:tav>
                                      </p:tavLst>
                                    </p:anim>
                                    <p:anim calcmode="lin" valueType="num">
                                      <p:cBhvr>
                                        <p:cTn id="50" dur="500" fill="hold"/>
                                        <p:tgtEl>
                                          <p:spTgt spid="4">
                                            <p:txEl>
                                              <p:pRg st="6" end="6"/>
                                            </p:txEl>
                                          </p:spTgt>
                                        </p:tgtEl>
                                        <p:attrNameLst>
                                          <p:attrName>ppt_h</p:attrName>
                                        </p:attrNameLst>
                                      </p:cBhvr>
                                      <p:tavLst>
                                        <p:tav tm="0">
                                          <p:val>
                                            <p:fltVal val="0"/>
                                          </p:val>
                                        </p:tav>
                                        <p:tav tm="100000">
                                          <p:val>
                                            <p:strVal val="#ppt_h"/>
                                          </p:val>
                                        </p:tav>
                                      </p:tavLst>
                                    </p:anim>
                                    <p:animEffect transition="in" filter="fade">
                                      <p:cBhvr>
                                        <p:cTn id="51" dur="500"/>
                                        <p:tgtEl>
                                          <p:spTgt spid="4">
                                            <p:txEl>
                                              <p:pRg st="6" end="6"/>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53" presetClass="entr" presetSubtype="16" fill="hold" nodeType="clickEffect">
                                  <p:stCondLst>
                                    <p:cond delay="0"/>
                                  </p:stCondLst>
                                  <p:childTnLst>
                                    <p:set>
                                      <p:cBhvr>
                                        <p:cTn id="55" dur="1" fill="hold">
                                          <p:stCondLst>
                                            <p:cond delay="0"/>
                                          </p:stCondLst>
                                        </p:cTn>
                                        <p:tgtEl>
                                          <p:spTgt spid="4">
                                            <p:txEl>
                                              <p:pRg st="8" end="8"/>
                                            </p:txEl>
                                          </p:spTgt>
                                        </p:tgtEl>
                                        <p:attrNameLst>
                                          <p:attrName>style.visibility</p:attrName>
                                        </p:attrNameLst>
                                      </p:cBhvr>
                                      <p:to>
                                        <p:strVal val="visible"/>
                                      </p:to>
                                    </p:set>
                                    <p:anim calcmode="lin" valueType="num">
                                      <p:cBhvr>
                                        <p:cTn id="56" dur="500" fill="hold"/>
                                        <p:tgtEl>
                                          <p:spTgt spid="4">
                                            <p:txEl>
                                              <p:pRg st="8" end="8"/>
                                            </p:txEl>
                                          </p:spTgt>
                                        </p:tgtEl>
                                        <p:attrNameLst>
                                          <p:attrName>ppt_w</p:attrName>
                                        </p:attrNameLst>
                                      </p:cBhvr>
                                      <p:tavLst>
                                        <p:tav tm="0">
                                          <p:val>
                                            <p:fltVal val="0"/>
                                          </p:val>
                                        </p:tav>
                                        <p:tav tm="100000">
                                          <p:val>
                                            <p:strVal val="#ppt_w"/>
                                          </p:val>
                                        </p:tav>
                                      </p:tavLst>
                                    </p:anim>
                                    <p:anim calcmode="lin" valueType="num">
                                      <p:cBhvr>
                                        <p:cTn id="57" dur="500" fill="hold"/>
                                        <p:tgtEl>
                                          <p:spTgt spid="4">
                                            <p:txEl>
                                              <p:pRg st="8" end="8"/>
                                            </p:txEl>
                                          </p:spTgt>
                                        </p:tgtEl>
                                        <p:attrNameLst>
                                          <p:attrName>ppt_h</p:attrName>
                                        </p:attrNameLst>
                                      </p:cBhvr>
                                      <p:tavLst>
                                        <p:tav tm="0">
                                          <p:val>
                                            <p:fltVal val="0"/>
                                          </p:val>
                                        </p:tav>
                                        <p:tav tm="100000">
                                          <p:val>
                                            <p:strVal val="#ppt_h"/>
                                          </p:val>
                                        </p:tav>
                                      </p:tavLst>
                                    </p:anim>
                                    <p:animEffect transition="in" filter="fade">
                                      <p:cBhvr>
                                        <p:cTn id="58" dur="500"/>
                                        <p:tgtEl>
                                          <p:spTgt spid="4">
                                            <p:txEl>
                                              <p:pRg st="8" end="8"/>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53" presetClass="entr" presetSubtype="16" fill="hold" nodeType="clickEffect">
                                  <p:stCondLst>
                                    <p:cond delay="0"/>
                                  </p:stCondLst>
                                  <p:childTnLst>
                                    <p:set>
                                      <p:cBhvr>
                                        <p:cTn id="62" dur="1" fill="hold">
                                          <p:stCondLst>
                                            <p:cond delay="0"/>
                                          </p:stCondLst>
                                        </p:cTn>
                                        <p:tgtEl>
                                          <p:spTgt spid="4">
                                            <p:txEl>
                                              <p:pRg st="7" end="7"/>
                                            </p:txEl>
                                          </p:spTgt>
                                        </p:tgtEl>
                                        <p:attrNameLst>
                                          <p:attrName>style.visibility</p:attrName>
                                        </p:attrNameLst>
                                      </p:cBhvr>
                                      <p:to>
                                        <p:strVal val="visible"/>
                                      </p:to>
                                    </p:set>
                                    <p:anim calcmode="lin" valueType="num">
                                      <p:cBhvr>
                                        <p:cTn id="63" dur="500" fill="hold"/>
                                        <p:tgtEl>
                                          <p:spTgt spid="4">
                                            <p:txEl>
                                              <p:pRg st="7" end="7"/>
                                            </p:txEl>
                                          </p:spTgt>
                                        </p:tgtEl>
                                        <p:attrNameLst>
                                          <p:attrName>ppt_w</p:attrName>
                                        </p:attrNameLst>
                                      </p:cBhvr>
                                      <p:tavLst>
                                        <p:tav tm="0">
                                          <p:val>
                                            <p:fltVal val="0"/>
                                          </p:val>
                                        </p:tav>
                                        <p:tav tm="100000">
                                          <p:val>
                                            <p:strVal val="#ppt_w"/>
                                          </p:val>
                                        </p:tav>
                                      </p:tavLst>
                                    </p:anim>
                                    <p:anim calcmode="lin" valueType="num">
                                      <p:cBhvr>
                                        <p:cTn id="64" dur="500" fill="hold"/>
                                        <p:tgtEl>
                                          <p:spTgt spid="4">
                                            <p:txEl>
                                              <p:pRg st="7" end="7"/>
                                            </p:txEl>
                                          </p:spTgt>
                                        </p:tgtEl>
                                        <p:attrNameLst>
                                          <p:attrName>ppt_h</p:attrName>
                                        </p:attrNameLst>
                                      </p:cBhvr>
                                      <p:tavLst>
                                        <p:tav tm="0">
                                          <p:val>
                                            <p:fltVal val="0"/>
                                          </p:val>
                                        </p:tav>
                                        <p:tav tm="100000">
                                          <p:val>
                                            <p:strVal val="#ppt_h"/>
                                          </p:val>
                                        </p:tav>
                                      </p:tavLst>
                                    </p:anim>
                                    <p:animEffect transition="in" filter="fade">
                                      <p:cBhvr>
                                        <p:cTn id="65" dur="500"/>
                                        <p:tgtEl>
                                          <p:spTgt spid="4">
                                            <p:txEl>
                                              <p:pRg st="7" end="7"/>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53" presetClass="entr" presetSubtype="16" fill="hold" nodeType="clickEffect">
                                  <p:stCondLst>
                                    <p:cond delay="0"/>
                                  </p:stCondLst>
                                  <p:childTnLst>
                                    <p:set>
                                      <p:cBhvr>
                                        <p:cTn id="69" dur="1" fill="hold">
                                          <p:stCondLst>
                                            <p:cond delay="0"/>
                                          </p:stCondLst>
                                        </p:cTn>
                                        <p:tgtEl>
                                          <p:spTgt spid="4">
                                            <p:txEl>
                                              <p:pRg st="9" end="9"/>
                                            </p:txEl>
                                          </p:spTgt>
                                        </p:tgtEl>
                                        <p:attrNameLst>
                                          <p:attrName>style.visibility</p:attrName>
                                        </p:attrNameLst>
                                      </p:cBhvr>
                                      <p:to>
                                        <p:strVal val="visible"/>
                                      </p:to>
                                    </p:set>
                                    <p:anim calcmode="lin" valueType="num">
                                      <p:cBhvr>
                                        <p:cTn id="70" dur="500" fill="hold"/>
                                        <p:tgtEl>
                                          <p:spTgt spid="4">
                                            <p:txEl>
                                              <p:pRg st="9" end="9"/>
                                            </p:txEl>
                                          </p:spTgt>
                                        </p:tgtEl>
                                        <p:attrNameLst>
                                          <p:attrName>ppt_w</p:attrName>
                                        </p:attrNameLst>
                                      </p:cBhvr>
                                      <p:tavLst>
                                        <p:tav tm="0">
                                          <p:val>
                                            <p:fltVal val="0"/>
                                          </p:val>
                                        </p:tav>
                                        <p:tav tm="100000">
                                          <p:val>
                                            <p:strVal val="#ppt_w"/>
                                          </p:val>
                                        </p:tav>
                                      </p:tavLst>
                                    </p:anim>
                                    <p:anim calcmode="lin" valueType="num">
                                      <p:cBhvr>
                                        <p:cTn id="71" dur="500" fill="hold"/>
                                        <p:tgtEl>
                                          <p:spTgt spid="4">
                                            <p:txEl>
                                              <p:pRg st="9" end="9"/>
                                            </p:txEl>
                                          </p:spTgt>
                                        </p:tgtEl>
                                        <p:attrNameLst>
                                          <p:attrName>ppt_h</p:attrName>
                                        </p:attrNameLst>
                                      </p:cBhvr>
                                      <p:tavLst>
                                        <p:tav tm="0">
                                          <p:val>
                                            <p:fltVal val="0"/>
                                          </p:val>
                                        </p:tav>
                                        <p:tav tm="100000">
                                          <p:val>
                                            <p:strVal val="#ppt_h"/>
                                          </p:val>
                                        </p:tav>
                                      </p:tavLst>
                                    </p:anim>
                                    <p:animEffect transition="in" filter="fade">
                                      <p:cBhvr>
                                        <p:cTn id="72" dur="500"/>
                                        <p:tgtEl>
                                          <p:spTgt spid="4">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13980" y="490843"/>
            <a:ext cx="7514035" cy="494993"/>
          </a:xfrm>
        </p:spPr>
        <p:txBody>
          <a:bodyPr>
            <a:normAutofit/>
          </a:bodyPr>
          <a:lstStyle/>
          <a:p>
            <a:r>
              <a:rPr lang="fr-CA" dirty="0"/>
              <a:t>Éléments liés à l’audit</a:t>
            </a:r>
          </a:p>
        </p:txBody>
      </p:sp>
      <p:sp>
        <p:nvSpPr>
          <p:cNvPr id="3" name="Espace réservé du pied de page 2"/>
          <p:cNvSpPr>
            <a:spLocks noGrp="1"/>
          </p:cNvSpPr>
          <p:nvPr>
            <p:ph type="ftr" sz="quarter" idx="4294967295"/>
          </p:nvPr>
        </p:nvSpPr>
        <p:spPr/>
        <p:txBody>
          <a:bodyPr/>
          <a:lstStyle/>
          <a:p>
            <a:endParaRPr lang="fr-CA" dirty="0"/>
          </a:p>
        </p:txBody>
      </p:sp>
      <p:sp>
        <p:nvSpPr>
          <p:cNvPr id="4" name="Espace réservé du contenu 3"/>
          <p:cNvSpPr>
            <a:spLocks noGrp="1"/>
          </p:cNvSpPr>
          <p:nvPr>
            <p:ph sz="quarter" idx="1"/>
          </p:nvPr>
        </p:nvSpPr>
        <p:spPr>
          <a:xfrm>
            <a:off x="1785918" y="1200150"/>
            <a:ext cx="5893635" cy="1264443"/>
          </a:xfrm>
        </p:spPr>
        <p:txBody>
          <a:bodyPr/>
          <a:lstStyle/>
          <a:p>
            <a:r>
              <a:rPr lang="fr-CA" dirty="0"/>
              <a:t>Réduction du seuil vs. exercice précédent</a:t>
            </a:r>
          </a:p>
          <a:p>
            <a:r>
              <a:rPr lang="fr-CA" dirty="0"/>
              <a:t>Approche mixte avec un peu plus de travail de corroboration</a:t>
            </a:r>
          </a:p>
        </p:txBody>
      </p:sp>
      <p:sp>
        <p:nvSpPr>
          <p:cNvPr id="5" name="ZoneTexte 4"/>
          <p:cNvSpPr txBox="1"/>
          <p:nvPr/>
        </p:nvSpPr>
        <p:spPr>
          <a:xfrm>
            <a:off x="1785918" y="2678907"/>
            <a:ext cx="5893635" cy="1477328"/>
          </a:xfrm>
          <a:prstGeom prst="rect">
            <a:avLst/>
          </a:prstGeom>
          <a:noFill/>
          <a:ln w="3175">
            <a:solidFill>
              <a:schemeClr val="tx1"/>
            </a:solidFill>
          </a:ln>
        </p:spPr>
        <p:txBody>
          <a:bodyPr wrap="square" rtlCol="0">
            <a:spAutoFit/>
          </a:bodyPr>
          <a:lstStyle/>
          <a:p>
            <a:r>
              <a:rPr lang="fr-CA" b="1" dirty="0"/>
              <a:t>Est-ce que la planification tient la route ?</a:t>
            </a:r>
          </a:p>
          <a:p>
            <a:endParaRPr lang="fr-CA" b="1" dirty="0"/>
          </a:p>
          <a:p>
            <a:r>
              <a:rPr lang="fr-CA" b="1" dirty="0"/>
              <a:t>Doit-on l’ajuster ?</a:t>
            </a:r>
          </a:p>
          <a:p>
            <a:endParaRPr lang="fr-CA" b="1" dirty="0"/>
          </a:p>
          <a:p>
            <a:r>
              <a:rPr lang="fr-CA" b="1" dirty="0"/>
              <a:t>Qu’en pense Arthur Denis ?</a:t>
            </a:r>
          </a:p>
        </p:txBody>
      </p:sp>
      <p:sp>
        <p:nvSpPr>
          <p:cNvPr id="7" name="Espace réservé du numéro de diapositive 4">
            <a:extLst>
              <a:ext uri="{FF2B5EF4-FFF2-40B4-BE49-F238E27FC236}">
                <a16:creationId xmlns:a16="http://schemas.microsoft.com/office/drawing/2014/main" id="{DC8E6D2A-CFB0-80E1-9628-64C84AD82CA5}"/>
              </a:ext>
            </a:extLst>
          </p:cNvPr>
          <p:cNvSpPr txBox="1">
            <a:spLocks/>
          </p:cNvSpPr>
          <p:nvPr/>
        </p:nvSpPr>
        <p:spPr>
          <a:xfrm>
            <a:off x="8545786" y="4650963"/>
            <a:ext cx="413375" cy="273844"/>
          </a:xfr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B5DEC05-AB38-4F58-9609-FFF4AA167839}" type="slidenum">
              <a:rPr lang="fr-CA" sz="1050" smtClean="0"/>
              <a:pPr/>
              <a:t>25</a:t>
            </a:fld>
            <a:endParaRPr lang="fr-CA" sz="1050" dirty="0"/>
          </a:p>
        </p:txBody>
      </p:sp>
      <p:sp>
        <p:nvSpPr>
          <p:cNvPr id="8" name="ZoneTexte 7">
            <a:extLst>
              <a:ext uri="{FF2B5EF4-FFF2-40B4-BE49-F238E27FC236}">
                <a16:creationId xmlns:a16="http://schemas.microsoft.com/office/drawing/2014/main" id="{33D1A490-870D-8EBF-0E76-28FA64944E55}"/>
              </a:ext>
            </a:extLst>
          </p:cNvPr>
          <p:cNvSpPr txBox="1"/>
          <p:nvPr/>
        </p:nvSpPr>
        <p:spPr>
          <a:xfrm>
            <a:off x="3034454" y="4924807"/>
            <a:ext cx="1747520" cy="273845"/>
          </a:xfrm>
          <a:prstGeom prst="rect">
            <a:avLst/>
          </a:prstGeom>
        </p:spPr>
        <p:txBody>
          <a:bodyPr vert="horz" wrap="square" lIns="91440" tIns="45720" rIns="91440" bIns="45720" rtlCol="0">
            <a:normAutofit fontScale="92500"/>
          </a:bodyPr>
          <a:lstStyle/>
          <a:p>
            <a:pPr>
              <a:buClr>
                <a:schemeClr val="accent2"/>
              </a:buClr>
              <a:buSzPct val="125000"/>
            </a:pPr>
            <a:r>
              <a:rPr lang="fr-CA" sz="900" dirty="0"/>
              <a:t>Par Hugo Lesley – HEC Montréal</a:t>
            </a:r>
          </a:p>
        </p:txBody>
      </p:sp>
    </p:spTree>
    <p:extLst>
      <p:ext uri="{BB962C8B-B14F-4D97-AF65-F5344CB8AC3E}">
        <p14:creationId xmlns:p14="http://schemas.microsoft.com/office/powerpoint/2010/main" val="5128268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5"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67334" y="467362"/>
            <a:ext cx="7514035" cy="562186"/>
          </a:xfrm>
        </p:spPr>
        <p:txBody>
          <a:bodyPr>
            <a:normAutofit/>
          </a:bodyPr>
          <a:lstStyle/>
          <a:p>
            <a:r>
              <a:rPr lang="fr-CA" sz="2700" dirty="0"/>
              <a:t>Clauses restrictives – LA PHOTO AVANT</a:t>
            </a:r>
          </a:p>
        </p:txBody>
      </p:sp>
      <p:sp>
        <p:nvSpPr>
          <p:cNvPr id="3" name="Espace réservé du pied de page 2"/>
          <p:cNvSpPr>
            <a:spLocks noGrp="1"/>
          </p:cNvSpPr>
          <p:nvPr>
            <p:ph type="ftr" sz="quarter" idx="4294967295"/>
          </p:nvPr>
        </p:nvSpPr>
        <p:spPr/>
        <p:txBody>
          <a:bodyPr/>
          <a:lstStyle/>
          <a:p>
            <a:endParaRPr lang="fr-CA" dirty="0"/>
          </a:p>
        </p:txBody>
      </p:sp>
      <p:sp>
        <p:nvSpPr>
          <p:cNvPr id="4" name="Espace réservé du contenu 3"/>
          <p:cNvSpPr>
            <a:spLocks noGrp="1"/>
          </p:cNvSpPr>
          <p:nvPr>
            <p:ph sz="quarter" idx="1"/>
          </p:nvPr>
        </p:nvSpPr>
        <p:spPr>
          <a:xfrm>
            <a:off x="812094" y="1648422"/>
            <a:ext cx="7069275" cy="1371600"/>
          </a:xfrm>
        </p:spPr>
        <p:txBody>
          <a:bodyPr>
            <a:normAutofit fontScale="92500" lnSpcReduction="20000"/>
          </a:bodyPr>
          <a:lstStyle/>
          <a:p>
            <a:pPr marL="285750" indent="-285750">
              <a:buClr>
                <a:schemeClr val="tx1"/>
              </a:buClr>
              <a:buFont typeface="Arial" panose="020B0604020202020204" pitchFamily="34" charset="0"/>
              <a:buChar char="•"/>
            </a:pPr>
            <a:r>
              <a:rPr lang="fr-CA" dirty="0"/>
              <a:t>Ligne de crédit d’exploitation – utilisation actuelle 30 200 k$ vs. limite à 30 261 k$</a:t>
            </a:r>
          </a:p>
          <a:p>
            <a:pPr marL="693990" lvl="1" indent="-285750"/>
            <a:r>
              <a:rPr lang="fr-CA" dirty="0"/>
              <a:t>80% des comptes clients + 50% des stocks + 30% des TEC</a:t>
            </a:r>
          </a:p>
          <a:p>
            <a:pPr marL="693990" lvl="1" indent="-285750"/>
            <a:r>
              <a:rPr lang="fr-CA" dirty="0"/>
              <a:t>80% x 20 100 k$ + 50% x 9 255 k$ + 30% x 31 844 k$</a:t>
            </a:r>
          </a:p>
          <a:p>
            <a:pPr marL="285750" indent="-285750">
              <a:buClr>
                <a:schemeClr val="tx1"/>
              </a:buClr>
              <a:buFont typeface="Arial" panose="020B0604020202020204" pitchFamily="34" charset="0"/>
              <a:buChar char="•"/>
            </a:pPr>
            <a:r>
              <a:rPr lang="fr-CA" dirty="0"/>
              <a:t>Fond de roulement 1,38 vs. 1,35 minimum</a:t>
            </a:r>
          </a:p>
          <a:p>
            <a:pPr marL="693990" lvl="1" indent="-285750"/>
            <a:r>
              <a:rPr lang="fr-CA" dirty="0"/>
              <a:t>Actif à court terme / Passif à court terme</a:t>
            </a:r>
          </a:p>
          <a:p>
            <a:pPr marL="693990" lvl="1" indent="-285750"/>
            <a:r>
              <a:rPr lang="fr-CA" dirty="0"/>
              <a:t>65 399 k$ / 47 543 k$</a:t>
            </a:r>
          </a:p>
        </p:txBody>
      </p:sp>
      <p:sp>
        <p:nvSpPr>
          <p:cNvPr id="5" name="ZoneTexte 4"/>
          <p:cNvSpPr txBox="1"/>
          <p:nvPr/>
        </p:nvSpPr>
        <p:spPr>
          <a:xfrm>
            <a:off x="1108584" y="3257089"/>
            <a:ext cx="6596678" cy="1200329"/>
          </a:xfrm>
          <a:prstGeom prst="rect">
            <a:avLst/>
          </a:prstGeom>
          <a:noFill/>
          <a:ln w="3175">
            <a:solidFill>
              <a:schemeClr val="tx1"/>
            </a:solidFill>
          </a:ln>
        </p:spPr>
        <p:txBody>
          <a:bodyPr wrap="square" rtlCol="0">
            <a:spAutoFit/>
          </a:bodyPr>
          <a:lstStyle/>
          <a:p>
            <a:pPr algn="ctr"/>
            <a:r>
              <a:rPr lang="fr-CA" sz="2400" b="1" dirty="0"/>
              <a:t>Être vigilant, des ajustements comptables pourraient entraîner </a:t>
            </a:r>
            <a:r>
              <a:rPr lang="fr-CA" sz="2400" b="1"/>
              <a:t>un non-respect </a:t>
            </a:r>
            <a:r>
              <a:rPr lang="fr-CA" sz="2400" b="1" dirty="0"/>
              <a:t>des clauses.</a:t>
            </a:r>
          </a:p>
        </p:txBody>
      </p:sp>
      <p:sp>
        <p:nvSpPr>
          <p:cNvPr id="7" name="Espace réservé du numéro de diapositive 4">
            <a:extLst>
              <a:ext uri="{FF2B5EF4-FFF2-40B4-BE49-F238E27FC236}">
                <a16:creationId xmlns:a16="http://schemas.microsoft.com/office/drawing/2014/main" id="{2CCBE057-7879-CE1F-70A6-54ED5C17C126}"/>
              </a:ext>
            </a:extLst>
          </p:cNvPr>
          <p:cNvSpPr txBox="1">
            <a:spLocks/>
          </p:cNvSpPr>
          <p:nvPr/>
        </p:nvSpPr>
        <p:spPr>
          <a:xfrm>
            <a:off x="8545786" y="4650963"/>
            <a:ext cx="413375" cy="273844"/>
          </a:xfr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B5DEC05-AB38-4F58-9609-FFF4AA167839}" type="slidenum">
              <a:rPr lang="fr-CA" sz="1050" smtClean="0"/>
              <a:pPr/>
              <a:t>26</a:t>
            </a:fld>
            <a:endParaRPr lang="fr-CA" sz="1050" dirty="0"/>
          </a:p>
        </p:txBody>
      </p:sp>
      <p:sp>
        <p:nvSpPr>
          <p:cNvPr id="8" name="ZoneTexte 7">
            <a:extLst>
              <a:ext uri="{FF2B5EF4-FFF2-40B4-BE49-F238E27FC236}">
                <a16:creationId xmlns:a16="http://schemas.microsoft.com/office/drawing/2014/main" id="{9D9BE6DA-C72E-7D1F-5519-6F33518108C2}"/>
              </a:ext>
            </a:extLst>
          </p:cNvPr>
          <p:cNvSpPr txBox="1"/>
          <p:nvPr/>
        </p:nvSpPr>
        <p:spPr>
          <a:xfrm>
            <a:off x="3034454" y="4924807"/>
            <a:ext cx="1747520" cy="273845"/>
          </a:xfrm>
          <a:prstGeom prst="rect">
            <a:avLst/>
          </a:prstGeom>
        </p:spPr>
        <p:txBody>
          <a:bodyPr vert="horz" wrap="square" lIns="91440" tIns="45720" rIns="91440" bIns="45720" rtlCol="0">
            <a:normAutofit fontScale="92500"/>
          </a:bodyPr>
          <a:lstStyle/>
          <a:p>
            <a:pPr>
              <a:buClr>
                <a:schemeClr val="accent2"/>
              </a:buClr>
              <a:buSzPct val="125000"/>
            </a:pPr>
            <a:r>
              <a:rPr lang="fr-CA" sz="900" dirty="0"/>
              <a:t>Par Hugo Lesley – HEC Montréal</a:t>
            </a:r>
          </a:p>
        </p:txBody>
      </p:sp>
    </p:spTree>
    <p:extLst>
      <p:ext uri="{BB962C8B-B14F-4D97-AF65-F5344CB8AC3E}">
        <p14:creationId xmlns:p14="http://schemas.microsoft.com/office/powerpoint/2010/main" val="37730975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p:cTn id="7" dur="500" fill="hold"/>
                                        <p:tgtEl>
                                          <p:spTgt spid="4">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4">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4">
                                            <p:txEl>
                                              <p:pRg st="0" end="0"/>
                                            </p:txEl>
                                          </p:spTgt>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 calcmode="lin" valueType="num">
                                      <p:cBhvr>
                                        <p:cTn id="12" dur="500" fill="hold"/>
                                        <p:tgtEl>
                                          <p:spTgt spid="4">
                                            <p:txEl>
                                              <p:pRg st="1" end="1"/>
                                            </p:txEl>
                                          </p:spTgt>
                                        </p:tgtEl>
                                        <p:attrNameLst>
                                          <p:attrName>ppt_w</p:attrName>
                                        </p:attrNameLst>
                                      </p:cBhvr>
                                      <p:tavLst>
                                        <p:tav tm="0">
                                          <p:val>
                                            <p:fltVal val="0"/>
                                          </p:val>
                                        </p:tav>
                                        <p:tav tm="100000">
                                          <p:val>
                                            <p:strVal val="#ppt_w"/>
                                          </p:val>
                                        </p:tav>
                                      </p:tavLst>
                                    </p:anim>
                                    <p:anim calcmode="lin" valueType="num">
                                      <p:cBhvr>
                                        <p:cTn id="13" dur="500" fill="hold"/>
                                        <p:tgtEl>
                                          <p:spTgt spid="4">
                                            <p:txEl>
                                              <p:pRg st="1" end="1"/>
                                            </p:txEl>
                                          </p:spTgt>
                                        </p:tgtEl>
                                        <p:attrNameLst>
                                          <p:attrName>ppt_h</p:attrName>
                                        </p:attrNameLst>
                                      </p:cBhvr>
                                      <p:tavLst>
                                        <p:tav tm="0">
                                          <p:val>
                                            <p:fltVal val="0"/>
                                          </p:val>
                                        </p:tav>
                                        <p:tav tm="100000">
                                          <p:val>
                                            <p:strVal val="#ppt_h"/>
                                          </p:val>
                                        </p:tav>
                                      </p:tavLst>
                                    </p:anim>
                                    <p:animEffect transition="in" filter="fade">
                                      <p:cBhvr>
                                        <p:cTn id="14" dur="500"/>
                                        <p:tgtEl>
                                          <p:spTgt spid="4">
                                            <p:txEl>
                                              <p:pRg st="1" end="1"/>
                                            </p:txEl>
                                          </p:spTgt>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 calcmode="lin" valueType="num">
                                      <p:cBhvr>
                                        <p:cTn id="17" dur="500" fill="hold"/>
                                        <p:tgtEl>
                                          <p:spTgt spid="4">
                                            <p:txEl>
                                              <p:pRg st="2" end="2"/>
                                            </p:txEl>
                                          </p:spTgt>
                                        </p:tgtEl>
                                        <p:attrNameLst>
                                          <p:attrName>ppt_w</p:attrName>
                                        </p:attrNameLst>
                                      </p:cBhvr>
                                      <p:tavLst>
                                        <p:tav tm="0">
                                          <p:val>
                                            <p:fltVal val="0"/>
                                          </p:val>
                                        </p:tav>
                                        <p:tav tm="100000">
                                          <p:val>
                                            <p:strVal val="#ppt_w"/>
                                          </p:val>
                                        </p:tav>
                                      </p:tavLst>
                                    </p:anim>
                                    <p:anim calcmode="lin" valueType="num">
                                      <p:cBhvr>
                                        <p:cTn id="18" dur="500" fill="hold"/>
                                        <p:tgtEl>
                                          <p:spTgt spid="4">
                                            <p:txEl>
                                              <p:pRg st="2" end="2"/>
                                            </p:txEl>
                                          </p:spTgt>
                                        </p:tgtEl>
                                        <p:attrNameLst>
                                          <p:attrName>ppt_h</p:attrName>
                                        </p:attrNameLst>
                                      </p:cBhvr>
                                      <p:tavLst>
                                        <p:tav tm="0">
                                          <p:val>
                                            <p:fltVal val="0"/>
                                          </p:val>
                                        </p:tav>
                                        <p:tav tm="100000">
                                          <p:val>
                                            <p:strVal val="#ppt_h"/>
                                          </p:val>
                                        </p:tav>
                                      </p:tavLst>
                                    </p:anim>
                                    <p:animEffect transition="in" filter="fade">
                                      <p:cBhvr>
                                        <p:cTn id="19" dur="500"/>
                                        <p:tgtEl>
                                          <p:spTgt spid="4">
                                            <p:txEl>
                                              <p:pRg st="2" end="2"/>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53" presetClass="entr" presetSubtype="16" fill="hold" grpId="0" nodeType="clickEffect">
                                  <p:stCondLst>
                                    <p:cond delay="0"/>
                                  </p:stCondLst>
                                  <p:childTnLst>
                                    <p:set>
                                      <p:cBhvr>
                                        <p:cTn id="23" dur="1" fill="hold">
                                          <p:stCondLst>
                                            <p:cond delay="0"/>
                                          </p:stCondLst>
                                        </p:cTn>
                                        <p:tgtEl>
                                          <p:spTgt spid="4">
                                            <p:txEl>
                                              <p:pRg st="3" end="3"/>
                                            </p:txEl>
                                          </p:spTgt>
                                        </p:tgtEl>
                                        <p:attrNameLst>
                                          <p:attrName>style.visibility</p:attrName>
                                        </p:attrNameLst>
                                      </p:cBhvr>
                                      <p:to>
                                        <p:strVal val="visible"/>
                                      </p:to>
                                    </p:set>
                                    <p:anim calcmode="lin" valueType="num">
                                      <p:cBhvr>
                                        <p:cTn id="24" dur="500" fill="hold"/>
                                        <p:tgtEl>
                                          <p:spTgt spid="4">
                                            <p:txEl>
                                              <p:pRg st="3" end="3"/>
                                            </p:txEl>
                                          </p:spTgt>
                                        </p:tgtEl>
                                        <p:attrNameLst>
                                          <p:attrName>ppt_w</p:attrName>
                                        </p:attrNameLst>
                                      </p:cBhvr>
                                      <p:tavLst>
                                        <p:tav tm="0">
                                          <p:val>
                                            <p:fltVal val="0"/>
                                          </p:val>
                                        </p:tav>
                                        <p:tav tm="100000">
                                          <p:val>
                                            <p:strVal val="#ppt_w"/>
                                          </p:val>
                                        </p:tav>
                                      </p:tavLst>
                                    </p:anim>
                                    <p:anim calcmode="lin" valueType="num">
                                      <p:cBhvr>
                                        <p:cTn id="25" dur="500" fill="hold"/>
                                        <p:tgtEl>
                                          <p:spTgt spid="4">
                                            <p:txEl>
                                              <p:pRg st="3" end="3"/>
                                            </p:txEl>
                                          </p:spTgt>
                                        </p:tgtEl>
                                        <p:attrNameLst>
                                          <p:attrName>ppt_h</p:attrName>
                                        </p:attrNameLst>
                                      </p:cBhvr>
                                      <p:tavLst>
                                        <p:tav tm="0">
                                          <p:val>
                                            <p:fltVal val="0"/>
                                          </p:val>
                                        </p:tav>
                                        <p:tav tm="100000">
                                          <p:val>
                                            <p:strVal val="#ppt_h"/>
                                          </p:val>
                                        </p:tav>
                                      </p:tavLst>
                                    </p:anim>
                                    <p:animEffect transition="in" filter="fade">
                                      <p:cBhvr>
                                        <p:cTn id="26" dur="500"/>
                                        <p:tgtEl>
                                          <p:spTgt spid="4">
                                            <p:txEl>
                                              <p:pRg st="3" end="3"/>
                                            </p:txEl>
                                          </p:spTgt>
                                        </p:tgtEl>
                                      </p:cBhvr>
                                    </p:animEffect>
                                  </p:childTnLst>
                                </p:cTn>
                              </p:par>
                              <p:par>
                                <p:cTn id="27" presetID="53" presetClass="entr" presetSubtype="16" fill="hold" grpId="0" nodeType="withEffect">
                                  <p:stCondLst>
                                    <p:cond delay="0"/>
                                  </p:stCondLst>
                                  <p:childTnLst>
                                    <p:set>
                                      <p:cBhvr>
                                        <p:cTn id="28" dur="1" fill="hold">
                                          <p:stCondLst>
                                            <p:cond delay="0"/>
                                          </p:stCondLst>
                                        </p:cTn>
                                        <p:tgtEl>
                                          <p:spTgt spid="4">
                                            <p:txEl>
                                              <p:pRg st="4" end="4"/>
                                            </p:txEl>
                                          </p:spTgt>
                                        </p:tgtEl>
                                        <p:attrNameLst>
                                          <p:attrName>style.visibility</p:attrName>
                                        </p:attrNameLst>
                                      </p:cBhvr>
                                      <p:to>
                                        <p:strVal val="visible"/>
                                      </p:to>
                                    </p:set>
                                    <p:anim calcmode="lin" valueType="num">
                                      <p:cBhvr>
                                        <p:cTn id="29" dur="500" fill="hold"/>
                                        <p:tgtEl>
                                          <p:spTgt spid="4">
                                            <p:txEl>
                                              <p:pRg st="4" end="4"/>
                                            </p:txEl>
                                          </p:spTgt>
                                        </p:tgtEl>
                                        <p:attrNameLst>
                                          <p:attrName>ppt_w</p:attrName>
                                        </p:attrNameLst>
                                      </p:cBhvr>
                                      <p:tavLst>
                                        <p:tav tm="0">
                                          <p:val>
                                            <p:fltVal val="0"/>
                                          </p:val>
                                        </p:tav>
                                        <p:tav tm="100000">
                                          <p:val>
                                            <p:strVal val="#ppt_w"/>
                                          </p:val>
                                        </p:tav>
                                      </p:tavLst>
                                    </p:anim>
                                    <p:anim calcmode="lin" valueType="num">
                                      <p:cBhvr>
                                        <p:cTn id="30" dur="500" fill="hold"/>
                                        <p:tgtEl>
                                          <p:spTgt spid="4">
                                            <p:txEl>
                                              <p:pRg st="4" end="4"/>
                                            </p:txEl>
                                          </p:spTgt>
                                        </p:tgtEl>
                                        <p:attrNameLst>
                                          <p:attrName>ppt_h</p:attrName>
                                        </p:attrNameLst>
                                      </p:cBhvr>
                                      <p:tavLst>
                                        <p:tav tm="0">
                                          <p:val>
                                            <p:fltVal val="0"/>
                                          </p:val>
                                        </p:tav>
                                        <p:tav tm="100000">
                                          <p:val>
                                            <p:strVal val="#ppt_h"/>
                                          </p:val>
                                        </p:tav>
                                      </p:tavLst>
                                    </p:anim>
                                    <p:animEffect transition="in" filter="fade">
                                      <p:cBhvr>
                                        <p:cTn id="31" dur="500"/>
                                        <p:tgtEl>
                                          <p:spTgt spid="4">
                                            <p:txEl>
                                              <p:pRg st="4" end="4"/>
                                            </p:txEl>
                                          </p:spTgt>
                                        </p:tgtEl>
                                      </p:cBhvr>
                                    </p:animEffect>
                                  </p:childTnLst>
                                </p:cTn>
                              </p:par>
                              <p:par>
                                <p:cTn id="32" presetID="53" presetClass="entr" presetSubtype="16" fill="hold" grpId="0" nodeType="withEffect">
                                  <p:stCondLst>
                                    <p:cond delay="0"/>
                                  </p:stCondLst>
                                  <p:childTnLst>
                                    <p:set>
                                      <p:cBhvr>
                                        <p:cTn id="33" dur="1" fill="hold">
                                          <p:stCondLst>
                                            <p:cond delay="0"/>
                                          </p:stCondLst>
                                        </p:cTn>
                                        <p:tgtEl>
                                          <p:spTgt spid="4">
                                            <p:txEl>
                                              <p:pRg st="5" end="5"/>
                                            </p:txEl>
                                          </p:spTgt>
                                        </p:tgtEl>
                                        <p:attrNameLst>
                                          <p:attrName>style.visibility</p:attrName>
                                        </p:attrNameLst>
                                      </p:cBhvr>
                                      <p:to>
                                        <p:strVal val="visible"/>
                                      </p:to>
                                    </p:set>
                                    <p:anim calcmode="lin" valueType="num">
                                      <p:cBhvr>
                                        <p:cTn id="34" dur="500" fill="hold"/>
                                        <p:tgtEl>
                                          <p:spTgt spid="4">
                                            <p:txEl>
                                              <p:pRg st="5" end="5"/>
                                            </p:txEl>
                                          </p:spTgt>
                                        </p:tgtEl>
                                        <p:attrNameLst>
                                          <p:attrName>ppt_w</p:attrName>
                                        </p:attrNameLst>
                                      </p:cBhvr>
                                      <p:tavLst>
                                        <p:tav tm="0">
                                          <p:val>
                                            <p:fltVal val="0"/>
                                          </p:val>
                                        </p:tav>
                                        <p:tav tm="100000">
                                          <p:val>
                                            <p:strVal val="#ppt_w"/>
                                          </p:val>
                                        </p:tav>
                                      </p:tavLst>
                                    </p:anim>
                                    <p:anim calcmode="lin" valueType="num">
                                      <p:cBhvr>
                                        <p:cTn id="35" dur="500" fill="hold"/>
                                        <p:tgtEl>
                                          <p:spTgt spid="4">
                                            <p:txEl>
                                              <p:pRg st="5" end="5"/>
                                            </p:txEl>
                                          </p:spTgt>
                                        </p:tgtEl>
                                        <p:attrNameLst>
                                          <p:attrName>ppt_h</p:attrName>
                                        </p:attrNameLst>
                                      </p:cBhvr>
                                      <p:tavLst>
                                        <p:tav tm="0">
                                          <p:val>
                                            <p:fltVal val="0"/>
                                          </p:val>
                                        </p:tav>
                                        <p:tav tm="100000">
                                          <p:val>
                                            <p:strVal val="#ppt_h"/>
                                          </p:val>
                                        </p:tav>
                                      </p:tavLst>
                                    </p:anim>
                                    <p:animEffect transition="in" filter="fade">
                                      <p:cBhvr>
                                        <p:cTn id="36" dur="500"/>
                                        <p:tgtEl>
                                          <p:spTgt spid="4">
                                            <p:txEl>
                                              <p:pRg st="5" end="5"/>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53" presetClass="entr" presetSubtype="16" fill="hold" grpId="0" nodeType="clickEffect">
                                  <p:stCondLst>
                                    <p:cond delay="0"/>
                                  </p:stCondLst>
                                  <p:childTnLst>
                                    <p:set>
                                      <p:cBhvr>
                                        <p:cTn id="40" dur="1" fill="hold">
                                          <p:stCondLst>
                                            <p:cond delay="0"/>
                                          </p:stCondLst>
                                        </p:cTn>
                                        <p:tgtEl>
                                          <p:spTgt spid="5"/>
                                        </p:tgtEl>
                                        <p:attrNameLst>
                                          <p:attrName>style.visibility</p:attrName>
                                        </p:attrNameLst>
                                      </p:cBhvr>
                                      <p:to>
                                        <p:strVal val="visible"/>
                                      </p:to>
                                    </p:set>
                                    <p:anim calcmode="lin" valueType="num">
                                      <p:cBhvr>
                                        <p:cTn id="41" dur="500" fill="hold"/>
                                        <p:tgtEl>
                                          <p:spTgt spid="5"/>
                                        </p:tgtEl>
                                        <p:attrNameLst>
                                          <p:attrName>ppt_w</p:attrName>
                                        </p:attrNameLst>
                                      </p:cBhvr>
                                      <p:tavLst>
                                        <p:tav tm="0">
                                          <p:val>
                                            <p:fltVal val="0"/>
                                          </p:val>
                                        </p:tav>
                                        <p:tav tm="100000">
                                          <p:val>
                                            <p:strVal val="#ppt_w"/>
                                          </p:val>
                                        </p:tav>
                                      </p:tavLst>
                                    </p:anim>
                                    <p:anim calcmode="lin" valueType="num">
                                      <p:cBhvr>
                                        <p:cTn id="42" dur="500" fill="hold"/>
                                        <p:tgtEl>
                                          <p:spTgt spid="5"/>
                                        </p:tgtEl>
                                        <p:attrNameLst>
                                          <p:attrName>ppt_h</p:attrName>
                                        </p:attrNameLst>
                                      </p:cBhvr>
                                      <p:tavLst>
                                        <p:tav tm="0">
                                          <p:val>
                                            <p:fltVal val="0"/>
                                          </p:val>
                                        </p:tav>
                                        <p:tav tm="100000">
                                          <p:val>
                                            <p:strVal val="#ppt_h"/>
                                          </p:val>
                                        </p:tav>
                                      </p:tavLst>
                                    </p:anim>
                                    <p:animEffect transition="in" filter="fade">
                                      <p:cBhvr>
                                        <p:cTn id="4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5"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75006" y="375456"/>
            <a:ext cx="7514035" cy="575358"/>
          </a:xfrm>
        </p:spPr>
        <p:txBody>
          <a:bodyPr/>
          <a:lstStyle/>
          <a:p>
            <a:r>
              <a:rPr lang="fr-CA" dirty="0"/>
              <a:t>Plan de réponse</a:t>
            </a:r>
            <a:br>
              <a:rPr lang="fr-CA" dirty="0"/>
            </a:br>
            <a:r>
              <a:rPr lang="fr-CA" sz="1800" dirty="0"/>
              <a:t>Quatre occasions d’évaluation</a:t>
            </a:r>
            <a:endParaRPr lang="fr-CA" dirty="0"/>
          </a:p>
        </p:txBody>
      </p:sp>
      <p:sp>
        <p:nvSpPr>
          <p:cNvPr id="3" name="Espace réservé du pied de page 2"/>
          <p:cNvSpPr>
            <a:spLocks noGrp="1"/>
          </p:cNvSpPr>
          <p:nvPr>
            <p:ph type="ftr" sz="quarter" idx="4294967295"/>
          </p:nvPr>
        </p:nvSpPr>
        <p:spPr/>
        <p:txBody>
          <a:bodyPr/>
          <a:lstStyle/>
          <a:p>
            <a:endParaRPr lang="fr-CA" dirty="0"/>
          </a:p>
        </p:txBody>
      </p:sp>
      <p:sp>
        <p:nvSpPr>
          <p:cNvPr id="5" name="Espace réservé du contenu 3"/>
          <p:cNvSpPr>
            <a:spLocks noGrp="1"/>
          </p:cNvSpPr>
          <p:nvPr>
            <p:ph sz="quarter" idx="1"/>
          </p:nvPr>
        </p:nvSpPr>
        <p:spPr>
          <a:xfrm>
            <a:off x="266312" y="950815"/>
            <a:ext cx="4955489" cy="3817230"/>
          </a:xfrm>
        </p:spPr>
        <p:txBody>
          <a:bodyPr>
            <a:normAutofit/>
          </a:bodyPr>
          <a:lstStyle/>
          <a:p>
            <a:pPr marL="342900" indent="-342900">
              <a:buClr>
                <a:schemeClr val="tx1"/>
              </a:buClr>
              <a:buFont typeface="+mj-lt"/>
              <a:buAutoNum type="arabicPeriod"/>
            </a:pPr>
            <a:r>
              <a:rPr lang="fr-CA" dirty="0"/>
              <a:t>MÉMO (questions d’audit)</a:t>
            </a:r>
          </a:p>
          <a:p>
            <a:pPr lvl="1">
              <a:buClr>
                <a:schemeClr val="tx1"/>
              </a:buClr>
              <a:buFont typeface="Wingdings" pitchFamily="2" charset="2"/>
              <a:buChar char="Ø"/>
            </a:pPr>
            <a:endParaRPr lang="fr-CA" dirty="0"/>
          </a:p>
          <a:p>
            <a:pPr lvl="1">
              <a:buClr>
                <a:schemeClr val="tx1"/>
              </a:buClr>
              <a:buFont typeface="Wingdings" pitchFamily="2" charset="2"/>
              <a:buChar char="Ø"/>
            </a:pPr>
            <a:r>
              <a:rPr lang="fr-CA" dirty="0"/>
              <a:t>Dérogations aux normes comptables et anomalies relevées lors de l’audit.</a:t>
            </a:r>
          </a:p>
          <a:p>
            <a:pPr marL="268920" lvl="1" indent="0">
              <a:buClr>
                <a:schemeClr val="tx1"/>
              </a:buClr>
              <a:buNone/>
            </a:pPr>
            <a:endParaRPr lang="fr-CA" dirty="0"/>
          </a:p>
          <a:p>
            <a:pPr lvl="1">
              <a:buClr>
                <a:schemeClr val="tx1"/>
              </a:buClr>
              <a:buFont typeface="Wingdings" pitchFamily="2" charset="2"/>
              <a:buChar char="Ø"/>
            </a:pPr>
            <a:r>
              <a:rPr lang="fr-CA" dirty="0"/>
              <a:t>Impact sur le rapport de l’auditeur des dérogations et des anomalies.</a:t>
            </a:r>
          </a:p>
          <a:p>
            <a:pPr lvl="1">
              <a:buClr>
                <a:schemeClr val="tx1"/>
              </a:buClr>
              <a:buFont typeface="Wingdings" pitchFamily="2" charset="2"/>
              <a:buChar char="Ø"/>
            </a:pPr>
            <a:endParaRPr lang="fr-CA" dirty="0"/>
          </a:p>
          <a:p>
            <a:pPr marL="342900" indent="-342900">
              <a:buClr>
                <a:schemeClr val="tx1"/>
              </a:buClr>
              <a:buFont typeface="+mj-lt"/>
              <a:buAutoNum type="arabicPeriod"/>
            </a:pPr>
            <a:r>
              <a:rPr lang="fr-CA" dirty="0"/>
              <a:t>LETTRE DE RECOMANDATIONS</a:t>
            </a:r>
          </a:p>
          <a:p>
            <a:pPr lvl="1">
              <a:buClr>
                <a:schemeClr val="tx1"/>
              </a:buClr>
              <a:buFont typeface="Wingdings" pitchFamily="2" charset="2"/>
              <a:buChar char="Ø"/>
            </a:pPr>
            <a:endParaRPr lang="fr-CA" dirty="0"/>
          </a:p>
          <a:p>
            <a:pPr lvl="1">
              <a:buClr>
                <a:schemeClr val="tx1"/>
              </a:buClr>
              <a:buFont typeface="Wingdings" pitchFamily="2" charset="2"/>
              <a:buChar char="Ø"/>
            </a:pPr>
            <a:r>
              <a:rPr lang="fr-CA" dirty="0"/>
              <a:t>Problèmes de contrôle interne</a:t>
            </a:r>
          </a:p>
          <a:p>
            <a:pPr lvl="1">
              <a:buClr>
                <a:schemeClr val="tx1"/>
              </a:buClr>
              <a:buFont typeface="Wingdings" pitchFamily="2" charset="2"/>
              <a:buChar char="Ø"/>
            </a:pPr>
            <a:endParaRPr lang="fr-CA" dirty="0"/>
          </a:p>
          <a:p>
            <a:pPr lvl="1">
              <a:buClr>
                <a:schemeClr val="tx1"/>
              </a:buClr>
              <a:buFont typeface="Wingdings" pitchFamily="2" charset="2"/>
              <a:buChar char="Ø"/>
            </a:pPr>
            <a:r>
              <a:rPr lang="fr-CA" dirty="0"/>
              <a:t>Stratégies de BC et actions du chef des finances</a:t>
            </a:r>
          </a:p>
        </p:txBody>
      </p:sp>
      <p:sp>
        <p:nvSpPr>
          <p:cNvPr id="6" name="Accolade fermante 5"/>
          <p:cNvSpPr/>
          <p:nvPr/>
        </p:nvSpPr>
        <p:spPr>
          <a:xfrm>
            <a:off x="6154511" y="1635116"/>
            <a:ext cx="186593" cy="463026"/>
          </a:xfrm>
          <a:prstGeom prst="rightBrace">
            <a:avLst/>
          </a:prstGeom>
          <a:ln>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CA" sz="1350"/>
          </a:p>
        </p:txBody>
      </p:sp>
      <p:sp>
        <p:nvSpPr>
          <p:cNvPr id="7" name="ZoneTexte 6"/>
          <p:cNvSpPr txBox="1"/>
          <p:nvPr/>
        </p:nvSpPr>
        <p:spPr>
          <a:xfrm>
            <a:off x="6337434" y="1690325"/>
            <a:ext cx="3013526" cy="338554"/>
          </a:xfrm>
          <a:prstGeom prst="rect">
            <a:avLst/>
          </a:prstGeom>
          <a:noFill/>
        </p:spPr>
        <p:txBody>
          <a:bodyPr wrap="square" rtlCol="0">
            <a:spAutoFit/>
          </a:bodyPr>
          <a:lstStyle/>
          <a:p>
            <a:r>
              <a:rPr lang="fr-CA" sz="1600" b="1" u="sng" dirty="0">
                <a:solidFill>
                  <a:schemeClr val="accent5">
                    <a:lumMod val="50000"/>
                  </a:schemeClr>
                </a:solidFill>
              </a:rPr>
              <a:t>Information financière</a:t>
            </a:r>
          </a:p>
        </p:txBody>
      </p:sp>
      <p:sp>
        <p:nvSpPr>
          <p:cNvPr id="8" name="Accolade fermante 7"/>
          <p:cNvSpPr/>
          <p:nvPr/>
        </p:nvSpPr>
        <p:spPr>
          <a:xfrm>
            <a:off x="6158179" y="2474998"/>
            <a:ext cx="179255" cy="438395"/>
          </a:xfrm>
          <a:prstGeom prst="rightBrace">
            <a:avLst/>
          </a:prstGeom>
          <a:ln>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CA" sz="1350"/>
          </a:p>
        </p:txBody>
      </p:sp>
      <p:sp>
        <p:nvSpPr>
          <p:cNvPr id="9" name="Accolade fermante 8"/>
          <p:cNvSpPr/>
          <p:nvPr/>
        </p:nvSpPr>
        <p:spPr>
          <a:xfrm>
            <a:off x="6130033" y="3750845"/>
            <a:ext cx="214314" cy="428628"/>
          </a:xfrm>
          <a:prstGeom prst="rightBrace">
            <a:avLst/>
          </a:prstGeom>
          <a:ln>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CA" sz="1350"/>
          </a:p>
        </p:txBody>
      </p:sp>
      <p:sp>
        <p:nvSpPr>
          <p:cNvPr id="11" name="ZoneTexte 10"/>
          <p:cNvSpPr txBox="1"/>
          <p:nvPr/>
        </p:nvSpPr>
        <p:spPr>
          <a:xfrm>
            <a:off x="6344347" y="2508344"/>
            <a:ext cx="2499175" cy="338554"/>
          </a:xfrm>
          <a:prstGeom prst="rect">
            <a:avLst/>
          </a:prstGeom>
          <a:noFill/>
        </p:spPr>
        <p:txBody>
          <a:bodyPr wrap="square" rtlCol="0">
            <a:spAutoFit/>
          </a:bodyPr>
          <a:lstStyle/>
          <a:p>
            <a:r>
              <a:rPr lang="fr-CA" sz="1600" b="1" u="sng" dirty="0">
                <a:solidFill>
                  <a:schemeClr val="accent5">
                    <a:lumMod val="50000"/>
                  </a:schemeClr>
                </a:solidFill>
              </a:rPr>
              <a:t>Certification</a:t>
            </a:r>
          </a:p>
        </p:txBody>
      </p:sp>
      <p:sp>
        <p:nvSpPr>
          <p:cNvPr id="12" name="ZoneTexte 11"/>
          <p:cNvSpPr txBox="1"/>
          <p:nvPr/>
        </p:nvSpPr>
        <p:spPr>
          <a:xfrm>
            <a:off x="6371751" y="3782915"/>
            <a:ext cx="2195273" cy="338554"/>
          </a:xfrm>
          <a:prstGeom prst="rect">
            <a:avLst/>
          </a:prstGeom>
          <a:noFill/>
        </p:spPr>
        <p:txBody>
          <a:bodyPr wrap="square" rtlCol="0">
            <a:spAutoFit/>
          </a:bodyPr>
          <a:lstStyle/>
          <a:p>
            <a:r>
              <a:rPr lang="fr-CA" sz="1600" b="1" u="sng" dirty="0">
                <a:solidFill>
                  <a:schemeClr val="accent5">
                    <a:lumMod val="50000"/>
                  </a:schemeClr>
                </a:solidFill>
              </a:rPr>
              <a:t>Certification</a:t>
            </a:r>
          </a:p>
        </p:txBody>
      </p:sp>
      <p:sp>
        <p:nvSpPr>
          <p:cNvPr id="13" name="ZoneTexte 12"/>
          <p:cNvSpPr txBox="1"/>
          <p:nvPr/>
        </p:nvSpPr>
        <p:spPr>
          <a:xfrm>
            <a:off x="6371751" y="4253453"/>
            <a:ext cx="3338941" cy="584775"/>
          </a:xfrm>
          <a:prstGeom prst="rect">
            <a:avLst/>
          </a:prstGeom>
          <a:noFill/>
        </p:spPr>
        <p:txBody>
          <a:bodyPr wrap="square" rtlCol="0">
            <a:spAutoFit/>
          </a:bodyPr>
          <a:lstStyle/>
          <a:p>
            <a:r>
              <a:rPr lang="fr-CA" sz="1600" b="1" u="sng" dirty="0">
                <a:solidFill>
                  <a:schemeClr val="accent5">
                    <a:lumMod val="50000"/>
                  </a:schemeClr>
                </a:solidFill>
              </a:rPr>
              <a:t>Stratégie et </a:t>
            </a:r>
          </a:p>
          <a:p>
            <a:r>
              <a:rPr lang="fr-CA" sz="1600" b="1" u="sng" dirty="0">
                <a:solidFill>
                  <a:schemeClr val="accent5">
                    <a:lumMod val="50000"/>
                  </a:schemeClr>
                </a:solidFill>
              </a:rPr>
              <a:t>gouvernance</a:t>
            </a:r>
          </a:p>
        </p:txBody>
      </p:sp>
      <p:sp>
        <p:nvSpPr>
          <p:cNvPr id="14" name="Espace réservé du numéro de diapositive 4">
            <a:extLst>
              <a:ext uri="{FF2B5EF4-FFF2-40B4-BE49-F238E27FC236}">
                <a16:creationId xmlns:a16="http://schemas.microsoft.com/office/drawing/2014/main" id="{3F957017-9257-AD90-35B7-5564A732CD36}"/>
              </a:ext>
            </a:extLst>
          </p:cNvPr>
          <p:cNvSpPr txBox="1">
            <a:spLocks/>
          </p:cNvSpPr>
          <p:nvPr/>
        </p:nvSpPr>
        <p:spPr>
          <a:xfrm>
            <a:off x="8545786" y="4657736"/>
            <a:ext cx="413375" cy="273844"/>
          </a:xfr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B5DEC05-AB38-4F58-9609-FFF4AA167839}" type="slidenum">
              <a:rPr lang="fr-CA" sz="1000" smtClean="0"/>
              <a:pPr/>
              <a:t>27</a:t>
            </a:fld>
            <a:endParaRPr lang="fr-CA" sz="1000" dirty="0"/>
          </a:p>
        </p:txBody>
      </p:sp>
      <p:sp>
        <p:nvSpPr>
          <p:cNvPr id="19" name="ZoneTexte 18">
            <a:extLst>
              <a:ext uri="{FF2B5EF4-FFF2-40B4-BE49-F238E27FC236}">
                <a16:creationId xmlns:a16="http://schemas.microsoft.com/office/drawing/2014/main" id="{BD9B9CE2-1B50-D033-944C-9B18ED529234}"/>
              </a:ext>
            </a:extLst>
          </p:cNvPr>
          <p:cNvSpPr txBox="1"/>
          <p:nvPr/>
        </p:nvSpPr>
        <p:spPr>
          <a:xfrm>
            <a:off x="5208043" y="850997"/>
            <a:ext cx="1464130" cy="276999"/>
          </a:xfrm>
          <a:prstGeom prst="rect">
            <a:avLst/>
          </a:prstGeom>
          <a:noFill/>
        </p:spPr>
        <p:txBody>
          <a:bodyPr wrap="square" rtlCol="0">
            <a:spAutoFit/>
          </a:bodyPr>
          <a:lstStyle/>
          <a:p>
            <a:r>
              <a:rPr lang="fr-CA" sz="1200" b="1" u="sng" dirty="0"/>
              <a:t>Budget de temps</a:t>
            </a:r>
          </a:p>
        </p:txBody>
      </p:sp>
      <p:sp>
        <p:nvSpPr>
          <p:cNvPr id="20" name="ZoneTexte 19">
            <a:extLst>
              <a:ext uri="{FF2B5EF4-FFF2-40B4-BE49-F238E27FC236}">
                <a16:creationId xmlns:a16="http://schemas.microsoft.com/office/drawing/2014/main" id="{91D55A11-A4A1-5063-353E-EC322C85EEA4}"/>
              </a:ext>
            </a:extLst>
          </p:cNvPr>
          <p:cNvSpPr txBox="1"/>
          <p:nvPr/>
        </p:nvSpPr>
        <p:spPr>
          <a:xfrm>
            <a:off x="5208043" y="3803382"/>
            <a:ext cx="948478" cy="276999"/>
          </a:xfrm>
          <a:prstGeom prst="rect">
            <a:avLst/>
          </a:prstGeom>
          <a:noFill/>
        </p:spPr>
        <p:txBody>
          <a:bodyPr wrap="square" rtlCol="0">
            <a:spAutoFit/>
          </a:bodyPr>
          <a:lstStyle/>
          <a:p>
            <a:r>
              <a:rPr lang="fr-CA" sz="1200" dirty="0"/>
              <a:t>10 minutes</a:t>
            </a:r>
          </a:p>
        </p:txBody>
      </p:sp>
      <p:sp>
        <p:nvSpPr>
          <p:cNvPr id="21" name="ZoneTexte 20">
            <a:extLst>
              <a:ext uri="{FF2B5EF4-FFF2-40B4-BE49-F238E27FC236}">
                <a16:creationId xmlns:a16="http://schemas.microsoft.com/office/drawing/2014/main" id="{1E260406-A119-7630-8392-A201E532C5FE}"/>
              </a:ext>
            </a:extLst>
          </p:cNvPr>
          <p:cNvSpPr txBox="1"/>
          <p:nvPr/>
        </p:nvSpPr>
        <p:spPr>
          <a:xfrm>
            <a:off x="5235135" y="1729304"/>
            <a:ext cx="948478" cy="276999"/>
          </a:xfrm>
          <a:prstGeom prst="rect">
            <a:avLst/>
          </a:prstGeom>
          <a:noFill/>
        </p:spPr>
        <p:txBody>
          <a:bodyPr wrap="square" rtlCol="0">
            <a:spAutoFit/>
          </a:bodyPr>
          <a:lstStyle/>
          <a:p>
            <a:r>
              <a:rPr lang="fr-CA" sz="1200" dirty="0"/>
              <a:t>35 minutes</a:t>
            </a:r>
          </a:p>
        </p:txBody>
      </p:sp>
      <p:sp>
        <p:nvSpPr>
          <p:cNvPr id="22" name="ZoneTexte 21">
            <a:extLst>
              <a:ext uri="{FF2B5EF4-FFF2-40B4-BE49-F238E27FC236}">
                <a16:creationId xmlns:a16="http://schemas.microsoft.com/office/drawing/2014/main" id="{01989601-E1DA-7020-806C-BBF76F28BB15}"/>
              </a:ext>
            </a:extLst>
          </p:cNvPr>
          <p:cNvSpPr txBox="1"/>
          <p:nvPr/>
        </p:nvSpPr>
        <p:spPr>
          <a:xfrm>
            <a:off x="5215730" y="2536333"/>
            <a:ext cx="948478" cy="276999"/>
          </a:xfrm>
          <a:prstGeom prst="rect">
            <a:avLst/>
          </a:prstGeom>
          <a:noFill/>
        </p:spPr>
        <p:txBody>
          <a:bodyPr wrap="square" rtlCol="0">
            <a:spAutoFit/>
          </a:bodyPr>
          <a:lstStyle/>
          <a:p>
            <a:r>
              <a:rPr lang="fr-CA" sz="1200" dirty="0"/>
              <a:t>10 minutes</a:t>
            </a:r>
          </a:p>
        </p:txBody>
      </p:sp>
      <p:sp>
        <p:nvSpPr>
          <p:cNvPr id="23" name="ZoneTexte 22">
            <a:extLst>
              <a:ext uri="{FF2B5EF4-FFF2-40B4-BE49-F238E27FC236}">
                <a16:creationId xmlns:a16="http://schemas.microsoft.com/office/drawing/2014/main" id="{31C3185B-042A-0BCE-AD9D-F678E867A2BF}"/>
              </a:ext>
            </a:extLst>
          </p:cNvPr>
          <p:cNvSpPr txBox="1"/>
          <p:nvPr/>
        </p:nvSpPr>
        <p:spPr>
          <a:xfrm>
            <a:off x="5225933" y="4349605"/>
            <a:ext cx="948478" cy="276999"/>
          </a:xfrm>
          <a:prstGeom prst="rect">
            <a:avLst/>
          </a:prstGeom>
          <a:noFill/>
        </p:spPr>
        <p:txBody>
          <a:bodyPr wrap="square" rtlCol="0">
            <a:spAutoFit/>
          </a:bodyPr>
          <a:lstStyle/>
          <a:p>
            <a:r>
              <a:rPr lang="fr-CA" sz="1200" dirty="0"/>
              <a:t>10 minutes</a:t>
            </a:r>
          </a:p>
        </p:txBody>
      </p:sp>
      <p:cxnSp>
        <p:nvCxnSpPr>
          <p:cNvPr id="24" name="Connecteur droit 23">
            <a:extLst>
              <a:ext uri="{FF2B5EF4-FFF2-40B4-BE49-F238E27FC236}">
                <a16:creationId xmlns:a16="http://schemas.microsoft.com/office/drawing/2014/main" id="{E1DFFFB0-3736-56AA-092A-5BB1A1055984}"/>
              </a:ext>
            </a:extLst>
          </p:cNvPr>
          <p:cNvCxnSpPr/>
          <p:nvPr/>
        </p:nvCxnSpPr>
        <p:spPr>
          <a:xfrm flipV="1">
            <a:off x="5331831" y="4779885"/>
            <a:ext cx="716275" cy="675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ZoneTexte 24">
            <a:extLst>
              <a:ext uri="{FF2B5EF4-FFF2-40B4-BE49-F238E27FC236}">
                <a16:creationId xmlns:a16="http://schemas.microsoft.com/office/drawing/2014/main" id="{CA6FE226-08C7-D504-9BBD-A346576E604D}"/>
              </a:ext>
            </a:extLst>
          </p:cNvPr>
          <p:cNvSpPr txBox="1"/>
          <p:nvPr/>
        </p:nvSpPr>
        <p:spPr>
          <a:xfrm>
            <a:off x="5208043" y="4813118"/>
            <a:ext cx="948478" cy="276999"/>
          </a:xfrm>
          <a:prstGeom prst="rect">
            <a:avLst/>
          </a:prstGeom>
          <a:noFill/>
        </p:spPr>
        <p:txBody>
          <a:bodyPr wrap="square" rtlCol="0">
            <a:spAutoFit/>
          </a:bodyPr>
          <a:lstStyle/>
          <a:p>
            <a:r>
              <a:rPr lang="fr-CA" sz="1200" dirty="0"/>
              <a:t>85 minutes</a:t>
            </a:r>
          </a:p>
        </p:txBody>
      </p:sp>
      <p:sp>
        <p:nvSpPr>
          <p:cNvPr id="26" name="ZoneTexte 25">
            <a:extLst>
              <a:ext uri="{FF2B5EF4-FFF2-40B4-BE49-F238E27FC236}">
                <a16:creationId xmlns:a16="http://schemas.microsoft.com/office/drawing/2014/main" id="{E31AF8A5-B3A9-8F8A-5FF0-C2486DBDDC94}"/>
              </a:ext>
            </a:extLst>
          </p:cNvPr>
          <p:cNvSpPr txBox="1"/>
          <p:nvPr/>
        </p:nvSpPr>
        <p:spPr>
          <a:xfrm>
            <a:off x="5208043" y="1226254"/>
            <a:ext cx="3210254" cy="276999"/>
          </a:xfrm>
          <a:prstGeom prst="rect">
            <a:avLst/>
          </a:prstGeom>
          <a:noFill/>
        </p:spPr>
        <p:txBody>
          <a:bodyPr wrap="square" rtlCol="0">
            <a:spAutoFit/>
          </a:bodyPr>
          <a:lstStyle/>
          <a:p>
            <a:r>
              <a:rPr lang="fr-CA" sz="1200" dirty="0"/>
              <a:t>Environ 20 minutes de lecture</a:t>
            </a:r>
          </a:p>
        </p:txBody>
      </p:sp>
      <p:sp>
        <p:nvSpPr>
          <p:cNvPr id="4" name="ZoneTexte 3">
            <a:extLst>
              <a:ext uri="{FF2B5EF4-FFF2-40B4-BE49-F238E27FC236}">
                <a16:creationId xmlns:a16="http://schemas.microsoft.com/office/drawing/2014/main" id="{A5CDAACB-6DF2-87D1-B60A-ACBDB66111C8}"/>
              </a:ext>
            </a:extLst>
          </p:cNvPr>
          <p:cNvSpPr txBox="1"/>
          <p:nvPr/>
        </p:nvSpPr>
        <p:spPr>
          <a:xfrm>
            <a:off x="1694793" y="4884824"/>
            <a:ext cx="1747520" cy="273845"/>
          </a:xfrm>
          <a:prstGeom prst="rect">
            <a:avLst/>
          </a:prstGeom>
        </p:spPr>
        <p:txBody>
          <a:bodyPr vert="horz" wrap="square" lIns="91440" tIns="45720" rIns="91440" bIns="45720" rtlCol="0">
            <a:normAutofit fontScale="92500"/>
          </a:bodyPr>
          <a:lstStyle/>
          <a:p>
            <a:pPr>
              <a:buClr>
                <a:schemeClr val="accent2"/>
              </a:buClr>
              <a:buSzPct val="125000"/>
            </a:pPr>
            <a:r>
              <a:rPr lang="fr-CA" sz="900" dirty="0"/>
              <a:t>Par Hugo Lesley – HEC Montréal</a:t>
            </a:r>
          </a:p>
        </p:txBody>
      </p:sp>
      <p:sp>
        <p:nvSpPr>
          <p:cNvPr id="27" name="Accolade fermante 26">
            <a:extLst>
              <a:ext uri="{FF2B5EF4-FFF2-40B4-BE49-F238E27FC236}">
                <a16:creationId xmlns:a16="http://schemas.microsoft.com/office/drawing/2014/main" id="{05A66550-7E87-D042-B7B2-55BAC5CAF39A}"/>
              </a:ext>
            </a:extLst>
          </p:cNvPr>
          <p:cNvSpPr/>
          <p:nvPr/>
        </p:nvSpPr>
        <p:spPr>
          <a:xfrm>
            <a:off x="6140649" y="4331527"/>
            <a:ext cx="214314" cy="428628"/>
          </a:xfrm>
          <a:prstGeom prst="rightBrace">
            <a:avLst/>
          </a:prstGeom>
          <a:ln>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CA" sz="1350"/>
          </a:p>
        </p:txBody>
      </p:sp>
    </p:spTree>
    <p:extLst>
      <p:ext uri="{BB962C8B-B14F-4D97-AF65-F5344CB8AC3E}">
        <p14:creationId xmlns:p14="http://schemas.microsoft.com/office/powerpoint/2010/main" val="18711539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down)">
                                      <p:cBhvr>
                                        <p:cTn id="7" dur="500"/>
                                        <p:tgtEl>
                                          <p:spTgt spid="5">
                                            <p:txEl>
                                              <p:pRg st="0" end="0"/>
                                            </p:txEl>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5">
                                            <p:txEl>
                                              <p:pRg st="2" end="2"/>
                                            </p:txEl>
                                          </p:spTgt>
                                        </p:tgtEl>
                                        <p:attrNameLst>
                                          <p:attrName>style.visibility</p:attrName>
                                        </p:attrNameLst>
                                      </p:cBhvr>
                                      <p:to>
                                        <p:strVal val="visible"/>
                                      </p:to>
                                    </p:set>
                                    <p:animEffect transition="in" filter="wipe(down)">
                                      <p:cBhvr>
                                        <p:cTn id="10" dur="500"/>
                                        <p:tgtEl>
                                          <p:spTgt spid="5">
                                            <p:txEl>
                                              <p:pRg st="2" end="2"/>
                                            </p:txEl>
                                          </p:spTgt>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5">
                                            <p:txEl>
                                              <p:pRg st="4" end="4"/>
                                            </p:txEl>
                                          </p:spTgt>
                                        </p:tgtEl>
                                        <p:attrNameLst>
                                          <p:attrName>style.visibility</p:attrName>
                                        </p:attrNameLst>
                                      </p:cBhvr>
                                      <p:to>
                                        <p:strVal val="visible"/>
                                      </p:to>
                                    </p:set>
                                    <p:animEffect transition="in" filter="wipe(down)">
                                      <p:cBhvr>
                                        <p:cTn id="13" dur="500"/>
                                        <p:tgtEl>
                                          <p:spTgt spid="5">
                                            <p:txEl>
                                              <p:pRg st="4" end="4"/>
                                            </p:txEl>
                                          </p:spTgt>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5">
                                            <p:txEl>
                                              <p:pRg st="6" end="6"/>
                                            </p:txEl>
                                          </p:spTgt>
                                        </p:tgtEl>
                                        <p:attrNameLst>
                                          <p:attrName>style.visibility</p:attrName>
                                        </p:attrNameLst>
                                      </p:cBhvr>
                                      <p:to>
                                        <p:strVal val="visible"/>
                                      </p:to>
                                    </p:set>
                                    <p:animEffect transition="in" filter="wipe(down)">
                                      <p:cBhvr>
                                        <p:cTn id="16" dur="500"/>
                                        <p:tgtEl>
                                          <p:spTgt spid="5">
                                            <p:txEl>
                                              <p:pRg st="6" end="6"/>
                                            </p:txEl>
                                          </p:spTgt>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5">
                                            <p:txEl>
                                              <p:pRg st="8" end="8"/>
                                            </p:txEl>
                                          </p:spTgt>
                                        </p:tgtEl>
                                        <p:attrNameLst>
                                          <p:attrName>style.visibility</p:attrName>
                                        </p:attrNameLst>
                                      </p:cBhvr>
                                      <p:to>
                                        <p:strVal val="visible"/>
                                      </p:to>
                                    </p:set>
                                    <p:animEffect transition="in" filter="wipe(down)">
                                      <p:cBhvr>
                                        <p:cTn id="19" dur="500"/>
                                        <p:tgtEl>
                                          <p:spTgt spid="5">
                                            <p:txEl>
                                              <p:pRg st="8" end="8"/>
                                            </p:txEl>
                                          </p:spTgt>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5">
                                            <p:txEl>
                                              <p:pRg st="10" end="10"/>
                                            </p:txEl>
                                          </p:spTgt>
                                        </p:tgtEl>
                                        <p:attrNameLst>
                                          <p:attrName>style.visibility</p:attrName>
                                        </p:attrNameLst>
                                      </p:cBhvr>
                                      <p:to>
                                        <p:strVal val="visible"/>
                                      </p:to>
                                    </p:set>
                                    <p:animEffect transition="in" filter="wipe(down)">
                                      <p:cBhvr>
                                        <p:cTn id="22" dur="500"/>
                                        <p:tgtEl>
                                          <p:spTgt spid="5">
                                            <p:txEl>
                                              <p:pRg st="10" end="1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down)">
                                      <p:cBhvr>
                                        <p:cTn id="27" dur="500"/>
                                        <p:tgtEl>
                                          <p:spTgt spid="6"/>
                                        </p:tgtEl>
                                      </p:cBhvr>
                                    </p:animEffect>
                                  </p:childTnLst>
                                </p:cTn>
                              </p:par>
                              <p:par>
                                <p:cTn id="28" presetID="22" presetClass="entr" presetSubtype="4" fill="hold" grpId="0" nodeType="with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wipe(down)">
                                      <p:cBhvr>
                                        <p:cTn id="30" dur="500"/>
                                        <p:tgtEl>
                                          <p:spTgt spid="7"/>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grpId="0" nodeType="click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wipe(down)">
                                      <p:cBhvr>
                                        <p:cTn id="35" dur="500"/>
                                        <p:tgtEl>
                                          <p:spTgt spid="8"/>
                                        </p:tgtEl>
                                      </p:cBhvr>
                                    </p:animEffect>
                                  </p:childTnLst>
                                </p:cTn>
                              </p:par>
                              <p:par>
                                <p:cTn id="36" presetID="22" presetClass="entr" presetSubtype="4" fill="hold" grpId="0" nodeType="with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wipe(down)">
                                      <p:cBhvr>
                                        <p:cTn id="38" dur="500"/>
                                        <p:tgtEl>
                                          <p:spTgt spid="11"/>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4" fill="hold" grpId="0" nodeType="clickEffect">
                                  <p:stCondLst>
                                    <p:cond delay="0"/>
                                  </p:stCondLst>
                                  <p:childTnLst>
                                    <p:set>
                                      <p:cBhvr>
                                        <p:cTn id="42" dur="1" fill="hold">
                                          <p:stCondLst>
                                            <p:cond delay="0"/>
                                          </p:stCondLst>
                                        </p:cTn>
                                        <p:tgtEl>
                                          <p:spTgt spid="9"/>
                                        </p:tgtEl>
                                        <p:attrNameLst>
                                          <p:attrName>style.visibility</p:attrName>
                                        </p:attrNameLst>
                                      </p:cBhvr>
                                      <p:to>
                                        <p:strVal val="visible"/>
                                      </p:to>
                                    </p:set>
                                    <p:animEffect transition="in" filter="wipe(down)">
                                      <p:cBhvr>
                                        <p:cTn id="43" dur="500"/>
                                        <p:tgtEl>
                                          <p:spTgt spid="9"/>
                                        </p:tgtEl>
                                      </p:cBhvr>
                                    </p:animEffect>
                                  </p:childTnLst>
                                </p:cTn>
                              </p:par>
                              <p:par>
                                <p:cTn id="44" presetID="22" presetClass="entr" presetSubtype="4" fill="hold" grpId="0" nodeType="with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wipe(down)">
                                      <p:cBhvr>
                                        <p:cTn id="46" dur="500"/>
                                        <p:tgtEl>
                                          <p:spTgt spid="12"/>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4" fill="hold" grpId="0" nodeType="clickEffect">
                                  <p:stCondLst>
                                    <p:cond delay="0"/>
                                  </p:stCondLst>
                                  <p:childTnLst>
                                    <p:set>
                                      <p:cBhvr>
                                        <p:cTn id="50" dur="1" fill="hold">
                                          <p:stCondLst>
                                            <p:cond delay="0"/>
                                          </p:stCondLst>
                                        </p:cTn>
                                        <p:tgtEl>
                                          <p:spTgt spid="13"/>
                                        </p:tgtEl>
                                        <p:attrNameLst>
                                          <p:attrName>style.visibility</p:attrName>
                                        </p:attrNameLst>
                                      </p:cBhvr>
                                      <p:to>
                                        <p:strVal val="visible"/>
                                      </p:to>
                                    </p:set>
                                    <p:animEffect transition="in" filter="wipe(down)">
                                      <p:cBhvr>
                                        <p:cTn id="51" dur="500"/>
                                        <p:tgtEl>
                                          <p:spTgt spid="13"/>
                                        </p:tgtEl>
                                      </p:cBhvr>
                                    </p:animEffect>
                                  </p:childTnLst>
                                </p:cTn>
                              </p:par>
                              <p:par>
                                <p:cTn id="52" presetID="22" presetClass="entr" presetSubtype="4" fill="hold" grpId="0" nodeType="withEffect">
                                  <p:stCondLst>
                                    <p:cond delay="0"/>
                                  </p:stCondLst>
                                  <p:childTnLst>
                                    <p:set>
                                      <p:cBhvr>
                                        <p:cTn id="53" dur="1" fill="hold">
                                          <p:stCondLst>
                                            <p:cond delay="0"/>
                                          </p:stCondLst>
                                        </p:cTn>
                                        <p:tgtEl>
                                          <p:spTgt spid="27"/>
                                        </p:tgtEl>
                                        <p:attrNameLst>
                                          <p:attrName>style.visibility</p:attrName>
                                        </p:attrNameLst>
                                      </p:cBhvr>
                                      <p:to>
                                        <p:strVal val="visible"/>
                                      </p:to>
                                    </p:set>
                                    <p:animEffect transition="in" filter="wipe(down)">
                                      <p:cBhvr>
                                        <p:cTn id="54" dur="500"/>
                                        <p:tgtEl>
                                          <p:spTgt spid="27"/>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4" fill="hold" grpId="0" nodeType="clickEffect">
                                  <p:stCondLst>
                                    <p:cond delay="0"/>
                                  </p:stCondLst>
                                  <p:childTnLst>
                                    <p:set>
                                      <p:cBhvr>
                                        <p:cTn id="58" dur="1" fill="hold">
                                          <p:stCondLst>
                                            <p:cond delay="0"/>
                                          </p:stCondLst>
                                        </p:cTn>
                                        <p:tgtEl>
                                          <p:spTgt spid="19"/>
                                        </p:tgtEl>
                                        <p:attrNameLst>
                                          <p:attrName>style.visibility</p:attrName>
                                        </p:attrNameLst>
                                      </p:cBhvr>
                                      <p:to>
                                        <p:strVal val="visible"/>
                                      </p:to>
                                    </p:set>
                                    <p:animEffect transition="in" filter="wipe(down)">
                                      <p:cBhvr>
                                        <p:cTn id="59" dur="500"/>
                                        <p:tgtEl>
                                          <p:spTgt spid="19"/>
                                        </p:tgtEl>
                                      </p:cBhvr>
                                    </p:animEffect>
                                  </p:childTnLst>
                                </p:cTn>
                              </p:par>
                            </p:childTnLst>
                          </p:cTn>
                        </p:par>
                      </p:childTnLst>
                    </p:cTn>
                  </p:par>
                  <p:par>
                    <p:cTn id="60" fill="hold">
                      <p:stCondLst>
                        <p:cond delay="indefinite"/>
                      </p:stCondLst>
                      <p:childTnLst>
                        <p:par>
                          <p:cTn id="61" fill="hold">
                            <p:stCondLst>
                              <p:cond delay="0"/>
                            </p:stCondLst>
                            <p:childTnLst>
                              <p:par>
                                <p:cTn id="62" presetID="16" presetClass="entr" presetSubtype="21" fill="hold" grpId="0" nodeType="clickEffect">
                                  <p:stCondLst>
                                    <p:cond delay="0"/>
                                  </p:stCondLst>
                                  <p:childTnLst>
                                    <p:set>
                                      <p:cBhvr>
                                        <p:cTn id="63" dur="1" fill="hold">
                                          <p:stCondLst>
                                            <p:cond delay="0"/>
                                          </p:stCondLst>
                                        </p:cTn>
                                        <p:tgtEl>
                                          <p:spTgt spid="21"/>
                                        </p:tgtEl>
                                        <p:attrNameLst>
                                          <p:attrName>style.visibility</p:attrName>
                                        </p:attrNameLst>
                                      </p:cBhvr>
                                      <p:to>
                                        <p:strVal val="visible"/>
                                      </p:to>
                                    </p:set>
                                    <p:animEffect transition="in" filter="barn(inVertical)">
                                      <p:cBhvr>
                                        <p:cTn id="64" dur="500"/>
                                        <p:tgtEl>
                                          <p:spTgt spid="21"/>
                                        </p:tgtEl>
                                      </p:cBhvr>
                                    </p:animEffect>
                                  </p:childTnLst>
                                </p:cTn>
                              </p:par>
                              <p:par>
                                <p:cTn id="65" presetID="16" presetClass="entr" presetSubtype="21" fill="hold" grpId="0" nodeType="withEffect">
                                  <p:stCondLst>
                                    <p:cond delay="0"/>
                                  </p:stCondLst>
                                  <p:childTnLst>
                                    <p:set>
                                      <p:cBhvr>
                                        <p:cTn id="66" dur="1" fill="hold">
                                          <p:stCondLst>
                                            <p:cond delay="0"/>
                                          </p:stCondLst>
                                        </p:cTn>
                                        <p:tgtEl>
                                          <p:spTgt spid="22"/>
                                        </p:tgtEl>
                                        <p:attrNameLst>
                                          <p:attrName>style.visibility</p:attrName>
                                        </p:attrNameLst>
                                      </p:cBhvr>
                                      <p:to>
                                        <p:strVal val="visible"/>
                                      </p:to>
                                    </p:set>
                                    <p:animEffect transition="in" filter="barn(inVertical)">
                                      <p:cBhvr>
                                        <p:cTn id="67" dur="500"/>
                                        <p:tgtEl>
                                          <p:spTgt spid="22"/>
                                        </p:tgtEl>
                                      </p:cBhvr>
                                    </p:animEffect>
                                  </p:childTnLst>
                                </p:cTn>
                              </p:par>
                              <p:par>
                                <p:cTn id="68" presetID="16" presetClass="entr" presetSubtype="21" fill="hold" grpId="0" nodeType="withEffect">
                                  <p:stCondLst>
                                    <p:cond delay="0"/>
                                  </p:stCondLst>
                                  <p:childTnLst>
                                    <p:set>
                                      <p:cBhvr>
                                        <p:cTn id="69" dur="1" fill="hold">
                                          <p:stCondLst>
                                            <p:cond delay="0"/>
                                          </p:stCondLst>
                                        </p:cTn>
                                        <p:tgtEl>
                                          <p:spTgt spid="20"/>
                                        </p:tgtEl>
                                        <p:attrNameLst>
                                          <p:attrName>style.visibility</p:attrName>
                                        </p:attrNameLst>
                                      </p:cBhvr>
                                      <p:to>
                                        <p:strVal val="visible"/>
                                      </p:to>
                                    </p:set>
                                    <p:animEffect transition="in" filter="barn(inVertical)">
                                      <p:cBhvr>
                                        <p:cTn id="70" dur="500"/>
                                        <p:tgtEl>
                                          <p:spTgt spid="20"/>
                                        </p:tgtEl>
                                      </p:cBhvr>
                                    </p:animEffect>
                                  </p:childTnLst>
                                </p:cTn>
                              </p:par>
                              <p:par>
                                <p:cTn id="71" presetID="16" presetClass="entr" presetSubtype="21" fill="hold" grpId="0" nodeType="withEffect">
                                  <p:stCondLst>
                                    <p:cond delay="0"/>
                                  </p:stCondLst>
                                  <p:childTnLst>
                                    <p:set>
                                      <p:cBhvr>
                                        <p:cTn id="72" dur="1" fill="hold">
                                          <p:stCondLst>
                                            <p:cond delay="0"/>
                                          </p:stCondLst>
                                        </p:cTn>
                                        <p:tgtEl>
                                          <p:spTgt spid="23"/>
                                        </p:tgtEl>
                                        <p:attrNameLst>
                                          <p:attrName>style.visibility</p:attrName>
                                        </p:attrNameLst>
                                      </p:cBhvr>
                                      <p:to>
                                        <p:strVal val="visible"/>
                                      </p:to>
                                    </p:set>
                                    <p:animEffect transition="in" filter="barn(inVertical)">
                                      <p:cBhvr>
                                        <p:cTn id="73" dur="500"/>
                                        <p:tgtEl>
                                          <p:spTgt spid="23"/>
                                        </p:tgtEl>
                                      </p:cBhvr>
                                    </p:animEffect>
                                  </p:childTnLst>
                                </p:cTn>
                              </p:par>
                              <p:par>
                                <p:cTn id="74" presetID="16" presetClass="entr" presetSubtype="21" fill="hold" nodeType="withEffect">
                                  <p:stCondLst>
                                    <p:cond delay="0"/>
                                  </p:stCondLst>
                                  <p:childTnLst>
                                    <p:set>
                                      <p:cBhvr>
                                        <p:cTn id="75" dur="1" fill="hold">
                                          <p:stCondLst>
                                            <p:cond delay="0"/>
                                          </p:stCondLst>
                                        </p:cTn>
                                        <p:tgtEl>
                                          <p:spTgt spid="24"/>
                                        </p:tgtEl>
                                        <p:attrNameLst>
                                          <p:attrName>style.visibility</p:attrName>
                                        </p:attrNameLst>
                                      </p:cBhvr>
                                      <p:to>
                                        <p:strVal val="visible"/>
                                      </p:to>
                                    </p:set>
                                    <p:animEffect transition="in" filter="barn(inVertical)">
                                      <p:cBhvr>
                                        <p:cTn id="76" dur="500"/>
                                        <p:tgtEl>
                                          <p:spTgt spid="24"/>
                                        </p:tgtEl>
                                      </p:cBhvr>
                                    </p:animEffect>
                                  </p:childTnLst>
                                </p:cTn>
                              </p:par>
                              <p:par>
                                <p:cTn id="77" presetID="16" presetClass="entr" presetSubtype="21" fill="hold" grpId="0" nodeType="withEffect">
                                  <p:stCondLst>
                                    <p:cond delay="0"/>
                                  </p:stCondLst>
                                  <p:childTnLst>
                                    <p:set>
                                      <p:cBhvr>
                                        <p:cTn id="78" dur="1" fill="hold">
                                          <p:stCondLst>
                                            <p:cond delay="0"/>
                                          </p:stCondLst>
                                        </p:cTn>
                                        <p:tgtEl>
                                          <p:spTgt spid="25"/>
                                        </p:tgtEl>
                                        <p:attrNameLst>
                                          <p:attrName>style.visibility</p:attrName>
                                        </p:attrNameLst>
                                      </p:cBhvr>
                                      <p:to>
                                        <p:strVal val="visible"/>
                                      </p:to>
                                    </p:set>
                                    <p:animEffect transition="in" filter="barn(inVertical)">
                                      <p:cBhvr>
                                        <p:cTn id="79" dur="500"/>
                                        <p:tgtEl>
                                          <p:spTgt spid="25"/>
                                        </p:tgtEl>
                                      </p:cBhvr>
                                    </p:animEffect>
                                  </p:childTnLst>
                                </p:cTn>
                              </p:par>
                              <p:par>
                                <p:cTn id="80" presetID="16" presetClass="entr" presetSubtype="21" fill="hold" grpId="0" nodeType="withEffect">
                                  <p:stCondLst>
                                    <p:cond delay="0"/>
                                  </p:stCondLst>
                                  <p:childTnLst>
                                    <p:set>
                                      <p:cBhvr>
                                        <p:cTn id="81" dur="1" fill="hold">
                                          <p:stCondLst>
                                            <p:cond delay="0"/>
                                          </p:stCondLst>
                                        </p:cTn>
                                        <p:tgtEl>
                                          <p:spTgt spid="26"/>
                                        </p:tgtEl>
                                        <p:attrNameLst>
                                          <p:attrName>style.visibility</p:attrName>
                                        </p:attrNameLst>
                                      </p:cBhvr>
                                      <p:to>
                                        <p:strVal val="visible"/>
                                      </p:to>
                                    </p:set>
                                    <p:animEffect transition="in" filter="barn(inVertical)">
                                      <p:cBhvr>
                                        <p:cTn id="82"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P spid="6" grpId="0" animBg="1"/>
      <p:bldP spid="7" grpId="0"/>
      <p:bldP spid="8" grpId="0" animBg="1"/>
      <p:bldP spid="9" grpId="0" animBg="1"/>
      <p:bldP spid="11" grpId="0"/>
      <p:bldP spid="12" grpId="0"/>
      <p:bldP spid="13" grpId="0"/>
      <p:bldP spid="19" grpId="0"/>
      <p:bldP spid="20" grpId="0"/>
      <p:bldP spid="21" grpId="0"/>
      <p:bldP spid="22" grpId="0"/>
      <p:bldP spid="23" grpId="0"/>
      <p:bldP spid="25" grpId="0"/>
      <p:bldP spid="26" grpId="0"/>
      <p:bldP spid="27"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texte 5"/>
          <p:cNvSpPr>
            <a:spLocks noGrp="1"/>
          </p:cNvSpPr>
          <p:nvPr>
            <p:ph type="body" idx="1"/>
          </p:nvPr>
        </p:nvSpPr>
        <p:spPr/>
        <p:txBody>
          <a:bodyPr/>
          <a:lstStyle/>
          <a:p>
            <a:r>
              <a:rPr lang="fr-CA" dirty="0"/>
              <a:t>OÉ 1 – Information financière</a:t>
            </a:r>
          </a:p>
        </p:txBody>
      </p:sp>
      <p:sp>
        <p:nvSpPr>
          <p:cNvPr id="5" name="Titre 4"/>
          <p:cNvSpPr>
            <a:spLocks noGrp="1"/>
          </p:cNvSpPr>
          <p:nvPr>
            <p:ph type="title"/>
          </p:nvPr>
        </p:nvSpPr>
        <p:spPr/>
        <p:txBody>
          <a:bodyPr/>
          <a:lstStyle/>
          <a:p>
            <a:r>
              <a:rPr lang="fr-CA" dirty="0"/>
              <a:t>Occasion d’évaluation #1</a:t>
            </a:r>
          </a:p>
        </p:txBody>
      </p:sp>
    </p:spTree>
    <p:extLst>
      <p:ext uri="{BB962C8B-B14F-4D97-AF65-F5344CB8AC3E}">
        <p14:creationId xmlns:p14="http://schemas.microsoft.com/office/powerpoint/2010/main" val="29481105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3019" y="424360"/>
            <a:ext cx="7514035" cy="605188"/>
          </a:xfrm>
        </p:spPr>
        <p:txBody>
          <a:bodyPr>
            <a:normAutofit/>
          </a:bodyPr>
          <a:lstStyle/>
          <a:p>
            <a:r>
              <a:rPr lang="fr-CA" dirty="0"/>
              <a:t>OÉ1 – Information financière</a:t>
            </a:r>
          </a:p>
        </p:txBody>
      </p:sp>
      <p:sp>
        <p:nvSpPr>
          <p:cNvPr id="3" name="Espace réservé du pied de page 2"/>
          <p:cNvSpPr>
            <a:spLocks noGrp="1"/>
          </p:cNvSpPr>
          <p:nvPr>
            <p:ph type="ftr" sz="quarter" idx="4294967295"/>
          </p:nvPr>
        </p:nvSpPr>
        <p:spPr/>
        <p:txBody>
          <a:bodyPr/>
          <a:lstStyle/>
          <a:p>
            <a:endParaRPr lang="fr-CA" dirty="0"/>
          </a:p>
        </p:txBody>
      </p:sp>
      <p:sp>
        <p:nvSpPr>
          <p:cNvPr id="4" name="Espace réservé du contenu 3"/>
          <p:cNvSpPr>
            <a:spLocks noGrp="1"/>
          </p:cNvSpPr>
          <p:nvPr>
            <p:ph sz="quarter" idx="1"/>
          </p:nvPr>
        </p:nvSpPr>
        <p:spPr>
          <a:xfrm>
            <a:off x="565351" y="1272619"/>
            <a:ext cx="7514034" cy="3305676"/>
          </a:xfrm>
        </p:spPr>
        <p:txBody>
          <a:bodyPr>
            <a:normAutofit/>
          </a:bodyPr>
          <a:lstStyle/>
          <a:p>
            <a:pPr algn="ctr">
              <a:buNone/>
            </a:pPr>
            <a:r>
              <a:rPr lang="fr-CA" b="1" dirty="0"/>
              <a:t>Traite des ajustements à apporter </a:t>
            </a:r>
          </a:p>
          <a:p>
            <a:pPr algn="ctr">
              <a:buNone/>
            </a:pPr>
            <a:r>
              <a:rPr lang="fr-CA" b="1" dirty="0"/>
              <a:t>par suite des constatations de l’auditeur.</a:t>
            </a:r>
          </a:p>
          <a:p>
            <a:pPr>
              <a:buNone/>
            </a:pPr>
            <a:endParaRPr lang="fr-CA" b="1" dirty="0"/>
          </a:p>
          <a:p>
            <a:pPr marL="1281113" indent="-385763">
              <a:buFont typeface="+mj-lt"/>
              <a:buAutoNum type="arabicPeriod"/>
            </a:pPr>
            <a:r>
              <a:rPr lang="fr-CA" dirty="0"/>
              <a:t>Opérations en devises</a:t>
            </a:r>
          </a:p>
          <a:p>
            <a:pPr marL="1281113" indent="-385763">
              <a:buFont typeface="+mj-lt"/>
              <a:buAutoNum type="arabicPeriod"/>
            </a:pPr>
            <a:r>
              <a:rPr lang="fr-CA" dirty="0"/>
              <a:t>Prêt à l’habitation</a:t>
            </a:r>
          </a:p>
          <a:p>
            <a:pPr marL="1281113" indent="-385763">
              <a:buFont typeface="+mj-lt"/>
              <a:buAutoNum type="arabicPeriod"/>
            </a:pPr>
            <a:r>
              <a:rPr lang="fr-CA" dirty="0"/>
              <a:t>Prêt à l’habitation à l’employé retraité</a:t>
            </a:r>
          </a:p>
          <a:p>
            <a:pPr marL="1281113" indent="-385763">
              <a:buFont typeface="+mj-lt"/>
              <a:buAutoNum type="arabicPeriod"/>
            </a:pPr>
            <a:r>
              <a:rPr lang="fr-CA" dirty="0"/>
              <a:t>Provision pour prêts à l’habitation</a:t>
            </a:r>
          </a:p>
          <a:p>
            <a:pPr marL="1281113" indent="-385763">
              <a:buFont typeface="+mj-lt"/>
              <a:buAutoNum type="arabicPeriod"/>
            </a:pPr>
            <a:r>
              <a:rPr lang="fr-CA" dirty="0"/>
              <a:t>Stock de matériaux pour les fondations (1,25M$)</a:t>
            </a:r>
          </a:p>
          <a:p>
            <a:pPr marL="1281113" indent="-385763">
              <a:buFont typeface="+mj-lt"/>
              <a:buAutoNum type="arabicPeriod"/>
            </a:pPr>
            <a:r>
              <a:rPr lang="fr-CA" dirty="0"/>
              <a:t>Stocks excédentaires (900k$)</a:t>
            </a:r>
          </a:p>
          <a:p>
            <a:pPr marL="1281113" indent="-385763">
              <a:buFont typeface="+mj-lt"/>
              <a:buAutoNum type="arabicPeriod"/>
            </a:pPr>
            <a:r>
              <a:rPr lang="fr-CA" dirty="0"/>
              <a:t>Actif incorporel – dépréciation</a:t>
            </a:r>
          </a:p>
        </p:txBody>
      </p:sp>
      <p:sp>
        <p:nvSpPr>
          <p:cNvPr id="6" name="Espace réservé du numéro de diapositive 4">
            <a:extLst>
              <a:ext uri="{FF2B5EF4-FFF2-40B4-BE49-F238E27FC236}">
                <a16:creationId xmlns:a16="http://schemas.microsoft.com/office/drawing/2014/main" id="{8BD03DF6-ADD7-7D2E-D838-EECBBA477E41}"/>
              </a:ext>
            </a:extLst>
          </p:cNvPr>
          <p:cNvSpPr txBox="1">
            <a:spLocks/>
          </p:cNvSpPr>
          <p:nvPr/>
        </p:nvSpPr>
        <p:spPr>
          <a:xfrm>
            <a:off x="8545786" y="4650963"/>
            <a:ext cx="413375" cy="273844"/>
          </a:xfr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B5DEC05-AB38-4F58-9609-FFF4AA167839}" type="slidenum">
              <a:rPr lang="fr-CA" sz="1050" smtClean="0"/>
              <a:pPr/>
              <a:t>29</a:t>
            </a:fld>
            <a:endParaRPr lang="fr-CA" sz="1050" dirty="0"/>
          </a:p>
        </p:txBody>
      </p:sp>
      <p:sp>
        <p:nvSpPr>
          <p:cNvPr id="21" name="ZoneTexte 20">
            <a:extLst>
              <a:ext uri="{FF2B5EF4-FFF2-40B4-BE49-F238E27FC236}">
                <a16:creationId xmlns:a16="http://schemas.microsoft.com/office/drawing/2014/main" id="{8DCD5A38-3DAE-2514-5F84-ED1B32C3B6D6}"/>
              </a:ext>
            </a:extLst>
          </p:cNvPr>
          <p:cNvSpPr txBox="1"/>
          <p:nvPr/>
        </p:nvSpPr>
        <p:spPr>
          <a:xfrm>
            <a:off x="3034454" y="4924807"/>
            <a:ext cx="1747520" cy="273845"/>
          </a:xfrm>
          <a:prstGeom prst="rect">
            <a:avLst/>
          </a:prstGeom>
        </p:spPr>
        <p:txBody>
          <a:bodyPr vert="horz" wrap="square" lIns="91440" tIns="45720" rIns="91440" bIns="45720" rtlCol="0">
            <a:normAutofit fontScale="92500"/>
          </a:bodyPr>
          <a:lstStyle/>
          <a:p>
            <a:pPr>
              <a:buClr>
                <a:schemeClr val="accent2"/>
              </a:buClr>
              <a:buSzPct val="125000"/>
            </a:pPr>
            <a:r>
              <a:rPr lang="fr-CA" sz="900" dirty="0"/>
              <a:t>Par Hugo Lesley – HEC Montréal</a:t>
            </a:r>
          </a:p>
        </p:txBody>
      </p:sp>
    </p:spTree>
    <p:extLst>
      <p:ext uri="{BB962C8B-B14F-4D97-AF65-F5344CB8AC3E}">
        <p14:creationId xmlns:p14="http://schemas.microsoft.com/office/powerpoint/2010/main" val="193588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animEffect transition="in" filter="fade">
                                      <p:cBhvr>
                                        <p:cTn id="7" dur="1000"/>
                                        <p:tgtEl>
                                          <p:spTgt spid="4">
                                            <p:txEl>
                                              <p:pRg st="3" end="3"/>
                                            </p:txEl>
                                          </p:spTgt>
                                        </p:tgtEl>
                                      </p:cBhvr>
                                    </p:animEffect>
                                    <p:anim calcmode="lin" valueType="num">
                                      <p:cBhvr>
                                        <p:cTn id="8"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xEl>
                                              <p:pRg st="4" end="4"/>
                                            </p:txEl>
                                          </p:spTgt>
                                        </p:tgtEl>
                                        <p:attrNameLst>
                                          <p:attrName>style.visibility</p:attrName>
                                        </p:attrNameLst>
                                      </p:cBhvr>
                                      <p:to>
                                        <p:strVal val="visible"/>
                                      </p:to>
                                    </p:set>
                                    <p:animEffect transition="in" filter="fade">
                                      <p:cBhvr>
                                        <p:cTn id="14" dur="1000"/>
                                        <p:tgtEl>
                                          <p:spTgt spid="4">
                                            <p:txEl>
                                              <p:pRg st="4" end="4"/>
                                            </p:txEl>
                                          </p:spTgt>
                                        </p:tgtEl>
                                      </p:cBhvr>
                                    </p:animEffect>
                                    <p:anim calcmode="lin" valueType="num">
                                      <p:cBhvr>
                                        <p:cTn id="15"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4">
                                            <p:txEl>
                                              <p:pRg st="5" end="5"/>
                                            </p:txEl>
                                          </p:spTgt>
                                        </p:tgtEl>
                                        <p:attrNameLst>
                                          <p:attrName>style.visibility</p:attrName>
                                        </p:attrNameLst>
                                      </p:cBhvr>
                                      <p:to>
                                        <p:strVal val="visible"/>
                                      </p:to>
                                    </p:set>
                                    <p:animEffect transition="in" filter="fade">
                                      <p:cBhvr>
                                        <p:cTn id="21" dur="1000"/>
                                        <p:tgtEl>
                                          <p:spTgt spid="4">
                                            <p:txEl>
                                              <p:pRg st="5" end="5"/>
                                            </p:txEl>
                                          </p:spTgt>
                                        </p:tgtEl>
                                      </p:cBhvr>
                                    </p:animEffect>
                                    <p:anim calcmode="lin" valueType="num">
                                      <p:cBhvr>
                                        <p:cTn id="22"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23" dur="1000" fill="hold"/>
                                        <p:tgtEl>
                                          <p:spTgt spid="4">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4">
                                            <p:txEl>
                                              <p:pRg st="6" end="6"/>
                                            </p:txEl>
                                          </p:spTgt>
                                        </p:tgtEl>
                                        <p:attrNameLst>
                                          <p:attrName>style.visibility</p:attrName>
                                        </p:attrNameLst>
                                      </p:cBhvr>
                                      <p:to>
                                        <p:strVal val="visible"/>
                                      </p:to>
                                    </p:set>
                                    <p:animEffect transition="in" filter="fade">
                                      <p:cBhvr>
                                        <p:cTn id="28" dur="1000"/>
                                        <p:tgtEl>
                                          <p:spTgt spid="4">
                                            <p:txEl>
                                              <p:pRg st="6" end="6"/>
                                            </p:txEl>
                                          </p:spTgt>
                                        </p:tgtEl>
                                      </p:cBhvr>
                                    </p:animEffect>
                                    <p:anim calcmode="lin" valueType="num">
                                      <p:cBhvr>
                                        <p:cTn id="29"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4">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animEffect transition="in" filter="fade">
                                      <p:cBhvr>
                                        <p:cTn id="35" dur="1000"/>
                                        <p:tgtEl>
                                          <p:spTgt spid="4">
                                            <p:txEl>
                                              <p:pRg st="7" end="7"/>
                                            </p:txEl>
                                          </p:spTgt>
                                        </p:tgtEl>
                                      </p:cBhvr>
                                    </p:animEffect>
                                    <p:anim calcmode="lin" valueType="num">
                                      <p:cBhvr>
                                        <p:cTn id="36" dur="10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37" dur="1000" fill="hold"/>
                                        <p:tgtEl>
                                          <p:spTgt spid="4">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4">
                                            <p:txEl>
                                              <p:pRg st="8" end="8"/>
                                            </p:txEl>
                                          </p:spTgt>
                                        </p:tgtEl>
                                        <p:attrNameLst>
                                          <p:attrName>style.visibility</p:attrName>
                                        </p:attrNameLst>
                                      </p:cBhvr>
                                      <p:to>
                                        <p:strVal val="visible"/>
                                      </p:to>
                                    </p:set>
                                    <p:animEffect transition="in" filter="fade">
                                      <p:cBhvr>
                                        <p:cTn id="42" dur="1000"/>
                                        <p:tgtEl>
                                          <p:spTgt spid="4">
                                            <p:txEl>
                                              <p:pRg st="8" end="8"/>
                                            </p:txEl>
                                          </p:spTgt>
                                        </p:tgtEl>
                                      </p:cBhvr>
                                    </p:animEffect>
                                    <p:anim calcmode="lin" valueType="num">
                                      <p:cBhvr>
                                        <p:cTn id="43" dur="1000" fill="hold"/>
                                        <p:tgtEl>
                                          <p:spTgt spid="4">
                                            <p:txEl>
                                              <p:pRg st="8" end="8"/>
                                            </p:txEl>
                                          </p:spTgt>
                                        </p:tgtEl>
                                        <p:attrNameLst>
                                          <p:attrName>ppt_x</p:attrName>
                                        </p:attrNameLst>
                                      </p:cBhvr>
                                      <p:tavLst>
                                        <p:tav tm="0">
                                          <p:val>
                                            <p:strVal val="#ppt_x"/>
                                          </p:val>
                                        </p:tav>
                                        <p:tav tm="100000">
                                          <p:val>
                                            <p:strVal val="#ppt_x"/>
                                          </p:val>
                                        </p:tav>
                                      </p:tavLst>
                                    </p:anim>
                                    <p:anim calcmode="lin" valueType="num">
                                      <p:cBhvr>
                                        <p:cTn id="44" dur="1000" fill="hold"/>
                                        <p:tgtEl>
                                          <p:spTgt spid="4">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4">
                                            <p:txEl>
                                              <p:pRg st="9" end="9"/>
                                            </p:txEl>
                                          </p:spTgt>
                                        </p:tgtEl>
                                        <p:attrNameLst>
                                          <p:attrName>style.visibility</p:attrName>
                                        </p:attrNameLst>
                                      </p:cBhvr>
                                      <p:to>
                                        <p:strVal val="visible"/>
                                      </p:to>
                                    </p:set>
                                    <p:animEffect transition="in" filter="fade">
                                      <p:cBhvr>
                                        <p:cTn id="49" dur="1000"/>
                                        <p:tgtEl>
                                          <p:spTgt spid="4">
                                            <p:txEl>
                                              <p:pRg st="9" end="9"/>
                                            </p:txEl>
                                          </p:spTgt>
                                        </p:tgtEl>
                                      </p:cBhvr>
                                    </p:animEffect>
                                    <p:anim calcmode="lin" valueType="num">
                                      <p:cBhvr>
                                        <p:cTn id="50" dur="1000" fill="hold"/>
                                        <p:tgtEl>
                                          <p:spTgt spid="4">
                                            <p:txEl>
                                              <p:pRg st="9" end="9"/>
                                            </p:txEl>
                                          </p:spTgt>
                                        </p:tgtEl>
                                        <p:attrNameLst>
                                          <p:attrName>ppt_x</p:attrName>
                                        </p:attrNameLst>
                                      </p:cBhvr>
                                      <p:tavLst>
                                        <p:tav tm="0">
                                          <p:val>
                                            <p:strVal val="#ppt_x"/>
                                          </p:val>
                                        </p:tav>
                                        <p:tav tm="100000">
                                          <p:val>
                                            <p:strVal val="#ppt_x"/>
                                          </p:val>
                                        </p:tav>
                                      </p:tavLst>
                                    </p:anim>
                                    <p:anim calcmode="lin" valueType="num">
                                      <p:cBhvr>
                                        <p:cTn id="51" dur="1000" fill="hold"/>
                                        <p:tgtEl>
                                          <p:spTgt spid="4">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96839" y="1029547"/>
            <a:ext cx="6326030" cy="3629163"/>
          </a:xfrm>
        </p:spPr>
        <p:txBody>
          <a:bodyPr>
            <a:normAutofit/>
          </a:bodyPr>
          <a:lstStyle/>
          <a:p>
            <a:r>
              <a:rPr lang="fr-FR" b="1" dirty="0"/>
              <a:t>Structure pour traiter en profondeur d’un problème d’information financière</a:t>
            </a:r>
          </a:p>
          <a:p>
            <a:pPr marL="285750" indent="-285750">
              <a:buClr>
                <a:schemeClr val="tx1"/>
              </a:buClr>
              <a:buFont typeface="Arial" panose="020B0604020202020204" pitchFamily="34" charset="0"/>
              <a:buChar char="•"/>
            </a:pPr>
            <a:r>
              <a:rPr lang="fr-FR" sz="1500" dirty="0"/>
              <a:t>Question qui se pose (Identification du problème)</a:t>
            </a:r>
          </a:p>
          <a:p>
            <a:pPr marL="285750" indent="-285750">
              <a:buClr>
                <a:schemeClr val="tx1"/>
              </a:buClr>
              <a:buFont typeface="Arial" panose="020B0604020202020204" pitchFamily="34" charset="0"/>
              <a:buChar char="•"/>
            </a:pPr>
            <a:r>
              <a:rPr lang="fr-FR" sz="1500" dirty="0"/>
              <a:t>Norme applicable (Manuel) et analyse des faits du cas appliqués à la norme</a:t>
            </a:r>
          </a:p>
          <a:p>
            <a:pPr marL="285750" indent="-285750">
              <a:buClr>
                <a:schemeClr val="tx1"/>
              </a:buClr>
              <a:buFont typeface="Arial" panose="020B0604020202020204" pitchFamily="34" charset="0"/>
              <a:buChar char="•"/>
            </a:pPr>
            <a:r>
              <a:rPr lang="fr-FR" sz="1500" dirty="0"/>
              <a:t>Parties prenantes (lorsque pertinent)</a:t>
            </a:r>
          </a:p>
          <a:p>
            <a:pPr marL="285750" indent="-285750">
              <a:buClr>
                <a:schemeClr val="tx1"/>
              </a:buClr>
              <a:buFont typeface="Arial" panose="020B0604020202020204" pitchFamily="34" charset="0"/>
              <a:buChar char="•"/>
            </a:pPr>
            <a:r>
              <a:rPr lang="fr-FR" sz="1500" dirty="0"/>
              <a:t>Recommandation sur le traitement adéquat et impact sur les </a:t>
            </a:r>
            <a:r>
              <a:rPr lang="fr-FR" sz="1500" dirty="0" err="1"/>
              <a:t>ÉFs</a:t>
            </a:r>
            <a:r>
              <a:rPr lang="fr-FR" sz="1500" dirty="0"/>
              <a:t> (ajustement)</a:t>
            </a:r>
          </a:p>
          <a:p>
            <a:pPr marL="285750" indent="-285750">
              <a:buClr>
                <a:schemeClr val="tx1"/>
              </a:buClr>
              <a:buFont typeface="Arial" panose="020B0604020202020204" pitchFamily="34" charset="0"/>
              <a:buChar char="•"/>
            </a:pPr>
            <a:endParaRPr lang="fr-FR" sz="1500" dirty="0"/>
          </a:p>
          <a:p>
            <a:pPr marL="285750" indent="-285750">
              <a:buClr>
                <a:schemeClr val="tx1"/>
              </a:buClr>
              <a:buFont typeface="Wingdings" pitchFamily="2" charset="2"/>
              <a:buChar char="Ø"/>
            </a:pPr>
            <a:r>
              <a:rPr lang="fr-FR" sz="1500" dirty="0"/>
              <a:t>Traiter de certaines problématiques </a:t>
            </a:r>
            <a:r>
              <a:rPr lang="fr-FR" sz="1500" u="sng" dirty="0"/>
              <a:t>en profondeur</a:t>
            </a:r>
            <a:endParaRPr lang="fr-FR" sz="1500" dirty="0"/>
          </a:p>
        </p:txBody>
      </p:sp>
      <p:sp>
        <p:nvSpPr>
          <p:cNvPr id="6" name="Titre 1">
            <a:extLst>
              <a:ext uri="{FF2B5EF4-FFF2-40B4-BE49-F238E27FC236}">
                <a16:creationId xmlns:a16="http://schemas.microsoft.com/office/drawing/2014/main" id="{24E0FC4B-F0B4-124B-8053-260CBC8628B8}"/>
              </a:ext>
            </a:extLst>
          </p:cNvPr>
          <p:cNvSpPr>
            <a:spLocks noGrp="1"/>
          </p:cNvSpPr>
          <p:nvPr>
            <p:ph type="title"/>
          </p:nvPr>
        </p:nvSpPr>
        <p:spPr>
          <a:xfrm>
            <a:off x="253019" y="424360"/>
            <a:ext cx="7514035" cy="605188"/>
          </a:xfrm>
          <a:noFill/>
        </p:spPr>
        <p:txBody>
          <a:bodyPr>
            <a:normAutofit/>
          </a:bodyPr>
          <a:lstStyle/>
          <a:p>
            <a:r>
              <a:rPr lang="fr-CA" sz="2340" b="1" dirty="0">
                <a:solidFill>
                  <a:schemeClr val="accent2"/>
                </a:solidFill>
                <a:latin typeface="+mj-lt"/>
              </a:rPr>
              <a:t>Important pour cette occasion d’évaluation :</a:t>
            </a:r>
          </a:p>
        </p:txBody>
      </p:sp>
      <p:sp>
        <p:nvSpPr>
          <p:cNvPr id="4" name="Espace réservé du numéro de diapositive 4">
            <a:extLst>
              <a:ext uri="{FF2B5EF4-FFF2-40B4-BE49-F238E27FC236}">
                <a16:creationId xmlns:a16="http://schemas.microsoft.com/office/drawing/2014/main" id="{0CF90C1E-484F-8F4E-B71C-9EBA369E7AA8}"/>
              </a:ext>
            </a:extLst>
          </p:cNvPr>
          <p:cNvSpPr txBox="1">
            <a:spLocks/>
          </p:cNvSpPr>
          <p:nvPr/>
        </p:nvSpPr>
        <p:spPr>
          <a:xfrm>
            <a:off x="8545786" y="4650963"/>
            <a:ext cx="413375" cy="273844"/>
          </a:xfr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B5DEC05-AB38-4F58-9609-FFF4AA167839}" type="slidenum">
              <a:rPr lang="fr-CA" sz="1050" smtClean="0"/>
              <a:pPr/>
              <a:t>30</a:t>
            </a:fld>
            <a:endParaRPr lang="fr-CA" sz="1050" dirty="0"/>
          </a:p>
        </p:txBody>
      </p:sp>
      <p:sp>
        <p:nvSpPr>
          <p:cNvPr id="5" name="ZoneTexte 4">
            <a:extLst>
              <a:ext uri="{FF2B5EF4-FFF2-40B4-BE49-F238E27FC236}">
                <a16:creationId xmlns:a16="http://schemas.microsoft.com/office/drawing/2014/main" id="{FE956994-8088-524F-ABC4-6483D104FFB3}"/>
              </a:ext>
            </a:extLst>
          </p:cNvPr>
          <p:cNvSpPr txBox="1"/>
          <p:nvPr/>
        </p:nvSpPr>
        <p:spPr>
          <a:xfrm>
            <a:off x="3034454" y="4924807"/>
            <a:ext cx="2015848" cy="273845"/>
          </a:xfrm>
          <a:prstGeom prst="rect">
            <a:avLst/>
          </a:prstGeom>
        </p:spPr>
        <p:txBody>
          <a:bodyPr vert="horz" wrap="square" lIns="91440" tIns="45720" rIns="91440" bIns="45720" rtlCol="0">
            <a:normAutofit fontScale="92500"/>
          </a:bodyPr>
          <a:lstStyle/>
          <a:p>
            <a:pPr>
              <a:buClr>
                <a:schemeClr val="accent2"/>
              </a:buClr>
              <a:buSzPct val="125000"/>
            </a:pPr>
            <a:r>
              <a:rPr lang="fr-CA" sz="900" dirty="0"/>
              <a:t>Par Laurence Daoust – HEC Montréal</a:t>
            </a:r>
          </a:p>
        </p:txBody>
      </p:sp>
    </p:spTree>
    <p:extLst>
      <p:ext uri="{BB962C8B-B14F-4D97-AF65-F5344CB8AC3E}">
        <p14:creationId xmlns:p14="http://schemas.microsoft.com/office/powerpoint/2010/main" val="192002643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pied de page 2"/>
          <p:cNvSpPr>
            <a:spLocks noGrp="1"/>
          </p:cNvSpPr>
          <p:nvPr>
            <p:ph type="ftr" sz="quarter" idx="11"/>
          </p:nvPr>
        </p:nvSpPr>
        <p:spPr/>
        <p:txBody>
          <a:bodyPr/>
          <a:lstStyle/>
          <a:p>
            <a:endParaRPr lang="fr-CA"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9406" y="1364307"/>
            <a:ext cx="6660966" cy="309765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Ellipse 4"/>
          <p:cNvSpPr/>
          <p:nvPr/>
        </p:nvSpPr>
        <p:spPr>
          <a:xfrm>
            <a:off x="6983306" y="2679762"/>
            <a:ext cx="1017693" cy="140415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2700"/>
          </a:p>
        </p:txBody>
      </p:sp>
      <p:sp>
        <p:nvSpPr>
          <p:cNvPr id="2" name="Espace réservé du numéro de diapositive 1"/>
          <p:cNvSpPr>
            <a:spLocks noGrp="1"/>
          </p:cNvSpPr>
          <p:nvPr>
            <p:ph type="sldNum" sz="quarter" idx="12"/>
          </p:nvPr>
        </p:nvSpPr>
        <p:spPr/>
        <p:txBody>
          <a:bodyPr/>
          <a:lstStyle/>
          <a:p>
            <a:endParaRPr lang="fr-CA" dirty="0"/>
          </a:p>
        </p:txBody>
      </p:sp>
      <p:sp>
        <p:nvSpPr>
          <p:cNvPr id="8" name="Titre 1"/>
          <p:cNvSpPr>
            <a:spLocks noGrp="1"/>
          </p:cNvSpPr>
          <p:nvPr>
            <p:ph type="title"/>
          </p:nvPr>
        </p:nvSpPr>
        <p:spPr>
          <a:xfrm>
            <a:off x="133613" y="549308"/>
            <a:ext cx="7514035" cy="510274"/>
          </a:xfrm>
        </p:spPr>
        <p:txBody>
          <a:bodyPr>
            <a:normAutofit/>
          </a:bodyPr>
          <a:lstStyle/>
          <a:p>
            <a:r>
              <a:rPr lang="fr-CA" dirty="0"/>
              <a:t>OÉ1 – Information financière</a:t>
            </a:r>
          </a:p>
        </p:txBody>
      </p:sp>
      <p:sp>
        <p:nvSpPr>
          <p:cNvPr id="4" name="Espace réservé du numéro de diapositive 4">
            <a:extLst>
              <a:ext uri="{FF2B5EF4-FFF2-40B4-BE49-F238E27FC236}">
                <a16:creationId xmlns:a16="http://schemas.microsoft.com/office/drawing/2014/main" id="{DD27FD5E-1B98-8DA1-1FDA-2B6C0C72CD0E}"/>
              </a:ext>
            </a:extLst>
          </p:cNvPr>
          <p:cNvSpPr txBox="1">
            <a:spLocks/>
          </p:cNvSpPr>
          <p:nvPr/>
        </p:nvSpPr>
        <p:spPr>
          <a:xfrm>
            <a:off x="8545786" y="4650963"/>
            <a:ext cx="413375" cy="273844"/>
          </a:xfr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B5DEC05-AB38-4F58-9609-FFF4AA167839}" type="slidenum">
              <a:rPr lang="fr-CA" sz="1050" smtClean="0"/>
              <a:pPr/>
              <a:t>31</a:t>
            </a:fld>
            <a:endParaRPr lang="fr-CA" sz="1050" dirty="0"/>
          </a:p>
        </p:txBody>
      </p:sp>
      <p:sp>
        <p:nvSpPr>
          <p:cNvPr id="6" name="ZoneTexte 5">
            <a:extLst>
              <a:ext uri="{FF2B5EF4-FFF2-40B4-BE49-F238E27FC236}">
                <a16:creationId xmlns:a16="http://schemas.microsoft.com/office/drawing/2014/main" id="{ABB46850-3046-1A42-865B-A23B0F7742BA}"/>
              </a:ext>
            </a:extLst>
          </p:cNvPr>
          <p:cNvSpPr txBox="1"/>
          <p:nvPr/>
        </p:nvSpPr>
        <p:spPr>
          <a:xfrm>
            <a:off x="3034454" y="4924807"/>
            <a:ext cx="1747520" cy="273845"/>
          </a:xfrm>
          <a:prstGeom prst="rect">
            <a:avLst/>
          </a:prstGeom>
        </p:spPr>
        <p:txBody>
          <a:bodyPr vert="horz" wrap="square" lIns="91440" tIns="45720" rIns="91440" bIns="45720" rtlCol="0">
            <a:normAutofit fontScale="92500"/>
          </a:bodyPr>
          <a:lstStyle/>
          <a:p>
            <a:pPr>
              <a:buClr>
                <a:schemeClr val="accent2"/>
              </a:buClr>
              <a:buSzPct val="125000"/>
            </a:pPr>
            <a:r>
              <a:rPr lang="fr-CA" sz="900" dirty="0"/>
              <a:t>Par Hugo Lesley – HEC Montréal</a:t>
            </a:r>
          </a:p>
        </p:txBody>
      </p:sp>
    </p:spTree>
    <p:extLst>
      <p:ext uri="{BB962C8B-B14F-4D97-AF65-F5344CB8AC3E}">
        <p14:creationId xmlns:p14="http://schemas.microsoft.com/office/powerpoint/2010/main" val="9595968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C003807-5BA4-DA4A-B5CD-A5B96604B99D}"/>
              </a:ext>
            </a:extLst>
          </p:cNvPr>
          <p:cNvSpPr>
            <a:spLocks noGrp="1"/>
          </p:cNvSpPr>
          <p:nvPr>
            <p:ph type="title"/>
          </p:nvPr>
        </p:nvSpPr>
        <p:spPr/>
        <p:txBody>
          <a:bodyPr/>
          <a:lstStyle/>
          <a:p>
            <a:r>
              <a:rPr lang="fr-CA" dirty="0"/>
              <a:t>Opérations en devises</a:t>
            </a:r>
          </a:p>
        </p:txBody>
      </p:sp>
      <p:sp>
        <p:nvSpPr>
          <p:cNvPr id="3" name="Espace réservé du contenu 2">
            <a:extLst>
              <a:ext uri="{FF2B5EF4-FFF2-40B4-BE49-F238E27FC236}">
                <a16:creationId xmlns:a16="http://schemas.microsoft.com/office/drawing/2014/main" id="{EFE7A6F8-7862-B341-ACBE-5767AF5258DD}"/>
              </a:ext>
            </a:extLst>
          </p:cNvPr>
          <p:cNvSpPr>
            <a:spLocks noGrp="1"/>
          </p:cNvSpPr>
          <p:nvPr>
            <p:ph idx="1"/>
          </p:nvPr>
        </p:nvSpPr>
        <p:spPr>
          <a:xfrm>
            <a:off x="478800" y="1059928"/>
            <a:ext cx="8186400" cy="3833019"/>
          </a:xfrm>
        </p:spPr>
        <p:txBody>
          <a:bodyPr>
            <a:normAutofit fontScale="92500" lnSpcReduction="20000"/>
          </a:bodyPr>
          <a:lstStyle/>
          <a:p>
            <a:r>
              <a:rPr lang="fr-CA" b="1" dirty="0"/>
              <a:t>Problématique</a:t>
            </a:r>
            <a:r>
              <a:rPr lang="fr-CA" dirty="0"/>
              <a:t> : C</a:t>
            </a:r>
            <a:r>
              <a:rPr lang="fr-CA" dirty="0">
                <a:effectLst/>
                <a:latin typeface="Helvetica" pitchFamily="2" charset="0"/>
              </a:rPr>
              <a:t>réance libellée en dollars américains n’a pas été convertie dans la monnaie de présentation de BC (dollars canadiens) au cours en vigueur à la fin de l’exercice. </a:t>
            </a:r>
          </a:p>
          <a:p>
            <a:endParaRPr lang="fr-CA" dirty="0">
              <a:effectLst/>
              <a:latin typeface="Helvetica" pitchFamily="2" charset="0"/>
            </a:endParaRPr>
          </a:p>
          <a:p>
            <a:r>
              <a:rPr lang="fr-CA" b="1" dirty="0"/>
              <a:t>Norme / Analyse : </a:t>
            </a:r>
            <a:r>
              <a:rPr lang="fr-CA" i="1" dirty="0">
                <a:effectLst/>
                <a:latin typeface="Helvetica" pitchFamily="2" charset="0"/>
              </a:rPr>
              <a:t>IAS 21 </a:t>
            </a:r>
            <a:r>
              <a:rPr lang="fr-CA" dirty="0">
                <a:effectLst/>
                <a:latin typeface="Helvetica" pitchFamily="2" charset="0"/>
              </a:rPr>
              <a:t>impose de comptabiliser initialement les transactions en monnaie étrangère au cours de change à la date de la transaction et de convertir au cours de clôture à la date de chacun des états de la situation financière. </a:t>
            </a:r>
            <a:r>
              <a:rPr lang="fr-CA" u="sng" dirty="0">
                <a:effectLst/>
                <a:latin typeface="Helvetica" pitchFamily="2" charset="0"/>
              </a:rPr>
              <a:t>Tout écart de change</a:t>
            </a:r>
            <a:r>
              <a:rPr lang="fr-CA" dirty="0">
                <a:effectLst/>
                <a:latin typeface="Helvetica" pitchFamily="2" charset="0"/>
              </a:rPr>
              <a:t> résultant de cours différents entre la date de la transaction et la date de la conversion </a:t>
            </a:r>
            <a:r>
              <a:rPr lang="fr-CA" u="sng" dirty="0">
                <a:effectLst/>
                <a:latin typeface="Helvetica" pitchFamily="2" charset="0"/>
              </a:rPr>
              <a:t>doit être comptabilisé en résultat net de la période</a:t>
            </a:r>
            <a:r>
              <a:rPr lang="fr-CA" dirty="0">
                <a:effectLst/>
                <a:latin typeface="Helvetica" pitchFamily="2" charset="0"/>
              </a:rPr>
              <a:t>.</a:t>
            </a:r>
          </a:p>
          <a:p>
            <a:pPr marL="285750" indent="-285750">
              <a:buClr>
                <a:schemeClr val="tx1"/>
              </a:buClr>
              <a:buFont typeface="Arial" panose="020B0604020202020204" pitchFamily="34" charset="0"/>
              <a:buChar char="•"/>
            </a:pPr>
            <a:r>
              <a:rPr lang="fr-CA" dirty="0">
                <a:latin typeface="Helvetica" pitchFamily="2" charset="0"/>
              </a:rPr>
              <a:t>Le compte client américain doit être converti au taux à la date de clôture de 1,045 et non au taux lors de la facturation de 1,103.</a:t>
            </a:r>
          </a:p>
          <a:p>
            <a:pPr marL="285750" indent="-285750">
              <a:buClr>
                <a:schemeClr val="tx1"/>
              </a:buClr>
              <a:buFont typeface="Arial" panose="020B0604020202020204" pitchFamily="34" charset="0"/>
              <a:buChar char="•"/>
            </a:pPr>
            <a:r>
              <a:rPr lang="fr-CA" dirty="0">
                <a:latin typeface="Helvetica" pitchFamily="2" charset="0"/>
              </a:rPr>
              <a:t>La monnaie fonctionnelle de BC est le dollar canadien. </a:t>
            </a:r>
            <a:r>
              <a:rPr lang="fr-CA" dirty="0">
                <a:effectLst/>
                <a:latin typeface="Helvetica" pitchFamily="2" charset="0"/>
              </a:rPr>
              <a:t> </a:t>
            </a:r>
          </a:p>
          <a:p>
            <a:endParaRPr lang="fr-CA" dirty="0"/>
          </a:p>
          <a:p>
            <a:r>
              <a:rPr lang="fr-CA" b="1" dirty="0"/>
              <a:t>Conclusion / Impact : </a:t>
            </a:r>
            <a:r>
              <a:rPr lang="fr-CA" dirty="0">
                <a:effectLst/>
                <a:latin typeface="Helvetica" pitchFamily="2" charset="0"/>
              </a:rPr>
              <a:t>Une perte de change de 34 681 $ doit être comptabilisée dans le résultat net de la période et les comptes clients doivent être réduits de ce montant. </a:t>
            </a:r>
          </a:p>
          <a:p>
            <a:endParaRPr lang="fr-CA" dirty="0">
              <a:effectLst/>
              <a:latin typeface="Helvetica" pitchFamily="2" charset="0"/>
            </a:endParaRPr>
          </a:p>
          <a:p>
            <a:r>
              <a:rPr lang="fr-CA" dirty="0">
                <a:effectLst/>
                <a:latin typeface="Helvetica" pitchFamily="2" charset="0"/>
              </a:rPr>
              <a:t>Perte de change	34 861</a:t>
            </a:r>
          </a:p>
          <a:p>
            <a:r>
              <a:rPr lang="fr-CA" dirty="0">
                <a:latin typeface="Helvetica" pitchFamily="2" charset="0"/>
              </a:rPr>
              <a:t>@ Comptes clients		34 861</a:t>
            </a:r>
            <a:r>
              <a:rPr lang="fr-CA" dirty="0">
                <a:effectLst/>
                <a:latin typeface="Helvetica" pitchFamily="2" charset="0"/>
              </a:rPr>
              <a:t> </a:t>
            </a:r>
          </a:p>
          <a:p>
            <a:r>
              <a:rPr lang="fr-CA" dirty="0">
                <a:latin typeface="Helvetica" pitchFamily="2" charset="0"/>
              </a:rPr>
              <a:t>601 055 $US x (1,103 - 1,045) = 34 861 $.</a:t>
            </a:r>
          </a:p>
        </p:txBody>
      </p:sp>
      <p:sp>
        <p:nvSpPr>
          <p:cNvPr id="4" name="Espace réservé du numéro de diapositive 4">
            <a:extLst>
              <a:ext uri="{FF2B5EF4-FFF2-40B4-BE49-F238E27FC236}">
                <a16:creationId xmlns:a16="http://schemas.microsoft.com/office/drawing/2014/main" id="{8EA6E377-07CB-BE49-9668-01D31D840EC0}"/>
              </a:ext>
            </a:extLst>
          </p:cNvPr>
          <p:cNvSpPr txBox="1">
            <a:spLocks/>
          </p:cNvSpPr>
          <p:nvPr/>
        </p:nvSpPr>
        <p:spPr>
          <a:xfrm>
            <a:off x="8545786" y="4650963"/>
            <a:ext cx="413375" cy="273844"/>
          </a:xfr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B5DEC05-AB38-4F58-9609-FFF4AA167839}" type="slidenum">
              <a:rPr lang="fr-CA" sz="1050" smtClean="0"/>
              <a:pPr/>
              <a:t>32</a:t>
            </a:fld>
            <a:endParaRPr lang="fr-CA" sz="1050" dirty="0"/>
          </a:p>
        </p:txBody>
      </p:sp>
      <p:sp>
        <p:nvSpPr>
          <p:cNvPr id="5" name="ZoneTexte 4">
            <a:extLst>
              <a:ext uri="{FF2B5EF4-FFF2-40B4-BE49-F238E27FC236}">
                <a16:creationId xmlns:a16="http://schemas.microsoft.com/office/drawing/2014/main" id="{71391516-0C04-EB49-941E-766DD7CFDC65}"/>
              </a:ext>
            </a:extLst>
          </p:cNvPr>
          <p:cNvSpPr txBox="1"/>
          <p:nvPr/>
        </p:nvSpPr>
        <p:spPr>
          <a:xfrm>
            <a:off x="3034454" y="4924807"/>
            <a:ext cx="2015848" cy="273845"/>
          </a:xfrm>
          <a:prstGeom prst="rect">
            <a:avLst/>
          </a:prstGeom>
        </p:spPr>
        <p:txBody>
          <a:bodyPr vert="horz" wrap="square" lIns="91440" tIns="45720" rIns="91440" bIns="45720" rtlCol="0">
            <a:normAutofit fontScale="92500"/>
          </a:bodyPr>
          <a:lstStyle/>
          <a:p>
            <a:pPr>
              <a:buClr>
                <a:schemeClr val="accent2"/>
              </a:buClr>
              <a:buSzPct val="125000"/>
            </a:pPr>
            <a:r>
              <a:rPr lang="fr-CA" sz="900" dirty="0"/>
              <a:t>Par Laurence Daoust – HEC Montréal</a:t>
            </a:r>
          </a:p>
        </p:txBody>
      </p:sp>
    </p:spTree>
    <p:extLst>
      <p:ext uri="{BB962C8B-B14F-4D97-AF65-F5344CB8AC3E}">
        <p14:creationId xmlns:p14="http://schemas.microsoft.com/office/powerpoint/2010/main" val="11316784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C003807-5BA4-DA4A-B5CD-A5B96604B99D}"/>
              </a:ext>
            </a:extLst>
          </p:cNvPr>
          <p:cNvSpPr>
            <a:spLocks noGrp="1"/>
          </p:cNvSpPr>
          <p:nvPr>
            <p:ph type="title"/>
          </p:nvPr>
        </p:nvSpPr>
        <p:spPr/>
        <p:txBody>
          <a:bodyPr/>
          <a:lstStyle/>
          <a:p>
            <a:r>
              <a:rPr lang="fr-CA" dirty="0"/>
              <a:t>Prêt à l’habitation</a:t>
            </a:r>
          </a:p>
        </p:txBody>
      </p:sp>
      <p:sp>
        <p:nvSpPr>
          <p:cNvPr id="3" name="Espace réservé du contenu 2">
            <a:extLst>
              <a:ext uri="{FF2B5EF4-FFF2-40B4-BE49-F238E27FC236}">
                <a16:creationId xmlns:a16="http://schemas.microsoft.com/office/drawing/2014/main" id="{EFE7A6F8-7862-B341-ACBE-5767AF5258DD}"/>
              </a:ext>
            </a:extLst>
          </p:cNvPr>
          <p:cNvSpPr>
            <a:spLocks noGrp="1"/>
          </p:cNvSpPr>
          <p:nvPr>
            <p:ph idx="1"/>
          </p:nvPr>
        </p:nvSpPr>
        <p:spPr>
          <a:xfrm>
            <a:off x="478800" y="1181410"/>
            <a:ext cx="8186400" cy="3545027"/>
          </a:xfrm>
        </p:spPr>
        <p:txBody>
          <a:bodyPr>
            <a:normAutofit fontScale="92500" lnSpcReduction="20000"/>
          </a:bodyPr>
          <a:lstStyle/>
          <a:p>
            <a:r>
              <a:rPr lang="fr-CA" b="1" dirty="0"/>
              <a:t>Problématique : </a:t>
            </a:r>
            <a:r>
              <a:rPr lang="fr-CA" dirty="0">
                <a:effectLst/>
                <a:latin typeface="Arial" panose="020B0604020202020204" pitchFamily="34" charset="0"/>
              </a:rPr>
              <a:t>Le montant dû par les employés est présenté dans l’actif courant. </a:t>
            </a:r>
          </a:p>
          <a:p>
            <a:endParaRPr lang="fr-CA" dirty="0">
              <a:effectLst/>
              <a:latin typeface="Arial" panose="020B0604020202020204" pitchFamily="34" charset="0"/>
            </a:endParaRPr>
          </a:p>
          <a:p>
            <a:r>
              <a:rPr lang="fr-CA" b="1" dirty="0"/>
              <a:t>Norme / Analyse : </a:t>
            </a:r>
            <a:r>
              <a:rPr lang="fr-CA" dirty="0">
                <a:effectLst/>
                <a:latin typeface="Arial" panose="020B0604020202020204" pitchFamily="34" charset="0"/>
              </a:rPr>
              <a:t>Selon les </a:t>
            </a:r>
            <a:r>
              <a:rPr lang="fr-CA" i="1" dirty="0">
                <a:effectLst/>
                <a:latin typeface="Arial" panose="020B0604020202020204" pitchFamily="34" charset="0"/>
              </a:rPr>
              <a:t>IFRS (IAS 1 – Présentation des états financiers)</a:t>
            </a:r>
            <a:r>
              <a:rPr lang="fr-CA" dirty="0">
                <a:effectLst/>
                <a:latin typeface="Arial" panose="020B0604020202020204" pitchFamily="34" charset="0"/>
              </a:rPr>
              <a:t>, seule la tranche qui sera réalisée dans les 12 mois suivant la date de l’état de la situation financière doit être présentée ainsi. </a:t>
            </a:r>
          </a:p>
          <a:p>
            <a:pPr marL="285750" indent="-285750">
              <a:buClr>
                <a:schemeClr val="tx1"/>
              </a:buClr>
              <a:buFont typeface="Arial" panose="020B0604020202020204" pitchFamily="34" charset="0"/>
              <a:buChar char="•"/>
            </a:pPr>
            <a:r>
              <a:rPr lang="fr-CA" dirty="0">
                <a:effectLst/>
                <a:latin typeface="Arial" panose="020B0604020202020204" pitchFamily="34" charset="0"/>
              </a:rPr>
              <a:t>Notre examen d’un contrat type nous a appris que les prêts doivent être remboursés sur une période de 15 ans et qu’un prêt ne devient remboursable à vue que lorsque l’employé quitte la société. </a:t>
            </a:r>
            <a:endParaRPr lang="fr-CA" dirty="0"/>
          </a:p>
          <a:p>
            <a:endParaRPr lang="fr-CA" b="1" dirty="0"/>
          </a:p>
          <a:p>
            <a:r>
              <a:rPr lang="fr-CA" b="1" dirty="0"/>
              <a:t>Conclusion / Impact : </a:t>
            </a:r>
            <a:r>
              <a:rPr lang="fr-CA" dirty="0">
                <a:latin typeface="Arial" panose="020B0604020202020204" pitchFamily="34" charset="0"/>
              </a:rPr>
              <a:t>Seule la fraction qui deviendra à recevoir par BC dans l’année peut être considérée comme étant à court terme. Le reste doit être présenté dans l’actif non courant.</a:t>
            </a:r>
          </a:p>
          <a:p>
            <a:endParaRPr lang="fr-CA" dirty="0">
              <a:latin typeface="Arial" panose="020B0604020202020204" pitchFamily="34" charset="0"/>
            </a:endParaRPr>
          </a:p>
          <a:p>
            <a:r>
              <a:rPr lang="fr-CA" dirty="0">
                <a:latin typeface="Arial" panose="020B0604020202020204" pitchFamily="34" charset="0"/>
              </a:rPr>
              <a:t>Montant dû par les employés (actif non courant) 	3 543 493</a:t>
            </a:r>
          </a:p>
          <a:p>
            <a:r>
              <a:rPr lang="fr-CA" dirty="0">
                <a:latin typeface="Arial" panose="020B0604020202020204" pitchFamily="34" charset="0"/>
              </a:rPr>
              <a:t>@ Montant dû par les employés (actif courant) 		3 543 493</a:t>
            </a:r>
          </a:p>
          <a:p>
            <a:r>
              <a:rPr lang="fr-CA" dirty="0">
                <a:latin typeface="Arial" panose="020B0604020202020204" pitchFamily="34" charset="0"/>
              </a:rPr>
              <a:t>(3 832 000 - 35 400) / 15 x 14) = 3 543 493</a:t>
            </a:r>
          </a:p>
          <a:p>
            <a:r>
              <a:rPr lang="fr-CA" dirty="0">
                <a:latin typeface="Arial" panose="020B0604020202020204" pitchFamily="34" charset="0"/>
              </a:rPr>
              <a:t>Il faut exclure le prêt à l’employé retraité de 35 400 $ de l’ajustement puisqu’il est payable à vue (voir diapositive suivante).</a:t>
            </a:r>
          </a:p>
        </p:txBody>
      </p:sp>
      <p:sp>
        <p:nvSpPr>
          <p:cNvPr id="4" name="Espace réservé du numéro de diapositive 4">
            <a:extLst>
              <a:ext uri="{FF2B5EF4-FFF2-40B4-BE49-F238E27FC236}">
                <a16:creationId xmlns:a16="http://schemas.microsoft.com/office/drawing/2014/main" id="{55E2D1A0-3B85-C244-B18D-32409FB7F0B1}"/>
              </a:ext>
            </a:extLst>
          </p:cNvPr>
          <p:cNvSpPr txBox="1">
            <a:spLocks/>
          </p:cNvSpPr>
          <p:nvPr/>
        </p:nvSpPr>
        <p:spPr>
          <a:xfrm>
            <a:off x="8545786" y="4650963"/>
            <a:ext cx="413375" cy="273844"/>
          </a:xfr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B5DEC05-AB38-4F58-9609-FFF4AA167839}" type="slidenum">
              <a:rPr lang="fr-CA" sz="1050" smtClean="0"/>
              <a:pPr/>
              <a:t>33</a:t>
            </a:fld>
            <a:endParaRPr lang="fr-CA" sz="1050" dirty="0"/>
          </a:p>
        </p:txBody>
      </p:sp>
      <p:sp>
        <p:nvSpPr>
          <p:cNvPr id="5" name="ZoneTexte 4">
            <a:extLst>
              <a:ext uri="{FF2B5EF4-FFF2-40B4-BE49-F238E27FC236}">
                <a16:creationId xmlns:a16="http://schemas.microsoft.com/office/drawing/2014/main" id="{C4D64873-38BE-5C48-AE84-6384E61CC558}"/>
              </a:ext>
            </a:extLst>
          </p:cNvPr>
          <p:cNvSpPr txBox="1"/>
          <p:nvPr/>
        </p:nvSpPr>
        <p:spPr>
          <a:xfrm>
            <a:off x="3034454" y="4924807"/>
            <a:ext cx="2015848" cy="273845"/>
          </a:xfrm>
          <a:prstGeom prst="rect">
            <a:avLst/>
          </a:prstGeom>
        </p:spPr>
        <p:txBody>
          <a:bodyPr vert="horz" wrap="square" lIns="91440" tIns="45720" rIns="91440" bIns="45720" rtlCol="0">
            <a:normAutofit fontScale="92500"/>
          </a:bodyPr>
          <a:lstStyle/>
          <a:p>
            <a:pPr>
              <a:buClr>
                <a:schemeClr val="accent2"/>
              </a:buClr>
              <a:buSzPct val="125000"/>
            </a:pPr>
            <a:r>
              <a:rPr lang="fr-CA" sz="900" dirty="0"/>
              <a:t>Par Laurence Daoust – HEC Montréal</a:t>
            </a:r>
          </a:p>
        </p:txBody>
      </p:sp>
    </p:spTree>
    <p:extLst>
      <p:ext uri="{BB962C8B-B14F-4D97-AF65-F5344CB8AC3E}">
        <p14:creationId xmlns:p14="http://schemas.microsoft.com/office/powerpoint/2010/main" val="140902208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C003807-5BA4-DA4A-B5CD-A5B96604B99D}"/>
              </a:ext>
            </a:extLst>
          </p:cNvPr>
          <p:cNvSpPr>
            <a:spLocks noGrp="1"/>
          </p:cNvSpPr>
          <p:nvPr>
            <p:ph type="title"/>
          </p:nvPr>
        </p:nvSpPr>
        <p:spPr/>
        <p:txBody>
          <a:bodyPr/>
          <a:lstStyle/>
          <a:p>
            <a:r>
              <a:rPr lang="fr-CA" dirty="0"/>
              <a:t>Prêt à l’habitation à l’employé retraité</a:t>
            </a:r>
          </a:p>
        </p:txBody>
      </p:sp>
      <p:sp>
        <p:nvSpPr>
          <p:cNvPr id="3" name="Espace réservé du contenu 2">
            <a:extLst>
              <a:ext uri="{FF2B5EF4-FFF2-40B4-BE49-F238E27FC236}">
                <a16:creationId xmlns:a16="http://schemas.microsoft.com/office/drawing/2014/main" id="{EFE7A6F8-7862-B341-ACBE-5767AF5258DD}"/>
              </a:ext>
            </a:extLst>
          </p:cNvPr>
          <p:cNvSpPr>
            <a:spLocks noGrp="1"/>
          </p:cNvSpPr>
          <p:nvPr>
            <p:ph idx="1"/>
          </p:nvPr>
        </p:nvSpPr>
        <p:spPr>
          <a:xfrm>
            <a:off x="478800" y="987068"/>
            <a:ext cx="8186400" cy="4002770"/>
          </a:xfrm>
        </p:spPr>
        <p:txBody>
          <a:bodyPr>
            <a:normAutofit fontScale="77500" lnSpcReduction="20000"/>
          </a:bodyPr>
          <a:lstStyle/>
          <a:p>
            <a:r>
              <a:rPr lang="fr-CA" b="1" dirty="0"/>
              <a:t>Problématique : </a:t>
            </a:r>
            <a:r>
              <a:rPr lang="fr-CA" dirty="0">
                <a:effectLst/>
                <a:latin typeface="Arial" panose="020B0604020202020204" pitchFamily="34" charset="0"/>
              </a:rPr>
              <a:t>Doit-on comptabiliser une perte de valeur sur le prêt à l’employé </a:t>
            </a:r>
            <a:r>
              <a:rPr lang="fr-CA" dirty="0">
                <a:latin typeface="Arial" panose="020B0604020202020204" pitchFamily="34" charset="0"/>
              </a:rPr>
              <a:t>retraité ? Le solde total dû par l’employé retraité est présenté à l’actif courant. </a:t>
            </a:r>
          </a:p>
          <a:p>
            <a:endParaRPr lang="fr-CA" b="1" dirty="0"/>
          </a:p>
          <a:p>
            <a:r>
              <a:rPr lang="fr-CA" b="1" dirty="0"/>
              <a:t>Norme / Analyse : </a:t>
            </a:r>
            <a:r>
              <a:rPr lang="fr-CA" dirty="0">
                <a:effectLst/>
                <a:latin typeface="Arial" panose="020B0604020202020204" pitchFamily="34" charset="0"/>
              </a:rPr>
              <a:t>Une perte de valeur doit être déterminée car selon l’IFRS 9 par. 5.5.3, </a:t>
            </a:r>
            <a:r>
              <a:rPr lang="fr-CA" i="1" dirty="0">
                <a:effectLst/>
                <a:latin typeface="Arial" panose="020B0604020202020204" pitchFamily="34" charset="0"/>
              </a:rPr>
              <a:t>« […] l’entité doit, à chaque date de clôture, évaluer la correction de valeur pour pertes pour un instrument financier à un montant correspondant aux pertes de crédit attendues pour la durée de vie </a:t>
            </a:r>
            <a:r>
              <a:rPr lang="fr-CA" i="1" u="sng" dirty="0">
                <a:effectLst/>
                <a:latin typeface="Arial" panose="020B0604020202020204" pitchFamily="34" charset="0"/>
              </a:rPr>
              <a:t>si le risque de crédit que comporte l'instrument financier en question a augmenté de manière importante depuis la comptabilisation initiale</a:t>
            </a:r>
            <a:r>
              <a:rPr lang="fr-CA" i="1" dirty="0">
                <a:effectLst/>
                <a:latin typeface="Arial" panose="020B0604020202020204" pitchFamily="34" charset="0"/>
              </a:rPr>
              <a:t>. » </a:t>
            </a:r>
          </a:p>
          <a:p>
            <a:r>
              <a:rPr lang="fr-CA" u="sng" dirty="0">
                <a:effectLst/>
                <a:latin typeface="Arial" panose="020B0604020202020204" pitchFamily="34" charset="0"/>
              </a:rPr>
              <a:t>L’importance de l’augmentation du risque s’apprécie en comparant le risque de défaillance en date de clôture au risque lors de la comptabilisation initiale</a:t>
            </a:r>
            <a:r>
              <a:rPr lang="fr-CA" dirty="0">
                <a:effectLst/>
                <a:latin typeface="Arial" panose="020B0604020202020204" pitchFamily="34" charset="0"/>
              </a:rPr>
              <a:t> (IFRS 9 par. 5.5.12). </a:t>
            </a:r>
          </a:p>
          <a:p>
            <a:endParaRPr lang="fr-CA" dirty="0">
              <a:effectLst/>
              <a:latin typeface="Arial" panose="020B0604020202020204" pitchFamily="34" charset="0"/>
            </a:endParaRPr>
          </a:p>
          <a:p>
            <a:r>
              <a:rPr lang="fr-CA" dirty="0">
                <a:effectLst/>
                <a:latin typeface="Arial" panose="020B0604020202020204" pitchFamily="34" charset="0"/>
              </a:rPr>
              <a:t>Il y a une augmentation importante du risque de défaillance car :</a:t>
            </a:r>
          </a:p>
          <a:p>
            <a:pPr marL="285750" indent="-285750">
              <a:buClr>
                <a:schemeClr val="tx1"/>
              </a:buClr>
              <a:buFont typeface="Arial" panose="020B0604020202020204" pitchFamily="34" charset="0"/>
              <a:buChar char="•"/>
            </a:pPr>
            <a:r>
              <a:rPr lang="fr-CA" sz="1400" dirty="0">
                <a:latin typeface="Arial" charset="0"/>
                <a:cs typeface="Arial" charset="0"/>
              </a:rPr>
              <a:t>L’employé n’a effectué aucun remboursement depuis sa retraite. À la fin du travail d’audit sur les </a:t>
            </a:r>
            <a:r>
              <a:rPr lang="fr-CA" sz="1400" dirty="0" err="1">
                <a:latin typeface="Arial" charset="0"/>
                <a:cs typeface="Arial" charset="0"/>
              </a:rPr>
              <a:t>ÉFs</a:t>
            </a:r>
            <a:r>
              <a:rPr lang="fr-CA" sz="1400" dirty="0">
                <a:latin typeface="Arial" charset="0"/>
                <a:cs typeface="Arial" charset="0"/>
              </a:rPr>
              <a:t> du 31 juillet 2019, aucun remboursement n’avait été reçu; </a:t>
            </a:r>
          </a:p>
          <a:p>
            <a:pPr marL="285750" indent="-285750">
              <a:buClr>
                <a:schemeClr val="tx1"/>
              </a:buClr>
              <a:buFont typeface="Arial" panose="020B0604020202020204" pitchFamily="34" charset="0"/>
              <a:buChar char="•"/>
            </a:pPr>
            <a:r>
              <a:rPr lang="fr-CA" sz="1400" dirty="0">
                <a:latin typeface="Arial" charset="0"/>
                <a:cs typeface="Arial" charset="0"/>
              </a:rPr>
              <a:t>Le recouvrement du prêt est incertain puisque l’employé ne travaille plus pour BC. </a:t>
            </a:r>
            <a:endParaRPr lang="fr-CA" dirty="0">
              <a:effectLst/>
              <a:latin typeface="Arial" panose="020B0604020202020204" pitchFamily="34" charset="0"/>
            </a:endParaRPr>
          </a:p>
          <a:p>
            <a:r>
              <a:rPr lang="fr-CA" dirty="0">
                <a:effectLst/>
                <a:latin typeface="Arial" panose="020B0604020202020204" pitchFamily="34" charset="0"/>
              </a:rPr>
              <a:t>De plus, le prêt ne semble pas garanti. Le chef des finances a négligé d’obtenir des sûretés pour les prêts. Le risque que ce prêt ne soit pas recouvré est donc élevé. </a:t>
            </a:r>
          </a:p>
          <a:p>
            <a:endParaRPr lang="fr-CA" dirty="0">
              <a:effectLst/>
              <a:latin typeface="Arial" panose="020B0604020202020204" pitchFamily="34" charset="0"/>
            </a:endParaRPr>
          </a:p>
          <a:p>
            <a:r>
              <a:rPr lang="fr-CA" b="1" dirty="0"/>
              <a:t>Conclusion / Impact : </a:t>
            </a:r>
            <a:r>
              <a:rPr lang="fr-CA" dirty="0"/>
              <a:t>C</a:t>
            </a:r>
            <a:r>
              <a:rPr lang="fr-CA" dirty="0">
                <a:latin typeface="Arial" panose="020B0604020202020204" pitchFamily="34" charset="0"/>
              </a:rPr>
              <a:t>omptabiliser une perte de valeur de 35 400 $ (totalité du montant) au résultat net soit directement soit via l’utilisation d’un compte de correction de valeur.</a:t>
            </a:r>
          </a:p>
          <a:p>
            <a:endParaRPr lang="fr-CA" dirty="0">
              <a:latin typeface="Arial" panose="020B0604020202020204" pitchFamily="34" charset="0"/>
            </a:endParaRPr>
          </a:p>
          <a:p>
            <a:r>
              <a:rPr lang="fr-CA" dirty="0">
                <a:latin typeface="Arial" panose="020B0604020202020204" pitchFamily="34" charset="0"/>
              </a:rPr>
              <a:t>Perte de valeur 				35 400 </a:t>
            </a:r>
          </a:p>
          <a:p>
            <a:r>
              <a:rPr lang="fr-CA" dirty="0">
                <a:latin typeface="Arial" panose="020B0604020202020204" pitchFamily="34" charset="0"/>
              </a:rPr>
              <a:t>@ Provision pour le prêt au retraité (actif courant)		35 400 </a:t>
            </a:r>
          </a:p>
        </p:txBody>
      </p:sp>
      <p:sp>
        <p:nvSpPr>
          <p:cNvPr id="4" name="Espace réservé du numéro de diapositive 4">
            <a:extLst>
              <a:ext uri="{FF2B5EF4-FFF2-40B4-BE49-F238E27FC236}">
                <a16:creationId xmlns:a16="http://schemas.microsoft.com/office/drawing/2014/main" id="{36D53B39-DA28-7E42-93E0-64E9B1A71399}"/>
              </a:ext>
            </a:extLst>
          </p:cNvPr>
          <p:cNvSpPr txBox="1">
            <a:spLocks/>
          </p:cNvSpPr>
          <p:nvPr/>
        </p:nvSpPr>
        <p:spPr>
          <a:xfrm>
            <a:off x="8545786" y="4650963"/>
            <a:ext cx="413375" cy="273844"/>
          </a:xfr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B5DEC05-AB38-4F58-9609-FFF4AA167839}" type="slidenum">
              <a:rPr lang="fr-CA" sz="1050" smtClean="0"/>
              <a:pPr/>
              <a:t>34</a:t>
            </a:fld>
            <a:endParaRPr lang="fr-CA" sz="1050" dirty="0"/>
          </a:p>
        </p:txBody>
      </p:sp>
      <p:sp>
        <p:nvSpPr>
          <p:cNvPr id="5" name="ZoneTexte 4">
            <a:extLst>
              <a:ext uri="{FF2B5EF4-FFF2-40B4-BE49-F238E27FC236}">
                <a16:creationId xmlns:a16="http://schemas.microsoft.com/office/drawing/2014/main" id="{3E144326-CA87-7A45-BA84-4FA81E0F1E40}"/>
              </a:ext>
            </a:extLst>
          </p:cNvPr>
          <p:cNvSpPr txBox="1"/>
          <p:nvPr/>
        </p:nvSpPr>
        <p:spPr>
          <a:xfrm>
            <a:off x="3034454" y="4924807"/>
            <a:ext cx="2015848" cy="273845"/>
          </a:xfrm>
          <a:prstGeom prst="rect">
            <a:avLst/>
          </a:prstGeom>
        </p:spPr>
        <p:txBody>
          <a:bodyPr vert="horz" wrap="square" lIns="91440" tIns="45720" rIns="91440" bIns="45720" rtlCol="0">
            <a:normAutofit fontScale="92500"/>
          </a:bodyPr>
          <a:lstStyle/>
          <a:p>
            <a:pPr>
              <a:buClr>
                <a:schemeClr val="accent2"/>
              </a:buClr>
              <a:buSzPct val="125000"/>
            </a:pPr>
            <a:r>
              <a:rPr lang="fr-CA" sz="900" dirty="0"/>
              <a:t>Par Laurence Daoust – HEC Montréal</a:t>
            </a:r>
          </a:p>
        </p:txBody>
      </p:sp>
    </p:spTree>
    <p:extLst>
      <p:ext uri="{BB962C8B-B14F-4D97-AF65-F5344CB8AC3E}">
        <p14:creationId xmlns:p14="http://schemas.microsoft.com/office/powerpoint/2010/main" val="361896349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C003807-5BA4-DA4A-B5CD-A5B96604B99D}"/>
              </a:ext>
            </a:extLst>
          </p:cNvPr>
          <p:cNvSpPr>
            <a:spLocks noGrp="1"/>
          </p:cNvSpPr>
          <p:nvPr>
            <p:ph type="title"/>
          </p:nvPr>
        </p:nvSpPr>
        <p:spPr/>
        <p:txBody>
          <a:bodyPr/>
          <a:lstStyle/>
          <a:p>
            <a:r>
              <a:rPr lang="fr-CA" dirty="0"/>
              <a:t>Provision pour prêts à l’habitation</a:t>
            </a:r>
          </a:p>
        </p:txBody>
      </p:sp>
      <p:sp>
        <p:nvSpPr>
          <p:cNvPr id="3" name="Espace réservé du contenu 2">
            <a:extLst>
              <a:ext uri="{FF2B5EF4-FFF2-40B4-BE49-F238E27FC236}">
                <a16:creationId xmlns:a16="http://schemas.microsoft.com/office/drawing/2014/main" id="{EFE7A6F8-7862-B341-ACBE-5767AF5258DD}"/>
              </a:ext>
            </a:extLst>
          </p:cNvPr>
          <p:cNvSpPr>
            <a:spLocks noGrp="1"/>
          </p:cNvSpPr>
          <p:nvPr>
            <p:ph idx="1"/>
          </p:nvPr>
        </p:nvSpPr>
        <p:spPr>
          <a:xfrm>
            <a:off x="478800" y="1366089"/>
            <a:ext cx="8186400" cy="3417858"/>
          </a:xfrm>
        </p:spPr>
        <p:txBody>
          <a:bodyPr>
            <a:normAutofit fontScale="77500" lnSpcReduction="20000"/>
          </a:bodyPr>
          <a:lstStyle/>
          <a:p>
            <a:r>
              <a:rPr lang="fr-CA" b="1" dirty="0"/>
              <a:t>Problématique : </a:t>
            </a:r>
            <a:r>
              <a:rPr lang="fr-CA" dirty="0">
                <a:effectLst/>
                <a:latin typeface="Helvetica" pitchFamily="2" charset="0"/>
              </a:rPr>
              <a:t>Les prêts à l’habitation ne sont pas garantis et représentent un risque en cas de manquement de la part des employés. Perte de valeur à comptabiliser ?</a:t>
            </a:r>
          </a:p>
          <a:p>
            <a:endParaRPr lang="fr-CA" dirty="0">
              <a:effectLst/>
              <a:latin typeface="Helvetica" pitchFamily="2" charset="0"/>
            </a:endParaRPr>
          </a:p>
          <a:p>
            <a:r>
              <a:rPr lang="fr-CA" b="1" dirty="0"/>
              <a:t>Norme / Analyse : </a:t>
            </a:r>
          </a:p>
          <a:p>
            <a:r>
              <a:rPr lang="fr-CA" dirty="0">
                <a:effectLst/>
                <a:latin typeface="Arial" panose="020B0604020202020204" pitchFamily="34" charset="0"/>
              </a:rPr>
              <a:t>Une perte de valeur doit être déterminée car selon l’IFRS 9 par. 5.5.3, </a:t>
            </a:r>
            <a:r>
              <a:rPr lang="fr-CA" i="1" dirty="0">
                <a:effectLst/>
                <a:latin typeface="Arial" panose="020B0604020202020204" pitchFamily="34" charset="0"/>
              </a:rPr>
              <a:t>« […] l’entité doit, à chaque date de clôture, évaluer la correction de valeur pour pertes pour un instrument financier à un montant correspondant aux pertes de crédit attendues pour la durée de vie si le risque de crédit que comporte l'instrument financier en question a augmenté de manière importante depuis la comptabilisation initiale. » </a:t>
            </a:r>
          </a:p>
          <a:p>
            <a:r>
              <a:rPr lang="fr-CA" dirty="0">
                <a:effectLst/>
                <a:latin typeface="Arial" panose="020B0604020202020204" pitchFamily="34" charset="0"/>
              </a:rPr>
              <a:t>L’IFRS 9 par. 5.5.5 ajoute que </a:t>
            </a:r>
            <a:r>
              <a:rPr lang="fr-CA" i="1" dirty="0">
                <a:effectLst/>
                <a:latin typeface="Arial" panose="020B0604020202020204" pitchFamily="34" charset="0"/>
              </a:rPr>
              <a:t>« si, à la date de clôture, le risque de crédit que comporte un instrument financier n'a pas augmenté de façon importante depuis la comptabilisation initiale, l'entité doit évaluer la correction de valeur pour pertes de cet instrument financier au montant des pertes de crédit attendues pour les 12 mois à venir. » </a:t>
            </a:r>
            <a:endParaRPr lang="fr-CA" b="1" dirty="0">
              <a:effectLst/>
              <a:latin typeface="Helvetica" pitchFamily="2" charset="0"/>
            </a:endParaRPr>
          </a:p>
          <a:p>
            <a:pPr marL="285750" indent="-285750">
              <a:buClr>
                <a:schemeClr val="tx1"/>
              </a:buClr>
              <a:buFont typeface="Arial" panose="020B0604020202020204" pitchFamily="34" charset="0"/>
              <a:buChar char="•"/>
            </a:pPr>
            <a:r>
              <a:rPr lang="fr-CA" dirty="0">
                <a:effectLst/>
                <a:latin typeface="Helvetica" pitchFamily="2" charset="0"/>
              </a:rPr>
              <a:t>Un seul cas (celui de l’employé retraité) pour lequel il existe des indications que le solde du prêt ne sera sans doute pas recouvré. </a:t>
            </a:r>
          </a:p>
          <a:p>
            <a:pPr marL="285750" indent="-285750">
              <a:buClr>
                <a:schemeClr val="tx1"/>
              </a:buClr>
              <a:buFont typeface="Arial" panose="020B0604020202020204" pitchFamily="34" charset="0"/>
              <a:buChar char="•"/>
            </a:pPr>
            <a:r>
              <a:rPr lang="fr-CA" dirty="0">
                <a:effectLst/>
                <a:latin typeface="Helvetica" pitchFamily="2" charset="0"/>
              </a:rPr>
              <a:t>BC devra estimer le taux de manquement à l’égard des prêts aux employés et apprécier s’il y a des indications objectives de perte de valeur. Si c’est le cas, BC devra comptabiliser une perte de valeur en intégrant cette information dans la VA des flux de trésorerie futurs estimés. </a:t>
            </a:r>
          </a:p>
          <a:p>
            <a:endParaRPr lang="fr-CA" dirty="0">
              <a:effectLst/>
              <a:latin typeface="Helvetica" pitchFamily="2" charset="0"/>
            </a:endParaRPr>
          </a:p>
          <a:p>
            <a:r>
              <a:rPr lang="fr-CA" b="1" dirty="0"/>
              <a:t>Conclusion / Impact : </a:t>
            </a:r>
            <a:r>
              <a:rPr lang="fr-CA" dirty="0"/>
              <a:t>Perte de valeur possible à comptabiliser.</a:t>
            </a:r>
          </a:p>
        </p:txBody>
      </p:sp>
      <p:sp>
        <p:nvSpPr>
          <p:cNvPr id="4" name="Espace réservé du numéro de diapositive 4">
            <a:extLst>
              <a:ext uri="{FF2B5EF4-FFF2-40B4-BE49-F238E27FC236}">
                <a16:creationId xmlns:a16="http://schemas.microsoft.com/office/drawing/2014/main" id="{FB3022DA-1609-F64D-8BC5-66FACB73DEED}"/>
              </a:ext>
            </a:extLst>
          </p:cNvPr>
          <p:cNvSpPr txBox="1">
            <a:spLocks/>
          </p:cNvSpPr>
          <p:nvPr/>
        </p:nvSpPr>
        <p:spPr>
          <a:xfrm>
            <a:off x="8545786" y="4650963"/>
            <a:ext cx="413375" cy="273844"/>
          </a:xfr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B5DEC05-AB38-4F58-9609-FFF4AA167839}" type="slidenum">
              <a:rPr lang="fr-CA" sz="1050" smtClean="0"/>
              <a:pPr/>
              <a:t>35</a:t>
            </a:fld>
            <a:endParaRPr lang="fr-CA" sz="1050" dirty="0"/>
          </a:p>
        </p:txBody>
      </p:sp>
      <p:sp>
        <p:nvSpPr>
          <p:cNvPr id="5" name="ZoneTexte 4">
            <a:extLst>
              <a:ext uri="{FF2B5EF4-FFF2-40B4-BE49-F238E27FC236}">
                <a16:creationId xmlns:a16="http://schemas.microsoft.com/office/drawing/2014/main" id="{E1B12C34-3239-0B40-AA49-E58FAC87AA73}"/>
              </a:ext>
            </a:extLst>
          </p:cNvPr>
          <p:cNvSpPr txBox="1"/>
          <p:nvPr/>
        </p:nvSpPr>
        <p:spPr>
          <a:xfrm>
            <a:off x="3034454" y="4924807"/>
            <a:ext cx="2015848" cy="273845"/>
          </a:xfrm>
          <a:prstGeom prst="rect">
            <a:avLst/>
          </a:prstGeom>
        </p:spPr>
        <p:txBody>
          <a:bodyPr vert="horz" wrap="square" lIns="91440" tIns="45720" rIns="91440" bIns="45720" rtlCol="0">
            <a:normAutofit fontScale="92500"/>
          </a:bodyPr>
          <a:lstStyle/>
          <a:p>
            <a:pPr>
              <a:buClr>
                <a:schemeClr val="accent2"/>
              </a:buClr>
              <a:buSzPct val="125000"/>
            </a:pPr>
            <a:r>
              <a:rPr lang="fr-CA" sz="900" dirty="0"/>
              <a:t>Par Laurence Daoust – HEC Montréal</a:t>
            </a:r>
          </a:p>
        </p:txBody>
      </p:sp>
    </p:spTree>
    <p:extLst>
      <p:ext uri="{BB962C8B-B14F-4D97-AF65-F5344CB8AC3E}">
        <p14:creationId xmlns:p14="http://schemas.microsoft.com/office/powerpoint/2010/main" val="243620287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C003807-5BA4-DA4A-B5CD-A5B96604B99D}"/>
              </a:ext>
            </a:extLst>
          </p:cNvPr>
          <p:cNvSpPr>
            <a:spLocks noGrp="1"/>
          </p:cNvSpPr>
          <p:nvPr>
            <p:ph type="title"/>
          </p:nvPr>
        </p:nvSpPr>
        <p:spPr>
          <a:xfrm>
            <a:off x="478800" y="0"/>
            <a:ext cx="8186400" cy="744737"/>
          </a:xfrm>
        </p:spPr>
        <p:txBody>
          <a:bodyPr/>
          <a:lstStyle/>
          <a:p>
            <a:r>
              <a:rPr lang="fr-CA" dirty="0"/>
              <a:t>Stock de matériaux pour les fondations (1,25M$)</a:t>
            </a:r>
          </a:p>
        </p:txBody>
      </p:sp>
      <p:sp>
        <p:nvSpPr>
          <p:cNvPr id="3" name="Espace réservé du contenu 2">
            <a:extLst>
              <a:ext uri="{FF2B5EF4-FFF2-40B4-BE49-F238E27FC236}">
                <a16:creationId xmlns:a16="http://schemas.microsoft.com/office/drawing/2014/main" id="{EFE7A6F8-7862-B341-ACBE-5767AF5258DD}"/>
              </a:ext>
            </a:extLst>
          </p:cNvPr>
          <p:cNvSpPr>
            <a:spLocks noGrp="1"/>
          </p:cNvSpPr>
          <p:nvPr>
            <p:ph idx="1"/>
          </p:nvPr>
        </p:nvSpPr>
        <p:spPr>
          <a:xfrm>
            <a:off x="478800" y="627888"/>
            <a:ext cx="8186400" cy="4259489"/>
          </a:xfrm>
        </p:spPr>
        <p:txBody>
          <a:bodyPr>
            <a:normAutofit fontScale="85000" lnSpcReduction="20000"/>
          </a:bodyPr>
          <a:lstStyle/>
          <a:p>
            <a:r>
              <a:rPr lang="fr-CA" b="1" dirty="0"/>
              <a:t>Problématique : </a:t>
            </a:r>
            <a:r>
              <a:rPr lang="fr-CA" dirty="0"/>
              <a:t>Évaluation des stocks. </a:t>
            </a:r>
            <a:r>
              <a:rPr lang="fr-CA" dirty="0">
                <a:effectLst/>
                <a:latin typeface="Arial" panose="020B0604020202020204" pitchFamily="34" charset="0"/>
              </a:rPr>
              <a:t>Est-ce que le stock d’une valeur de 1,25 million $ sera utilisé là où il se trouve aux </a:t>
            </a:r>
            <a:r>
              <a:rPr lang="fr-CA" dirty="0">
                <a:latin typeface="Arial" panose="020B0604020202020204" pitchFamily="34" charset="0"/>
              </a:rPr>
              <a:t>É</a:t>
            </a:r>
            <a:r>
              <a:rPr lang="fr-CA" dirty="0">
                <a:effectLst/>
                <a:latin typeface="Arial" panose="020B0604020202020204" pitchFamily="34" charset="0"/>
              </a:rPr>
              <a:t>tats-Unis ?</a:t>
            </a:r>
          </a:p>
          <a:p>
            <a:endParaRPr lang="fr-CA" dirty="0">
              <a:effectLst/>
              <a:latin typeface="Arial" panose="020B0604020202020204" pitchFamily="34" charset="0"/>
            </a:endParaRPr>
          </a:p>
          <a:p>
            <a:r>
              <a:rPr lang="fr-CA" b="1" dirty="0"/>
              <a:t>Norme / Analyse : </a:t>
            </a:r>
            <a:r>
              <a:rPr lang="fr-CA" dirty="0"/>
              <a:t>IAS 2 par. 9 :</a:t>
            </a:r>
            <a:r>
              <a:rPr lang="fr-CA" i="1" dirty="0"/>
              <a:t> « Les stocks doivent être évalués au plus faible du coût et de la valeur nette de réalisation » (VNR). </a:t>
            </a:r>
            <a:r>
              <a:rPr lang="fr-CA" dirty="0"/>
              <a:t>IAS 2 par. 10 :</a:t>
            </a:r>
            <a:r>
              <a:rPr lang="fr-CA" i="1" dirty="0"/>
              <a:t> « </a:t>
            </a:r>
            <a:r>
              <a:rPr lang="fr-CA" i="1" dirty="0">
                <a:latin typeface="Arial" panose="020B0604020202020204" pitchFamily="34" charset="0"/>
              </a:rPr>
              <a:t>Le coût des stocks doit comprendre tous les coûts d’acquisition, coûts de transformation et autres coûts engagés pour amener les stocks à l’endroit et dans l’état où ils se trouvent. » </a:t>
            </a:r>
            <a:endParaRPr lang="fr-CA" dirty="0">
              <a:latin typeface="Arial" panose="020B0604020202020204" pitchFamily="34" charset="0"/>
            </a:endParaRPr>
          </a:p>
          <a:p>
            <a:pPr marL="285750" indent="-285750">
              <a:buClr>
                <a:schemeClr val="tx1"/>
              </a:buClr>
              <a:buFont typeface="Arial" panose="020B0604020202020204" pitchFamily="34" charset="0"/>
              <a:buChar char="•"/>
            </a:pPr>
            <a:r>
              <a:rPr lang="fr-CA" dirty="0">
                <a:latin typeface="Arial" panose="020B0604020202020204" pitchFamily="34" charset="0"/>
              </a:rPr>
              <a:t>BC </a:t>
            </a:r>
            <a:r>
              <a:rPr lang="fr-CA" dirty="0">
                <a:effectLst/>
                <a:latin typeface="Arial" panose="020B0604020202020204" pitchFamily="34" charset="0"/>
              </a:rPr>
              <a:t>a acheté pour 1,25 M $ de matériaux pour les fondations, qu’elle prévoyait utiliser pour la construction d’un multi-logements aux ÉU, mais elle n’a pas encore reçu toutes les approbations réglementaires nécessaires aux ÉU pour son processus breveté. Un ingénieur américain a inspecté les plans du projet et exprimé des doutes concernant la qualité du processus utilisé par BC. On peut donc se demander si BC obtiendra les approbations réglementaires aux ÉU. </a:t>
            </a:r>
          </a:p>
          <a:p>
            <a:pPr marL="285750" indent="-285750">
              <a:buClr>
                <a:schemeClr val="tx1"/>
              </a:buClr>
              <a:buFont typeface="Arial" panose="020B0604020202020204" pitchFamily="34" charset="0"/>
              <a:buChar char="•"/>
            </a:pPr>
            <a:r>
              <a:rPr lang="fr-CA" dirty="0">
                <a:effectLst/>
                <a:latin typeface="Arial" panose="020B0604020202020204" pitchFamily="34" charset="0"/>
              </a:rPr>
              <a:t>Nous devrions essayer de communiquer avec l’inspecteur américain pour déterminer la probabilité que BC reçoive les approbations réglementaires aux ÉU. </a:t>
            </a:r>
          </a:p>
          <a:p>
            <a:pPr marL="285750" indent="-285750">
              <a:buClr>
                <a:schemeClr val="tx1"/>
              </a:buClr>
              <a:buFont typeface="Arial" panose="020B0604020202020204" pitchFamily="34" charset="0"/>
              <a:buChar char="•"/>
            </a:pPr>
            <a:r>
              <a:rPr lang="fr-CA" dirty="0">
                <a:effectLst/>
                <a:latin typeface="Arial" panose="020B0604020202020204" pitchFamily="34" charset="0"/>
              </a:rPr>
              <a:t>Même si son processus n’est pas approuvé aux ÉU, BC pourrait utiliser les matériaux pour des projets de construction au Canada</a:t>
            </a:r>
            <a:r>
              <a:rPr lang="fr-CA" dirty="0">
                <a:latin typeface="Arial" panose="020B0604020202020204" pitchFamily="34" charset="0"/>
              </a:rPr>
              <a:t> (</a:t>
            </a:r>
            <a:r>
              <a:rPr lang="fr-CA" dirty="0">
                <a:effectLst/>
                <a:latin typeface="Arial" panose="020B0604020202020204" pitchFamily="34" charset="0"/>
              </a:rPr>
              <a:t>le processus a déjà été approuvé au Canada). Mais BC devra retourner les matériaux au Canada et engager des frais de transport supplémentaires pour pouvoir les utiliser.</a:t>
            </a:r>
          </a:p>
          <a:p>
            <a:pPr marL="285750" indent="-285750">
              <a:buClr>
                <a:schemeClr val="tx1"/>
              </a:buClr>
              <a:buFont typeface="Arial" panose="020B0604020202020204" pitchFamily="34" charset="0"/>
              <a:buChar char="•"/>
            </a:pPr>
            <a:endParaRPr lang="fr-CA" dirty="0">
              <a:effectLst/>
              <a:latin typeface="Arial" panose="020B0604020202020204" pitchFamily="34" charset="0"/>
            </a:endParaRPr>
          </a:p>
          <a:p>
            <a:r>
              <a:rPr lang="fr-CA" b="1" dirty="0"/>
              <a:t>Conclusion / Impact : </a:t>
            </a:r>
            <a:r>
              <a:rPr lang="fr-CA" dirty="0"/>
              <a:t>Pour l’instant, pas d’ajustement.</a:t>
            </a:r>
            <a:r>
              <a:rPr lang="fr-CA" dirty="0">
                <a:latin typeface="Arial" panose="020B0604020202020204" pitchFamily="34" charset="0"/>
              </a:rPr>
              <a:t> En fin d’année, il n’y a pas lieu de déprécier les stocks puisqu’ils seront utilisés dans des habitations qui seront vendues à profit.  </a:t>
            </a:r>
            <a:endParaRPr lang="fr-CA" dirty="0"/>
          </a:p>
          <a:p>
            <a:r>
              <a:rPr lang="fr-CA" dirty="0"/>
              <a:t>Si des coûts supplémentaires de transport pour ramener les stocks au Canada sont engagés, </a:t>
            </a:r>
            <a:r>
              <a:rPr lang="fr-CA" u="sng" dirty="0"/>
              <a:t>ils devraient être ajoutés aux coûts des stocks</a:t>
            </a:r>
            <a:r>
              <a:rPr lang="fr-CA" dirty="0"/>
              <a:t> au moment où ils seront engagés, dans la mesure où les coûts totaux des stocks sont inférieurs à la VNR des stocks (c’est-à-dire qu’ils sont recouvrables).</a:t>
            </a:r>
          </a:p>
          <a:p>
            <a:pPr marL="285750" indent="-285750">
              <a:buClr>
                <a:schemeClr val="tx1"/>
              </a:buClr>
              <a:buFont typeface="Arial" panose="020B0604020202020204" pitchFamily="34" charset="0"/>
              <a:buChar char="•"/>
            </a:pPr>
            <a:endParaRPr lang="fr-CA" dirty="0">
              <a:effectLst/>
              <a:latin typeface="Arial" panose="020B0604020202020204" pitchFamily="34" charset="0"/>
            </a:endParaRPr>
          </a:p>
        </p:txBody>
      </p:sp>
      <p:sp>
        <p:nvSpPr>
          <p:cNvPr id="4" name="Espace réservé du numéro de diapositive 4">
            <a:extLst>
              <a:ext uri="{FF2B5EF4-FFF2-40B4-BE49-F238E27FC236}">
                <a16:creationId xmlns:a16="http://schemas.microsoft.com/office/drawing/2014/main" id="{0192B46C-BC0A-9646-A670-0D7DC8FD84C1}"/>
              </a:ext>
            </a:extLst>
          </p:cNvPr>
          <p:cNvSpPr txBox="1">
            <a:spLocks/>
          </p:cNvSpPr>
          <p:nvPr/>
        </p:nvSpPr>
        <p:spPr>
          <a:xfrm>
            <a:off x="8545786" y="4650963"/>
            <a:ext cx="413375" cy="273844"/>
          </a:xfr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B5DEC05-AB38-4F58-9609-FFF4AA167839}" type="slidenum">
              <a:rPr lang="fr-CA" sz="1050" smtClean="0"/>
              <a:pPr/>
              <a:t>36</a:t>
            </a:fld>
            <a:endParaRPr lang="fr-CA" sz="1050" dirty="0"/>
          </a:p>
        </p:txBody>
      </p:sp>
      <p:sp>
        <p:nvSpPr>
          <p:cNvPr id="5" name="ZoneTexte 4">
            <a:extLst>
              <a:ext uri="{FF2B5EF4-FFF2-40B4-BE49-F238E27FC236}">
                <a16:creationId xmlns:a16="http://schemas.microsoft.com/office/drawing/2014/main" id="{68D13D3F-411C-164E-BEA2-B1EA2C8636DE}"/>
              </a:ext>
            </a:extLst>
          </p:cNvPr>
          <p:cNvSpPr txBox="1"/>
          <p:nvPr/>
        </p:nvSpPr>
        <p:spPr>
          <a:xfrm>
            <a:off x="3034454" y="4924807"/>
            <a:ext cx="2015848" cy="273845"/>
          </a:xfrm>
          <a:prstGeom prst="rect">
            <a:avLst/>
          </a:prstGeom>
        </p:spPr>
        <p:txBody>
          <a:bodyPr vert="horz" wrap="square" lIns="91440" tIns="45720" rIns="91440" bIns="45720" rtlCol="0">
            <a:normAutofit fontScale="92500"/>
          </a:bodyPr>
          <a:lstStyle/>
          <a:p>
            <a:pPr>
              <a:buClr>
                <a:schemeClr val="accent2"/>
              </a:buClr>
              <a:buSzPct val="125000"/>
            </a:pPr>
            <a:r>
              <a:rPr lang="fr-CA" sz="900" dirty="0"/>
              <a:t>Par Laurence Daoust – HEC Montréal</a:t>
            </a:r>
          </a:p>
        </p:txBody>
      </p:sp>
    </p:spTree>
    <p:extLst>
      <p:ext uri="{BB962C8B-B14F-4D97-AF65-F5344CB8AC3E}">
        <p14:creationId xmlns:p14="http://schemas.microsoft.com/office/powerpoint/2010/main" val="261574951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40823C7-AF44-3541-972A-51643FDDCC40}"/>
              </a:ext>
            </a:extLst>
          </p:cNvPr>
          <p:cNvSpPr>
            <a:spLocks noGrp="1"/>
          </p:cNvSpPr>
          <p:nvPr>
            <p:ph type="title"/>
          </p:nvPr>
        </p:nvSpPr>
        <p:spPr>
          <a:xfrm>
            <a:off x="478800" y="0"/>
            <a:ext cx="8186400" cy="744737"/>
          </a:xfrm>
        </p:spPr>
        <p:txBody>
          <a:bodyPr/>
          <a:lstStyle/>
          <a:p>
            <a:r>
              <a:rPr lang="fr-CA" dirty="0"/>
              <a:t>Stock excédentaire (900k$)</a:t>
            </a:r>
          </a:p>
        </p:txBody>
      </p:sp>
      <p:sp>
        <p:nvSpPr>
          <p:cNvPr id="3" name="Espace réservé du contenu 2">
            <a:extLst>
              <a:ext uri="{FF2B5EF4-FFF2-40B4-BE49-F238E27FC236}">
                <a16:creationId xmlns:a16="http://schemas.microsoft.com/office/drawing/2014/main" id="{16D5DCFF-4834-5049-A331-C1C43119B2BC}"/>
              </a:ext>
            </a:extLst>
          </p:cNvPr>
          <p:cNvSpPr>
            <a:spLocks noGrp="1"/>
          </p:cNvSpPr>
          <p:nvPr>
            <p:ph idx="1"/>
          </p:nvPr>
        </p:nvSpPr>
        <p:spPr>
          <a:xfrm>
            <a:off x="478800" y="548640"/>
            <a:ext cx="8186400" cy="4376167"/>
          </a:xfrm>
        </p:spPr>
        <p:txBody>
          <a:bodyPr>
            <a:normAutofit fontScale="77500" lnSpcReduction="20000"/>
          </a:bodyPr>
          <a:lstStyle/>
          <a:p>
            <a:r>
              <a:rPr lang="fr-CA" b="1" dirty="0"/>
              <a:t>Problématique : </a:t>
            </a:r>
            <a:r>
              <a:rPr lang="fr-CA" dirty="0"/>
              <a:t>Évaluation des stocks. </a:t>
            </a:r>
            <a:r>
              <a:rPr lang="fr-CA" dirty="0">
                <a:effectLst/>
              </a:rPr>
              <a:t>BC a acheté par erreur pour 900 000 $ de matériaux en trop pour un projet de construction et le prix de ces matériaux a récemment baissé. </a:t>
            </a:r>
          </a:p>
          <a:p>
            <a:endParaRPr lang="fr-CA" dirty="0">
              <a:effectLst/>
            </a:endParaRPr>
          </a:p>
          <a:p>
            <a:r>
              <a:rPr lang="fr-CA" b="1" dirty="0"/>
              <a:t>Norme / Analyse : </a:t>
            </a:r>
            <a:r>
              <a:rPr lang="fr-CA" dirty="0"/>
              <a:t>IAS 2 par. 9 : «</a:t>
            </a:r>
            <a:r>
              <a:rPr lang="fr-CA" i="1" dirty="0"/>
              <a:t> Les stocks doivent être évalués au plus faible du coût et de la valeur nette de réalisation »</a:t>
            </a:r>
            <a:r>
              <a:rPr lang="fr-CA" dirty="0"/>
              <a:t> (VNR). </a:t>
            </a:r>
            <a:endParaRPr lang="fr-CA" b="1" dirty="0"/>
          </a:p>
          <a:p>
            <a:pPr marL="285750" indent="-285750">
              <a:buClr>
                <a:schemeClr val="tx1"/>
              </a:buClr>
              <a:buFont typeface="Arial" panose="020B0604020202020204" pitchFamily="34" charset="0"/>
              <a:buChar char="•"/>
            </a:pPr>
            <a:r>
              <a:rPr lang="fr-CA" dirty="0">
                <a:effectLst/>
              </a:rPr>
              <a:t>BC a toujours des projets de construction en cours et nous pouvons donc supposer que ces matériaux finiront par être utilisés. Mais le prix de ces matériaux a récemment baissé de 25 %. </a:t>
            </a:r>
          </a:p>
          <a:p>
            <a:r>
              <a:rPr lang="fr-CA" dirty="0"/>
              <a:t>IAS 2 par. 6: </a:t>
            </a:r>
            <a:r>
              <a:rPr lang="fr-CA" i="1" dirty="0"/>
              <a:t>« La VNR est le prix de vente estimé dans le cours normal de l’activité, diminué des coûts estimés pour l’achèvement et des coûts estimés nécessaires pour réaliser la vente. »</a:t>
            </a:r>
          </a:p>
          <a:p>
            <a:r>
              <a:rPr lang="fr-CA" dirty="0"/>
              <a:t>IAS 2 par. 32: « </a:t>
            </a:r>
            <a:r>
              <a:rPr lang="fr-CA" i="1" dirty="0"/>
              <a:t>Les matières premières et autres fournitures détenues pour être utilisées dans la production des stocks ne sont pas dépréciées en dessous du coût s'il est attendu que les produits finis dans lesquels elles seront incorporées seront vendus au coût ou au-dessus de celui-ci. Cependant, lorsqu'une baisse du prix des matières premières indique que le coût des produits finis est supérieur à la VNR, les matières premières sont dépréciées à leur VNR. Dans de telles circonstances, le coût de remplacement des matières premières peut se révéler être la meilleure mesure disponible de leur VNR. </a:t>
            </a:r>
            <a:r>
              <a:rPr lang="fr-CA" dirty="0"/>
              <a:t>» </a:t>
            </a:r>
            <a:endParaRPr lang="fr-CA" u="sng" dirty="0"/>
          </a:p>
          <a:p>
            <a:pPr marL="285750" indent="-285750">
              <a:buClr>
                <a:schemeClr val="tx1"/>
              </a:buClr>
              <a:buFont typeface="Arial" panose="020B0604020202020204" pitchFamily="34" charset="0"/>
              <a:buChar char="•"/>
            </a:pPr>
            <a:r>
              <a:rPr lang="fr-CA" u="sng" dirty="0"/>
              <a:t>Si le montant total du coût des matériaux excède ce qui pourrait être recouvré au moyen des produits tirés des projets de construction et si la baisse du prix des matériaux est survenue avant la fin de l’exercice</a:t>
            </a:r>
            <a:r>
              <a:rPr lang="fr-CA" dirty="0"/>
              <a:t>, BC devrait comptabiliser cette réduction de 25 % pour que les matériaux soient comptabilisés à leur véritable VNR. BC a un profit brut de 15% en 2019, il est donc incertain que les produits seront suffisamment élevés pour couvrir la valeur des stocks actuelle.</a:t>
            </a:r>
          </a:p>
          <a:p>
            <a:endParaRPr lang="fr-CA" b="1" dirty="0"/>
          </a:p>
          <a:p>
            <a:r>
              <a:rPr lang="fr-CA" b="1" dirty="0"/>
              <a:t>Conclusion / Impact :</a:t>
            </a:r>
            <a:endParaRPr lang="fr-CA" dirty="0"/>
          </a:p>
          <a:p>
            <a:r>
              <a:rPr lang="fr-CA" dirty="0"/>
              <a:t>Perte de valeur 	225 000</a:t>
            </a:r>
          </a:p>
          <a:p>
            <a:r>
              <a:rPr lang="fr-CA" dirty="0"/>
              <a:t>@ Stocks 			225 000</a:t>
            </a:r>
          </a:p>
          <a:p>
            <a:r>
              <a:rPr lang="fr-CA" dirty="0"/>
              <a:t>900 000 $ x 25 % = 225 000 $ </a:t>
            </a:r>
          </a:p>
        </p:txBody>
      </p:sp>
      <p:sp>
        <p:nvSpPr>
          <p:cNvPr id="4" name="Espace réservé du numéro de diapositive 4">
            <a:extLst>
              <a:ext uri="{FF2B5EF4-FFF2-40B4-BE49-F238E27FC236}">
                <a16:creationId xmlns:a16="http://schemas.microsoft.com/office/drawing/2014/main" id="{C81D7366-7006-9C41-8760-98F99DE6FB40}"/>
              </a:ext>
            </a:extLst>
          </p:cNvPr>
          <p:cNvSpPr txBox="1">
            <a:spLocks/>
          </p:cNvSpPr>
          <p:nvPr/>
        </p:nvSpPr>
        <p:spPr>
          <a:xfrm>
            <a:off x="8545786" y="4650963"/>
            <a:ext cx="413375" cy="273844"/>
          </a:xfr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B5DEC05-AB38-4F58-9609-FFF4AA167839}" type="slidenum">
              <a:rPr lang="fr-CA" sz="1050" smtClean="0"/>
              <a:pPr/>
              <a:t>37</a:t>
            </a:fld>
            <a:endParaRPr lang="fr-CA" sz="1050" dirty="0"/>
          </a:p>
        </p:txBody>
      </p:sp>
      <p:sp>
        <p:nvSpPr>
          <p:cNvPr id="5" name="ZoneTexte 4">
            <a:extLst>
              <a:ext uri="{FF2B5EF4-FFF2-40B4-BE49-F238E27FC236}">
                <a16:creationId xmlns:a16="http://schemas.microsoft.com/office/drawing/2014/main" id="{F35FA920-EEC8-3E43-AE9E-A33A85A17997}"/>
              </a:ext>
            </a:extLst>
          </p:cNvPr>
          <p:cNvSpPr txBox="1"/>
          <p:nvPr/>
        </p:nvSpPr>
        <p:spPr>
          <a:xfrm>
            <a:off x="3034454" y="4924807"/>
            <a:ext cx="2015848" cy="273845"/>
          </a:xfrm>
          <a:prstGeom prst="rect">
            <a:avLst/>
          </a:prstGeom>
        </p:spPr>
        <p:txBody>
          <a:bodyPr vert="horz" wrap="square" lIns="91440" tIns="45720" rIns="91440" bIns="45720" rtlCol="0">
            <a:normAutofit fontScale="92500"/>
          </a:bodyPr>
          <a:lstStyle/>
          <a:p>
            <a:pPr>
              <a:buClr>
                <a:schemeClr val="accent2"/>
              </a:buClr>
              <a:buSzPct val="125000"/>
            </a:pPr>
            <a:r>
              <a:rPr lang="fr-CA" sz="900" dirty="0"/>
              <a:t>Par Laurence Daoust – HEC Montréal</a:t>
            </a:r>
          </a:p>
        </p:txBody>
      </p:sp>
    </p:spTree>
    <p:extLst>
      <p:ext uri="{BB962C8B-B14F-4D97-AF65-F5344CB8AC3E}">
        <p14:creationId xmlns:p14="http://schemas.microsoft.com/office/powerpoint/2010/main" val="33644731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40823C7-AF44-3541-972A-51643FDDCC40}"/>
              </a:ext>
            </a:extLst>
          </p:cNvPr>
          <p:cNvSpPr>
            <a:spLocks noGrp="1"/>
          </p:cNvSpPr>
          <p:nvPr>
            <p:ph type="title"/>
          </p:nvPr>
        </p:nvSpPr>
        <p:spPr>
          <a:xfrm>
            <a:off x="478800" y="0"/>
            <a:ext cx="8186400" cy="744737"/>
          </a:xfrm>
        </p:spPr>
        <p:txBody>
          <a:bodyPr/>
          <a:lstStyle/>
          <a:p>
            <a:r>
              <a:rPr lang="fr-CA" dirty="0"/>
              <a:t>Actif incorporel – dépréciation</a:t>
            </a:r>
          </a:p>
        </p:txBody>
      </p:sp>
      <p:sp>
        <p:nvSpPr>
          <p:cNvPr id="3" name="Espace réservé du contenu 2">
            <a:extLst>
              <a:ext uri="{FF2B5EF4-FFF2-40B4-BE49-F238E27FC236}">
                <a16:creationId xmlns:a16="http://schemas.microsoft.com/office/drawing/2014/main" id="{16D5DCFF-4834-5049-A331-C1C43119B2BC}"/>
              </a:ext>
            </a:extLst>
          </p:cNvPr>
          <p:cNvSpPr>
            <a:spLocks noGrp="1"/>
          </p:cNvSpPr>
          <p:nvPr>
            <p:ph idx="1"/>
          </p:nvPr>
        </p:nvSpPr>
        <p:spPr>
          <a:xfrm>
            <a:off x="478800" y="623731"/>
            <a:ext cx="8186400" cy="4347942"/>
          </a:xfrm>
        </p:spPr>
        <p:txBody>
          <a:bodyPr>
            <a:normAutofit fontScale="77500" lnSpcReduction="20000"/>
          </a:bodyPr>
          <a:lstStyle/>
          <a:p>
            <a:r>
              <a:rPr lang="fr-CA" b="1" dirty="0"/>
              <a:t>Problématique : </a:t>
            </a:r>
            <a:r>
              <a:rPr lang="fr-CA" dirty="0">
                <a:effectLst/>
              </a:rPr>
              <a:t>BC a comptabilisé un actif incorporel de 9,5 millions $ au titre du processus breveté de construction de fondations, acquis en 2018. Il y a un indice de dépréciation.</a:t>
            </a:r>
          </a:p>
          <a:p>
            <a:endParaRPr lang="fr-CA" dirty="0">
              <a:effectLst/>
            </a:endParaRPr>
          </a:p>
          <a:p>
            <a:pPr>
              <a:buClr>
                <a:schemeClr val="tx1"/>
              </a:buClr>
            </a:pPr>
            <a:r>
              <a:rPr lang="fr-CA" b="1" dirty="0"/>
              <a:t>Norme / Analyse : </a:t>
            </a:r>
            <a:r>
              <a:rPr lang="fr-CA" dirty="0">
                <a:effectLst/>
              </a:rPr>
              <a:t>IAS 36 par. 9 : </a:t>
            </a:r>
            <a:r>
              <a:rPr lang="fr-CA" i="1" dirty="0">
                <a:effectLst/>
              </a:rPr>
              <a:t>« Une entité doit déterminer à chaque période de présentation de l’information financière s’il existe un quelconque indice qu’un actif ou une unité génératrice de trésorerie a pu se déprécier. S’il existe un tel indice, l’entité doit estimer la valeur recouvrable de l’actif. » </a:t>
            </a:r>
            <a:r>
              <a:rPr lang="fr-CA" dirty="0"/>
              <a:t>IAS 36 par. 12(e) souligne qu’une source de perte de valeur peut être l’existence d’</a:t>
            </a:r>
            <a:r>
              <a:rPr lang="fr-CA" i="1" dirty="0">
                <a:effectLst/>
              </a:rPr>
              <a:t>« </a:t>
            </a:r>
            <a:r>
              <a:rPr lang="fr-CA" i="1" dirty="0"/>
              <a:t>éléments probants d’obsolescence ou de dégradation physique d’un actif. »</a:t>
            </a:r>
            <a:r>
              <a:rPr lang="fr-CA" dirty="0"/>
              <a:t> </a:t>
            </a:r>
            <a:endParaRPr lang="fr-CA" dirty="0">
              <a:effectLst/>
            </a:endParaRPr>
          </a:p>
          <a:p>
            <a:pPr marL="285750" indent="-285750">
              <a:buClr>
                <a:schemeClr val="tx1"/>
              </a:buClr>
              <a:buFont typeface="Arial" panose="020B0604020202020204" pitchFamily="34" charset="0"/>
              <a:buChar char="•"/>
            </a:pPr>
            <a:r>
              <a:rPr lang="fr-CA" u="sng" dirty="0">
                <a:effectLst/>
              </a:rPr>
              <a:t>Rapport dans lequel un ingénieur exprimait des inquiétudes au sujet de la qualité du processus de construction de fondations = un indice interne solide de dépréciation</a:t>
            </a:r>
            <a:r>
              <a:rPr lang="fr-CA" dirty="0">
                <a:effectLst/>
              </a:rPr>
              <a:t>. La direction doit déterminer le montant recouvrable du processus breveté de construction de fondations. </a:t>
            </a:r>
          </a:p>
          <a:p>
            <a:pPr marL="285750" indent="-285750">
              <a:buClr>
                <a:schemeClr val="tx1"/>
              </a:buClr>
              <a:buFont typeface="Arial" panose="020B0604020202020204" pitchFamily="34" charset="0"/>
              <a:buChar char="•"/>
            </a:pPr>
            <a:r>
              <a:rPr lang="fr-CA" dirty="0"/>
              <a:t>Comme le brevet ne générera probablement pas de flux de trésorerie indépendamment, </a:t>
            </a:r>
            <a:r>
              <a:rPr lang="fr-CA" u="sng" dirty="0"/>
              <a:t>le test de dépréciation serait effectué au niveau de l’unité génératrice de trésorerie</a:t>
            </a:r>
            <a:r>
              <a:rPr lang="fr-CA" dirty="0"/>
              <a:t>.</a:t>
            </a:r>
            <a:r>
              <a:rPr lang="fr-CA" u="sng" dirty="0"/>
              <a:t> </a:t>
            </a:r>
            <a:r>
              <a:rPr lang="fr-CA" dirty="0"/>
              <a:t> </a:t>
            </a:r>
          </a:p>
          <a:p>
            <a:pPr>
              <a:buClr>
                <a:schemeClr val="tx1"/>
              </a:buClr>
            </a:pPr>
            <a:r>
              <a:rPr lang="fr-CA" dirty="0"/>
              <a:t>IAS 36 par. 6 : </a:t>
            </a:r>
            <a:r>
              <a:rPr lang="fr-CA" i="1" dirty="0"/>
              <a:t>« Une </a:t>
            </a:r>
            <a:r>
              <a:rPr lang="fr-CA" i="1" dirty="0">
                <a:effectLst/>
              </a:rPr>
              <a:t>unité génératrice de trésorerie </a:t>
            </a:r>
            <a:r>
              <a:rPr lang="fr-CA" i="1" dirty="0"/>
              <a:t>est le plus petit groupe identifiable d’actifs qui génère des entrées de trésorerie largement indépendantes des entrées de trésorerie générées par d’autres actifs ou groupes d’actifs. »</a:t>
            </a:r>
            <a:r>
              <a:rPr lang="fr-CA" dirty="0"/>
              <a:t> </a:t>
            </a:r>
            <a:endParaRPr lang="fr-CA" dirty="0">
              <a:effectLst/>
            </a:endParaRPr>
          </a:p>
          <a:p>
            <a:pPr marL="285750" indent="-285750">
              <a:buClr>
                <a:schemeClr val="tx1"/>
              </a:buClr>
              <a:buFont typeface="Arial" panose="020B0604020202020204" pitchFamily="34" charset="0"/>
              <a:buChar char="•"/>
            </a:pPr>
            <a:r>
              <a:rPr lang="fr-CA" dirty="0"/>
              <a:t>Nous avons déterminé que BC exerçait ses activités comme une seule unité génératrice de trésorerie du fait que les activités aux ÉU sont encore trop prématurées pour générer des flux de trésorerie indépendants. </a:t>
            </a:r>
          </a:p>
          <a:p>
            <a:pPr>
              <a:buClr>
                <a:schemeClr val="tx1"/>
              </a:buClr>
            </a:pPr>
            <a:r>
              <a:rPr lang="fr-CA" dirty="0">
                <a:effectLst/>
              </a:rPr>
              <a:t>IAS 36 </a:t>
            </a:r>
            <a:r>
              <a:rPr lang="fr-CA" dirty="0"/>
              <a:t>par. 6 </a:t>
            </a:r>
            <a:r>
              <a:rPr lang="fr-CA" dirty="0">
                <a:effectLst/>
              </a:rPr>
              <a:t>définie une valeur recouvrable d’une unité génératrice de trésorerie comme étant </a:t>
            </a:r>
            <a:r>
              <a:rPr lang="fr-CA" i="1" dirty="0">
                <a:effectLst/>
              </a:rPr>
              <a:t>« la valeur la plus élevée entre sa juste valeur diminuée des coûts de sortie et sa valeur d’utilité. »</a:t>
            </a:r>
            <a:r>
              <a:rPr lang="fr-CA" dirty="0">
                <a:effectLst/>
              </a:rPr>
              <a:t> </a:t>
            </a:r>
          </a:p>
          <a:p>
            <a:pPr marL="285750" indent="-285750">
              <a:buClr>
                <a:schemeClr val="tx1"/>
              </a:buClr>
              <a:buFont typeface="Arial" panose="020B0604020202020204" pitchFamily="34" charset="0"/>
              <a:buChar char="•"/>
            </a:pPr>
            <a:r>
              <a:rPr lang="fr-CA" dirty="0">
                <a:effectLst/>
              </a:rPr>
              <a:t>La juste valeur diminuée des coûts de sortie n’est pas facile à déterminer en l’absence d’une évaluation dans des conditions de concurrence normale dans un marché actif. BC devrait alors déterminer le montant recouvrable de l’unité génératrice de trésorerie en fonction de ses valeurs d’utilité. Il faudrait donc que la direction estime les flux de trésorerie futurs actualisés attendus de ses opérations et de leur cession ultime. Cette valeur serait alors comparée à la valeur comptable des unités génératrices de trésorerie, soit la valeur comptable des actifs de BC. </a:t>
            </a:r>
          </a:p>
          <a:p>
            <a:endParaRPr lang="fr-CA" dirty="0">
              <a:effectLst/>
            </a:endParaRPr>
          </a:p>
          <a:p>
            <a:r>
              <a:rPr lang="fr-CA" b="1" dirty="0"/>
              <a:t>Conclusion / Impact : </a:t>
            </a:r>
            <a:r>
              <a:rPr lang="fr-CA" dirty="0"/>
              <a:t>Si la direction constate une différence entre la valeur comptable et le montant recouvrable de l’unité génératrice de trésorerie, une perte de valeur devrait être comptabilisée. </a:t>
            </a:r>
          </a:p>
        </p:txBody>
      </p:sp>
      <p:sp>
        <p:nvSpPr>
          <p:cNvPr id="4" name="Espace réservé du numéro de diapositive 4">
            <a:extLst>
              <a:ext uri="{FF2B5EF4-FFF2-40B4-BE49-F238E27FC236}">
                <a16:creationId xmlns:a16="http://schemas.microsoft.com/office/drawing/2014/main" id="{2FCFDEC6-750A-314E-A3A0-1A1515A979D5}"/>
              </a:ext>
            </a:extLst>
          </p:cNvPr>
          <p:cNvSpPr txBox="1">
            <a:spLocks/>
          </p:cNvSpPr>
          <p:nvPr/>
        </p:nvSpPr>
        <p:spPr>
          <a:xfrm>
            <a:off x="8545786" y="4650963"/>
            <a:ext cx="413375" cy="273844"/>
          </a:xfr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B5DEC05-AB38-4F58-9609-FFF4AA167839}" type="slidenum">
              <a:rPr lang="fr-CA" sz="1050" smtClean="0"/>
              <a:pPr/>
              <a:t>38</a:t>
            </a:fld>
            <a:endParaRPr lang="fr-CA" sz="1050" dirty="0"/>
          </a:p>
        </p:txBody>
      </p:sp>
      <p:sp>
        <p:nvSpPr>
          <p:cNvPr id="5" name="ZoneTexte 4">
            <a:extLst>
              <a:ext uri="{FF2B5EF4-FFF2-40B4-BE49-F238E27FC236}">
                <a16:creationId xmlns:a16="http://schemas.microsoft.com/office/drawing/2014/main" id="{C52E5A0E-C19B-1D44-9A9C-C8DB4F397606}"/>
              </a:ext>
            </a:extLst>
          </p:cNvPr>
          <p:cNvSpPr txBox="1"/>
          <p:nvPr/>
        </p:nvSpPr>
        <p:spPr>
          <a:xfrm>
            <a:off x="3034454" y="4924807"/>
            <a:ext cx="2015848" cy="273845"/>
          </a:xfrm>
          <a:prstGeom prst="rect">
            <a:avLst/>
          </a:prstGeom>
        </p:spPr>
        <p:txBody>
          <a:bodyPr vert="horz" wrap="square" lIns="91440" tIns="45720" rIns="91440" bIns="45720" rtlCol="0">
            <a:normAutofit fontScale="92500"/>
          </a:bodyPr>
          <a:lstStyle/>
          <a:p>
            <a:pPr>
              <a:buClr>
                <a:schemeClr val="accent2"/>
              </a:buClr>
              <a:buSzPct val="125000"/>
            </a:pPr>
            <a:r>
              <a:rPr lang="fr-CA" sz="900" dirty="0"/>
              <a:t>Par Laurence Daoust – HEC Montréal</a:t>
            </a:r>
          </a:p>
        </p:txBody>
      </p:sp>
    </p:spTree>
    <p:extLst>
      <p:ext uri="{BB962C8B-B14F-4D97-AF65-F5344CB8AC3E}">
        <p14:creationId xmlns:p14="http://schemas.microsoft.com/office/powerpoint/2010/main" val="49697840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texte 5"/>
          <p:cNvSpPr>
            <a:spLocks noGrp="1"/>
          </p:cNvSpPr>
          <p:nvPr>
            <p:ph type="body" idx="1"/>
          </p:nvPr>
        </p:nvSpPr>
        <p:spPr/>
        <p:txBody>
          <a:bodyPr/>
          <a:lstStyle/>
          <a:p>
            <a:r>
              <a:rPr lang="fr-CA" dirty="0"/>
              <a:t>OÉ2 – Certification</a:t>
            </a:r>
          </a:p>
        </p:txBody>
      </p:sp>
      <p:sp>
        <p:nvSpPr>
          <p:cNvPr id="5" name="Titre 4"/>
          <p:cNvSpPr>
            <a:spLocks noGrp="1"/>
          </p:cNvSpPr>
          <p:nvPr>
            <p:ph type="title"/>
          </p:nvPr>
        </p:nvSpPr>
        <p:spPr/>
        <p:txBody>
          <a:bodyPr/>
          <a:lstStyle/>
          <a:p>
            <a:r>
              <a:rPr lang="fr-CA" dirty="0"/>
              <a:t>Occasion d’évaluation #2</a:t>
            </a:r>
          </a:p>
        </p:txBody>
      </p:sp>
      <p:sp>
        <p:nvSpPr>
          <p:cNvPr id="2" name="Espace réservé du numéro de diapositive 1"/>
          <p:cNvSpPr>
            <a:spLocks noGrp="1"/>
          </p:cNvSpPr>
          <p:nvPr>
            <p:ph type="sldNum" sz="quarter" idx="12"/>
          </p:nvPr>
        </p:nvSpPr>
        <p:spPr>
          <a:xfrm>
            <a:off x="0" y="13546"/>
            <a:ext cx="0" cy="0"/>
          </a:xfrm>
        </p:spPr>
        <p:txBody>
          <a:bodyPr/>
          <a:lstStyle/>
          <a:p>
            <a:endParaRPr lang="fr-CA" dirty="0"/>
          </a:p>
        </p:txBody>
      </p:sp>
    </p:spTree>
    <p:extLst>
      <p:ext uri="{BB962C8B-B14F-4D97-AF65-F5344CB8AC3E}">
        <p14:creationId xmlns:p14="http://schemas.microsoft.com/office/powerpoint/2010/main" val="89220435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46246" y="262817"/>
            <a:ext cx="7514035" cy="440333"/>
          </a:xfrm>
        </p:spPr>
        <p:txBody>
          <a:bodyPr>
            <a:normAutofit fontScale="90000"/>
          </a:bodyPr>
          <a:lstStyle/>
          <a:p>
            <a:r>
              <a:rPr lang="fr-CA" dirty="0"/>
              <a:t>OÉ 2 – Certification</a:t>
            </a:r>
          </a:p>
        </p:txBody>
      </p:sp>
      <p:sp>
        <p:nvSpPr>
          <p:cNvPr id="4" name="Espace réservé du contenu 3"/>
          <p:cNvSpPr>
            <a:spLocks noGrp="1"/>
          </p:cNvSpPr>
          <p:nvPr>
            <p:ph sz="quarter" idx="1"/>
          </p:nvPr>
        </p:nvSpPr>
        <p:spPr>
          <a:xfrm>
            <a:off x="814982" y="973149"/>
            <a:ext cx="7514035" cy="3681659"/>
          </a:xfrm>
        </p:spPr>
        <p:txBody>
          <a:bodyPr>
            <a:normAutofit/>
          </a:bodyPr>
          <a:lstStyle/>
          <a:p>
            <a:pPr algn="ctr">
              <a:buNone/>
            </a:pPr>
            <a:r>
              <a:rPr lang="fr-CA" b="1" dirty="0"/>
              <a:t>Résume les constatations de l’auditeur en termes d’anomalies non corrigées et donne son avis à l’associé quant à leur incidence globale sur les états financiers et le rapport d’audit.</a:t>
            </a:r>
          </a:p>
          <a:p>
            <a:pPr algn="ctr">
              <a:buNone/>
            </a:pPr>
            <a:endParaRPr lang="fr-CA" dirty="0"/>
          </a:p>
          <a:p>
            <a:pPr marL="1010841" indent="-385763">
              <a:buFont typeface="+mj-lt"/>
              <a:buAutoNum type="arabicPeriod"/>
            </a:pPr>
            <a:r>
              <a:rPr lang="fr-CA" dirty="0"/>
              <a:t>Erreur dans les comptes clients </a:t>
            </a:r>
          </a:p>
          <a:p>
            <a:pPr marL="1010841" indent="-385763">
              <a:buFont typeface="+mj-lt"/>
              <a:buAutoNum type="arabicPeriod"/>
            </a:pPr>
            <a:r>
              <a:rPr lang="fr-CA" dirty="0"/>
              <a:t>Ajustements</a:t>
            </a:r>
          </a:p>
          <a:p>
            <a:pPr marL="1010841" indent="-385763">
              <a:buFont typeface="+mj-lt"/>
              <a:buAutoNum type="arabicPeriod"/>
            </a:pPr>
            <a:r>
              <a:rPr lang="fr-CA" dirty="0"/>
              <a:t>Rapport d’audit</a:t>
            </a:r>
          </a:p>
          <a:p>
            <a:pPr marL="1010841" indent="-385763">
              <a:buFont typeface="+mj-lt"/>
              <a:buAutoNum type="arabicPeriod"/>
            </a:pPr>
            <a:r>
              <a:rPr lang="fr-CA" dirty="0"/>
              <a:t>Continuité d’exploitation</a:t>
            </a:r>
          </a:p>
          <a:p>
            <a:pPr marL="385763" indent="-385763">
              <a:buFont typeface="+mj-lt"/>
              <a:buAutoNum type="arabicPeriod" startAt="4"/>
            </a:pPr>
            <a:endParaRPr lang="fr-CA" dirty="0"/>
          </a:p>
        </p:txBody>
      </p:sp>
      <p:sp>
        <p:nvSpPr>
          <p:cNvPr id="6" name="Espace réservé du numéro de diapositive 4">
            <a:extLst>
              <a:ext uri="{FF2B5EF4-FFF2-40B4-BE49-F238E27FC236}">
                <a16:creationId xmlns:a16="http://schemas.microsoft.com/office/drawing/2014/main" id="{4042CE1C-14ED-0448-5DC6-146F9046CEFE}"/>
              </a:ext>
            </a:extLst>
          </p:cNvPr>
          <p:cNvSpPr txBox="1">
            <a:spLocks/>
          </p:cNvSpPr>
          <p:nvPr/>
        </p:nvSpPr>
        <p:spPr>
          <a:xfrm>
            <a:off x="8545786" y="4650963"/>
            <a:ext cx="413375" cy="273844"/>
          </a:xfr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B5DEC05-AB38-4F58-9609-FFF4AA167839}" type="slidenum">
              <a:rPr lang="fr-CA" sz="1050" smtClean="0"/>
              <a:pPr/>
              <a:t>40</a:t>
            </a:fld>
            <a:endParaRPr lang="fr-CA" sz="1050" dirty="0"/>
          </a:p>
        </p:txBody>
      </p:sp>
      <p:sp>
        <p:nvSpPr>
          <p:cNvPr id="9" name="ZoneTexte 8">
            <a:extLst>
              <a:ext uri="{FF2B5EF4-FFF2-40B4-BE49-F238E27FC236}">
                <a16:creationId xmlns:a16="http://schemas.microsoft.com/office/drawing/2014/main" id="{4AEBD905-7D8D-ED41-ABA6-4480E2E415FA}"/>
              </a:ext>
            </a:extLst>
          </p:cNvPr>
          <p:cNvSpPr txBox="1"/>
          <p:nvPr/>
        </p:nvSpPr>
        <p:spPr>
          <a:xfrm>
            <a:off x="3034454" y="4924807"/>
            <a:ext cx="1747520" cy="273845"/>
          </a:xfrm>
          <a:prstGeom prst="rect">
            <a:avLst/>
          </a:prstGeom>
        </p:spPr>
        <p:txBody>
          <a:bodyPr vert="horz" wrap="square" lIns="91440" tIns="45720" rIns="91440" bIns="45720" rtlCol="0">
            <a:normAutofit fontScale="92500"/>
          </a:bodyPr>
          <a:lstStyle/>
          <a:p>
            <a:pPr>
              <a:buClr>
                <a:schemeClr val="accent2"/>
              </a:buClr>
              <a:buSzPct val="125000"/>
            </a:pPr>
            <a:r>
              <a:rPr lang="fr-CA" sz="900" dirty="0"/>
              <a:t>Par Hugo Lesley – HEC Montréal</a:t>
            </a:r>
          </a:p>
        </p:txBody>
      </p:sp>
    </p:spTree>
    <p:extLst>
      <p:ext uri="{BB962C8B-B14F-4D97-AF65-F5344CB8AC3E}">
        <p14:creationId xmlns:p14="http://schemas.microsoft.com/office/powerpoint/2010/main" val="27893368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animEffect transition="in" filter="fade">
                                      <p:cBhvr>
                                        <p:cTn id="7" dur="500"/>
                                        <p:tgtEl>
                                          <p:spTgt spid="4">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3" end="3"/>
                                            </p:txEl>
                                          </p:spTgt>
                                        </p:tgtEl>
                                        <p:attrNameLst>
                                          <p:attrName>style.visibility</p:attrName>
                                        </p:attrNameLst>
                                      </p:cBhvr>
                                      <p:to>
                                        <p:strVal val="visible"/>
                                      </p:to>
                                    </p:set>
                                    <p:animEffect transition="in" filter="fade">
                                      <p:cBhvr>
                                        <p:cTn id="12" dur="500"/>
                                        <p:tgtEl>
                                          <p:spTgt spid="4">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animEffect transition="in" filter="fade">
                                      <p:cBhvr>
                                        <p:cTn id="17" dur="500"/>
                                        <p:tgtEl>
                                          <p:spTgt spid="4">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xEl>
                                              <p:pRg st="5" end="5"/>
                                            </p:txEl>
                                          </p:spTgt>
                                        </p:tgtEl>
                                        <p:attrNameLst>
                                          <p:attrName>style.visibility</p:attrName>
                                        </p:attrNameLst>
                                      </p:cBhvr>
                                      <p:to>
                                        <p:strVal val="visible"/>
                                      </p:to>
                                    </p:set>
                                    <p:animEffect transition="in" filter="fade">
                                      <p:cBhvr>
                                        <p:cTn id="22" dur="500"/>
                                        <p:tgtEl>
                                          <p:spTgt spid="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96839" y="1029547"/>
            <a:ext cx="6326030" cy="3629163"/>
          </a:xfrm>
        </p:spPr>
        <p:txBody>
          <a:bodyPr>
            <a:normAutofit/>
          </a:bodyPr>
          <a:lstStyle/>
          <a:p>
            <a:pPr marL="285750" indent="-285750">
              <a:buClr>
                <a:schemeClr val="tx1"/>
              </a:buClr>
              <a:buFont typeface="Arial" panose="020B0604020202020204" pitchFamily="34" charset="0"/>
              <a:buChar char="•"/>
            </a:pPr>
            <a:r>
              <a:rPr lang="fr-FR" sz="1500" dirty="0"/>
              <a:t>Faire le cumul des anomalies</a:t>
            </a:r>
          </a:p>
          <a:p>
            <a:pPr marL="693990" lvl="1" indent="-285750">
              <a:buClr>
                <a:schemeClr val="tx1"/>
              </a:buClr>
            </a:pPr>
            <a:r>
              <a:rPr lang="fr-FR" sz="1500" dirty="0"/>
              <a:t>Impact sur le résultat avant impôts</a:t>
            </a:r>
          </a:p>
          <a:p>
            <a:pPr marL="693990" lvl="1" indent="-285750">
              <a:buClr>
                <a:schemeClr val="tx1"/>
              </a:buClr>
            </a:pPr>
            <a:r>
              <a:rPr lang="fr-FR" sz="1500" dirty="0"/>
              <a:t>Total des anomalies</a:t>
            </a:r>
          </a:p>
          <a:p>
            <a:pPr marL="285750" indent="-285750">
              <a:buClr>
                <a:schemeClr val="tx1"/>
              </a:buClr>
              <a:buFont typeface="Arial" panose="020B0604020202020204" pitchFamily="34" charset="0"/>
              <a:buChar char="•"/>
            </a:pPr>
            <a:r>
              <a:rPr lang="fr-FR" sz="1500" dirty="0"/>
              <a:t>Comparer avec le seuil de signification et le seuil de signification des travaux</a:t>
            </a:r>
          </a:p>
          <a:p>
            <a:pPr marL="285750" indent="-285750">
              <a:buClr>
                <a:schemeClr val="tx1"/>
              </a:buClr>
              <a:buFont typeface="Arial" panose="020B0604020202020204" pitchFamily="34" charset="0"/>
              <a:buChar char="•"/>
            </a:pPr>
            <a:r>
              <a:rPr lang="fr-FR" sz="1500" dirty="0"/>
              <a:t>Discuter de l’incidence des anomalies non corrigées sur le rapport d’audit</a:t>
            </a:r>
          </a:p>
          <a:p>
            <a:pPr marL="285750" indent="-285750">
              <a:buClr>
                <a:schemeClr val="tx1"/>
              </a:buClr>
              <a:buFont typeface="Arial" panose="020B0604020202020204" pitchFamily="34" charset="0"/>
              <a:buChar char="•"/>
            </a:pPr>
            <a:endParaRPr lang="fr-FR" sz="1500" dirty="0"/>
          </a:p>
        </p:txBody>
      </p:sp>
      <p:sp>
        <p:nvSpPr>
          <p:cNvPr id="6" name="Titre 1">
            <a:extLst>
              <a:ext uri="{FF2B5EF4-FFF2-40B4-BE49-F238E27FC236}">
                <a16:creationId xmlns:a16="http://schemas.microsoft.com/office/drawing/2014/main" id="{24E0FC4B-F0B4-124B-8053-260CBC8628B8}"/>
              </a:ext>
            </a:extLst>
          </p:cNvPr>
          <p:cNvSpPr>
            <a:spLocks noGrp="1"/>
          </p:cNvSpPr>
          <p:nvPr>
            <p:ph type="title"/>
          </p:nvPr>
        </p:nvSpPr>
        <p:spPr>
          <a:xfrm>
            <a:off x="253019" y="424360"/>
            <a:ext cx="7514035" cy="605188"/>
          </a:xfrm>
          <a:noFill/>
        </p:spPr>
        <p:txBody>
          <a:bodyPr>
            <a:normAutofit/>
          </a:bodyPr>
          <a:lstStyle/>
          <a:p>
            <a:r>
              <a:rPr lang="fr-CA" sz="2340" b="1" dirty="0">
                <a:solidFill>
                  <a:schemeClr val="accent2"/>
                </a:solidFill>
                <a:latin typeface="+mj-lt"/>
              </a:rPr>
              <a:t>Important pour cette occasion d’évaluation :</a:t>
            </a:r>
          </a:p>
        </p:txBody>
      </p:sp>
      <p:sp>
        <p:nvSpPr>
          <p:cNvPr id="4" name="Espace réservé du numéro de diapositive 4">
            <a:extLst>
              <a:ext uri="{FF2B5EF4-FFF2-40B4-BE49-F238E27FC236}">
                <a16:creationId xmlns:a16="http://schemas.microsoft.com/office/drawing/2014/main" id="{0CF90C1E-484F-8F4E-B71C-9EBA369E7AA8}"/>
              </a:ext>
            </a:extLst>
          </p:cNvPr>
          <p:cNvSpPr txBox="1">
            <a:spLocks/>
          </p:cNvSpPr>
          <p:nvPr/>
        </p:nvSpPr>
        <p:spPr>
          <a:xfrm>
            <a:off x="8545786" y="4650963"/>
            <a:ext cx="413375" cy="273844"/>
          </a:xfr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B5DEC05-AB38-4F58-9609-FFF4AA167839}" type="slidenum">
              <a:rPr lang="fr-CA" sz="1050" smtClean="0"/>
              <a:pPr/>
              <a:t>41</a:t>
            </a:fld>
            <a:endParaRPr lang="fr-CA" sz="1050" dirty="0"/>
          </a:p>
        </p:txBody>
      </p:sp>
      <p:sp>
        <p:nvSpPr>
          <p:cNvPr id="5" name="ZoneTexte 4">
            <a:extLst>
              <a:ext uri="{FF2B5EF4-FFF2-40B4-BE49-F238E27FC236}">
                <a16:creationId xmlns:a16="http://schemas.microsoft.com/office/drawing/2014/main" id="{9678806E-32D7-9F41-B6E7-6DA52C277318}"/>
              </a:ext>
            </a:extLst>
          </p:cNvPr>
          <p:cNvSpPr txBox="1"/>
          <p:nvPr/>
        </p:nvSpPr>
        <p:spPr>
          <a:xfrm>
            <a:off x="3034454" y="4924807"/>
            <a:ext cx="2015848" cy="273845"/>
          </a:xfrm>
          <a:prstGeom prst="rect">
            <a:avLst/>
          </a:prstGeom>
        </p:spPr>
        <p:txBody>
          <a:bodyPr vert="horz" wrap="square" lIns="91440" tIns="45720" rIns="91440" bIns="45720" rtlCol="0">
            <a:normAutofit fontScale="92500"/>
          </a:bodyPr>
          <a:lstStyle/>
          <a:p>
            <a:pPr>
              <a:buClr>
                <a:schemeClr val="accent2"/>
              </a:buClr>
              <a:buSzPct val="125000"/>
            </a:pPr>
            <a:r>
              <a:rPr lang="fr-CA" sz="900" dirty="0"/>
              <a:t>Par Laurence Daoust – HEC Montréal</a:t>
            </a:r>
          </a:p>
        </p:txBody>
      </p:sp>
    </p:spTree>
    <p:extLst>
      <p:ext uri="{BB962C8B-B14F-4D97-AF65-F5344CB8AC3E}">
        <p14:creationId xmlns:p14="http://schemas.microsoft.com/office/powerpoint/2010/main" val="226636539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pied de page 2"/>
          <p:cNvSpPr>
            <a:spLocks noGrp="1"/>
          </p:cNvSpPr>
          <p:nvPr>
            <p:ph type="ftr" sz="quarter" idx="4294967295"/>
          </p:nvPr>
        </p:nvSpPr>
        <p:spPr/>
        <p:txBody>
          <a:bodyPr/>
          <a:lstStyle/>
          <a:p>
            <a:endParaRPr lang="fr-CA"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37320" y="1251697"/>
            <a:ext cx="6669360" cy="33992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Ellipse 6"/>
          <p:cNvSpPr/>
          <p:nvPr/>
        </p:nvSpPr>
        <p:spPr>
          <a:xfrm>
            <a:off x="6922346" y="2571750"/>
            <a:ext cx="1078653" cy="162018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2700"/>
          </a:p>
        </p:txBody>
      </p:sp>
      <p:sp>
        <p:nvSpPr>
          <p:cNvPr id="8" name="Titre 1"/>
          <p:cNvSpPr>
            <a:spLocks noGrp="1"/>
          </p:cNvSpPr>
          <p:nvPr>
            <p:ph type="title"/>
          </p:nvPr>
        </p:nvSpPr>
        <p:spPr>
          <a:xfrm>
            <a:off x="212379" y="564157"/>
            <a:ext cx="7514035" cy="387413"/>
          </a:xfrm>
        </p:spPr>
        <p:txBody>
          <a:bodyPr>
            <a:normAutofit fontScale="90000"/>
          </a:bodyPr>
          <a:lstStyle/>
          <a:p>
            <a:r>
              <a:rPr lang="fr-CA" dirty="0"/>
              <a:t>OÉ 2 – Certification</a:t>
            </a:r>
          </a:p>
        </p:txBody>
      </p:sp>
      <p:sp>
        <p:nvSpPr>
          <p:cNvPr id="4" name="Espace réservé du numéro de diapositive 4">
            <a:extLst>
              <a:ext uri="{FF2B5EF4-FFF2-40B4-BE49-F238E27FC236}">
                <a16:creationId xmlns:a16="http://schemas.microsoft.com/office/drawing/2014/main" id="{AA5BAA3D-2EC4-2223-078B-C38CC0D9116F}"/>
              </a:ext>
            </a:extLst>
          </p:cNvPr>
          <p:cNvSpPr txBox="1">
            <a:spLocks/>
          </p:cNvSpPr>
          <p:nvPr/>
        </p:nvSpPr>
        <p:spPr>
          <a:xfrm>
            <a:off x="8545786" y="4650963"/>
            <a:ext cx="413375" cy="273844"/>
          </a:xfr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B5DEC05-AB38-4F58-9609-FFF4AA167839}" type="slidenum">
              <a:rPr lang="fr-CA" sz="1050" smtClean="0"/>
              <a:pPr/>
              <a:t>42</a:t>
            </a:fld>
            <a:endParaRPr lang="fr-CA" sz="1050" dirty="0"/>
          </a:p>
        </p:txBody>
      </p:sp>
      <p:sp>
        <p:nvSpPr>
          <p:cNvPr id="5" name="ZoneTexte 4">
            <a:extLst>
              <a:ext uri="{FF2B5EF4-FFF2-40B4-BE49-F238E27FC236}">
                <a16:creationId xmlns:a16="http://schemas.microsoft.com/office/drawing/2014/main" id="{9E3A5311-A692-F5E5-BF02-E4FBCC1B31A3}"/>
              </a:ext>
            </a:extLst>
          </p:cNvPr>
          <p:cNvSpPr txBox="1"/>
          <p:nvPr/>
        </p:nvSpPr>
        <p:spPr>
          <a:xfrm>
            <a:off x="3034454" y="4924807"/>
            <a:ext cx="1747520" cy="273845"/>
          </a:xfrm>
          <a:prstGeom prst="rect">
            <a:avLst/>
          </a:prstGeom>
        </p:spPr>
        <p:txBody>
          <a:bodyPr vert="horz" wrap="square" lIns="91440" tIns="45720" rIns="91440" bIns="45720" rtlCol="0">
            <a:normAutofit fontScale="92500"/>
          </a:bodyPr>
          <a:lstStyle/>
          <a:p>
            <a:pPr>
              <a:buClr>
                <a:schemeClr val="accent2"/>
              </a:buClr>
              <a:buSzPct val="125000"/>
            </a:pPr>
            <a:r>
              <a:rPr lang="fr-CA" sz="900" dirty="0"/>
              <a:t>Par Hugo Lesley – HEC Montréal</a:t>
            </a:r>
          </a:p>
        </p:txBody>
      </p:sp>
    </p:spTree>
    <p:extLst>
      <p:ext uri="{BB962C8B-B14F-4D97-AF65-F5344CB8AC3E}">
        <p14:creationId xmlns:p14="http://schemas.microsoft.com/office/powerpoint/2010/main" val="234190454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pied de page 2"/>
          <p:cNvSpPr>
            <a:spLocks noGrp="1"/>
          </p:cNvSpPr>
          <p:nvPr>
            <p:ph type="ftr" sz="quarter" idx="4294967295"/>
          </p:nvPr>
        </p:nvSpPr>
        <p:spPr/>
        <p:txBody>
          <a:bodyPr/>
          <a:lstStyle/>
          <a:p>
            <a:endParaRPr lang="fr-CA" dirty="0"/>
          </a:p>
        </p:txBody>
      </p:sp>
      <p:sp>
        <p:nvSpPr>
          <p:cNvPr id="8" name="ZoneTexte 7"/>
          <p:cNvSpPr txBox="1"/>
          <p:nvPr/>
        </p:nvSpPr>
        <p:spPr>
          <a:xfrm>
            <a:off x="6298129" y="1754394"/>
            <a:ext cx="750099" cy="300082"/>
          </a:xfrm>
          <a:prstGeom prst="rect">
            <a:avLst/>
          </a:prstGeom>
          <a:noFill/>
        </p:spPr>
        <p:txBody>
          <a:bodyPr wrap="square" rtlCol="0">
            <a:spAutoFit/>
          </a:bodyPr>
          <a:lstStyle/>
          <a:p>
            <a:r>
              <a:rPr lang="fr-CA" sz="1350" dirty="0"/>
              <a:t>VS</a:t>
            </a:r>
          </a:p>
        </p:txBody>
      </p:sp>
      <p:sp>
        <p:nvSpPr>
          <p:cNvPr id="9" name="ZoneTexte 8"/>
          <p:cNvSpPr txBox="1"/>
          <p:nvPr/>
        </p:nvSpPr>
        <p:spPr>
          <a:xfrm>
            <a:off x="6834968" y="1472555"/>
            <a:ext cx="2101303" cy="923330"/>
          </a:xfrm>
          <a:prstGeom prst="rect">
            <a:avLst/>
          </a:prstGeom>
          <a:noFill/>
        </p:spPr>
        <p:txBody>
          <a:bodyPr wrap="square" rtlCol="0">
            <a:spAutoFit/>
          </a:bodyPr>
          <a:lstStyle/>
          <a:p>
            <a:r>
              <a:rPr lang="fr-CA" b="1" dirty="0"/>
              <a:t>SS : 542 000 $</a:t>
            </a:r>
          </a:p>
          <a:p>
            <a:endParaRPr lang="fr-CA" b="1" dirty="0"/>
          </a:p>
          <a:p>
            <a:r>
              <a:rPr lang="fr-CA" b="1" dirty="0"/>
              <a:t>SST : 325 200 $ </a:t>
            </a:r>
          </a:p>
        </p:txBody>
      </p:sp>
      <p:cxnSp>
        <p:nvCxnSpPr>
          <p:cNvPr id="12" name="Connecteur droit avec flèche 11"/>
          <p:cNvCxnSpPr/>
          <p:nvPr/>
        </p:nvCxnSpPr>
        <p:spPr>
          <a:xfrm>
            <a:off x="1625183" y="4040389"/>
            <a:ext cx="2357454" cy="1191"/>
          </a:xfrm>
          <a:prstGeom prst="straightConnector1">
            <a:avLst/>
          </a:prstGeom>
          <a:ln>
            <a:solidFill>
              <a:schemeClr val="accent3">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13" name="ZoneTexte 12"/>
          <p:cNvSpPr txBox="1"/>
          <p:nvPr/>
        </p:nvSpPr>
        <p:spPr>
          <a:xfrm>
            <a:off x="4572000" y="3879653"/>
            <a:ext cx="2303876" cy="300082"/>
          </a:xfrm>
          <a:prstGeom prst="rect">
            <a:avLst/>
          </a:prstGeom>
          <a:noFill/>
        </p:spPr>
        <p:txBody>
          <a:bodyPr wrap="square" rtlCol="0">
            <a:spAutoFit/>
          </a:bodyPr>
          <a:lstStyle/>
          <a:p>
            <a:r>
              <a:rPr lang="fr-CA" sz="1350" dirty="0"/>
              <a:t>Impact sur le rapport</a:t>
            </a:r>
          </a:p>
        </p:txBody>
      </p:sp>
      <p:cxnSp>
        <p:nvCxnSpPr>
          <p:cNvPr id="14" name="Connecteur droit avec flèche 13"/>
          <p:cNvCxnSpPr/>
          <p:nvPr/>
        </p:nvCxnSpPr>
        <p:spPr>
          <a:xfrm>
            <a:off x="1625183" y="4409526"/>
            <a:ext cx="2357454" cy="1191"/>
          </a:xfrm>
          <a:prstGeom prst="straightConnector1">
            <a:avLst/>
          </a:prstGeom>
          <a:ln>
            <a:solidFill>
              <a:schemeClr val="accent3">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15" name="ZoneTexte 14"/>
          <p:cNvSpPr txBox="1"/>
          <p:nvPr/>
        </p:nvSpPr>
        <p:spPr>
          <a:xfrm>
            <a:off x="4572000" y="4240875"/>
            <a:ext cx="2571768" cy="507831"/>
          </a:xfrm>
          <a:prstGeom prst="rect">
            <a:avLst/>
          </a:prstGeom>
          <a:noFill/>
        </p:spPr>
        <p:txBody>
          <a:bodyPr wrap="square" rtlCol="0">
            <a:spAutoFit/>
          </a:bodyPr>
          <a:lstStyle/>
          <a:p>
            <a:r>
              <a:rPr lang="fr-CA" sz="1350" dirty="0"/>
              <a:t>Impact sur les clauses restrictives</a:t>
            </a:r>
          </a:p>
        </p:txBody>
      </p:sp>
      <p:sp>
        <p:nvSpPr>
          <p:cNvPr id="16" name="Titre 1"/>
          <p:cNvSpPr>
            <a:spLocks noGrp="1"/>
          </p:cNvSpPr>
          <p:nvPr>
            <p:ph type="title"/>
          </p:nvPr>
        </p:nvSpPr>
        <p:spPr>
          <a:xfrm>
            <a:off x="309159" y="495878"/>
            <a:ext cx="7514035" cy="387913"/>
          </a:xfrm>
        </p:spPr>
        <p:txBody>
          <a:bodyPr>
            <a:normAutofit fontScale="90000"/>
          </a:bodyPr>
          <a:lstStyle/>
          <a:p>
            <a:r>
              <a:rPr lang="fr-CA" dirty="0"/>
              <a:t>Ajustements et impacts</a:t>
            </a:r>
          </a:p>
        </p:txBody>
      </p:sp>
      <p:sp>
        <p:nvSpPr>
          <p:cNvPr id="10" name="ZoneTexte 9"/>
          <p:cNvSpPr txBox="1"/>
          <p:nvPr/>
        </p:nvSpPr>
        <p:spPr>
          <a:xfrm>
            <a:off x="868440" y="1077626"/>
            <a:ext cx="2292598" cy="323165"/>
          </a:xfrm>
          <a:prstGeom prst="rect">
            <a:avLst/>
          </a:prstGeom>
          <a:solidFill>
            <a:schemeClr val="accent1">
              <a:lumMod val="50000"/>
            </a:schemeClr>
          </a:solidFill>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fr-CA" sz="1500" b="1" dirty="0">
                <a:solidFill>
                  <a:schemeClr val="tx1"/>
                </a:solidFill>
              </a:rPr>
              <a:t>IMPACT SUR LE BAI</a:t>
            </a:r>
          </a:p>
        </p:txBody>
      </p:sp>
      <p:sp>
        <p:nvSpPr>
          <p:cNvPr id="2" name="Espace réservé du numéro de diapositive 4">
            <a:extLst>
              <a:ext uri="{FF2B5EF4-FFF2-40B4-BE49-F238E27FC236}">
                <a16:creationId xmlns:a16="http://schemas.microsoft.com/office/drawing/2014/main" id="{83AFFC26-DC10-B9CF-2FD9-27C9B4B58613}"/>
              </a:ext>
            </a:extLst>
          </p:cNvPr>
          <p:cNvSpPr txBox="1">
            <a:spLocks/>
          </p:cNvSpPr>
          <p:nvPr/>
        </p:nvSpPr>
        <p:spPr>
          <a:xfrm>
            <a:off x="8545786" y="4650963"/>
            <a:ext cx="413375" cy="273844"/>
          </a:xfr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B5DEC05-AB38-4F58-9609-FFF4AA167839}" type="slidenum">
              <a:rPr lang="fr-CA" sz="1050" smtClean="0"/>
              <a:pPr/>
              <a:t>43</a:t>
            </a:fld>
            <a:endParaRPr lang="fr-CA" sz="1050" dirty="0"/>
          </a:p>
        </p:txBody>
      </p:sp>
      <p:sp>
        <p:nvSpPr>
          <p:cNvPr id="5" name="ZoneTexte 4">
            <a:extLst>
              <a:ext uri="{FF2B5EF4-FFF2-40B4-BE49-F238E27FC236}">
                <a16:creationId xmlns:a16="http://schemas.microsoft.com/office/drawing/2014/main" id="{DD495B08-AA48-7E2F-155A-CAF43A7E0EC8}"/>
              </a:ext>
            </a:extLst>
          </p:cNvPr>
          <p:cNvSpPr txBox="1"/>
          <p:nvPr/>
        </p:nvSpPr>
        <p:spPr>
          <a:xfrm>
            <a:off x="3034454" y="4924807"/>
            <a:ext cx="1747520" cy="273845"/>
          </a:xfrm>
          <a:prstGeom prst="rect">
            <a:avLst/>
          </a:prstGeom>
        </p:spPr>
        <p:txBody>
          <a:bodyPr vert="horz" wrap="square" lIns="91440" tIns="45720" rIns="91440" bIns="45720" rtlCol="0">
            <a:normAutofit fontScale="92500"/>
          </a:bodyPr>
          <a:lstStyle/>
          <a:p>
            <a:pPr>
              <a:buClr>
                <a:schemeClr val="accent2"/>
              </a:buClr>
              <a:buSzPct val="125000"/>
            </a:pPr>
            <a:r>
              <a:rPr lang="fr-CA" sz="900" dirty="0"/>
              <a:t>Par Hugo Lesley – HEC Montréal</a:t>
            </a:r>
          </a:p>
        </p:txBody>
      </p:sp>
      <p:sp>
        <p:nvSpPr>
          <p:cNvPr id="4" name="ZoneTexte 3">
            <a:extLst>
              <a:ext uri="{FF2B5EF4-FFF2-40B4-BE49-F238E27FC236}">
                <a16:creationId xmlns:a16="http://schemas.microsoft.com/office/drawing/2014/main" id="{88094708-D4F6-D241-B7AC-127D85105955}"/>
              </a:ext>
            </a:extLst>
          </p:cNvPr>
          <p:cNvSpPr txBox="1"/>
          <p:nvPr/>
        </p:nvSpPr>
        <p:spPr>
          <a:xfrm>
            <a:off x="-240557" y="1456144"/>
            <a:ext cx="6917618" cy="1192959"/>
          </a:xfrm>
          <a:prstGeom prst="rect">
            <a:avLst/>
          </a:prstGeom>
        </p:spPr>
        <p:txBody>
          <a:bodyPr vert="horz" wrap="none" lIns="91440" tIns="45720" rIns="91440" bIns="45720" rtlCol="0">
            <a:normAutofit/>
          </a:bodyPr>
          <a:lstStyle/>
          <a:p>
            <a:pPr marL="1010841" indent="-385763">
              <a:buFont typeface="+mj-lt"/>
              <a:buAutoNum type="arabicPeriod"/>
            </a:pPr>
            <a:r>
              <a:rPr lang="fr-CA" sz="1300" dirty="0"/>
              <a:t>Erreur dans les comptes clients – TEC (86% vs 68%) 	277 560 $</a:t>
            </a:r>
          </a:p>
          <a:p>
            <a:pPr marL="1010841" indent="-385763">
              <a:buFont typeface="+mj-lt"/>
              <a:buAutoNum type="arabicPeriod"/>
            </a:pPr>
            <a:r>
              <a:rPr lang="fr-CA" sz="1300" dirty="0"/>
              <a:t>Perte de change sur conversion de devises 		  34 861</a:t>
            </a:r>
          </a:p>
          <a:p>
            <a:pPr marL="1010841" indent="-385763">
              <a:buFont typeface="+mj-lt"/>
              <a:buAutoNum type="arabicPeriod" startAt="4"/>
            </a:pPr>
            <a:r>
              <a:rPr lang="fr-CA" sz="1300" dirty="0"/>
              <a:t>Provision – prêt au retraité 			  35 400</a:t>
            </a:r>
          </a:p>
          <a:p>
            <a:pPr marL="1010841" indent="-385763">
              <a:buFont typeface="+mj-lt"/>
              <a:buAutoNum type="arabicPeriod" startAt="4"/>
            </a:pPr>
            <a:r>
              <a:rPr lang="fr-CA" sz="1300" dirty="0"/>
              <a:t>Dépréciation – stock de matériaux 			</a:t>
            </a:r>
            <a:r>
              <a:rPr lang="fr-CA" sz="1300" u="sng" dirty="0"/>
              <a:t>225 000</a:t>
            </a:r>
          </a:p>
          <a:p>
            <a:pPr marL="4282678" lvl="8"/>
            <a:r>
              <a:rPr lang="fr-CA" sz="1300" dirty="0"/>
              <a:t>		572 821 $</a:t>
            </a:r>
          </a:p>
          <a:p>
            <a:pPr marL="154800" indent="-154800">
              <a:buClr>
                <a:schemeClr val="accent2"/>
              </a:buClr>
              <a:buSzPct val="125000"/>
              <a:buFont typeface="Arial" panose="020B0604020202020204" pitchFamily="34" charset="0"/>
              <a:buChar char="•"/>
            </a:pPr>
            <a:endParaRPr lang="fr-CA" sz="1670" dirty="0"/>
          </a:p>
          <a:p>
            <a:pPr marL="154800" indent="-154800">
              <a:buClr>
                <a:schemeClr val="accent2"/>
              </a:buClr>
              <a:buSzPct val="125000"/>
              <a:buFont typeface="Arial" panose="020B0604020202020204" pitchFamily="34" charset="0"/>
              <a:buChar char="•"/>
            </a:pPr>
            <a:endParaRPr lang="fr-CA" sz="1670" dirty="0"/>
          </a:p>
        </p:txBody>
      </p:sp>
      <p:sp>
        <p:nvSpPr>
          <p:cNvPr id="11" name="ZoneTexte 10">
            <a:extLst>
              <a:ext uri="{FF2B5EF4-FFF2-40B4-BE49-F238E27FC236}">
                <a16:creationId xmlns:a16="http://schemas.microsoft.com/office/drawing/2014/main" id="{35AF1FE3-57DF-6A41-BE9C-EAF970800B9C}"/>
              </a:ext>
            </a:extLst>
          </p:cNvPr>
          <p:cNvSpPr txBox="1"/>
          <p:nvPr/>
        </p:nvSpPr>
        <p:spPr>
          <a:xfrm>
            <a:off x="341205" y="2846982"/>
            <a:ext cx="5516679" cy="827104"/>
          </a:xfrm>
          <a:prstGeom prst="rect">
            <a:avLst/>
          </a:prstGeom>
        </p:spPr>
        <p:txBody>
          <a:bodyPr vert="horz" wrap="square" lIns="91440" tIns="45720" rIns="91440" bIns="45720" rtlCol="0">
            <a:normAutofit/>
          </a:bodyPr>
          <a:lstStyle/>
          <a:p>
            <a:pPr marL="154800" indent="-154800">
              <a:buClr>
                <a:schemeClr val="accent2"/>
              </a:buClr>
              <a:buSzPct val="125000"/>
              <a:buFont typeface="Arial" panose="020B0604020202020204" pitchFamily="34" charset="0"/>
              <a:buChar char="•"/>
            </a:pPr>
            <a:endParaRPr lang="fr-CA" sz="1670" dirty="0"/>
          </a:p>
        </p:txBody>
      </p:sp>
      <p:sp>
        <p:nvSpPr>
          <p:cNvPr id="17" name="ZoneTexte 16">
            <a:extLst>
              <a:ext uri="{FF2B5EF4-FFF2-40B4-BE49-F238E27FC236}">
                <a16:creationId xmlns:a16="http://schemas.microsoft.com/office/drawing/2014/main" id="{A72EBCB8-0A95-F341-9123-6B4ACEFBBE35}"/>
              </a:ext>
            </a:extLst>
          </p:cNvPr>
          <p:cNvSpPr txBox="1"/>
          <p:nvPr/>
        </p:nvSpPr>
        <p:spPr>
          <a:xfrm>
            <a:off x="300396" y="2645634"/>
            <a:ext cx="5835711" cy="1317166"/>
          </a:xfrm>
          <a:prstGeom prst="rect">
            <a:avLst/>
          </a:prstGeom>
        </p:spPr>
        <p:txBody>
          <a:bodyPr vert="horz" wrap="none" lIns="91440" tIns="45720" rIns="91440" bIns="45720" rtlCol="0">
            <a:normAutofit/>
          </a:bodyPr>
          <a:lstStyle/>
          <a:p>
            <a:pPr>
              <a:buClr>
                <a:schemeClr val="accent2"/>
              </a:buClr>
              <a:buSzPct val="125000"/>
            </a:pPr>
            <a:r>
              <a:rPr lang="fr-CA" sz="1600" dirty="0"/>
              <a:t>Total des anomalies	: 4 116 314 $</a:t>
            </a:r>
          </a:p>
          <a:p>
            <a:pPr>
              <a:buClr>
                <a:schemeClr val="accent2"/>
              </a:buClr>
              <a:buSzPct val="125000"/>
            </a:pPr>
            <a:r>
              <a:rPr lang="fr-CA" sz="1300" dirty="0"/>
              <a:t>Surévaluation de l’actif courant et du fonds de roulement de ce montant</a:t>
            </a:r>
          </a:p>
          <a:p>
            <a:pPr>
              <a:buClr>
                <a:schemeClr val="accent2"/>
              </a:buClr>
              <a:buSzPct val="125000"/>
            </a:pPr>
            <a:endParaRPr lang="fr-CA" sz="1300" dirty="0"/>
          </a:p>
          <a:p>
            <a:pPr>
              <a:buClr>
                <a:schemeClr val="accent2"/>
              </a:buClr>
              <a:buSzPct val="125000"/>
            </a:pPr>
            <a:r>
              <a:rPr lang="fr-CA" sz="1300" dirty="0"/>
              <a:t>Calcul : Anomalies précédentes 572 821 + Prêt à l’habitation 3 543 493</a:t>
            </a:r>
          </a:p>
        </p:txBody>
      </p:sp>
      <p:sp>
        <p:nvSpPr>
          <p:cNvPr id="18" name="ZoneTexte 17">
            <a:extLst>
              <a:ext uri="{FF2B5EF4-FFF2-40B4-BE49-F238E27FC236}">
                <a16:creationId xmlns:a16="http://schemas.microsoft.com/office/drawing/2014/main" id="{A854BAD2-864E-7F46-8AAA-9E1DCCBB7AF3}"/>
              </a:ext>
            </a:extLst>
          </p:cNvPr>
          <p:cNvSpPr txBox="1"/>
          <p:nvPr/>
        </p:nvSpPr>
        <p:spPr>
          <a:xfrm>
            <a:off x="6298129" y="2645634"/>
            <a:ext cx="2545475" cy="1234019"/>
          </a:xfrm>
          <a:prstGeom prst="rect">
            <a:avLst/>
          </a:prstGeom>
          <a:ln w="19050">
            <a:solidFill>
              <a:srgbClr val="FF0000"/>
            </a:solidFill>
          </a:ln>
        </p:spPr>
        <p:txBody>
          <a:bodyPr vert="horz" wrap="none" lIns="91440" tIns="45720" rIns="91440" bIns="45720" rtlCol="0">
            <a:normAutofit/>
          </a:bodyPr>
          <a:lstStyle/>
          <a:p>
            <a:pPr>
              <a:buClr>
                <a:schemeClr val="accent2"/>
              </a:buClr>
              <a:buSzPct val="125000"/>
            </a:pPr>
            <a:r>
              <a:rPr lang="fr-CA" sz="1200" dirty="0"/>
              <a:t>Demander au chef des finances</a:t>
            </a:r>
          </a:p>
          <a:p>
            <a:pPr>
              <a:buClr>
                <a:schemeClr val="accent2"/>
              </a:buClr>
              <a:buSzPct val="125000"/>
            </a:pPr>
            <a:r>
              <a:rPr lang="fr-CA" sz="1200" dirty="0"/>
              <a:t>de corriger</a:t>
            </a:r>
          </a:p>
          <a:p>
            <a:pPr>
              <a:buClr>
                <a:schemeClr val="accent2"/>
              </a:buClr>
              <a:buSzPct val="125000"/>
            </a:pPr>
            <a:r>
              <a:rPr lang="fr-CA" sz="1200" dirty="0"/>
              <a:t>Et s’il refuse ?</a:t>
            </a:r>
          </a:p>
          <a:p>
            <a:pPr>
              <a:buClr>
                <a:schemeClr val="accent2"/>
              </a:buClr>
              <a:buSzPct val="125000"/>
            </a:pPr>
            <a:r>
              <a:rPr lang="fr-CA" sz="1200" dirty="0"/>
              <a:t>Demander aux responsables </a:t>
            </a:r>
          </a:p>
          <a:p>
            <a:pPr>
              <a:buClr>
                <a:schemeClr val="accent2"/>
              </a:buClr>
              <a:buSzPct val="125000"/>
            </a:pPr>
            <a:r>
              <a:rPr lang="fr-CA" sz="1200" dirty="0"/>
              <a:t>de la gouvernance de corriger</a:t>
            </a:r>
          </a:p>
          <a:p>
            <a:pPr>
              <a:buClr>
                <a:schemeClr val="accent2"/>
              </a:buClr>
              <a:buSzPct val="125000"/>
            </a:pPr>
            <a:r>
              <a:rPr lang="fr-CA" sz="1200" dirty="0"/>
              <a:t>Et s’ils refusent ?</a:t>
            </a:r>
          </a:p>
        </p:txBody>
      </p:sp>
    </p:spTree>
    <p:extLst>
      <p:ext uri="{BB962C8B-B14F-4D97-AF65-F5344CB8AC3E}">
        <p14:creationId xmlns:p14="http://schemas.microsoft.com/office/powerpoint/2010/main" val="6549815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fade">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500"/>
                                        <p:tgtEl>
                                          <p:spTgt spid="12"/>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500"/>
                                        <p:tgtEl>
                                          <p:spTgt spid="13"/>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500"/>
                                        <p:tgtEl>
                                          <p:spTgt spid="14"/>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500"/>
                                        <p:tgtEl>
                                          <p:spTgt spid="15"/>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18"/>
                                        </p:tgtEl>
                                        <p:attrNameLst>
                                          <p:attrName>style.visibility</p:attrName>
                                        </p:attrNameLst>
                                      </p:cBhvr>
                                      <p:to>
                                        <p:strVal val="visible"/>
                                      </p:to>
                                    </p:set>
                                    <p:animEffect transition="in" filter="fade">
                                      <p:cBhvr>
                                        <p:cTn id="36"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p:bldP spid="15" grpId="0"/>
      <p:bldP spid="17" grpId="0"/>
      <p:bldP spid="18"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pied de page 2"/>
          <p:cNvSpPr>
            <a:spLocks noGrp="1"/>
          </p:cNvSpPr>
          <p:nvPr>
            <p:ph type="ftr" sz="quarter" idx="4294967295"/>
          </p:nvPr>
        </p:nvSpPr>
        <p:spPr/>
        <p:txBody>
          <a:bodyPr/>
          <a:lstStyle/>
          <a:p>
            <a:endParaRPr lang="fr-CA" dirty="0"/>
          </a:p>
        </p:txBody>
      </p:sp>
      <p:sp>
        <p:nvSpPr>
          <p:cNvPr id="16" name="Titre 1"/>
          <p:cNvSpPr>
            <a:spLocks noGrp="1"/>
          </p:cNvSpPr>
          <p:nvPr>
            <p:ph type="title"/>
          </p:nvPr>
        </p:nvSpPr>
        <p:spPr>
          <a:xfrm>
            <a:off x="309159" y="495878"/>
            <a:ext cx="7514035" cy="387913"/>
          </a:xfrm>
        </p:spPr>
        <p:txBody>
          <a:bodyPr>
            <a:normAutofit fontScale="90000"/>
          </a:bodyPr>
          <a:lstStyle/>
          <a:p>
            <a:r>
              <a:rPr lang="fr-CA" dirty="0"/>
              <a:t>Impact sur les clauses restrictives</a:t>
            </a:r>
          </a:p>
        </p:txBody>
      </p:sp>
      <p:sp>
        <p:nvSpPr>
          <p:cNvPr id="2" name="Espace réservé du numéro de diapositive 4">
            <a:extLst>
              <a:ext uri="{FF2B5EF4-FFF2-40B4-BE49-F238E27FC236}">
                <a16:creationId xmlns:a16="http://schemas.microsoft.com/office/drawing/2014/main" id="{83AFFC26-DC10-B9CF-2FD9-27C9B4B58613}"/>
              </a:ext>
            </a:extLst>
          </p:cNvPr>
          <p:cNvSpPr txBox="1">
            <a:spLocks/>
          </p:cNvSpPr>
          <p:nvPr/>
        </p:nvSpPr>
        <p:spPr>
          <a:xfrm>
            <a:off x="8545786" y="4650963"/>
            <a:ext cx="413375" cy="273844"/>
          </a:xfr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B5DEC05-AB38-4F58-9609-FFF4AA167839}" type="slidenum">
              <a:rPr lang="fr-CA" sz="1050" smtClean="0"/>
              <a:pPr/>
              <a:t>44</a:t>
            </a:fld>
            <a:endParaRPr lang="fr-CA" sz="1050" dirty="0"/>
          </a:p>
        </p:txBody>
      </p:sp>
      <p:pic>
        <p:nvPicPr>
          <p:cNvPr id="5" name="Image 4">
            <a:extLst>
              <a:ext uri="{FF2B5EF4-FFF2-40B4-BE49-F238E27FC236}">
                <a16:creationId xmlns:a16="http://schemas.microsoft.com/office/drawing/2014/main" id="{2B25E2B1-BDE9-176F-4E56-7D7BFF3E67D6}"/>
              </a:ext>
            </a:extLst>
          </p:cNvPr>
          <p:cNvPicPr>
            <a:picLocks noChangeAspect="1"/>
          </p:cNvPicPr>
          <p:nvPr/>
        </p:nvPicPr>
        <p:blipFill>
          <a:blip r:embed="rId2"/>
          <a:stretch>
            <a:fillRect/>
          </a:stretch>
        </p:blipFill>
        <p:spPr>
          <a:xfrm>
            <a:off x="352212" y="893647"/>
            <a:ext cx="6227121" cy="4031159"/>
          </a:xfrm>
          <a:prstGeom prst="rect">
            <a:avLst/>
          </a:prstGeom>
        </p:spPr>
      </p:pic>
      <p:sp>
        <p:nvSpPr>
          <p:cNvPr id="11" name="ZoneTexte 10">
            <a:extLst>
              <a:ext uri="{FF2B5EF4-FFF2-40B4-BE49-F238E27FC236}">
                <a16:creationId xmlns:a16="http://schemas.microsoft.com/office/drawing/2014/main" id="{F662396F-7586-EECF-7154-9EED320167AA}"/>
              </a:ext>
            </a:extLst>
          </p:cNvPr>
          <p:cNvSpPr txBox="1"/>
          <p:nvPr/>
        </p:nvSpPr>
        <p:spPr>
          <a:xfrm>
            <a:off x="6540843" y="1640980"/>
            <a:ext cx="2250944" cy="710242"/>
          </a:xfrm>
          <a:prstGeom prst="rect">
            <a:avLst/>
          </a:prstGeom>
        </p:spPr>
        <p:txBody>
          <a:bodyPr vert="horz" wrap="square" lIns="91440" tIns="45720" rIns="91440" bIns="45720" rtlCol="0">
            <a:normAutofit/>
          </a:bodyPr>
          <a:lstStyle/>
          <a:p>
            <a:pPr algn="ctr">
              <a:buClr>
                <a:schemeClr val="accent2"/>
              </a:buClr>
              <a:buSzPct val="125000"/>
            </a:pPr>
            <a:r>
              <a:rPr lang="fr-CA" sz="1670" dirty="0"/>
              <a:t>Réaction de la banque ?</a:t>
            </a:r>
          </a:p>
          <a:p>
            <a:pPr algn="ctr">
              <a:buClr>
                <a:schemeClr val="accent2"/>
              </a:buClr>
              <a:buSzPct val="125000"/>
            </a:pPr>
            <a:endParaRPr lang="fr-CA" sz="1670" dirty="0">
              <a:solidFill>
                <a:schemeClr val="accent5">
                  <a:lumMod val="50000"/>
                </a:schemeClr>
              </a:solidFill>
            </a:endParaRPr>
          </a:p>
        </p:txBody>
      </p:sp>
      <p:sp>
        <p:nvSpPr>
          <p:cNvPr id="17" name="Flèche : bas 16">
            <a:extLst>
              <a:ext uri="{FF2B5EF4-FFF2-40B4-BE49-F238E27FC236}">
                <a16:creationId xmlns:a16="http://schemas.microsoft.com/office/drawing/2014/main" id="{84BBE71B-4BB4-C449-A83E-2DD5DDC11620}"/>
              </a:ext>
            </a:extLst>
          </p:cNvPr>
          <p:cNvSpPr/>
          <p:nvPr/>
        </p:nvSpPr>
        <p:spPr>
          <a:xfrm>
            <a:off x="7416345" y="2317750"/>
            <a:ext cx="499939" cy="508000"/>
          </a:xfrm>
          <a:prstGeom prst="downArrow">
            <a:avLst>
              <a:gd name="adj1" fmla="val 50000"/>
              <a:gd name="adj2" fmla="val 50000"/>
            </a:avLst>
          </a:prstGeom>
          <a:solidFill>
            <a:schemeClr val="accent5">
              <a:lumMod val="50000"/>
            </a:schemeClr>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18" name="ZoneTexte 17">
            <a:extLst>
              <a:ext uri="{FF2B5EF4-FFF2-40B4-BE49-F238E27FC236}">
                <a16:creationId xmlns:a16="http://schemas.microsoft.com/office/drawing/2014/main" id="{42475E0E-BAFB-FCDD-42AA-DE7610181894}"/>
              </a:ext>
            </a:extLst>
          </p:cNvPr>
          <p:cNvSpPr txBox="1"/>
          <p:nvPr/>
        </p:nvSpPr>
        <p:spPr>
          <a:xfrm>
            <a:off x="6540843" y="2906169"/>
            <a:ext cx="2250944" cy="710242"/>
          </a:xfrm>
          <a:prstGeom prst="rect">
            <a:avLst/>
          </a:prstGeom>
        </p:spPr>
        <p:txBody>
          <a:bodyPr vert="horz" wrap="square" lIns="91440" tIns="45720" rIns="91440" bIns="45720" rtlCol="0">
            <a:normAutofit/>
          </a:bodyPr>
          <a:lstStyle/>
          <a:p>
            <a:pPr algn="ctr">
              <a:buClr>
                <a:schemeClr val="accent2"/>
              </a:buClr>
              <a:buSzPct val="125000"/>
            </a:pPr>
            <a:r>
              <a:rPr lang="fr-CA" sz="1670" dirty="0"/>
              <a:t>Continuité d’exploitation</a:t>
            </a:r>
          </a:p>
          <a:p>
            <a:pPr algn="ctr">
              <a:buClr>
                <a:schemeClr val="accent2"/>
              </a:buClr>
              <a:buSzPct val="125000"/>
            </a:pPr>
            <a:endParaRPr lang="fr-CA" sz="1670" dirty="0">
              <a:solidFill>
                <a:schemeClr val="accent5">
                  <a:lumMod val="50000"/>
                </a:schemeClr>
              </a:solidFill>
            </a:endParaRPr>
          </a:p>
        </p:txBody>
      </p:sp>
      <p:sp>
        <p:nvSpPr>
          <p:cNvPr id="19" name="ZoneTexte 18">
            <a:extLst>
              <a:ext uri="{FF2B5EF4-FFF2-40B4-BE49-F238E27FC236}">
                <a16:creationId xmlns:a16="http://schemas.microsoft.com/office/drawing/2014/main" id="{59B130FC-4A52-81AD-7EFC-86A68E774636}"/>
              </a:ext>
            </a:extLst>
          </p:cNvPr>
          <p:cNvSpPr txBox="1"/>
          <p:nvPr/>
        </p:nvSpPr>
        <p:spPr>
          <a:xfrm>
            <a:off x="6897430" y="4851646"/>
            <a:ext cx="1851528" cy="273845"/>
          </a:xfrm>
          <a:prstGeom prst="rect">
            <a:avLst/>
          </a:prstGeom>
        </p:spPr>
        <p:txBody>
          <a:bodyPr vert="horz" wrap="square" lIns="91440" tIns="45720" rIns="91440" bIns="45720" rtlCol="0">
            <a:normAutofit fontScale="77500" lnSpcReduction="20000"/>
          </a:bodyPr>
          <a:lstStyle/>
          <a:p>
            <a:pPr>
              <a:buClr>
                <a:schemeClr val="accent2"/>
              </a:buClr>
              <a:buSzPct val="125000"/>
            </a:pPr>
            <a:r>
              <a:rPr lang="fr-CA" sz="900" dirty="0"/>
              <a:t>Par Marc-André Nadon – HEC Montréal</a:t>
            </a:r>
          </a:p>
        </p:txBody>
      </p:sp>
      <p:sp>
        <p:nvSpPr>
          <p:cNvPr id="4" name="ZoneTexte 3">
            <a:extLst>
              <a:ext uri="{FF2B5EF4-FFF2-40B4-BE49-F238E27FC236}">
                <a16:creationId xmlns:a16="http://schemas.microsoft.com/office/drawing/2014/main" id="{94ACD2BD-547A-A44C-8D27-AB9BC7D07684}"/>
              </a:ext>
            </a:extLst>
          </p:cNvPr>
          <p:cNvSpPr txBox="1"/>
          <p:nvPr/>
        </p:nvSpPr>
        <p:spPr>
          <a:xfrm>
            <a:off x="3465772" y="3135493"/>
            <a:ext cx="3095733" cy="249058"/>
          </a:xfrm>
          <a:prstGeom prst="rect">
            <a:avLst/>
          </a:prstGeom>
          <a:ln w="15875">
            <a:solidFill>
              <a:srgbClr val="FF0000"/>
            </a:solidFill>
          </a:ln>
        </p:spPr>
        <p:txBody>
          <a:bodyPr vert="horz" wrap="none" lIns="91440" tIns="45720" rIns="91440" bIns="45720" rtlCol="0">
            <a:normAutofit lnSpcReduction="10000"/>
          </a:bodyPr>
          <a:lstStyle/>
          <a:p>
            <a:pPr>
              <a:buClr>
                <a:schemeClr val="accent2"/>
              </a:buClr>
              <a:buSzPct val="125000"/>
            </a:pPr>
            <a:r>
              <a:rPr lang="fr-CA" sz="1050" dirty="0">
                <a:solidFill>
                  <a:schemeClr val="bg1"/>
                </a:solidFill>
              </a:rPr>
              <a:t>vs. ligne de crédit au 31 juillet 2019 : 30 200 000 $</a:t>
            </a:r>
          </a:p>
        </p:txBody>
      </p:sp>
      <p:sp>
        <p:nvSpPr>
          <p:cNvPr id="12" name="ZoneTexte 11">
            <a:extLst>
              <a:ext uri="{FF2B5EF4-FFF2-40B4-BE49-F238E27FC236}">
                <a16:creationId xmlns:a16="http://schemas.microsoft.com/office/drawing/2014/main" id="{3129B089-3F0E-0445-908B-2DE7F4F4009A}"/>
              </a:ext>
            </a:extLst>
          </p:cNvPr>
          <p:cNvSpPr txBox="1"/>
          <p:nvPr/>
        </p:nvSpPr>
        <p:spPr>
          <a:xfrm>
            <a:off x="5549046" y="4717975"/>
            <a:ext cx="1189335" cy="249058"/>
          </a:xfrm>
          <a:prstGeom prst="rect">
            <a:avLst/>
          </a:prstGeom>
          <a:ln w="15875">
            <a:solidFill>
              <a:srgbClr val="FF0000"/>
            </a:solidFill>
          </a:ln>
        </p:spPr>
        <p:txBody>
          <a:bodyPr vert="horz" wrap="none" lIns="91440" tIns="45720" rIns="91440" bIns="45720" rtlCol="0">
            <a:normAutofit lnSpcReduction="10000"/>
          </a:bodyPr>
          <a:lstStyle/>
          <a:p>
            <a:pPr>
              <a:buClr>
                <a:schemeClr val="accent2"/>
              </a:buClr>
              <a:buSzPct val="125000"/>
            </a:pPr>
            <a:r>
              <a:rPr lang="fr-CA" sz="1050" dirty="0">
                <a:solidFill>
                  <a:schemeClr val="bg1"/>
                </a:solidFill>
              </a:rPr>
              <a:t>vs. 1,35 minimum</a:t>
            </a:r>
          </a:p>
        </p:txBody>
      </p:sp>
    </p:spTree>
    <p:extLst>
      <p:ext uri="{BB962C8B-B14F-4D97-AF65-F5344CB8AC3E}">
        <p14:creationId xmlns:p14="http://schemas.microsoft.com/office/powerpoint/2010/main" val="257448460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C5C4B3F-0A21-E24F-9A54-10A09861575F}"/>
              </a:ext>
            </a:extLst>
          </p:cNvPr>
          <p:cNvSpPr>
            <a:spLocks noGrp="1"/>
          </p:cNvSpPr>
          <p:nvPr>
            <p:ph type="title"/>
          </p:nvPr>
        </p:nvSpPr>
        <p:spPr/>
        <p:txBody>
          <a:bodyPr/>
          <a:lstStyle/>
          <a:p>
            <a:r>
              <a:rPr lang="fr-CA" dirty="0"/>
              <a:t>Rapport de l’auditeur</a:t>
            </a:r>
          </a:p>
        </p:txBody>
      </p:sp>
      <p:sp>
        <p:nvSpPr>
          <p:cNvPr id="3" name="Espace réservé du contenu 2">
            <a:extLst>
              <a:ext uri="{FF2B5EF4-FFF2-40B4-BE49-F238E27FC236}">
                <a16:creationId xmlns:a16="http://schemas.microsoft.com/office/drawing/2014/main" id="{4876FA21-F94A-4E4C-80A6-05B60989F2F4}"/>
              </a:ext>
            </a:extLst>
          </p:cNvPr>
          <p:cNvSpPr>
            <a:spLocks noGrp="1"/>
          </p:cNvSpPr>
          <p:nvPr>
            <p:ph idx="1"/>
          </p:nvPr>
        </p:nvSpPr>
        <p:spPr>
          <a:xfrm>
            <a:off x="478800" y="1366088"/>
            <a:ext cx="8186400" cy="3400983"/>
          </a:xfrm>
        </p:spPr>
        <p:txBody>
          <a:bodyPr anchor="t">
            <a:normAutofit fontScale="92500" lnSpcReduction="20000"/>
          </a:bodyPr>
          <a:lstStyle/>
          <a:p>
            <a:pPr>
              <a:spcBef>
                <a:spcPts val="0"/>
              </a:spcBef>
            </a:pPr>
            <a:r>
              <a:rPr lang="fr-CA" dirty="0"/>
              <a:t>Pour conclure sur un type d’opinion modifiée, il faut discuter de la nature du problème et du caractère généralisé des incidences sur les </a:t>
            </a:r>
            <a:r>
              <a:rPr lang="fr-CA" dirty="0" err="1"/>
              <a:t>ÉFs</a:t>
            </a:r>
            <a:r>
              <a:rPr lang="fr-CA" dirty="0"/>
              <a:t>.</a:t>
            </a:r>
          </a:p>
          <a:p>
            <a:pPr marL="285750" indent="-285750">
              <a:spcBef>
                <a:spcPts val="0"/>
              </a:spcBef>
              <a:buClr>
                <a:schemeClr val="tx1"/>
              </a:buClr>
              <a:buFont typeface="Arial" panose="020B0604020202020204" pitchFamily="34" charset="0"/>
              <a:buChar char="•"/>
            </a:pPr>
            <a:r>
              <a:rPr lang="fr-CA" b="1" dirty="0"/>
              <a:t>Nature du problème : </a:t>
            </a:r>
          </a:p>
          <a:p>
            <a:pPr marL="693990" lvl="1" indent="-285750">
              <a:spcBef>
                <a:spcPts val="0"/>
              </a:spcBef>
            </a:pPr>
            <a:r>
              <a:rPr lang="fr-CA" dirty="0"/>
              <a:t>Présence d’une ou de plusieurs anomalies significatives dans les </a:t>
            </a:r>
            <a:r>
              <a:rPr lang="fr-CA" dirty="0" err="1"/>
              <a:t>ÉFs</a:t>
            </a:r>
            <a:r>
              <a:rPr lang="fr-CA" dirty="0"/>
              <a:t>. Les anomalies dépassent le SS et le SST. L’impact sur le BAI est de (572 821 $) et l’impact sur l’actif courant est de (4 116 314 $).</a:t>
            </a:r>
          </a:p>
          <a:p>
            <a:pPr marL="693990" lvl="1" indent="-285750">
              <a:spcBef>
                <a:spcPts val="0"/>
              </a:spcBef>
            </a:pPr>
            <a:r>
              <a:rPr lang="fr-CA" dirty="0"/>
              <a:t>Les anomalies, prises individuellement ou collectivement, pourraient influencer les décisions économiques que les utilisateurs des </a:t>
            </a:r>
            <a:r>
              <a:rPr lang="fr-CA" dirty="0" err="1"/>
              <a:t>ÉFs</a:t>
            </a:r>
            <a:r>
              <a:rPr lang="fr-CA" dirty="0"/>
              <a:t> prennent en se fondant sur ceux-ci. Par exemple, les anomalies affectent les clauses restrictives utilisées par la banque pour consentir son prêt à BC. Ainsi, les </a:t>
            </a:r>
            <a:r>
              <a:rPr lang="fr-CA" dirty="0" err="1"/>
              <a:t>ÉFs</a:t>
            </a:r>
            <a:r>
              <a:rPr lang="fr-CA" dirty="0"/>
              <a:t> sont trompeurs.</a:t>
            </a:r>
          </a:p>
          <a:p>
            <a:pPr marL="285750" indent="-285750">
              <a:spcBef>
                <a:spcPts val="0"/>
              </a:spcBef>
              <a:buClr>
                <a:schemeClr val="tx1"/>
              </a:buClr>
              <a:buFont typeface="Arial" panose="020B0604020202020204" pitchFamily="34" charset="0"/>
              <a:buChar char="•"/>
            </a:pPr>
            <a:r>
              <a:rPr lang="fr-CA" b="1" dirty="0"/>
              <a:t>Caractère généralisé des incidences sur les </a:t>
            </a:r>
            <a:r>
              <a:rPr lang="fr-CA" b="1" dirty="0" err="1"/>
              <a:t>ÉFs</a:t>
            </a:r>
            <a:r>
              <a:rPr lang="fr-CA" b="1" dirty="0"/>
              <a:t> :</a:t>
            </a:r>
          </a:p>
          <a:p>
            <a:pPr marL="693990" lvl="1" indent="-285750">
              <a:spcBef>
                <a:spcPts val="0"/>
              </a:spcBef>
            </a:pPr>
            <a:r>
              <a:rPr lang="fr-CA" dirty="0"/>
              <a:t>Les anomalies sont circonscrites à des postes spécifiques des </a:t>
            </a:r>
            <a:r>
              <a:rPr lang="fr-CA" dirty="0" err="1"/>
              <a:t>ÉFs</a:t>
            </a:r>
            <a:r>
              <a:rPr lang="fr-CA" dirty="0"/>
              <a:t> (TEC, comptes clients (devises), prêts à l’habitation, stocks, certaines charges).</a:t>
            </a:r>
          </a:p>
          <a:p>
            <a:pPr marL="693990" lvl="1" indent="-285750">
              <a:spcBef>
                <a:spcPts val="0"/>
              </a:spcBef>
            </a:pPr>
            <a:r>
              <a:rPr lang="fr-CA" dirty="0"/>
              <a:t>Ainsi, elles ne sont pas généralisées. </a:t>
            </a:r>
          </a:p>
          <a:p>
            <a:pPr marL="285750" indent="-285750">
              <a:spcBef>
                <a:spcPts val="0"/>
              </a:spcBef>
              <a:buFont typeface="Arial" panose="020B0604020202020204" pitchFamily="34" charset="0"/>
              <a:buChar char="•"/>
            </a:pPr>
            <a:endParaRPr lang="fr-CA" dirty="0"/>
          </a:p>
          <a:p>
            <a:pPr marL="285750" indent="-285750">
              <a:spcBef>
                <a:spcPts val="0"/>
              </a:spcBef>
              <a:buFont typeface="Arial" panose="020B0604020202020204" pitchFamily="34" charset="0"/>
              <a:buChar char="•"/>
            </a:pPr>
            <a:endParaRPr lang="fr-CA" dirty="0"/>
          </a:p>
          <a:p>
            <a:pPr>
              <a:spcBef>
                <a:spcPts val="0"/>
              </a:spcBef>
            </a:pPr>
            <a:r>
              <a:rPr lang="fr-CA" dirty="0"/>
              <a:t>Conclusion, opinion avec réserve.</a:t>
            </a:r>
          </a:p>
          <a:p>
            <a:pPr marL="285750" indent="-285750">
              <a:spcBef>
                <a:spcPts val="0"/>
              </a:spcBef>
              <a:buClr>
                <a:schemeClr val="tx1"/>
              </a:buClr>
              <a:buFont typeface="Arial" panose="020B0604020202020204" pitchFamily="34" charset="0"/>
              <a:buChar char="•"/>
            </a:pPr>
            <a:r>
              <a:rPr lang="fr-CA" dirty="0"/>
              <a:t>Ajout de la section « Fondement de l’opinion avec réserve ».</a:t>
            </a:r>
          </a:p>
        </p:txBody>
      </p:sp>
      <p:sp>
        <p:nvSpPr>
          <p:cNvPr id="4" name="Espace réservé du numéro de diapositive 4">
            <a:extLst>
              <a:ext uri="{FF2B5EF4-FFF2-40B4-BE49-F238E27FC236}">
                <a16:creationId xmlns:a16="http://schemas.microsoft.com/office/drawing/2014/main" id="{DD661F5E-A965-A749-9A58-F84C00FFB696}"/>
              </a:ext>
            </a:extLst>
          </p:cNvPr>
          <p:cNvSpPr txBox="1">
            <a:spLocks/>
          </p:cNvSpPr>
          <p:nvPr/>
        </p:nvSpPr>
        <p:spPr>
          <a:xfrm>
            <a:off x="8545786" y="4650963"/>
            <a:ext cx="413375" cy="273844"/>
          </a:xfr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B5DEC05-AB38-4F58-9609-FFF4AA167839}" type="slidenum">
              <a:rPr lang="fr-CA" sz="1050" smtClean="0"/>
              <a:pPr/>
              <a:t>45</a:t>
            </a:fld>
            <a:endParaRPr lang="fr-CA" sz="1050" dirty="0"/>
          </a:p>
        </p:txBody>
      </p:sp>
      <p:sp>
        <p:nvSpPr>
          <p:cNvPr id="5" name="ZoneTexte 4">
            <a:extLst>
              <a:ext uri="{FF2B5EF4-FFF2-40B4-BE49-F238E27FC236}">
                <a16:creationId xmlns:a16="http://schemas.microsoft.com/office/drawing/2014/main" id="{39D01C2A-1580-2E4F-B5C5-02350AE3303B}"/>
              </a:ext>
            </a:extLst>
          </p:cNvPr>
          <p:cNvSpPr txBox="1"/>
          <p:nvPr/>
        </p:nvSpPr>
        <p:spPr>
          <a:xfrm>
            <a:off x="3034454" y="4924807"/>
            <a:ext cx="2015848" cy="273845"/>
          </a:xfrm>
          <a:prstGeom prst="rect">
            <a:avLst/>
          </a:prstGeom>
        </p:spPr>
        <p:txBody>
          <a:bodyPr vert="horz" wrap="square" lIns="91440" tIns="45720" rIns="91440" bIns="45720" rtlCol="0">
            <a:normAutofit fontScale="92500"/>
          </a:bodyPr>
          <a:lstStyle/>
          <a:p>
            <a:pPr>
              <a:buClr>
                <a:schemeClr val="accent2"/>
              </a:buClr>
              <a:buSzPct val="125000"/>
            </a:pPr>
            <a:r>
              <a:rPr lang="fr-CA" sz="900" dirty="0"/>
              <a:t>Par Laurence Daoust – HEC Montréal</a:t>
            </a:r>
          </a:p>
        </p:txBody>
      </p:sp>
    </p:spTree>
    <p:extLst>
      <p:ext uri="{BB962C8B-B14F-4D97-AF65-F5344CB8AC3E}">
        <p14:creationId xmlns:p14="http://schemas.microsoft.com/office/powerpoint/2010/main" val="318956424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CA" noProof="0" dirty="0"/>
              <a:t>Rappel théorique – Évaluation des anomalies détectées au cours de l’audit (NCA 450)</a:t>
            </a:r>
          </a:p>
        </p:txBody>
      </p:sp>
      <p:sp>
        <p:nvSpPr>
          <p:cNvPr id="3" name="Content Placeholder 2"/>
          <p:cNvSpPr>
            <a:spLocks noGrp="1"/>
          </p:cNvSpPr>
          <p:nvPr>
            <p:ph idx="1"/>
          </p:nvPr>
        </p:nvSpPr>
        <p:spPr>
          <a:xfrm>
            <a:off x="478800" y="1824602"/>
            <a:ext cx="8186400" cy="2882225"/>
          </a:xfrm>
        </p:spPr>
        <p:txBody>
          <a:bodyPr>
            <a:noAutofit/>
          </a:bodyPr>
          <a:lstStyle/>
          <a:p>
            <a:pPr marL="285750" indent="-285750">
              <a:buClr>
                <a:schemeClr val="tx1"/>
              </a:buClr>
              <a:buFont typeface="Arial" panose="020B0604020202020204" pitchFamily="34" charset="0"/>
              <a:buChar char="•"/>
            </a:pPr>
            <a:r>
              <a:rPr lang="fr-CA" sz="1500" u="sng" dirty="0"/>
              <a:t>Cumul des anomalies détectées</a:t>
            </a:r>
            <a:r>
              <a:rPr lang="fr-CA" sz="1500" b="1" dirty="0"/>
              <a:t> </a:t>
            </a:r>
            <a:r>
              <a:rPr lang="fr-CA" sz="1500" dirty="0"/>
              <a:t>au cours de l’audit </a:t>
            </a:r>
            <a:r>
              <a:rPr lang="fr-CA" sz="1600" dirty="0"/>
              <a:t>(factuelles, liées au jugement, extrapolées)</a:t>
            </a:r>
            <a:r>
              <a:rPr lang="fr-CA" sz="1500" dirty="0"/>
              <a:t>, à l’exclusion de celles qui sont manifestement négligeables.</a:t>
            </a:r>
          </a:p>
          <a:p>
            <a:pPr marL="285750" indent="-285750">
              <a:buClr>
                <a:schemeClr val="tx1"/>
              </a:buClr>
              <a:buFont typeface="Arial" panose="020B0604020202020204" pitchFamily="34" charset="0"/>
              <a:buChar char="•"/>
            </a:pPr>
            <a:r>
              <a:rPr lang="fr-CA" sz="1500" dirty="0"/>
              <a:t>L’auditeur doit se demander s’il est nécessaire de </a:t>
            </a:r>
            <a:r>
              <a:rPr lang="fr-CA" sz="1500" u="sng" dirty="0"/>
              <a:t>réviser la stratégie générale d’audit et le plan de mission</a:t>
            </a:r>
            <a:r>
              <a:rPr lang="fr-CA" sz="1500" b="1" dirty="0"/>
              <a:t> </a:t>
            </a:r>
            <a:r>
              <a:rPr lang="fr-CA" sz="1500" dirty="0"/>
              <a:t>dans </a:t>
            </a:r>
            <a:r>
              <a:rPr lang="fr-CA" sz="1500" u="sng" dirty="0"/>
              <a:t>l’un ou l’autre</a:t>
            </a:r>
            <a:r>
              <a:rPr lang="fr-CA" sz="1500" dirty="0"/>
              <a:t> des cas suivants :</a:t>
            </a:r>
          </a:p>
          <a:p>
            <a:pPr lvl="2"/>
            <a:r>
              <a:rPr lang="fr-CA" sz="1350" dirty="0"/>
              <a:t>la nature des anomalies détectées et les circonstances dans lesquelles elles se sont produites indiquent l’existence possible d’autres anomalies qui, ajoutées au cumul des anomalies détectées au cours de l’audit, pourraient être significatives;</a:t>
            </a:r>
          </a:p>
          <a:p>
            <a:pPr lvl="2"/>
            <a:r>
              <a:rPr lang="fr-CA" sz="1350" dirty="0"/>
              <a:t>le cumul des anomalies détectées au cours de l’audit avoisine le SS.</a:t>
            </a:r>
          </a:p>
          <a:p>
            <a:pPr marL="285750" indent="-285750">
              <a:buClr>
                <a:schemeClr val="tx1"/>
              </a:buClr>
              <a:buFont typeface="Arial" panose="020B0604020202020204" pitchFamily="34" charset="0"/>
              <a:buChar char="•"/>
            </a:pPr>
            <a:r>
              <a:rPr lang="fr-CA" sz="1500" dirty="0"/>
              <a:t>L’auditeur doit </a:t>
            </a:r>
            <a:r>
              <a:rPr lang="fr-CA" sz="1500" u="sng" dirty="0"/>
              <a:t>communiquer à la direction</a:t>
            </a:r>
            <a:r>
              <a:rPr lang="fr-CA" sz="1500" dirty="0"/>
              <a:t> toutes les anomalies dont il a fait le cumul au cours de l’audit et lui </a:t>
            </a:r>
            <a:r>
              <a:rPr lang="fr-CA" sz="1500" u="sng" dirty="0"/>
              <a:t>demander de les corriger</a:t>
            </a:r>
            <a:r>
              <a:rPr lang="fr-CA" sz="1500" dirty="0"/>
              <a:t>. Si la direction refuse de corriger tout ou partie des anomalies, celui-ci doit acquérir une compréhension des motifs du refus de la direction et il doit en tenir compte lorsqu’il évalue si les </a:t>
            </a:r>
            <a:r>
              <a:rPr lang="fr-CA" sz="1500" dirty="0" err="1"/>
              <a:t>ÉFs</a:t>
            </a:r>
            <a:r>
              <a:rPr lang="fr-CA" sz="1500" dirty="0"/>
              <a:t> pris dans leur ensemble sont exempts d’AS.</a:t>
            </a:r>
          </a:p>
          <a:p>
            <a:endParaRPr lang="fr-CA" sz="1500" dirty="0"/>
          </a:p>
          <a:p>
            <a:endParaRPr lang="en-CA" sz="1800" i="1" dirty="0"/>
          </a:p>
        </p:txBody>
      </p:sp>
      <p:sp>
        <p:nvSpPr>
          <p:cNvPr id="4" name="Espace réservé du numéro de diapositive 3"/>
          <p:cNvSpPr>
            <a:spLocks noGrp="1"/>
          </p:cNvSpPr>
          <p:nvPr>
            <p:ph type="sldNum" sz="quarter" idx="12"/>
          </p:nvPr>
        </p:nvSpPr>
        <p:spPr>
          <a:xfrm>
            <a:off x="10934400" y="6461995"/>
            <a:ext cx="619200" cy="164160"/>
          </a:xfrm>
          <a:prstGeom prst="rect">
            <a:avLst/>
          </a:prstGeom>
        </p:spPr>
        <p:txBody>
          <a:bodyPr vert="horz" lIns="91440" tIns="45720" rIns="91440" bIns="45720" rtlCol="0" anchor="ctr"/>
          <a:lstStyle>
            <a:defPPr>
              <a:defRPr lang="en-US"/>
            </a:defPPr>
            <a:lvl1pPr marL="0" algn="r" defTabSz="457200" rtl="0" eaLnBrk="1" latinLnBrk="0" hangingPunct="1">
              <a:defRPr sz="804"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02111984F565}" type="slidenum">
              <a:rPr lang="en-US" smtClean="0"/>
              <a:pPr/>
              <a:t>46</a:t>
            </a:fld>
            <a:endParaRPr lang="en-US" dirty="0"/>
          </a:p>
        </p:txBody>
      </p:sp>
    </p:spTree>
    <p:extLst>
      <p:ext uri="{BB962C8B-B14F-4D97-AF65-F5344CB8AC3E}">
        <p14:creationId xmlns:p14="http://schemas.microsoft.com/office/powerpoint/2010/main" val="130659786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4A76116-4267-B647-59BA-37A8CF7F7BBC}"/>
              </a:ext>
            </a:extLst>
          </p:cNvPr>
          <p:cNvSpPr>
            <a:spLocks noGrp="1"/>
          </p:cNvSpPr>
          <p:nvPr>
            <p:ph type="title"/>
          </p:nvPr>
        </p:nvSpPr>
        <p:spPr/>
        <p:txBody>
          <a:bodyPr/>
          <a:lstStyle/>
          <a:p>
            <a:r>
              <a:rPr lang="fr-CA" noProof="0" dirty="0"/>
              <a:t>Rappel théorique – Évaluation des anomalies détectées au cours de l’audit (NCA 450)</a:t>
            </a:r>
          </a:p>
        </p:txBody>
      </p:sp>
      <p:sp>
        <p:nvSpPr>
          <p:cNvPr id="3" name="Espace réservé du contenu 2">
            <a:extLst>
              <a:ext uri="{FF2B5EF4-FFF2-40B4-BE49-F238E27FC236}">
                <a16:creationId xmlns:a16="http://schemas.microsoft.com/office/drawing/2014/main" id="{B8760777-28D9-28C2-89A4-0CF01CF71776}"/>
              </a:ext>
            </a:extLst>
          </p:cNvPr>
          <p:cNvSpPr>
            <a:spLocks noGrp="1"/>
          </p:cNvSpPr>
          <p:nvPr>
            <p:ph idx="1"/>
          </p:nvPr>
        </p:nvSpPr>
        <p:spPr/>
        <p:txBody>
          <a:bodyPr>
            <a:normAutofit fontScale="92500"/>
          </a:bodyPr>
          <a:lstStyle/>
          <a:p>
            <a:pPr marL="285750" indent="-285750">
              <a:buClr>
                <a:schemeClr val="tx1"/>
              </a:buClr>
              <a:buFont typeface="Arial" panose="020B0604020202020204" pitchFamily="34" charset="0"/>
              <a:buChar char="•"/>
            </a:pPr>
            <a:r>
              <a:rPr lang="fr-CA" b="1" dirty="0"/>
              <a:t>Évaluation de l’incidence des anomalies non corrigées</a:t>
            </a:r>
            <a:endParaRPr lang="fr-CA" dirty="0"/>
          </a:p>
          <a:p>
            <a:pPr lvl="2"/>
            <a:r>
              <a:rPr lang="fr-CA" u="sng" dirty="0"/>
              <a:t>Avant d’évaluer</a:t>
            </a:r>
            <a:r>
              <a:rPr lang="fr-CA" dirty="0"/>
              <a:t> l’incidence des anomalies non corrigées, l’auditeur doit reconsidérer le SS afin de confirmer s’il demeure approprié au regard des résultats financiers réels de l’entité.</a:t>
            </a:r>
          </a:p>
          <a:p>
            <a:pPr lvl="2"/>
            <a:r>
              <a:rPr lang="fr-CA" dirty="0"/>
              <a:t>L’auditeur doit déterminer si les anomalies non corrigées sont significatives, individuellement ou collectivement. Il doit prendre en considération : a) </a:t>
            </a:r>
            <a:r>
              <a:rPr lang="fr-CA" u="sng" dirty="0"/>
              <a:t>l’ordre de grandeur et la nature des anomalies</a:t>
            </a:r>
            <a:r>
              <a:rPr lang="fr-CA" dirty="0"/>
              <a:t>; a) l’incidence des anomalies non corrigées liées aux périodes antérieures.</a:t>
            </a:r>
          </a:p>
          <a:p>
            <a:pPr>
              <a:buClr>
                <a:schemeClr val="tx1"/>
              </a:buClr>
            </a:pPr>
            <a:endParaRPr lang="fr-CA" dirty="0"/>
          </a:p>
          <a:p>
            <a:pPr marL="285750" indent="-285750">
              <a:buClr>
                <a:schemeClr val="tx1"/>
              </a:buClr>
              <a:buFont typeface="Arial" panose="020B0604020202020204" pitchFamily="34" charset="0"/>
              <a:buChar char="•"/>
            </a:pPr>
            <a:r>
              <a:rPr lang="fr-CA" dirty="0"/>
              <a:t>L’auditeur doit </a:t>
            </a:r>
            <a:r>
              <a:rPr lang="fr-CA" b="1" dirty="0"/>
              <a:t>communiquer aux responsables de la gouvernance : </a:t>
            </a:r>
          </a:p>
          <a:p>
            <a:pPr lvl="2"/>
            <a:r>
              <a:rPr lang="fr-CA" u="sng" dirty="0"/>
              <a:t>Les anomalies non corrigées</a:t>
            </a:r>
            <a:r>
              <a:rPr lang="fr-CA" dirty="0"/>
              <a:t>, en décrivant l’incidence qu’elles peuvent avoir, individuellement ou collectivement, sur l’opinion à exprimer dans son rapport. L’auditeur doit </a:t>
            </a:r>
            <a:r>
              <a:rPr lang="fr-CA" u="sng" dirty="0"/>
              <a:t>demander la correction</a:t>
            </a:r>
            <a:r>
              <a:rPr lang="fr-CA" dirty="0"/>
              <a:t> des anomalies non corrigées.</a:t>
            </a:r>
          </a:p>
          <a:p>
            <a:pPr lvl="2"/>
            <a:r>
              <a:rPr lang="fr-CA" dirty="0"/>
              <a:t>L’incidence des anomalies non corrigées liées aux périodes antérieures.</a:t>
            </a:r>
          </a:p>
        </p:txBody>
      </p:sp>
      <p:sp>
        <p:nvSpPr>
          <p:cNvPr id="4" name="Espace réservé du numéro de diapositive 3">
            <a:extLst>
              <a:ext uri="{FF2B5EF4-FFF2-40B4-BE49-F238E27FC236}">
                <a16:creationId xmlns:a16="http://schemas.microsoft.com/office/drawing/2014/main" id="{EE65BC0A-7065-1701-10A8-CADD89094F3C}"/>
              </a:ext>
            </a:extLst>
          </p:cNvPr>
          <p:cNvSpPr>
            <a:spLocks noGrp="1"/>
          </p:cNvSpPr>
          <p:nvPr>
            <p:ph type="sldNum" sz="quarter" idx="12"/>
          </p:nvPr>
        </p:nvSpPr>
        <p:spPr>
          <a:xfrm>
            <a:off x="10934400" y="6461995"/>
            <a:ext cx="619200" cy="164160"/>
          </a:xfrm>
          <a:prstGeom prst="rect">
            <a:avLst/>
          </a:prstGeom>
        </p:spPr>
        <p:txBody>
          <a:bodyPr vert="horz" lIns="91440" tIns="45720" rIns="91440" bIns="45720" rtlCol="0" anchor="ctr"/>
          <a:lstStyle>
            <a:defPPr>
              <a:defRPr lang="en-US"/>
            </a:defPPr>
            <a:lvl1pPr marL="0" algn="r" defTabSz="457200" rtl="0" eaLnBrk="1" latinLnBrk="0" hangingPunct="1">
              <a:defRPr sz="804"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02111984F565}" type="slidenum">
              <a:rPr lang="en-US" smtClean="0"/>
              <a:pPr/>
              <a:t>47</a:t>
            </a:fld>
            <a:endParaRPr lang="en-US" dirty="0"/>
          </a:p>
        </p:txBody>
      </p:sp>
    </p:spTree>
    <p:extLst>
      <p:ext uri="{BB962C8B-B14F-4D97-AF65-F5344CB8AC3E}">
        <p14:creationId xmlns:p14="http://schemas.microsoft.com/office/powerpoint/2010/main" val="274926619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re 2">
            <a:extLst>
              <a:ext uri="{FF2B5EF4-FFF2-40B4-BE49-F238E27FC236}">
                <a16:creationId xmlns:a16="http://schemas.microsoft.com/office/drawing/2014/main" id="{9AA16AA2-7806-436E-A26D-4A49A37EA7F2}"/>
              </a:ext>
            </a:extLst>
          </p:cNvPr>
          <p:cNvSpPr>
            <a:spLocks noGrp="1"/>
          </p:cNvSpPr>
          <p:nvPr>
            <p:ph type="title"/>
            <p:custDataLst>
              <p:tags r:id="rId1"/>
            </p:custDataLst>
          </p:nvPr>
        </p:nvSpPr>
        <p:spPr>
          <a:xfrm>
            <a:off x="241733" y="315928"/>
            <a:ext cx="8186400" cy="744737"/>
          </a:xfrm>
        </p:spPr>
        <p:txBody>
          <a:bodyPr>
            <a:noAutofit/>
          </a:bodyPr>
          <a:lstStyle/>
          <a:p>
            <a:r>
              <a:rPr lang="fr-CA" sz="2400" dirty="0"/>
              <a:t>Rappel théorique – Expression d'une opinion modifiée dans le rapport de l’auditeur indépendant (NCA 705)</a:t>
            </a:r>
          </a:p>
        </p:txBody>
      </p:sp>
      <p:sp>
        <p:nvSpPr>
          <p:cNvPr id="4" name="Espace réservé du pied de page 3"/>
          <p:cNvSpPr>
            <a:spLocks noGrp="1"/>
          </p:cNvSpPr>
          <p:nvPr>
            <p:ph type="ftr" sz="quarter" idx="11"/>
            <p:custDataLst>
              <p:tags r:id="rId2"/>
            </p:custDataLst>
          </p:nvPr>
        </p:nvSpPr>
        <p:spPr/>
        <p:txBody>
          <a:bodyPr/>
          <a:lstStyle/>
          <a:p>
            <a:endParaRPr lang="fr-CA" sz="825" dirty="0"/>
          </a:p>
        </p:txBody>
      </p:sp>
      <p:sp>
        <p:nvSpPr>
          <p:cNvPr id="5" name="Espace réservé du numéro de diapositive 4"/>
          <p:cNvSpPr>
            <a:spLocks noGrp="1"/>
          </p:cNvSpPr>
          <p:nvPr>
            <p:ph type="sldNum" sz="quarter" idx="12"/>
            <p:custDataLst>
              <p:tags r:id="rId3"/>
            </p:custDataLst>
          </p:nvPr>
        </p:nvSpPr>
        <p:spPr/>
        <p:txBody>
          <a:bodyPr/>
          <a:lstStyle/>
          <a:p>
            <a:endParaRPr lang="fr-CA" dirty="0"/>
          </a:p>
        </p:txBody>
      </p:sp>
      <p:graphicFrame>
        <p:nvGraphicFramePr>
          <p:cNvPr id="3" name="Tableau 2"/>
          <p:cNvGraphicFramePr>
            <a:graphicFrameLocks noGrp="1"/>
          </p:cNvGraphicFramePr>
          <p:nvPr>
            <p:custDataLst>
              <p:tags r:id="rId4"/>
            </p:custDataLst>
            <p:extLst>
              <p:ext uri="{D42A27DB-BD31-4B8C-83A1-F6EECF244321}">
                <p14:modId xmlns:p14="http://schemas.microsoft.com/office/powerpoint/2010/main" val="1502677499"/>
              </p:ext>
            </p:extLst>
          </p:nvPr>
        </p:nvGraphicFramePr>
        <p:xfrm>
          <a:off x="628650" y="1514178"/>
          <a:ext cx="7886700" cy="3313394"/>
        </p:xfrm>
        <a:graphic>
          <a:graphicData uri="http://schemas.openxmlformats.org/drawingml/2006/table">
            <a:tbl>
              <a:tblPr>
                <a:tableStyleId>{69CF1AB2-1976-4502-BF36-3FF5EA218861}</a:tableStyleId>
              </a:tblPr>
              <a:tblGrid>
                <a:gridCol w="2687307">
                  <a:extLst>
                    <a:ext uri="{9D8B030D-6E8A-4147-A177-3AD203B41FA5}">
                      <a16:colId xmlns:a16="http://schemas.microsoft.com/office/drawing/2014/main" val="20000"/>
                    </a:ext>
                  </a:extLst>
                </a:gridCol>
                <a:gridCol w="2509576">
                  <a:extLst>
                    <a:ext uri="{9D8B030D-6E8A-4147-A177-3AD203B41FA5}">
                      <a16:colId xmlns:a16="http://schemas.microsoft.com/office/drawing/2014/main" val="20001"/>
                    </a:ext>
                  </a:extLst>
                </a:gridCol>
                <a:gridCol w="2689817">
                  <a:extLst>
                    <a:ext uri="{9D8B030D-6E8A-4147-A177-3AD203B41FA5}">
                      <a16:colId xmlns:a16="http://schemas.microsoft.com/office/drawing/2014/main" val="20002"/>
                    </a:ext>
                  </a:extLst>
                </a:gridCol>
              </a:tblGrid>
              <a:tr h="820253">
                <a:tc rowSpan="2">
                  <a:txBody>
                    <a:bodyPr/>
                    <a:lstStyle/>
                    <a:p>
                      <a:pPr algn="ctr"/>
                      <a:br>
                        <a:rPr lang="fr-CA" sz="1500" dirty="0"/>
                      </a:br>
                      <a:r>
                        <a:rPr lang="fr-CA" sz="1500" dirty="0"/>
                        <a:t>Nature du problème donnant lieu à une opinion modifiée</a:t>
                      </a:r>
                    </a:p>
                  </a:txBody>
                  <a:tcPr marL="18172" marR="18172" marT="18172" marB="18172" anchor="ctr"/>
                </a:tc>
                <a:tc gridSpan="2">
                  <a:txBody>
                    <a:bodyPr/>
                    <a:lstStyle/>
                    <a:p>
                      <a:pPr algn="ctr"/>
                      <a:r>
                        <a:rPr lang="fr-CA" sz="1500" dirty="0"/>
                        <a:t>Jugement de l’auditeur quant au caractère généralisé des incidences ou incidences éventuelles sur les </a:t>
                      </a:r>
                      <a:r>
                        <a:rPr lang="fr-CA" sz="1500" dirty="0" err="1"/>
                        <a:t>ÉFs</a:t>
                      </a:r>
                      <a:endParaRPr lang="fr-CA" sz="1500" dirty="0"/>
                    </a:p>
                  </a:txBody>
                  <a:tcPr marL="18172" marR="18172" marT="18172" marB="18172" anchor="ctr"/>
                </a:tc>
                <a:tc hMerge="1">
                  <a:txBody>
                    <a:bodyPr/>
                    <a:lstStyle/>
                    <a:p>
                      <a:endParaRPr lang="fr-CA"/>
                    </a:p>
                  </a:txBody>
                  <a:tcPr/>
                </a:tc>
                <a:extLst>
                  <a:ext uri="{0D108BD9-81ED-4DB2-BD59-A6C34878D82A}">
                    <a16:rowId xmlns:a16="http://schemas.microsoft.com/office/drawing/2014/main" val="10000"/>
                  </a:ext>
                </a:extLst>
              </a:tr>
              <a:tr h="722144">
                <a:tc vMerge="1">
                  <a:txBody>
                    <a:bodyPr/>
                    <a:lstStyle/>
                    <a:p>
                      <a:endParaRPr lang="fr-CA"/>
                    </a:p>
                  </a:txBody>
                  <a:tcPr/>
                </a:tc>
                <a:tc>
                  <a:txBody>
                    <a:bodyPr/>
                    <a:lstStyle/>
                    <a:p>
                      <a:pPr algn="ctr"/>
                      <a:r>
                        <a:rPr lang="fr-CA" sz="1500" dirty="0"/>
                        <a:t>Incidences significatives mais</a:t>
                      </a:r>
                    </a:p>
                    <a:p>
                      <a:pPr algn="ctr"/>
                      <a:r>
                        <a:rPr lang="fr-CA" sz="1500" dirty="0"/>
                        <a:t> </a:t>
                      </a:r>
                      <a:r>
                        <a:rPr lang="fr-CA" sz="1500" b="1" dirty="0">
                          <a:solidFill>
                            <a:srgbClr val="FF0000"/>
                          </a:solidFill>
                        </a:rPr>
                        <a:t>non généralisées</a:t>
                      </a:r>
                    </a:p>
                  </a:txBody>
                  <a:tcPr marL="18172" marR="18172" marT="18172" marB="18172" anchor="ctr"/>
                </a:tc>
                <a:tc>
                  <a:txBody>
                    <a:bodyPr/>
                    <a:lstStyle/>
                    <a:p>
                      <a:pPr algn="ctr"/>
                      <a:r>
                        <a:rPr lang="fr-CA" sz="1500" dirty="0"/>
                        <a:t>Incidences significatives et </a:t>
                      </a:r>
                      <a:r>
                        <a:rPr lang="fr-CA" sz="1500" b="1" dirty="0">
                          <a:solidFill>
                            <a:srgbClr val="FF0000"/>
                          </a:solidFill>
                        </a:rPr>
                        <a:t>généralisées</a:t>
                      </a:r>
                    </a:p>
                  </a:txBody>
                  <a:tcPr marL="18172" marR="18172" marT="18172" marB="18172" anchor="ctr"/>
                </a:tc>
                <a:extLst>
                  <a:ext uri="{0D108BD9-81ED-4DB2-BD59-A6C34878D82A}">
                    <a16:rowId xmlns:a16="http://schemas.microsoft.com/office/drawing/2014/main" val="10001"/>
                  </a:ext>
                </a:extLst>
              </a:tr>
              <a:tr h="950744">
                <a:tc>
                  <a:txBody>
                    <a:bodyPr/>
                    <a:lstStyle/>
                    <a:p>
                      <a:pPr algn="ctr"/>
                      <a:r>
                        <a:rPr lang="fr-CA" sz="1500" dirty="0"/>
                        <a:t>Présence </a:t>
                      </a:r>
                      <a:r>
                        <a:rPr lang="fr-CA" sz="1500" b="1" u="sng" dirty="0"/>
                        <a:t>d’une ou de plusieurs anomalies significatives</a:t>
                      </a:r>
                      <a:r>
                        <a:rPr lang="fr-CA" sz="1500" b="0" u="none" dirty="0"/>
                        <a:t> </a:t>
                      </a:r>
                      <a:r>
                        <a:rPr lang="fr-CA" sz="1500" dirty="0"/>
                        <a:t>dans les </a:t>
                      </a:r>
                      <a:r>
                        <a:rPr lang="fr-CA" sz="1500" dirty="0" err="1"/>
                        <a:t>ÉFs</a:t>
                      </a:r>
                      <a:endParaRPr lang="fr-CA" sz="1500" dirty="0"/>
                    </a:p>
                  </a:txBody>
                  <a:tcPr marL="18172" marR="18172" marT="18172" marB="18172" anchor="ctr"/>
                </a:tc>
                <a:tc rowSpan="2">
                  <a:txBody>
                    <a:bodyPr/>
                    <a:lstStyle/>
                    <a:p>
                      <a:pPr algn="ctr"/>
                      <a:r>
                        <a:rPr lang="fr-CA" sz="1500" dirty="0"/>
                        <a:t>Opinion avec réserve</a:t>
                      </a:r>
                    </a:p>
                  </a:txBody>
                  <a:tcPr marL="18172" marR="18172" marT="18172" marB="18172" anchor="ctr"/>
                </a:tc>
                <a:tc>
                  <a:txBody>
                    <a:bodyPr/>
                    <a:lstStyle/>
                    <a:p>
                      <a:pPr algn="ctr"/>
                      <a:r>
                        <a:rPr lang="fr-CA" sz="1500" dirty="0"/>
                        <a:t>Opinion défavorable</a:t>
                      </a:r>
                    </a:p>
                  </a:txBody>
                  <a:tcPr marL="18172" marR="18172" marT="18172" marB="18172" anchor="ctr"/>
                </a:tc>
                <a:extLst>
                  <a:ext uri="{0D108BD9-81ED-4DB2-BD59-A6C34878D82A}">
                    <a16:rowId xmlns:a16="http://schemas.microsoft.com/office/drawing/2014/main" val="10002"/>
                  </a:ext>
                </a:extLst>
              </a:tr>
              <a:tr h="820253">
                <a:tc>
                  <a:txBody>
                    <a:bodyPr/>
                    <a:lstStyle/>
                    <a:p>
                      <a:pPr algn="ctr"/>
                      <a:r>
                        <a:rPr lang="fr-CA" sz="1500" b="1" u="sng" dirty="0"/>
                        <a:t>Impossibilité d’obtenir</a:t>
                      </a:r>
                      <a:r>
                        <a:rPr lang="fr-CA" sz="1500" b="0" u="none" dirty="0"/>
                        <a:t> </a:t>
                      </a:r>
                      <a:r>
                        <a:rPr lang="fr-CA" sz="1500" dirty="0"/>
                        <a:t>des éléments probants suffisants et appropriés</a:t>
                      </a:r>
                    </a:p>
                  </a:txBody>
                  <a:tcPr marL="18172" marR="18172" marT="18172" marB="18172" anchor="ctr"/>
                </a:tc>
                <a:tc vMerge="1">
                  <a:txBody>
                    <a:bodyPr/>
                    <a:lstStyle/>
                    <a:p>
                      <a:pPr algn="ctr"/>
                      <a:endParaRPr lang="fr-CA" sz="1400" dirty="0"/>
                    </a:p>
                  </a:txBody>
                  <a:tcPr marL="24229" marR="24229" marT="24229" marB="24229" anchor="ctr"/>
                </a:tc>
                <a:tc>
                  <a:txBody>
                    <a:bodyPr/>
                    <a:lstStyle/>
                    <a:p>
                      <a:pPr algn="ctr"/>
                      <a:r>
                        <a:rPr lang="fr-CA" sz="1500" dirty="0"/>
                        <a:t>Impossibilité d’exprimer une opinion</a:t>
                      </a:r>
                    </a:p>
                  </a:txBody>
                  <a:tcPr marL="18172" marR="18172" marT="18172" marB="18172" anchor="ctr"/>
                </a:tc>
                <a:extLst>
                  <a:ext uri="{0D108BD9-81ED-4DB2-BD59-A6C34878D82A}">
                    <a16:rowId xmlns:a16="http://schemas.microsoft.com/office/drawing/2014/main" val="10003"/>
                  </a:ext>
                </a:extLst>
              </a:tr>
            </a:tbl>
          </a:graphicData>
        </a:graphic>
      </p:graphicFrame>
      <p:sp>
        <p:nvSpPr>
          <p:cNvPr id="6" name="Espace réservé du numéro de diapositive 4">
            <a:extLst>
              <a:ext uri="{FF2B5EF4-FFF2-40B4-BE49-F238E27FC236}">
                <a16:creationId xmlns:a16="http://schemas.microsoft.com/office/drawing/2014/main" id="{6D60F36F-E0C4-BB49-B64D-8112D5A0B41E}"/>
              </a:ext>
            </a:extLst>
          </p:cNvPr>
          <p:cNvSpPr txBox="1">
            <a:spLocks/>
          </p:cNvSpPr>
          <p:nvPr/>
        </p:nvSpPr>
        <p:spPr>
          <a:xfrm>
            <a:off x="8545786" y="4650963"/>
            <a:ext cx="413375" cy="273844"/>
          </a:xfr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B5DEC05-AB38-4F58-9609-FFF4AA167839}" type="slidenum">
              <a:rPr lang="fr-CA" sz="1050" smtClean="0"/>
              <a:pPr/>
              <a:t>48</a:t>
            </a:fld>
            <a:endParaRPr lang="fr-CA" sz="1050" dirty="0"/>
          </a:p>
        </p:txBody>
      </p:sp>
    </p:spTree>
    <p:extLst>
      <p:ext uri="{BB962C8B-B14F-4D97-AF65-F5344CB8AC3E}">
        <p14:creationId xmlns:p14="http://schemas.microsoft.com/office/powerpoint/2010/main" val="339097074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re 2">
            <a:extLst>
              <a:ext uri="{FF2B5EF4-FFF2-40B4-BE49-F238E27FC236}">
                <a16:creationId xmlns:a16="http://schemas.microsoft.com/office/drawing/2014/main" id="{9AA16AA2-7806-436E-A26D-4A49A37EA7F2}"/>
              </a:ext>
            </a:extLst>
          </p:cNvPr>
          <p:cNvSpPr>
            <a:spLocks noGrp="1"/>
          </p:cNvSpPr>
          <p:nvPr>
            <p:ph type="title"/>
            <p:custDataLst>
              <p:tags r:id="rId1"/>
            </p:custDataLst>
          </p:nvPr>
        </p:nvSpPr>
        <p:spPr>
          <a:xfrm>
            <a:off x="160453" y="335073"/>
            <a:ext cx="8186400" cy="744737"/>
          </a:xfrm>
        </p:spPr>
        <p:txBody>
          <a:bodyPr>
            <a:normAutofit fontScale="90000"/>
          </a:bodyPr>
          <a:lstStyle/>
          <a:p>
            <a:r>
              <a:rPr lang="fr-CA" sz="2400" dirty="0"/>
              <a:t>Rappel théorique – Expression d'une opinion modifiée dans le rapport de l'auditeur indépendant (NCA 705)</a:t>
            </a:r>
          </a:p>
        </p:txBody>
      </p:sp>
      <p:sp>
        <p:nvSpPr>
          <p:cNvPr id="4" name="Espace réservé du pied de page 3"/>
          <p:cNvSpPr>
            <a:spLocks noGrp="1"/>
          </p:cNvSpPr>
          <p:nvPr>
            <p:ph type="ftr" sz="quarter" idx="11"/>
            <p:custDataLst>
              <p:tags r:id="rId2"/>
            </p:custDataLst>
          </p:nvPr>
        </p:nvSpPr>
        <p:spPr/>
        <p:txBody>
          <a:bodyPr/>
          <a:lstStyle/>
          <a:p>
            <a:endParaRPr lang="fr-CA" sz="825" dirty="0"/>
          </a:p>
        </p:txBody>
      </p:sp>
      <p:sp>
        <p:nvSpPr>
          <p:cNvPr id="5" name="Espace réservé du numéro de diapositive 4"/>
          <p:cNvSpPr>
            <a:spLocks noGrp="1"/>
          </p:cNvSpPr>
          <p:nvPr>
            <p:ph type="sldNum" sz="quarter" idx="12"/>
            <p:custDataLst>
              <p:tags r:id="rId3"/>
            </p:custDataLst>
          </p:nvPr>
        </p:nvSpPr>
        <p:spPr/>
        <p:txBody>
          <a:bodyPr/>
          <a:lstStyle/>
          <a:p>
            <a:endParaRPr lang="fr-CA" dirty="0"/>
          </a:p>
        </p:txBody>
      </p:sp>
      <p:graphicFrame>
        <p:nvGraphicFramePr>
          <p:cNvPr id="7" name="Tableau 6">
            <a:extLst>
              <a:ext uri="{FF2B5EF4-FFF2-40B4-BE49-F238E27FC236}">
                <a16:creationId xmlns:a16="http://schemas.microsoft.com/office/drawing/2014/main" id="{EB16CE66-23EA-4AC5-B08F-B8DF831FE0FE}"/>
              </a:ext>
            </a:extLst>
          </p:cNvPr>
          <p:cNvGraphicFramePr>
            <a:graphicFrameLocks noGrp="1"/>
          </p:cNvGraphicFramePr>
          <p:nvPr>
            <p:custDataLst>
              <p:tags r:id="rId4"/>
            </p:custDataLst>
          </p:nvPr>
        </p:nvGraphicFramePr>
        <p:xfrm>
          <a:off x="360863" y="2389553"/>
          <a:ext cx="1695004" cy="899831"/>
        </p:xfrm>
        <a:graphic>
          <a:graphicData uri="http://schemas.openxmlformats.org/drawingml/2006/table">
            <a:tbl>
              <a:tblPr>
                <a:tableStyleId>{69CF1AB2-1976-4502-BF36-3FF5EA218861}</a:tableStyleId>
              </a:tblPr>
              <a:tblGrid>
                <a:gridCol w="1695004">
                  <a:extLst>
                    <a:ext uri="{9D8B030D-6E8A-4147-A177-3AD203B41FA5}">
                      <a16:colId xmlns:a16="http://schemas.microsoft.com/office/drawing/2014/main" val="3211383266"/>
                    </a:ext>
                  </a:extLst>
                </a:gridCol>
              </a:tblGrid>
              <a:tr h="899831">
                <a:tc>
                  <a:txBody>
                    <a:bodyPr/>
                    <a:lstStyle/>
                    <a:p>
                      <a:pPr algn="ctr"/>
                      <a:r>
                        <a:rPr lang="fr-CA" sz="1500" dirty="0">
                          <a:solidFill>
                            <a:schemeClr val="tx1"/>
                          </a:solidFill>
                        </a:rPr>
                        <a:t>Incidences significatives et </a:t>
                      </a:r>
                      <a:r>
                        <a:rPr lang="fr-CA" sz="1500" b="1" dirty="0">
                          <a:solidFill>
                            <a:srgbClr val="FF0000"/>
                          </a:solidFill>
                        </a:rPr>
                        <a:t>généralisées</a:t>
                      </a:r>
                    </a:p>
                  </a:txBody>
                  <a:tcPr marL="18172" marR="18172" marT="18172" marB="18172" anchor="ctr">
                    <a:solidFill>
                      <a:schemeClr val="accent1">
                        <a:lumMod val="50000"/>
                      </a:schemeClr>
                    </a:solidFill>
                  </a:tcPr>
                </a:tc>
                <a:extLst>
                  <a:ext uri="{0D108BD9-81ED-4DB2-BD59-A6C34878D82A}">
                    <a16:rowId xmlns:a16="http://schemas.microsoft.com/office/drawing/2014/main" val="2662647630"/>
                  </a:ext>
                </a:extLst>
              </a:tr>
            </a:tbl>
          </a:graphicData>
        </a:graphic>
      </p:graphicFrame>
      <p:sp>
        <p:nvSpPr>
          <p:cNvPr id="6" name="Rectangle 5">
            <a:extLst>
              <a:ext uri="{FF2B5EF4-FFF2-40B4-BE49-F238E27FC236}">
                <a16:creationId xmlns:a16="http://schemas.microsoft.com/office/drawing/2014/main" id="{04F266B5-AC5C-4620-A2EF-23E4C753502A}"/>
              </a:ext>
            </a:extLst>
          </p:cNvPr>
          <p:cNvSpPr/>
          <p:nvPr>
            <p:custDataLst>
              <p:tags r:id="rId5"/>
            </p:custDataLst>
          </p:nvPr>
        </p:nvSpPr>
        <p:spPr>
          <a:xfrm>
            <a:off x="2338164" y="1128073"/>
            <a:ext cx="6359438" cy="3693319"/>
          </a:xfrm>
          <a:prstGeom prst="rect">
            <a:avLst/>
          </a:prstGeom>
        </p:spPr>
        <p:txBody>
          <a:bodyPr wrap="square">
            <a:spAutoFit/>
          </a:bodyPr>
          <a:lstStyle/>
          <a:p>
            <a:r>
              <a:rPr lang="fr-CA" sz="1300" b="1" dirty="0">
                <a:solidFill>
                  <a:srgbClr val="444444"/>
                </a:solidFill>
                <a:latin typeface="Gotham A"/>
              </a:rPr>
              <a:t>NCA 705.5</a:t>
            </a:r>
            <a:r>
              <a:rPr lang="fr-CA" sz="1300" dirty="0">
                <a:solidFill>
                  <a:srgbClr val="444444"/>
                </a:solidFill>
                <a:latin typeface="Gotham A"/>
              </a:rPr>
              <a:t> </a:t>
            </a:r>
          </a:p>
          <a:p>
            <a:r>
              <a:rPr lang="fr-CA" sz="1300" b="1" dirty="0">
                <a:effectLst>
                  <a:outerShdw blurRad="38100" dist="38100" dir="2700000" algn="tl">
                    <a:srgbClr val="000000">
                      <a:alpha val="43137"/>
                    </a:srgbClr>
                  </a:outerShdw>
                </a:effectLst>
                <a:latin typeface="Gotham A"/>
              </a:rPr>
              <a:t>Dans les NCA, on entend par :</a:t>
            </a:r>
          </a:p>
          <a:p>
            <a:endParaRPr lang="fr-CA" sz="1300" dirty="0">
              <a:latin typeface="Gotham A"/>
            </a:endParaRPr>
          </a:p>
          <a:p>
            <a:r>
              <a:rPr lang="fr-CA" sz="1300" dirty="0">
                <a:latin typeface="Gotham A"/>
              </a:rPr>
              <a:t>«généralisées», la caractéristique servant à décrire dans certains contextes les incidences des anomalies sur les </a:t>
            </a:r>
            <a:r>
              <a:rPr lang="fr-CA" sz="1300" dirty="0" err="1">
                <a:latin typeface="Gotham A"/>
              </a:rPr>
              <a:t>ÉFs</a:t>
            </a:r>
            <a:r>
              <a:rPr lang="fr-CA" sz="1300" dirty="0">
                <a:latin typeface="Gotham A"/>
              </a:rPr>
              <a:t> ou, le cas échéant, les incidences éventuelles sur les </a:t>
            </a:r>
            <a:r>
              <a:rPr lang="fr-CA" sz="1300" dirty="0" err="1">
                <a:latin typeface="Gotham A"/>
              </a:rPr>
              <a:t>ÉFs</a:t>
            </a:r>
            <a:r>
              <a:rPr lang="fr-CA" sz="1300" dirty="0">
                <a:latin typeface="Gotham A"/>
              </a:rPr>
              <a:t> d'anomalies qui ne sont pas détectées en raison de l'impossibilité d'obtenir des éléments probants suffisants et appropriés. Sont considérées comme généralisées les incidences sur les </a:t>
            </a:r>
            <a:r>
              <a:rPr lang="fr-CA" sz="1300" dirty="0" err="1">
                <a:latin typeface="Gotham A"/>
              </a:rPr>
              <a:t>ÉFs</a:t>
            </a:r>
            <a:r>
              <a:rPr lang="fr-CA" sz="1300" dirty="0">
                <a:latin typeface="Gotham A"/>
              </a:rPr>
              <a:t> qui, selon le jugement de l'auditeur, </a:t>
            </a:r>
            <a:r>
              <a:rPr lang="fr-CA" sz="1300" b="1" dirty="0">
                <a:latin typeface="Gotham A"/>
              </a:rPr>
              <a:t>tombent dans </a:t>
            </a:r>
            <a:r>
              <a:rPr lang="fr-CA" sz="1300" b="1" u="sng" dirty="0">
                <a:latin typeface="Gotham A"/>
              </a:rPr>
              <a:t>l'une ou l'autre </a:t>
            </a:r>
            <a:r>
              <a:rPr lang="fr-CA" sz="1300" b="1" dirty="0">
                <a:latin typeface="Gotham A"/>
              </a:rPr>
              <a:t>des catégories suivantes </a:t>
            </a:r>
            <a:r>
              <a:rPr lang="fr-CA" sz="1300" dirty="0">
                <a:latin typeface="Gotham A"/>
              </a:rPr>
              <a:t>:</a:t>
            </a:r>
          </a:p>
          <a:p>
            <a:endParaRPr lang="fr-CA" sz="1300" dirty="0">
              <a:latin typeface="Gotham A"/>
            </a:endParaRPr>
          </a:p>
          <a:p>
            <a:pPr lvl="1"/>
            <a:r>
              <a:rPr lang="fr-CA" sz="1300" dirty="0">
                <a:latin typeface="Gotham A"/>
              </a:rPr>
              <a:t>i)     elles ne sont </a:t>
            </a:r>
            <a:r>
              <a:rPr lang="fr-CA" sz="1300" b="1" u="sng" dirty="0">
                <a:effectLst>
                  <a:outerShdw blurRad="38100" dist="38100" dir="2700000" algn="tl">
                    <a:srgbClr val="000000">
                      <a:alpha val="43137"/>
                    </a:srgbClr>
                  </a:outerShdw>
                </a:effectLst>
                <a:latin typeface="Gotham A"/>
              </a:rPr>
              <a:t>pas circonscrites</a:t>
            </a:r>
            <a:r>
              <a:rPr lang="fr-CA" sz="1300" b="1" dirty="0">
                <a:effectLst>
                  <a:outerShdw blurRad="38100" dist="38100" dir="2700000" algn="tl">
                    <a:srgbClr val="000000">
                      <a:alpha val="43137"/>
                    </a:srgbClr>
                  </a:outerShdw>
                </a:effectLst>
                <a:latin typeface="Gotham A"/>
              </a:rPr>
              <a:t> </a:t>
            </a:r>
            <a:r>
              <a:rPr lang="fr-CA" sz="1300" dirty="0">
                <a:latin typeface="Gotham A"/>
              </a:rPr>
              <a:t>à des éléments, à des comptes ou à des postes spécifiques des </a:t>
            </a:r>
            <a:r>
              <a:rPr lang="fr-CA" sz="1300" dirty="0" err="1">
                <a:latin typeface="Gotham A"/>
              </a:rPr>
              <a:t>ÉFs</a:t>
            </a:r>
            <a:r>
              <a:rPr lang="fr-CA" sz="1300" dirty="0">
                <a:latin typeface="Gotham A"/>
              </a:rPr>
              <a:t>,</a:t>
            </a:r>
          </a:p>
          <a:p>
            <a:pPr lvl="1"/>
            <a:endParaRPr lang="fr-CA" sz="1300" dirty="0">
              <a:latin typeface="Gotham A"/>
            </a:endParaRPr>
          </a:p>
          <a:p>
            <a:pPr lvl="1"/>
            <a:r>
              <a:rPr lang="fr-CA" sz="1300" dirty="0">
                <a:latin typeface="Gotham A"/>
              </a:rPr>
              <a:t>ii)     tout en étant ainsi circonscrites, elles affectent ou pourraient affecter une </a:t>
            </a:r>
            <a:r>
              <a:rPr lang="fr-CA" sz="1300" b="1" u="sng" dirty="0">
                <a:effectLst>
                  <a:outerShdw blurRad="38100" dist="38100" dir="2700000" algn="tl">
                    <a:srgbClr val="000000">
                      <a:alpha val="43137"/>
                    </a:srgbClr>
                  </a:outerShdw>
                </a:effectLst>
                <a:latin typeface="Gotham A"/>
              </a:rPr>
              <a:t>partie substantielle</a:t>
            </a:r>
            <a:r>
              <a:rPr lang="fr-CA" sz="1300" dirty="0">
                <a:latin typeface="Gotham A"/>
              </a:rPr>
              <a:t> des </a:t>
            </a:r>
            <a:r>
              <a:rPr lang="fr-CA" sz="1300" dirty="0" err="1">
                <a:latin typeface="Gotham A"/>
              </a:rPr>
              <a:t>ÉFs</a:t>
            </a:r>
            <a:r>
              <a:rPr lang="fr-CA" sz="1300" dirty="0">
                <a:latin typeface="Gotham A"/>
              </a:rPr>
              <a:t>,</a:t>
            </a:r>
          </a:p>
          <a:p>
            <a:pPr lvl="1"/>
            <a:endParaRPr lang="fr-CA" sz="1300" dirty="0">
              <a:latin typeface="Gotham A"/>
            </a:endParaRPr>
          </a:p>
          <a:p>
            <a:pPr lvl="1"/>
            <a:r>
              <a:rPr lang="fr-CA" sz="1300" dirty="0">
                <a:latin typeface="Gotham A"/>
              </a:rPr>
              <a:t>iii)     compte tenu des informations fournies, elles affectent de manière fondamentale la </a:t>
            </a:r>
            <a:r>
              <a:rPr lang="fr-CA" sz="1300" b="1" u="sng" dirty="0">
                <a:effectLst>
                  <a:outerShdw blurRad="38100" dist="38100" dir="2700000" algn="tl">
                    <a:srgbClr val="000000">
                      <a:alpha val="43137"/>
                    </a:srgbClr>
                  </a:outerShdw>
                </a:effectLst>
                <a:latin typeface="Gotham A"/>
              </a:rPr>
              <a:t>compréhension des </a:t>
            </a:r>
            <a:r>
              <a:rPr lang="fr-CA" sz="1300" b="1" u="sng" dirty="0" err="1">
                <a:effectLst>
                  <a:outerShdw blurRad="38100" dist="38100" dir="2700000" algn="tl">
                    <a:srgbClr val="000000">
                      <a:alpha val="43137"/>
                    </a:srgbClr>
                  </a:outerShdw>
                </a:effectLst>
                <a:latin typeface="Gotham A"/>
              </a:rPr>
              <a:t>ÉFs</a:t>
            </a:r>
            <a:r>
              <a:rPr lang="fr-CA" sz="1300" b="1" dirty="0">
                <a:effectLst>
                  <a:outerShdw blurRad="38100" dist="38100" dir="2700000" algn="tl">
                    <a:srgbClr val="000000">
                      <a:alpha val="43137"/>
                    </a:srgbClr>
                  </a:outerShdw>
                </a:effectLst>
                <a:latin typeface="Gotham A"/>
              </a:rPr>
              <a:t> </a:t>
            </a:r>
            <a:r>
              <a:rPr lang="fr-CA" sz="1300" dirty="0">
                <a:latin typeface="Gotham A"/>
              </a:rPr>
              <a:t>par les utilisateurs.</a:t>
            </a:r>
          </a:p>
        </p:txBody>
      </p:sp>
      <p:sp>
        <p:nvSpPr>
          <p:cNvPr id="2" name="ZoneTexte 1">
            <a:extLst>
              <a:ext uri="{FF2B5EF4-FFF2-40B4-BE49-F238E27FC236}">
                <a16:creationId xmlns:a16="http://schemas.microsoft.com/office/drawing/2014/main" id="{85F54926-56CD-7D27-2085-F19F0A5105DA}"/>
              </a:ext>
            </a:extLst>
          </p:cNvPr>
          <p:cNvSpPr txBox="1"/>
          <p:nvPr/>
        </p:nvSpPr>
        <p:spPr>
          <a:xfrm>
            <a:off x="6290018" y="4869655"/>
            <a:ext cx="1946355" cy="273845"/>
          </a:xfrm>
          <a:prstGeom prst="rect">
            <a:avLst/>
          </a:prstGeom>
        </p:spPr>
        <p:txBody>
          <a:bodyPr vert="horz" wrap="square" lIns="91440" tIns="45720" rIns="91440" bIns="45720" rtlCol="0">
            <a:normAutofit fontScale="92500"/>
          </a:bodyPr>
          <a:lstStyle/>
          <a:p>
            <a:pPr>
              <a:buClr>
                <a:schemeClr val="accent2"/>
              </a:buClr>
              <a:buSzPct val="125000"/>
            </a:pPr>
            <a:r>
              <a:rPr lang="fr-CA" sz="900" dirty="0"/>
              <a:t>Par Simon Dermarkar– HEC Montréal</a:t>
            </a:r>
          </a:p>
        </p:txBody>
      </p:sp>
      <p:sp>
        <p:nvSpPr>
          <p:cNvPr id="9" name="Espace réservé du numéro de diapositive 4">
            <a:extLst>
              <a:ext uri="{FF2B5EF4-FFF2-40B4-BE49-F238E27FC236}">
                <a16:creationId xmlns:a16="http://schemas.microsoft.com/office/drawing/2014/main" id="{9C09748F-E292-824E-8369-4D3EC1644C6E}"/>
              </a:ext>
            </a:extLst>
          </p:cNvPr>
          <p:cNvSpPr txBox="1">
            <a:spLocks/>
          </p:cNvSpPr>
          <p:nvPr/>
        </p:nvSpPr>
        <p:spPr>
          <a:xfrm>
            <a:off x="8545786" y="4650963"/>
            <a:ext cx="413375" cy="273844"/>
          </a:xfr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B5DEC05-AB38-4F58-9609-FFF4AA167839}" type="slidenum">
              <a:rPr lang="fr-CA" sz="1050" smtClean="0"/>
              <a:pPr/>
              <a:t>49</a:t>
            </a:fld>
            <a:endParaRPr lang="fr-CA" sz="1050" dirty="0"/>
          </a:p>
        </p:txBody>
      </p:sp>
    </p:spTree>
    <p:extLst>
      <p:ext uri="{BB962C8B-B14F-4D97-AF65-F5344CB8AC3E}">
        <p14:creationId xmlns:p14="http://schemas.microsoft.com/office/powerpoint/2010/main" val="351223804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EB83386-2FA1-B549-B094-BA29C18D3495}"/>
              </a:ext>
            </a:extLst>
          </p:cNvPr>
          <p:cNvSpPr>
            <a:spLocks noGrp="1"/>
          </p:cNvSpPr>
          <p:nvPr>
            <p:ph type="sldNum" sz="quarter" idx="12"/>
          </p:nvPr>
        </p:nvSpPr>
        <p:spPr/>
        <p:txBody>
          <a:bodyPr/>
          <a:lstStyle/>
          <a:p>
            <a:endParaRPr lang="en-US" dirty="0"/>
          </a:p>
        </p:txBody>
      </p:sp>
      <p:sp>
        <p:nvSpPr>
          <p:cNvPr id="3" name="Content Placeholder 2">
            <a:extLst>
              <a:ext uri="{FF2B5EF4-FFF2-40B4-BE49-F238E27FC236}">
                <a16:creationId xmlns:a16="http://schemas.microsoft.com/office/drawing/2014/main" id="{9E82E288-8046-9844-B0CC-47C1AB410D24}"/>
              </a:ext>
            </a:extLst>
          </p:cNvPr>
          <p:cNvSpPr>
            <a:spLocks noGrp="1"/>
          </p:cNvSpPr>
          <p:nvPr>
            <p:ph idx="1"/>
          </p:nvPr>
        </p:nvSpPr>
        <p:spPr/>
        <p:txBody>
          <a:bodyPr>
            <a:normAutofit/>
          </a:bodyPr>
          <a:lstStyle/>
          <a:p>
            <a:r>
              <a:rPr lang="fr-CA" b="1" dirty="0"/>
              <a:t>À l’EFC :</a:t>
            </a:r>
          </a:p>
          <a:p>
            <a:r>
              <a:rPr lang="fr-CA" dirty="0"/>
              <a:t>Y </a:t>
            </a:r>
            <a:r>
              <a:rPr lang="fr-CA" dirty="0" err="1"/>
              <a:t>a-t-il</a:t>
            </a:r>
            <a:r>
              <a:rPr lang="fr-CA" dirty="0"/>
              <a:t> des événements ou des situations qui indiquent que l’HCE est remise en doute ? </a:t>
            </a:r>
          </a:p>
          <a:p>
            <a:pPr lvl="1">
              <a:buClr>
                <a:schemeClr val="tx1"/>
              </a:buClr>
            </a:pPr>
            <a:r>
              <a:rPr lang="fr-CA" dirty="0"/>
              <a:t>Ex : Pertes depuis plusieurs années, problèmes de liquidités importants, clause restrictive non respectée, endettement trop élevé (emphase récurrente dans le cas, </a:t>
            </a:r>
            <a:r>
              <a:rPr lang="fr-CA" dirty="0" err="1"/>
              <a:t>ÉFs</a:t>
            </a:r>
            <a:r>
              <a:rPr lang="fr-CA" dirty="0"/>
              <a:t>…)</a:t>
            </a:r>
          </a:p>
          <a:p>
            <a:pPr>
              <a:buClr>
                <a:schemeClr val="tx1"/>
              </a:buClr>
            </a:pPr>
            <a:r>
              <a:rPr lang="fr-CA" dirty="0"/>
              <a:t>Si oui, vous devez :</a:t>
            </a:r>
          </a:p>
          <a:p>
            <a:pPr lvl="1">
              <a:buClr>
                <a:schemeClr val="tx1"/>
              </a:buClr>
            </a:pPr>
            <a:r>
              <a:rPr lang="fr-CA" dirty="0"/>
              <a:t>Identifier et expliquer avec des faits du cas les événements ou situations qui mettent HCE en doute</a:t>
            </a:r>
          </a:p>
          <a:p>
            <a:pPr lvl="1">
              <a:buClr>
                <a:schemeClr val="tx1"/>
              </a:buClr>
            </a:pPr>
            <a:r>
              <a:rPr lang="fr-CA" dirty="0"/>
              <a:t>Indiquer l’impact sur l’évaluation des risques au niveau des </a:t>
            </a:r>
            <a:r>
              <a:rPr lang="fr-CA" dirty="0" err="1"/>
              <a:t>ÉFs</a:t>
            </a:r>
            <a:endParaRPr lang="fr-CA" dirty="0"/>
          </a:p>
          <a:p>
            <a:pPr lvl="1">
              <a:buClr>
                <a:schemeClr val="tx1"/>
              </a:buClr>
            </a:pPr>
            <a:r>
              <a:rPr lang="fr-CA" dirty="0"/>
              <a:t>Mettre en œuvre des procédures pour déterminer si les </a:t>
            </a:r>
            <a:r>
              <a:rPr lang="fr-CA" dirty="0" err="1"/>
              <a:t>ÉFs</a:t>
            </a:r>
            <a:r>
              <a:rPr lang="fr-CA" dirty="0"/>
              <a:t> doivent être produits selon l’HCE</a:t>
            </a:r>
          </a:p>
          <a:p>
            <a:pPr lvl="1" algn="just">
              <a:spcBef>
                <a:spcPts val="0"/>
              </a:spcBef>
              <a:buClr>
                <a:schemeClr val="tx1"/>
              </a:buClr>
            </a:pPr>
            <a:r>
              <a:rPr lang="fr-CA" sz="1500" dirty="0"/>
              <a:t>Conclure : déterminer s’il existe une incertitude significative quant à la CE</a:t>
            </a:r>
          </a:p>
          <a:p>
            <a:pPr lvl="1" algn="just">
              <a:spcBef>
                <a:spcPts val="0"/>
              </a:spcBef>
              <a:buClr>
                <a:schemeClr val="tx1"/>
              </a:buClr>
            </a:pPr>
            <a:r>
              <a:rPr lang="fr-CA" sz="1500" dirty="0">
                <a:cs typeface="Times New Roman" panose="02020603050405020304" pitchFamily="18" charset="0"/>
              </a:rPr>
              <a:t>Indiquer l’incidence sur le rapport de l’auditeur</a:t>
            </a:r>
            <a:endParaRPr lang="fr-CA" dirty="0"/>
          </a:p>
          <a:p>
            <a:pPr lvl="1"/>
            <a:endParaRPr lang="fr-CA" dirty="0"/>
          </a:p>
          <a:p>
            <a:pPr lvl="1"/>
            <a:endParaRPr lang="fr-CA" dirty="0"/>
          </a:p>
          <a:p>
            <a:pPr lvl="1"/>
            <a:endParaRPr lang="fr-CA" dirty="0"/>
          </a:p>
          <a:p>
            <a:endParaRPr lang="fr-CA" dirty="0"/>
          </a:p>
        </p:txBody>
      </p:sp>
      <p:sp>
        <p:nvSpPr>
          <p:cNvPr id="8" name="Titre 1">
            <a:extLst>
              <a:ext uri="{FF2B5EF4-FFF2-40B4-BE49-F238E27FC236}">
                <a16:creationId xmlns:a16="http://schemas.microsoft.com/office/drawing/2014/main" id="{BE3A7845-EB9F-F342-9DE2-C6AA35E3BF88}"/>
              </a:ext>
            </a:extLst>
          </p:cNvPr>
          <p:cNvSpPr>
            <a:spLocks noGrp="1"/>
          </p:cNvSpPr>
          <p:nvPr>
            <p:ph type="title"/>
          </p:nvPr>
        </p:nvSpPr>
        <p:spPr>
          <a:xfrm>
            <a:off x="296839" y="400746"/>
            <a:ext cx="7514035" cy="387413"/>
          </a:xfrm>
          <a:noFill/>
        </p:spPr>
        <p:txBody>
          <a:bodyPr>
            <a:noAutofit/>
          </a:bodyPr>
          <a:lstStyle/>
          <a:p>
            <a:r>
              <a:rPr lang="fr-CA" sz="2100" dirty="0">
                <a:solidFill>
                  <a:schemeClr val="accent2"/>
                </a:solidFill>
              </a:rPr>
              <a:t>Continuité de l’exploitation (CE) – Structure de réponse</a:t>
            </a:r>
          </a:p>
        </p:txBody>
      </p:sp>
      <p:sp>
        <p:nvSpPr>
          <p:cNvPr id="5" name="Espace réservé du numéro de diapositive 4">
            <a:extLst>
              <a:ext uri="{FF2B5EF4-FFF2-40B4-BE49-F238E27FC236}">
                <a16:creationId xmlns:a16="http://schemas.microsoft.com/office/drawing/2014/main" id="{843C21C3-EEE6-6E4C-B39F-E935004589A8}"/>
              </a:ext>
            </a:extLst>
          </p:cNvPr>
          <p:cNvSpPr txBox="1">
            <a:spLocks/>
          </p:cNvSpPr>
          <p:nvPr/>
        </p:nvSpPr>
        <p:spPr>
          <a:xfrm>
            <a:off x="8545786" y="4650963"/>
            <a:ext cx="413375" cy="273844"/>
          </a:xfr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B5DEC05-AB38-4F58-9609-FFF4AA167839}" type="slidenum">
              <a:rPr lang="fr-CA" sz="1050" smtClean="0"/>
              <a:pPr/>
              <a:t>50</a:t>
            </a:fld>
            <a:endParaRPr lang="fr-CA" sz="1050" dirty="0"/>
          </a:p>
        </p:txBody>
      </p:sp>
      <p:sp>
        <p:nvSpPr>
          <p:cNvPr id="6" name="ZoneTexte 5">
            <a:extLst>
              <a:ext uri="{FF2B5EF4-FFF2-40B4-BE49-F238E27FC236}">
                <a16:creationId xmlns:a16="http://schemas.microsoft.com/office/drawing/2014/main" id="{03991E01-5ADF-594E-8107-9C1F5A7015B4}"/>
              </a:ext>
            </a:extLst>
          </p:cNvPr>
          <p:cNvSpPr txBox="1"/>
          <p:nvPr/>
        </p:nvSpPr>
        <p:spPr>
          <a:xfrm>
            <a:off x="3034454" y="4924807"/>
            <a:ext cx="2015848" cy="273845"/>
          </a:xfrm>
          <a:prstGeom prst="rect">
            <a:avLst/>
          </a:prstGeom>
        </p:spPr>
        <p:txBody>
          <a:bodyPr vert="horz" wrap="square" lIns="91440" tIns="45720" rIns="91440" bIns="45720" rtlCol="0">
            <a:normAutofit fontScale="92500"/>
          </a:bodyPr>
          <a:lstStyle/>
          <a:p>
            <a:pPr>
              <a:buClr>
                <a:schemeClr val="accent2"/>
              </a:buClr>
              <a:buSzPct val="125000"/>
            </a:pPr>
            <a:r>
              <a:rPr lang="fr-CA" sz="900" dirty="0"/>
              <a:t>Par Laurence Daoust – HEC Montréal</a:t>
            </a:r>
          </a:p>
        </p:txBody>
      </p:sp>
    </p:spTree>
    <p:extLst>
      <p:ext uri="{BB962C8B-B14F-4D97-AF65-F5344CB8AC3E}">
        <p14:creationId xmlns:p14="http://schemas.microsoft.com/office/powerpoint/2010/main" val="83914062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35622" y="21267"/>
            <a:ext cx="3536944" cy="49665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fr-CA" dirty="0">
                <a:solidFill>
                  <a:prstClr val="white"/>
                </a:solidFill>
              </a:rPr>
              <a:t>CE – NCA 570</a:t>
            </a:r>
          </a:p>
          <a:p>
            <a:pPr algn="ctr">
              <a:lnSpc>
                <a:spcPct val="90000"/>
              </a:lnSpc>
            </a:pPr>
            <a:r>
              <a:rPr lang="fr-CA" sz="1400" dirty="0">
                <a:solidFill>
                  <a:prstClr val="white"/>
                </a:solidFill>
              </a:rPr>
              <a:t>Conclusions et Incidences sur le rapport</a:t>
            </a:r>
          </a:p>
        </p:txBody>
      </p:sp>
      <p:grpSp>
        <p:nvGrpSpPr>
          <p:cNvPr id="17" name="Groupe 16"/>
          <p:cNvGrpSpPr/>
          <p:nvPr/>
        </p:nvGrpSpPr>
        <p:grpSpPr>
          <a:xfrm>
            <a:off x="51643" y="1658230"/>
            <a:ext cx="1201481" cy="1732901"/>
            <a:chOff x="44267" y="2650962"/>
            <a:chExt cx="1436124" cy="1310696"/>
          </a:xfrm>
        </p:grpSpPr>
        <p:sp>
          <p:nvSpPr>
            <p:cNvPr id="66" name="Rectangle à coins arrondis 65"/>
            <p:cNvSpPr/>
            <p:nvPr/>
          </p:nvSpPr>
          <p:spPr>
            <a:xfrm>
              <a:off x="44267" y="2735180"/>
              <a:ext cx="1436124" cy="1170189"/>
            </a:xfrm>
            <a:prstGeom prst="roundRect">
              <a:avLst>
                <a:gd name="adj" fmla="val 10000"/>
              </a:avLst>
            </a:prstGeom>
            <a:solidFill>
              <a:schemeClr val="bg1"/>
            </a:solidFill>
            <a:ln w="28575">
              <a:solidFill>
                <a:schemeClr val="accent1"/>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fr-CA"/>
            </a:p>
          </p:txBody>
        </p:sp>
        <p:sp>
          <p:nvSpPr>
            <p:cNvPr id="67" name="Rectangle 66"/>
            <p:cNvSpPr/>
            <p:nvPr/>
          </p:nvSpPr>
          <p:spPr>
            <a:xfrm>
              <a:off x="96055" y="2650962"/>
              <a:ext cx="1366050" cy="131069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 tIns="9525" rIns="9525" bIns="9525" numCol="1" spcCol="1270" anchor="ctr" anchorCtr="0">
              <a:noAutofit/>
            </a:bodyPr>
            <a:lstStyle/>
            <a:p>
              <a:pPr algn="ctr" defTabSz="666750">
                <a:lnSpc>
                  <a:spcPct val="90000"/>
                </a:lnSpc>
                <a:spcBef>
                  <a:spcPct val="0"/>
                </a:spcBef>
                <a:spcAft>
                  <a:spcPct val="35000"/>
                </a:spcAft>
              </a:pPr>
              <a:r>
                <a:rPr lang="fr-CA" sz="1350" dirty="0">
                  <a:solidFill>
                    <a:schemeClr val="tx1"/>
                  </a:solidFill>
                  <a:latin typeface="Times New Roman" panose="02020603050405020304" pitchFamily="18" charset="0"/>
                  <a:cs typeface="Times New Roman" panose="02020603050405020304" pitchFamily="18" charset="0"/>
                </a:rPr>
                <a:t>Est-ce que l’auditeur juge que l’application de l’HCE est appropriée ? (17)</a:t>
              </a:r>
            </a:p>
          </p:txBody>
        </p:sp>
      </p:grpSp>
      <p:grpSp>
        <p:nvGrpSpPr>
          <p:cNvPr id="18" name="Groupe 17"/>
          <p:cNvGrpSpPr/>
          <p:nvPr/>
        </p:nvGrpSpPr>
        <p:grpSpPr>
          <a:xfrm>
            <a:off x="1569647" y="1223252"/>
            <a:ext cx="76379" cy="1527577"/>
            <a:chOff x="1900488" y="1284210"/>
            <a:chExt cx="101838" cy="2036769"/>
          </a:xfrm>
        </p:grpSpPr>
        <p:sp>
          <p:nvSpPr>
            <p:cNvPr id="64" name="Connecteur droit 5"/>
            <p:cNvSpPr/>
            <p:nvPr/>
          </p:nvSpPr>
          <p:spPr>
            <a:xfrm rot="17789485">
              <a:off x="933022" y="2285846"/>
              <a:ext cx="2036769" cy="33497"/>
            </a:xfrm>
            <a:custGeom>
              <a:avLst/>
              <a:gdLst/>
              <a:ahLst/>
              <a:cxnLst/>
              <a:rect l="0" t="0" r="0" b="0"/>
              <a:pathLst>
                <a:path>
                  <a:moveTo>
                    <a:pt x="0" y="16748"/>
                  </a:moveTo>
                  <a:lnTo>
                    <a:pt x="2036769" y="16748"/>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fr-CA"/>
            </a:p>
          </p:txBody>
        </p:sp>
        <p:sp>
          <p:nvSpPr>
            <p:cNvPr id="65" name="Connecteur droit 6"/>
            <p:cNvSpPr/>
            <p:nvPr/>
          </p:nvSpPr>
          <p:spPr>
            <a:xfrm rot="17789485">
              <a:off x="1900488" y="2251676"/>
              <a:ext cx="101838" cy="101838"/>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9525" tIns="0" rIns="9525" bIns="0" numCol="1" spcCol="1270" anchor="ctr" anchorCtr="0">
              <a:noAutofit/>
            </a:bodyPr>
            <a:lstStyle/>
            <a:p>
              <a:pPr algn="ctr" defTabSz="233363">
                <a:lnSpc>
                  <a:spcPct val="90000"/>
                </a:lnSpc>
                <a:spcBef>
                  <a:spcPct val="0"/>
                </a:spcBef>
                <a:spcAft>
                  <a:spcPct val="35000"/>
                </a:spcAft>
              </a:pPr>
              <a:endParaRPr lang="fr-CA" sz="525">
                <a:solidFill>
                  <a:prstClr val="black">
                    <a:hueOff val="0"/>
                    <a:satOff val="0"/>
                    <a:lumOff val="0"/>
                    <a:alphaOff val="0"/>
                  </a:prstClr>
                </a:solidFill>
              </a:endParaRPr>
            </a:p>
          </p:txBody>
        </p:sp>
      </p:grpSp>
      <p:grpSp>
        <p:nvGrpSpPr>
          <p:cNvPr id="19" name="Groupe 18"/>
          <p:cNvGrpSpPr/>
          <p:nvPr/>
        </p:nvGrpSpPr>
        <p:grpSpPr>
          <a:xfrm>
            <a:off x="1948536" y="575595"/>
            <a:ext cx="1794377" cy="1692331"/>
            <a:chOff x="2405672" y="420668"/>
            <a:chExt cx="2392503" cy="1940942"/>
          </a:xfrm>
        </p:grpSpPr>
        <p:sp>
          <p:nvSpPr>
            <p:cNvPr id="62" name="Rectangle à coins arrondis 61"/>
            <p:cNvSpPr/>
            <p:nvPr/>
          </p:nvSpPr>
          <p:spPr>
            <a:xfrm>
              <a:off x="2405672" y="420668"/>
              <a:ext cx="2392503" cy="1940942"/>
            </a:xfrm>
            <a:prstGeom prst="roundRect">
              <a:avLst>
                <a:gd name="adj" fmla="val 10000"/>
              </a:avLst>
            </a:prstGeom>
            <a:solidFill>
              <a:schemeClr val="bg1"/>
            </a:solidFill>
            <a:ln w="28575">
              <a:solidFill>
                <a:schemeClr val="accent1"/>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fr-CA"/>
            </a:p>
          </p:txBody>
        </p:sp>
        <p:sp>
          <p:nvSpPr>
            <p:cNvPr id="63" name="Rectangle 62"/>
            <p:cNvSpPr/>
            <p:nvPr/>
          </p:nvSpPr>
          <p:spPr>
            <a:xfrm>
              <a:off x="2462520" y="477516"/>
              <a:ext cx="2278807" cy="182724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 tIns="9525" rIns="9525" bIns="9525" numCol="1" spcCol="1270" anchor="ctr" anchorCtr="0">
              <a:noAutofit/>
            </a:bodyPr>
            <a:lstStyle/>
            <a:p>
              <a:pPr algn="ctr" defTabSz="666750">
                <a:lnSpc>
                  <a:spcPct val="90000"/>
                </a:lnSpc>
                <a:spcBef>
                  <a:spcPct val="0"/>
                </a:spcBef>
                <a:spcAft>
                  <a:spcPct val="35000"/>
                </a:spcAft>
              </a:pPr>
              <a:r>
                <a:rPr lang="fr-CA" sz="1500" dirty="0">
                  <a:solidFill>
                    <a:schemeClr val="tx1"/>
                  </a:solidFill>
                  <a:latin typeface="Times New Roman" panose="02020603050405020304" pitchFamily="18" charset="0"/>
                  <a:cs typeface="Times New Roman" panose="02020603050405020304" pitchFamily="18" charset="0"/>
                </a:rPr>
                <a:t>Est-ce qu’il existe une « </a:t>
              </a:r>
              <a:r>
                <a:rPr lang="fr-CA" sz="1500" b="1" u="sng" dirty="0">
                  <a:solidFill>
                    <a:schemeClr val="tx1"/>
                  </a:solidFill>
                  <a:latin typeface="Times New Roman" panose="02020603050405020304" pitchFamily="18" charset="0"/>
                  <a:cs typeface="Times New Roman" panose="02020603050405020304" pitchFamily="18" charset="0"/>
                </a:rPr>
                <a:t>incertitude significative</a:t>
              </a:r>
              <a:r>
                <a:rPr lang="fr-CA" sz="1500" dirty="0">
                  <a:solidFill>
                    <a:schemeClr val="tx1"/>
                  </a:solidFill>
                  <a:latin typeface="Times New Roman" panose="02020603050405020304" pitchFamily="18" charset="0"/>
                  <a:cs typeface="Times New Roman" panose="02020603050405020304" pitchFamily="18" charset="0"/>
                </a:rPr>
                <a:t> » quant à la capacité de l'entité à poursuivre son exploitation ?</a:t>
              </a:r>
            </a:p>
            <a:p>
              <a:pPr algn="ctr" defTabSz="666750">
                <a:lnSpc>
                  <a:spcPct val="90000"/>
                </a:lnSpc>
                <a:spcBef>
                  <a:spcPct val="0"/>
                </a:spcBef>
                <a:spcAft>
                  <a:spcPct val="35000"/>
                </a:spcAft>
              </a:pPr>
              <a:r>
                <a:rPr lang="fr-CA" sz="1350" dirty="0">
                  <a:solidFill>
                    <a:schemeClr val="tx1"/>
                  </a:solidFill>
                  <a:latin typeface="Times New Roman" panose="02020603050405020304" pitchFamily="18" charset="0"/>
                  <a:cs typeface="Times New Roman" panose="02020603050405020304" pitchFamily="18" charset="0"/>
                </a:rPr>
                <a:t>(18-19, A21)</a:t>
              </a:r>
            </a:p>
          </p:txBody>
        </p:sp>
      </p:grpSp>
      <p:grpSp>
        <p:nvGrpSpPr>
          <p:cNvPr id="20" name="Groupe 19"/>
          <p:cNvGrpSpPr/>
          <p:nvPr/>
        </p:nvGrpSpPr>
        <p:grpSpPr>
          <a:xfrm>
            <a:off x="3659832" y="1023409"/>
            <a:ext cx="883913" cy="44195"/>
            <a:chOff x="4687401" y="1017753"/>
            <a:chExt cx="1178550" cy="58927"/>
          </a:xfrm>
        </p:grpSpPr>
        <p:sp>
          <p:nvSpPr>
            <p:cNvPr id="60" name="Connecteur droit 9"/>
            <p:cNvSpPr/>
            <p:nvPr/>
          </p:nvSpPr>
          <p:spPr>
            <a:xfrm rot="19457599">
              <a:off x="4687401" y="1030468"/>
              <a:ext cx="1178550" cy="33497"/>
            </a:xfrm>
            <a:custGeom>
              <a:avLst/>
              <a:gdLst/>
              <a:ahLst/>
              <a:cxnLst/>
              <a:rect l="0" t="0" r="0" b="0"/>
              <a:pathLst>
                <a:path>
                  <a:moveTo>
                    <a:pt x="0" y="16748"/>
                  </a:moveTo>
                  <a:lnTo>
                    <a:pt x="1178550" y="16748"/>
                  </a:lnTo>
                </a:path>
              </a:pathLst>
            </a:custGeom>
            <a:noFill/>
          </p:spPr>
          <p:style>
            <a:lnRef idx="2">
              <a:schemeClr val="accent1">
                <a:shade val="8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fr-CA"/>
            </a:p>
          </p:txBody>
        </p:sp>
        <p:sp>
          <p:nvSpPr>
            <p:cNvPr id="61" name="Connecteur droit 10"/>
            <p:cNvSpPr/>
            <p:nvPr/>
          </p:nvSpPr>
          <p:spPr>
            <a:xfrm rot="19457599">
              <a:off x="5247213" y="1017753"/>
              <a:ext cx="58927" cy="58927"/>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9525" tIns="0" rIns="9525" bIns="0" numCol="1" spcCol="1270" anchor="ctr" anchorCtr="0">
              <a:noAutofit/>
            </a:bodyPr>
            <a:lstStyle/>
            <a:p>
              <a:pPr algn="ctr" defTabSz="166688">
                <a:lnSpc>
                  <a:spcPct val="90000"/>
                </a:lnSpc>
                <a:spcBef>
                  <a:spcPct val="0"/>
                </a:spcBef>
                <a:spcAft>
                  <a:spcPct val="35000"/>
                </a:spcAft>
              </a:pPr>
              <a:endParaRPr lang="fr-CA" sz="375">
                <a:solidFill>
                  <a:prstClr val="black">
                    <a:hueOff val="0"/>
                    <a:satOff val="0"/>
                    <a:lumOff val="0"/>
                    <a:alphaOff val="0"/>
                  </a:prstClr>
                </a:solidFill>
              </a:endParaRPr>
            </a:p>
          </p:txBody>
        </p:sp>
      </p:grpSp>
      <p:grpSp>
        <p:nvGrpSpPr>
          <p:cNvPr id="21" name="Groupe 20"/>
          <p:cNvGrpSpPr/>
          <p:nvPr/>
        </p:nvGrpSpPr>
        <p:grpSpPr>
          <a:xfrm>
            <a:off x="4302047" y="177484"/>
            <a:ext cx="2426667" cy="1058131"/>
            <a:chOff x="5755177" y="105168"/>
            <a:chExt cx="2989552" cy="1196251"/>
          </a:xfrm>
        </p:grpSpPr>
        <p:sp>
          <p:nvSpPr>
            <p:cNvPr id="58" name="Rectangle à coins arrondis 57"/>
            <p:cNvSpPr/>
            <p:nvPr/>
          </p:nvSpPr>
          <p:spPr>
            <a:xfrm>
              <a:off x="5755177" y="105168"/>
              <a:ext cx="2989552" cy="1196251"/>
            </a:xfrm>
            <a:prstGeom prst="roundRect">
              <a:avLst>
                <a:gd name="adj" fmla="val 10000"/>
              </a:avLst>
            </a:prstGeom>
            <a:solidFill>
              <a:schemeClr val="bg1"/>
            </a:solidFill>
            <a:ln w="28575">
              <a:solidFill>
                <a:schemeClr val="accent1"/>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fr-CA"/>
            </a:p>
          </p:txBody>
        </p:sp>
        <p:sp>
          <p:nvSpPr>
            <p:cNvPr id="59" name="Rectangle 58"/>
            <p:cNvSpPr/>
            <p:nvPr/>
          </p:nvSpPr>
          <p:spPr>
            <a:xfrm>
              <a:off x="5790214" y="140205"/>
              <a:ext cx="2919478" cy="112617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 tIns="9525" rIns="9525" bIns="9525" numCol="1" spcCol="1270" anchor="ctr" anchorCtr="0">
              <a:noAutofit/>
            </a:bodyPr>
            <a:lstStyle/>
            <a:p>
              <a:pPr algn="ctr" defTabSz="666750">
                <a:lnSpc>
                  <a:spcPct val="90000"/>
                </a:lnSpc>
                <a:spcBef>
                  <a:spcPct val="0"/>
                </a:spcBef>
                <a:spcAft>
                  <a:spcPct val="35000"/>
                </a:spcAft>
              </a:pPr>
              <a:r>
                <a:rPr lang="fr-CA" sz="1350" dirty="0">
                  <a:solidFill>
                    <a:schemeClr val="tx1"/>
                  </a:solidFill>
                  <a:latin typeface="Times New Roman" panose="02020603050405020304" pitchFamily="18" charset="0"/>
                  <a:cs typeface="Times New Roman" panose="02020603050405020304" pitchFamily="18" charset="0"/>
                </a:rPr>
                <a:t>Les </a:t>
              </a:r>
              <a:r>
                <a:rPr lang="fr-CA" sz="1350" dirty="0" err="1">
                  <a:solidFill>
                    <a:schemeClr val="tx1"/>
                  </a:solidFill>
                  <a:latin typeface="Times New Roman" panose="02020603050405020304" pitchFamily="18" charset="0"/>
                  <a:cs typeface="Times New Roman" panose="02020603050405020304" pitchFamily="18" charset="0"/>
                </a:rPr>
                <a:t>ÉFs</a:t>
              </a:r>
              <a:r>
                <a:rPr lang="fr-CA" sz="1350" dirty="0">
                  <a:solidFill>
                    <a:schemeClr val="tx1"/>
                  </a:solidFill>
                  <a:latin typeface="Times New Roman" panose="02020603050405020304" pitchFamily="18" charset="0"/>
                  <a:cs typeface="Times New Roman" panose="02020603050405020304" pitchFamily="18" charset="0"/>
                </a:rPr>
                <a:t> doivent, s’il y a lieu, refléter les </a:t>
              </a:r>
              <a:r>
                <a:rPr lang="fr-CA" sz="1350" b="1" dirty="0">
                  <a:solidFill>
                    <a:schemeClr val="tx1"/>
                  </a:solidFill>
                  <a:latin typeface="Times New Roman" panose="02020603050405020304" pitchFamily="18" charset="0"/>
                  <a:cs typeface="Times New Roman" panose="02020603050405020304" pitchFamily="18" charset="0"/>
                </a:rPr>
                <a:t>événements</a:t>
              </a:r>
              <a:r>
                <a:rPr lang="fr-CA" sz="1350" dirty="0">
                  <a:solidFill>
                    <a:schemeClr val="tx1"/>
                  </a:solidFill>
                  <a:latin typeface="Times New Roman" panose="02020603050405020304" pitchFamily="18" charset="0"/>
                  <a:cs typeface="Times New Roman" panose="02020603050405020304" pitchFamily="18" charset="0"/>
                </a:rPr>
                <a:t> ou </a:t>
              </a:r>
              <a:r>
                <a:rPr lang="fr-CA" sz="1350" b="1" dirty="0">
                  <a:solidFill>
                    <a:schemeClr val="tx1"/>
                  </a:solidFill>
                  <a:latin typeface="Times New Roman" panose="02020603050405020304" pitchFamily="18" charset="0"/>
                  <a:cs typeface="Times New Roman" panose="02020603050405020304" pitchFamily="18" charset="0"/>
                </a:rPr>
                <a:t>situations</a:t>
              </a:r>
              <a:r>
                <a:rPr lang="fr-CA" sz="1350" dirty="0">
                  <a:solidFill>
                    <a:schemeClr val="tx1"/>
                  </a:solidFill>
                  <a:latin typeface="Times New Roman" panose="02020603050405020304" pitchFamily="18" charset="0"/>
                  <a:cs typeface="Times New Roman" panose="02020603050405020304" pitchFamily="18" charset="0"/>
                </a:rPr>
                <a:t> susceptibles de jeter un doute important sur la CPE.</a:t>
              </a:r>
            </a:p>
            <a:p>
              <a:pPr algn="ctr" defTabSz="666750">
                <a:lnSpc>
                  <a:spcPct val="90000"/>
                </a:lnSpc>
                <a:spcBef>
                  <a:spcPct val="0"/>
                </a:spcBef>
                <a:spcAft>
                  <a:spcPct val="35000"/>
                </a:spcAft>
              </a:pPr>
              <a:r>
                <a:rPr lang="fr-CA" sz="1350" dirty="0">
                  <a:solidFill>
                    <a:schemeClr val="tx1"/>
                  </a:solidFill>
                  <a:latin typeface="Times New Roman" panose="02020603050405020304" pitchFamily="18" charset="0"/>
                  <a:cs typeface="Times New Roman" panose="02020603050405020304" pitchFamily="18" charset="0"/>
                </a:rPr>
                <a:t>(20, A24)</a:t>
              </a:r>
            </a:p>
          </p:txBody>
        </p:sp>
      </p:grpSp>
      <p:grpSp>
        <p:nvGrpSpPr>
          <p:cNvPr id="22" name="Groupe 21"/>
          <p:cNvGrpSpPr/>
          <p:nvPr/>
        </p:nvGrpSpPr>
        <p:grpSpPr>
          <a:xfrm>
            <a:off x="3659832" y="1539293"/>
            <a:ext cx="883913" cy="44195"/>
            <a:chOff x="4687401" y="1705598"/>
            <a:chExt cx="1178550" cy="58927"/>
          </a:xfrm>
        </p:grpSpPr>
        <p:sp>
          <p:nvSpPr>
            <p:cNvPr id="56" name="Connecteur droit 13"/>
            <p:cNvSpPr/>
            <p:nvPr/>
          </p:nvSpPr>
          <p:spPr>
            <a:xfrm rot="2142401">
              <a:off x="4687401" y="1718313"/>
              <a:ext cx="1178550" cy="33497"/>
            </a:xfrm>
            <a:custGeom>
              <a:avLst/>
              <a:gdLst/>
              <a:ahLst/>
              <a:cxnLst/>
              <a:rect l="0" t="0" r="0" b="0"/>
              <a:pathLst>
                <a:path>
                  <a:moveTo>
                    <a:pt x="0" y="16748"/>
                  </a:moveTo>
                  <a:lnTo>
                    <a:pt x="1178550" y="16748"/>
                  </a:lnTo>
                </a:path>
              </a:pathLst>
            </a:custGeom>
            <a:noFill/>
          </p:spPr>
          <p:style>
            <a:lnRef idx="2">
              <a:schemeClr val="accent1">
                <a:shade val="8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fr-CA"/>
            </a:p>
          </p:txBody>
        </p:sp>
        <p:sp>
          <p:nvSpPr>
            <p:cNvPr id="57" name="Connecteur droit 14"/>
            <p:cNvSpPr/>
            <p:nvPr/>
          </p:nvSpPr>
          <p:spPr>
            <a:xfrm rot="2142401">
              <a:off x="5247213" y="1705598"/>
              <a:ext cx="58927" cy="58927"/>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9525" tIns="0" rIns="9525" bIns="0" numCol="1" spcCol="1270" anchor="ctr" anchorCtr="0">
              <a:noAutofit/>
            </a:bodyPr>
            <a:lstStyle/>
            <a:p>
              <a:pPr algn="ctr" defTabSz="166688">
                <a:lnSpc>
                  <a:spcPct val="90000"/>
                </a:lnSpc>
                <a:spcBef>
                  <a:spcPct val="0"/>
                </a:spcBef>
                <a:spcAft>
                  <a:spcPct val="35000"/>
                </a:spcAft>
              </a:pPr>
              <a:endParaRPr lang="fr-CA" sz="375">
                <a:solidFill>
                  <a:prstClr val="black">
                    <a:hueOff val="0"/>
                    <a:satOff val="0"/>
                    <a:lumOff val="0"/>
                    <a:alphaOff val="0"/>
                  </a:prstClr>
                </a:solidFill>
              </a:endParaRPr>
            </a:p>
          </p:txBody>
        </p:sp>
      </p:grpSp>
      <p:grpSp>
        <p:nvGrpSpPr>
          <p:cNvPr id="23" name="Groupe 22"/>
          <p:cNvGrpSpPr/>
          <p:nvPr/>
        </p:nvGrpSpPr>
        <p:grpSpPr>
          <a:xfrm>
            <a:off x="4460665" y="1370738"/>
            <a:ext cx="1794377" cy="897188"/>
            <a:chOff x="5755177" y="1480858"/>
            <a:chExt cx="2392503" cy="1196251"/>
          </a:xfrm>
        </p:grpSpPr>
        <p:sp>
          <p:nvSpPr>
            <p:cNvPr id="54" name="Rectangle à coins arrondis 53"/>
            <p:cNvSpPr/>
            <p:nvPr/>
          </p:nvSpPr>
          <p:spPr>
            <a:xfrm>
              <a:off x="5755177" y="1480858"/>
              <a:ext cx="2392503" cy="1196251"/>
            </a:xfrm>
            <a:prstGeom prst="roundRect">
              <a:avLst>
                <a:gd name="adj" fmla="val 10000"/>
              </a:avLst>
            </a:prstGeom>
            <a:solidFill>
              <a:schemeClr val="bg1"/>
            </a:solidFill>
            <a:ln w="28575">
              <a:solidFill>
                <a:schemeClr val="accent1"/>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fr-CA"/>
            </a:p>
          </p:txBody>
        </p:sp>
        <p:sp>
          <p:nvSpPr>
            <p:cNvPr id="55" name="Rectangle 54"/>
            <p:cNvSpPr/>
            <p:nvPr/>
          </p:nvSpPr>
          <p:spPr>
            <a:xfrm>
              <a:off x="5790214" y="1515895"/>
              <a:ext cx="2322429" cy="112617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 tIns="9525" rIns="9525" bIns="9525" numCol="1" spcCol="1270" anchor="ctr" anchorCtr="0">
              <a:noAutofit/>
            </a:bodyPr>
            <a:lstStyle/>
            <a:p>
              <a:pPr algn="ctr" defTabSz="666750">
                <a:lnSpc>
                  <a:spcPct val="90000"/>
                </a:lnSpc>
                <a:spcBef>
                  <a:spcPct val="0"/>
                </a:spcBef>
              </a:pPr>
              <a:r>
                <a:rPr lang="fr-CA" sz="1500" dirty="0">
                  <a:solidFill>
                    <a:schemeClr val="tx1"/>
                  </a:solidFill>
                  <a:latin typeface="Times New Roman" panose="02020603050405020304" pitchFamily="18" charset="0"/>
                  <a:cs typeface="Times New Roman" panose="02020603050405020304" pitchFamily="18" charset="0"/>
                </a:rPr>
                <a:t>Est-ce que les informations fournies sont adéquates?</a:t>
              </a:r>
            </a:p>
            <a:p>
              <a:pPr algn="ctr" defTabSz="666750">
                <a:lnSpc>
                  <a:spcPct val="90000"/>
                </a:lnSpc>
                <a:spcBef>
                  <a:spcPct val="0"/>
                </a:spcBef>
              </a:pPr>
              <a:r>
                <a:rPr lang="fr-CA" sz="1350" dirty="0">
                  <a:solidFill>
                    <a:schemeClr val="tx1"/>
                  </a:solidFill>
                  <a:latin typeface="Times New Roman" panose="02020603050405020304" pitchFamily="18" charset="0"/>
                  <a:cs typeface="Times New Roman" panose="02020603050405020304" pitchFamily="18" charset="0"/>
                </a:rPr>
                <a:t>(19, A23)</a:t>
              </a:r>
            </a:p>
          </p:txBody>
        </p:sp>
      </p:grpSp>
      <p:grpSp>
        <p:nvGrpSpPr>
          <p:cNvPr id="24" name="Groupe 23"/>
          <p:cNvGrpSpPr/>
          <p:nvPr/>
        </p:nvGrpSpPr>
        <p:grpSpPr>
          <a:xfrm>
            <a:off x="6147044" y="1497360"/>
            <a:ext cx="933747" cy="46687"/>
            <a:chOff x="8003683" y="1649687"/>
            <a:chExt cx="1244996" cy="62249"/>
          </a:xfrm>
        </p:grpSpPr>
        <p:sp>
          <p:nvSpPr>
            <p:cNvPr id="52" name="Connecteur droit 17"/>
            <p:cNvSpPr/>
            <p:nvPr/>
          </p:nvSpPr>
          <p:spPr>
            <a:xfrm rot="19214119">
              <a:off x="8003683" y="1664063"/>
              <a:ext cx="1244996" cy="33497"/>
            </a:xfrm>
            <a:custGeom>
              <a:avLst/>
              <a:gdLst/>
              <a:ahLst/>
              <a:cxnLst/>
              <a:rect l="0" t="0" r="0" b="0"/>
              <a:pathLst>
                <a:path>
                  <a:moveTo>
                    <a:pt x="0" y="16748"/>
                  </a:moveTo>
                  <a:lnTo>
                    <a:pt x="1244996" y="16748"/>
                  </a:lnTo>
                </a:path>
              </a:pathLst>
            </a:custGeom>
            <a:noFill/>
          </p:spPr>
          <p:style>
            <a:lnRef idx="2">
              <a:schemeClr val="accent1">
                <a:shade val="8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fr-CA"/>
            </a:p>
          </p:txBody>
        </p:sp>
        <p:sp>
          <p:nvSpPr>
            <p:cNvPr id="53" name="Connecteur droit 18"/>
            <p:cNvSpPr/>
            <p:nvPr/>
          </p:nvSpPr>
          <p:spPr>
            <a:xfrm rot="19214119">
              <a:off x="8595057" y="1649687"/>
              <a:ext cx="62249" cy="62249"/>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9525" tIns="0" rIns="9525" bIns="0" numCol="1" spcCol="1270" anchor="ctr" anchorCtr="0">
              <a:noAutofit/>
            </a:bodyPr>
            <a:lstStyle/>
            <a:p>
              <a:pPr algn="ctr" defTabSz="166688">
                <a:lnSpc>
                  <a:spcPct val="90000"/>
                </a:lnSpc>
                <a:spcBef>
                  <a:spcPct val="0"/>
                </a:spcBef>
                <a:spcAft>
                  <a:spcPct val="35000"/>
                </a:spcAft>
              </a:pPr>
              <a:endParaRPr lang="fr-CA" sz="375">
                <a:solidFill>
                  <a:prstClr val="black">
                    <a:hueOff val="0"/>
                    <a:satOff val="0"/>
                    <a:lumOff val="0"/>
                    <a:alphaOff val="0"/>
                  </a:prstClr>
                </a:solidFill>
              </a:endParaRPr>
            </a:p>
          </p:txBody>
        </p:sp>
      </p:grpSp>
      <p:grpSp>
        <p:nvGrpSpPr>
          <p:cNvPr id="25" name="Groupe 24"/>
          <p:cNvGrpSpPr/>
          <p:nvPr/>
        </p:nvGrpSpPr>
        <p:grpSpPr>
          <a:xfrm>
            <a:off x="6788383" y="842008"/>
            <a:ext cx="2296625" cy="817316"/>
            <a:chOff x="9104682" y="497372"/>
            <a:chExt cx="2392503" cy="1570535"/>
          </a:xfrm>
        </p:grpSpPr>
        <p:sp>
          <p:nvSpPr>
            <p:cNvPr id="50" name="Rectangle à coins arrondis 49"/>
            <p:cNvSpPr/>
            <p:nvPr/>
          </p:nvSpPr>
          <p:spPr>
            <a:xfrm>
              <a:off x="9104682" y="497372"/>
              <a:ext cx="2392503" cy="1570535"/>
            </a:xfrm>
            <a:prstGeom prst="roundRect">
              <a:avLst>
                <a:gd name="adj" fmla="val 10000"/>
              </a:avLst>
            </a:prstGeom>
            <a:solidFill>
              <a:schemeClr val="bg1"/>
            </a:solidFill>
            <a:ln w="28575">
              <a:solidFill>
                <a:schemeClr val="accent1"/>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fr-CA"/>
            </a:p>
          </p:txBody>
        </p:sp>
        <p:sp>
          <p:nvSpPr>
            <p:cNvPr id="51" name="Rectangle 50"/>
            <p:cNvSpPr/>
            <p:nvPr/>
          </p:nvSpPr>
          <p:spPr>
            <a:xfrm>
              <a:off x="9150681" y="497372"/>
              <a:ext cx="2300505" cy="152453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 tIns="9525" rIns="9525" bIns="9525" numCol="1" spcCol="1270" anchor="ctr" anchorCtr="0">
              <a:noAutofit/>
            </a:bodyPr>
            <a:lstStyle/>
            <a:p>
              <a:pPr algn="ctr" defTabSz="666750">
                <a:lnSpc>
                  <a:spcPct val="90000"/>
                </a:lnSpc>
                <a:spcBef>
                  <a:spcPct val="0"/>
                </a:spcBef>
                <a:spcAft>
                  <a:spcPct val="35000"/>
                </a:spcAft>
              </a:pPr>
              <a:r>
                <a:rPr lang="fr-CA" sz="1500" dirty="0">
                  <a:solidFill>
                    <a:schemeClr val="tx1"/>
                  </a:solidFill>
                  <a:latin typeface="Times New Roman" panose="02020603050405020304" pitchFamily="18" charset="0"/>
                  <a:cs typeface="Times New Roman" panose="02020603050405020304" pitchFamily="18" charset="0"/>
                </a:rPr>
                <a:t>Opinion avec réserve </a:t>
              </a:r>
              <a:r>
                <a:rPr lang="fr-CA" sz="1500" b="1" u="sng" dirty="0">
                  <a:solidFill>
                    <a:schemeClr val="tx1"/>
                  </a:solidFill>
                  <a:latin typeface="Times New Roman" panose="02020603050405020304" pitchFamily="18" charset="0"/>
                  <a:cs typeface="Times New Roman" panose="02020603050405020304" pitchFamily="18" charset="0"/>
                </a:rPr>
                <a:t>ou</a:t>
              </a:r>
              <a:r>
                <a:rPr lang="fr-CA" sz="1500" b="1" dirty="0">
                  <a:solidFill>
                    <a:schemeClr val="tx1"/>
                  </a:solidFill>
                  <a:latin typeface="Times New Roman" panose="02020603050405020304" pitchFamily="18" charset="0"/>
                  <a:cs typeface="Times New Roman" panose="02020603050405020304" pitchFamily="18" charset="0"/>
                </a:rPr>
                <a:t> </a:t>
              </a:r>
            </a:p>
            <a:p>
              <a:pPr algn="ctr" defTabSz="666750">
                <a:lnSpc>
                  <a:spcPct val="90000"/>
                </a:lnSpc>
                <a:spcBef>
                  <a:spcPct val="0"/>
                </a:spcBef>
                <a:spcAft>
                  <a:spcPct val="35000"/>
                </a:spcAft>
              </a:pPr>
              <a:r>
                <a:rPr lang="fr-CA" sz="1500" dirty="0">
                  <a:solidFill>
                    <a:schemeClr val="tx1"/>
                  </a:solidFill>
                  <a:latin typeface="Times New Roman" panose="02020603050405020304" pitchFamily="18" charset="0"/>
                  <a:cs typeface="Times New Roman" panose="02020603050405020304" pitchFamily="18" charset="0"/>
                </a:rPr>
                <a:t>Opinion défavorable </a:t>
              </a:r>
            </a:p>
            <a:p>
              <a:pPr algn="ctr" defTabSz="666750">
                <a:lnSpc>
                  <a:spcPct val="90000"/>
                </a:lnSpc>
                <a:spcBef>
                  <a:spcPct val="0"/>
                </a:spcBef>
                <a:spcAft>
                  <a:spcPct val="35000"/>
                </a:spcAft>
              </a:pPr>
              <a:r>
                <a:rPr lang="fr-CA" sz="1500" dirty="0">
                  <a:solidFill>
                    <a:schemeClr val="tx1"/>
                  </a:solidFill>
                  <a:latin typeface="Times New Roman" panose="02020603050405020304" pitchFamily="18" charset="0"/>
                  <a:cs typeface="Times New Roman" panose="02020603050405020304" pitchFamily="18" charset="0"/>
                </a:rPr>
                <a:t>(par. 23 + NCA 705)</a:t>
              </a:r>
            </a:p>
          </p:txBody>
        </p:sp>
      </p:grpSp>
      <p:grpSp>
        <p:nvGrpSpPr>
          <p:cNvPr id="26" name="Groupe 25"/>
          <p:cNvGrpSpPr/>
          <p:nvPr/>
        </p:nvGrpSpPr>
        <p:grpSpPr>
          <a:xfrm>
            <a:off x="6127652" y="2123139"/>
            <a:ext cx="972531" cy="48626"/>
            <a:chOff x="7977827" y="2484059"/>
            <a:chExt cx="1296708" cy="64835"/>
          </a:xfrm>
        </p:grpSpPr>
        <p:sp>
          <p:nvSpPr>
            <p:cNvPr id="48" name="Connecteur droit 21"/>
            <p:cNvSpPr/>
            <p:nvPr/>
          </p:nvSpPr>
          <p:spPr>
            <a:xfrm rot="2546201">
              <a:off x="7977827" y="2499728"/>
              <a:ext cx="1296708" cy="33497"/>
            </a:xfrm>
            <a:custGeom>
              <a:avLst/>
              <a:gdLst/>
              <a:ahLst/>
              <a:cxnLst/>
              <a:rect l="0" t="0" r="0" b="0"/>
              <a:pathLst>
                <a:path>
                  <a:moveTo>
                    <a:pt x="0" y="16748"/>
                  </a:moveTo>
                  <a:lnTo>
                    <a:pt x="1296708" y="16748"/>
                  </a:lnTo>
                </a:path>
              </a:pathLst>
            </a:custGeom>
            <a:noFill/>
          </p:spPr>
          <p:style>
            <a:lnRef idx="2">
              <a:schemeClr val="accent1">
                <a:shade val="8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fr-CA"/>
            </a:p>
          </p:txBody>
        </p:sp>
        <p:sp>
          <p:nvSpPr>
            <p:cNvPr id="49" name="Connecteur droit 22"/>
            <p:cNvSpPr/>
            <p:nvPr/>
          </p:nvSpPr>
          <p:spPr>
            <a:xfrm rot="2546201">
              <a:off x="8593764" y="2484059"/>
              <a:ext cx="64835" cy="64835"/>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9525" tIns="0" rIns="9525" bIns="0" numCol="1" spcCol="1270" anchor="ctr" anchorCtr="0">
              <a:noAutofit/>
            </a:bodyPr>
            <a:lstStyle/>
            <a:p>
              <a:pPr algn="ctr" defTabSz="166688">
                <a:lnSpc>
                  <a:spcPct val="90000"/>
                </a:lnSpc>
                <a:spcBef>
                  <a:spcPct val="0"/>
                </a:spcBef>
                <a:spcAft>
                  <a:spcPct val="35000"/>
                </a:spcAft>
              </a:pPr>
              <a:endParaRPr lang="fr-CA" sz="375">
                <a:solidFill>
                  <a:prstClr val="black">
                    <a:hueOff val="0"/>
                    <a:satOff val="0"/>
                    <a:lumOff val="0"/>
                    <a:alphaOff val="0"/>
                  </a:prstClr>
                </a:solidFill>
              </a:endParaRPr>
            </a:p>
          </p:txBody>
        </p:sp>
      </p:grpSp>
      <p:grpSp>
        <p:nvGrpSpPr>
          <p:cNvPr id="27" name="Groupe 26"/>
          <p:cNvGrpSpPr/>
          <p:nvPr/>
        </p:nvGrpSpPr>
        <p:grpSpPr>
          <a:xfrm>
            <a:off x="6865001" y="2108353"/>
            <a:ext cx="2220006" cy="897188"/>
            <a:chOff x="9104682" y="2247344"/>
            <a:chExt cx="2392503" cy="1413251"/>
          </a:xfrm>
        </p:grpSpPr>
        <p:sp>
          <p:nvSpPr>
            <p:cNvPr id="46" name="Rectangle à coins arrondis 45"/>
            <p:cNvSpPr/>
            <p:nvPr/>
          </p:nvSpPr>
          <p:spPr>
            <a:xfrm>
              <a:off x="9104682" y="2247344"/>
              <a:ext cx="2392503" cy="1413251"/>
            </a:xfrm>
            <a:prstGeom prst="roundRect">
              <a:avLst>
                <a:gd name="adj" fmla="val 10000"/>
              </a:avLst>
            </a:prstGeom>
            <a:solidFill>
              <a:schemeClr val="bg1"/>
            </a:solidFill>
            <a:ln w="28575">
              <a:solidFill>
                <a:schemeClr val="accent1"/>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fr-CA"/>
            </a:p>
          </p:txBody>
        </p:sp>
        <p:sp>
          <p:nvSpPr>
            <p:cNvPr id="47" name="Rectangle 46"/>
            <p:cNvSpPr/>
            <p:nvPr/>
          </p:nvSpPr>
          <p:spPr>
            <a:xfrm>
              <a:off x="9146075" y="2390781"/>
              <a:ext cx="2309717" cy="111524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 tIns="9525" rIns="9525" bIns="9525" numCol="1" spcCol="1270" anchor="ctr" anchorCtr="0">
              <a:noAutofit/>
            </a:bodyPr>
            <a:lstStyle/>
            <a:p>
              <a:pPr algn="ctr" defTabSz="666750">
                <a:lnSpc>
                  <a:spcPct val="90000"/>
                </a:lnSpc>
                <a:spcBef>
                  <a:spcPct val="0"/>
                </a:spcBef>
                <a:spcAft>
                  <a:spcPct val="35000"/>
                </a:spcAft>
              </a:pPr>
              <a:r>
                <a:rPr lang="fr-CA" sz="1500" dirty="0">
                  <a:solidFill>
                    <a:schemeClr val="tx1"/>
                  </a:solidFill>
                  <a:latin typeface="Times New Roman" panose="02020603050405020304" pitchFamily="18" charset="0"/>
                  <a:cs typeface="Times New Roman" panose="02020603050405020304" pitchFamily="18" charset="0"/>
                </a:rPr>
                <a:t>Opinion non modifiée avec section distincte sur l’HCE dans </a:t>
              </a:r>
              <a:r>
                <a:rPr lang="fr-CA" sz="1500" b="1" u="sng" dirty="0">
                  <a:solidFill>
                    <a:schemeClr val="tx1"/>
                  </a:solidFill>
                  <a:latin typeface="Times New Roman" panose="02020603050405020304" pitchFamily="18" charset="0"/>
                  <a:cs typeface="Times New Roman" panose="02020603050405020304" pitchFamily="18" charset="0"/>
                </a:rPr>
                <a:t>son rapport</a:t>
              </a:r>
            </a:p>
            <a:p>
              <a:pPr algn="ctr" defTabSz="666750">
                <a:lnSpc>
                  <a:spcPct val="90000"/>
                </a:lnSpc>
                <a:spcBef>
                  <a:spcPct val="0"/>
                </a:spcBef>
                <a:spcAft>
                  <a:spcPct val="35000"/>
                </a:spcAft>
              </a:pPr>
              <a:r>
                <a:rPr lang="fr-CA" sz="1350" dirty="0">
                  <a:solidFill>
                    <a:schemeClr val="tx1"/>
                  </a:solidFill>
                  <a:latin typeface="Times New Roman" panose="02020603050405020304" pitchFamily="18" charset="0"/>
                  <a:cs typeface="Times New Roman" panose="02020603050405020304" pitchFamily="18" charset="0"/>
                </a:rPr>
                <a:t>(22)</a:t>
              </a:r>
            </a:p>
          </p:txBody>
        </p:sp>
      </p:grpSp>
      <p:grpSp>
        <p:nvGrpSpPr>
          <p:cNvPr id="28" name="Groupe 27"/>
          <p:cNvGrpSpPr/>
          <p:nvPr/>
        </p:nvGrpSpPr>
        <p:grpSpPr>
          <a:xfrm>
            <a:off x="1562416" y="2604323"/>
            <a:ext cx="90842" cy="1816832"/>
            <a:chOff x="1890846" y="3125639"/>
            <a:chExt cx="121122" cy="2422442"/>
          </a:xfrm>
        </p:grpSpPr>
        <p:sp>
          <p:nvSpPr>
            <p:cNvPr id="44" name="Connecteur droit 25"/>
            <p:cNvSpPr/>
            <p:nvPr/>
          </p:nvSpPr>
          <p:spPr>
            <a:xfrm rot="4078368">
              <a:off x="740186" y="4320111"/>
              <a:ext cx="2422442" cy="33497"/>
            </a:xfrm>
            <a:custGeom>
              <a:avLst/>
              <a:gdLst/>
              <a:ahLst/>
              <a:cxnLst/>
              <a:rect l="0" t="0" r="0" b="0"/>
              <a:pathLst>
                <a:path>
                  <a:moveTo>
                    <a:pt x="0" y="16748"/>
                  </a:moveTo>
                  <a:lnTo>
                    <a:pt x="2422442" y="16748"/>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fr-CA"/>
            </a:p>
          </p:txBody>
        </p:sp>
        <p:sp>
          <p:nvSpPr>
            <p:cNvPr id="45" name="Connecteur droit 26"/>
            <p:cNvSpPr/>
            <p:nvPr/>
          </p:nvSpPr>
          <p:spPr>
            <a:xfrm rot="4078368">
              <a:off x="1890846" y="4276299"/>
              <a:ext cx="121122" cy="121122"/>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9525" tIns="0" rIns="9525" bIns="0" numCol="1" spcCol="1270" anchor="ctr" anchorCtr="0">
              <a:noAutofit/>
            </a:bodyPr>
            <a:lstStyle/>
            <a:p>
              <a:pPr algn="ctr" defTabSz="300038">
                <a:lnSpc>
                  <a:spcPct val="90000"/>
                </a:lnSpc>
                <a:spcBef>
                  <a:spcPct val="0"/>
                </a:spcBef>
                <a:spcAft>
                  <a:spcPct val="35000"/>
                </a:spcAft>
              </a:pPr>
              <a:endParaRPr lang="fr-CA" sz="675">
                <a:solidFill>
                  <a:prstClr val="black">
                    <a:hueOff val="0"/>
                    <a:satOff val="0"/>
                    <a:lumOff val="0"/>
                    <a:alphaOff val="0"/>
                  </a:prstClr>
                </a:solidFill>
              </a:endParaRPr>
            </a:p>
          </p:txBody>
        </p:sp>
      </p:grpSp>
      <p:grpSp>
        <p:nvGrpSpPr>
          <p:cNvPr id="29" name="Groupe 28"/>
          <p:cNvGrpSpPr/>
          <p:nvPr/>
        </p:nvGrpSpPr>
        <p:grpSpPr>
          <a:xfrm>
            <a:off x="1688714" y="3807289"/>
            <a:ext cx="1560219" cy="1000613"/>
            <a:chOff x="2405672" y="4861543"/>
            <a:chExt cx="1722411" cy="1196251"/>
          </a:xfrm>
        </p:grpSpPr>
        <p:sp>
          <p:nvSpPr>
            <p:cNvPr id="42" name="Rectangle à coins arrondis 41"/>
            <p:cNvSpPr/>
            <p:nvPr/>
          </p:nvSpPr>
          <p:spPr>
            <a:xfrm>
              <a:off x="2405672" y="4861543"/>
              <a:ext cx="1722411" cy="1196251"/>
            </a:xfrm>
            <a:prstGeom prst="roundRect">
              <a:avLst>
                <a:gd name="adj" fmla="val 10000"/>
              </a:avLst>
            </a:prstGeom>
            <a:solidFill>
              <a:schemeClr val="bg1"/>
            </a:solidFill>
            <a:ln w="28575">
              <a:solidFill>
                <a:schemeClr val="accent1"/>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fr-CA"/>
            </a:p>
          </p:txBody>
        </p:sp>
        <p:sp>
          <p:nvSpPr>
            <p:cNvPr id="43" name="Rectangle 42"/>
            <p:cNvSpPr/>
            <p:nvPr/>
          </p:nvSpPr>
          <p:spPr>
            <a:xfrm>
              <a:off x="2440709" y="4896580"/>
              <a:ext cx="1652337" cy="112617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 tIns="9525" rIns="9525" bIns="9525" numCol="1" spcCol="1270" anchor="ctr" anchorCtr="0">
              <a:noAutofit/>
            </a:bodyPr>
            <a:lstStyle/>
            <a:p>
              <a:pPr algn="ctr" defTabSz="666750">
                <a:lnSpc>
                  <a:spcPct val="90000"/>
                </a:lnSpc>
                <a:spcBef>
                  <a:spcPct val="0"/>
                </a:spcBef>
                <a:spcAft>
                  <a:spcPct val="35000"/>
                </a:spcAft>
              </a:pPr>
              <a:r>
                <a:rPr lang="fr-CA" sz="1500" dirty="0">
                  <a:solidFill>
                    <a:schemeClr val="tx1"/>
                  </a:solidFill>
                  <a:latin typeface="Times New Roman" panose="02020603050405020304" pitchFamily="18" charset="0"/>
                  <a:cs typeface="Times New Roman" panose="02020603050405020304" pitchFamily="18" charset="0"/>
                </a:rPr>
                <a:t>Est-ce que les ÉF sont néanmoins préparés suivant l’HCE ?</a:t>
              </a:r>
            </a:p>
          </p:txBody>
        </p:sp>
      </p:grpSp>
      <p:grpSp>
        <p:nvGrpSpPr>
          <p:cNvPr id="30" name="Groupe 29"/>
          <p:cNvGrpSpPr/>
          <p:nvPr/>
        </p:nvGrpSpPr>
        <p:grpSpPr>
          <a:xfrm>
            <a:off x="3208607" y="4031528"/>
            <a:ext cx="782161" cy="39108"/>
            <a:chOff x="4063419" y="5182091"/>
            <a:chExt cx="1042881" cy="52144"/>
          </a:xfrm>
        </p:grpSpPr>
        <p:sp>
          <p:nvSpPr>
            <p:cNvPr id="40" name="Connecteur droit 29"/>
            <p:cNvSpPr/>
            <p:nvPr/>
          </p:nvSpPr>
          <p:spPr>
            <a:xfrm rot="19869742">
              <a:off x="4063419" y="5191415"/>
              <a:ext cx="1042881" cy="33497"/>
            </a:xfrm>
            <a:custGeom>
              <a:avLst/>
              <a:gdLst/>
              <a:ahLst/>
              <a:cxnLst/>
              <a:rect l="0" t="0" r="0" b="0"/>
              <a:pathLst>
                <a:path>
                  <a:moveTo>
                    <a:pt x="0" y="16748"/>
                  </a:moveTo>
                  <a:lnTo>
                    <a:pt x="1042881" y="16748"/>
                  </a:lnTo>
                </a:path>
              </a:pathLst>
            </a:custGeom>
            <a:noFill/>
          </p:spPr>
          <p:style>
            <a:lnRef idx="2">
              <a:schemeClr val="accent1">
                <a:shade val="8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fr-CA"/>
            </a:p>
          </p:txBody>
        </p:sp>
        <p:sp>
          <p:nvSpPr>
            <p:cNvPr id="41" name="Connecteur droit 30"/>
            <p:cNvSpPr/>
            <p:nvPr/>
          </p:nvSpPr>
          <p:spPr>
            <a:xfrm rot="19869742">
              <a:off x="4558788" y="5182091"/>
              <a:ext cx="52144" cy="52144"/>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9525" tIns="0" rIns="9525" bIns="0" numCol="1" spcCol="1270" anchor="ctr" anchorCtr="0">
              <a:noAutofit/>
            </a:bodyPr>
            <a:lstStyle/>
            <a:p>
              <a:pPr algn="ctr" defTabSz="166688">
                <a:lnSpc>
                  <a:spcPct val="90000"/>
                </a:lnSpc>
                <a:spcBef>
                  <a:spcPct val="0"/>
                </a:spcBef>
                <a:spcAft>
                  <a:spcPct val="35000"/>
                </a:spcAft>
              </a:pPr>
              <a:endParaRPr lang="fr-CA" sz="375">
                <a:solidFill>
                  <a:prstClr val="black">
                    <a:hueOff val="0"/>
                    <a:satOff val="0"/>
                    <a:lumOff val="0"/>
                    <a:alphaOff val="0"/>
                  </a:prstClr>
                </a:solidFill>
              </a:endParaRPr>
            </a:p>
          </p:txBody>
        </p:sp>
      </p:grpSp>
      <p:grpSp>
        <p:nvGrpSpPr>
          <p:cNvPr id="31" name="Groupe 30"/>
          <p:cNvGrpSpPr/>
          <p:nvPr/>
        </p:nvGrpSpPr>
        <p:grpSpPr>
          <a:xfrm rot="1573830">
            <a:off x="6022603" y="3873634"/>
            <a:ext cx="760048" cy="38002"/>
            <a:chOff x="7640102" y="4917063"/>
            <a:chExt cx="1013397" cy="50669"/>
          </a:xfrm>
        </p:grpSpPr>
        <p:sp>
          <p:nvSpPr>
            <p:cNvPr id="38" name="Connecteur droit 31"/>
            <p:cNvSpPr/>
            <p:nvPr/>
          </p:nvSpPr>
          <p:spPr>
            <a:xfrm rot="21503243">
              <a:off x="7640102" y="4925649"/>
              <a:ext cx="1013397" cy="33497"/>
            </a:xfrm>
            <a:custGeom>
              <a:avLst/>
              <a:gdLst/>
              <a:ahLst/>
              <a:cxnLst/>
              <a:rect l="0" t="0" r="0" b="0"/>
              <a:pathLst>
                <a:path>
                  <a:moveTo>
                    <a:pt x="0" y="16748"/>
                  </a:moveTo>
                  <a:lnTo>
                    <a:pt x="1013397" y="16748"/>
                  </a:lnTo>
                </a:path>
              </a:pathLst>
            </a:custGeom>
            <a:noFill/>
          </p:spPr>
          <p:style>
            <a:lnRef idx="2">
              <a:schemeClr val="accent1">
                <a:shade val="8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fr-CA"/>
            </a:p>
          </p:txBody>
        </p:sp>
        <p:sp>
          <p:nvSpPr>
            <p:cNvPr id="39" name="Connecteur droit 32"/>
            <p:cNvSpPr/>
            <p:nvPr/>
          </p:nvSpPr>
          <p:spPr>
            <a:xfrm rot="21503243">
              <a:off x="8121466" y="4917063"/>
              <a:ext cx="50669" cy="50669"/>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9525" tIns="0" rIns="9525" bIns="0" numCol="1" spcCol="1270" anchor="ctr" anchorCtr="0">
              <a:noAutofit/>
            </a:bodyPr>
            <a:lstStyle/>
            <a:p>
              <a:pPr algn="ctr" defTabSz="166688">
                <a:lnSpc>
                  <a:spcPct val="90000"/>
                </a:lnSpc>
                <a:spcBef>
                  <a:spcPct val="0"/>
                </a:spcBef>
                <a:spcAft>
                  <a:spcPct val="35000"/>
                </a:spcAft>
              </a:pPr>
              <a:endParaRPr lang="fr-CA" sz="375">
                <a:solidFill>
                  <a:prstClr val="black">
                    <a:hueOff val="0"/>
                    <a:satOff val="0"/>
                    <a:lumOff val="0"/>
                    <a:alphaOff val="0"/>
                  </a:prstClr>
                </a:solidFill>
              </a:endParaRPr>
            </a:p>
          </p:txBody>
        </p:sp>
      </p:grpSp>
      <p:grpSp>
        <p:nvGrpSpPr>
          <p:cNvPr id="32" name="Groupe 31"/>
          <p:cNvGrpSpPr/>
          <p:nvPr/>
        </p:nvGrpSpPr>
        <p:grpSpPr>
          <a:xfrm>
            <a:off x="6752733" y="3330949"/>
            <a:ext cx="2332339" cy="922937"/>
            <a:chOff x="8710419" y="3798301"/>
            <a:chExt cx="3092933" cy="2262219"/>
          </a:xfrm>
        </p:grpSpPr>
        <p:sp>
          <p:nvSpPr>
            <p:cNvPr id="36" name="Rectangle à coins arrondis 35"/>
            <p:cNvSpPr/>
            <p:nvPr/>
          </p:nvSpPr>
          <p:spPr>
            <a:xfrm>
              <a:off x="8710419" y="3798301"/>
              <a:ext cx="3092933" cy="2262219"/>
            </a:xfrm>
            <a:prstGeom prst="roundRect">
              <a:avLst>
                <a:gd name="adj" fmla="val 10000"/>
              </a:avLst>
            </a:prstGeom>
            <a:solidFill>
              <a:schemeClr val="bg1"/>
            </a:solidFill>
            <a:ln w="28575">
              <a:solidFill>
                <a:schemeClr val="accent1"/>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fr-CA"/>
            </a:p>
          </p:txBody>
        </p:sp>
        <p:sp>
          <p:nvSpPr>
            <p:cNvPr id="37" name="Rectangle 36"/>
            <p:cNvSpPr/>
            <p:nvPr/>
          </p:nvSpPr>
          <p:spPr>
            <a:xfrm>
              <a:off x="8871903" y="3863287"/>
              <a:ext cx="2808071" cy="212970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049" tIns="9049" rIns="9049" bIns="9049" numCol="1" spcCol="1270" anchor="ctr" anchorCtr="0">
              <a:noAutofit/>
            </a:bodyPr>
            <a:lstStyle/>
            <a:p>
              <a:pPr algn="ctr" defTabSz="633413">
                <a:lnSpc>
                  <a:spcPct val="90000"/>
                </a:lnSpc>
                <a:spcBef>
                  <a:spcPct val="0"/>
                </a:spcBef>
                <a:spcAft>
                  <a:spcPct val="35000"/>
                </a:spcAft>
              </a:pPr>
              <a:r>
                <a:rPr lang="fr-CA" sz="1425" dirty="0">
                  <a:solidFill>
                    <a:schemeClr val="tx1"/>
                  </a:solidFill>
                  <a:latin typeface="Times New Roman" panose="02020603050405020304" pitchFamily="18" charset="0"/>
                  <a:cs typeface="Times New Roman" panose="02020603050405020304" pitchFamily="18" charset="0"/>
                </a:rPr>
                <a:t>Possibilité d’exprimer une opinion non modifiée avec un par. d’observation. </a:t>
              </a:r>
            </a:p>
            <a:p>
              <a:pPr algn="ctr" defTabSz="633413">
                <a:lnSpc>
                  <a:spcPct val="90000"/>
                </a:lnSpc>
                <a:spcBef>
                  <a:spcPct val="0"/>
                </a:spcBef>
                <a:spcAft>
                  <a:spcPct val="35000"/>
                </a:spcAft>
              </a:pPr>
              <a:r>
                <a:rPr lang="fr-CA" sz="1425" dirty="0">
                  <a:solidFill>
                    <a:schemeClr val="tx1"/>
                  </a:solidFill>
                  <a:latin typeface="Times New Roman" panose="02020603050405020304" pitchFamily="18" charset="0"/>
                  <a:cs typeface="Times New Roman" panose="02020603050405020304" pitchFamily="18" charset="0"/>
                </a:rPr>
                <a:t>(par. A27 + NCA 706)</a:t>
              </a:r>
            </a:p>
          </p:txBody>
        </p:sp>
      </p:grpSp>
      <p:grpSp>
        <p:nvGrpSpPr>
          <p:cNvPr id="33" name="Groupe 32"/>
          <p:cNvGrpSpPr/>
          <p:nvPr/>
        </p:nvGrpSpPr>
        <p:grpSpPr>
          <a:xfrm>
            <a:off x="3200313" y="4509070"/>
            <a:ext cx="797813" cy="39890"/>
            <a:chOff x="4074708" y="5665301"/>
            <a:chExt cx="1063751" cy="53187"/>
          </a:xfrm>
        </p:grpSpPr>
        <p:sp>
          <p:nvSpPr>
            <p:cNvPr id="34" name="Connecteur droit 35"/>
            <p:cNvSpPr/>
            <p:nvPr/>
          </p:nvSpPr>
          <p:spPr>
            <a:xfrm rot="1553290">
              <a:off x="4074708" y="5675146"/>
              <a:ext cx="1063751" cy="33497"/>
            </a:xfrm>
            <a:custGeom>
              <a:avLst/>
              <a:gdLst/>
              <a:ahLst/>
              <a:cxnLst/>
              <a:rect l="0" t="0" r="0" b="0"/>
              <a:pathLst>
                <a:path>
                  <a:moveTo>
                    <a:pt x="0" y="16748"/>
                  </a:moveTo>
                  <a:lnTo>
                    <a:pt x="1063751" y="16748"/>
                  </a:lnTo>
                </a:path>
              </a:pathLst>
            </a:custGeom>
            <a:noFill/>
          </p:spPr>
          <p:style>
            <a:lnRef idx="2">
              <a:schemeClr val="accent1">
                <a:shade val="8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fr-CA"/>
            </a:p>
          </p:txBody>
        </p:sp>
        <p:sp>
          <p:nvSpPr>
            <p:cNvPr id="35" name="Connecteur droit 36"/>
            <p:cNvSpPr/>
            <p:nvPr/>
          </p:nvSpPr>
          <p:spPr>
            <a:xfrm rot="1553290">
              <a:off x="4579990" y="5665301"/>
              <a:ext cx="53187" cy="53187"/>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9525" tIns="0" rIns="9525" bIns="0" numCol="1" spcCol="1270" anchor="ctr" anchorCtr="0">
              <a:noAutofit/>
            </a:bodyPr>
            <a:lstStyle/>
            <a:p>
              <a:pPr algn="ctr" defTabSz="166688">
                <a:lnSpc>
                  <a:spcPct val="90000"/>
                </a:lnSpc>
                <a:spcBef>
                  <a:spcPct val="0"/>
                </a:spcBef>
                <a:spcAft>
                  <a:spcPct val="35000"/>
                </a:spcAft>
              </a:pPr>
              <a:endParaRPr lang="fr-CA" sz="375">
                <a:solidFill>
                  <a:prstClr val="black">
                    <a:hueOff val="0"/>
                    <a:satOff val="0"/>
                    <a:lumOff val="0"/>
                    <a:alphaOff val="0"/>
                  </a:prstClr>
                </a:solidFill>
              </a:endParaRPr>
            </a:p>
          </p:txBody>
        </p:sp>
      </p:grpSp>
      <p:grpSp>
        <p:nvGrpSpPr>
          <p:cNvPr id="68" name="Groupe 67"/>
          <p:cNvGrpSpPr/>
          <p:nvPr/>
        </p:nvGrpSpPr>
        <p:grpSpPr>
          <a:xfrm>
            <a:off x="3899486" y="2814254"/>
            <a:ext cx="2317439" cy="1071407"/>
            <a:chOff x="5041637" y="4640724"/>
            <a:chExt cx="2598665" cy="690665"/>
          </a:xfrm>
        </p:grpSpPr>
        <p:sp>
          <p:nvSpPr>
            <p:cNvPr id="72" name="Rectangle à coins arrondis 71"/>
            <p:cNvSpPr/>
            <p:nvPr/>
          </p:nvSpPr>
          <p:spPr>
            <a:xfrm>
              <a:off x="5041637" y="4757528"/>
              <a:ext cx="2598665" cy="573861"/>
            </a:xfrm>
            <a:prstGeom prst="roundRect">
              <a:avLst>
                <a:gd name="adj" fmla="val 10000"/>
              </a:avLst>
            </a:prstGeom>
            <a:solidFill>
              <a:schemeClr val="bg1"/>
            </a:solidFill>
            <a:ln w="28575">
              <a:solidFill>
                <a:schemeClr val="accent1"/>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fr-CA"/>
            </a:p>
          </p:txBody>
        </p:sp>
        <p:sp>
          <p:nvSpPr>
            <p:cNvPr id="73" name="Rectangle 72"/>
            <p:cNvSpPr/>
            <p:nvPr/>
          </p:nvSpPr>
          <p:spPr>
            <a:xfrm>
              <a:off x="5063588" y="4640724"/>
              <a:ext cx="2554763" cy="668714"/>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 tIns="9525" rIns="9525" bIns="9525" numCol="1" spcCol="1270" anchor="ctr" anchorCtr="0">
              <a:noAutofit/>
            </a:bodyPr>
            <a:lstStyle/>
            <a:p>
              <a:pPr algn="ctr" defTabSz="666750">
                <a:lnSpc>
                  <a:spcPct val="90000"/>
                </a:lnSpc>
                <a:spcBef>
                  <a:spcPct val="0"/>
                </a:spcBef>
                <a:spcAft>
                  <a:spcPct val="35000"/>
                </a:spcAft>
              </a:pPr>
              <a:endParaRPr lang="fr-CA" sz="1500" dirty="0">
                <a:solidFill>
                  <a:schemeClr val="tx1"/>
                </a:solidFill>
                <a:latin typeface="Times New Roman" panose="02020603050405020304" pitchFamily="18" charset="0"/>
                <a:cs typeface="Times New Roman" panose="02020603050405020304" pitchFamily="18" charset="0"/>
              </a:endParaRPr>
            </a:p>
            <a:p>
              <a:pPr algn="ctr" defTabSz="666750">
                <a:lnSpc>
                  <a:spcPct val="90000"/>
                </a:lnSpc>
                <a:spcBef>
                  <a:spcPct val="0"/>
                </a:spcBef>
                <a:spcAft>
                  <a:spcPts val="300"/>
                </a:spcAft>
              </a:pPr>
              <a:r>
                <a:rPr lang="fr-CA" sz="1500" dirty="0">
                  <a:solidFill>
                    <a:schemeClr val="tx1"/>
                  </a:solidFill>
                  <a:latin typeface="Times New Roman" panose="02020603050405020304" pitchFamily="18" charset="0"/>
                  <a:cs typeface="Times New Roman" panose="02020603050405020304" pitchFamily="18" charset="0"/>
                </a:rPr>
                <a:t>Est-ce que l’autre base est appropriée?</a:t>
              </a:r>
            </a:p>
            <a:p>
              <a:pPr algn="ctr" defTabSz="666750">
                <a:lnSpc>
                  <a:spcPct val="90000"/>
                </a:lnSpc>
                <a:spcBef>
                  <a:spcPct val="0"/>
                </a:spcBef>
                <a:spcAft>
                  <a:spcPts val="150"/>
                </a:spcAft>
              </a:pPr>
              <a:r>
                <a:rPr lang="fr-CA" sz="1200" dirty="0">
                  <a:solidFill>
                    <a:schemeClr val="tx1"/>
                  </a:solidFill>
                  <a:latin typeface="Times New Roman" panose="02020603050405020304" pitchFamily="18" charset="0"/>
                  <a:cs typeface="Times New Roman" panose="02020603050405020304" pitchFamily="18" charset="0"/>
                </a:rPr>
                <a:t>(ex. valeur liquidative)</a:t>
              </a:r>
            </a:p>
            <a:p>
              <a:pPr algn="ctr" defTabSz="666750">
                <a:lnSpc>
                  <a:spcPct val="90000"/>
                </a:lnSpc>
                <a:spcBef>
                  <a:spcPct val="0"/>
                </a:spcBef>
                <a:spcAft>
                  <a:spcPts val="150"/>
                </a:spcAft>
              </a:pPr>
              <a:r>
                <a:rPr lang="fr-CA" sz="1200" dirty="0">
                  <a:solidFill>
                    <a:schemeClr val="tx1"/>
                  </a:solidFill>
                  <a:latin typeface="Times New Roman" panose="02020603050405020304" pitchFamily="18" charset="0"/>
                  <a:cs typeface="Times New Roman" panose="02020603050405020304" pitchFamily="18" charset="0"/>
                </a:rPr>
                <a:t>(A27)</a:t>
              </a:r>
            </a:p>
          </p:txBody>
        </p:sp>
      </p:grpSp>
      <p:grpSp>
        <p:nvGrpSpPr>
          <p:cNvPr id="69" name="Groupe 68"/>
          <p:cNvGrpSpPr/>
          <p:nvPr/>
        </p:nvGrpSpPr>
        <p:grpSpPr>
          <a:xfrm>
            <a:off x="3963579" y="4128835"/>
            <a:ext cx="2640071" cy="951878"/>
            <a:chOff x="5085085" y="5525314"/>
            <a:chExt cx="3046470" cy="797612"/>
          </a:xfrm>
        </p:grpSpPr>
        <p:sp>
          <p:nvSpPr>
            <p:cNvPr id="70" name="Rectangle à coins arrondis 69"/>
            <p:cNvSpPr/>
            <p:nvPr/>
          </p:nvSpPr>
          <p:spPr>
            <a:xfrm>
              <a:off x="5085085" y="5525314"/>
              <a:ext cx="3046470" cy="797612"/>
            </a:xfrm>
            <a:prstGeom prst="roundRect">
              <a:avLst>
                <a:gd name="adj" fmla="val 10000"/>
              </a:avLst>
            </a:prstGeom>
            <a:solidFill>
              <a:schemeClr val="bg1"/>
            </a:solidFill>
            <a:ln w="28575">
              <a:solidFill>
                <a:schemeClr val="accent1"/>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fr-CA"/>
            </a:p>
          </p:txBody>
        </p:sp>
        <p:sp>
          <p:nvSpPr>
            <p:cNvPr id="71" name="Rectangle 70"/>
            <p:cNvSpPr/>
            <p:nvPr/>
          </p:nvSpPr>
          <p:spPr>
            <a:xfrm>
              <a:off x="5108446" y="5556368"/>
              <a:ext cx="2999748" cy="74319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 tIns="9525" rIns="9525" bIns="9525" numCol="1" spcCol="1270" anchor="ctr" anchorCtr="0">
              <a:noAutofit/>
            </a:bodyPr>
            <a:lstStyle/>
            <a:p>
              <a:pPr algn="ctr" defTabSz="666750">
                <a:lnSpc>
                  <a:spcPct val="90000"/>
                </a:lnSpc>
                <a:spcBef>
                  <a:spcPct val="0"/>
                </a:spcBef>
                <a:spcAft>
                  <a:spcPct val="35000"/>
                </a:spcAft>
              </a:pPr>
              <a:r>
                <a:rPr lang="fr-CA" sz="1350" b="1" dirty="0">
                  <a:solidFill>
                    <a:schemeClr val="tx1"/>
                  </a:solidFill>
                  <a:latin typeface="Times New Roman" panose="02020603050405020304" pitchFamily="18" charset="0"/>
                  <a:cs typeface="Times New Roman" panose="02020603050405020304" pitchFamily="18" charset="0"/>
                </a:rPr>
                <a:t>OPINION DÉFAVORABLE</a:t>
              </a:r>
              <a:r>
                <a:rPr lang="fr-CA" sz="1350" dirty="0">
                  <a:solidFill>
                    <a:schemeClr val="tx1"/>
                  </a:solidFill>
                  <a:latin typeface="Times New Roman" panose="02020603050405020304" pitchFamily="18" charset="0"/>
                  <a:cs typeface="Times New Roman" panose="02020603050405020304" pitchFamily="18" charset="0"/>
                </a:rPr>
                <a:t>, même si informations adéquates fournies aux </a:t>
              </a:r>
              <a:r>
                <a:rPr lang="fr-CA" sz="1350" dirty="0" err="1">
                  <a:solidFill>
                    <a:schemeClr val="tx1"/>
                  </a:solidFill>
                  <a:latin typeface="Times New Roman" panose="02020603050405020304" pitchFamily="18" charset="0"/>
                  <a:cs typeface="Times New Roman" panose="02020603050405020304" pitchFamily="18" charset="0"/>
                </a:rPr>
                <a:t>ÉFs</a:t>
              </a:r>
              <a:r>
                <a:rPr lang="fr-CA" sz="1350" dirty="0">
                  <a:solidFill>
                    <a:schemeClr val="tx1"/>
                  </a:solidFill>
                  <a:latin typeface="Times New Roman" panose="02020603050405020304" pitchFamily="18" charset="0"/>
                  <a:cs typeface="Times New Roman" panose="02020603050405020304" pitchFamily="18" charset="0"/>
                </a:rPr>
                <a:t> quant à l’HCE. </a:t>
              </a:r>
            </a:p>
            <a:p>
              <a:pPr algn="ctr" defTabSz="666750">
                <a:lnSpc>
                  <a:spcPct val="90000"/>
                </a:lnSpc>
                <a:spcBef>
                  <a:spcPct val="0"/>
                </a:spcBef>
                <a:spcAft>
                  <a:spcPct val="35000"/>
                </a:spcAft>
              </a:pPr>
              <a:r>
                <a:rPr lang="fr-CA" sz="1200" dirty="0">
                  <a:solidFill>
                    <a:schemeClr val="tx1"/>
                  </a:solidFill>
                  <a:latin typeface="Times New Roman" panose="02020603050405020304" pitchFamily="18" charset="0"/>
                  <a:cs typeface="Times New Roman" panose="02020603050405020304" pitchFamily="18" charset="0"/>
                </a:rPr>
                <a:t>(21, A26)</a:t>
              </a:r>
            </a:p>
          </p:txBody>
        </p:sp>
      </p:grpSp>
      <p:sp>
        <p:nvSpPr>
          <p:cNvPr id="7" name="Ellipse 6"/>
          <p:cNvSpPr/>
          <p:nvPr/>
        </p:nvSpPr>
        <p:spPr>
          <a:xfrm>
            <a:off x="1104459" y="1170116"/>
            <a:ext cx="839338" cy="327546"/>
          </a:xfrm>
          <a:prstGeom prst="ellipse">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b="1" dirty="0">
                <a:solidFill>
                  <a:prstClr val="black"/>
                </a:solidFill>
              </a:rPr>
              <a:t>Oui</a:t>
            </a:r>
            <a:endParaRPr lang="fr-CA" sz="1350" b="1" dirty="0">
              <a:solidFill>
                <a:prstClr val="black"/>
              </a:solidFill>
            </a:endParaRPr>
          </a:p>
        </p:txBody>
      </p:sp>
      <p:sp>
        <p:nvSpPr>
          <p:cNvPr id="8" name="Ellipse 7"/>
          <p:cNvSpPr/>
          <p:nvPr/>
        </p:nvSpPr>
        <p:spPr>
          <a:xfrm>
            <a:off x="3865004" y="1909547"/>
            <a:ext cx="839338" cy="327546"/>
          </a:xfrm>
          <a:prstGeom prst="ellipse">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b="1" dirty="0">
                <a:solidFill>
                  <a:prstClr val="black"/>
                </a:solidFill>
              </a:rPr>
              <a:t>Oui</a:t>
            </a:r>
            <a:endParaRPr lang="fr-CA" sz="1350" b="1" dirty="0">
              <a:solidFill>
                <a:prstClr val="black"/>
              </a:solidFill>
            </a:endParaRPr>
          </a:p>
        </p:txBody>
      </p:sp>
      <p:sp>
        <p:nvSpPr>
          <p:cNvPr id="9" name="Ellipse 8"/>
          <p:cNvSpPr/>
          <p:nvPr/>
        </p:nvSpPr>
        <p:spPr>
          <a:xfrm>
            <a:off x="6280605" y="2465605"/>
            <a:ext cx="839338" cy="327546"/>
          </a:xfrm>
          <a:prstGeom prst="ellipse">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b="1" dirty="0">
                <a:solidFill>
                  <a:prstClr val="black"/>
                </a:solidFill>
              </a:rPr>
              <a:t>Oui</a:t>
            </a:r>
            <a:endParaRPr lang="fr-CA" sz="1350" b="1" dirty="0">
              <a:solidFill>
                <a:prstClr val="black"/>
              </a:solidFill>
            </a:endParaRPr>
          </a:p>
        </p:txBody>
      </p:sp>
      <p:sp>
        <p:nvSpPr>
          <p:cNvPr id="10" name="Ellipse 9"/>
          <p:cNvSpPr/>
          <p:nvPr/>
        </p:nvSpPr>
        <p:spPr>
          <a:xfrm>
            <a:off x="3420374" y="4677704"/>
            <a:ext cx="839338" cy="327546"/>
          </a:xfrm>
          <a:prstGeom prst="ellipse">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b="1" dirty="0">
                <a:solidFill>
                  <a:prstClr val="black"/>
                </a:solidFill>
              </a:rPr>
              <a:t>Oui</a:t>
            </a:r>
            <a:endParaRPr lang="fr-CA" sz="1350" b="1" dirty="0">
              <a:solidFill>
                <a:prstClr val="black"/>
              </a:solidFill>
            </a:endParaRPr>
          </a:p>
        </p:txBody>
      </p:sp>
      <p:sp>
        <p:nvSpPr>
          <p:cNvPr id="11" name="Ellipse 10"/>
          <p:cNvSpPr/>
          <p:nvPr/>
        </p:nvSpPr>
        <p:spPr>
          <a:xfrm>
            <a:off x="1000601" y="3425441"/>
            <a:ext cx="943196" cy="327546"/>
          </a:xfrm>
          <a:prstGeom prst="ellipse">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b="1" dirty="0">
                <a:solidFill>
                  <a:srgbClr val="FF0000"/>
                </a:solidFill>
              </a:rPr>
              <a:t>Non</a:t>
            </a:r>
            <a:endParaRPr lang="fr-CA" sz="1350" b="1" dirty="0">
              <a:solidFill>
                <a:srgbClr val="FF0000"/>
              </a:solidFill>
            </a:endParaRPr>
          </a:p>
        </p:txBody>
      </p:sp>
      <p:sp>
        <p:nvSpPr>
          <p:cNvPr id="12" name="Ellipse 11"/>
          <p:cNvSpPr/>
          <p:nvPr/>
        </p:nvSpPr>
        <p:spPr>
          <a:xfrm>
            <a:off x="3241807" y="3371138"/>
            <a:ext cx="890822" cy="327546"/>
          </a:xfrm>
          <a:prstGeom prst="ellipse">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b="1" dirty="0">
                <a:solidFill>
                  <a:srgbClr val="FF0000"/>
                </a:solidFill>
              </a:rPr>
              <a:t>Non</a:t>
            </a:r>
            <a:endParaRPr lang="fr-CA" sz="1350" b="1" dirty="0">
              <a:solidFill>
                <a:srgbClr val="FF0000"/>
              </a:solidFill>
            </a:endParaRPr>
          </a:p>
        </p:txBody>
      </p:sp>
      <p:sp>
        <p:nvSpPr>
          <p:cNvPr id="13" name="Ellipse 12"/>
          <p:cNvSpPr/>
          <p:nvPr/>
        </p:nvSpPr>
        <p:spPr>
          <a:xfrm>
            <a:off x="3566744" y="256311"/>
            <a:ext cx="834160" cy="327546"/>
          </a:xfrm>
          <a:prstGeom prst="ellipse">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sz="1500" b="1" dirty="0">
                <a:solidFill>
                  <a:srgbClr val="FF0000"/>
                </a:solidFill>
              </a:rPr>
              <a:t>Non</a:t>
            </a:r>
            <a:endParaRPr lang="fr-CA" sz="1350" b="1" dirty="0">
              <a:solidFill>
                <a:srgbClr val="FF0000"/>
              </a:solidFill>
            </a:endParaRPr>
          </a:p>
        </p:txBody>
      </p:sp>
      <p:sp>
        <p:nvSpPr>
          <p:cNvPr id="14" name="Ellipse 13"/>
          <p:cNvSpPr/>
          <p:nvPr/>
        </p:nvSpPr>
        <p:spPr>
          <a:xfrm>
            <a:off x="6246565" y="1403602"/>
            <a:ext cx="733821" cy="327546"/>
          </a:xfrm>
          <a:prstGeom prst="ellipse">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sz="1350" b="1" dirty="0">
                <a:solidFill>
                  <a:srgbClr val="FF0000"/>
                </a:solidFill>
              </a:rPr>
              <a:t>Non</a:t>
            </a:r>
          </a:p>
        </p:txBody>
      </p:sp>
      <p:sp>
        <p:nvSpPr>
          <p:cNvPr id="15" name="Ellipse 14"/>
          <p:cNvSpPr/>
          <p:nvPr/>
        </p:nvSpPr>
        <p:spPr>
          <a:xfrm>
            <a:off x="5807044" y="3643517"/>
            <a:ext cx="839338" cy="327546"/>
          </a:xfrm>
          <a:prstGeom prst="ellipse">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b="1" dirty="0">
                <a:solidFill>
                  <a:prstClr val="black"/>
                </a:solidFill>
              </a:rPr>
              <a:t>Oui</a:t>
            </a:r>
            <a:endParaRPr lang="fr-CA" sz="1350" b="1" dirty="0">
              <a:solidFill>
                <a:prstClr val="black"/>
              </a:solidFill>
            </a:endParaRPr>
          </a:p>
        </p:txBody>
      </p:sp>
      <p:sp>
        <p:nvSpPr>
          <p:cNvPr id="2" name="Espace réservé du numéro de diapositive 1">
            <a:extLst>
              <a:ext uri="{FF2B5EF4-FFF2-40B4-BE49-F238E27FC236}">
                <a16:creationId xmlns:a16="http://schemas.microsoft.com/office/drawing/2014/main" id="{3AAA55B0-2C9A-994C-9344-EC132CE9E4B2}"/>
              </a:ext>
            </a:extLst>
          </p:cNvPr>
          <p:cNvSpPr>
            <a:spLocks noGrp="1"/>
          </p:cNvSpPr>
          <p:nvPr>
            <p:ph type="sldNum" sz="quarter" idx="12"/>
          </p:nvPr>
        </p:nvSpPr>
        <p:spPr>
          <a:xfrm>
            <a:off x="10934400" y="6461995"/>
            <a:ext cx="619200" cy="164160"/>
          </a:xfrm>
          <a:prstGeom prst="rect">
            <a:avLst/>
          </a:prstGeom>
        </p:spPr>
        <p:txBody>
          <a:bodyPr vert="horz" lIns="91440" tIns="45720" rIns="91440" bIns="45720" rtlCol="0" anchor="ctr"/>
          <a:lstStyle>
            <a:defPPr>
              <a:defRPr lang="en-US"/>
            </a:defPPr>
            <a:lvl1pPr marL="0" algn="r" defTabSz="457200" rtl="0" eaLnBrk="1" latinLnBrk="0" hangingPunct="1">
              <a:defRPr sz="804"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02111984F565}" type="slidenum">
              <a:rPr lang="en-US" smtClean="0"/>
              <a:pPr/>
              <a:t>51</a:t>
            </a:fld>
            <a:endParaRPr lang="en-US" dirty="0"/>
          </a:p>
        </p:txBody>
      </p:sp>
      <p:sp>
        <p:nvSpPr>
          <p:cNvPr id="74" name="Espace réservé du numéro de diapositive 4">
            <a:extLst>
              <a:ext uri="{FF2B5EF4-FFF2-40B4-BE49-F238E27FC236}">
                <a16:creationId xmlns:a16="http://schemas.microsoft.com/office/drawing/2014/main" id="{5E7D69F8-6A1B-8F4D-B598-7BF297197894}"/>
              </a:ext>
            </a:extLst>
          </p:cNvPr>
          <p:cNvSpPr txBox="1">
            <a:spLocks/>
          </p:cNvSpPr>
          <p:nvPr/>
        </p:nvSpPr>
        <p:spPr>
          <a:xfrm>
            <a:off x="8545786" y="4650963"/>
            <a:ext cx="413375" cy="273844"/>
          </a:xfr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B5DEC05-AB38-4F58-9609-FFF4AA167839}" type="slidenum">
              <a:rPr lang="fr-CA" sz="1050" smtClean="0"/>
              <a:pPr/>
              <a:t>51</a:t>
            </a:fld>
            <a:endParaRPr lang="fr-CA" sz="1050" dirty="0"/>
          </a:p>
        </p:txBody>
      </p:sp>
      <p:sp>
        <p:nvSpPr>
          <p:cNvPr id="75" name="ZoneTexte 74">
            <a:extLst>
              <a:ext uri="{FF2B5EF4-FFF2-40B4-BE49-F238E27FC236}">
                <a16:creationId xmlns:a16="http://schemas.microsoft.com/office/drawing/2014/main" id="{137B831F-4285-984C-9B04-0440D747EB17}"/>
              </a:ext>
            </a:extLst>
          </p:cNvPr>
          <p:cNvSpPr txBox="1"/>
          <p:nvPr/>
        </p:nvSpPr>
        <p:spPr>
          <a:xfrm>
            <a:off x="6945724" y="4841477"/>
            <a:ext cx="1946355" cy="273845"/>
          </a:xfrm>
          <a:prstGeom prst="rect">
            <a:avLst/>
          </a:prstGeom>
        </p:spPr>
        <p:txBody>
          <a:bodyPr vert="horz" wrap="square" lIns="91440" tIns="45720" rIns="91440" bIns="45720" rtlCol="0">
            <a:normAutofit fontScale="92500"/>
          </a:bodyPr>
          <a:lstStyle/>
          <a:p>
            <a:pPr>
              <a:buClr>
                <a:schemeClr val="accent2"/>
              </a:buClr>
              <a:buSzPct val="125000"/>
            </a:pPr>
            <a:r>
              <a:rPr lang="fr-CA" sz="900" dirty="0"/>
              <a:t>Par Simon Dermarkar– HEC Montréal</a:t>
            </a:r>
          </a:p>
        </p:txBody>
      </p:sp>
    </p:spTree>
    <p:extLst>
      <p:ext uri="{BB962C8B-B14F-4D97-AF65-F5344CB8AC3E}">
        <p14:creationId xmlns:p14="http://schemas.microsoft.com/office/powerpoint/2010/main" val="32039245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6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7"/>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9"/>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2"/>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8"/>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23"/>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24"/>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4"/>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25"/>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26"/>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9"/>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27"/>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20"/>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21"/>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C0889EC-146B-0F45-9AEA-2F4875CEBAA8}"/>
              </a:ext>
            </a:extLst>
          </p:cNvPr>
          <p:cNvSpPr>
            <a:spLocks noGrp="1"/>
          </p:cNvSpPr>
          <p:nvPr>
            <p:ph type="title"/>
          </p:nvPr>
        </p:nvSpPr>
        <p:spPr/>
        <p:txBody>
          <a:bodyPr/>
          <a:lstStyle/>
          <a:p>
            <a:r>
              <a:rPr lang="fr-CA" sz="2400" dirty="0"/>
              <a:t>Continuité de l’exploitation</a:t>
            </a:r>
            <a:endParaRPr lang="fr-CA" dirty="0"/>
          </a:p>
        </p:txBody>
      </p:sp>
      <p:sp>
        <p:nvSpPr>
          <p:cNvPr id="3" name="Espace réservé du contenu 2">
            <a:extLst>
              <a:ext uri="{FF2B5EF4-FFF2-40B4-BE49-F238E27FC236}">
                <a16:creationId xmlns:a16="http://schemas.microsoft.com/office/drawing/2014/main" id="{CF0F5772-6789-324F-B347-872A4700BB36}"/>
              </a:ext>
            </a:extLst>
          </p:cNvPr>
          <p:cNvSpPr>
            <a:spLocks noGrp="1"/>
          </p:cNvSpPr>
          <p:nvPr>
            <p:ph idx="1"/>
          </p:nvPr>
        </p:nvSpPr>
        <p:spPr>
          <a:xfrm>
            <a:off x="478800" y="1103086"/>
            <a:ext cx="8186400" cy="3704657"/>
          </a:xfrm>
        </p:spPr>
        <p:txBody>
          <a:bodyPr>
            <a:normAutofit fontScale="92500" lnSpcReduction="10000"/>
          </a:bodyPr>
          <a:lstStyle/>
          <a:p>
            <a:pPr marL="285750" indent="-285750">
              <a:buClr>
                <a:schemeClr val="tx1"/>
              </a:buClr>
              <a:buFont typeface="Arial" panose="020B0604020202020204" pitchFamily="34" charset="0"/>
              <a:buChar char="•"/>
            </a:pPr>
            <a:r>
              <a:rPr lang="fr-CA" dirty="0"/>
              <a:t>BC ne respecte pas les clauses restrictives.</a:t>
            </a:r>
          </a:p>
          <a:p>
            <a:pPr marL="285750" indent="-285750">
              <a:buClr>
                <a:schemeClr val="tx1"/>
              </a:buClr>
              <a:buFont typeface="Arial" panose="020B0604020202020204" pitchFamily="34" charset="0"/>
              <a:buChar char="•"/>
            </a:pPr>
            <a:r>
              <a:rPr lang="fr-CA" dirty="0"/>
              <a:t>La banque pourrait rappeler son prêt.</a:t>
            </a:r>
          </a:p>
          <a:p>
            <a:pPr marL="285750" indent="-285750">
              <a:buClr>
                <a:schemeClr val="tx1"/>
              </a:buClr>
              <a:buFont typeface="Arial" panose="020B0604020202020204" pitchFamily="34" charset="0"/>
              <a:buChar char="•"/>
            </a:pPr>
            <a:r>
              <a:rPr lang="fr-CA" dirty="0"/>
              <a:t>Communiquer avec la banque pour connaître ses intentions.</a:t>
            </a:r>
          </a:p>
          <a:p>
            <a:pPr marL="285750" indent="-285750">
              <a:buClr>
                <a:schemeClr val="tx1"/>
              </a:buClr>
              <a:buFont typeface="Arial" panose="020B0604020202020204" pitchFamily="34" charset="0"/>
              <a:buChar char="•"/>
            </a:pPr>
            <a:r>
              <a:rPr lang="fr-CA" dirty="0"/>
              <a:t>Est-ce que BC pourra demeurer rentable dans l’avenir ? </a:t>
            </a:r>
            <a:r>
              <a:rPr lang="fr-CA" dirty="0">
                <a:latin typeface="Arial" panose="020B0604020202020204" pitchFamily="34" charset="0"/>
              </a:rPr>
              <a:t>R</a:t>
            </a:r>
            <a:r>
              <a:rPr lang="fr-CA" dirty="0">
                <a:effectLst/>
                <a:latin typeface="Arial" panose="020B0604020202020204" pitchFamily="34" charset="0"/>
              </a:rPr>
              <a:t>evoir l’évaluation qu’a faite la direction de sa capacité à poursuivre son exploitation.</a:t>
            </a:r>
          </a:p>
          <a:p>
            <a:pPr marL="285750" indent="-285750">
              <a:buClr>
                <a:schemeClr val="tx1"/>
              </a:buClr>
              <a:buFont typeface="Arial" panose="020B0604020202020204" pitchFamily="34" charset="0"/>
              <a:buChar char="•"/>
            </a:pPr>
            <a:r>
              <a:rPr lang="fr-CA" dirty="0"/>
              <a:t>Conclusion:</a:t>
            </a:r>
            <a:endParaRPr lang="fr-CA" dirty="0">
              <a:effectLst/>
            </a:endParaRPr>
          </a:p>
          <a:p>
            <a:pPr marL="693990" lvl="1" indent="-285750"/>
            <a:r>
              <a:rPr lang="fr-CA" u="sng" dirty="0">
                <a:effectLst/>
              </a:rPr>
              <a:t>Si une note sur la continuité d’exploitation était requise</a:t>
            </a:r>
            <a:r>
              <a:rPr lang="fr-CA" dirty="0">
                <a:effectLst/>
              </a:rPr>
              <a:t> et qu’elle était rajoutée par la direction avec des informations adéquates fournies dans les </a:t>
            </a:r>
            <a:r>
              <a:rPr lang="fr-CA" dirty="0" err="1">
                <a:effectLst/>
              </a:rPr>
              <a:t>ÉFs</a:t>
            </a:r>
            <a:r>
              <a:rPr lang="fr-CA" dirty="0">
                <a:effectLst/>
              </a:rPr>
              <a:t>, nous pourrions exprimer </a:t>
            </a:r>
            <a:r>
              <a:rPr lang="fr-CA" u="sng" dirty="0">
                <a:effectLst/>
              </a:rPr>
              <a:t>une opinion non modifiée (en lien avec cet élément) et ajouter dans notre rapport une section distincte</a:t>
            </a:r>
            <a:r>
              <a:rPr lang="fr-CA" dirty="0">
                <a:effectLst/>
              </a:rPr>
              <a:t> intitulée « Incertitude significative liée à la continuité d’exploitation ».</a:t>
            </a:r>
          </a:p>
          <a:p>
            <a:pPr marL="693990" lvl="1" indent="-285750"/>
            <a:r>
              <a:rPr lang="fr-CA" u="sng" dirty="0">
                <a:effectLst/>
              </a:rPr>
              <a:t>Si nous concluons que le principe comptable de continuité d’exploitation n’est pas approprié et si la direction refuse de préparer les </a:t>
            </a:r>
            <a:r>
              <a:rPr lang="fr-CA" u="sng" dirty="0" err="1">
                <a:effectLst/>
              </a:rPr>
              <a:t>ÉFs</a:t>
            </a:r>
            <a:r>
              <a:rPr lang="fr-CA" u="sng" dirty="0">
                <a:effectLst/>
              </a:rPr>
              <a:t> sur une autre base</a:t>
            </a:r>
            <a:r>
              <a:rPr lang="fr-CA" dirty="0">
                <a:effectLst/>
              </a:rPr>
              <a:t>, nous devrons exprimer </a:t>
            </a:r>
            <a:r>
              <a:rPr lang="fr-CA" u="sng" dirty="0">
                <a:effectLst/>
              </a:rPr>
              <a:t>une opinion défavorable</a:t>
            </a:r>
            <a:r>
              <a:rPr lang="fr-CA" dirty="0">
                <a:effectLst/>
              </a:rPr>
              <a:t>. Dans la section Fondement de l’opinion de son rapport, il sera indiqué qu’il existe une incertitude significative susceptible de jeter un doute important sur la capacité de l’entité à poursuivre son exploitation et que cette situation n’a pas été communiquée adéquatement dans les </a:t>
            </a:r>
            <a:r>
              <a:rPr lang="fr-CA" dirty="0" err="1">
                <a:effectLst/>
              </a:rPr>
              <a:t>ÉFs</a:t>
            </a:r>
            <a:r>
              <a:rPr lang="fr-CA" dirty="0">
                <a:effectLst/>
              </a:rPr>
              <a:t> (</a:t>
            </a:r>
            <a:r>
              <a:rPr lang="fr-CA" u="sng" dirty="0">
                <a:effectLst/>
              </a:rPr>
              <a:t>situation improbable</a:t>
            </a:r>
            <a:r>
              <a:rPr lang="fr-CA" dirty="0">
                <a:effectLst/>
              </a:rPr>
              <a:t>).</a:t>
            </a:r>
            <a:endParaRPr lang="fr-CA" dirty="0"/>
          </a:p>
          <a:p>
            <a:pPr marL="285750" indent="-285750">
              <a:buFont typeface="Arial" panose="020B0604020202020204" pitchFamily="34" charset="0"/>
              <a:buChar char="•"/>
            </a:pPr>
            <a:endParaRPr lang="fr-CA" dirty="0"/>
          </a:p>
        </p:txBody>
      </p:sp>
      <p:sp>
        <p:nvSpPr>
          <p:cNvPr id="4" name="Espace réservé du numéro de diapositive 4">
            <a:extLst>
              <a:ext uri="{FF2B5EF4-FFF2-40B4-BE49-F238E27FC236}">
                <a16:creationId xmlns:a16="http://schemas.microsoft.com/office/drawing/2014/main" id="{19BEE053-9D52-434A-A1AE-A38E88245268}"/>
              </a:ext>
            </a:extLst>
          </p:cNvPr>
          <p:cNvSpPr txBox="1">
            <a:spLocks/>
          </p:cNvSpPr>
          <p:nvPr/>
        </p:nvSpPr>
        <p:spPr>
          <a:xfrm>
            <a:off x="8545786" y="4650963"/>
            <a:ext cx="413375" cy="273844"/>
          </a:xfr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B5DEC05-AB38-4F58-9609-FFF4AA167839}" type="slidenum">
              <a:rPr lang="fr-CA" sz="1050" smtClean="0"/>
              <a:pPr/>
              <a:t>52</a:t>
            </a:fld>
            <a:endParaRPr lang="fr-CA" sz="1050" dirty="0"/>
          </a:p>
        </p:txBody>
      </p:sp>
      <p:sp>
        <p:nvSpPr>
          <p:cNvPr id="5" name="ZoneTexte 4">
            <a:extLst>
              <a:ext uri="{FF2B5EF4-FFF2-40B4-BE49-F238E27FC236}">
                <a16:creationId xmlns:a16="http://schemas.microsoft.com/office/drawing/2014/main" id="{B62E8F94-1621-EF4F-ABEE-AF6758C41B2E}"/>
              </a:ext>
            </a:extLst>
          </p:cNvPr>
          <p:cNvSpPr txBox="1"/>
          <p:nvPr/>
        </p:nvSpPr>
        <p:spPr>
          <a:xfrm>
            <a:off x="3034454" y="4924807"/>
            <a:ext cx="2015848" cy="273845"/>
          </a:xfrm>
          <a:prstGeom prst="rect">
            <a:avLst/>
          </a:prstGeom>
        </p:spPr>
        <p:txBody>
          <a:bodyPr vert="horz" wrap="square" lIns="91440" tIns="45720" rIns="91440" bIns="45720" rtlCol="0">
            <a:normAutofit fontScale="92500"/>
          </a:bodyPr>
          <a:lstStyle/>
          <a:p>
            <a:pPr>
              <a:buClr>
                <a:schemeClr val="accent2"/>
              </a:buClr>
              <a:buSzPct val="125000"/>
            </a:pPr>
            <a:r>
              <a:rPr lang="fr-CA" sz="900" dirty="0"/>
              <a:t>Par Laurence Daoust – HEC Montréal</a:t>
            </a:r>
          </a:p>
        </p:txBody>
      </p:sp>
    </p:spTree>
    <p:extLst>
      <p:ext uri="{BB962C8B-B14F-4D97-AF65-F5344CB8AC3E}">
        <p14:creationId xmlns:p14="http://schemas.microsoft.com/office/powerpoint/2010/main" val="193920131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texte 5"/>
          <p:cNvSpPr>
            <a:spLocks noGrp="1"/>
          </p:cNvSpPr>
          <p:nvPr>
            <p:ph type="body" idx="1"/>
          </p:nvPr>
        </p:nvSpPr>
        <p:spPr/>
        <p:txBody>
          <a:bodyPr/>
          <a:lstStyle/>
          <a:p>
            <a:r>
              <a:rPr lang="fr-CA" dirty="0"/>
              <a:t>OÉ 3 – Certification</a:t>
            </a:r>
          </a:p>
        </p:txBody>
      </p:sp>
      <p:sp>
        <p:nvSpPr>
          <p:cNvPr id="5" name="Titre 4"/>
          <p:cNvSpPr>
            <a:spLocks noGrp="1"/>
          </p:cNvSpPr>
          <p:nvPr>
            <p:ph type="title"/>
          </p:nvPr>
        </p:nvSpPr>
        <p:spPr/>
        <p:txBody>
          <a:bodyPr/>
          <a:lstStyle/>
          <a:p>
            <a:r>
              <a:rPr lang="fr-CA" dirty="0"/>
              <a:t>Occasion d’évaluation #3</a:t>
            </a:r>
          </a:p>
        </p:txBody>
      </p:sp>
      <p:sp>
        <p:nvSpPr>
          <p:cNvPr id="2" name="Espace réservé du numéro de diapositive 1"/>
          <p:cNvSpPr>
            <a:spLocks noGrp="1"/>
          </p:cNvSpPr>
          <p:nvPr>
            <p:ph type="sldNum" sz="quarter" idx="12"/>
          </p:nvPr>
        </p:nvSpPr>
        <p:spPr/>
        <p:txBody>
          <a:bodyPr/>
          <a:lstStyle/>
          <a:p>
            <a:endParaRPr lang="fr-CA" dirty="0"/>
          </a:p>
        </p:txBody>
      </p:sp>
    </p:spTree>
    <p:extLst>
      <p:ext uri="{BB962C8B-B14F-4D97-AF65-F5344CB8AC3E}">
        <p14:creationId xmlns:p14="http://schemas.microsoft.com/office/powerpoint/2010/main" val="11082289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07207" y="467228"/>
            <a:ext cx="7514035" cy="474266"/>
          </a:xfrm>
        </p:spPr>
        <p:txBody>
          <a:bodyPr>
            <a:normAutofit/>
          </a:bodyPr>
          <a:lstStyle/>
          <a:p>
            <a:r>
              <a:rPr lang="fr-CA" dirty="0"/>
              <a:t>OÉ3 – Certification</a:t>
            </a:r>
          </a:p>
        </p:txBody>
      </p:sp>
      <p:sp>
        <p:nvSpPr>
          <p:cNvPr id="4" name="Espace réservé du contenu 3"/>
          <p:cNvSpPr>
            <a:spLocks noGrp="1"/>
          </p:cNvSpPr>
          <p:nvPr>
            <p:ph sz="quarter" idx="1"/>
          </p:nvPr>
        </p:nvSpPr>
        <p:spPr>
          <a:xfrm>
            <a:off x="307207" y="1335447"/>
            <a:ext cx="7514035" cy="3143250"/>
          </a:xfrm>
        </p:spPr>
        <p:txBody>
          <a:bodyPr>
            <a:normAutofit/>
          </a:bodyPr>
          <a:lstStyle/>
          <a:p>
            <a:pPr algn="ctr">
              <a:buNone/>
            </a:pPr>
            <a:r>
              <a:rPr lang="fr-CA" b="1" dirty="0"/>
              <a:t>Soulève les points qui doivent être mentionnés dans la lettre de recommandations au client. </a:t>
            </a:r>
          </a:p>
          <a:p>
            <a:pPr algn="ctr">
              <a:buNone/>
            </a:pPr>
            <a:endParaRPr lang="fr-CA" sz="1350" b="1" dirty="0"/>
          </a:p>
          <a:p>
            <a:pPr marL="1209675" indent="-342900">
              <a:buFont typeface="+mj-lt"/>
              <a:buAutoNum type="arabicPeriod"/>
            </a:pPr>
            <a:r>
              <a:rPr lang="fr-CA" dirty="0"/>
              <a:t>Prêts à l’habitation (garantie et documentation)</a:t>
            </a:r>
          </a:p>
          <a:p>
            <a:pPr marL="1209675" indent="-342900">
              <a:buFont typeface="+mj-lt"/>
              <a:buAutoNum type="arabicPeriod"/>
            </a:pPr>
            <a:r>
              <a:rPr lang="fr-CA" dirty="0"/>
              <a:t>Affectation du personnel – Séparation des fonctions (fournisseurs fictifs)</a:t>
            </a:r>
          </a:p>
          <a:p>
            <a:pPr marL="1209675" indent="-342900">
              <a:buFont typeface="+mj-lt"/>
              <a:buAutoNum type="arabicPeriod"/>
            </a:pPr>
            <a:r>
              <a:rPr lang="fr-CA" dirty="0"/>
              <a:t>Revue des écritures de journal</a:t>
            </a:r>
          </a:p>
          <a:p>
            <a:pPr marL="1209675" indent="-342900">
              <a:buFont typeface="+mj-lt"/>
              <a:buAutoNum type="arabicPeriod"/>
            </a:pPr>
            <a:r>
              <a:rPr lang="fr-CA" dirty="0"/>
              <a:t>Examen des rapports sur les coûts par la direction</a:t>
            </a:r>
          </a:p>
          <a:p>
            <a:pPr marL="1209675" indent="-342900">
              <a:buFont typeface="+mj-lt"/>
              <a:buAutoNum type="arabicPeriod"/>
            </a:pPr>
            <a:r>
              <a:rPr lang="fr-CA" dirty="0"/>
              <a:t>Contrôles relatifs aux stocks (sortie des stocks)</a:t>
            </a:r>
          </a:p>
          <a:p>
            <a:pPr marL="385763" indent="-385763">
              <a:buFont typeface="+mj-lt"/>
              <a:buAutoNum type="arabicPeriod" startAt="4"/>
            </a:pPr>
            <a:endParaRPr lang="fr-CA" dirty="0"/>
          </a:p>
        </p:txBody>
      </p:sp>
      <p:sp>
        <p:nvSpPr>
          <p:cNvPr id="6" name="Espace réservé du numéro de diapositive 4">
            <a:extLst>
              <a:ext uri="{FF2B5EF4-FFF2-40B4-BE49-F238E27FC236}">
                <a16:creationId xmlns:a16="http://schemas.microsoft.com/office/drawing/2014/main" id="{C7C77B3A-F1B0-8ECB-F5BF-1C082CD27066}"/>
              </a:ext>
            </a:extLst>
          </p:cNvPr>
          <p:cNvSpPr txBox="1">
            <a:spLocks/>
          </p:cNvSpPr>
          <p:nvPr/>
        </p:nvSpPr>
        <p:spPr>
          <a:xfrm>
            <a:off x="8545786" y="4650963"/>
            <a:ext cx="413375" cy="273844"/>
          </a:xfr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B5DEC05-AB38-4F58-9609-FFF4AA167839}" type="slidenum">
              <a:rPr lang="fr-CA" sz="1050" smtClean="0"/>
              <a:pPr/>
              <a:t>54</a:t>
            </a:fld>
            <a:endParaRPr lang="fr-CA" sz="1050" dirty="0"/>
          </a:p>
        </p:txBody>
      </p:sp>
      <p:sp>
        <p:nvSpPr>
          <p:cNvPr id="5" name="ZoneTexte 4">
            <a:extLst>
              <a:ext uri="{FF2B5EF4-FFF2-40B4-BE49-F238E27FC236}">
                <a16:creationId xmlns:a16="http://schemas.microsoft.com/office/drawing/2014/main" id="{482F938B-FE22-054F-A535-917E40460682}"/>
              </a:ext>
            </a:extLst>
          </p:cNvPr>
          <p:cNvSpPr txBox="1"/>
          <p:nvPr/>
        </p:nvSpPr>
        <p:spPr>
          <a:xfrm>
            <a:off x="3034454" y="4924807"/>
            <a:ext cx="1747520" cy="273845"/>
          </a:xfrm>
          <a:prstGeom prst="rect">
            <a:avLst/>
          </a:prstGeom>
        </p:spPr>
        <p:txBody>
          <a:bodyPr vert="horz" wrap="square" lIns="91440" tIns="45720" rIns="91440" bIns="45720" rtlCol="0">
            <a:normAutofit fontScale="92500"/>
          </a:bodyPr>
          <a:lstStyle/>
          <a:p>
            <a:pPr>
              <a:buClr>
                <a:schemeClr val="accent2"/>
              </a:buClr>
              <a:buSzPct val="125000"/>
            </a:pPr>
            <a:r>
              <a:rPr lang="fr-CA" sz="900" dirty="0"/>
              <a:t>Par Hugo Lesley – HEC Montréal</a:t>
            </a:r>
          </a:p>
        </p:txBody>
      </p:sp>
    </p:spTree>
    <p:extLst>
      <p:ext uri="{BB962C8B-B14F-4D97-AF65-F5344CB8AC3E}">
        <p14:creationId xmlns:p14="http://schemas.microsoft.com/office/powerpoint/2010/main" val="12540866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animEffect transition="in" filter="fade">
                                      <p:cBhvr>
                                        <p:cTn id="7" dur="1000"/>
                                        <p:tgtEl>
                                          <p:spTgt spid="4">
                                            <p:txEl>
                                              <p:pRg st="2" end="2"/>
                                            </p:txEl>
                                          </p:spTgt>
                                        </p:tgtEl>
                                      </p:cBhvr>
                                    </p:animEffect>
                                    <p:anim calcmode="lin" valueType="num">
                                      <p:cBhvr>
                                        <p:cTn id="8"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xEl>
                                              <p:pRg st="3" end="3"/>
                                            </p:txEl>
                                          </p:spTgt>
                                        </p:tgtEl>
                                        <p:attrNameLst>
                                          <p:attrName>style.visibility</p:attrName>
                                        </p:attrNameLst>
                                      </p:cBhvr>
                                      <p:to>
                                        <p:strVal val="visible"/>
                                      </p:to>
                                    </p:set>
                                    <p:animEffect transition="in" filter="fade">
                                      <p:cBhvr>
                                        <p:cTn id="14" dur="1000"/>
                                        <p:tgtEl>
                                          <p:spTgt spid="4">
                                            <p:txEl>
                                              <p:pRg st="3" end="3"/>
                                            </p:txEl>
                                          </p:spTgt>
                                        </p:tgtEl>
                                      </p:cBhvr>
                                    </p:animEffect>
                                    <p:anim calcmode="lin" valueType="num">
                                      <p:cBhvr>
                                        <p:cTn id="15"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animEffect transition="in" filter="fade">
                                      <p:cBhvr>
                                        <p:cTn id="21" dur="1000"/>
                                        <p:tgtEl>
                                          <p:spTgt spid="4">
                                            <p:txEl>
                                              <p:pRg st="4" end="4"/>
                                            </p:txEl>
                                          </p:spTgt>
                                        </p:tgtEl>
                                      </p:cBhvr>
                                    </p:animEffect>
                                    <p:anim calcmode="lin" valueType="num">
                                      <p:cBhvr>
                                        <p:cTn id="22"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4">
                                            <p:txEl>
                                              <p:pRg st="5" end="5"/>
                                            </p:txEl>
                                          </p:spTgt>
                                        </p:tgtEl>
                                        <p:attrNameLst>
                                          <p:attrName>style.visibility</p:attrName>
                                        </p:attrNameLst>
                                      </p:cBhvr>
                                      <p:to>
                                        <p:strVal val="visible"/>
                                      </p:to>
                                    </p:set>
                                    <p:animEffect transition="in" filter="fade">
                                      <p:cBhvr>
                                        <p:cTn id="28" dur="1000"/>
                                        <p:tgtEl>
                                          <p:spTgt spid="4">
                                            <p:txEl>
                                              <p:pRg st="5" end="5"/>
                                            </p:txEl>
                                          </p:spTgt>
                                        </p:tgtEl>
                                      </p:cBhvr>
                                    </p:animEffect>
                                    <p:anim calcmode="lin" valueType="num">
                                      <p:cBhvr>
                                        <p:cTn id="29"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30" dur="1000" fill="hold"/>
                                        <p:tgtEl>
                                          <p:spTgt spid="4">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4">
                                            <p:txEl>
                                              <p:pRg st="6" end="6"/>
                                            </p:txEl>
                                          </p:spTgt>
                                        </p:tgtEl>
                                        <p:attrNameLst>
                                          <p:attrName>style.visibility</p:attrName>
                                        </p:attrNameLst>
                                      </p:cBhvr>
                                      <p:to>
                                        <p:strVal val="visible"/>
                                      </p:to>
                                    </p:set>
                                    <p:animEffect transition="in" filter="fade">
                                      <p:cBhvr>
                                        <p:cTn id="35" dur="1000"/>
                                        <p:tgtEl>
                                          <p:spTgt spid="4">
                                            <p:txEl>
                                              <p:pRg st="6" end="6"/>
                                            </p:txEl>
                                          </p:spTgt>
                                        </p:tgtEl>
                                      </p:cBhvr>
                                    </p:animEffect>
                                    <p:anim calcmode="lin" valueType="num">
                                      <p:cBhvr>
                                        <p:cTn id="36"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37" dur="1000" fill="hold"/>
                                        <p:tgtEl>
                                          <p:spTgt spid="4">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96839" y="788159"/>
            <a:ext cx="6326030" cy="4055218"/>
          </a:xfrm>
        </p:spPr>
        <p:txBody>
          <a:bodyPr>
            <a:normAutofit/>
          </a:bodyPr>
          <a:lstStyle/>
          <a:p>
            <a:pPr marL="285750" indent="-285750">
              <a:buClr>
                <a:schemeClr val="tx1"/>
              </a:buClr>
              <a:buFont typeface="Arial" panose="020B0604020202020204" pitchFamily="34" charset="0"/>
              <a:buChar char="•"/>
            </a:pPr>
            <a:r>
              <a:rPr lang="fr-CA" sz="1600" dirty="0"/>
              <a:t>Structure PIR : </a:t>
            </a:r>
          </a:p>
          <a:p>
            <a:pPr marL="693990" lvl="1" indent="-285750">
              <a:buClr>
                <a:schemeClr val="tx1"/>
              </a:buClr>
            </a:pPr>
            <a:r>
              <a:rPr lang="fr-CA" dirty="0"/>
              <a:t>Problème/Faiblesse :</a:t>
            </a:r>
          </a:p>
          <a:p>
            <a:pPr marL="962910" lvl="2" indent="-285750">
              <a:buClr>
                <a:schemeClr val="tx1"/>
              </a:buClr>
            </a:pPr>
            <a:r>
              <a:rPr lang="fr-CA" dirty="0"/>
              <a:t>Quel est le problème du contrôle ?</a:t>
            </a:r>
          </a:p>
          <a:p>
            <a:pPr marL="693990" lvl="1" indent="-285750">
              <a:buClr>
                <a:schemeClr val="tx1"/>
              </a:buClr>
            </a:pPr>
            <a:r>
              <a:rPr lang="fr-CA" dirty="0"/>
              <a:t>Impact/Incidence :</a:t>
            </a:r>
          </a:p>
          <a:p>
            <a:pPr marL="962910" lvl="2" indent="-285750">
              <a:buClr>
                <a:schemeClr val="tx1"/>
              </a:buClr>
            </a:pPr>
            <a:r>
              <a:rPr lang="fr-CA" dirty="0"/>
              <a:t>Que pourrait engendrer ce problème ?</a:t>
            </a:r>
          </a:p>
          <a:p>
            <a:pPr marL="962910" lvl="2" indent="-285750">
              <a:buClr>
                <a:schemeClr val="tx1"/>
              </a:buClr>
            </a:pPr>
            <a:r>
              <a:rPr lang="fr-CA" dirty="0"/>
              <a:t>Faire le lien avec les enjeux opérationnels et l’information qui pourrait être faussée dans les </a:t>
            </a:r>
            <a:r>
              <a:rPr lang="fr-CA" dirty="0" err="1"/>
              <a:t>ÉFs</a:t>
            </a:r>
            <a:endParaRPr lang="fr-CA" dirty="0"/>
          </a:p>
          <a:p>
            <a:pPr marL="693990" lvl="1" indent="-285750">
              <a:buClr>
                <a:schemeClr val="tx1"/>
              </a:buClr>
            </a:pPr>
            <a:r>
              <a:rPr lang="fr-CA" dirty="0"/>
              <a:t>Recommandation :</a:t>
            </a:r>
          </a:p>
          <a:p>
            <a:pPr marL="962910" lvl="2" indent="-285750">
              <a:buClr>
                <a:schemeClr val="tx1"/>
              </a:buClr>
            </a:pPr>
            <a:r>
              <a:rPr lang="fr-CA" dirty="0"/>
              <a:t>Comment résoudre le problème ?</a:t>
            </a:r>
          </a:p>
          <a:p>
            <a:pPr marL="962910" lvl="2" indent="-285750">
              <a:buClr>
                <a:schemeClr val="tx1"/>
              </a:buClr>
            </a:pPr>
            <a:r>
              <a:rPr lang="fr-CA" dirty="0"/>
              <a:t>Être précis et concret (verbes et objets)</a:t>
            </a:r>
          </a:p>
          <a:p>
            <a:pPr marL="962910" lvl="2" indent="-285750">
              <a:buClr>
                <a:schemeClr val="tx1"/>
              </a:buClr>
            </a:pPr>
            <a:r>
              <a:rPr lang="fr-CA" dirty="0"/>
              <a:t>Donner des recommandations pratiques</a:t>
            </a:r>
          </a:p>
          <a:p>
            <a:pPr marL="285750" indent="-285750">
              <a:buClr>
                <a:schemeClr val="tx1"/>
              </a:buClr>
              <a:buFont typeface="Arial" panose="020B0604020202020204" pitchFamily="34" charset="0"/>
              <a:buChar char="•"/>
            </a:pPr>
            <a:r>
              <a:rPr lang="fr-CA" sz="1600" dirty="0"/>
              <a:t>Bien séparer les problèmes</a:t>
            </a:r>
          </a:p>
          <a:p>
            <a:pPr marL="285750" indent="-285750">
              <a:buClr>
                <a:schemeClr val="tx1"/>
              </a:buClr>
              <a:buFont typeface="Arial" panose="020B0604020202020204" pitchFamily="34" charset="0"/>
              <a:buChar char="•"/>
            </a:pPr>
            <a:r>
              <a:rPr lang="fr-CA" sz="1600" dirty="0"/>
              <a:t>Analyser plusieurs déficiences de contrôle</a:t>
            </a:r>
          </a:p>
        </p:txBody>
      </p:sp>
      <p:sp>
        <p:nvSpPr>
          <p:cNvPr id="7" name="ZoneTexte 6">
            <a:extLst>
              <a:ext uri="{FF2B5EF4-FFF2-40B4-BE49-F238E27FC236}">
                <a16:creationId xmlns:a16="http://schemas.microsoft.com/office/drawing/2014/main" id="{26F917C5-E6EB-2E4B-8887-85113F232A1B}"/>
              </a:ext>
            </a:extLst>
          </p:cNvPr>
          <p:cNvSpPr txBox="1"/>
          <p:nvPr/>
        </p:nvSpPr>
        <p:spPr>
          <a:xfrm>
            <a:off x="296838" y="300123"/>
            <a:ext cx="6594468" cy="452432"/>
          </a:xfrm>
          <a:prstGeom prst="rect">
            <a:avLst/>
          </a:prstGeom>
          <a:noFill/>
        </p:spPr>
        <p:txBody>
          <a:bodyPr wrap="square">
            <a:spAutoFit/>
          </a:bodyPr>
          <a:lstStyle/>
          <a:p>
            <a:r>
              <a:rPr lang="fr-CA" sz="2340" b="1" dirty="0">
                <a:solidFill>
                  <a:schemeClr val="accent2"/>
                </a:solidFill>
                <a:latin typeface="+mj-lt"/>
              </a:rPr>
              <a:t>Important pour cette occasion d’évaluation :</a:t>
            </a:r>
          </a:p>
        </p:txBody>
      </p:sp>
      <p:sp>
        <p:nvSpPr>
          <p:cNvPr id="4" name="Espace réservé du numéro de diapositive 4">
            <a:extLst>
              <a:ext uri="{FF2B5EF4-FFF2-40B4-BE49-F238E27FC236}">
                <a16:creationId xmlns:a16="http://schemas.microsoft.com/office/drawing/2014/main" id="{2197CE25-80DA-1741-8C04-A41497037D26}"/>
              </a:ext>
            </a:extLst>
          </p:cNvPr>
          <p:cNvSpPr txBox="1">
            <a:spLocks/>
          </p:cNvSpPr>
          <p:nvPr/>
        </p:nvSpPr>
        <p:spPr>
          <a:xfrm>
            <a:off x="8545786" y="4650963"/>
            <a:ext cx="413375" cy="273844"/>
          </a:xfr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B5DEC05-AB38-4F58-9609-FFF4AA167839}" type="slidenum">
              <a:rPr lang="fr-CA" sz="1050" smtClean="0"/>
              <a:pPr/>
              <a:t>55</a:t>
            </a:fld>
            <a:endParaRPr lang="fr-CA" sz="1050" dirty="0"/>
          </a:p>
        </p:txBody>
      </p:sp>
      <p:sp>
        <p:nvSpPr>
          <p:cNvPr id="5" name="ZoneTexte 4">
            <a:extLst>
              <a:ext uri="{FF2B5EF4-FFF2-40B4-BE49-F238E27FC236}">
                <a16:creationId xmlns:a16="http://schemas.microsoft.com/office/drawing/2014/main" id="{0F2416D8-899D-0E49-A116-6DF79F9BBC7D}"/>
              </a:ext>
            </a:extLst>
          </p:cNvPr>
          <p:cNvSpPr txBox="1"/>
          <p:nvPr/>
        </p:nvSpPr>
        <p:spPr>
          <a:xfrm>
            <a:off x="3034454" y="4924807"/>
            <a:ext cx="2015848" cy="273845"/>
          </a:xfrm>
          <a:prstGeom prst="rect">
            <a:avLst/>
          </a:prstGeom>
        </p:spPr>
        <p:txBody>
          <a:bodyPr vert="horz" wrap="square" lIns="91440" tIns="45720" rIns="91440" bIns="45720" rtlCol="0">
            <a:normAutofit fontScale="92500"/>
          </a:bodyPr>
          <a:lstStyle/>
          <a:p>
            <a:pPr>
              <a:buClr>
                <a:schemeClr val="accent2"/>
              </a:buClr>
              <a:buSzPct val="125000"/>
            </a:pPr>
            <a:r>
              <a:rPr lang="fr-CA" sz="900" dirty="0"/>
              <a:t>Par Laurence Daoust – HEC Montréal</a:t>
            </a:r>
          </a:p>
        </p:txBody>
      </p:sp>
    </p:spTree>
    <p:extLst>
      <p:ext uri="{BB962C8B-B14F-4D97-AF65-F5344CB8AC3E}">
        <p14:creationId xmlns:p14="http://schemas.microsoft.com/office/powerpoint/2010/main" val="114801505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1"/>
          <p:cNvSpPr>
            <a:spLocks noGrp="1"/>
          </p:cNvSpPr>
          <p:nvPr>
            <p:ph type="title"/>
          </p:nvPr>
        </p:nvSpPr>
        <p:spPr>
          <a:xfrm>
            <a:off x="456219" y="308886"/>
            <a:ext cx="7514035" cy="471343"/>
          </a:xfrm>
        </p:spPr>
        <p:txBody>
          <a:bodyPr>
            <a:normAutofit/>
          </a:bodyPr>
          <a:lstStyle/>
          <a:p>
            <a:r>
              <a:rPr lang="fr-CA" dirty="0"/>
              <a:t>OÉ3 – Certification</a:t>
            </a: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13030" y="1450549"/>
            <a:ext cx="6399330" cy="30855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Ellipse 6"/>
          <p:cNvSpPr/>
          <p:nvPr/>
        </p:nvSpPr>
        <p:spPr>
          <a:xfrm rot="5400000">
            <a:off x="6516216" y="2733768"/>
            <a:ext cx="1620180" cy="64807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2700"/>
          </a:p>
        </p:txBody>
      </p:sp>
      <p:sp>
        <p:nvSpPr>
          <p:cNvPr id="4" name="Espace réservé du numéro de diapositive 4">
            <a:extLst>
              <a:ext uri="{FF2B5EF4-FFF2-40B4-BE49-F238E27FC236}">
                <a16:creationId xmlns:a16="http://schemas.microsoft.com/office/drawing/2014/main" id="{C741E8B8-0C13-6645-F422-F8385F16680D}"/>
              </a:ext>
            </a:extLst>
          </p:cNvPr>
          <p:cNvSpPr txBox="1">
            <a:spLocks/>
          </p:cNvSpPr>
          <p:nvPr/>
        </p:nvSpPr>
        <p:spPr>
          <a:xfrm>
            <a:off x="8545786" y="4650963"/>
            <a:ext cx="413375" cy="273844"/>
          </a:xfr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B5DEC05-AB38-4F58-9609-FFF4AA167839}" type="slidenum">
              <a:rPr lang="fr-CA" sz="1050" smtClean="0"/>
              <a:pPr/>
              <a:t>56</a:t>
            </a:fld>
            <a:endParaRPr lang="fr-CA" sz="1050" dirty="0"/>
          </a:p>
        </p:txBody>
      </p:sp>
      <p:sp>
        <p:nvSpPr>
          <p:cNvPr id="6" name="ZoneTexte 5">
            <a:extLst>
              <a:ext uri="{FF2B5EF4-FFF2-40B4-BE49-F238E27FC236}">
                <a16:creationId xmlns:a16="http://schemas.microsoft.com/office/drawing/2014/main" id="{FCA49D78-A2D2-7E17-1804-08B38B00BA50}"/>
              </a:ext>
            </a:extLst>
          </p:cNvPr>
          <p:cNvSpPr txBox="1"/>
          <p:nvPr/>
        </p:nvSpPr>
        <p:spPr>
          <a:xfrm>
            <a:off x="3034454" y="4924807"/>
            <a:ext cx="1747520" cy="273845"/>
          </a:xfrm>
          <a:prstGeom prst="rect">
            <a:avLst/>
          </a:prstGeom>
        </p:spPr>
        <p:txBody>
          <a:bodyPr vert="horz" wrap="square" lIns="91440" tIns="45720" rIns="91440" bIns="45720" rtlCol="0">
            <a:normAutofit fontScale="92500"/>
          </a:bodyPr>
          <a:lstStyle/>
          <a:p>
            <a:pPr>
              <a:buClr>
                <a:schemeClr val="accent2"/>
              </a:buClr>
              <a:buSzPct val="125000"/>
            </a:pPr>
            <a:r>
              <a:rPr lang="fr-CA" sz="900" dirty="0"/>
              <a:t>Par Hugo Lesley – HEC Montréal</a:t>
            </a:r>
          </a:p>
        </p:txBody>
      </p:sp>
    </p:spTree>
    <p:extLst>
      <p:ext uri="{BB962C8B-B14F-4D97-AF65-F5344CB8AC3E}">
        <p14:creationId xmlns:p14="http://schemas.microsoft.com/office/powerpoint/2010/main" val="415350738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97186CE-CBDC-E44D-B79B-45B7B4C627EC}"/>
              </a:ext>
            </a:extLst>
          </p:cNvPr>
          <p:cNvSpPr>
            <a:spLocks noGrp="1"/>
          </p:cNvSpPr>
          <p:nvPr>
            <p:ph type="title"/>
          </p:nvPr>
        </p:nvSpPr>
        <p:spPr/>
        <p:txBody>
          <a:bodyPr/>
          <a:lstStyle/>
          <a:p>
            <a:r>
              <a:rPr lang="fr-CA" dirty="0"/>
              <a:t>Exemple : Prêts à l’habitation</a:t>
            </a:r>
          </a:p>
        </p:txBody>
      </p:sp>
      <p:sp>
        <p:nvSpPr>
          <p:cNvPr id="3" name="Espace réservé du contenu 2">
            <a:extLst>
              <a:ext uri="{FF2B5EF4-FFF2-40B4-BE49-F238E27FC236}">
                <a16:creationId xmlns:a16="http://schemas.microsoft.com/office/drawing/2014/main" id="{8EA19B73-6A01-6B45-914C-9B683D01FCD6}"/>
              </a:ext>
            </a:extLst>
          </p:cNvPr>
          <p:cNvSpPr>
            <a:spLocks noGrp="1"/>
          </p:cNvSpPr>
          <p:nvPr>
            <p:ph idx="1"/>
          </p:nvPr>
        </p:nvSpPr>
        <p:spPr>
          <a:xfrm>
            <a:off x="478800" y="1046074"/>
            <a:ext cx="8186400" cy="3833164"/>
          </a:xfrm>
        </p:spPr>
        <p:txBody>
          <a:bodyPr>
            <a:normAutofit fontScale="92500"/>
          </a:bodyPr>
          <a:lstStyle/>
          <a:p>
            <a:r>
              <a:rPr lang="fr-CA" b="1" dirty="0"/>
              <a:t>Problème : </a:t>
            </a:r>
            <a:r>
              <a:rPr lang="fr-CA" dirty="0">
                <a:latin typeface="Arial" panose="020B0604020202020204" pitchFamily="34" charset="0"/>
              </a:rPr>
              <a:t>BC a consenti des prêts à l’habitation à 110 employés, qui totalisent près de 4 millions $ (poste montant dû par les employés). Le chef des finances n’a pas obtenu de sûretés pour les prêts. </a:t>
            </a:r>
            <a:endParaRPr lang="fr-CA" dirty="0"/>
          </a:p>
          <a:p>
            <a:r>
              <a:rPr lang="fr-CA" b="1" dirty="0"/>
              <a:t>Impact : </a:t>
            </a:r>
          </a:p>
          <a:p>
            <a:pPr marL="285750" indent="-285750">
              <a:buClr>
                <a:schemeClr val="tx1"/>
              </a:buClr>
              <a:buFont typeface="Arial" panose="020B0604020202020204" pitchFamily="34" charset="0"/>
              <a:buChar char="•"/>
            </a:pPr>
            <a:r>
              <a:rPr lang="fr-CA" dirty="0">
                <a:effectLst/>
                <a:latin typeface="Arial" panose="020B0604020202020204" pitchFamily="34" charset="0"/>
              </a:rPr>
              <a:t>BC a un actif de 4 millions $ qui se trouve à risque parce que les prêts ne sont pas garantis.</a:t>
            </a:r>
          </a:p>
          <a:p>
            <a:pPr marL="285750" indent="-285750">
              <a:buClr>
                <a:schemeClr val="tx1"/>
              </a:buClr>
              <a:buFont typeface="Arial" panose="020B0604020202020204" pitchFamily="34" charset="0"/>
              <a:buChar char="•"/>
            </a:pPr>
            <a:r>
              <a:rPr lang="fr-CA" dirty="0">
                <a:effectLst/>
                <a:latin typeface="Arial" panose="020B0604020202020204" pitchFamily="34" charset="0"/>
              </a:rPr>
              <a:t>Comme les prêts ne sont pas garantis, le seul recours que BC pourrait avoir advenant qu’un employé se trouve en défaut serait de faire saisir la propriété achetée à l’aide du prêt. </a:t>
            </a:r>
          </a:p>
          <a:p>
            <a:pPr>
              <a:buClr>
                <a:schemeClr val="tx1"/>
              </a:buClr>
            </a:pPr>
            <a:r>
              <a:rPr lang="fr-CA" b="1" dirty="0">
                <a:effectLst/>
                <a:latin typeface="Arial" panose="020B0604020202020204" pitchFamily="34" charset="0"/>
              </a:rPr>
              <a:t>Recommandation : </a:t>
            </a:r>
          </a:p>
          <a:p>
            <a:pPr marL="285750" indent="-285750">
              <a:buClr>
                <a:schemeClr val="tx1"/>
              </a:buClr>
              <a:buFont typeface="Arial" panose="020B0604020202020204" pitchFamily="34" charset="0"/>
              <a:buChar char="•"/>
            </a:pPr>
            <a:r>
              <a:rPr lang="fr-CA" dirty="0">
                <a:effectLst/>
                <a:latin typeface="Arial" panose="020B0604020202020204" pitchFamily="34" charset="0"/>
              </a:rPr>
              <a:t>Tous les prêts à l’habitation à l’intention des employés devraient être garantis. </a:t>
            </a:r>
          </a:p>
          <a:p>
            <a:pPr marL="285750" indent="-285750">
              <a:buClr>
                <a:schemeClr val="tx1"/>
              </a:buClr>
              <a:buFont typeface="Arial" panose="020B0604020202020204" pitchFamily="34" charset="0"/>
              <a:buChar char="•"/>
            </a:pPr>
            <a:r>
              <a:rPr lang="fr-CA" dirty="0">
                <a:effectLst/>
                <a:latin typeface="Arial" panose="020B0604020202020204" pitchFamily="34" charset="0"/>
              </a:rPr>
              <a:t>BC devrait s’assurer que les employés utilisent les sommes prêtées pour subvenir à leurs besoins en matière d’habitation. Cela peut être fait en exigeant que les employés fournissent à BC la documentation sur l’emprunt hypothécaire, une copie du contrat d’achat et une fiche de renseignements sur la propriété acquise. BC pourrait même aller jusqu’à exiger une évaluation de la propriété pour s’assurer qu’il s’agit d’un bon investissement.</a:t>
            </a:r>
          </a:p>
        </p:txBody>
      </p:sp>
      <p:sp>
        <p:nvSpPr>
          <p:cNvPr id="4" name="Espace réservé du numéro de diapositive 4">
            <a:extLst>
              <a:ext uri="{FF2B5EF4-FFF2-40B4-BE49-F238E27FC236}">
                <a16:creationId xmlns:a16="http://schemas.microsoft.com/office/drawing/2014/main" id="{B5704C7F-8416-C641-969C-197E34402D17}"/>
              </a:ext>
            </a:extLst>
          </p:cNvPr>
          <p:cNvSpPr txBox="1">
            <a:spLocks/>
          </p:cNvSpPr>
          <p:nvPr/>
        </p:nvSpPr>
        <p:spPr>
          <a:xfrm>
            <a:off x="8545786" y="4650963"/>
            <a:ext cx="413375" cy="273844"/>
          </a:xfr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B5DEC05-AB38-4F58-9609-FFF4AA167839}" type="slidenum">
              <a:rPr lang="fr-CA" sz="1050" smtClean="0"/>
              <a:pPr/>
              <a:t>57</a:t>
            </a:fld>
            <a:endParaRPr lang="fr-CA" sz="1050" dirty="0"/>
          </a:p>
        </p:txBody>
      </p:sp>
      <p:sp>
        <p:nvSpPr>
          <p:cNvPr id="5" name="ZoneTexte 4">
            <a:extLst>
              <a:ext uri="{FF2B5EF4-FFF2-40B4-BE49-F238E27FC236}">
                <a16:creationId xmlns:a16="http://schemas.microsoft.com/office/drawing/2014/main" id="{BDBFA47D-49F8-3141-957E-8CB6804F00D4}"/>
              </a:ext>
            </a:extLst>
          </p:cNvPr>
          <p:cNvSpPr txBox="1"/>
          <p:nvPr/>
        </p:nvSpPr>
        <p:spPr>
          <a:xfrm>
            <a:off x="3034454" y="4924807"/>
            <a:ext cx="2015848" cy="273845"/>
          </a:xfrm>
          <a:prstGeom prst="rect">
            <a:avLst/>
          </a:prstGeom>
        </p:spPr>
        <p:txBody>
          <a:bodyPr vert="horz" wrap="square" lIns="91440" tIns="45720" rIns="91440" bIns="45720" rtlCol="0">
            <a:normAutofit fontScale="92500"/>
          </a:bodyPr>
          <a:lstStyle/>
          <a:p>
            <a:pPr>
              <a:buClr>
                <a:schemeClr val="accent2"/>
              </a:buClr>
              <a:buSzPct val="125000"/>
            </a:pPr>
            <a:r>
              <a:rPr lang="fr-CA" sz="900" dirty="0"/>
              <a:t>Par Laurence Daoust – HEC Montréal</a:t>
            </a:r>
          </a:p>
        </p:txBody>
      </p:sp>
    </p:spTree>
    <p:extLst>
      <p:ext uri="{BB962C8B-B14F-4D97-AF65-F5344CB8AC3E}">
        <p14:creationId xmlns:p14="http://schemas.microsoft.com/office/powerpoint/2010/main" val="166584724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texte 5"/>
          <p:cNvSpPr>
            <a:spLocks noGrp="1"/>
          </p:cNvSpPr>
          <p:nvPr>
            <p:ph type="body" idx="1"/>
          </p:nvPr>
        </p:nvSpPr>
        <p:spPr/>
        <p:txBody>
          <a:bodyPr/>
          <a:lstStyle/>
          <a:p>
            <a:r>
              <a:rPr lang="fr-CA" dirty="0"/>
              <a:t>OÉ4 – Stratégie et gouvernance</a:t>
            </a:r>
          </a:p>
        </p:txBody>
      </p:sp>
      <p:sp>
        <p:nvSpPr>
          <p:cNvPr id="5" name="Titre 4"/>
          <p:cNvSpPr>
            <a:spLocks noGrp="1"/>
          </p:cNvSpPr>
          <p:nvPr>
            <p:ph type="title"/>
          </p:nvPr>
        </p:nvSpPr>
        <p:spPr/>
        <p:txBody>
          <a:bodyPr/>
          <a:lstStyle/>
          <a:p>
            <a:r>
              <a:rPr lang="fr-CA" dirty="0"/>
              <a:t>Occasion d’évaluation #4</a:t>
            </a:r>
          </a:p>
        </p:txBody>
      </p:sp>
      <p:sp>
        <p:nvSpPr>
          <p:cNvPr id="2" name="Espace réservé du numéro de diapositive 1"/>
          <p:cNvSpPr>
            <a:spLocks noGrp="1"/>
          </p:cNvSpPr>
          <p:nvPr>
            <p:ph type="sldNum" sz="quarter" idx="12"/>
          </p:nvPr>
        </p:nvSpPr>
        <p:spPr/>
        <p:txBody>
          <a:bodyPr/>
          <a:lstStyle/>
          <a:p>
            <a:endParaRPr lang="fr-CA" dirty="0"/>
          </a:p>
        </p:txBody>
      </p:sp>
    </p:spTree>
    <p:extLst>
      <p:ext uri="{BB962C8B-B14F-4D97-AF65-F5344CB8AC3E}">
        <p14:creationId xmlns:p14="http://schemas.microsoft.com/office/powerpoint/2010/main" val="291159460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39473" y="577391"/>
            <a:ext cx="7514035" cy="462061"/>
          </a:xfrm>
        </p:spPr>
        <p:txBody>
          <a:bodyPr>
            <a:normAutofit/>
          </a:bodyPr>
          <a:lstStyle/>
          <a:p>
            <a:r>
              <a:rPr lang="fr-CA" dirty="0"/>
              <a:t>OÉ4 – Stratégie et gouvernance</a:t>
            </a:r>
          </a:p>
        </p:txBody>
      </p:sp>
      <p:sp>
        <p:nvSpPr>
          <p:cNvPr id="3" name="Espace réservé du pied de page 2"/>
          <p:cNvSpPr>
            <a:spLocks noGrp="1"/>
          </p:cNvSpPr>
          <p:nvPr>
            <p:ph type="ftr" sz="quarter" idx="4294967295"/>
          </p:nvPr>
        </p:nvSpPr>
        <p:spPr/>
        <p:txBody>
          <a:bodyPr/>
          <a:lstStyle/>
          <a:p>
            <a:endParaRPr lang="fr-CA" dirty="0"/>
          </a:p>
        </p:txBody>
      </p:sp>
      <p:sp>
        <p:nvSpPr>
          <p:cNvPr id="4" name="Espace réservé du contenu 3"/>
          <p:cNvSpPr>
            <a:spLocks noGrp="1"/>
          </p:cNvSpPr>
          <p:nvPr>
            <p:ph sz="quarter" idx="1"/>
          </p:nvPr>
        </p:nvSpPr>
        <p:spPr>
          <a:xfrm>
            <a:off x="591687" y="1511601"/>
            <a:ext cx="7514035" cy="3143250"/>
          </a:xfrm>
        </p:spPr>
        <p:txBody>
          <a:bodyPr>
            <a:normAutofit/>
          </a:bodyPr>
          <a:lstStyle/>
          <a:p>
            <a:pPr algn="ctr">
              <a:buNone/>
            </a:pPr>
            <a:r>
              <a:rPr lang="fr-CA" b="1" dirty="0"/>
              <a:t>Traite des raisons pour lesquelles certaines des stratégies de BC ainsi que les actions du chef des finances ont peut-être causé du tort à BC. </a:t>
            </a:r>
          </a:p>
          <a:p>
            <a:pPr algn="ctr">
              <a:buNone/>
            </a:pPr>
            <a:endParaRPr lang="fr-CA" dirty="0"/>
          </a:p>
          <a:p>
            <a:pPr marL="938213" indent="-261938"/>
            <a:r>
              <a:rPr lang="fr-CA" dirty="0"/>
              <a:t>Expansion aux ÉU</a:t>
            </a:r>
          </a:p>
          <a:p>
            <a:pPr marL="938213" indent="-261938"/>
            <a:r>
              <a:rPr lang="fr-CA" dirty="0"/>
              <a:t>« Mettez-vous dans la peau de vos collègues »</a:t>
            </a:r>
          </a:p>
          <a:p>
            <a:pPr marL="938213" indent="-261938"/>
            <a:r>
              <a:rPr lang="fr-CA" dirty="0"/>
              <a:t>Prêts à l’habitation (impact financier sur BC)</a:t>
            </a:r>
          </a:p>
          <a:p>
            <a:pPr marL="938213" indent="-261938"/>
            <a:endParaRPr lang="fr-CA" dirty="0"/>
          </a:p>
          <a:p>
            <a:pPr marL="938213" indent="-261938"/>
            <a:endParaRPr lang="fr-CA" dirty="0"/>
          </a:p>
          <a:p>
            <a:pPr marL="938213" indent="-261938"/>
            <a:r>
              <a:rPr lang="fr-CA" dirty="0"/>
              <a:t>Comportement du chef des finances</a:t>
            </a:r>
          </a:p>
          <a:p>
            <a:pPr marL="385763" indent="-385763">
              <a:buFont typeface="+mj-lt"/>
              <a:buAutoNum type="arabicPeriod" startAt="4"/>
            </a:pPr>
            <a:endParaRPr lang="fr-CA" dirty="0"/>
          </a:p>
        </p:txBody>
      </p:sp>
      <p:sp>
        <p:nvSpPr>
          <p:cNvPr id="5" name="Accolade fermante 4"/>
          <p:cNvSpPr/>
          <p:nvPr/>
        </p:nvSpPr>
        <p:spPr>
          <a:xfrm>
            <a:off x="5390433" y="2407558"/>
            <a:ext cx="321471" cy="1028172"/>
          </a:xfrm>
          <a:prstGeom prst="rightBrace">
            <a:avLst/>
          </a:prstGeom>
          <a:ln>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CA" sz="1350"/>
          </a:p>
        </p:txBody>
      </p:sp>
      <p:sp>
        <p:nvSpPr>
          <p:cNvPr id="6" name="Accolade fermante 5"/>
          <p:cNvSpPr/>
          <p:nvPr/>
        </p:nvSpPr>
        <p:spPr>
          <a:xfrm>
            <a:off x="5417221" y="3752141"/>
            <a:ext cx="267893" cy="642942"/>
          </a:xfrm>
          <a:prstGeom prst="rightBrace">
            <a:avLst/>
          </a:prstGeom>
          <a:ln>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CA" sz="1350"/>
          </a:p>
        </p:txBody>
      </p:sp>
      <p:sp>
        <p:nvSpPr>
          <p:cNvPr id="8" name="ZoneTexte 7"/>
          <p:cNvSpPr txBox="1"/>
          <p:nvPr/>
        </p:nvSpPr>
        <p:spPr>
          <a:xfrm>
            <a:off x="5948715" y="2783144"/>
            <a:ext cx="1768091" cy="300082"/>
          </a:xfrm>
          <a:prstGeom prst="rect">
            <a:avLst/>
          </a:prstGeom>
          <a:noFill/>
        </p:spPr>
        <p:txBody>
          <a:bodyPr wrap="square" rtlCol="0">
            <a:spAutoFit/>
          </a:bodyPr>
          <a:lstStyle/>
          <a:p>
            <a:r>
              <a:rPr lang="fr-CA" sz="1350" dirty="0"/>
              <a:t>STRATÉGIES</a:t>
            </a:r>
          </a:p>
        </p:txBody>
      </p:sp>
      <p:sp>
        <p:nvSpPr>
          <p:cNvPr id="9" name="ZoneTexte 8"/>
          <p:cNvSpPr txBox="1"/>
          <p:nvPr/>
        </p:nvSpPr>
        <p:spPr>
          <a:xfrm>
            <a:off x="5985417" y="3923571"/>
            <a:ext cx="1768091" cy="300082"/>
          </a:xfrm>
          <a:prstGeom prst="rect">
            <a:avLst/>
          </a:prstGeom>
          <a:noFill/>
        </p:spPr>
        <p:txBody>
          <a:bodyPr wrap="square" rtlCol="0">
            <a:spAutoFit/>
          </a:bodyPr>
          <a:lstStyle/>
          <a:p>
            <a:r>
              <a:rPr lang="fr-CA" sz="1350" dirty="0"/>
              <a:t>BIAIS</a:t>
            </a:r>
          </a:p>
        </p:txBody>
      </p:sp>
      <p:sp>
        <p:nvSpPr>
          <p:cNvPr id="10" name="Espace réservé du numéro de diapositive 4">
            <a:extLst>
              <a:ext uri="{FF2B5EF4-FFF2-40B4-BE49-F238E27FC236}">
                <a16:creationId xmlns:a16="http://schemas.microsoft.com/office/drawing/2014/main" id="{AFAF480A-E855-0098-E663-0C6D0C5FFB0F}"/>
              </a:ext>
            </a:extLst>
          </p:cNvPr>
          <p:cNvSpPr txBox="1">
            <a:spLocks/>
          </p:cNvSpPr>
          <p:nvPr/>
        </p:nvSpPr>
        <p:spPr>
          <a:xfrm>
            <a:off x="8545786" y="4650963"/>
            <a:ext cx="413375" cy="273844"/>
          </a:xfr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B5DEC05-AB38-4F58-9609-FFF4AA167839}" type="slidenum">
              <a:rPr lang="fr-CA" sz="1050" smtClean="0"/>
              <a:pPr/>
              <a:t>59</a:t>
            </a:fld>
            <a:endParaRPr lang="fr-CA" sz="1050" dirty="0"/>
          </a:p>
        </p:txBody>
      </p:sp>
      <p:sp>
        <p:nvSpPr>
          <p:cNvPr id="11" name="ZoneTexte 10">
            <a:extLst>
              <a:ext uri="{FF2B5EF4-FFF2-40B4-BE49-F238E27FC236}">
                <a16:creationId xmlns:a16="http://schemas.microsoft.com/office/drawing/2014/main" id="{91B61191-ADFE-044D-D73D-77BA0D919B2B}"/>
              </a:ext>
            </a:extLst>
          </p:cNvPr>
          <p:cNvSpPr txBox="1"/>
          <p:nvPr/>
        </p:nvSpPr>
        <p:spPr>
          <a:xfrm>
            <a:off x="3034454" y="4924807"/>
            <a:ext cx="1747520" cy="273845"/>
          </a:xfrm>
          <a:prstGeom prst="rect">
            <a:avLst/>
          </a:prstGeom>
        </p:spPr>
        <p:txBody>
          <a:bodyPr vert="horz" wrap="square" lIns="91440" tIns="45720" rIns="91440" bIns="45720" rtlCol="0">
            <a:normAutofit fontScale="92500"/>
          </a:bodyPr>
          <a:lstStyle/>
          <a:p>
            <a:pPr>
              <a:buClr>
                <a:schemeClr val="accent2"/>
              </a:buClr>
              <a:buSzPct val="125000"/>
            </a:pPr>
            <a:r>
              <a:rPr lang="fr-CA" sz="900" dirty="0"/>
              <a:t>Par Hugo Lesley – HEC Montréal</a:t>
            </a:r>
          </a:p>
        </p:txBody>
      </p:sp>
    </p:spTree>
    <p:extLst>
      <p:ext uri="{BB962C8B-B14F-4D97-AF65-F5344CB8AC3E}">
        <p14:creationId xmlns:p14="http://schemas.microsoft.com/office/powerpoint/2010/main" val="23277609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anim calcmode="lin" valueType="num">
                                      <p:cBhvr>
                                        <p:cTn id="7" dur="1000" fill="hold"/>
                                        <p:tgtEl>
                                          <p:spTgt spid="4">
                                            <p:txEl>
                                              <p:pRg st="2" end="2"/>
                                            </p:txEl>
                                          </p:spTgt>
                                        </p:tgtEl>
                                        <p:attrNameLst>
                                          <p:attrName>ppt_w</p:attrName>
                                        </p:attrNameLst>
                                      </p:cBhvr>
                                      <p:tavLst>
                                        <p:tav tm="0">
                                          <p:val>
                                            <p:fltVal val="0"/>
                                          </p:val>
                                        </p:tav>
                                        <p:tav tm="100000">
                                          <p:val>
                                            <p:strVal val="#ppt_w"/>
                                          </p:val>
                                        </p:tav>
                                      </p:tavLst>
                                    </p:anim>
                                    <p:anim calcmode="lin" valueType="num">
                                      <p:cBhvr>
                                        <p:cTn id="8" dur="1000" fill="hold"/>
                                        <p:tgtEl>
                                          <p:spTgt spid="4">
                                            <p:txEl>
                                              <p:pRg st="2" end="2"/>
                                            </p:txEl>
                                          </p:spTgt>
                                        </p:tgtEl>
                                        <p:attrNameLst>
                                          <p:attrName>ppt_h</p:attrName>
                                        </p:attrNameLst>
                                      </p:cBhvr>
                                      <p:tavLst>
                                        <p:tav tm="0">
                                          <p:val>
                                            <p:fltVal val="0"/>
                                          </p:val>
                                        </p:tav>
                                        <p:tav tm="100000">
                                          <p:val>
                                            <p:strVal val="#ppt_h"/>
                                          </p:val>
                                        </p:tav>
                                      </p:tavLst>
                                    </p:anim>
                                    <p:anim calcmode="lin" valueType="num">
                                      <p:cBhvr>
                                        <p:cTn id="9" dur="1000" fill="hold"/>
                                        <p:tgtEl>
                                          <p:spTgt spid="4">
                                            <p:txEl>
                                              <p:pRg st="2" end="2"/>
                                            </p:txEl>
                                          </p:spTgt>
                                        </p:tgtEl>
                                        <p:attrNameLst>
                                          <p:attrName>style.rotation</p:attrName>
                                        </p:attrNameLst>
                                      </p:cBhvr>
                                      <p:tavLst>
                                        <p:tav tm="0">
                                          <p:val>
                                            <p:fltVal val="90"/>
                                          </p:val>
                                        </p:tav>
                                        <p:tav tm="100000">
                                          <p:val>
                                            <p:fltVal val="0"/>
                                          </p:val>
                                        </p:tav>
                                      </p:tavLst>
                                    </p:anim>
                                    <p:animEffect transition="in" filter="fade">
                                      <p:cBhvr>
                                        <p:cTn id="10" dur="1000"/>
                                        <p:tgtEl>
                                          <p:spTgt spid="4">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anim calcmode="lin" valueType="num">
                                      <p:cBhvr>
                                        <p:cTn id="15" dur="1000" fill="hold"/>
                                        <p:tgtEl>
                                          <p:spTgt spid="4">
                                            <p:txEl>
                                              <p:pRg st="3" end="3"/>
                                            </p:txEl>
                                          </p:spTgt>
                                        </p:tgtEl>
                                        <p:attrNameLst>
                                          <p:attrName>ppt_w</p:attrName>
                                        </p:attrNameLst>
                                      </p:cBhvr>
                                      <p:tavLst>
                                        <p:tav tm="0">
                                          <p:val>
                                            <p:fltVal val="0"/>
                                          </p:val>
                                        </p:tav>
                                        <p:tav tm="100000">
                                          <p:val>
                                            <p:strVal val="#ppt_w"/>
                                          </p:val>
                                        </p:tav>
                                      </p:tavLst>
                                    </p:anim>
                                    <p:anim calcmode="lin" valueType="num">
                                      <p:cBhvr>
                                        <p:cTn id="16" dur="1000" fill="hold"/>
                                        <p:tgtEl>
                                          <p:spTgt spid="4">
                                            <p:txEl>
                                              <p:pRg st="3" end="3"/>
                                            </p:txEl>
                                          </p:spTgt>
                                        </p:tgtEl>
                                        <p:attrNameLst>
                                          <p:attrName>ppt_h</p:attrName>
                                        </p:attrNameLst>
                                      </p:cBhvr>
                                      <p:tavLst>
                                        <p:tav tm="0">
                                          <p:val>
                                            <p:fltVal val="0"/>
                                          </p:val>
                                        </p:tav>
                                        <p:tav tm="100000">
                                          <p:val>
                                            <p:strVal val="#ppt_h"/>
                                          </p:val>
                                        </p:tav>
                                      </p:tavLst>
                                    </p:anim>
                                    <p:anim calcmode="lin" valueType="num">
                                      <p:cBhvr>
                                        <p:cTn id="17" dur="1000" fill="hold"/>
                                        <p:tgtEl>
                                          <p:spTgt spid="4">
                                            <p:txEl>
                                              <p:pRg st="3" end="3"/>
                                            </p:txEl>
                                          </p:spTgt>
                                        </p:tgtEl>
                                        <p:attrNameLst>
                                          <p:attrName>style.rotation</p:attrName>
                                        </p:attrNameLst>
                                      </p:cBhvr>
                                      <p:tavLst>
                                        <p:tav tm="0">
                                          <p:val>
                                            <p:fltVal val="90"/>
                                          </p:val>
                                        </p:tav>
                                        <p:tav tm="100000">
                                          <p:val>
                                            <p:fltVal val="0"/>
                                          </p:val>
                                        </p:tav>
                                      </p:tavLst>
                                    </p:anim>
                                    <p:animEffect transition="in" filter="fade">
                                      <p:cBhvr>
                                        <p:cTn id="18" dur="1000"/>
                                        <p:tgtEl>
                                          <p:spTgt spid="4">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anim calcmode="lin" valueType="num">
                                      <p:cBhvr>
                                        <p:cTn id="23" dur="1000" fill="hold"/>
                                        <p:tgtEl>
                                          <p:spTgt spid="4">
                                            <p:txEl>
                                              <p:pRg st="4" end="4"/>
                                            </p:txEl>
                                          </p:spTgt>
                                        </p:tgtEl>
                                        <p:attrNameLst>
                                          <p:attrName>ppt_w</p:attrName>
                                        </p:attrNameLst>
                                      </p:cBhvr>
                                      <p:tavLst>
                                        <p:tav tm="0">
                                          <p:val>
                                            <p:fltVal val="0"/>
                                          </p:val>
                                        </p:tav>
                                        <p:tav tm="100000">
                                          <p:val>
                                            <p:strVal val="#ppt_w"/>
                                          </p:val>
                                        </p:tav>
                                      </p:tavLst>
                                    </p:anim>
                                    <p:anim calcmode="lin" valueType="num">
                                      <p:cBhvr>
                                        <p:cTn id="24" dur="1000" fill="hold"/>
                                        <p:tgtEl>
                                          <p:spTgt spid="4">
                                            <p:txEl>
                                              <p:pRg st="4" end="4"/>
                                            </p:txEl>
                                          </p:spTgt>
                                        </p:tgtEl>
                                        <p:attrNameLst>
                                          <p:attrName>ppt_h</p:attrName>
                                        </p:attrNameLst>
                                      </p:cBhvr>
                                      <p:tavLst>
                                        <p:tav tm="0">
                                          <p:val>
                                            <p:fltVal val="0"/>
                                          </p:val>
                                        </p:tav>
                                        <p:tav tm="100000">
                                          <p:val>
                                            <p:strVal val="#ppt_h"/>
                                          </p:val>
                                        </p:tav>
                                      </p:tavLst>
                                    </p:anim>
                                    <p:anim calcmode="lin" valueType="num">
                                      <p:cBhvr>
                                        <p:cTn id="25" dur="1000" fill="hold"/>
                                        <p:tgtEl>
                                          <p:spTgt spid="4">
                                            <p:txEl>
                                              <p:pRg st="4" end="4"/>
                                            </p:txEl>
                                          </p:spTgt>
                                        </p:tgtEl>
                                        <p:attrNameLst>
                                          <p:attrName>style.rotation</p:attrName>
                                        </p:attrNameLst>
                                      </p:cBhvr>
                                      <p:tavLst>
                                        <p:tav tm="0">
                                          <p:val>
                                            <p:fltVal val="90"/>
                                          </p:val>
                                        </p:tav>
                                        <p:tav tm="100000">
                                          <p:val>
                                            <p:fltVal val="0"/>
                                          </p:val>
                                        </p:tav>
                                      </p:tavLst>
                                    </p:anim>
                                    <p:animEffect transition="in" filter="fade">
                                      <p:cBhvr>
                                        <p:cTn id="26" dur="1000"/>
                                        <p:tgtEl>
                                          <p:spTgt spid="4">
                                            <p:txEl>
                                              <p:pRg st="4" end="4"/>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31" presetClass="entr" presetSubtype="0" fill="hold" nodeType="clickEffect">
                                  <p:stCondLst>
                                    <p:cond delay="0"/>
                                  </p:stCondLst>
                                  <p:childTnLst>
                                    <p:set>
                                      <p:cBhvr>
                                        <p:cTn id="36" dur="1" fill="hold">
                                          <p:stCondLst>
                                            <p:cond delay="0"/>
                                          </p:stCondLst>
                                        </p:cTn>
                                        <p:tgtEl>
                                          <p:spTgt spid="4">
                                            <p:txEl>
                                              <p:pRg st="7" end="7"/>
                                            </p:txEl>
                                          </p:spTgt>
                                        </p:tgtEl>
                                        <p:attrNameLst>
                                          <p:attrName>style.visibility</p:attrName>
                                        </p:attrNameLst>
                                      </p:cBhvr>
                                      <p:to>
                                        <p:strVal val="visible"/>
                                      </p:to>
                                    </p:set>
                                    <p:anim calcmode="lin" valueType="num">
                                      <p:cBhvr>
                                        <p:cTn id="37" dur="1000" fill="hold"/>
                                        <p:tgtEl>
                                          <p:spTgt spid="4">
                                            <p:txEl>
                                              <p:pRg st="7" end="7"/>
                                            </p:txEl>
                                          </p:spTgt>
                                        </p:tgtEl>
                                        <p:attrNameLst>
                                          <p:attrName>ppt_w</p:attrName>
                                        </p:attrNameLst>
                                      </p:cBhvr>
                                      <p:tavLst>
                                        <p:tav tm="0">
                                          <p:val>
                                            <p:fltVal val="0"/>
                                          </p:val>
                                        </p:tav>
                                        <p:tav tm="100000">
                                          <p:val>
                                            <p:strVal val="#ppt_w"/>
                                          </p:val>
                                        </p:tav>
                                      </p:tavLst>
                                    </p:anim>
                                    <p:anim calcmode="lin" valueType="num">
                                      <p:cBhvr>
                                        <p:cTn id="38" dur="1000" fill="hold"/>
                                        <p:tgtEl>
                                          <p:spTgt spid="4">
                                            <p:txEl>
                                              <p:pRg st="7" end="7"/>
                                            </p:txEl>
                                          </p:spTgt>
                                        </p:tgtEl>
                                        <p:attrNameLst>
                                          <p:attrName>ppt_h</p:attrName>
                                        </p:attrNameLst>
                                      </p:cBhvr>
                                      <p:tavLst>
                                        <p:tav tm="0">
                                          <p:val>
                                            <p:fltVal val="0"/>
                                          </p:val>
                                        </p:tav>
                                        <p:tav tm="100000">
                                          <p:val>
                                            <p:strVal val="#ppt_h"/>
                                          </p:val>
                                        </p:tav>
                                      </p:tavLst>
                                    </p:anim>
                                    <p:anim calcmode="lin" valueType="num">
                                      <p:cBhvr>
                                        <p:cTn id="39" dur="1000" fill="hold"/>
                                        <p:tgtEl>
                                          <p:spTgt spid="4">
                                            <p:txEl>
                                              <p:pRg st="7" end="7"/>
                                            </p:txEl>
                                          </p:spTgt>
                                        </p:tgtEl>
                                        <p:attrNameLst>
                                          <p:attrName>style.rotation</p:attrName>
                                        </p:attrNameLst>
                                      </p:cBhvr>
                                      <p:tavLst>
                                        <p:tav tm="0">
                                          <p:val>
                                            <p:fltVal val="90"/>
                                          </p:val>
                                        </p:tav>
                                        <p:tav tm="100000">
                                          <p:val>
                                            <p:fltVal val="0"/>
                                          </p:val>
                                        </p:tav>
                                      </p:tavLst>
                                    </p:anim>
                                    <p:animEffect transition="in" filter="fade">
                                      <p:cBhvr>
                                        <p:cTn id="40" dur="1000"/>
                                        <p:tgtEl>
                                          <p:spTgt spid="4">
                                            <p:txEl>
                                              <p:pRg st="7" end="7"/>
                                            </p:txEl>
                                          </p:spTgt>
                                        </p:tgtEl>
                                      </p:cBhvr>
                                    </p:animEffect>
                                  </p:childTnLst>
                                </p:cTn>
                              </p:par>
                              <p:par>
                                <p:cTn id="41" presetID="26" presetClass="entr" presetSubtype="0" fill="hold" grpId="0" nodeType="withEffect">
                                  <p:stCondLst>
                                    <p:cond delay="0"/>
                                  </p:stCondLst>
                                  <p:childTnLst>
                                    <p:set>
                                      <p:cBhvr>
                                        <p:cTn id="42" dur="1" fill="hold">
                                          <p:stCondLst>
                                            <p:cond delay="0"/>
                                          </p:stCondLst>
                                        </p:cTn>
                                        <p:tgtEl>
                                          <p:spTgt spid="6"/>
                                        </p:tgtEl>
                                        <p:attrNameLst>
                                          <p:attrName>style.visibility</p:attrName>
                                        </p:attrNameLst>
                                      </p:cBhvr>
                                      <p:to>
                                        <p:strVal val="visible"/>
                                      </p:to>
                                    </p:set>
                                    <p:animEffect transition="in" filter="wipe(down)">
                                      <p:cBhvr>
                                        <p:cTn id="43" dur="580">
                                          <p:stCondLst>
                                            <p:cond delay="0"/>
                                          </p:stCondLst>
                                        </p:cTn>
                                        <p:tgtEl>
                                          <p:spTgt spid="6"/>
                                        </p:tgtEl>
                                      </p:cBhvr>
                                    </p:animEffect>
                                    <p:anim calcmode="lin" valueType="num">
                                      <p:cBhvr>
                                        <p:cTn id="44"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45"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46"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47"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48"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49" dur="26">
                                          <p:stCondLst>
                                            <p:cond delay="650"/>
                                          </p:stCondLst>
                                        </p:cTn>
                                        <p:tgtEl>
                                          <p:spTgt spid="6"/>
                                        </p:tgtEl>
                                      </p:cBhvr>
                                      <p:to x="100000" y="60000"/>
                                    </p:animScale>
                                    <p:animScale>
                                      <p:cBhvr>
                                        <p:cTn id="50" dur="166" decel="50000">
                                          <p:stCondLst>
                                            <p:cond delay="676"/>
                                          </p:stCondLst>
                                        </p:cTn>
                                        <p:tgtEl>
                                          <p:spTgt spid="6"/>
                                        </p:tgtEl>
                                      </p:cBhvr>
                                      <p:to x="100000" y="100000"/>
                                    </p:animScale>
                                    <p:animScale>
                                      <p:cBhvr>
                                        <p:cTn id="51" dur="26">
                                          <p:stCondLst>
                                            <p:cond delay="1312"/>
                                          </p:stCondLst>
                                        </p:cTn>
                                        <p:tgtEl>
                                          <p:spTgt spid="6"/>
                                        </p:tgtEl>
                                      </p:cBhvr>
                                      <p:to x="100000" y="80000"/>
                                    </p:animScale>
                                    <p:animScale>
                                      <p:cBhvr>
                                        <p:cTn id="52" dur="166" decel="50000">
                                          <p:stCondLst>
                                            <p:cond delay="1338"/>
                                          </p:stCondLst>
                                        </p:cTn>
                                        <p:tgtEl>
                                          <p:spTgt spid="6"/>
                                        </p:tgtEl>
                                      </p:cBhvr>
                                      <p:to x="100000" y="100000"/>
                                    </p:animScale>
                                    <p:animScale>
                                      <p:cBhvr>
                                        <p:cTn id="53" dur="26">
                                          <p:stCondLst>
                                            <p:cond delay="1642"/>
                                          </p:stCondLst>
                                        </p:cTn>
                                        <p:tgtEl>
                                          <p:spTgt spid="6"/>
                                        </p:tgtEl>
                                      </p:cBhvr>
                                      <p:to x="100000" y="90000"/>
                                    </p:animScale>
                                    <p:animScale>
                                      <p:cBhvr>
                                        <p:cTn id="54" dur="166" decel="50000">
                                          <p:stCondLst>
                                            <p:cond delay="1668"/>
                                          </p:stCondLst>
                                        </p:cTn>
                                        <p:tgtEl>
                                          <p:spTgt spid="6"/>
                                        </p:tgtEl>
                                      </p:cBhvr>
                                      <p:to x="100000" y="100000"/>
                                    </p:animScale>
                                    <p:animScale>
                                      <p:cBhvr>
                                        <p:cTn id="55" dur="26">
                                          <p:stCondLst>
                                            <p:cond delay="1808"/>
                                          </p:stCondLst>
                                        </p:cTn>
                                        <p:tgtEl>
                                          <p:spTgt spid="6"/>
                                        </p:tgtEl>
                                      </p:cBhvr>
                                      <p:to x="100000" y="95000"/>
                                    </p:animScale>
                                    <p:animScale>
                                      <p:cBhvr>
                                        <p:cTn id="56" dur="166" decel="50000">
                                          <p:stCondLst>
                                            <p:cond delay="1834"/>
                                          </p:stCondLst>
                                        </p:cTn>
                                        <p:tgtEl>
                                          <p:spTgt spid="6"/>
                                        </p:tgtEl>
                                      </p:cBhvr>
                                      <p:to x="100000" y="100000"/>
                                    </p:animScale>
                                  </p:childTnLst>
                                </p:cTn>
                              </p:par>
                              <p:par>
                                <p:cTn id="57" presetID="26" presetClass="entr" presetSubtype="0" fill="hold" grpId="0" nodeType="withEffect">
                                  <p:stCondLst>
                                    <p:cond delay="0"/>
                                  </p:stCondLst>
                                  <p:childTnLst>
                                    <p:set>
                                      <p:cBhvr>
                                        <p:cTn id="58" dur="1" fill="hold">
                                          <p:stCondLst>
                                            <p:cond delay="0"/>
                                          </p:stCondLst>
                                        </p:cTn>
                                        <p:tgtEl>
                                          <p:spTgt spid="9"/>
                                        </p:tgtEl>
                                        <p:attrNameLst>
                                          <p:attrName>style.visibility</p:attrName>
                                        </p:attrNameLst>
                                      </p:cBhvr>
                                      <p:to>
                                        <p:strVal val="visible"/>
                                      </p:to>
                                    </p:set>
                                    <p:animEffect transition="in" filter="wipe(down)">
                                      <p:cBhvr>
                                        <p:cTn id="59" dur="580">
                                          <p:stCondLst>
                                            <p:cond delay="0"/>
                                          </p:stCondLst>
                                        </p:cTn>
                                        <p:tgtEl>
                                          <p:spTgt spid="9"/>
                                        </p:tgtEl>
                                      </p:cBhvr>
                                    </p:animEffect>
                                    <p:anim calcmode="lin" valueType="num">
                                      <p:cBhvr>
                                        <p:cTn id="60" dur="1822" tmFilter="0,0; 0.14,0.36; 0.43,0.73; 0.71,0.91; 1.0,1.0">
                                          <p:stCondLst>
                                            <p:cond delay="0"/>
                                          </p:stCondLst>
                                        </p:cTn>
                                        <p:tgtEl>
                                          <p:spTgt spid="9"/>
                                        </p:tgtEl>
                                        <p:attrNameLst>
                                          <p:attrName>ppt_x</p:attrName>
                                        </p:attrNameLst>
                                      </p:cBhvr>
                                      <p:tavLst>
                                        <p:tav tm="0">
                                          <p:val>
                                            <p:strVal val="#ppt_x-0.25"/>
                                          </p:val>
                                        </p:tav>
                                        <p:tav tm="100000">
                                          <p:val>
                                            <p:strVal val="#ppt_x"/>
                                          </p:val>
                                        </p:tav>
                                      </p:tavLst>
                                    </p:anim>
                                    <p:anim calcmode="lin" valueType="num">
                                      <p:cBhvr>
                                        <p:cTn id="61" dur="664" tmFilter="0.0,0.0; 0.25,0.07; 0.50,0.2; 0.75,0.467; 1.0,1.0">
                                          <p:stCondLst>
                                            <p:cond delay="0"/>
                                          </p:stCondLst>
                                        </p:cTn>
                                        <p:tgtEl>
                                          <p:spTgt spid="9"/>
                                        </p:tgtEl>
                                        <p:attrNameLst>
                                          <p:attrName>ppt_y</p:attrName>
                                        </p:attrNameLst>
                                      </p:cBhvr>
                                      <p:tavLst>
                                        <p:tav tm="0" fmla="#ppt_y-sin(pi*$)/3">
                                          <p:val>
                                            <p:fltVal val="0.5"/>
                                          </p:val>
                                        </p:tav>
                                        <p:tav tm="100000">
                                          <p:val>
                                            <p:fltVal val="1"/>
                                          </p:val>
                                        </p:tav>
                                      </p:tavLst>
                                    </p:anim>
                                    <p:anim calcmode="lin" valueType="num">
                                      <p:cBhvr>
                                        <p:cTn id="62" dur="664" tmFilter="0, 0; 0.125,0.2665; 0.25,0.4; 0.375,0.465; 0.5,0.5;  0.625,0.535; 0.75,0.6; 0.875,0.7335; 1,1">
                                          <p:stCondLst>
                                            <p:cond delay="664"/>
                                          </p:stCondLst>
                                        </p:cTn>
                                        <p:tgtEl>
                                          <p:spTgt spid="9"/>
                                        </p:tgtEl>
                                        <p:attrNameLst>
                                          <p:attrName>ppt_y</p:attrName>
                                        </p:attrNameLst>
                                      </p:cBhvr>
                                      <p:tavLst>
                                        <p:tav tm="0" fmla="#ppt_y-sin(pi*$)/9">
                                          <p:val>
                                            <p:fltVal val="0"/>
                                          </p:val>
                                        </p:tav>
                                        <p:tav tm="100000">
                                          <p:val>
                                            <p:fltVal val="1"/>
                                          </p:val>
                                        </p:tav>
                                      </p:tavLst>
                                    </p:anim>
                                    <p:anim calcmode="lin" valueType="num">
                                      <p:cBhvr>
                                        <p:cTn id="63" dur="332" tmFilter="0, 0; 0.125,0.2665; 0.25,0.4; 0.375,0.465; 0.5,0.5;  0.625,0.535; 0.75,0.6; 0.875,0.7335; 1,1">
                                          <p:stCondLst>
                                            <p:cond delay="1324"/>
                                          </p:stCondLst>
                                        </p:cTn>
                                        <p:tgtEl>
                                          <p:spTgt spid="9"/>
                                        </p:tgtEl>
                                        <p:attrNameLst>
                                          <p:attrName>ppt_y</p:attrName>
                                        </p:attrNameLst>
                                      </p:cBhvr>
                                      <p:tavLst>
                                        <p:tav tm="0" fmla="#ppt_y-sin(pi*$)/27">
                                          <p:val>
                                            <p:fltVal val="0"/>
                                          </p:val>
                                        </p:tav>
                                        <p:tav tm="100000">
                                          <p:val>
                                            <p:fltVal val="1"/>
                                          </p:val>
                                        </p:tav>
                                      </p:tavLst>
                                    </p:anim>
                                    <p:anim calcmode="lin" valueType="num">
                                      <p:cBhvr>
                                        <p:cTn id="64" dur="164" tmFilter="0, 0; 0.125,0.2665; 0.25,0.4; 0.375,0.465; 0.5,0.5;  0.625,0.535; 0.75,0.6; 0.875,0.7335; 1,1">
                                          <p:stCondLst>
                                            <p:cond delay="1656"/>
                                          </p:stCondLst>
                                        </p:cTn>
                                        <p:tgtEl>
                                          <p:spTgt spid="9"/>
                                        </p:tgtEl>
                                        <p:attrNameLst>
                                          <p:attrName>ppt_y</p:attrName>
                                        </p:attrNameLst>
                                      </p:cBhvr>
                                      <p:tavLst>
                                        <p:tav tm="0" fmla="#ppt_y-sin(pi*$)/81">
                                          <p:val>
                                            <p:fltVal val="0"/>
                                          </p:val>
                                        </p:tav>
                                        <p:tav tm="100000">
                                          <p:val>
                                            <p:fltVal val="1"/>
                                          </p:val>
                                        </p:tav>
                                      </p:tavLst>
                                    </p:anim>
                                    <p:animScale>
                                      <p:cBhvr>
                                        <p:cTn id="65" dur="26">
                                          <p:stCondLst>
                                            <p:cond delay="650"/>
                                          </p:stCondLst>
                                        </p:cTn>
                                        <p:tgtEl>
                                          <p:spTgt spid="9"/>
                                        </p:tgtEl>
                                      </p:cBhvr>
                                      <p:to x="100000" y="60000"/>
                                    </p:animScale>
                                    <p:animScale>
                                      <p:cBhvr>
                                        <p:cTn id="66" dur="166" decel="50000">
                                          <p:stCondLst>
                                            <p:cond delay="676"/>
                                          </p:stCondLst>
                                        </p:cTn>
                                        <p:tgtEl>
                                          <p:spTgt spid="9"/>
                                        </p:tgtEl>
                                      </p:cBhvr>
                                      <p:to x="100000" y="100000"/>
                                    </p:animScale>
                                    <p:animScale>
                                      <p:cBhvr>
                                        <p:cTn id="67" dur="26">
                                          <p:stCondLst>
                                            <p:cond delay="1312"/>
                                          </p:stCondLst>
                                        </p:cTn>
                                        <p:tgtEl>
                                          <p:spTgt spid="9"/>
                                        </p:tgtEl>
                                      </p:cBhvr>
                                      <p:to x="100000" y="80000"/>
                                    </p:animScale>
                                    <p:animScale>
                                      <p:cBhvr>
                                        <p:cTn id="68" dur="166" decel="50000">
                                          <p:stCondLst>
                                            <p:cond delay="1338"/>
                                          </p:stCondLst>
                                        </p:cTn>
                                        <p:tgtEl>
                                          <p:spTgt spid="9"/>
                                        </p:tgtEl>
                                      </p:cBhvr>
                                      <p:to x="100000" y="100000"/>
                                    </p:animScale>
                                    <p:animScale>
                                      <p:cBhvr>
                                        <p:cTn id="69" dur="26">
                                          <p:stCondLst>
                                            <p:cond delay="1642"/>
                                          </p:stCondLst>
                                        </p:cTn>
                                        <p:tgtEl>
                                          <p:spTgt spid="9"/>
                                        </p:tgtEl>
                                      </p:cBhvr>
                                      <p:to x="100000" y="90000"/>
                                    </p:animScale>
                                    <p:animScale>
                                      <p:cBhvr>
                                        <p:cTn id="70" dur="166" decel="50000">
                                          <p:stCondLst>
                                            <p:cond delay="1668"/>
                                          </p:stCondLst>
                                        </p:cTn>
                                        <p:tgtEl>
                                          <p:spTgt spid="9"/>
                                        </p:tgtEl>
                                      </p:cBhvr>
                                      <p:to x="100000" y="100000"/>
                                    </p:animScale>
                                    <p:animScale>
                                      <p:cBhvr>
                                        <p:cTn id="71" dur="26">
                                          <p:stCondLst>
                                            <p:cond delay="1808"/>
                                          </p:stCondLst>
                                        </p:cTn>
                                        <p:tgtEl>
                                          <p:spTgt spid="9"/>
                                        </p:tgtEl>
                                      </p:cBhvr>
                                      <p:to x="100000" y="95000"/>
                                    </p:animScale>
                                    <p:animScale>
                                      <p:cBhvr>
                                        <p:cTn id="72" dur="166" decel="50000">
                                          <p:stCondLst>
                                            <p:cond delay="1834"/>
                                          </p:stCondLst>
                                        </p:cTn>
                                        <p:tgtEl>
                                          <p:spTgt spid="9"/>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p:bldP spid="9"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96839" y="788159"/>
            <a:ext cx="6479410" cy="4055218"/>
          </a:xfrm>
        </p:spPr>
        <p:txBody>
          <a:bodyPr>
            <a:normAutofit/>
          </a:bodyPr>
          <a:lstStyle/>
          <a:p>
            <a:pPr marL="285750" indent="-285750">
              <a:buClr>
                <a:schemeClr val="tx1"/>
              </a:buClr>
              <a:buFont typeface="Arial" panose="020B0604020202020204" pitchFamily="34" charset="0"/>
              <a:buChar char="•"/>
            </a:pPr>
            <a:r>
              <a:rPr lang="fr-CA" sz="1600" dirty="0"/>
              <a:t>Structure PIR : </a:t>
            </a:r>
          </a:p>
          <a:p>
            <a:pPr marL="693990" lvl="1" indent="-285750">
              <a:buClr>
                <a:schemeClr val="tx1"/>
              </a:buClr>
            </a:pPr>
            <a:r>
              <a:rPr lang="fr-CA" dirty="0"/>
              <a:t>Problème/Faiblesse :</a:t>
            </a:r>
          </a:p>
          <a:p>
            <a:pPr marL="962910" lvl="2" indent="-285750">
              <a:buClr>
                <a:schemeClr val="tx1"/>
              </a:buClr>
            </a:pPr>
            <a:r>
              <a:rPr lang="fr-CA" dirty="0"/>
              <a:t>Quel est le problème avec la stratégie / les actions du chef des finances ?</a:t>
            </a:r>
          </a:p>
          <a:p>
            <a:pPr marL="693990" lvl="1" indent="-285750">
              <a:buClr>
                <a:schemeClr val="tx1"/>
              </a:buClr>
            </a:pPr>
            <a:r>
              <a:rPr lang="fr-CA" dirty="0"/>
              <a:t>Impact/Incidence :</a:t>
            </a:r>
          </a:p>
          <a:p>
            <a:pPr marL="962910" lvl="2" indent="-285750">
              <a:buClr>
                <a:schemeClr val="tx1"/>
              </a:buClr>
            </a:pPr>
            <a:r>
              <a:rPr lang="fr-CA" dirty="0"/>
              <a:t>Quels ont été les impacts négatifs de ces stratégies / actions ? </a:t>
            </a:r>
          </a:p>
          <a:p>
            <a:pPr marL="962910" lvl="2" indent="-285750">
              <a:buClr>
                <a:schemeClr val="tx1"/>
              </a:buClr>
            </a:pPr>
            <a:r>
              <a:rPr lang="fr-CA" dirty="0"/>
              <a:t>Faire le lien avec les enjeux opérationnels</a:t>
            </a:r>
          </a:p>
          <a:p>
            <a:pPr marL="693990" lvl="1" indent="-285750">
              <a:buClr>
                <a:schemeClr val="tx1"/>
              </a:buClr>
            </a:pPr>
            <a:r>
              <a:rPr lang="fr-CA" dirty="0"/>
              <a:t>Recommandation :</a:t>
            </a:r>
          </a:p>
          <a:p>
            <a:pPr marL="962910" lvl="2" indent="-285750">
              <a:buClr>
                <a:schemeClr val="tx1"/>
              </a:buClr>
            </a:pPr>
            <a:r>
              <a:rPr lang="fr-CA" dirty="0"/>
              <a:t>Comment résoudre le problème ?</a:t>
            </a:r>
          </a:p>
          <a:p>
            <a:pPr marL="962910" lvl="2" indent="-285750">
              <a:buClr>
                <a:schemeClr val="tx1"/>
              </a:buClr>
            </a:pPr>
            <a:r>
              <a:rPr lang="fr-CA" dirty="0"/>
              <a:t>Être précis et concret (verbes et objets)</a:t>
            </a:r>
          </a:p>
          <a:p>
            <a:pPr marL="962910" lvl="2" indent="-285750">
              <a:buClr>
                <a:schemeClr val="tx1"/>
              </a:buClr>
            </a:pPr>
            <a:r>
              <a:rPr lang="fr-CA" dirty="0"/>
              <a:t>Donner des recommandations pratiques</a:t>
            </a:r>
          </a:p>
          <a:p>
            <a:pPr marL="285750" indent="-285750">
              <a:buClr>
                <a:schemeClr val="tx1"/>
              </a:buClr>
              <a:buFont typeface="Arial" panose="020B0604020202020204" pitchFamily="34" charset="0"/>
              <a:buChar char="•"/>
            </a:pPr>
            <a:r>
              <a:rPr lang="fr-CA" sz="1600" dirty="0"/>
              <a:t>Bien séparer les problèmes</a:t>
            </a:r>
          </a:p>
          <a:p>
            <a:pPr marL="285750" indent="-285750">
              <a:buClr>
                <a:schemeClr val="tx1"/>
              </a:buClr>
              <a:buFont typeface="Arial" panose="020B0604020202020204" pitchFamily="34" charset="0"/>
              <a:buChar char="•"/>
            </a:pPr>
            <a:r>
              <a:rPr lang="fr-CA" sz="1600" dirty="0"/>
              <a:t>Analyser plusieurs problèmes</a:t>
            </a:r>
          </a:p>
        </p:txBody>
      </p:sp>
      <p:sp>
        <p:nvSpPr>
          <p:cNvPr id="7" name="ZoneTexte 6">
            <a:extLst>
              <a:ext uri="{FF2B5EF4-FFF2-40B4-BE49-F238E27FC236}">
                <a16:creationId xmlns:a16="http://schemas.microsoft.com/office/drawing/2014/main" id="{26F917C5-E6EB-2E4B-8887-85113F232A1B}"/>
              </a:ext>
            </a:extLst>
          </p:cNvPr>
          <p:cNvSpPr txBox="1"/>
          <p:nvPr/>
        </p:nvSpPr>
        <p:spPr>
          <a:xfrm>
            <a:off x="296839" y="300123"/>
            <a:ext cx="6612634" cy="452432"/>
          </a:xfrm>
          <a:prstGeom prst="rect">
            <a:avLst/>
          </a:prstGeom>
          <a:noFill/>
        </p:spPr>
        <p:txBody>
          <a:bodyPr wrap="square">
            <a:spAutoFit/>
          </a:bodyPr>
          <a:lstStyle/>
          <a:p>
            <a:r>
              <a:rPr lang="fr-CA" sz="2340" b="1" dirty="0">
                <a:solidFill>
                  <a:schemeClr val="accent2"/>
                </a:solidFill>
                <a:latin typeface="+mj-lt"/>
              </a:rPr>
              <a:t>Important pour cette occasion d’évaluation :</a:t>
            </a:r>
          </a:p>
        </p:txBody>
      </p:sp>
      <p:sp>
        <p:nvSpPr>
          <p:cNvPr id="4" name="Espace réservé du numéro de diapositive 4">
            <a:extLst>
              <a:ext uri="{FF2B5EF4-FFF2-40B4-BE49-F238E27FC236}">
                <a16:creationId xmlns:a16="http://schemas.microsoft.com/office/drawing/2014/main" id="{71C7655A-A058-D441-8FA4-54BD7A895A64}"/>
              </a:ext>
            </a:extLst>
          </p:cNvPr>
          <p:cNvSpPr txBox="1">
            <a:spLocks/>
          </p:cNvSpPr>
          <p:nvPr/>
        </p:nvSpPr>
        <p:spPr>
          <a:xfrm>
            <a:off x="8545786" y="4650963"/>
            <a:ext cx="413375" cy="273844"/>
          </a:xfr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B5DEC05-AB38-4F58-9609-FFF4AA167839}" type="slidenum">
              <a:rPr lang="fr-CA" sz="1050" smtClean="0"/>
              <a:pPr/>
              <a:t>60</a:t>
            </a:fld>
            <a:endParaRPr lang="fr-CA" sz="1050" dirty="0"/>
          </a:p>
        </p:txBody>
      </p:sp>
      <p:sp>
        <p:nvSpPr>
          <p:cNvPr id="5" name="ZoneTexte 4">
            <a:extLst>
              <a:ext uri="{FF2B5EF4-FFF2-40B4-BE49-F238E27FC236}">
                <a16:creationId xmlns:a16="http://schemas.microsoft.com/office/drawing/2014/main" id="{CB117DB2-12C5-A140-9432-254EEC754E71}"/>
              </a:ext>
            </a:extLst>
          </p:cNvPr>
          <p:cNvSpPr txBox="1"/>
          <p:nvPr/>
        </p:nvSpPr>
        <p:spPr>
          <a:xfrm>
            <a:off x="3034454" y="4924807"/>
            <a:ext cx="2015848" cy="273845"/>
          </a:xfrm>
          <a:prstGeom prst="rect">
            <a:avLst/>
          </a:prstGeom>
        </p:spPr>
        <p:txBody>
          <a:bodyPr vert="horz" wrap="square" lIns="91440" tIns="45720" rIns="91440" bIns="45720" rtlCol="0">
            <a:normAutofit fontScale="92500"/>
          </a:bodyPr>
          <a:lstStyle/>
          <a:p>
            <a:pPr>
              <a:buClr>
                <a:schemeClr val="accent2"/>
              </a:buClr>
              <a:buSzPct val="125000"/>
            </a:pPr>
            <a:r>
              <a:rPr lang="fr-CA" sz="900" dirty="0"/>
              <a:t>Par Laurence Daoust – HEC Montréal</a:t>
            </a:r>
          </a:p>
        </p:txBody>
      </p:sp>
    </p:spTree>
    <p:extLst>
      <p:ext uri="{BB962C8B-B14F-4D97-AF65-F5344CB8AC3E}">
        <p14:creationId xmlns:p14="http://schemas.microsoft.com/office/powerpoint/2010/main" val="240978013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pied de page 2"/>
          <p:cNvSpPr>
            <a:spLocks noGrp="1"/>
          </p:cNvSpPr>
          <p:nvPr>
            <p:ph type="ftr" sz="quarter" idx="4294967295"/>
          </p:nvPr>
        </p:nvSpPr>
        <p:spPr/>
        <p:txBody>
          <a:bodyPr/>
          <a:lstStyle/>
          <a:p>
            <a:endParaRPr lang="fr-CA"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3038" y="1189668"/>
            <a:ext cx="6561348" cy="354232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Ellipse 6"/>
          <p:cNvSpPr/>
          <p:nvPr/>
        </p:nvSpPr>
        <p:spPr>
          <a:xfrm>
            <a:off x="7139092" y="1869672"/>
            <a:ext cx="1250385" cy="156617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2700"/>
          </a:p>
        </p:txBody>
      </p:sp>
      <p:sp>
        <p:nvSpPr>
          <p:cNvPr id="8" name="Titre 1"/>
          <p:cNvSpPr>
            <a:spLocks noGrp="1"/>
          </p:cNvSpPr>
          <p:nvPr>
            <p:ph type="title"/>
          </p:nvPr>
        </p:nvSpPr>
        <p:spPr>
          <a:xfrm>
            <a:off x="1113233" y="-64013"/>
            <a:ext cx="7514035" cy="1314449"/>
          </a:xfrm>
        </p:spPr>
        <p:txBody>
          <a:bodyPr>
            <a:normAutofit/>
          </a:bodyPr>
          <a:lstStyle/>
          <a:p>
            <a:r>
              <a:rPr lang="fr-CA" dirty="0"/>
              <a:t>OÉ4 – Stratégie et gouvernance</a:t>
            </a:r>
          </a:p>
        </p:txBody>
      </p:sp>
      <p:sp>
        <p:nvSpPr>
          <p:cNvPr id="4" name="Espace réservé du numéro de diapositive 4">
            <a:extLst>
              <a:ext uri="{FF2B5EF4-FFF2-40B4-BE49-F238E27FC236}">
                <a16:creationId xmlns:a16="http://schemas.microsoft.com/office/drawing/2014/main" id="{4FAD5D20-DFF5-0229-0713-5EC1CB725E7E}"/>
              </a:ext>
            </a:extLst>
          </p:cNvPr>
          <p:cNvSpPr txBox="1">
            <a:spLocks/>
          </p:cNvSpPr>
          <p:nvPr/>
        </p:nvSpPr>
        <p:spPr>
          <a:xfrm>
            <a:off x="8545786" y="4650963"/>
            <a:ext cx="413375" cy="273844"/>
          </a:xfr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B5DEC05-AB38-4F58-9609-FFF4AA167839}" type="slidenum">
              <a:rPr lang="fr-CA" sz="1050" smtClean="0"/>
              <a:pPr/>
              <a:t>61</a:t>
            </a:fld>
            <a:endParaRPr lang="fr-CA" sz="1050" dirty="0"/>
          </a:p>
        </p:txBody>
      </p:sp>
      <p:sp>
        <p:nvSpPr>
          <p:cNvPr id="5" name="ZoneTexte 4">
            <a:extLst>
              <a:ext uri="{FF2B5EF4-FFF2-40B4-BE49-F238E27FC236}">
                <a16:creationId xmlns:a16="http://schemas.microsoft.com/office/drawing/2014/main" id="{3697692A-7363-5066-819E-A9B0528B62F9}"/>
              </a:ext>
            </a:extLst>
          </p:cNvPr>
          <p:cNvSpPr txBox="1"/>
          <p:nvPr/>
        </p:nvSpPr>
        <p:spPr>
          <a:xfrm>
            <a:off x="3034454" y="4924807"/>
            <a:ext cx="1747520" cy="273845"/>
          </a:xfrm>
          <a:prstGeom prst="rect">
            <a:avLst/>
          </a:prstGeom>
        </p:spPr>
        <p:txBody>
          <a:bodyPr vert="horz" wrap="square" lIns="91440" tIns="45720" rIns="91440" bIns="45720" rtlCol="0">
            <a:normAutofit fontScale="92500"/>
          </a:bodyPr>
          <a:lstStyle/>
          <a:p>
            <a:pPr>
              <a:buClr>
                <a:schemeClr val="accent2"/>
              </a:buClr>
              <a:buSzPct val="125000"/>
            </a:pPr>
            <a:r>
              <a:rPr lang="fr-CA" sz="900" dirty="0"/>
              <a:t>Par Hugo Lesley – HEC Montréal</a:t>
            </a:r>
          </a:p>
        </p:txBody>
      </p:sp>
    </p:spTree>
    <p:extLst>
      <p:ext uri="{BB962C8B-B14F-4D97-AF65-F5344CB8AC3E}">
        <p14:creationId xmlns:p14="http://schemas.microsoft.com/office/powerpoint/2010/main" val="313365228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26323FB-81D3-414D-83F7-5B6FF7522452}"/>
              </a:ext>
            </a:extLst>
          </p:cNvPr>
          <p:cNvSpPr>
            <a:spLocks noGrp="1"/>
          </p:cNvSpPr>
          <p:nvPr>
            <p:ph type="title"/>
          </p:nvPr>
        </p:nvSpPr>
        <p:spPr/>
        <p:txBody>
          <a:bodyPr/>
          <a:lstStyle/>
          <a:p>
            <a:r>
              <a:rPr lang="fr-CA" b="1" dirty="0"/>
              <a:t>Exemple : Programme « Mettez-vous dans la peau de vos collègues »</a:t>
            </a:r>
          </a:p>
        </p:txBody>
      </p:sp>
      <p:sp>
        <p:nvSpPr>
          <p:cNvPr id="3" name="Espace réservé du contenu 2">
            <a:extLst>
              <a:ext uri="{FF2B5EF4-FFF2-40B4-BE49-F238E27FC236}">
                <a16:creationId xmlns:a16="http://schemas.microsoft.com/office/drawing/2014/main" id="{047370DB-CFCC-CF45-B4D8-ADEF128674EB}"/>
              </a:ext>
            </a:extLst>
          </p:cNvPr>
          <p:cNvSpPr>
            <a:spLocks noGrp="1"/>
          </p:cNvSpPr>
          <p:nvPr>
            <p:ph idx="1"/>
          </p:nvPr>
        </p:nvSpPr>
        <p:spPr>
          <a:xfrm>
            <a:off x="478800" y="1181410"/>
            <a:ext cx="8186400" cy="3682583"/>
          </a:xfrm>
        </p:spPr>
        <p:txBody>
          <a:bodyPr>
            <a:normAutofit/>
          </a:bodyPr>
          <a:lstStyle/>
          <a:p>
            <a:r>
              <a:rPr lang="fr-CA" b="1" dirty="0">
                <a:effectLst/>
                <a:latin typeface="Arial" panose="020B0604020202020204" pitchFamily="34" charset="0"/>
              </a:rPr>
              <a:t>Problème : </a:t>
            </a:r>
            <a:r>
              <a:rPr lang="fr-CA" dirty="0">
                <a:effectLst/>
                <a:latin typeface="Arial" panose="020B0604020202020204" pitchFamily="34" charset="0"/>
              </a:rPr>
              <a:t>Le programme « Mettez-vous dans la peau de vos collègues ». </a:t>
            </a:r>
          </a:p>
          <a:p>
            <a:r>
              <a:rPr lang="fr-CA" b="1" dirty="0">
                <a:latin typeface="Arial" panose="020B0604020202020204" pitchFamily="34" charset="0"/>
              </a:rPr>
              <a:t>Impact : </a:t>
            </a:r>
            <a:r>
              <a:rPr lang="fr-CA" dirty="0">
                <a:effectLst/>
                <a:latin typeface="Arial" panose="020B0604020202020204" pitchFamily="34" charset="0"/>
              </a:rPr>
              <a:t>Ce programme semble avoir causé des difficultés financières à BC. </a:t>
            </a:r>
          </a:p>
          <a:p>
            <a:pPr marL="285750" indent="-285750">
              <a:buClr>
                <a:schemeClr val="tx1"/>
              </a:buClr>
              <a:buFont typeface="Arial" panose="020B0604020202020204" pitchFamily="34" charset="0"/>
              <a:buChar char="•"/>
            </a:pPr>
            <a:r>
              <a:rPr lang="fr-CA" dirty="0">
                <a:effectLst/>
                <a:latin typeface="Arial" panose="020B0604020202020204" pitchFamily="34" charset="0"/>
              </a:rPr>
              <a:t>Des erreurs ont été commises. Par exemple, un directeur des travaux appelé à jouer le rôle du chef des approvisionnements a commandé par erreur pour 900 000 $ de stocks. L’achat de ces matériaux a pour effet d’immobiliser des ressources financières limitées. </a:t>
            </a:r>
          </a:p>
          <a:p>
            <a:pPr marL="285750" indent="-285750">
              <a:buClr>
                <a:schemeClr val="tx1"/>
              </a:buClr>
              <a:buFont typeface="Arial" panose="020B0604020202020204" pitchFamily="34" charset="0"/>
              <a:buChar char="•"/>
            </a:pPr>
            <a:r>
              <a:rPr lang="fr-CA" dirty="0">
                <a:effectLst/>
                <a:latin typeface="Arial" panose="020B0604020202020204" pitchFamily="34" charset="0"/>
              </a:rPr>
              <a:t>Les membres du personnel doivent consacrer du temps à se familiariser avec de nouvelles tâches, ce qui fait en sorte qu’ils ne peuvent s’acquitter de leurs propres tâches comme l’examen et le suivi des projets dont ils sont responsables. La rentabilité de ces projets risque d’être compromise. </a:t>
            </a:r>
          </a:p>
          <a:p>
            <a:r>
              <a:rPr lang="fr-CA" b="1" dirty="0">
                <a:effectLst/>
                <a:latin typeface="Arial" panose="020B0604020202020204" pitchFamily="34" charset="0"/>
              </a:rPr>
              <a:t>Recommandation : </a:t>
            </a:r>
            <a:r>
              <a:rPr lang="fr-CA" dirty="0">
                <a:effectLst/>
                <a:latin typeface="Arial" panose="020B0604020202020204" pitchFamily="34" charset="0"/>
              </a:rPr>
              <a:t>La direction devrait remettre ce programme en question et peut-être concevoir d’autres stratégies pour améliorer l’esprit d’équipe et l’efficacité. Par exemple, BC pourrait donner une formation verticale </a:t>
            </a:r>
            <a:r>
              <a:rPr lang="fr-CA" dirty="0" err="1">
                <a:effectLst/>
                <a:latin typeface="Arial" panose="020B0604020202020204" pitchFamily="34" charset="0"/>
              </a:rPr>
              <a:t>intraservice</a:t>
            </a:r>
            <a:r>
              <a:rPr lang="fr-CA" dirty="0">
                <a:effectLst/>
                <a:latin typeface="Arial" panose="020B0604020202020204" pitchFamily="34" charset="0"/>
              </a:rPr>
              <a:t> plutôt qu’une formation horizontale interservices.</a:t>
            </a:r>
            <a:r>
              <a:rPr lang="fr-CA" dirty="0">
                <a:latin typeface="Arial" panose="020B0604020202020204" pitchFamily="34" charset="0"/>
              </a:rPr>
              <a:t> Les employés d’un même service seraient davantage portés à se familiariser avec d’autres tâches connexes aux leurs plutôt qu’à celles d’un autre service</a:t>
            </a:r>
            <a:r>
              <a:rPr lang="fr-CA" dirty="0">
                <a:effectLst/>
                <a:latin typeface="Arial" panose="020B0604020202020204" pitchFamily="34" charset="0"/>
              </a:rPr>
              <a:t>.</a:t>
            </a:r>
            <a:endParaRPr lang="fr-CA" dirty="0"/>
          </a:p>
        </p:txBody>
      </p:sp>
      <p:sp>
        <p:nvSpPr>
          <p:cNvPr id="4" name="Espace réservé du numéro de diapositive 4">
            <a:extLst>
              <a:ext uri="{FF2B5EF4-FFF2-40B4-BE49-F238E27FC236}">
                <a16:creationId xmlns:a16="http://schemas.microsoft.com/office/drawing/2014/main" id="{BBCE01C3-6088-4F42-9224-C5D3315F5981}"/>
              </a:ext>
            </a:extLst>
          </p:cNvPr>
          <p:cNvSpPr txBox="1">
            <a:spLocks/>
          </p:cNvSpPr>
          <p:nvPr/>
        </p:nvSpPr>
        <p:spPr>
          <a:xfrm>
            <a:off x="8545786" y="4650963"/>
            <a:ext cx="413375" cy="273844"/>
          </a:xfr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B5DEC05-AB38-4F58-9609-FFF4AA167839}" type="slidenum">
              <a:rPr lang="fr-CA" sz="1050" smtClean="0"/>
              <a:pPr/>
              <a:t>62</a:t>
            </a:fld>
            <a:endParaRPr lang="fr-CA" sz="1050" dirty="0"/>
          </a:p>
        </p:txBody>
      </p:sp>
      <p:sp>
        <p:nvSpPr>
          <p:cNvPr id="5" name="ZoneTexte 4">
            <a:extLst>
              <a:ext uri="{FF2B5EF4-FFF2-40B4-BE49-F238E27FC236}">
                <a16:creationId xmlns:a16="http://schemas.microsoft.com/office/drawing/2014/main" id="{6F61E7B6-DE3E-EE4B-9984-1E571701CF6F}"/>
              </a:ext>
            </a:extLst>
          </p:cNvPr>
          <p:cNvSpPr txBox="1"/>
          <p:nvPr/>
        </p:nvSpPr>
        <p:spPr>
          <a:xfrm>
            <a:off x="3034454" y="4924807"/>
            <a:ext cx="2015848" cy="273845"/>
          </a:xfrm>
          <a:prstGeom prst="rect">
            <a:avLst/>
          </a:prstGeom>
        </p:spPr>
        <p:txBody>
          <a:bodyPr vert="horz" wrap="square" lIns="91440" tIns="45720" rIns="91440" bIns="45720" rtlCol="0">
            <a:normAutofit fontScale="92500"/>
          </a:bodyPr>
          <a:lstStyle/>
          <a:p>
            <a:pPr>
              <a:buClr>
                <a:schemeClr val="accent2"/>
              </a:buClr>
              <a:buSzPct val="125000"/>
            </a:pPr>
            <a:r>
              <a:rPr lang="fr-CA" sz="900" dirty="0"/>
              <a:t>Par Laurence Daoust – HEC Montréal</a:t>
            </a:r>
          </a:p>
        </p:txBody>
      </p:sp>
    </p:spTree>
    <p:extLst>
      <p:ext uri="{BB962C8B-B14F-4D97-AF65-F5344CB8AC3E}">
        <p14:creationId xmlns:p14="http://schemas.microsoft.com/office/powerpoint/2010/main" val="1388964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l"/>
            <a:r>
              <a:rPr lang="fr-CA" sz="4050" dirty="0"/>
              <a:t>À retenir</a:t>
            </a:r>
          </a:p>
        </p:txBody>
      </p:sp>
      <p:sp>
        <p:nvSpPr>
          <p:cNvPr id="3" name="Espace réservé du contenu 2"/>
          <p:cNvSpPr>
            <a:spLocks noGrp="1"/>
          </p:cNvSpPr>
          <p:nvPr>
            <p:ph idx="1"/>
          </p:nvPr>
        </p:nvSpPr>
        <p:spPr>
          <a:xfrm>
            <a:off x="1113233" y="1497932"/>
            <a:ext cx="7514035" cy="2845469"/>
          </a:xfrm>
        </p:spPr>
        <p:txBody>
          <a:bodyPr/>
          <a:lstStyle/>
          <a:p>
            <a:r>
              <a:rPr lang="fr-CA" dirty="0"/>
              <a:t>Identifiez quelques bons coups.</a:t>
            </a:r>
          </a:p>
          <a:p>
            <a:r>
              <a:rPr lang="fr-CA" dirty="0"/>
              <a:t>Identifiez un item que vous souhaitez améliorer. Considérez :</a:t>
            </a:r>
          </a:p>
          <a:p>
            <a:pPr lvl="2">
              <a:buFont typeface="Wingdings" panose="05000000000000000000" pitchFamily="2" charset="2"/>
              <a:buChar char="ü"/>
            </a:pPr>
            <a:r>
              <a:rPr lang="fr-CA" sz="1500" dirty="0"/>
              <a:t>Votre technique de lecture et prise de notes</a:t>
            </a:r>
          </a:p>
          <a:p>
            <a:pPr lvl="2">
              <a:buFont typeface="Wingdings" panose="05000000000000000000" pitchFamily="2" charset="2"/>
              <a:buChar char="ü"/>
            </a:pPr>
            <a:r>
              <a:rPr lang="fr-CA" sz="1500" dirty="0"/>
              <a:t>Votre gestion du temps</a:t>
            </a:r>
          </a:p>
          <a:p>
            <a:pPr lvl="2">
              <a:buFont typeface="Wingdings" panose="05000000000000000000" pitchFamily="2" charset="2"/>
              <a:buChar char="ü"/>
            </a:pPr>
            <a:r>
              <a:rPr lang="fr-CA" sz="1500" dirty="0"/>
              <a:t>Votre technique de rédaction</a:t>
            </a:r>
          </a:p>
          <a:p>
            <a:pPr lvl="2">
              <a:buFont typeface="Wingdings" panose="05000000000000000000" pitchFamily="2" charset="2"/>
              <a:buChar char="ü"/>
            </a:pPr>
            <a:r>
              <a:rPr lang="fr-CA" sz="1500" dirty="0"/>
              <a:t>Des faits du cas mal compris et/ou ignorés.</a:t>
            </a:r>
          </a:p>
        </p:txBody>
      </p:sp>
      <p:sp>
        <p:nvSpPr>
          <p:cNvPr id="4" name="Espace réservé du pied de page 3"/>
          <p:cNvSpPr>
            <a:spLocks noGrp="1"/>
          </p:cNvSpPr>
          <p:nvPr>
            <p:ph type="ftr" sz="quarter" idx="4294967295"/>
          </p:nvPr>
        </p:nvSpPr>
        <p:spPr/>
        <p:txBody>
          <a:bodyPr/>
          <a:lstStyle/>
          <a:p>
            <a:endParaRPr lang="fr-CA" dirty="0"/>
          </a:p>
        </p:txBody>
      </p:sp>
      <p:sp>
        <p:nvSpPr>
          <p:cNvPr id="6" name="Espace réservé du numéro de diapositive 4">
            <a:extLst>
              <a:ext uri="{FF2B5EF4-FFF2-40B4-BE49-F238E27FC236}">
                <a16:creationId xmlns:a16="http://schemas.microsoft.com/office/drawing/2014/main" id="{3348033C-B5DB-0E80-C1DC-7B5856B9A570}"/>
              </a:ext>
            </a:extLst>
          </p:cNvPr>
          <p:cNvSpPr txBox="1">
            <a:spLocks/>
          </p:cNvSpPr>
          <p:nvPr/>
        </p:nvSpPr>
        <p:spPr>
          <a:xfrm>
            <a:off x="8545786" y="4650963"/>
            <a:ext cx="413375" cy="273844"/>
          </a:xfr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B5DEC05-AB38-4F58-9609-FFF4AA167839}" type="slidenum">
              <a:rPr lang="fr-CA" sz="1050" smtClean="0"/>
              <a:pPr/>
              <a:t>63</a:t>
            </a:fld>
            <a:endParaRPr lang="fr-CA" sz="1050" dirty="0"/>
          </a:p>
        </p:txBody>
      </p:sp>
      <p:sp>
        <p:nvSpPr>
          <p:cNvPr id="7" name="ZoneTexte 6">
            <a:extLst>
              <a:ext uri="{FF2B5EF4-FFF2-40B4-BE49-F238E27FC236}">
                <a16:creationId xmlns:a16="http://schemas.microsoft.com/office/drawing/2014/main" id="{F4CA1CBE-EDF7-F218-73F2-38B18CB2363B}"/>
              </a:ext>
            </a:extLst>
          </p:cNvPr>
          <p:cNvSpPr txBox="1"/>
          <p:nvPr/>
        </p:nvSpPr>
        <p:spPr>
          <a:xfrm>
            <a:off x="3034454" y="4924807"/>
            <a:ext cx="1747520" cy="273845"/>
          </a:xfrm>
          <a:prstGeom prst="rect">
            <a:avLst/>
          </a:prstGeom>
        </p:spPr>
        <p:txBody>
          <a:bodyPr vert="horz" wrap="square" lIns="91440" tIns="45720" rIns="91440" bIns="45720" rtlCol="0">
            <a:normAutofit fontScale="92500"/>
          </a:bodyPr>
          <a:lstStyle/>
          <a:p>
            <a:pPr>
              <a:buClr>
                <a:schemeClr val="accent2"/>
              </a:buClr>
              <a:buSzPct val="125000"/>
            </a:pPr>
            <a:r>
              <a:rPr lang="fr-CA" sz="900" dirty="0"/>
              <a:t>Par Hugo Lesley – HEC Montréal</a:t>
            </a:r>
          </a:p>
        </p:txBody>
      </p:sp>
    </p:spTree>
    <p:extLst>
      <p:ext uri="{BB962C8B-B14F-4D97-AF65-F5344CB8AC3E}">
        <p14:creationId xmlns:p14="http://schemas.microsoft.com/office/powerpoint/2010/main" val="2828313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arn(inVertic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arn(inVertic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arn(inVertic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arn(inVertical)">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NUM" val="1"/>
</p:tagLst>
</file>

<file path=ppt/tags/tag2.xml><?xml version="1.0" encoding="utf-8"?>
<p:tagLst xmlns:a="http://schemas.openxmlformats.org/drawingml/2006/main" xmlns:r="http://schemas.openxmlformats.org/officeDocument/2006/relationships" xmlns:p="http://schemas.openxmlformats.org/presentationml/2006/main">
  <p:tag name="NUM" val="2"/>
</p:tagLst>
</file>

<file path=ppt/tags/tag3.xml><?xml version="1.0" encoding="utf-8"?>
<p:tagLst xmlns:a="http://schemas.openxmlformats.org/drawingml/2006/main" xmlns:r="http://schemas.openxmlformats.org/officeDocument/2006/relationships" xmlns:p="http://schemas.openxmlformats.org/presentationml/2006/main">
  <p:tag name="NUM" val="1"/>
</p:tagLst>
</file>

<file path=ppt/tags/tag4.xml><?xml version="1.0" encoding="utf-8"?>
<p:tagLst xmlns:a="http://schemas.openxmlformats.org/drawingml/2006/main" xmlns:r="http://schemas.openxmlformats.org/officeDocument/2006/relationships" xmlns:p="http://schemas.openxmlformats.org/presentationml/2006/main">
  <p:tag name="NUM" val="2"/>
</p:tagLst>
</file>

<file path=ppt/tags/tag5.xml><?xml version="1.0" encoding="utf-8"?>
<p:tagLst xmlns:a="http://schemas.openxmlformats.org/drawingml/2006/main" xmlns:r="http://schemas.openxmlformats.org/officeDocument/2006/relationships" xmlns:p="http://schemas.openxmlformats.org/presentationml/2006/main">
  <p:tag name="NUM" val="3"/>
</p:tagLst>
</file>

<file path=ppt/tags/tag6.xml><?xml version="1.0" encoding="utf-8"?>
<p:tagLst xmlns:a="http://schemas.openxmlformats.org/drawingml/2006/main" xmlns:r="http://schemas.openxmlformats.org/officeDocument/2006/relationships" xmlns:p="http://schemas.openxmlformats.org/presentationml/2006/main">
  <p:tag name="NUM" val="4"/>
</p:tagLst>
</file>

<file path=ppt/tags/tag7.xml><?xml version="1.0" encoding="utf-8"?>
<p:tagLst xmlns:a="http://schemas.openxmlformats.org/drawingml/2006/main" xmlns:r="http://schemas.openxmlformats.org/officeDocument/2006/relationships" xmlns:p="http://schemas.openxmlformats.org/presentationml/2006/main">
  <p:tag name="NUM" val="5"/>
</p:tagLst>
</file>

<file path=ppt/tags/tag8.xml><?xml version="1.0" encoding="utf-8"?>
<p:tagLst xmlns:a="http://schemas.openxmlformats.org/drawingml/2006/main" xmlns:r="http://schemas.openxmlformats.org/officeDocument/2006/relationships" xmlns:p="http://schemas.openxmlformats.org/presentationml/2006/main">
  <p:tag name="NUM" val="6"/>
</p:tagLst>
</file>

<file path=ppt/tags/tag9.xml><?xml version="1.0" encoding="utf-8"?>
<p:tagLst xmlns:a="http://schemas.openxmlformats.org/drawingml/2006/main" xmlns:r="http://schemas.openxmlformats.org/officeDocument/2006/relationships" xmlns:p="http://schemas.openxmlformats.org/presentationml/2006/main">
  <p:tag name="NUM" val="7"/>
</p:tagLst>
</file>

<file path=ppt/tags/tag10.xml><?xml version="1.0" encoding="utf-8"?>
<p:tagLst xmlns:a="http://schemas.openxmlformats.org/drawingml/2006/main" xmlns:r="http://schemas.openxmlformats.org/officeDocument/2006/relationships" xmlns:p="http://schemas.openxmlformats.org/presentationml/2006/main">
  <p:tag name="NUM" val="8"/>
</p:tagLst>
</file>

<file path=ppt/tags/tag11.xml><?xml version="1.0" encoding="utf-8"?>
<p:tagLst xmlns:a="http://schemas.openxmlformats.org/drawingml/2006/main" xmlns:r="http://schemas.openxmlformats.org/officeDocument/2006/relationships" xmlns:p="http://schemas.openxmlformats.org/presentationml/2006/main">
  <p:tag name="NUM" val="1"/>
</p:tagLst>
</file>

<file path=ppt/tags/tag12.xml><?xml version="1.0" encoding="utf-8"?>
<p:tagLst xmlns:a="http://schemas.openxmlformats.org/drawingml/2006/main" xmlns:r="http://schemas.openxmlformats.org/officeDocument/2006/relationships" xmlns:p="http://schemas.openxmlformats.org/presentationml/2006/main">
  <p:tag name="NUM" val="2"/>
</p:tagLst>
</file>

<file path=ppt/tags/tag13.xml><?xml version="1.0" encoding="utf-8"?>
<p:tagLst xmlns:a="http://schemas.openxmlformats.org/drawingml/2006/main" xmlns:r="http://schemas.openxmlformats.org/officeDocument/2006/relationships" xmlns:p="http://schemas.openxmlformats.org/presentationml/2006/main">
  <p:tag name="NUM" val="3"/>
</p:tagLst>
</file>

<file path=ppt/tags/tag14.xml><?xml version="1.0" encoding="utf-8"?>
<p:tagLst xmlns:a="http://schemas.openxmlformats.org/drawingml/2006/main" xmlns:r="http://schemas.openxmlformats.org/officeDocument/2006/relationships" xmlns:p="http://schemas.openxmlformats.org/presentationml/2006/main">
  <p:tag name="NUM" val="4"/>
</p:tagLst>
</file>

<file path=ppt/tags/tag15.xml><?xml version="1.0" encoding="utf-8"?>
<p:tagLst xmlns:a="http://schemas.openxmlformats.org/drawingml/2006/main" xmlns:r="http://schemas.openxmlformats.org/officeDocument/2006/relationships" xmlns:p="http://schemas.openxmlformats.org/presentationml/2006/main">
  <p:tag name="NUM" val="5"/>
</p:tagLst>
</file>

<file path=ppt/tags/tag16.xml><?xml version="1.0" encoding="utf-8"?>
<p:tagLst xmlns:a="http://schemas.openxmlformats.org/drawingml/2006/main" xmlns:r="http://schemas.openxmlformats.org/officeDocument/2006/relationships" xmlns:p="http://schemas.openxmlformats.org/presentationml/2006/main">
  <p:tag name="NUM" val="6"/>
</p:tagLst>
</file>

<file path=ppt/tags/tag17.xml><?xml version="1.0" encoding="utf-8"?>
<p:tagLst xmlns:a="http://schemas.openxmlformats.org/drawingml/2006/main" xmlns:r="http://schemas.openxmlformats.org/officeDocument/2006/relationships" xmlns:p="http://schemas.openxmlformats.org/presentationml/2006/main">
  <p:tag name="NUM" val="7"/>
</p:tagLst>
</file>

<file path=ppt/tags/tag18.xml><?xml version="1.0" encoding="utf-8"?>
<p:tagLst xmlns:a="http://schemas.openxmlformats.org/drawingml/2006/main" xmlns:r="http://schemas.openxmlformats.org/officeDocument/2006/relationships" xmlns:p="http://schemas.openxmlformats.org/presentationml/2006/main">
  <p:tag name="NUM" val="8"/>
</p:tagLst>
</file>

<file path=ppt/tags/tag19.xml><?xml version="1.0" encoding="utf-8"?>
<p:tagLst xmlns:a="http://schemas.openxmlformats.org/drawingml/2006/main" xmlns:r="http://schemas.openxmlformats.org/officeDocument/2006/relationships" xmlns:p="http://schemas.openxmlformats.org/presentationml/2006/main">
  <p:tag name="NUM" val="4"/>
</p:tagLst>
</file>

<file path=ppt/tags/tag20.xml><?xml version="1.0" encoding="utf-8"?>
<p:tagLst xmlns:a="http://schemas.openxmlformats.org/drawingml/2006/main" xmlns:r="http://schemas.openxmlformats.org/officeDocument/2006/relationships" xmlns:p="http://schemas.openxmlformats.org/presentationml/2006/main">
  <p:tag name="NUM" val="1"/>
</p:tagLst>
</file>

<file path=ppt/tags/tag21.xml><?xml version="1.0" encoding="utf-8"?>
<p:tagLst xmlns:a="http://schemas.openxmlformats.org/drawingml/2006/main" xmlns:r="http://schemas.openxmlformats.org/officeDocument/2006/relationships" xmlns:p="http://schemas.openxmlformats.org/presentationml/2006/main">
  <p:tag name="NUM" val="2"/>
</p:tagLst>
</file>

<file path=ppt/tags/tag22.xml><?xml version="1.0" encoding="utf-8"?>
<p:tagLst xmlns:a="http://schemas.openxmlformats.org/drawingml/2006/main" xmlns:r="http://schemas.openxmlformats.org/officeDocument/2006/relationships" xmlns:p="http://schemas.openxmlformats.org/presentationml/2006/main">
  <p:tag name="NUM" val="3"/>
</p:tagLst>
</file>

<file path=ppt/tags/tag23.xml><?xml version="1.0" encoding="utf-8"?>
<p:tagLst xmlns:a="http://schemas.openxmlformats.org/drawingml/2006/main" xmlns:r="http://schemas.openxmlformats.org/officeDocument/2006/relationships" xmlns:p="http://schemas.openxmlformats.org/presentationml/2006/main">
  <p:tag name="NUM" val="3"/>
</p:tagLst>
</file>

<file path=ppt/tags/tag24.xml><?xml version="1.0" encoding="utf-8"?>
<p:tagLst xmlns:a="http://schemas.openxmlformats.org/drawingml/2006/main" xmlns:r="http://schemas.openxmlformats.org/officeDocument/2006/relationships" xmlns:p="http://schemas.openxmlformats.org/presentationml/2006/main">
  <p:tag name="NUM" val="1"/>
</p:tagLst>
</file>

<file path=ppt/tags/tag25.xml><?xml version="1.0" encoding="utf-8"?>
<p:tagLst xmlns:a="http://schemas.openxmlformats.org/drawingml/2006/main" xmlns:r="http://schemas.openxmlformats.org/officeDocument/2006/relationships" xmlns:p="http://schemas.openxmlformats.org/presentationml/2006/main">
  <p:tag name="NUM" val="2"/>
</p:tagLst>
</file>

<file path=ppt/tags/tag26.xml><?xml version="1.0" encoding="utf-8"?>
<p:tagLst xmlns:a="http://schemas.openxmlformats.org/drawingml/2006/main" xmlns:r="http://schemas.openxmlformats.org/officeDocument/2006/relationships" xmlns:p="http://schemas.openxmlformats.org/presentationml/2006/main">
  <p:tag name="NUM" val="4"/>
</p:tagLst>
</file>

<file path=ppt/tags/tag27.xml><?xml version="1.0" encoding="utf-8"?>
<p:tagLst xmlns:a="http://schemas.openxmlformats.org/drawingml/2006/main" xmlns:r="http://schemas.openxmlformats.org/officeDocument/2006/relationships" xmlns:p="http://schemas.openxmlformats.org/presentationml/2006/main">
  <p:tag name="NUM" val="5"/>
</p:tagLst>
</file>

<file path=ppt/theme/theme1.xml><?xml version="1.0" encoding="utf-8"?>
<a:theme xmlns:a="http://schemas.openxmlformats.org/drawingml/2006/main" name="Thème HEC">
  <a:themeElements>
    <a:clrScheme name="HEC2">
      <a:dk1>
        <a:srgbClr val="000000"/>
      </a:dk1>
      <a:lt1>
        <a:srgbClr val="FFFFFF"/>
      </a:lt1>
      <a:dk2>
        <a:srgbClr val="97999B"/>
      </a:dk2>
      <a:lt2>
        <a:srgbClr val="EFF0F0"/>
      </a:lt2>
      <a:accent1>
        <a:srgbClr val="009FDF"/>
      </a:accent1>
      <a:accent2>
        <a:srgbClr val="003C71"/>
      </a:accent2>
      <a:accent3>
        <a:srgbClr val="D40F7D"/>
      </a:accent3>
      <a:accent4>
        <a:srgbClr val="FE5000"/>
      </a:accent4>
      <a:accent5>
        <a:srgbClr val="00C1D5"/>
      </a:accent5>
      <a:accent6>
        <a:srgbClr val="005EB8"/>
      </a:accent6>
      <a:hlink>
        <a:srgbClr val="003C71"/>
      </a:hlink>
      <a:folHlink>
        <a:srgbClr val="9678D3"/>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wrap="square" lIns="91440" tIns="45720" rIns="91440" bIns="45720" rtlCol="0">
        <a:normAutofit/>
      </a:bodyPr>
      <a:lstStyle>
        <a:defPPr marL="154800" indent="-154800">
          <a:buClr>
            <a:schemeClr val="accent2"/>
          </a:buClr>
          <a:buSzPct val="125000"/>
          <a:buFont typeface="Arial" panose="020B0604020202020204" pitchFamily="34" charset="0"/>
          <a:buChar char="•"/>
          <a:defRPr sz="1670" dirty="0" smtClean="0"/>
        </a:defPPr>
      </a:lstStyle>
    </a:txDef>
  </a:objectDefaults>
  <a:extraClrSchemeLst/>
  <a:extLst>
    <a:ext uri="{05A4C25C-085E-4340-85A3-A5531E510DB2}">
      <thm15:themeFamily xmlns:thm15="http://schemas.microsoft.com/office/thememl/2012/main" name="SDG-19813-GabaritPTT-MSc" id="{8A64A48E-75B5-D24D-861C-5C60106A7CC3}" vid="{30E3BDFF-E57D-2341-80BE-7D5C9C2D7C4D}"/>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90B42A75F216C340801426EFA22A3EA8" ma:contentTypeVersion="2" ma:contentTypeDescription="Create a new document." ma:contentTypeScope="" ma:versionID="184212868eb1abae188472294b9f3c9f">
  <xsd:schema xmlns:xsd="http://www.w3.org/2001/XMLSchema" xmlns:xs="http://www.w3.org/2001/XMLSchema" xmlns:p="http://schemas.microsoft.com/office/2006/metadata/properties" xmlns:ns2="07a40fe4-eefe-4a7c-bc7b-92295d84a90e" targetNamespace="http://schemas.microsoft.com/office/2006/metadata/properties" ma:root="true" ma:fieldsID="66d5ab52bdaaedb2d80d5ca7a12b4708" ns2:_="">
    <xsd:import namespace="07a40fe4-eefe-4a7c-bc7b-92295d84a90e"/>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7a40fe4-eefe-4a7c-bc7b-92295d84a90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9993652-DC47-4C00-A134-DCE040FCBE79}">
  <ds:schemaRefs>
    <ds:schemaRef ds:uri="http://schemas.microsoft.com/sharepoint/v3/contenttype/forms"/>
  </ds:schemaRefs>
</ds:datastoreItem>
</file>

<file path=customXml/itemProps2.xml><?xml version="1.0" encoding="utf-8"?>
<ds:datastoreItem xmlns:ds="http://schemas.openxmlformats.org/officeDocument/2006/customXml" ds:itemID="{5D96ED5E-61E8-40D8-8E87-336D24E58301}">
  <ds:schemaRefs>
    <ds:schemaRef ds:uri="http://schemas.openxmlformats.org/package/2006/metadata/core-properties"/>
    <ds:schemaRef ds:uri="8f852f39-dec3-49d8-9837-5d4b747e8567"/>
    <ds:schemaRef ds:uri="http://schemas.microsoft.com/office/2006/metadata/properties"/>
    <ds:schemaRef ds:uri="http://schemas.microsoft.com/office/2006/documentManagement/types"/>
    <ds:schemaRef ds:uri="http://purl.org/dc/dcmitype/"/>
    <ds:schemaRef ds:uri="http://www.w3.org/XML/1998/namespace"/>
    <ds:schemaRef ds:uri="http://schemas.microsoft.com/office/infopath/2007/PartnerControls"/>
    <ds:schemaRef ds:uri="http://purl.org/dc/terms/"/>
    <ds:schemaRef ds:uri="http://purl.org/dc/elements/1.1/"/>
  </ds:schemaRefs>
</ds:datastoreItem>
</file>

<file path=customXml/itemProps3.xml><?xml version="1.0" encoding="utf-8"?>
<ds:datastoreItem xmlns:ds="http://schemas.openxmlformats.org/officeDocument/2006/customXml" ds:itemID="{8539087B-26FB-40CB-94F4-F56759FD7EF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7a40fe4-eefe-4a7c-bc7b-92295d84a90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20760</TotalTime>
  <Words>6624</Words>
  <Application>Microsoft Macintosh PowerPoint</Application>
  <PresentationFormat>Affichage à l'écran (16:9)</PresentationFormat>
  <Paragraphs>691</Paragraphs>
  <Slides>63</Slides>
  <Notes>3</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63</vt:i4>
      </vt:variant>
    </vt:vector>
  </HeadingPairs>
  <TitlesOfParts>
    <vt:vector size="70" baseType="lpstr">
      <vt:lpstr>Arial</vt:lpstr>
      <vt:lpstr>Calibri</vt:lpstr>
      <vt:lpstr>Gotham A</vt:lpstr>
      <vt:lpstr>Helvetica</vt:lpstr>
      <vt:lpstr>Times New Roman</vt:lpstr>
      <vt:lpstr>Wingdings</vt:lpstr>
      <vt:lpstr>Thème HEC</vt:lpstr>
      <vt:lpstr>COMP40911  Rôles et mandats en comptabilité professionnelle</vt:lpstr>
      <vt:lpstr>Agenda</vt:lpstr>
      <vt:lpstr>Présentation PowerPoint</vt:lpstr>
      <vt:lpstr>Présentation PowerPoint</vt:lpstr>
      <vt:lpstr>Présentation PowerPoint</vt:lpstr>
      <vt:lpstr>À retenir :</vt:lpstr>
      <vt:lpstr>Rôles et mandats en certification </vt:lpstr>
      <vt:lpstr>Rôles et mandats en certification </vt:lpstr>
      <vt:lpstr>Rôles et mandats en certification </vt:lpstr>
      <vt:lpstr>Rôles et mandats en certification </vt:lpstr>
      <vt:lpstr>Rôles et mandats en certification </vt:lpstr>
      <vt:lpstr>Rôles et mandats en certification </vt:lpstr>
      <vt:lpstr>Rôles et mandats en certification </vt:lpstr>
      <vt:lpstr>Rôles et mandats en certification </vt:lpstr>
      <vt:lpstr>Rôles et mandats en certification </vt:lpstr>
      <vt:lpstr>Rôles et mandats en certification </vt:lpstr>
      <vt:lpstr>Agenda</vt:lpstr>
      <vt:lpstr>Lecture active</vt:lpstr>
      <vt:lpstr>Lecture active</vt:lpstr>
      <vt:lpstr>Lecture active</vt:lpstr>
      <vt:lpstr>Présentation PowerPoint</vt:lpstr>
      <vt:lpstr>Lecture active</vt:lpstr>
      <vt:lpstr>Présentation PowerPoint</vt:lpstr>
      <vt:lpstr>Éléments liés à l’audit</vt:lpstr>
      <vt:lpstr>Éléments liés à l’audit</vt:lpstr>
      <vt:lpstr>Clauses restrictives – LA PHOTO AVANT</vt:lpstr>
      <vt:lpstr>Plan de réponse Quatre occasions d’évaluation</vt:lpstr>
      <vt:lpstr>Occasion d’évaluation #1</vt:lpstr>
      <vt:lpstr>OÉ1 – Information financière</vt:lpstr>
      <vt:lpstr>Important pour cette occasion d’évaluation :</vt:lpstr>
      <vt:lpstr>OÉ1 – Information financière</vt:lpstr>
      <vt:lpstr>Opérations en devises</vt:lpstr>
      <vt:lpstr>Prêt à l’habitation</vt:lpstr>
      <vt:lpstr>Prêt à l’habitation à l’employé retraité</vt:lpstr>
      <vt:lpstr>Provision pour prêts à l’habitation</vt:lpstr>
      <vt:lpstr>Stock de matériaux pour les fondations (1,25M$)</vt:lpstr>
      <vt:lpstr>Stock excédentaire (900k$)</vt:lpstr>
      <vt:lpstr>Actif incorporel – dépréciation</vt:lpstr>
      <vt:lpstr>Occasion d’évaluation #2</vt:lpstr>
      <vt:lpstr>OÉ 2 – Certification</vt:lpstr>
      <vt:lpstr>Important pour cette occasion d’évaluation :</vt:lpstr>
      <vt:lpstr>OÉ 2 – Certification</vt:lpstr>
      <vt:lpstr>Ajustements et impacts</vt:lpstr>
      <vt:lpstr>Impact sur les clauses restrictives</vt:lpstr>
      <vt:lpstr>Rapport de l’auditeur</vt:lpstr>
      <vt:lpstr>Rappel théorique – Évaluation des anomalies détectées au cours de l’audit (NCA 450)</vt:lpstr>
      <vt:lpstr>Rappel théorique – Évaluation des anomalies détectées au cours de l’audit (NCA 450)</vt:lpstr>
      <vt:lpstr>Rappel théorique – Expression d'une opinion modifiée dans le rapport de l’auditeur indépendant (NCA 705)</vt:lpstr>
      <vt:lpstr>Rappel théorique – Expression d'une opinion modifiée dans le rapport de l'auditeur indépendant (NCA 705)</vt:lpstr>
      <vt:lpstr>Continuité de l’exploitation (CE) – Structure de réponse</vt:lpstr>
      <vt:lpstr>Présentation PowerPoint</vt:lpstr>
      <vt:lpstr>Continuité de l’exploitation</vt:lpstr>
      <vt:lpstr>Occasion d’évaluation #3</vt:lpstr>
      <vt:lpstr>OÉ3 – Certification</vt:lpstr>
      <vt:lpstr>Présentation PowerPoint</vt:lpstr>
      <vt:lpstr>OÉ3 – Certification</vt:lpstr>
      <vt:lpstr>Exemple : Prêts à l’habitation</vt:lpstr>
      <vt:lpstr>Occasion d’évaluation #4</vt:lpstr>
      <vt:lpstr>OÉ4 – Stratégie et gouvernance</vt:lpstr>
      <vt:lpstr>Présentation PowerPoint</vt:lpstr>
      <vt:lpstr>OÉ4 – Stratégie et gouvernance</vt:lpstr>
      <vt:lpstr>Exemple : Programme « Mettez-vous dans la peau de vos collègues »</vt:lpstr>
      <vt:lpstr>À retenir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Hugo Lesley</dc:creator>
  <cp:lastModifiedBy>Laurence Daoust</cp:lastModifiedBy>
  <cp:revision>75</cp:revision>
  <dcterms:created xsi:type="dcterms:W3CDTF">2022-05-02T16:29:59Z</dcterms:created>
  <dcterms:modified xsi:type="dcterms:W3CDTF">2025-03-17T14:17:57Z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0x01010090B42A75F216C340801426EFA22A3EA8</vt:lpwstr>
  </property>
</Properties>
</file>