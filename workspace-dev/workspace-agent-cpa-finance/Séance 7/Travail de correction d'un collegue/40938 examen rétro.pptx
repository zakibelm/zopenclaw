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5" r:id="rId3"/>
    <p:sldId id="257" r:id="rId4"/>
    <p:sldId id="274" r:id="rId5"/>
    <p:sldId id="275" r:id="rId6"/>
    <p:sldId id="258" r:id="rId7"/>
    <p:sldId id="259" r:id="rId8"/>
    <p:sldId id="276" r:id="rId9"/>
    <p:sldId id="277" r:id="rId10"/>
    <p:sldId id="260" r:id="rId11"/>
    <p:sldId id="261" r:id="rId12"/>
    <p:sldId id="278" r:id="rId13"/>
    <p:sldId id="279" r:id="rId14"/>
    <p:sldId id="280" r:id="rId15"/>
    <p:sldId id="262" r:id="rId16"/>
    <p:sldId id="263" r:id="rId17"/>
    <p:sldId id="281" r:id="rId18"/>
    <p:sldId id="282" r:id="rId19"/>
    <p:sldId id="264" r:id="rId20"/>
    <p:sldId id="266" r:id="rId21"/>
    <p:sldId id="283" r:id="rId22"/>
    <p:sldId id="267" r:id="rId23"/>
    <p:sldId id="268" r:id="rId24"/>
    <p:sldId id="284" r:id="rId25"/>
    <p:sldId id="285" r:id="rId26"/>
    <p:sldId id="269" r:id="rId27"/>
    <p:sldId id="270" r:id="rId28"/>
    <p:sldId id="286" r:id="rId29"/>
    <p:sldId id="287" r:id="rId30"/>
    <p:sldId id="288" r:id="rId31"/>
    <p:sldId id="271" r:id="rId32"/>
    <p:sldId id="272" r:id="rId33"/>
    <p:sldId id="289" r:id="rId34"/>
    <p:sldId id="290" r:id="rId35"/>
    <p:sldId id="291" r:id="rId36"/>
    <p:sldId id="292" r:id="rId37"/>
    <p:sldId id="293" r:id="rId38"/>
    <p:sldId id="273" r:id="rId39"/>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3" d="100"/>
          <a:sy n="63" d="100"/>
        </p:scale>
        <p:origin x="732"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4CB1DEF-D4C9-4D5D-B9CE-0D4C7563315D}"/>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CF87CDFD-FA19-45F8-8461-7410068452A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8F7AAFCF-8C61-4AEE-9B41-7A6FEC9D29C5}"/>
              </a:ext>
            </a:extLst>
          </p:cNvPr>
          <p:cNvSpPr>
            <a:spLocks noGrp="1"/>
          </p:cNvSpPr>
          <p:nvPr>
            <p:ph type="dt" sz="half" idx="10"/>
          </p:nvPr>
        </p:nvSpPr>
        <p:spPr/>
        <p:txBody>
          <a:bodyPr/>
          <a:lstStyle/>
          <a:p>
            <a:fld id="{09C4FA23-31B7-4650-98ED-B4A2CFEA6485}" type="datetimeFigureOut">
              <a:rPr lang="fr-FR" smtClean="0"/>
              <a:t>09/02/2021</a:t>
            </a:fld>
            <a:endParaRPr lang="fr-FR"/>
          </a:p>
        </p:txBody>
      </p:sp>
      <p:sp>
        <p:nvSpPr>
          <p:cNvPr id="5" name="Espace réservé du pied de page 4">
            <a:extLst>
              <a:ext uri="{FF2B5EF4-FFF2-40B4-BE49-F238E27FC236}">
                <a16:creationId xmlns:a16="http://schemas.microsoft.com/office/drawing/2014/main" id="{5AD85E5F-68E3-415E-A469-ACF23CD9A5E0}"/>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FD3FEE4-8D92-4643-9699-B8C6159930E9}"/>
              </a:ext>
            </a:extLst>
          </p:cNvPr>
          <p:cNvSpPr>
            <a:spLocks noGrp="1"/>
          </p:cNvSpPr>
          <p:nvPr>
            <p:ph type="sldNum" sz="quarter" idx="12"/>
          </p:nvPr>
        </p:nvSpPr>
        <p:spPr/>
        <p:txBody>
          <a:bodyPr/>
          <a:lstStyle/>
          <a:p>
            <a:fld id="{8EB75B24-C698-4622-B851-C739722B5717}" type="slidenum">
              <a:rPr lang="fr-FR" smtClean="0"/>
              <a:t>‹N°›</a:t>
            </a:fld>
            <a:endParaRPr lang="fr-FR"/>
          </a:p>
        </p:txBody>
      </p:sp>
    </p:spTree>
    <p:extLst>
      <p:ext uri="{BB962C8B-B14F-4D97-AF65-F5344CB8AC3E}">
        <p14:creationId xmlns:p14="http://schemas.microsoft.com/office/powerpoint/2010/main" val="34728811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3A59B94-D564-42C5-A335-826D0C4089DC}"/>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94A2862B-7F85-4CD5-9BC7-7419F631098F}"/>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F411C20E-330F-497B-ABAC-A80E9A0A6E0D}"/>
              </a:ext>
            </a:extLst>
          </p:cNvPr>
          <p:cNvSpPr>
            <a:spLocks noGrp="1"/>
          </p:cNvSpPr>
          <p:nvPr>
            <p:ph type="dt" sz="half" idx="10"/>
          </p:nvPr>
        </p:nvSpPr>
        <p:spPr/>
        <p:txBody>
          <a:bodyPr/>
          <a:lstStyle/>
          <a:p>
            <a:fld id="{09C4FA23-31B7-4650-98ED-B4A2CFEA6485}" type="datetimeFigureOut">
              <a:rPr lang="fr-FR" smtClean="0"/>
              <a:t>09/02/2021</a:t>
            </a:fld>
            <a:endParaRPr lang="fr-FR"/>
          </a:p>
        </p:txBody>
      </p:sp>
      <p:sp>
        <p:nvSpPr>
          <p:cNvPr id="5" name="Espace réservé du pied de page 4">
            <a:extLst>
              <a:ext uri="{FF2B5EF4-FFF2-40B4-BE49-F238E27FC236}">
                <a16:creationId xmlns:a16="http://schemas.microsoft.com/office/drawing/2014/main" id="{437BD83D-0863-4F41-83E0-FA389EB6BAA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427E595-0494-4F9B-98F1-4FFEEA79DF47}"/>
              </a:ext>
            </a:extLst>
          </p:cNvPr>
          <p:cNvSpPr>
            <a:spLocks noGrp="1"/>
          </p:cNvSpPr>
          <p:nvPr>
            <p:ph type="sldNum" sz="quarter" idx="12"/>
          </p:nvPr>
        </p:nvSpPr>
        <p:spPr/>
        <p:txBody>
          <a:bodyPr/>
          <a:lstStyle/>
          <a:p>
            <a:fld id="{8EB75B24-C698-4622-B851-C739722B5717}" type="slidenum">
              <a:rPr lang="fr-FR" smtClean="0"/>
              <a:t>‹N°›</a:t>
            </a:fld>
            <a:endParaRPr lang="fr-FR"/>
          </a:p>
        </p:txBody>
      </p:sp>
    </p:spTree>
    <p:extLst>
      <p:ext uri="{BB962C8B-B14F-4D97-AF65-F5344CB8AC3E}">
        <p14:creationId xmlns:p14="http://schemas.microsoft.com/office/powerpoint/2010/main" val="6237110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3A43184-9253-4210-A257-650C1B6E79F0}"/>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8863ECEB-D177-4373-B5DF-5FE8DB0BFEB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79A6682A-25B3-4CB3-929E-49EA5D5AB052}"/>
              </a:ext>
            </a:extLst>
          </p:cNvPr>
          <p:cNvSpPr>
            <a:spLocks noGrp="1"/>
          </p:cNvSpPr>
          <p:nvPr>
            <p:ph type="dt" sz="half" idx="10"/>
          </p:nvPr>
        </p:nvSpPr>
        <p:spPr/>
        <p:txBody>
          <a:bodyPr/>
          <a:lstStyle/>
          <a:p>
            <a:fld id="{09C4FA23-31B7-4650-98ED-B4A2CFEA6485}" type="datetimeFigureOut">
              <a:rPr lang="fr-FR" smtClean="0"/>
              <a:t>09/02/2021</a:t>
            </a:fld>
            <a:endParaRPr lang="fr-FR"/>
          </a:p>
        </p:txBody>
      </p:sp>
      <p:sp>
        <p:nvSpPr>
          <p:cNvPr id="5" name="Espace réservé du pied de page 4">
            <a:extLst>
              <a:ext uri="{FF2B5EF4-FFF2-40B4-BE49-F238E27FC236}">
                <a16:creationId xmlns:a16="http://schemas.microsoft.com/office/drawing/2014/main" id="{B9CB6569-BA70-4E3C-982B-1A146E7AEED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5B74076-41BB-48AB-91F4-8384033AC73A}"/>
              </a:ext>
            </a:extLst>
          </p:cNvPr>
          <p:cNvSpPr>
            <a:spLocks noGrp="1"/>
          </p:cNvSpPr>
          <p:nvPr>
            <p:ph type="sldNum" sz="quarter" idx="12"/>
          </p:nvPr>
        </p:nvSpPr>
        <p:spPr/>
        <p:txBody>
          <a:bodyPr/>
          <a:lstStyle/>
          <a:p>
            <a:fld id="{8EB75B24-C698-4622-B851-C739722B5717}" type="slidenum">
              <a:rPr lang="fr-FR" smtClean="0"/>
              <a:t>‹N°›</a:t>
            </a:fld>
            <a:endParaRPr lang="fr-FR"/>
          </a:p>
        </p:txBody>
      </p:sp>
    </p:spTree>
    <p:extLst>
      <p:ext uri="{BB962C8B-B14F-4D97-AF65-F5344CB8AC3E}">
        <p14:creationId xmlns:p14="http://schemas.microsoft.com/office/powerpoint/2010/main" val="26003115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140924D-98A0-4AF8-A8BD-A7612BA5F48D}"/>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2492B9C2-62EA-460C-9E00-5C83134133F7}"/>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E4225471-D8B8-4908-9A00-2EA23B02B0BC}"/>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9754888E-B255-43EE-897A-368814B905DB}"/>
              </a:ext>
            </a:extLst>
          </p:cNvPr>
          <p:cNvSpPr>
            <a:spLocks noGrp="1"/>
          </p:cNvSpPr>
          <p:nvPr>
            <p:ph type="dt" sz="half" idx="10"/>
          </p:nvPr>
        </p:nvSpPr>
        <p:spPr/>
        <p:txBody>
          <a:bodyPr/>
          <a:lstStyle/>
          <a:p>
            <a:fld id="{09C4FA23-31B7-4650-98ED-B4A2CFEA6485}" type="datetimeFigureOut">
              <a:rPr lang="fr-FR" smtClean="0"/>
              <a:t>09/02/2021</a:t>
            </a:fld>
            <a:endParaRPr lang="fr-FR"/>
          </a:p>
        </p:txBody>
      </p:sp>
      <p:sp>
        <p:nvSpPr>
          <p:cNvPr id="6" name="Espace réservé du pied de page 5">
            <a:extLst>
              <a:ext uri="{FF2B5EF4-FFF2-40B4-BE49-F238E27FC236}">
                <a16:creationId xmlns:a16="http://schemas.microsoft.com/office/drawing/2014/main" id="{0C554E21-78C5-45F3-A18E-4904E7E9DC95}"/>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D24B70C6-E035-47F4-A0F0-99D0A81AED6E}"/>
              </a:ext>
            </a:extLst>
          </p:cNvPr>
          <p:cNvSpPr>
            <a:spLocks noGrp="1"/>
          </p:cNvSpPr>
          <p:nvPr>
            <p:ph type="sldNum" sz="quarter" idx="12"/>
          </p:nvPr>
        </p:nvSpPr>
        <p:spPr/>
        <p:txBody>
          <a:bodyPr/>
          <a:lstStyle/>
          <a:p>
            <a:fld id="{8EB75B24-C698-4622-B851-C739722B5717}" type="slidenum">
              <a:rPr lang="fr-FR" smtClean="0"/>
              <a:t>‹N°›</a:t>
            </a:fld>
            <a:endParaRPr lang="fr-FR"/>
          </a:p>
        </p:txBody>
      </p:sp>
    </p:spTree>
    <p:extLst>
      <p:ext uri="{BB962C8B-B14F-4D97-AF65-F5344CB8AC3E}">
        <p14:creationId xmlns:p14="http://schemas.microsoft.com/office/powerpoint/2010/main" val="14755100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08F959E-64E2-41D9-89E1-03C7D08FE02B}"/>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E4F744DF-115D-4865-B072-6B74C6A876D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BFDE271F-D233-4723-8BA0-FE34C665CE99}"/>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FE3A44CF-7C03-492D-8E89-FF6AB93C09F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4DCEFDEA-736A-4249-BC5E-2D9833CAE197}"/>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ADA5B188-D38F-46B9-AF5E-A11B1D60B8CA}"/>
              </a:ext>
            </a:extLst>
          </p:cNvPr>
          <p:cNvSpPr>
            <a:spLocks noGrp="1"/>
          </p:cNvSpPr>
          <p:nvPr>
            <p:ph type="dt" sz="half" idx="10"/>
          </p:nvPr>
        </p:nvSpPr>
        <p:spPr/>
        <p:txBody>
          <a:bodyPr/>
          <a:lstStyle/>
          <a:p>
            <a:fld id="{09C4FA23-31B7-4650-98ED-B4A2CFEA6485}" type="datetimeFigureOut">
              <a:rPr lang="fr-FR" smtClean="0"/>
              <a:t>09/02/2021</a:t>
            </a:fld>
            <a:endParaRPr lang="fr-FR"/>
          </a:p>
        </p:txBody>
      </p:sp>
      <p:sp>
        <p:nvSpPr>
          <p:cNvPr id="8" name="Espace réservé du pied de page 7">
            <a:extLst>
              <a:ext uri="{FF2B5EF4-FFF2-40B4-BE49-F238E27FC236}">
                <a16:creationId xmlns:a16="http://schemas.microsoft.com/office/drawing/2014/main" id="{2552DA34-B4BC-4E0F-8095-A31B59107D71}"/>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77E46ADE-4A38-470E-8243-652C1DB9C7BA}"/>
              </a:ext>
            </a:extLst>
          </p:cNvPr>
          <p:cNvSpPr>
            <a:spLocks noGrp="1"/>
          </p:cNvSpPr>
          <p:nvPr>
            <p:ph type="sldNum" sz="quarter" idx="12"/>
          </p:nvPr>
        </p:nvSpPr>
        <p:spPr/>
        <p:txBody>
          <a:bodyPr/>
          <a:lstStyle/>
          <a:p>
            <a:fld id="{8EB75B24-C698-4622-B851-C739722B5717}" type="slidenum">
              <a:rPr lang="fr-FR" smtClean="0"/>
              <a:t>‹N°›</a:t>
            </a:fld>
            <a:endParaRPr lang="fr-FR"/>
          </a:p>
        </p:txBody>
      </p:sp>
    </p:spTree>
    <p:extLst>
      <p:ext uri="{BB962C8B-B14F-4D97-AF65-F5344CB8AC3E}">
        <p14:creationId xmlns:p14="http://schemas.microsoft.com/office/powerpoint/2010/main" val="3883797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8AFE06B-40A1-4EED-B7F1-471CCD851955}"/>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C9FB577E-CCF5-4449-A1EF-8114BB151463}"/>
              </a:ext>
            </a:extLst>
          </p:cNvPr>
          <p:cNvSpPr>
            <a:spLocks noGrp="1"/>
          </p:cNvSpPr>
          <p:nvPr>
            <p:ph type="dt" sz="half" idx="10"/>
          </p:nvPr>
        </p:nvSpPr>
        <p:spPr/>
        <p:txBody>
          <a:bodyPr/>
          <a:lstStyle/>
          <a:p>
            <a:fld id="{09C4FA23-31B7-4650-98ED-B4A2CFEA6485}" type="datetimeFigureOut">
              <a:rPr lang="fr-FR" smtClean="0"/>
              <a:t>09/02/2021</a:t>
            </a:fld>
            <a:endParaRPr lang="fr-FR"/>
          </a:p>
        </p:txBody>
      </p:sp>
      <p:sp>
        <p:nvSpPr>
          <p:cNvPr id="4" name="Espace réservé du pied de page 3">
            <a:extLst>
              <a:ext uri="{FF2B5EF4-FFF2-40B4-BE49-F238E27FC236}">
                <a16:creationId xmlns:a16="http://schemas.microsoft.com/office/drawing/2014/main" id="{5C8E5383-AD9B-4FC3-AC46-6397835E81AF}"/>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5D045BC4-DAB7-4929-B49E-058432D21059}"/>
              </a:ext>
            </a:extLst>
          </p:cNvPr>
          <p:cNvSpPr>
            <a:spLocks noGrp="1"/>
          </p:cNvSpPr>
          <p:nvPr>
            <p:ph type="sldNum" sz="quarter" idx="12"/>
          </p:nvPr>
        </p:nvSpPr>
        <p:spPr/>
        <p:txBody>
          <a:bodyPr/>
          <a:lstStyle/>
          <a:p>
            <a:fld id="{8EB75B24-C698-4622-B851-C739722B5717}" type="slidenum">
              <a:rPr lang="fr-FR" smtClean="0"/>
              <a:t>‹N°›</a:t>
            </a:fld>
            <a:endParaRPr lang="fr-FR"/>
          </a:p>
        </p:txBody>
      </p:sp>
    </p:spTree>
    <p:extLst>
      <p:ext uri="{BB962C8B-B14F-4D97-AF65-F5344CB8AC3E}">
        <p14:creationId xmlns:p14="http://schemas.microsoft.com/office/powerpoint/2010/main" val="10797232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BED09DC4-B322-405F-9747-7DB039CB0E08}"/>
              </a:ext>
            </a:extLst>
          </p:cNvPr>
          <p:cNvSpPr>
            <a:spLocks noGrp="1"/>
          </p:cNvSpPr>
          <p:nvPr>
            <p:ph type="dt" sz="half" idx="10"/>
          </p:nvPr>
        </p:nvSpPr>
        <p:spPr/>
        <p:txBody>
          <a:bodyPr/>
          <a:lstStyle/>
          <a:p>
            <a:fld id="{09C4FA23-31B7-4650-98ED-B4A2CFEA6485}" type="datetimeFigureOut">
              <a:rPr lang="fr-FR" smtClean="0"/>
              <a:t>09/02/2021</a:t>
            </a:fld>
            <a:endParaRPr lang="fr-FR"/>
          </a:p>
        </p:txBody>
      </p:sp>
      <p:sp>
        <p:nvSpPr>
          <p:cNvPr id="3" name="Espace réservé du pied de page 2">
            <a:extLst>
              <a:ext uri="{FF2B5EF4-FFF2-40B4-BE49-F238E27FC236}">
                <a16:creationId xmlns:a16="http://schemas.microsoft.com/office/drawing/2014/main" id="{1BBE4870-931D-462A-9B3F-7D1E2D00E321}"/>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4DE8C84F-607C-49B8-B8C3-7CF793560218}"/>
              </a:ext>
            </a:extLst>
          </p:cNvPr>
          <p:cNvSpPr>
            <a:spLocks noGrp="1"/>
          </p:cNvSpPr>
          <p:nvPr>
            <p:ph type="sldNum" sz="quarter" idx="12"/>
          </p:nvPr>
        </p:nvSpPr>
        <p:spPr/>
        <p:txBody>
          <a:bodyPr/>
          <a:lstStyle/>
          <a:p>
            <a:fld id="{8EB75B24-C698-4622-B851-C739722B5717}" type="slidenum">
              <a:rPr lang="fr-FR" smtClean="0"/>
              <a:t>‹N°›</a:t>
            </a:fld>
            <a:endParaRPr lang="fr-FR"/>
          </a:p>
        </p:txBody>
      </p:sp>
    </p:spTree>
    <p:extLst>
      <p:ext uri="{BB962C8B-B14F-4D97-AF65-F5344CB8AC3E}">
        <p14:creationId xmlns:p14="http://schemas.microsoft.com/office/powerpoint/2010/main" val="41003291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5EA2D94-09F9-4FD6-B645-EC631228BCE2}"/>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A99DA3F3-8A4D-4CF3-A455-1D9A2C7802A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08B76D3F-D3CD-4F33-B970-0B9B29D4B0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806AE919-2985-4431-B74E-A0C613564C6F}"/>
              </a:ext>
            </a:extLst>
          </p:cNvPr>
          <p:cNvSpPr>
            <a:spLocks noGrp="1"/>
          </p:cNvSpPr>
          <p:nvPr>
            <p:ph type="dt" sz="half" idx="10"/>
          </p:nvPr>
        </p:nvSpPr>
        <p:spPr/>
        <p:txBody>
          <a:bodyPr/>
          <a:lstStyle/>
          <a:p>
            <a:fld id="{09C4FA23-31B7-4650-98ED-B4A2CFEA6485}" type="datetimeFigureOut">
              <a:rPr lang="fr-FR" smtClean="0"/>
              <a:t>09/02/2021</a:t>
            </a:fld>
            <a:endParaRPr lang="fr-FR"/>
          </a:p>
        </p:txBody>
      </p:sp>
      <p:sp>
        <p:nvSpPr>
          <p:cNvPr id="6" name="Espace réservé du pied de page 5">
            <a:extLst>
              <a:ext uri="{FF2B5EF4-FFF2-40B4-BE49-F238E27FC236}">
                <a16:creationId xmlns:a16="http://schemas.microsoft.com/office/drawing/2014/main" id="{ACDAC2F1-16E7-4C8F-A772-6992C7E5CE9B}"/>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39394BA7-A707-424D-8DA7-5206C018647C}"/>
              </a:ext>
            </a:extLst>
          </p:cNvPr>
          <p:cNvSpPr>
            <a:spLocks noGrp="1"/>
          </p:cNvSpPr>
          <p:nvPr>
            <p:ph type="sldNum" sz="quarter" idx="12"/>
          </p:nvPr>
        </p:nvSpPr>
        <p:spPr/>
        <p:txBody>
          <a:bodyPr/>
          <a:lstStyle/>
          <a:p>
            <a:fld id="{8EB75B24-C698-4622-B851-C739722B5717}" type="slidenum">
              <a:rPr lang="fr-FR" smtClean="0"/>
              <a:t>‹N°›</a:t>
            </a:fld>
            <a:endParaRPr lang="fr-FR"/>
          </a:p>
        </p:txBody>
      </p:sp>
    </p:spTree>
    <p:extLst>
      <p:ext uri="{BB962C8B-B14F-4D97-AF65-F5344CB8AC3E}">
        <p14:creationId xmlns:p14="http://schemas.microsoft.com/office/powerpoint/2010/main" val="21706123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C5CC50A-3B45-4EFC-A6C2-BC09CFF382B5}"/>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42A67178-08FB-414E-A2BD-26A4187BCD5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A182A50C-193A-4B37-8AC2-5E6957BB9E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C2FBDCD3-0948-447A-9618-DC05F8873EBE}"/>
              </a:ext>
            </a:extLst>
          </p:cNvPr>
          <p:cNvSpPr>
            <a:spLocks noGrp="1"/>
          </p:cNvSpPr>
          <p:nvPr>
            <p:ph type="dt" sz="half" idx="10"/>
          </p:nvPr>
        </p:nvSpPr>
        <p:spPr/>
        <p:txBody>
          <a:bodyPr/>
          <a:lstStyle/>
          <a:p>
            <a:fld id="{09C4FA23-31B7-4650-98ED-B4A2CFEA6485}" type="datetimeFigureOut">
              <a:rPr lang="fr-FR" smtClean="0"/>
              <a:t>09/02/2021</a:t>
            </a:fld>
            <a:endParaRPr lang="fr-FR"/>
          </a:p>
        </p:txBody>
      </p:sp>
      <p:sp>
        <p:nvSpPr>
          <p:cNvPr id="6" name="Espace réservé du pied de page 5">
            <a:extLst>
              <a:ext uri="{FF2B5EF4-FFF2-40B4-BE49-F238E27FC236}">
                <a16:creationId xmlns:a16="http://schemas.microsoft.com/office/drawing/2014/main" id="{5AD6D061-154E-4AA7-AA1D-F7E173076B33}"/>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277048FD-62B7-47BF-9866-61022FEC0D2F}"/>
              </a:ext>
            </a:extLst>
          </p:cNvPr>
          <p:cNvSpPr>
            <a:spLocks noGrp="1"/>
          </p:cNvSpPr>
          <p:nvPr>
            <p:ph type="sldNum" sz="quarter" idx="12"/>
          </p:nvPr>
        </p:nvSpPr>
        <p:spPr/>
        <p:txBody>
          <a:bodyPr/>
          <a:lstStyle/>
          <a:p>
            <a:fld id="{8EB75B24-C698-4622-B851-C739722B5717}" type="slidenum">
              <a:rPr lang="fr-FR" smtClean="0"/>
              <a:t>‹N°›</a:t>
            </a:fld>
            <a:endParaRPr lang="fr-FR"/>
          </a:p>
        </p:txBody>
      </p:sp>
    </p:spTree>
    <p:extLst>
      <p:ext uri="{BB962C8B-B14F-4D97-AF65-F5344CB8AC3E}">
        <p14:creationId xmlns:p14="http://schemas.microsoft.com/office/powerpoint/2010/main" val="35379644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7E4D4EE-430B-4659-B204-520DC9B834F8}"/>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E07703F5-91F8-43FD-8F10-BC02C4FDA5B8}"/>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B51A8E8C-7DD1-4DA0-843C-6CFE877BB0F6}"/>
              </a:ext>
            </a:extLst>
          </p:cNvPr>
          <p:cNvSpPr>
            <a:spLocks noGrp="1"/>
          </p:cNvSpPr>
          <p:nvPr>
            <p:ph type="dt" sz="half" idx="10"/>
          </p:nvPr>
        </p:nvSpPr>
        <p:spPr/>
        <p:txBody>
          <a:bodyPr/>
          <a:lstStyle/>
          <a:p>
            <a:fld id="{09C4FA23-31B7-4650-98ED-B4A2CFEA6485}" type="datetimeFigureOut">
              <a:rPr lang="fr-FR" smtClean="0"/>
              <a:t>09/02/2021</a:t>
            </a:fld>
            <a:endParaRPr lang="fr-FR"/>
          </a:p>
        </p:txBody>
      </p:sp>
      <p:sp>
        <p:nvSpPr>
          <p:cNvPr id="5" name="Espace réservé du pied de page 4">
            <a:extLst>
              <a:ext uri="{FF2B5EF4-FFF2-40B4-BE49-F238E27FC236}">
                <a16:creationId xmlns:a16="http://schemas.microsoft.com/office/drawing/2014/main" id="{498556F5-DEE7-480E-820E-98B8A781FAF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BEDE8AF-7044-4FB9-8F18-71FFD63B68AC}"/>
              </a:ext>
            </a:extLst>
          </p:cNvPr>
          <p:cNvSpPr>
            <a:spLocks noGrp="1"/>
          </p:cNvSpPr>
          <p:nvPr>
            <p:ph type="sldNum" sz="quarter" idx="12"/>
          </p:nvPr>
        </p:nvSpPr>
        <p:spPr/>
        <p:txBody>
          <a:bodyPr/>
          <a:lstStyle/>
          <a:p>
            <a:fld id="{8EB75B24-C698-4622-B851-C739722B5717}" type="slidenum">
              <a:rPr lang="fr-FR" smtClean="0"/>
              <a:t>‹N°›</a:t>
            </a:fld>
            <a:endParaRPr lang="fr-FR"/>
          </a:p>
        </p:txBody>
      </p:sp>
    </p:spTree>
    <p:extLst>
      <p:ext uri="{BB962C8B-B14F-4D97-AF65-F5344CB8AC3E}">
        <p14:creationId xmlns:p14="http://schemas.microsoft.com/office/powerpoint/2010/main" val="40333649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60DDCC1D-9547-4CA3-96BE-3984B6F54C7C}"/>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5CBAEB8E-7A4D-4ACB-A483-B70135A84753}"/>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C894FEB-7F4F-4755-9644-B5CBEB775AFF}"/>
              </a:ext>
            </a:extLst>
          </p:cNvPr>
          <p:cNvSpPr>
            <a:spLocks noGrp="1"/>
          </p:cNvSpPr>
          <p:nvPr>
            <p:ph type="dt" sz="half" idx="10"/>
          </p:nvPr>
        </p:nvSpPr>
        <p:spPr/>
        <p:txBody>
          <a:bodyPr/>
          <a:lstStyle/>
          <a:p>
            <a:fld id="{09C4FA23-31B7-4650-98ED-B4A2CFEA6485}" type="datetimeFigureOut">
              <a:rPr lang="fr-FR" smtClean="0"/>
              <a:t>09/02/2021</a:t>
            </a:fld>
            <a:endParaRPr lang="fr-FR"/>
          </a:p>
        </p:txBody>
      </p:sp>
      <p:sp>
        <p:nvSpPr>
          <p:cNvPr id="5" name="Espace réservé du pied de page 4">
            <a:extLst>
              <a:ext uri="{FF2B5EF4-FFF2-40B4-BE49-F238E27FC236}">
                <a16:creationId xmlns:a16="http://schemas.microsoft.com/office/drawing/2014/main" id="{725E629C-7DAA-49F1-B08A-978FD33545A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5B18E8CD-5CFA-4FD5-922E-BB9D6D7674C9}"/>
              </a:ext>
            </a:extLst>
          </p:cNvPr>
          <p:cNvSpPr>
            <a:spLocks noGrp="1"/>
          </p:cNvSpPr>
          <p:nvPr>
            <p:ph type="sldNum" sz="quarter" idx="12"/>
          </p:nvPr>
        </p:nvSpPr>
        <p:spPr/>
        <p:txBody>
          <a:bodyPr/>
          <a:lstStyle/>
          <a:p>
            <a:fld id="{8EB75B24-C698-4622-B851-C739722B5717}" type="slidenum">
              <a:rPr lang="fr-FR" smtClean="0"/>
              <a:t>‹N°›</a:t>
            </a:fld>
            <a:endParaRPr lang="fr-FR"/>
          </a:p>
        </p:txBody>
      </p:sp>
    </p:spTree>
    <p:extLst>
      <p:ext uri="{BB962C8B-B14F-4D97-AF65-F5344CB8AC3E}">
        <p14:creationId xmlns:p14="http://schemas.microsoft.com/office/powerpoint/2010/main" val="31634714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BB1A2B98-8D5A-418F-8E08-47668630F7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68C3746B-B4BB-4B18-9FA9-1BA5ED4428F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D1B939E-43CC-4E87-81C7-9CDD9C3F749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9C4FA23-31B7-4650-98ED-B4A2CFEA6485}" type="datetimeFigureOut">
              <a:rPr lang="fr-FR" smtClean="0"/>
              <a:t>09/02/2021</a:t>
            </a:fld>
            <a:endParaRPr lang="fr-FR"/>
          </a:p>
        </p:txBody>
      </p:sp>
      <p:sp>
        <p:nvSpPr>
          <p:cNvPr id="5" name="Espace réservé du pied de page 4">
            <a:extLst>
              <a:ext uri="{FF2B5EF4-FFF2-40B4-BE49-F238E27FC236}">
                <a16:creationId xmlns:a16="http://schemas.microsoft.com/office/drawing/2014/main" id="{B5354FDA-4A3C-4BFB-9359-6A8E91132A4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78A54246-FAC7-49D3-BA02-E5FFFA74F0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B75B24-C698-4622-B851-C739722B5717}" type="slidenum">
              <a:rPr lang="fr-FR" smtClean="0"/>
              <a:t>‹N°›</a:t>
            </a:fld>
            <a:endParaRPr lang="fr-FR"/>
          </a:p>
        </p:txBody>
      </p:sp>
    </p:spTree>
    <p:extLst>
      <p:ext uri="{BB962C8B-B14F-4D97-AF65-F5344CB8AC3E}">
        <p14:creationId xmlns:p14="http://schemas.microsoft.com/office/powerpoint/2010/main" val="1506485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edu-knotia-ca.proxy2.hec.ca/Knowledge/Home.aspx?productID=114"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edu-knotia-ca.proxy2.hec.ca/Knowledge/Home.aspx?productID=114"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s://edu-knotia-ca.proxy2.hec.ca/Knowledge/Home.aspx?productID=114"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https://edu-knotia-ca.proxy2.hec.ca/Knowledge/Home.aspx?productID=114"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86B9184-9E1D-4244-94E0-F66AD9F66C51}"/>
              </a:ext>
            </a:extLst>
          </p:cNvPr>
          <p:cNvSpPr>
            <a:spLocks noGrp="1"/>
          </p:cNvSpPr>
          <p:nvPr>
            <p:ph type="ctrTitle"/>
          </p:nvPr>
        </p:nvSpPr>
        <p:spPr/>
        <p:txBody>
          <a:bodyPr/>
          <a:lstStyle/>
          <a:p>
            <a:r>
              <a:rPr lang="fr-CA" dirty="0"/>
              <a:t>40938 examen intra</a:t>
            </a:r>
            <a:endParaRPr lang="fr-FR" dirty="0"/>
          </a:p>
        </p:txBody>
      </p:sp>
      <p:sp>
        <p:nvSpPr>
          <p:cNvPr id="3" name="Sous-titre 2">
            <a:extLst>
              <a:ext uri="{FF2B5EF4-FFF2-40B4-BE49-F238E27FC236}">
                <a16:creationId xmlns:a16="http://schemas.microsoft.com/office/drawing/2014/main" id="{DC259C0B-8494-4AE8-9D5B-D3E8513B7191}"/>
              </a:ext>
            </a:extLst>
          </p:cNvPr>
          <p:cNvSpPr>
            <a:spLocks noGrp="1"/>
          </p:cNvSpPr>
          <p:nvPr>
            <p:ph type="subTitle" idx="1"/>
          </p:nvPr>
        </p:nvSpPr>
        <p:spPr/>
        <p:txBody>
          <a:bodyPr>
            <a:normAutofit lnSpcReduction="10000"/>
          </a:bodyPr>
          <a:lstStyle/>
          <a:p>
            <a:endParaRPr lang="fr-CA" dirty="0"/>
          </a:p>
          <a:p>
            <a:endParaRPr lang="fr-FR" dirty="0"/>
          </a:p>
          <a:p>
            <a:r>
              <a:rPr lang="fr-FR" dirty="0"/>
              <a:t>Louise Overbeek</a:t>
            </a:r>
          </a:p>
          <a:p>
            <a:r>
              <a:rPr lang="fr-FR" dirty="0"/>
              <a:t>Automne 2020</a:t>
            </a:r>
          </a:p>
        </p:txBody>
      </p:sp>
    </p:spTree>
    <p:extLst>
      <p:ext uri="{BB962C8B-B14F-4D97-AF65-F5344CB8AC3E}">
        <p14:creationId xmlns:p14="http://schemas.microsoft.com/office/powerpoint/2010/main" val="4312987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676C2CF-CED8-4496-BC3E-AEC850570E8A}"/>
              </a:ext>
            </a:extLst>
          </p:cNvPr>
          <p:cNvSpPr>
            <a:spLocks noGrp="1"/>
          </p:cNvSpPr>
          <p:nvPr>
            <p:ph type="title"/>
          </p:nvPr>
        </p:nvSpPr>
        <p:spPr/>
        <p:txBody>
          <a:bodyPr/>
          <a:lstStyle/>
          <a:p>
            <a:r>
              <a:rPr lang="fr-CA" dirty="0"/>
              <a:t>Examen intra</a:t>
            </a:r>
            <a:endParaRPr lang="fr-FR" dirty="0"/>
          </a:p>
        </p:txBody>
      </p:sp>
      <p:sp>
        <p:nvSpPr>
          <p:cNvPr id="3" name="Espace réservé du contenu 2">
            <a:extLst>
              <a:ext uri="{FF2B5EF4-FFF2-40B4-BE49-F238E27FC236}">
                <a16:creationId xmlns:a16="http://schemas.microsoft.com/office/drawing/2014/main" id="{FCEDF5ED-111A-4164-B8F2-B24FCD762B17}"/>
              </a:ext>
            </a:extLst>
          </p:cNvPr>
          <p:cNvSpPr>
            <a:spLocks noGrp="1"/>
          </p:cNvSpPr>
          <p:nvPr>
            <p:ph idx="1"/>
          </p:nvPr>
        </p:nvSpPr>
        <p:spPr/>
        <p:txBody>
          <a:bodyPr/>
          <a:lstStyle/>
          <a:p>
            <a:r>
              <a:rPr lang="fr-CA" dirty="0"/>
              <a:t>Correction sur 24 : </a:t>
            </a:r>
            <a:r>
              <a:rPr lang="fr-CA" i="1" dirty="0"/>
              <a:t>4 premiers indicateurs à EVC et 4 derniers indicateurs à C</a:t>
            </a:r>
          </a:p>
          <a:p>
            <a:pPr lvl="1"/>
            <a:r>
              <a:rPr lang="fr-CA" dirty="0"/>
              <a:t>Pour obtenir 100 %</a:t>
            </a:r>
          </a:p>
          <a:p>
            <a:pPr lvl="1"/>
            <a:endParaRPr lang="fr-CA" dirty="0"/>
          </a:p>
          <a:p>
            <a:pPr lvl="1"/>
            <a:r>
              <a:rPr lang="fr-CA" dirty="0"/>
              <a:t>Moyenne : 70,2 % </a:t>
            </a:r>
            <a:r>
              <a:rPr lang="fr-CA" i="1" dirty="0"/>
              <a:t>(pour les copies corrigées, avant abandons)</a:t>
            </a:r>
          </a:p>
          <a:p>
            <a:pPr lvl="2"/>
            <a:r>
              <a:rPr lang="fr-CA" i="1" dirty="0"/>
              <a:t>30 % de la note finale, 30 % pour l’examen final</a:t>
            </a:r>
          </a:p>
          <a:p>
            <a:pPr lvl="2"/>
            <a:r>
              <a:rPr lang="fr-CA" i="1" dirty="0"/>
              <a:t>vous avez plusieurs petits travaux qui complètent pour détermination de la note du cours</a:t>
            </a:r>
            <a:endParaRPr lang="fr-CA" dirty="0"/>
          </a:p>
          <a:p>
            <a:endParaRPr lang="fr-FR" dirty="0"/>
          </a:p>
        </p:txBody>
      </p:sp>
    </p:spTree>
    <p:extLst>
      <p:ext uri="{BB962C8B-B14F-4D97-AF65-F5344CB8AC3E}">
        <p14:creationId xmlns:p14="http://schemas.microsoft.com/office/powerpoint/2010/main" val="37822178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548789-8F36-4868-8B60-1BEC7A26280A}"/>
              </a:ext>
            </a:extLst>
          </p:cNvPr>
          <p:cNvSpPr>
            <a:spLocks noGrp="1"/>
          </p:cNvSpPr>
          <p:nvPr>
            <p:ph type="title"/>
          </p:nvPr>
        </p:nvSpPr>
        <p:spPr/>
        <p:txBody>
          <a:bodyPr/>
          <a:lstStyle/>
          <a:p>
            <a:r>
              <a:rPr lang="fr-CA" sz="3600" b="1" dirty="0"/>
              <a:t>Indicateur 1 : Acquisition d’un bâtiment et de terres</a:t>
            </a:r>
            <a:endParaRPr lang="fr-FR" b="1" dirty="0"/>
          </a:p>
        </p:txBody>
      </p:sp>
      <p:sp>
        <p:nvSpPr>
          <p:cNvPr id="3" name="Espace réservé du contenu 2">
            <a:extLst>
              <a:ext uri="{FF2B5EF4-FFF2-40B4-BE49-F238E27FC236}">
                <a16:creationId xmlns:a16="http://schemas.microsoft.com/office/drawing/2014/main" id="{226B9EF1-E71F-48A1-9F9F-373F1C571101}"/>
              </a:ext>
            </a:extLst>
          </p:cNvPr>
          <p:cNvSpPr>
            <a:spLocks noGrp="1"/>
          </p:cNvSpPr>
          <p:nvPr>
            <p:ph idx="1"/>
          </p:nvPr>
        </p:nvSpPr>
        <p:spPr>
          <a:xfrm>
            <a:off x="838200" y="1825625"/>
            <a:ext cx="10515600" cy="4565748"/>
          </a:xfrm>
        </p:spPr>
        <p:txBody>
          <a:bodyPr>
            <a:normAutofit fontScale="85000" lnSpcReduction="20000"/>
          </a:bodyPr>
          <a:lstStyle/>
          <a:p>
            <a:pPr marL="0" indent="0">
              <a:buNone/>
            </a:pPr>
            <a:r>
              <a:rPr lang="fr-FR" dirty="0"/>
              <a:t>IAS 16 par 16 Éléments du coût</a:t>
            </a:r>
          </a:p>
          <a:p>
            <a:pPr marL="0" indent="0">
              <a:buNone/>
            </a:pPr>
            <a:r>
              <a:rPr lang="fr-FR" dirty="0"/>
              <a:t>Frais notaire + taxes mutation : ajouté au coût</a:t>
            </a:r>
          </a:p>
          <a:p>
            <a:pPr marL="0" indent="0">
              <a:buNone/>
            </a:pPr>
            <a:r>
              <a:rPr lang="fr-FR" dirty="0"/>
              <a:t>Mais taxes municipales en charge</a:t>
            </a:r>
            <a:r>
              <a:rPr lang="fr-FR" dirty="0">
                <a:solidFill>
                  <a:srgbClr val="FF0000"/>
                </a:solidFill>
              </a:rPr>
              <a:t> – coût annuel</a:t>
            </a:r>
            <a:endParaRPr lang="fr-FR" dirty="0"/>
          </a:p>
          <a:p>
            <a:pPr marL="0" indent="0">
              <a:buNone/>
            </a:pPr>
            <a:r>
              <a:rPr lang="fr-FR" dirty="0"/>
              <a:t> </a:t>
            </a:r>
          </a:p>
          <a:p>
            <a:pPr marL="0" indent="0">
              <a:buNone/>
            </a:pPr>
            <a:r>
              <a:rPr lang="fr-FR" dirty="0"/>
              <a:t>Allocation pour les plants de fraises – ou non  </a:t>
            </a:r>
            <a:r>
              <a:rPr lang="fr-FR" dirty="0">
                <a:solidFill>
                  <a:srgbClr val="FF0000"/>
                </a:solidFill>
              </a:rPr>
              <a:t>(non requis pour C)</a:t>
            </a:r>
            <a:endParaRPr lang="fr-FR" dirty="0"/>
          </a:p>
          <a:p>
            <a:pPr marL="0" indent="0">
              <a:buNone/>
            </a:pPr>
            <a:r>
              <a:rPr lang="fr-FR" dirty="0"/>
              <a:t> </a:t>
            </a:r>
          </a:p>
          <a:p>
            <a:pPr marL="0" indent="0">
              <a:buNone/>
            </a:pPr>
            <a:r>
              <a:rPr lang="fr-FR" dirty="0"/>
              <a:t>Allocation pour le bâtiment</a:t>
            </a:r>
          </a:p>
          <a:p>
            <a:pPr marL="0" indent="0">
              <a:buNone/>
            </a:pPr>
            <a:r>
              <a:rPr lang="fr-FR" dirty="0"/>
              <a:t>IAS 16 par 16 Éléments du coût ; par 21 opérations accessoires</a:t>
            </a:r>
          </a:p>
          <a:p>
            <a:pPr marL="0" indent="0">
              <a:buNone/>
            </a:pPr>
            <a:r>
              <a:rPr lang="fr-FR" dirty="0"/>
              <a:t>Travaux de renforcement : ajouté au coût</a:t>
            </a:r>
          </a:p>
          <a:p>
            <a:pPr marL="0" indent="0">
              <a:buNone/>
            </a:pPr>
            <a:r>
              <a:rPr lang="fr-FR" dirty="0"/>
              <a:t>Système d’aération : ajouté au coût ou équipement</a:t>
            </a:r>
          </a:p>
          <a:p>
            <a:pPr marL="0" indent="0">
              <a:buNone/>
            </a:pPr>
            <a:r>
              <a:rPr lang="fr-FR" dirty="0"/>
              <a:t>Vente petits équipement : autres produits (IAS 16 par 21) </a:t>
            </a:r>
            <a:r>
              <a:rPr lang="fr-FR" dirty="0">
                <a:solidFill>
                  <a:srgbClr val="FF0000"/>
                </a:solidFill>
              </a:rPr>
              <a:t>et non appliqué au coût de </a:t>
            </a:r>
            <a:r>
              <a:rPr lang="fr-FR" dirty="0" err="1">
                <a:solidFill>
                  <a:srgbClr val="FF0000"/>
                </a:solidFill>
              </a:rPr>
              <a:t>l’immo</a:t>
            </a:r>
            <a:r>
              <a:rPr lang="fr-FR" dirty="0">
                <a:solidFill>
                  <a:srgbClr val="FF0000"/>
                </a:solidFill>
              </a:rPr>
              <a:t> (NCECF)</a:t>
            </a:r>
            <a:endParaRPr lang="fr-FR" dirty="0"/>
          </a:p>
        </p:txBody>
      </p:sp>
    </p:spTree>
    <p:extLst>
      <p:ext uri="{BB962C8B-B14F-4D97-AF65-F5344CB8AC3E}">
        <p14:creationId xmlns:p14="http://schemas.microsoft.com/office/powerpoint/2010/main" val="37101074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CA0693C-66DB-4690-816B-D0ABE6005234}"/>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C1D21576-7418-466C-B6DE-CC9934846EF8}"/>
              </a:ext>
            </a:extLst>
          </p:cNvPr>
          <p:cNvSpPr>
            <a:spLocks noGrp="1"/>
          </p:cNvSpPr>
          <p:nvPr>
            <p:ph idx="1"/>
          </p:nvPr>
        </p:nvSpPr>
        <p:spPr/>
        <p:txBody>
          <a:bodyPr>
            <a:normAutofit/>
          </a:bodyPr>
          <a:lstStyle/>
          <a:p>
            <a:pPr marL="0" indent="0">
              <a:buNone/>
            </a:pPr>
            <a:r>
              <a:rPr lang="fr-CA" sz="2400" dirty="0"/>
              <a:t>21      Certaines opérations interviennent dans le cadre de la construction ou du développement d'une immobilisation corporelle mais ne sont pas nécessaires pour l'amener à l'endroit et la mettre dans l'état nécessaire pour permettre une exploitation de la manière prévue par la direction. Ces opérations accessoires peuvent intervenir avant ou pendant les activités de construction ou de développement. Par exemple, l'entité peut enregistrer un produit par l'utilisation d'un site de construction comme parking jusqu'au début de la construction. </a:t>
            </a:r>
            <a:r>
              <a:rPr lang="fr-CA" sz="2400" u="sng" dirty="0"/>
              <a:t>Comme les opérations accessoires ne sont pas nécessaires pour amener un élément à l'endroit et le mettre dans l'état nécessaire pour permettre une exploitation de la manière prévue par la direction, les produits et charges liés aux opérations accessoires sont comptabilisés en résultat net</a:t>
            </a:r>
            <a:r>
              <a:rPr lang="fr-CA" sz="2400" dirty="0"/>
              <a:t> et inclus dans leurs classifications de produits et de charges respectives.</a:t>
            </a:r>
            <a:endParaRPr lang="fr-FR" dirty="0"/>
          </a:p>
          <a:p>
            <a:pPr marL="0" indent="0">
              <a:buNone/>
            </a:pPr>
            <a:endParaRPr lang="fr-FR" dirty="0"/>
          </a:p>
        </p:txBody>
      </p:sp>
    </p:spTree>
    <p:extLst>
      <p:ext uri="{BB962C8B-B14F-4D97-AF65-F5344CB8AC3E}">
        <p14:creationId xmlns:p14="http://schemas.microsoft.com/office/powerpoint/2010/main" val="20335320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BD7A22D-4171-46ED-B78E-4200124537EE}"/>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8EA81205-2DE3-4820-B679-E1B604148F97}"/>
              </a:ext>
            </a:extLst>
          </p:cNvPr>
          <p:cNvSpPr>
            <a:spLocks noGrp="1"/>
          </p:cNvSpPr>
          <p:nvPr>
            <p:ph idx="1"/>
          </p:nvPr>
        </p:nvSpPr>
        <p:spPr/>
        <p:txBody>
          <a:bodyPr/>
          <a:lstStyle/>
          <a:p>
            <a:pPr marL="0" indent="0">
              <a:buNone/>
            </a:pPr>
            <a:endParaRPr lang="fr-CA" dirty="0"/>
          </a:p>
          <a:p>
            <a:pPr marL="0" indent="0">
              <a:buNone/>
            </a:pPr>
            <a:endParaRPr lang="fr-FR" dirty="0"/>
          </a:p>
          <a:p>
            <a:pPr marL="0" indent="0">
              <a:buNone/>
            </a:pPr>
            <a:endParaRPr lang="fr-FR" dirty="0"/>
          </a:p>
          <a:p>
            <a:pPr marL="0" indent="0">
              <a:buNone/>
            </a:pPr>
            <a:endParaRPr lang="fr-FR" dirty="0"/>
          </a:p>
          <a:p>
            <a:pPr marL="0" indent="0">
              <a:buNone/>
            </a:pPr>
            <a:endParaRPr lang="fr-FR" dirty="0"/>
          </a:p>
          <a:p>
            <a:pPr marL="0" indent="0">
              <a:buNone/>
            </a:pPr>
            <a:endParaRPr lang="fr-FR" dirty="0"/>
          </a:p>
          <a:p>
            <a:pPr marL="0" indent="0">
              <a:buNone/>
            </a:pPr>
            <a:endParaRPr lang="fr-FR" dirty="0"/>
          </a:p>
          <a:p>
            <a:pPr marL="0" indent="0">
              <a:buNone/>
            </a:pPr>
            <a:endParaRPr lang="fr-FR" dirty="0"/>
          </a:p>
        </p:txBody>
      </p:sp>
      <p:graphicFrame>
        <p:nvGraphicFramePr>
          <p:cNvPr id="6" name="Tableau 5">
            <a:extLst>
              <a:ext uri="{FF2B5EF4-FFF2-40B4-BE49-F238E27FC236}">
                <a16:creationId xmlns:a16="http://schemas.microsoft.com/office/drawing/2014/main" id="{BACCFA03-151D-4E04-A61A-4FBA15839D91}"/>
              </a:ext>
            </a:extLst>
          </p:cNvPr>
          <p:cNvGraphicFramePr>
            <a:graphicFrameLocks noGrp="1"/>
          </p:cNvGraphicFramePr>
          <p:nvPr>
            <p:extLst>
              <p:ext uri="{D42A27DB-BD31-4B8C-83A1-F6EECF244321}">
                <p14:modId xmlns:p14="http://schemas.microsoft.com/office/powerpoint/2010/main" val="1495206605"/>
              </p:ext>
            </p:extLst>
          </p:nvPr>
        </p:nvGraphicFramePr>
        <p:xfrm>
          <a:off x="838200" y="1831251"/>
          <a:ext cx="10507744" cy="2960547"/>
        </p:xfrm>
        <a:graphic>
          <a:graphicData uri="http://schemas.openxmlformats.org/drawingml/2006/table">
            <a:tbl>
              <a:tblPr firstRow="1" firstCol="1" bandRow="1">
                <a:tableStyleId>{5C22544A-7EE6-4342-B048-85BDC9FD1C3A}</a:tableStyleId>
              </a:tblPr>
              <a:tblGrid>
                <a:gridCol w="1285572">
                  <a:extLst>
                    <a:ext uri="{9D8B030D-6E8A-4147-A177-3AD203B41FA5}">
                      <a16:colId xmlns:a16="http://schemas.microsoft.com/office/drawing/2014/main" val="4042840931"/>
                    </a:ext>
                  </a:extLst>
                </a:gridCol>
                <a:gridCol w="4163906">
                  <a:extLst>
                    <a:ext uri="{9D8B030D-6E8A-4147-A177-3AD203B41FA5}">
                      <a16:colId xmlns:a16="http://schemas.microsoft.com/office/drawing/2014/main" val="2456394895"/>
                    </a:ext>
                  </a:extLst>
                </a:gridCol>
                <a:gridCol w="5058266">
                  <a:extLst>
                    <a:ext uri="{9D8B030D-6E8A-4147-A177-3AD203B41FA5}">
                      <a16:colId xmlns:a16="http://schemas.microsoft.com/office/drawing/2014/main" val="488623313"/>
                    </a:ext>
                  </a:extLst>
                </a:gridCol>
              </a:tblGrid>
              <a:tr h="248448">
                <a:tc>
                  <a:txBody>
                    <a:bodyPr/>
                    <a:lstStyle/>
                    <a:p>
                      <a:pPr algn="r">
                        <a:lnSpc>
                          <a:spcPct val="107000"/>
                        </a:lnSpc>
                        <a:spcAft>
                          <a:spcPts val="0"/>
                        </a:spcAft>
                      </a:pPr>
                      <a:r>
                        <a:rPr lang="fr-CA" sz="1400" dirty="0">
                          <a:effectLst/>
                        </a:rPr>
                        <a:t>225 000</a:t>
                      </a:r>
                      <a:endParaRPr lang="fr-FR"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fr-CA" sz="1400">
                          <a:effectLst/>
                        </a:rPr>
                        <a:t>Allocation du prix d’acquisition</a:t>
                      </a:r>
                      <a:endParaRPr lang="fr-F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fr-CA" sz="1400">
                          <a:effectLst/>
                        </a:rPr>
                        <a:t>16 (a) selon valeur municipale</a:t>
                      </a:r>
                      <a:endParaRPr lang="fr-F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22631272"/>
                  </a:ext>
                </a:extLst>
              </a:tr>
              <a:tr h="345842">
                <a:tc>
                  <a:txBody>
                    <a:bodyPr/>
                    <a:lstStyle/>
                    <a:p>
                      <a:pPr algn="r">
                        <a:lnSpc>
                          <a:spcPct val="107000"/>
                        </a:lnSpc>
                        <a:spcAft>
                          <a:spcPts val="0"/>
                        </a:spcAft>
                      </a:pPr>
                      <a:r>
                        <a:rPr lang="fr-CA" sz="1400">
                          <a:effectLst/>
                        </a:rPr>
                        <a:t>4 500</a:t>
                      </a:r>
                      <a:endParaRPr lang="fr-F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fr-CA" sz="1400">
                          <a:effectLst/>
                        </a:rPr>
                        <a:t>Coût de la main-d’œuvre pour « nettoyer » le bâtiment</a:t>
                      </a:r>
                      <a:endParaRPr lang="fr-F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fr-CA" sz="1400">
                          <a:effectLst/>
                        </a:rPr>
                        <a:t>Pourrait justifier actif ou charge</a:t>
                      </a:r>
                      <a:endParaRPr lang="fr-F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14716024"/>
                  </a:ext>
                </a:extLst>
              </a:tr>
              <a:tr h="829559">
                <a:tc>
                  <a:txBody>
                    <a:bodyPr/>
                    <a:lstStyle/>
                    <a:p>
                      <a:pPr algn="r">
                        <a:lnSpc>
                          <a:spcPct val="107000"/>
                        </a:lnSpc>
                        <a:spcAft>
                          <a:spcPts val="0"/>
                        </a:spcAft>
                      </a:pPr>
                      <a:r>
                        <a:rPr lang="fr-CA" sz="1400">
                          <a:effectLst/>
                        </a:rPr>
                        <a:t>35 000</a:t>
                      </a:r>
                      <a:endParaRPr lang="fr-F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fr-CA" sz="1400">
                          <a:effectLst/>
                        </a:rPr>
                        <a:t>Travaux de renforcement de la structure et des voies d’entrées (portes et fenêtres) afin d’en empêcher l’accès non autorisé.</a:t>
                      </a:r>
                      <a:endParaRPr lang="fr-F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fr-CA" sz="1400">
                          <a:effectLst/>
                        </a:rPr>
                        <a:t>16 (b) mise en état pour l’usage prévu par OMG</a:t>
                      </a:r>
                      <a:endParaRPr lang="fr-F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95719025"/>
                  </a:ext>
                </a:extLst>
              </a:tr>
              <a:tr h="508399">
                <a:tc>
                  <a:txBody>
                    <a:bodyPr/>
                    <a:lstStyle/>
                    <a:p>
                      <a:pPr algn="r">
                        <a:lnSpc>
                          <a:spcPct val="107000"/>
                        </a:lnSpc>
                        <a:spcAft>
                          <a:spcPts val="0"/>
                        </a:spcAft>
                      </a:pPr>
                      <a:r>
                        <a:rPr lang="fr-CA" sz="1400">
                          <a:effectLst/>
                        </a:rPr>
                        <a:t>15 000</a:t>
                      </a:r>
                      <a:endParaRPr lang="fr-F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fr-CA" sz="1400" dirty="0">
                          <a:effectLst/>
                        </a:rPr>
                        <a:t>Nouveau système d’aération plus adapté</a:t>
                      </a:r>
                      <a:endParaRPr lang="fr-FR"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fr-CA" sz="1400">
                          <a:effectLst/>
                        </a:rPr>
                        <a:t>Pourrait justifier d’inclure dans bâtiment ou poste distinct équipement</a:t>
                      </a:r>
                      <a:endParaRPr lang="fr-F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5148980"/>
                  </a:ext>
                </a:extLst>
              </a:tr>
              <a:tr h="1028299">
                <a:tc>
                  <a:txBody>
                    <a:bodyPr/>
                    <a:lstStyle/>
                    <a:p>
                      <a:pPr>
                        <a:lnSpc>
                          <a:spcPct val="107000"/>
                        </a:lnSpc>
                        <a:spcAft>
                          <a:spcPts val="0"/>
                        </a:spcAft>
                      </a:pPr>
                      <a:r>
                        <a:rPr lang="fr-CA" sz="1400" dirty="0">
                          <a:effectLst/>
                        </a:rPr>
                        <a:t>Variable selon les éléments inclus</a:t>
                      </a:r>
                      <a:endParaRPr lang="fr-FR"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fr-CA" sz="1400" dirty="0">
                          <a:effectLst/>
                        </a:rPr>
                        <a:t> </a:t>
                      </a:r>
                      <a:endParaRPr lang="fr-FR"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pPr>
                      <a:r>
                        <a:rPr lang="fr-CA" sz="1400" dirty="0">
                          <a:effectLst/>
                        </a:rPr>
                        <a:t> </a:t>
                      </a:r>
                      <a:endParaRPr lang="fr-FR"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38040144"/>
                  </a:ext>
                </a:extLst>
              </a:tr>
            </a:tbl>
          </a:graphicData>
        </a:graphic>
      </p:graphicFrame>
      <p:sp>
        <p:nvSpPr>
          <p:cNvPr id="7" name="Rectangle 2">
            <a:extLst>
              <a:ext uri="{FF2B5EF4-FFF2-40B4-BE49-F238E27FC236}">
                <a16:creationId xmlns:a16="http://schemas.microsoft.com/office/drawing/2014/main" id="{E19854D1-B63E-40C6-AB1F-9E4E93030896}"/>
              </a:ext>
            </a:extLst>
          </p:cNvPr>
          <p:cNvSpPr>
            <a:spLocks noChangeArrowheads="1"/>
          </p:cNvSpPr>
          <p:nvPr/>
        </p:nvSpPr>
        <p:spPr bwMode="auto">
          <a:xfrm>
            <a:off x="3355975" y="285432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sp>
        <p:nvSpPr>
          <p:cNvPr id="8" name="ZoneTexte 7">
            <a:extLst>
              <a:ext uri="{FF2B5EF4-FFF2-40B4-BE49-F238E27FC236}">
                <a16:creationId xmlns:a16="http://schemas.microsoft.com/office/drawing/2014/main" id="{DBECA017-5318-4048-9127-6AF2DE06C2CF}"/>
              </a:ext>
            </a:extLst>
          </p:cNvPr>
          <p:cNvSpPr txBox="1"/>
          <p:nvPr/>
        </p:nvSpPr>
        <p:spPr>
          <a:xfrm>
            <a:off x="973317" y="5062194"/>
            <a:ext cx="10237509" cy="646331"/>
          </a:xfrm>
          <a:prstGeom prst="rect">
            <a:avLst/>
          </a:prstGeom>
          <a:noFill/>
        </p:spPr>
        <p:txBody>
          <a:bodyPr wrap="square" rtlCol="0">
            <a:spAutoFit/>
          </a:bodyPr>
          <a:lstStyle/>
          <a:p>
            <a:r>
              <a:rPr lang="fr-CA" dirty="0"/>
              <a:t>Il a toutefois récupéré une somme de 400 $ en vendant les lampes chauffantes et autres petits équipements : selon IAS 16 par 21, ce montant sera présenté dans autres produits aux résultats</a:t>
            </a:r>
            <a:endParaRPr lang="fr-FR" dirty="0"/>
          </a:p>
        </p:txBody>
      </p:sp>
    </p:spTree>
    <p:extLst>
      <p:ext uri="{BB962C8B-B14F-4D97-AF65-F5344CB8AC3E}">
        <p14:creationId xmlns:p14="http://schemas.microsoft.com/office/powerpoint/2010/main" val="28336122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548789-8F36-4868-8B60-1BEC7A26280A}"/>
              </a:ext>
            </a:extLst>
          </p:cNvPr>
          <p:cNvSpPr>
            <a:spLocks noGrp="1"/>
          </p:cNvSpPr>
          <p:nvPr>
            <p:ph type="title"/>
          </p:nvPr>
        </p:nvSpPr>
        <p:spPr/>
        <p:txBody>
          <a:bodyPr/>
          <a:lstStyle/>
          <a:p>
            <a:r>
              <a:rPr lang="fr-CA" sz="3600" b="1" dirty="0"/>
              <a:t>Indicateur 1 : Acquisition d’un bâtiment et de terres</a:t>
            </a:r>
            <a:endParaRPr lang="fr-FR" b="1" dirty="0"/>
          </a:p>
        </p:txBody>
      </p:sp>
      <p:sp>
        <p:nvSpPr>
          <p:cNvPr id="3" name="Espace réservé du contenu 2">
            <a:extLst>
              <a:ext uri="{FF2B5EF4-FFF2-40B4-BE49-F238E27FC236}">
                <a16:creationId xmlns:a16="http://schemas.microsoft.com/office/drawing/2014/main" id="{226B9EF1-E71F-48A1-9F9F-373F1C571101}"/>
              </a:ext>
            </a:extLst>
          </p:cNvPr>
          <p:cNvSpPr>
            <a:spLocks noGrp="1"/>
          </p:cNvSpPr>
          <p:nvPr>
            <p:ph idx="1"/>
          </p:nvPr>
        </p:nvSpPr>
        <p:spPr/>
        <p:txBody>
          <a:bodyPr>
            <a:normAutofit/>
          </a:bodyPr>
          <a:lstStyle/>
          <a:p>
            <a:pPr marL="0" indent="0">
              <a:buNone/>
            </a:pPr>
            <a:r>
              <a:rPr lang="fr-FR" sz="2400" dirty="0"/>
              <a:t>EVC – Analyse adéquatement les coûts liés à l’acquisition </a:t>
            </a:r>
            <a:r>
              <a:rPr lang="fr-FR" sz="2400" b="1" dirty="0"/>
              <a:t>OU</a:t>
            </a:r>
            <a:r>
              <a:rPr lang="fr-FR" sz="2400" dirty="0"/>
              <a:t> les coûts liés aux travaux pour le bâtiment – HB et cas, conclusion correcte </a:t>
            </a:r>
            <a:r>
              <a:rPr lang="fr-FR" sz="2400" b="1" dirty="0"/>
              <a:t>OU </a:t>
            </a:r>
            <a:r>
              <a:rPr lang="fr-FR" sz="2400" dirty="0"/>
              <a:t>les deux mais avec petites erreurs</a:t>
            </a:r>
          </a:p>
          <a:p>
            <a:pPr marL="0" indent="0">
              <a:buNone/>
            </a:pPr>
            <a:endParaRPr lang="fr-FR" sz="2400" dirty="0"/>
          </a:p>
          <a:p>
            <a:pPr marL="0" indent="0">
              <a:buNone/>
            </a:pPr>
            <a:r>
              <a:rPr lang="fr-FR" sz="2400" dirty="0"/>
              <a:t>C – Analyse adéquatement les coûts liés à l’acquisition et les coûts liés aux travaux pour le bâtiment – HB et cas, conclusion correcte  </a:t>
            </a:r>
            <a:r>
              <a:rPr lang="fr-FR" sz="2400" dirty="0">
                <a:solidFill>
                  <a:srgbClr val="FF0000"/>
                </a:solidFill>
              </a:rPr>
              <a:t>(acceptait une petite erreur)</a:t>
            </a:r>
          </a:p>
          <a:p>
            <a:pPr marL="0" indent="0">
              <a:buNone/>
            </a:pPr>
            <a:endParaRPr lang="fr-FR" sz="2400" dirty="0">
              <a:solidFill>
                <a:srgbClr val="FF0000"/>
              </a:solidFill>
            </a:endParaRPr>
          </a:p>
          <a:p>
            <a:pPr marL="0" indent="0">
              <a:buNone/>
            </a:pPr>
            <a:r>
              <a:rPr lang="fr-FR" sz="2400" dirty="0">
                <a:solidFill>
                  <a:srgbClr val="0070C0"/>
                </a:solidFill>
              </a:rPr>
              <a:t>Moyenne : 2,4</a:t>
            </a:r>
            <a:endParaRPr lang="fr-FR" dirty="0">
              <a:solidFill>
                <a:srgbClr val="0070C0"/>
              </a:solidFill>
            </a:endParaRPr>
          </a:p>
        </p:txBody>
      </p:sp>
    </p:spTree>
    <p:extLst>
      <p:ext uri="{BB962C8B-B14F-4D97-AF65-F5344CB8AC3E}">
        <p14:creationId xmlns:p14="http://schemas.microsoft.com/office/powerpoint/2010/main" val="40020335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548789-8F36-4868-8B60-1BEC7A26280A}"/>
              </a:ext>
            </a:extLst>
          </p:cNvPr>
          <p:cNvSpPr>
            <a:spLocks noGrp="1"/>
          </p:cNvSpPr>
          <p:nvPr>
            <p:ph type="title"/>
          </p:nvPr>
        </p:nvSpPr>
        <p:spPr/>
        <p:txBody>
          <a:bodyPr/>
          <a:lstStyle/>
          <a:p>
            <a:r>
              <a:rPr lang="fr-CA" sz="3600" b="1" dirty="0"/>
              <a:t>Indicateur 2 : Acquisition d’un bâtiment et de terres – nature et mesure</a:t>
            </a:r>
            <a:endParaRPr lang="fr-FR" b="1" dirty="0"/>
          </a:p>
        </p:txBody>
      </p:sp>
      <p:sp>
        <p:nvSpPr>
          <p:cNvPr id="3" name="Espace réservé du contenu 2">
            <a:extLst>
              <a:ext uri="{FF2B5EF4-FFF2-40B4-BE49-F238E27FC236}">
                <a16:creationId xmlns:a16="http://schemas.microsoft.com/office/drawing/2014/main" id="{226B9EF1-E71F-48A1-9F9F-373F1C571101}"/>
              </a:ext>
            </a:extLst>
          </p:cNvPr>
          <p:cNvSpPr>
            <a:spLocks noGrp="1"/>
          </p:cNvSpPr>
          <p:nvPr>
            <p:ph idx="1"/>
          </p:nvPr>
        </p:nvSpPr>
        <p:spPr>
          <a:xfrm>
            <a:off x="838200" y="1470582"/>
            <a:ext cx="10515600" cy="5184742"/>
          </a:xfrm>
        </p:spPr>
        <p:txBody>
          <a:bodyPr>
            <a:normAutofit fontScale="85000" lnSpcReduction="20000"/>
          </a:bodyPr>
          <a:lstStyle/>
          <a:p>
            <a:pPr marL="0" indent="0">
              <a:buNone/>
            </a:pPr>
            <a:r>
              <a:rPr lang="fr-FR" dirty="0"/>
              <a:t>IAS 40 : définition / par 7 / par 9</a:t>
            </a:r>
          </a:p>
          <a:p>
            <a:pPr marL="0" indent="0">
              <a:buNone/>
            </a:pPr>
            <a:r>
              <a:rPr lang="fr-FR" dirty="0"/>
              <a:t>Par 10 : double usage</a:t>
            </a:r>
          </a:p>
          <a:p>
            <a:pPr marL="0" indent="0">
              <a:buNone/>
            </a:pPr>
            <a:r>
              <a:rPr lang="fr-FR" dirty="0"/>
              <a:t>Cas : ne peut séparer légalement</a:t>
            </a:r>
            <a:r>
              <a:rPr lang="fr-FR" dirty="0">
                <a:solidFill>
                  <a:srgbClr val="FF0000"/>
                </a:solidFill>
              </a:rPr>
              <a:t> (info dans l’énoncé)</a:t>
            </a:r>
            <a:r>
              <a:rPr lang="fr-FR" dirty="0"/>
              <a:t>, 25 % est significatif</a:t>
            </a:r>
            <a:r>
              <a:rPr lang="fr-FR" dirty="0">
                <a:solidFill>
                  <a:srgbClr val="FF0000"/>
                </a:solidFill>
              </a:rPr>
              <a:t> – nécessite norme + application au cas</a:t>
            </a:r>
            <a:endParaRPr lang="fr-FR" dirty="0"/>
          </a:p>
          <a:p>
            <a:pPr marL="0" indent="0">
              <a:buNone/>
            </a:pPr>
            <a:r>
              <a:rPr lang="fr-FR" dirty="0"/>
              <a:t>Conclusion : </a:t>
            </a:r>
            <a:r>
              <a:rPr lang="fr-FR" dirty="0">
                <a:solidFill>
                  <a:srgbClr val="FF0000"/>
                </a:solidFill>
              </a:rPr>
              <a:t>un seul élément de comptabilisation - </a:t>
            </a:r>
            <a:r>
              <a:rPr lang="fr-FR" dirty="0"/>
              <a:t>IAS 16</a:t>
            </a:r>
          </a:p>
          <a:p>
            <a:pPr marL="0" indent="0">
              <a:buNone/>
            </a:pPr>
            <a:r>
              <a:rPr lang="fr-FR" dirty="0"/>
              <a:t> </a:t>
            </a:r>
          </a:p>
          <a:p>
            <a:pPr marL="0" indent="0">
              <a:buNone/>
            </a:pPr>
            <a:r>
              <a:rPr lang="fr-FR" dirty="0"/>
              <a:t>IAS 16 par 29 / 31 modèle coût ou modèle de réévaluation</a:t>
            </a:r>
          </a:p>
          <a:p>
            <a:pPr marL="0" indent="0">
              <a:buNone/>
            </a:pPr>
            <a:r>
              <a:rPr lang="fr-FR" dirty="0"/>
              <a:t>Jean-Philippe : souhaite inclure ce gain</a:t>
            </a:r>
            <a:r>
              <a:rPr lang="fr-FR" dirty="0">
                <a:solidFill>
                  <a:srgbClr val="FF0000"/>
                </a:solidFill>
              </a:rPr>
              <a:t> – élément du cas à inclure dans l’analyse</a:t>
            </a:r>
            <a:endParaRPr lang="fr-FR" dirty="0"/>
          </a:p>
          <a:p>
            <a:pPr marL="0" indent="0">
              <a:buNone/>
            </a:pPr>
            <a:r>
              <a:rPr lang="fr-FR" dirty="0"/>
              <a:t>Juste valeur peut être évaluée de manière fiable (registre ventes)</a:t>
            </a:r>
          </a:p>
          <a:p>
            <a:pPr marL="0" indent="0">
              <a:buNone/>
            </a:pPr>
            <a:r>
              <a:rPr lang="fr-FR" dirty="0"/>
              <a:t>IAS 16 par 39 : gain dans AERG</a:t>
            </a:r>
          </a:p>
          <a:p>
            <a:pPr marL="0" indent="0">
              <a:buNone/>
            </a:pPr>
            <a:r>
              <a:rPr lang="fr-FR" dirty="0"/>
              <a:t> </a:t>
            </a:r>
          </a:p>
          <a:p>
            <a:pPr marL="0" indent="0">
              <a:buNone/>
            </a:pPr>
            <a:r>
              <a:rPr lang="fr-FR" dirty="0"/>
              <a:t>Bâtisse : idem modèle coût ou réévaluation (IAS 16)</a:t>
            </a:r>
          </a:p>
          <a:p>
            <a:pPr marL="0" indent="0">
              <a:buNone/>
            </a:pPr>
            <a:r>
              <a:rPr lang="fr-FR" dirty="0"/>
              <a:t>Mais ne prendra peut-être pas de valeur – recommandation avec </a:t>
            </a:r>
            <a:r>
              <a:rPr lang="fr-FR" dirty="0" err="1"/>
              <a:t>just</a:t>
            </a:r>
            <a:endParaRPr lang="fr-FR" dirty="0"/>
          </a:p>
        </p:txBody>
      </p:sp>
    </p:spTree>
    <p:extLst>
      <p:ext uri="{BB962C8B-B14F-4D97-AF65-F5344CB8AC3E}">
        <p14:creationId xmlns:p14="http://schemas.microsoft.com/office/powerpoint/2010/main" val="4969024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85F1D20-A258-41CA-BA7F-1B1DB2E9B06A}"/>
              </a:ext>
            </a:extLst>
          </p:cNvPr>
          <p:cNvSpPr>
            <a:spLocks noGrp="1"/>
          </p:cNvSpPr>
          <p:nvPr>
            <p:ph type="title"/>
          </p:nvPr>
        </p:nvSpPr>
        <p:spPr/>
        <p:txBody>
          <a:bodyPr/>
          <a:lstStyle/>
          <a:p>
            <a:r>
              <a:rPr lang="fr-CA" dirty="0"/>
              <a:t> </a:t>
            </a:r>
            <a:endParaRPr lang="fr-FR" dirty="0"/>
          </a:p>
        </p:txBody>
      </p:sp>
      <p:sp>
        <p:nvSpPr>
          <p:cNvPr id="3" name="Espace réservé du contenu 2">
            <a:extLst>
              <a:ext uri="{FF2B5EF4-FFF2-40B4-BE49-F238E27FC236}">
                <a16:creationId xmlns:a16="http://schemas.microsoft.com/office/drawing/2014/main" id="{0B3E11A6-6FCC-405D-82A5-C9A846F8E3E8}"/>
              </a:ext>
            </a:extLst>
          </p:cNvPr>
          <p:cNvSpPr>
            <a:spLocks noGrp="1"/>
          </p:cNvSpPr>
          <p:nvPr>
            <p:ph idx="1"/>
          </p:nvPr>
        </p:nvSpPr>
        <p:spPr>
          <a:xfrm>
            <a:off x="838200" y="1348033"/>
            <a:ext cx="10515600" cy="4828930"/>
          </a:xfrm>
        </p:spPr>
        <p:txBody>
          <a:bodyPr>
            <a:normAutofit fontScale="85000" lnSpcReduction="20000"/>
          </a:bodyPr>
          <a:lstStyle/>
          <a:p>
            <a:pPr marL="0" indent="0">
              <a:buNone/>
            </a:pPr>
            <a:r>
              <a:rPr lang="fr-CA" sz="2400" dirty="0"/>
              <a:t>10      Certains biens immobiliers comprennent une partie qui est détenue pour en retirer des loyers ou réaliser une plus-value en capital et une autre partie qui est détenue pour être utilisée dans le processus de production ou de fourniture de biens ou de services ou à des fins administratives. </a:t>
            </a:r>
            <a:r>
              <a:rPr lang="fr-CA" sz="2400" u="sng" dirty="0"/>
              <a:t>Si ces deux parties peuvent être vendues séparémen</a:t>
            </a:r>
            <a:r>
              <a:rPr lang="fr-CA" sz="2400" dirty="0"/>
              <a:t>t (ou louées séparément dans le cadre d'un contrat de location-financement), l'entité les comptabilise séparément. Si les deux parties ne peuvent être vendues séparément, le bien immobilier est un immeuble de placement seulement si la partie détenue pour être utilisée dans le processus de production ou de fourniture de biens ou de services à des fins administratives </a:t>
            </a:r>
            <a:r>
              <a:rPr lang="fr-CA" sz="2400" u="sng" dirty="0"/>
              <a:t>n'est pas significative</a:t>
            </a:r>
            <a:r>
              <a:rPr lang="fr-CA" sz="2400" dirty="0"/>
              <a:t>.</a:t>
            </a:r>
          </a:p>
          <a:p>
            <a:pPr marL="0" indent="0">
              <a:buNone/>
            </a:pPr>
            <a:endParaRPr lang="fr-CA" sz="2400" dirty="0"/>
          </a:p>
          <a:p>
            <a:pPr marL="0" indent="0">
              <a:buNone/>
            </a:pPr>
            <a:r>
              <a:rPr lang="fr-FR" dirty="0"/>
              <a:t>Un seul élément de comptabilisation car ne peut séparer légalement : </a:t>
            </a:r>
          </a:p>
          <a:p>
            <a:pPr marL="0" indent="0">
              <a:buNone/>
            </a:pPr>
            <a:r>
              <a:rPr lang="fr-CA" dirty="0"/>
              <a:t>«</a:t>
            </a:r>
            <a:r>
              <a:rPr lang="fr-CA" u="sng" dirty="0"/>
              <a:t> </a:t>
            </a:r>
            <a:r>
              <a:rPr lang="fr-CA" dirty="0"/>
              <a:t>elles (les terres) étaient sur le même lot et le tout devait donc être acheté en bloc. »</a:t>
            </a:r>
            <a:endParaRPr lang="fr-FR" dirty="0"/>
          </a:p>
          <a:p>
            <a:pPr marL="0" indent="0">
              <a:buNone/>
            </a:pPr>
            <a:r>
              <a:rPr lang="fr-CA" dirty="0"/>
              <a:t> </a:t>
            </a:r>
            <a:endParaRPr lang="fr-FR" dirty="0"/>
          </a:p>
          <a:p>
            <a:pPr marL="0" indent="0">
              <a:buNone/>
            </a:pPr>
            <a:r>
              <a:rPr lang="fr-CA" dirty="0"/>
              <a:t>Portion significative dans le processus de l’entreprise : « Tout le reste a été loué à un agriculteur de la région, soit environ 75 % de la superficie ». La portion utilisée (25 %) est significative, et il faut donc appliquer IAS 16.</a:t>
            </a:r>
            <a:endParaRPr lang="fr-FR" dirty="0"/>
          </a:p>
          <a:p>
            <a:pPr marL="0" indent="0">
              <a:buNone/>
            </a:pPr>
            <a:endParaRPr lang="fr-FR" sz="2400" dirty="0"/>
          </a:p>
          <a:p>
            <a:pPr marL="0" indent="0">
              <a:buNone/>
            </a:pPr>
            <a:endParaRPr lang="fr-FR" dirty="0"/>
          </a:p>
        </p:txBody>
      </p:sp>
    </p:spTree>
    <p:extLst>
      <p:ext uri="{BB962C8B-B14F-4D97-AF65-F5344CB8AC3E}">
        <p14:creationId xmlns:p14="http://schemas.microsoft.com/office/powerpoint/2010/main" val="21837788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1EF0F3C-3A43-4AD0-A7D4-42635B4E93EF}"/>
              </a:ext>
            </a:extLst>
          </p:cNvPr>
          <p:cNvSpPr>
            <a:spLocks noGrp="1"/>
          </p:cNvSpPr>
          <p:nvPr>
            <p:ph type="title"/>
          </p:nvPr>
        </p:nvSpPr>
        <p:spPr>
          <a:xfrm>
            <a:off x="838200" y="365125"/>
            <a:ext cx="10515600" cy="200483"/>
          </a:xfrm>
        </p:spPr>
        <p:txBody>
          <a:bodyPr>
            <a:normAutofit fontScale="90000"/>
          </a:bodyPr>
          <a:lstStyle/>
          <a:p>
            <a:r>
              <a:rPr lang="fr-CA" dirty="0"/>
              <a:t> </a:t>
            </a:r>
            <a:endParaRPr lang="fr-FR" dirty="0"/>
          </a:p>
        </p:txBody>
      </p:sp>
      <p:sp>
        <p:nvSpPr>
          <p:cNvPr id="3" name="Espace réservé du contenu 2">
            <a:extLst>
              <a:ext uri="{FF2B5EF4-FFF2-40B4-BE49-F238E27FC236}">
                <a16:creationId xmlns:a16="http://schemas.microsoft.com/office/drawing/2014/main" id="{1C3CFC48-FF4D-488A-AA19-49DDBF437632}"/>
              </a:ext>
            </a:extLst>
          </p:cNvPr>
          <p:cNvSpPr>
            <a:spLocks noGrp="1"/>
          </p:cNvSpPr>
          <p:nvPr>
            <p:ph idx="1"/>
          </p:nvPr>
        </p:nvSpPr>
        <p:spPr>
          <a:xfrm>
            <a:off x="838200" y="678730"/>
            <a:ext cx="10515600" cy="5498233"/>
          </a:xfrm>
        </p:spPr>
        <p:txBody>
          <a:bodyPr>
            <a:normAutofit fontScale="47500" lnSpcReduction="20000"/>
          </a:bodyPr>
          <a:lstStyle/>
          <a:p>
            <a:pPr marL="0" indent="0">
              <a:buNone/>
            </a:pPr>
            <a:r>
              <a:rPr lang="fr-CA" dirty="0"/>
              <a:t>Selon IAS 16</a:t>
            </a:r>
            <a:endParaRPr lang="fr-FR" dirty="0"/>
          </a:p>
          <a:p>
            <a:pPr marL="0" indent="0">
              <a:buNone/>
            </a:pPr>
            <a:r>
              <a:rPr lang="fr-FR" b="1" dirty="0"/>
              <a:t>Évaluation après comptabilisation</a:t>
            </a:r>
            <a:endParaRPr lang="fr-FR" dirty="0"/>
          </a:p>
          <a:p>
            <a:pPr marL="0" indent="0">
              <a:buNone/>
            </a:pPr>
            <a:r>
              <a:rPr lang="fr-FR" b="1" dirty="0"/>
              <a:t>29     Une entité doit choisir pour méthode comptable soit le modèle du coût décrit au paragraphe </a:t>
            </a:r>
            <a:r>
              <a:rPr lang="fr-FR" b="1" u="sng" dirty="0">
                <a:hlinkClick r:id="rId2"/>
              </a:rPr>
              <a:t>30</a:t>
            </a:r>
            <a:r>
              <a:rPr lang="fr-FR" b="1" dirty="0"/>
              <a:t>, soit le modèle de la réévaluation décrit au paragraphe </a:t>
            </a:r>
            <a:r>
              <a:rPr lang="fr-FR" b="1" u="sng" dirty="0">
                <a:hlinkClick r:id="rId2"/>
              </a:rPr>
              <a:t>31</a:t>
            </a:r>
            <a:r>
              <a:rPr lang="fr-FR" b="1" dirty="0"/>
              <a:t> ; elle doit appliquer cette méthode à l'ensemble d'une catégorie d'immobilisations corporelles.</a:t>
            </a:r>
            <a:endParaRPr lang="fr-FR" dirty="0"/>
          </a:p>
          <a:p>
            <a:pPr marL="0" indent="0">
              <a:buNone/>
            </a:pPr>
            <a:r>
              <a:rPr lang="fr-FR" sz="2000" b="1" dirty="0"/>
              <a:t> </a:t>
            </a:r>
            <a:endParaRPr lang="fr-FR" sz="2000" dirty="0"/>
          </a:p>
          <a:p>
            <a:pPr marL="0" indent="0">
              <a:buNone/>
            </a:pPr>
            <a:r>
              <a:rPr lang="fr-FR" b="1" dirty="0"/>
              <a:t>Modèle de la réévaluation</a:t>
            </a:r>
            <a:endParaRPr lang="fr-FR" dirty="0"/>
          </a:p>
          <a:p>
            <a:pPr marL="0" indent="0">
              <a:buNone/>
            </a:pPr>
            <a:r>
              <a:rPr lang="fr-FR" b="1" dirty="0"/>
              <a:t>31     Après sa comptabilisation en tant qu'actif, une immobilisation corporelle </a:t>
            </a:r>
            <a:r>
              <a:rPr lang="fr-FR" b="1" u="sng" dirty="0"/>
              <a:t>dont la juste valeur peut être évaluée de manière fiable</a:t>
            </a:r>
            <a:r>
              <a:rPr lang="fr-FR" b="1" dirty="0"/>
              <a:t> doit être évaluée à son montant réévalué, à savoir sa juste valeur à la date de réévaluation, diminuée du cumul des amortissements ultérieurs et du cumul de pertes de valeur ultérieures. Les réévaluations doivent être effectuées avec une régularité suffisante pour s'assurer que la valeur comptable ne diffère pas de façon significative de celle qui aurait été déterminée en utilisant la juste valeur à la fin de la période de présentation de l'information financière.</a:t>
            </a:r>
            <a:endParaRPr lang="fr-FR" dirty="0"/>
          </a:p>
          <a:p>
            <a:pPr marL="0" indent="0">
              <a:buNone/>
            </a:pPr>
            <a:endParaRPr lang="fr-FR" sz="2000" dirty="0"/>
          </a:p>
          <a:p>
            <a:pPr marL="0" indent="0">
              <a:buNone/>
            </a:pPr>
            <a:r>
              <a:rPr lang="fr-CA" b="1" dirty="0"/>
              <a:t>39     Lorsque la valeur comptable d'un actif est augmentée à la suite d'une réévaluation, l'augmentation doit être </a:t>
            </a:r>
            <a:r>
              <a:rPr lang="fr-CA" b="1" u="sng" dirty="0"/>
              <a:t>comptabilisée dans les autres éléments du résultat global</a:t>
            </a:r>
            <a:r>
              <a:rPr lang="fr-CA" b="1" dirty="0"/>
              <a:t> et cumulée avec les capitaux propres sous la rubrique écarts de réévaluation. Toutefois, l'augmentation doit être comptabilisée en résultat net dans la mesure où elle compense une diminution de réévaluation du même actif, précédemment comptabilisée en résultat net.</a:t>
            </a:r>
            <a:endParaRPr lang="fr-FR" dirty="0"/>
          </a:p>
          <a:p>
            <a:pPr marL="0" indent="0">
              <a:buNone/>
            </a:pPr>
            <a:r>
              <a:rPr lang="fr-CA" sz="3500" dirty="0"/>
              <a:t>« les terres agricoles augmentent de valeur d’environ 6 % par année. Il aimerait bien que CPA trouve une façon d’inclure ce « gain » dans ses états financiers. Le courtier lui a mentionné qu’il existe un registre des ventes de propriétés et qu’il pourrait valider l’évolution de la valeur de sa propriété au cours des prochaines années. »</a:t>
            </a:r>
            <a:endParaRPr lang="fr-FR" sz="3500" dirty="0"/>
          </a:p>
          <a:p>
            <a:pPr marL="0" indent="0">
              <a:buNone/>
            </a:pPr>
            <a:r>
              <a:rPr lang="fr-CA" sz="3500" dirty="0"/>
              <a:t>Puisque la juste valeur peut être évaluée de manière fiable, et pour répondre à la demande de Jean-Philippe qui souhaite voir le « gain » dans les états financiers, je recommande le modèle de réévaluation pour les terres. Il faut toutefois préciser que le « gain » ne sera pas inclus dans le résultat net mais plutôt dans les autres éléments du résultat global.</a:t>
            </a:r>
            <a:endParaRPr lang="fr-FR" sz="3500" dirty="0"/>
          </a:p>
          <a:p>
            <a:pPr marL="0" indent="0">
              <a:buNone/>
            </a:pPr>
            <a:r>
              <a:rPr lang="fr-CA" sz="3500" dirty="0"/>
              <a:t> </a:t>
            </a:r>
            <a:endParaRPr lang="fr-FR" sz="3500" dirty="0"/>
          </a:p>
          <a:p>
            <a:pPr marL="0" indent="0">
              <a:buNone/>
            </a:pPr>
            <a:r>
              <a:rPr lang="fr-CA" sz="3500" dirty="0"/>
              <a:t>Pour ce qui est de la </a:t>
            </a:r>
            <a:r>
              <a:rPr lang="fr-CA" sz="3500" b="1" dirty="0"/>
              <a:t>bâtisse</a:t>
            </a:r>
            <a:r>
              <a:rPr lang="fr-CA" sz="3500" dirty="0"/>
              <a:t>, analyse similaire mais moins probable que prendra de la valeur. Recommandation avec justification</a:t>
            </a:r>
            <a:endParaRPr lang="fr-FR" dirty="0"/>
          </a:p>
        </p:txBody>
      </p:sp>
    </p:spTree>
    <p:extLst>
      <p:ext uri="{BB962C8B-B14F-4D97-AF65-F5344CB8AC3E}">
        <p14:creationId xmlns:p14="http://schemas.microsoft.com/office/powerpoint/2010/main" val="10742174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548789-8F36-4868-8B60-1BEC7A26280A}"/>
              </a:ext>
            </a:extLst>
          </p:cNvPr>
          <p:cNvSpPr>
            <a:spLocks noGrp="1"/>
          </p:cNvSpPr>
          <p:nvPr>
            <p:ph type="title"/>
          </p:nvPr>
        </p:nvSpPr>
        <p:spPr/>
        <p:txBody>
          <a:bodyPr/>
          <a:lstStyle/>
          <a:p>
            <a:r>
              <a:rPr lang="fr-CA" sz="3600" b="1" dirty="0"/>
              <a:t>Indicateur 2 : Acquisition d’un bâtiment et de terres – nature et mesure</a:t>
            </a:r>
            <a:endParaRPr lang="fr-FR" b="1" dirty="0"/>
          </a:p>
        </p:txBody>
      </p:sp>
      <p:sp>
        <p:nvSpPr>
          <p:cNvPr id="3" name="Espace réservé du contenu 2">
            <a:extLst>
              <a:ext uri="{FF2B5EF4-FFF2-40B4-BE49-F238E27FC236}">
                <a16:creationId xmlns:a16="http://schemas.microsoft.com/office/drawing/2014/main" id="{226B9EF1-E71F-48A1-9F9F-373F1C571101}"/>
              </a:ext>
            </a:extLst>
          </p:cNvPr>
          <p:cNvSpPr>
            <a:spLocks noGrp="1"/>
          </p:cNvSpPr>
          <p:nvPr>
            <p:ph idx="1"/>
          </p:nvPr>
        </p:nvSpPr>
        <p:spPr/>
        <p:txBody>
          <a:bodyPr>
            <a:normAutofit/>
          </a:bodyPr>
          <a:lstStyle/>
          <a:p>
            <a:pPr marL="0" indent="0">
              <a:buNone/>
            </a:pPr>
            <a:r>
              <a:rPr lang="fr-FR" sz="2400" dirty="0"/>
              <a:t>EVC – Analyse adéquatement nature </a:t>
            </a:r>
            <a:r>
              <a:rPr lang="fr-FR" sz="2400" b="1" dirty="0"/>
              <a:t>OU </a:t>
            </a:r>
            <a:r>
              <a:rPr lang="fr-FR" sz="2400" dirty="0"/>
              <a:t>mesure des terres </a:t>
            </a:r>
            <a:r>
              <a:rPr lang="fr-FR" sz="2400" b="1" dirty="0"/>
              <a:t>OU </a:t>
            </a:r>
            <a:r>
              <a:rPr lang="fr-FR" sz="2400" dirty="0"/>
              <a:t>les deux mais avec petites erreurs</a:t>
            </a:r>
          </a:p>
          <a:p>
            <a:pPr marL="0" indent="0">
              <a:buNone/>
            </a:pPr>
            <a:endParaRPr lang="fr-FR" sz="2400" dirty="0"/>
          </a:p>
          <a:p>
            <a:pPr marL="0" indent="0">
              <a:buNone/>
            </a:pPr>
            <a:r>
              <a:rPr lang="fr-FR" sz="2400" dirty="0"/>
              <a:t>C – Analyse adéquatement nature ET mesure des terres</a:t>
            </a:r>
          </a:p>
          <a:p>
            <a:pPr marL="0" indent="0">
              <a:buNone/>
            </a:pPr>
            <a:endParaRPr lang="fr-FR" sz="2400" dirty="0">
              <a:solidFill>
                <a:srgbClr val="FF0000"/>
              </a:solidFill>
            </a:endParaRPr>
          </a:p>
          <a:p>
            <a:pPr marL="0" indent="0">
              <a:buNone/>
            </a:pPr>
            <a:r>
              <a:rPr lang="fr-FR" sz="2400" dirty="0"/>
              <a:t>CD – Analyse adéquatement nature ET mesure des terres ET mesure de la bâtisse</a:t>
            </a:r>
            <a:endParaRPr lang="fr-FR" sz="2400" dirty="0">
              <a:solidFill>
                <a:srgbClr val="FF0000"/>
              </a:solidFill>
            </a:endParaRPr>
          </a:p>
          <a:p>
            <a:pPr marL="0" indent="0">
              <a:buNone/>
            </a:pPr>
            <a:endParaRPr lang="fr-FR" sz="2400" dirty="0">
              <a:solidFill>
                <a:srgbClr val="FF0000"/>
              </a:solidFill>
            </a:endParaRPr>
          </a:p>
          <a:p>
            <a:pPr marL="0" indent="0">
              <a:buNone/>
            </a:pPr>
            <a:r>
              <a:rPr lang="fr-FR" sz="2400" dirty="0">
                <a:solidFill>
                  <a:srgbClr val="0070C0"/>
                </a:solidFill>
              </a:rPr>
              <a:t>Moyenne : 1,5</a:t>
            </a:r>
            <a:endParaRPr lang="fr-FR" dirty="0">
              <a:solidFill>
                <a:srgbClr val="0070C0"/>
              </a:solidFill>
            </a:endParaRPr>
          </a:p>
        </p:txBody>
      </p:sp>
    </p:spTree>
    <p:extLst>
      <p:ext uri="{BB962C8B-B14F-4D97-AF65-F5344CB8AC3E}">
        <p14:creationId xmlns:p14="http://schemas.microsoft.com/office/powerpoint/2010/main" val="1241688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548789-8F36-4868-8B60-1BEC7A26280A}"/>
              </a:ext>
            </a:extLst>
          </p:cNvPr>
          <p:cNvSpPr>
            <a:spLocks noGrp="1"/>
          </p:cNvSpPr>
          <p:nvPr>
            <p:ph type="title"/>
          </p:nvPr>
        </p:nvSpPr>
        <p:spPr/>
        <p:txBody>
          <a:bodyPr/>
          <a:lstStyle/>
          <a:p>
            <a:r>
              <a:rPr lang="fr-CA" sz="3600" b="1" dirty="0"/>
              <a:t>Indicateur 3 : </a:t>
            </a:r>
            <a:r>
              <a:rPr lang="fr-FR" sz="3600" b="1" dirty="0"/>
              <a:t>Contrat de location</a:t>
            </a:r>
            <a:endParaRPr lang="fr-FR" b="1" dirty="0"/>
          </a:p>
        </p:txBody>
      </p:sp>
      <p:sp>
        <p:nvSpPr>
          <p:cNvPr id="3" name="Espace réservé du contenu 2">
            <a:extLst>
              <a:ext uri="{FF2B5EF4-FFF2-40B4-BE49-F238E27FC236}">
                <a16:creationId xmlns:a16="http://schemas.microsoft.com/office/drawing/2014/main" id="{226B9EF1-E71F-48A1-9F9F-373F1C571101}"/>
              </a:ext>
            </a:extLst>
          </p:cNvPr>
          <p:cNvSpPr>
            <a:spLocks noGrp="1"/>
          </p:cNvSpPr>
          <p:nvPr>
            <p:ph idx="1"/>
          </p:nvPr>
        </p:nvSpPr>
        <p:spPr/>
        <p:txBody>
          <a:bodyPr>
            <a:normAutofit fontScale="85000" lnSpcReduction="20000"/>
          </a:bodyPr>
          <a:lstStyle/>
          <a:p>
            <a:pPr marL="0" indent="0">
              <a:buNone/>
            </a:pPr>
            <a:r>
              <a:rPr lang="fr-FR" dirty="0"/>
              <a:t>Classement bailleur </a:t>
            </a:r>
            <a:r>
              <a:rPr lang="fr-FR" dirty="0">
                <a:solidFill>
                  <a:srgbClr val="FF0000"/>
                </a:solidFill>
              </a:rPr>
              <a:t>(et non preneur) </a:t>
            </a:r>
            <a:r>
              <a:rPr lang="fr-FR" dirty="0"/>
              <a:t>– IFRS 16 par 61-63</a:t>
            </a:r>
          </a:p>
          <a:p>
            <a:pPr marL="0" indent="0">
              <a:buNone/>
            </a:pPr>
            <a:r>
              <a:rPr lang="fr-FR" dirty="0"/>
              <a:t>Analyse des critères</a:t>
            </a:r>
          </a:p>
          <a:p>
            <a:pPr marL="0" indent="0">
              <a:buNone/>
            </a:pPr>
            <a:r>
              <a:rPr lang="fr-FR" dirty="0"/>
              <a:t>Conclusion : location simple</a:t>
            </a:r>
          </a:p>
          <a:p>
            <a:pPr marL="0" indent="0">
              <a:buNone/>
            </a:pPr>
            <a:r>
              <a:rPr lang="fr-FR" dirty="0"/>
              <a:t> </a:t>
            </a:r>
          </a:p>
          <a:p>
            <a:pPr marL="0" indent="0">
              <a:buNone/>
            </a:pPr>
            <a:r>
              <a:rPr lang="fr-FR" dirty="0"/>
              <a:t>Participation 1 %</a:t>
            </a:r>
            <a:r>
              <a:rPr lang="fr-FR" dirty="0">
                <a:solidFill>
                  <a:srgbClr val="FF0000"/>
                </a:solidFill>
              </a:rPr>
              <a:t> - il ne s’agit pas d’un gain éventuel</a:t>
            </a:r>
            <a:endParaRPr lang="fr-FR" dirty="0"/>
          </a:p>
          <a:p>
            <a:pPr marL="0" indent="0">
              <a:buNone/>
            </a:pPr>
            <a:r>
              <a:rPr lang="fr-FR" dirty="0"/>
              <a:t>IFRS 15 – contrepartie variable ; (par 50 / 53 / 54), par 56</a:t>
            </a:r>
          </a:p>
          <a:p>
            <a:pPr marL="0" indent="0">
              <a:buNone/>
            </a:pPr>
            <a:r>
              <a:rPr lang="fr-FR" dirty="0"/>
              <a:t>Conclusion : risque d’ajustement à la baisse donc attendre la mesure pour comptabiliser</a:t>
            </a:r>
            <a:r>
              <a:rPr lang="fr-FR" dirty="0">
                <a:solidFill>
                  <a:srgbClr val="FF0000"/>
                </a:solidFill>
              </a:rPr>
              <a:t> (très manqué)</a:t>
            </a:r>
            <a:endParaRPr lang="fr-FR" dirty="0"/>
          </a:p>
          <a:p>
            <a:pPr marL="0" indent="0">
              <a:buNone/>
            </a:pPr>
            <a:r>
              <a:rPr lang="fr-FR" dirty="0"/>
              <a:t>Sauf pour ventes de janvier</a:t>
            </a:r>
          </a:p>
          <a:p>
            <a:pPr marL="0" indent="0">
              <a:buNone/>
            </a:pPr>
            <a:r>
              <a:rPr lang="fr-FR" dirty="0"/>
              <a:t>IAS 10 par 8 </a:t>
            </a:r>
            <a:r>
              <a:rPr lang="fr-FR" dirty="0">
                <a:solidFill>
                  <a:srgbClr val="FF0000"/>
                </a:solidFill>
              </a:rPr>
              <a:t>(événement subséquent – peu identifié)</a:t>
            </a:r>
            <a:endParaRPr lang="fr-FR" dirty="0"/>
          </a:p>
          <a:p>
            <a:pPr marL="0" indent="0">
              <a:buNone/>
            </a:pPr>
            <a:r>
              <a:rPr lang="fr-FR" dirty="0"/>
              <a:t>Analyse événement 2020, donc corriger EF</a:t>
            </a:r>
          </a:p>
        </p:txBody>
      </p:sp>
    </p:spTree>
    <p:extLst>
      <p:ext uri="{BB962C8B-B14F-4D97-AF65-F5344CB8AC3E}">
        <p14:creationId xmlns:p14="http://schemas.microsoft.com/office/powerpoint/2010/main" val="33682242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E002518-8F2F-4731-B5C9-B906FD10E95C}"/>
              </a:ext>
            </a:extLst>
          </p:cNvPr>
          <p:cNvSpPr>
            <a:spLocks noGrp="1"/>
          </p:cNvSpPr>
          <p:nvPr>
            <p:ph type="title"/>
          </p:nvPr>
        </p:nvSpPr>
        <p:spPr>
          <a:xfrm>
            <a:off x="838200" y="365125"/>
            <a:ext cx="10515600" cy="219337"/>
          </a:xfrm>
        </p:spPr>
        <p:txBody>
          <a:bodyPr>
            <a:normAutofit fontScale="90000"/>
          </a:bodyPr>
          <a:lstStyle/>
          <a:p>
            <a:r>
              <a:rPr lang="fr-CA" dirty="0"/>
              <a:t> </a:t>
            </a:r>
            <a:endParaRPr lang="fr-FR" dirty="0"/>
          </a:p>
        </p:txBody>
      </p:sp>
      <p:sp>
        <p:nvSpPr>
          <p:cNvPr id="3" name="Espace réservé du contenu 2">
            <a:extLst>
              <a:ext uri="{FF2B5EF4-FFF2-40B4-BE49-F238E27FC236}">
                <a16:creationId xmlns:a16="http://schemas.microsoft.com/office/drawing/2014/main" id="{E5DF8643-B7D7-47CB-81D7-E797136352D0}"/>
              </a:ext>
            </a:extLst>
          </p:cNvPr>
          <p:cNvSpPr>
            <a:spLocks noGrp="1"/>
          </p:cNvSpPr>
          <p:nvPr>
            <p:ph idx="1"/>
          </p:nvPr>
        </p:nvSpPr>
        <p:spPr>
          <a:xfrm>
            <a:off x="838200" y="707010"/>
            <a:ext cx="10515600" cy="5785865"/>
          </a:xfrm>
        </p:spPr>
        <p:txBody>
          <a:bodyPr>
            <a:normAutofit fontScale="47500" lnSpcReduction="20000"/>
          </a:bodyPr>
          <a:lstStyle/>
          <a:p>
            <a:pPr marL="0" indent="0">
              <a:buNone/>
            </a:pPr>
            <a:r>
              <a:rPr lang="fr-FR" b="1" dirty="0"/>
              <a:t>62     Un contrat de location est classé en tant que contrat de location-financement s'il transfère au preneur la quasi-totalité des risques et des avantages inhérents à la propriété du bien sous-jacent. Un contrat de location est classé en tant que contrat de location simple s'il ne transfère pas au preneur la quasi-totalité des risques et des avantages inhérents à la propriété du bien sous-jacent.</a:t>
            </a:r>
            <a:endParaRPr lang="fr-FR" dirty="0"/>
          </a:p>
          <a:p>
            <a:pPr marL="0" indent="0">
              <a:buNone/>
            </a:pPr>
            <a:r>
              <a:rPr lang="fr-FR" dirty="0"/>
              <a:t>63      Qu'un contrat de location soit un contrat de location simple ou un contrat de location-financement dépend de la réalité de la transaction plutôt que de la forme du contrat. Voici des exemples de situations qui, individuellement ou conjointement, devraient en principe conduire à classer un contrat de location en tant que contrat de location-financement :</a:t>
            </a:r>
          </a:p>
          <a:p>
            <a:pPr marL="0" indent="0">
              <a:buNone/>
            </a:pPr>
            <a:r>
              <a:rPr lang="fr-FR" dirty="0"/>
              <a:t>(a)     le contrat de location a pour effet, au terme de sa durée, de transférer au preneur la propriété du bien sous-jacent ;</a:t>
            </a:r>
          </a:p>
          <a:p>
            <a:pPr marL="0" indent="0">
              <a:buNone/>
            </a:pPr>
            <a:r>
              <a:rPr lang="fr-FR" dirty="0"/>
              <a:t>(b)     le preneur a l'option d'acheter le bien sous-jacent à un prix dont on s'attend à ce qu'il soit suffisamment inférieur à sa </a:t>
            </a:r>
            <a:r>
              <a:rPr lang="fr-FR" i="1" dirty="0"/>
              <a:t>juste valeur</a:t>
            </a:r>
            <a:r>
              <a:rPr lang="fr-FR" dirty="0"/>
              <a:t> à la date à laquelle l'option devient exerçable pour que, dès la </a:t>
            </a:r>
            <a:r>
              <a:rPr lang="fr-FR" i="1" dirty="0"/>
              <a:t>date de passation du contrat de location</a:t>
            </a:r>
            <a:r>
              <a:rPr lang="fr-FR" dirty="0"/>
              <a:t>, le preneur ait la certitude raisonnable d'exercer l'option ;</a:t>
            </a:r>
          </a:p>
          <a:p>
            <a:pPr marL="0" indent="0">
              <a:buNone/>
            </a:pPr>
            <a:r>
              <a:rPr lang="fr-FR" dirty="0"/>
              <a:t>(c)     la durée du contrat de location couvre la majeure partie de la </a:t>
            </a:r>
            <a:r>
              <a:rPr lang="fr-FR" i="1" dirty="0"/>
              <a:t>durée de vie économique</a:t>
            </a:r>
            <a:r>
              <a:rPr lang="fr-FR" dirty="0"/>
              <a:t> du bien sous-jacent, même s'il n'y a pas de transfert de propriété ;</a:t>
            </a:r>
          </a:p>
          <a:p>
            <a:pPr marL="0" indent="0">
              <a:buNone/>
            </a:pPr>
            <a:r>
              <a:rPr lang="fr-FR" dirty="0"/>
              <a:t>(d)     à la date de passation du contrat de location, la valeur actualisée des paiements de loyers s'élève au moins à la quasi-totalité de la juste valeur du bien sous-jacent ;</a:t>
            </a:r>
          </a:p>
          <a:p>
            <a:pPr marL="0" indent="0">
              <a:buNone/>
            </a:pPr>
            <a:r>
              <a:rPr lang="fr-FR" dirty="0"/>
              <a:t>(e)     le bien sous-jacent est d'une nature tellement spécifique que seul le preneur peut l'utiliser sans lui apporter de modifications majeures.</a:t>
            </a:r>
          </a:p>
          <a:p>
            <a:pPr marL="0" indent="0">
              <a:buNone/>
            </a:pPr>
            <a:r>
              <a:rPr lang="fr-FR" dirty="0"/>
              <a:t> </a:t>
            </a:r>
          </a:p>
          <a:p>
            <a:pPr marL="0" lvl="0" indent="0">
              <a:buNone/>
            </a:pPr>
            <a:r>
              <a:rPr lang="fr-CA" sz="4200" dirty="0"/>
              <a:t>A) Il n’y a certainement pas de transfert, Jean-Philippe voulant conserver son actif</a:t>
            </a:r>
            <a:endParaRPr lang="fr-FR" sz="4200" dirty="0"/>
          </a:p>
          <a:p>
            <a:pPr marL="0" lvl="0" indent="0">
              <a:buNone/>
            </a:pPr>
            <a:r>
              <a:rPr lang="fr-CA" sz="4200" dirty="0"/>
              <a:t>B)  Il n’y a certainement pas d’option d’achat accordé</a:t>
            </a:r>
            <a:endParaRPr lang="fr-FR" sz="4200" dirty="0"/>
          </a:p>
          <a:p>
            <a:pPr marL="0" lvl="0" indent="0">
              <a:buNone/>
            </a:pPr>
            <a:r>
              <a:rPr lang="fr-CA" sz="4200" dirty="0"/>
              <a:t>C)  Nous ne savons pas si le contrat est annuel ou renouvelable, mais puisque la durée des terres est très longue, le contrat ne couvre pas la majeure parie de la durée de vie économique</a:t>
            </a:r>
            <a:endParaRPr lang="fr-FR" sz="4200" dirty="0"/>
          </a:p>
          <a:p>
            <a:pPr marL="0" lvl="0" indent="0">
              <a:buNone/>
            </a:pPr>
            <a:r>
              <a:rPr lang="fr-CA" sz="4200" dirty="0"/>
              <a:t>D)  La valeur actualisée des paiements de loyers ne s’élève pas au moins à la quasi-totalité de la juste valeur du bien sous-jacent (60 000 $ et la terre a une valeur approximative de 2,3 M$</a:t>
            </a:r>
            <a:endParaRPr lang="fr-FR" sz="4200" dirty="0"/>
          </a:p>
          <a:p>
            <a:pPr marL="742950" lvl="0" indent="-742950">
              <a:buAutoNum type="alphaUcParenR" startAt="5"/>
            </a:pPr>
            <a:r>
              <a:rPr lang="fr-CA" sz="4200" dirty="0"/>
              <a:t>La terre n’est pas spécifique pour le preneur</a:t>
            </a:r>
          </a:p>
          <a:p>
            <a:pPr marL="0" indent="0">
              <a:buNone/>
            </a:pPr>
            <a:r>
              <a:rPr lang="fr-CA" sz="4500" dirty="0"/>
              <a:t>Donc, aucune condition rencontrée, il s’agit d’une location simple. Il faudra simplement comptabiliser le produit de 60 000 $ annuellement.</a:t>
            </a:r>
            <a:endParaRPr lang="fr-FR" dirty="0"/>
          </a:p>
          <a:p>
            <a:pPr marL="514350" lvl="0" indent="-514350">
              <a:buAutoNum type="alphaUcParenR" startAt="5"/>
            </a:pPr>
            <a:endParaRPr lang="fr-CA" sz="4200" dirty="0"/>
          </a:p>
        </p:txBody>
      </p:sp>
    </p:spTree>
    <p:extLst>
      <p:ext uri="{BB962C8B-B14F-4D97-AF65-F5344CB8AC3E}">
        <p14:creationId xmlns:p14="http://schemas.microsoft.com/office/powerpoint/2010/main" val="35859266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BF408E3-C772-4B4D-9F4B-B339D46B4FC4}"/>
              </a:ext>
            </a:extLst>
          </p:cNvPr>
          <p:cNvSpPr>
            <a:spLocks noGrp="1"/>
          </p:cNvSpPr>
          <p:nvPr>
            <p:ph type="title"/>
          </p:nvPr>
        </p:nvSpPr>
        <p:spPr>
          <a:xfrm>
            <a:off x="838200" y="365125"/>
            <a:ext cx="10515600" cy="172203"/>
          </a:xfrm>
        </p:spPr>
        <p:txBody>
          <a:bodyPr>
            <a:normAutofit fontScale="90000"/>
          </a:bodyPr>
          <a:lstStyle/>
          <a:p>
            <a:r>
              <a:rPr lang="fr-CA" dirty="0"/>
              <a:t>  </a:t>
            </a:r>
            <a:endParaRPr lang="fr-FR" dirty="0"/>
          </a:p>
        </p:txBody>
      </p:sp>
      <p:sp>
        <p:nvSpPr>
          <p:cNvPr id="3" name="Espace réservé du contenu 2">
            <a:extLst>
              <a:ext uri="{FF2B5EF4-FFF2-40B4-BE49-F238E27FC236}">
                <a16:creationId xmlns:a16="http://schemas.microsoft.com/office/drawing/2014/main" id="{FAEA341F-1202-4286-AE64-D3298BEF9669}"/>
              </a:ext>
            </a:extLst>
          </p:cNvPr>
          <p:cNvSpPr>
            <a:spLocks noGrp="1"/>
          </p:cNvSpPr>
          <p:nvPr>
            <p:ph idx="1"/>
          </p:nvPr>
        </p:nvSpPr>
        <p:spPr>
          <a:xfrm>
            <a:off x="838200" y="744718"/>
            <a:ext cx="10515600" cy="5432245"/>
          </a:xfrm>
        </p:spPr>
        <p:txBody>
          <a:bodyPr>
            <a:normAutofit fontScale="85000" lnSpcReduction="20000"/>
          </a:bodyPr>
          <a:lstStyle/>
          <a:p>
            <a:pPr marL="0" indent="0">
              <a:buNone/>
            </a:pPr>
            <a:r>
              <a:rPr lang="fr-CA" sz="2400" dirty="0"/>
              <a:t>Il y a aussi la participation de 1 % sur la vente de ce qui y serait cultivé. </a:t>
            </a:r>
            <a:endParaRPr lang="fr-FR" sz="2400" dirty="0"/>
          </a:p>
          <a:p>
            <a:pPr marL="0" indent="0">
              <a:buNone/>
            </a:pPr>
            <a:r>
              <a:rPr lang="fr-CA" sz="2400" dirty="0"/>
              <a:t>« L’agriculteur l’a prévenu qu’il ferait pousser du blé, le mettrait dans ses silos </a:t>
            </a:r>
            <a:r>
              <a:rPr lang="fr-CA" sz="2400" u="sng" dirty="0"/>
              <a:t>et ne le vendrait qu’à partir de janvier 2021</a:t>
            </a:r>
            <a:r>
              <a:rPr lang="fr-CA" sz="2400" dirty="0"/>
              <a:t>, afin d’en obtenir un meilleur prix. L’entente prévoit que cette participation sur les ventes serait payable dans les 30 jours suivant chaque vente, mais qu’</a:t>
            </a:r>
            <a:r>
              <a:rPr lang="fr-CA" sz="2400" u="sng" dirty="0"/>
              <a:t>au minimum 20 % de la récolte devait être vendue avant le 31 janvier suivant</a:t>
            </a:r>
            <a:r>
              <a:rPr lang="fr-CA" sz="2400" dirty="0"/>
              <a:t>. «</a:t>
            </a:r>
            <a:r>
              <a:rPr lang="fr-CA" sz="2400" u="sng" dirty="0"/>
              <a:t>Et il souhaite que le montant soit inclus dans ses états financiers 2020, tout en étant conscient de la grande volatilité du prix du blé (donc difficile à anticiper), et qu’en vertu de la convention de prêt il doit remettre une copie de ses états financiers au banquier au début du mois de février.</a:t>
            </a:r>
            <a:r>
              <a:rPr lang="fr-CA" sz="2400" dirty="0"/>
              <a:t> »</a:t>
            </a:r>
          </a:p>
          <a:p>
            <a:pPr marL="0" indent="0">
              <a:buNone/>
            </a:pPr>
            <a:endParaRPr lang="fr-CA" sz="2400" dirty="0"/>
          </a:p>
          <a:p>
            <a:pPr marL="0" indent="0">
              <a:buNone/>
            </a:pPr>
            <a:r>
              <a:rPr lang="fr-FR" sz="2600" dirty="0"/>
              <a:t>IFRS 15 </a:t>
            </a:r>
            <a:r>
              <a:rPr lang="fr-FR" sz="2600" i="1" dirty="0"/>
              <a:t>: Limitation des estimations de contrepartie variable</a:t>
            </a:r>
            <a:endParaRPr lang="fr-FR" sz="2600" dirty="0"/>
          </a:p>
          <a:p>
            <a:pPr marL="0" indent="0">
              <a:buNone/>
            </a:pPr>
            <a:r>
              <a:rPr lang="fr-FR" sz="2600" dirty="0"/>
              <a:t>56      L'entité doit inclure dans le prix de transaction tout ou partie du montant de contrepartie variable estimé conformément au paragraphe </a:t>
            </a:r>
            <a:r>
              <a:rPr lang="fr-FR" sz="2600" u="sng" dirty="0"/>
              <a:t>53</a:t>
            </a:r>
            <a:r>
              <a:rPr lang="fr-FR" sz="2600" dirty="0"/>
              <a:t> dans la seule mesure où il est hautement probable que le dénouement ultérieur de l'incertitude relative à la contrepartie variable ne donnera pas lieu à un ajustement à la baisse important du montant cumulatif des produits des activités ordinaires comptabilisé.</a:t>
            </a:r>
          </a:p>
          <a:p>
            <a:pPr marL="0" indent="0">
              <a:buNone/>
            </a:pPr>
            <a:endParaRPr lang="fr-FR" sz="600" dirty="0"/>
          </a:p>
          <a:p>
            <a:pPr marL="0" indent="0">
              <a:buNone/>
            </a:pPr>
            <a:r>
              <a:rPr lang="fr-FR" dirty="0"/>
              <a:t>Selon IFRS 15 par 56, s’il est difficile d’estimer la contrepartie variable et qu’il y a un risque d’ajustement à la baisse, il faut attendre avant de comptabiliser cette portion du produit - </a:t>
            </a:r>
            <a:r>
              <a:rPr lang="fr-CA" dirty="0"/>
              <a:t>grande volatilité du prix du blé (donc difficile à anticiper)</a:t>
            </a:r>
            <a:endParaRPr lang="fr-FR" dirty="0"/>
          </a:p>
          <a:p>
            <a:pPr marL="0" indent="0">
              <a:buNone/>
            </a:pPr>
            <a:endParaRPr lang="fr-FR" dirty="0"/>
          </a:p>
          <a:p>
            <a:pPr marL="0" indent="0">
              <a:buNone/>
            </a:pPr>
            <a:endParaRPr lang="fr-FR" dirty="0"/>
          </a:p>
        </p:txBody>
      </p:sp>
    </p:spTree>
    <p:extLst>
      <p:ext uri="{BB962C8B-B14F-4D97-AF65-F5344CB8AC3E}">
        <p14:creationId xmlns:p14="http://schemas.microsoft.com/office/powerpoint/2010/main" val="20048825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A45F517-F7A9-40E2-A0AA-1E96AFB98B6E}"/>
              </a:ext>
            </a:extLst>
          </p:cNvPr>
          <p:cNvSpPr>
            <a:spLocks noGrp="1"/>
          </p:cNvSpPr>
          <p:nvPr>
            <p:ph type="title"/>
          </p:nvPr>
        </p:nvSpPr>
        <p:spPr>
          <a:xfrm>
            <a:off x="838200" y="365126"/>
            <a:ext cx="10515600" cy="315912"/>
          </a:xfrm>
        </p:spPr>
        <p:txBody>
          <a:bodyPr>
            <a:normAutofit fontScale="90000"/>
          </a:bodyPr>
          <a:lstStyle/>
          <a:p>
            <a:endParaRPr lang="fr-FR" dirty="0"/>
          </a:p>
        </p:txBody>
      </p:sp>
      <p:sp>
        <p:nvSpPr>
          <p:cNvPr id="3" name="Espace réservé du contenu 2">
            <a:extLst>
              <a:ext uri="{FF2B5EF4-FFF2-40B4-BE49-F238E27FC236}">
                <a16:creationId xmlns:a16="http://schemas.microsoft.com/office/drawing/2014/main" id="{167F4011-CA0E-4C39-8187-5DA6C089BEEC}"/>
              </a:ext>
            </a:extLst>
          </p:cNvPr>
          <p:cNvSpPr>
            <a:spLocks noGrp="1"/>
          </p:cNvSpPr>
          <p:nvPr>
            <p:ph idx="1"/>
          </p:nvPr>
        </p:nvSpPr>
        <p:spPr/>
        <p:txBody>
          <a:bodyPr>
            <a:normAutofit fontScale="77500" lnSpcReduction="20000"/>
          </a:bodyPr>
          <a:lstStyle/>
          <a:p>
            <a:pPr marL="0" indent="0">
              <a:buNone/>
            </a:pPr>
            <a:r>
              <a:rPr lang="fr-FR" dirty="0"/>
              <a:t>Selon IAS 10</a:t>
            </a:r>
          </a:p>
          <a:p>
            <a:pPr marL="0" indent="0">
              <a:buNone/>
            </a:pPr>
            <a:r>
              <a:rPr lang="fr-FR" b="1" dirty="0"/>
              <a:t>Événements postérieurs à la date de clôture donnant lieu à des ajustements</a:t>
            </a:r>
            <a:endParaRPr lang="fr-FR" dirty="0"/>
          </a:p>
          <a:p>
            <a:pPr marL="0" indent="0">
              <a:buNone/>
            </a:pPr>
            <a:r>
              <a:rPr lang="fr-FR" b="1" dirty="0"/>
              <a:t>8     Une entité doit ajuster les montants comptabilisés dans ses états financiers pour refléter des événements postérieurs à la date de clôture donnant lieu à des ajustements.</a:t>
            </a:r>
            <a:endParaRPr lang="fr-FR" dirty="0"/>
          </a:p>
          <a:p>
            <a:pPr marL="0" indent="0">
              <a:buNone/>
            </a:pPr>
            <a:r>
              <a:rPr lang="fr-FR" dirty="0"/>
              <a:t> </a:t>
            </a:r>
          </a:p>
          <a:p>
            <a:pPr marL="0" indent="0">
              <a:buNone/>
            </a:pPr>
            <a:r>
              <a:rPr lang="fr-FR" dirty="0"/>
              <a:t>La participation de 1 % est liée à l’exercice 2020. Les ventes de blé faites par le preneur en janvier (et par la suite) sont liées au contrat de l’exercice 2020.</a:t>
            </a:r>
          </a:p>
          <a:p>
            <a:pPr marL="0" indent="0">
              <a:buNone/>
            </a:pPr>
            <a:r>
              <a:rPr lang="fr-FR" dirty="0"/>
              <a:t>Donc, pour les ventes du mois de janvier, l’information liée à la mesure de la contrepartie conditionnelle est connue et puisque liée à un événement de l’exercice 2020, il faut ajuster les états financiers 2020 pour inclure cette portion de la contrepartie variable.</a:t>
            </a:r>
          </a:p>
          <a:p>
            <a:pPr marL="0" indent="0">
              <a:buNone/>
            </a:pPr>
            <a:r>
              <a:rPr lang="fr-FR" i="1" dirty="0"/>
              <a:t>Pourrait aussi argumenter que peut estimer contrepartie variable et inclure, mais cas mentionne très volatile.</a:t>
            </a:r>
            <a:endParaRPr lang="fr-FR" dirty="0"/>
          </a:p>
          <a:p>
            <a:pPr marL="0" indent="0">
              <a:buNone/>
            </a:pPr>
            <a:endParaRPr lang="fr-FR" dirty="0"/>
          </a:p>
        </p:txBody>
      </p:sp>
    </p:spTree>
    <p:extLst>
      <p:ext uri="{BB962C8B-B14F-4D97-AF65-F5344CB8AC3E}">
        <p14:creationId xmlns:p14="http://schemas.microsoft.com/office/powerpoint/2010/main" val="5664758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548789-8F36-4868-8B60-1BEC7A26280A}"/>
              </a:ext>
            </a:extLst>
          </p:cNvPr>
          <p:cNvSpPr>
            <a:spLocks noGrp="1"/>
          </p:cNvSpPr>
          <p:nvPr>
            <p:ph type="title"/>
          </p:nvPr>
        </p:nvSpPr>
        <p:spPr/>
        <p:txBody>
          <a:bodyPr/>
          <a:lstStyle/>
          <a:p>
            <a:r>
              <a:rPr lang="fr-CA" sz="3600" b="1" dirty="0"/>
              <a:t>Indicateur 3 : </a:t>
            </a:r>
            <a:r>
              <a:rPr lang="fr-FR" sz="3600" b="1" dirty="0"/>
              <a:t>Contrat de location</a:t>
            </a:r>
            <a:endParaRPr lang="fr-FR" b="1" dirty="0"/>
          </a:p>
        </p:txBody>
      </p:sp>
      <p:sp>
        <p:nvSpPr>
          <p:cNvPr id="3" name="Espace réservé du contenu 2">
            <a:extLst>
              <a:ext uri="{FF2B5EF4-FFF2-40B4-BE49-F238E27FC236}">
                <a16:creationId xmlns:a16="http://schemas.microsoft.com/office/drawing/2014/main" id="{226B9EF1-E71F-48A1-9F9F-373F1C571101}"/>
              </a:ext>
            </a:extLst>
          </p:cNvPr>
          <p:cNvSpPr>
            <a:spLocks noGrp="1"/>
          </p:cNvSpPr>
          <p:nvPr>
            <p:ph idx="1"/>
          </p:nvPr>
        </p:nvSpPr>
        <p:spPr/>
        <p:txBody>
          <a:bodyPr>
            <a:normAutofit/>
          </a:bodyPr>
          <a:lstStyle/>
          <a:p>
            <a:pPr marL="0" indent="0">
              <a:buNone/>
            </a:pPr>
            <a:r>
              <a:rPr lang="fr-FR" sz="2400" dirty="0"/>
              <a:t>EVC – Analyse adéquatement classement contrat de location </a:t>
            </a:r>
            <a:r>
              <a:rPr lang="fr-FR" sz="2400" b="1" dirty="0"/>
              <a:t>OU</a:t>
            </a:r>
            <a:r>
              <a:rPr lang="fr-FR" sz="2400" dirty="0"/>
              <a:t> participation 1 % pour portion capacité d’estimer </a:t>
            </a:r>
            <a:r>
              <a:rPr lang="fr-FR" sz="2400" b="1" dirty="0"/>
              <a:t>OU </a:t>
            </a:r>
            <a:r>
              <a:rPr lang="fr-FR" sz="2400" dirty="0"/>
              <a:t>les deux mais avec petites erreurs</a:t>
            </a:r>
          </a:p>
          <a:p>
            <a:pPr marL="0" indent="0">
              <a:buNone/>
            </a:pPr>
            <a:endParaRPr lang="fr-FR" sz="2400" dirty="0"/>
          </a:p>
          <a:p>
            <a:pPr marL="0" indent="0">
              <a:buNone/>
            </a:pPr>
            <a:r>
              <a:rPr lang="fr-FR" sz="2400" dirty="0"/>
              <a:t>C – Analyse adéquatement classement contrat de location ET participation 1 % pour portion capacité d’estimer</a:t>
            </a:r>
          </a:p>
          <a:p>
            <a:pPr marL="0" indent="0">
              <a:buNone/>
            </a:pPr>
            <a:endParaRPr lang="fr-FR" sz="2400" dirty="0">
              <a:solidFill>
                <a:srgbClr val="FF0000"/>
              </a:solidFill>
            </a:endParaRPr>
          </a:p>
          <a:p>
            <a:pPr marL="0" indent="0">
              <a:buNone/>
            </a:pPr>
            <a:r>
              <a:rPr lang="fr-FR" sz="2400" dirty="0"/>
              <a:t>CD – Analyse adéquatement classement contrat de location ET participation 1 % capacité d’estimer ET événement postérieur</a:t>
            </a:r>
            <a:endParaRPr lang="fr-FR" sz="2400" dirty="0">
              <a:solidFill>
                <a:srgbClr val="FF0000"/>
              </a:solidFill>
            </a:endParaRPr>
          </a:p>
          <a:p>
            <a:pPr marL="0" indent="0">
              <a:buNone/>
            </a:pPr>
            <a:endParaRPr lang="fr-FR" sz="2400" dirty="0">
              <a:solidFill>
                <a:srgbClr val="FF0000"/>
              </a:solidFill>
            </a:endParaRPr>
          </a:p>
          <a:p>
            <a:pPr marL="0" indent="0">
              <a:buNone/>
            </a:pPr>
            <a:r>
              <a:rPr lang="fr-FR" sz="2400" dirty="0">
                <a:solidFill>
                  <a:srgbClr val="0070C0"/>
                </a:solidFill>
              </a:rPr>
              <a:t>Moyenne : 1,0</a:t>
            </a:r>
            <a:endParaRPr lang="fr-FR" dirty="0">
              <a:solidFill>
                <a:srgbClr val="0070C0"/>
              </a:solidFill>
            </a:endParaRPr>
          </a:p>
        </p:txBody>
      </p:sp>
    </p:spTree>
    <p:extLst>
      <p:ext uri="{BB962C8B-B14F-4D97-AF65-F5344CB8AC3E}">
        <p14:creationId xmlns:p14="http://schemas.microsoft.com/office/powerpoint/2010/main" val="42560326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548789-8F36-4868-8B60-1BEC7A26280A}"/>
              </a:ext>
            </a:extLst>
          </p:cNvPr>
          <p:cNvSpPr>
            <a:spLocks noGrp="1"/>
          </p:cNvSpPr>
          <p:nvPr>
            <p:ph type="title"/>
          </p:nvPr>
        </p:nvSpPr>
        <p:spPr/>
        <p:txBody>
          <a:bodyPr/>
          <a:lstStyle/>
          <a:p>
            <a:r>
              <a:rPr lang="fr-CA" sz="3600" b="1" dirty="0"/>
              <a:t>Indicateur 4 : </a:t>
            </a:r>
            <a:r>
              <a:rPr lang="fr-FR" sz="3600" b="1" dirty="0"/>
              <a:t>Plants de fraises</a:t>
            </a:r>
            <a:endParaRPr lang="fr-FR" b="1" dirty="0"/>
          </a:p>
        </p:txBody>
      </p:sp>
      <p:sp>
        <p:nvSpPr>
          <p:cNvPr id="3" name="Espace réservé du contenu 2">
            <a:extLst>
              <a:ext uri="{FF2B5EF4-FFF2-40B4-BE49-F238E27FC236}">
                <a16:creationId xmlns:a16="http://schemas.microsoft.com/office/drawing/2014/main" id="{226B9EF1-E71F-48A1-9F9F-373F1C571101}"/>
              </a:ext>
            </a:extLst>
          </p:cNvPr>
          <p:cNvSpPr>
            <a:spLocks noGrp="1"/>
          </p:cNvSpPr>
          <p:nvPr>
            <p:ph idx="1"/>
          </p:nvPr>
        </p:nvSpPr>
        <p:spPr/>
        <p:txBody>
          <a:bodyPr>
            <a:noAutofit/>
          </a:bodyPr>
          <a:lstStyle/>
          <a:p>
            <a:pPr marL="0" indent="0">
              <a:buNone/>
            </a:pPr>
            <a:r>
              <a:rPr lang="fr-FR" sz="2400" dirty="0"/>
              <a:t>IAS 41 / IAS 16 : plante productrice, avec analyse des critères</a:t>
            </a:r>
          </a:p>
          <a:p>
            <a:pPr marL="0" indent="0">
              <a:buNone/>
            </a:pPr>
            <a:r>
              <a:rPr lang="fr-FR" sz="2400" dirty="0"/>
              <a:t>Conclusion : plante productrice – IAS 16 (au coût)</a:t>
            </a:r>
            <a:r>
              <a:rPr lang="fr-FR" sz="2400" dirty="0">
                <a:solidFill>
                  <a:srgbClr val="FF0000"/>
                </a:solidFill>
              </a:rPr>
              <a:t> – faire une conclusion explicite </a:t>
            </a:r>
            <a:r>
              <a:rPr lang="fr-FR" sz="2400" i="1" dirty="0">
                <a:solidFill>
                  <a:srgbClr val="FF0000"/>
                </a:solidFill>
              </a:rPr>
              <a:t>(puisque respecte tous les critères d’une plante productrice, selon IAS 41 / IAS 16 – la norme IAS 16 s’applique)</a:t>
            </a:r>
            <a:endParaRPr lang="fr-FR" sz="2400" i="1" dirty="0"/>
          </a:p>
          <a:p>
            <a:pPr marL="0" indent="0">
              <a:buNone/>
            </a:pPr>
            <a:endParaRPr lang="fr-FR" sz="2400" dirty="0"/>
          </a:p>
          <a:p>
            <a:pPr marL="0" indent="0">
              <a:buNone/>
            </a:pPr>
            <a:r>
              <a:rPr lang="fr-FR" sz="2400" dirty="0"/>
              <a:t>Plantes détruites : </a:t>
            </a:r>
            <a:r>
              <a:rPr lang="fr-FR" sz="2400" dirty="0" err="1"/>
              <a:t>décomptabiliser</a:t>
            </a:r>
            <a:r>
              <a:rPr lang="fr-FR" sz="2400" dirty="0"/>
              <a:t> / ne pas attribuer de valeur initialement</a:t>
            </a:r>
            <a:r>
              <a:rPr lang="fr-FR" sz="2400" dirty="0">
                <a:solidFill>
                  <a:srgbClr val="FF0000"/>
                </a:solidFill>
              </a:rPr>
              <a:t> – peu traité </a:t>
            </a:r>
            <a:r>
              <a:rPr lang="fr-FR" sz="2400" i="1" dirty="0">
                <a:solidFill>
                  <a:srgbClr val="FF0000"/>
                </a:solidFill>
              </a:rPr>
              <a:t>(même concept dans Cerises de Zoé)</a:t>
            </a:r>
            <a:endParaRPr lang="fr-FR" sz="2400" i="1" dirty="0"/>
          </a:p>
          <a:p>
            <a:pPr marL="0" indent="0">
              <a:buNone/>
            </a:pPr>
            <a:endParaRPr lang="fr-FR" sz="2400" dirty="0"/>
          </a:p>
          <a:p>
            <a:pPr marL="0" indent="0">
              <a:buNone/>
            </a:pPr>
            <a:r>
              <a:rPr lang="fr-FR" sz="2400" dirty="0"/>
              <a:t>800 $ : coût d’acquisition (semences)</a:t>
            </a:r>
          </a:p>
          <a:p>
            <a:pPr marL="0" indent="0">
              <a:buNone/>
            </a:pPr>
            <a:r>
              <a:rPr lang="fr-FR" sz="2400" dirty="0"/>
              <a:t>6 000 $ : 15 % : ajouté au coût (période « construction ») ; 85 % en charge (stade productif) </a:t>
            </a:r>
            <a:r>
              <a:rPr lang="fr-FR" sz="2400" i="1" dirty="0">
                <a:solidFill>
                  <a:srgbClr val="FF0000"/>
                </a:solidFill>
              </a:rPr>
              <a:t>(même concept dans Cerises de Zoé)</a:t>
            </a:r>
            <a:endParaRPr lang="fr-FR" sz="2400" dirty="0"/>
          </a:p>
        </p:txBody>
      </p:sp>
    </p:spTree>
    <p:extLst>
      <p:ext uri="{BB962C8B-B14F-4D97-AF65-F5344CB8AC3E}">
        <p14:creationId xmlns:p14="http://schemas.microsoft.com/office/powerpoint/2010/main" val="42370293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BFF55D7-F84A-4C1E-AEFA-DECA719A9BD7}"/>
              </a:ext>
            </a:extLst>
          </p:cNvPr>
          <p:cNvSpPr>
            <a:spLocks noGrp="1"/>
          </p:cNvSpPr>
          <p:nvPr>
            <p:ph type="title"/>
          </p:nvPr>
        </p:nvSpPr>
        <p:spPr>
          <a:xfrm>
            <a:off x="838200" y="365126"/>
            <a:ext cx="10515600" cy="315912"/>
          </a:xfrm>
        </p:spPr>
        <p:txBody>
          <a:bodyPr>
            <a:normAutofit fontScale="90000"/>
          </a:bodyPr>
          <a:lstStyle/>
          <a:p>
            <a:r>
              <a:rPr lang="fr-CA" dirty="0"/>
              <a:t> </a:t>
            </a:r>
            <a:endParaRPr lang="fr-FR" dirty="0"/>
          </a:p>
        </p:txBody>
      </p:sp>
      <p:sp>
        <p:nvSpPr>
          <p:cNvPr id="3" name="Espace réservé du contenu 2">
            <a:extLst>
              <a:ext uri="{FF2B5EF4-FFF2-40B4-BE49-F238E27FC236}">
                <a16:creationId xmlns:a16="http://schemas.microsoft.com/office/drawing/2014/main" id="{C56F68F6-82AF-4EDF-B44B-56663C8657EA}"/>
              </a:ext>
            </a:extLst>
          </p:cNvPr>
          <p:cNvSpPr>
            <a:spLocks noGrp="1"/>
          </p:cNvSpPr>
          <p:nvPr>
            <p:ph idx="1"/>
          </p:nvPr>
        </p:nvSpPr>
        <p:spPr>
          <a:xfrm>
            <a:off x="838200" y="801278"/>
            <a:ext cx="10515600" cy="5375685"/>
          </a:xfrm>
        </p:spPr>
        <p:txBody>
          <a:bodyPr>
            <a:normAutofit fontScale="77500" lnSpcReduction="20000"/>
          </a:bodyPr>
          <a:lstStyle/>
          <a:p>
            <a:pPr marL="0" indent="0">
              <a:buNone/>
            </a:pPr>
            <a:r>
              <a:rPr lang="fr-CA" dirty="0"/>
              <a:t>Selo</a:t>
            </a:r>
            <a:r>
              <a:rPr lang="fr-CA" sz="2600" dirty="0"/>
              <a:t>n IAS 41 (ou IAS 16)</a:t>
            </a:r>
            <a:endParaRPr lang="fr-FR" sz="2600" dirty="0"/>
          </a:p>
          <a:p>
            <a:pPr marL="0" indent="0">
              <a:buNone/>
            </a:pPr>
            <a:r>
              <a:rPr lang="fr-FR" sz="2600" b="1" dirty="0"/>
              <a:t>Une </a:t>
            </a:r>
            <a:r>
              <a:rPr lang="fr-FR" sz="2600" b="1" i="1" dirty="0"/>
              <a:t>plante productrice</a:t>
            </a:r>
            <a:r>
              <a:rPr lang="fr-FR" sz="2600" b="1" dirty="0"/>
              <a:t> est une plante vivante qui :</a:t>
            </a:r>
            <a:endParaRPr lang="fr-FR" sz="2600" dirty="0"/>
          </a:p>
          <a:p>
            <a:pPr marL="0" indent="0">
              <a:buNone/>
            </a:pPr>
            <a:r>
              <a:rPr lang="fr-FR" sz="2600" b="1" dirty="0"/>
              <a:t>(a)     est utilisée dans la production ou la fourniture de produits agricoles ;</a:t>
            </a:r>
            <a:endParaRPr lang="fr-FR" sz="2600" dirty="0"/>
          </a:p>
          <a:p>
            <a:pPr marL="0" indent="0">
              <a:buNone/>
            </a:pPr>
            <a:r>
              <a:rPr lang="fr-FR" sz="2600" b="1" dirty="0"/>
              <a:t>(b)     est susceptible de produire sur plus d'une période ;</a:t>
            </a:r>
            <a:endParaRPr lang="fr-FR" sz="2600" dirty="0"/>
          </a:p>
          <a:p>
            <a:pPr marL="0" indent="0">
              <a:buNone/>
            </a:pPr>
            <a:r>
              <a:rPr lang="fr-FR" sz="2600" b="1" dirty="0"/>
              <a:t>(c)     n'a qu'une faible probabilité d'être vendue comme produit agricole, sauf à titre accessoire en tant que rebut.</a:t>
            </a:r>
            <a:endParaRPr lang="fr-FR" sz="2600" dirty="0"/>
          </a:p>
          <a:p>
            <a:pPr marL="0" indent="0">
              <a:buNone/>
            </a:pPr>
            <a:r>
              <a:rPr lang="fr-FR" sz="2600" dirty="0"/>
              <a:t>a) produira des fraises (produit agricole)</a:t>
            </a:r>
          </a:p>
          <a:p>
            <a:pPr marL="0" indent="0">
              <a:buNone/>
            </a:pPr>
            <a:r>
              <a:rPr lang="fr-FR" sz="2600" dirty="0"/>
              <a:t>b) fournira des fraises sur plusieurs années</a:t>
            </a:r>
          </a:p>
          <a:p>
            <a:pPr marL="0" indent="0">
              <a:buNone/>
            </a:pPr>
            <a:r>
              <a:rPr lang="fr-FR" sz="2600" dirty="0"/>
              <a:t>c) ne sera pas vendu (conservera pour la production de fraises)</a:t>
            </a:r>
          </a:p>
          <a:p>
            <a:pPr marL="0" indent="0">
              <a:buNone/>
            </a:pPr>
            <a:r>
              <a:rPr lang="fr-FR" sz="2600" dirty="0"/>
              <a:t>donc les plants de fraises sont des plantes productrices.</a:t>
            </a:r>
          </a:p>
          <a:p>
            <a:pPr marL="0" indent="0">
              <a:buNone/>
            </a:pPr>
            <a:endParaRPr lang="fr-FR" sz="2600" dirty="0"/>
          </a:p>
          <a:p>
            <a:pPr marL="0" indent="0">
              <a:buNone/>
            </a:pPr>
            <a:r>
              <a:rPr lang="fr-FR" dirty="0"/>
              <a:t>Selon IAS 41</a:t>
            </a:r>
          </a:p>
          <a:p>
            <a:pPr marL="0" indent="0">
              <a:buNone/>
            </a:pPr>
            <a:r>
              <a:rPr lang="fr-FR" dirty="0"/>
              <a:t>2       La présente norme ne s'applique pas :</a:t>
            </a:r>
          </a:p>
          <a:p>
            <a:pPr marL="0" indent="0">
              <a:buNone/>
            </a:pPr>
            <a:r>
              <a:rPr lang="fr-FR" dirty="0"/>
              <a:t> (b)     aux plantes productrices liées à l'activité agricole (voir </a:t>
            </a:r>
            <a:r>
              <a:rPr lang="fr-FR" u="sng" dirty="0">
                <a:hlinkClick r:id="rId2"/>
              </a:rPr>
              <a:t>IAS 16</a:t>
            </a:r>
            <a:r>
              <a:rPr lang="fr-FR" dirty="0"/>
              <a:t>), bien qu'elle s'applique aux produits de ces plantes productrices ;</a:t>
            </a:r>
          </a:p>
          <a:p>
            <a:pPr marL="0" indent="0">
              <a:buNone/>
            </a:pPr>
            <a:r>
              <a:rPr lang="fr-FR" dirty="0"/>
              <a:t>Il faut donc se référer à IAS 16 pour le traitement comptable.</a:t>
            </a:r>
            <a:endParaRPr lang="fr-FR" sz="2600" dirty="0"/>
          </a:p>
          <a:p>
            <a:pPr marL="0" indent="0">
              <a:buNone/>
            </a:pPr>
            <a:endParaRPr lang="fr-FR" dirty="0"/>
          </a:p>
        </p:txBody>
      </p:sp>
    </p:spTree>
    <p:extLst>
      <p:ext uri="{BB962C8B-B14F-4D97-AF65-F5344CB8AC3E}">
        <p14:creationId xmlns:p14="http://schemas.microsoft.com/office/powerpoint/2010/main" val="29364623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80EA80F-0BC4-4707-B0ED-D5F5A98DDA6B}"/>
              </a:ext>
            </a:extLst>
          </p:cNvPr>
          <p:cNvSpPr>
            <a:spLocks noGrp="1"/>
          </p:cNvSpPr>
          <p:nvPr>
            <p:ph type="title"/>
          </p:nvPr>
        </p:nvSpPr>
        <p:spPr/>
        <p:txBody>
          <a:bodyPr/>
          <a:lstStyle/>
          <a:p>
            <a:r>
              <a:rPr lang="fr-CA" dirty="0"/>
              <a:t> </a:t>
            </a:r>
            <a:endParaRPr lang="fr-FR" dirty="0"/>
          </a:p>
        </p:txBody>
      </p:sp>
      <p:sp>
        <p:nvSpPr>
          <p:cNvPr id="3" name="Espace réservé du contenu 2">
            <a:extLst>
              <a:ext uri="{FF2B5EF4-FFF2-40B4-BE49-F238E27FC236}">
                <a16:creationId xmlns:a16="http://schemas.microsoft.com/office/drawing/2014/main" id="{8EC8D0A1-E0F7-44A7-9184-EE7CA7F9EF91}"/>
              </a:ext>
            </a:extLst>
          </p:cNvPr>
          <p:cNvSpPr>
            <a:spLocks noGrp="1"/>
          </p:cNvSpPr>
          <p:nvPr>
            <p:ph idx="1"/>
          </p:nvPr>
        </p:nvSpPr>
        <p:spPr/>
        <p:txBody>
          <a:bodyPr/>
          <a:lstStyle/>
          <a:p>
            <a:pPr lvl="0"/>
            <a:r>
              <a:rPr lang="fr-FR" sz="2400" dirty="0"/>
              <a:t>Destruction de 15 % des plants : soit ne pas accorder de valeur initialement ou </a:t>
            </a:r>
            <a:r>
              <a:rPr lang="fr-FR" sz="2400" dirty="0" err="1"/>
              <a:t>décomptabiliser</a:t>
            </a:r>
            <a:r>
              <a:rPr lang="fr-FR" sz="2400" dirty="0"/>
              <a:t> la valeur liée.</a:t>
            </a:r>
          </a:p>
          <a:p>
            <a:pPr marL="0" lvl="0" indent="0">
              <a:buNone/>
            </a:pPr>
            <a:endParaRPr lang="fr-FR" sz="2400" dirty="0"/>
          </a:p>
          <a:p>
            <a:pPr lvl="0"/>
            <a:r>
              <a:rPr lang="fr-FR" sz="2400" dirty="0"/>
              <a:t>Selon IAS 16 (voir les autres sections)</a:t>
            </a:r>
          </a:p>
          <a:p>
            <a:pPr lvl="1"/>
            <a:r>
              <a:rPr lang="fr-FR" dirty="0"/>
              <a:t>800 $ semences : oui ajouté au coût de l’immobilisation (coût d’acquisition)</a:t>
            </a:r>
          </a:p>
          <a:p>
            <a:pPr lvl="1"/>
            <a:r>
              <a:rPr lang="fr-FR" dirty="0"/>
              <a:t>6 000 $ : </a:t>
            </a:r>
            <a:r>
              <a:rPr lang="fr-CA" dirty="0"/>
              <a:t>pour son activité « fraises », excluant le coût lié à la semence, le tout réparti pour l’ensemble des divers plants</a:t>
            </a:r>
            <a:endParaRPr lang="fr-FR" dirty="0"/>
          </a:p>
          <a:p>
            <a:pPr lvl="2"/>
            <a:r>
              <a:rPr lang="fr-CA" dirty="0"/>
              <a:t>15 % ajouté au coût des plants, car période « construction en cours »</a:t>
            </a:r>
            <a:endParaRPr lang="fr-FR" dirty="0"/>
          </a:p>
          <a:p>
            <a:pPr lvl="2"/>
            <a:r>
              <a:rPr lang="fr-CA" dirty="0"/>
              <a:t>85 % en charge car déjà au stade productif</a:t>
            </a:r>
            <a:endParaRPr lang="fr-FR" dirty="0"/>
          </a:p>
          <a:p>
            <a:pPr marL="0" indent="0">
              <a:buNone/>
            </a:pPr>
            <a:endParaRPr lang="fr-FR" dirty="0"/>
          </a:p>
        </p:txBody>
      </p:sp>
    </p:spTree>
    <p:extLst>
      <p:ext uri="{BB962C8B-B14F-4D97-AF65-F5344CB8AC3E}">
        <p14:creationId xmlns:p14="http://schemas.microsoft.com/office/powerpoint/2010/main" val="22557667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548789-8F36-4868-8B60-1BEC7A26280A}"/>
              </a:ext>
            </a:extLst>
          </p:cNvPr>
          <p:cNvSpPr>
            <a:spLocks noGrp="1"/>
          </p:cNvSpPr>
          <p:nvPr>
            <p:ph type="title"/>
          </p:nvPr>
        </p:nvSpPr>
        <p:spPr/>
        <p:txBody>
          <a:bodyPr/>
          <a:lstStyle/>
          <a:p>
            <a:r>
              <a:rPr lang="fr-CA" sz="3600" b="1" dirty="0"/>
              <a:t>Indicateur 4 : </a:t>
            </a:r>
            <a:r>
              <a:rPr lang="fr-FR" sz="3600" b="1" dirty="0"/>
              <a:t>Plants de fraises</a:t>
            </a:r>
            <a:endParaRPr lang="fr-FR" b="1" dirty="0"/>
          </a:p>
        </p:txBody>
      </p:sp>
      <p:sp>
        <p:nvSpPr>
          <p:cNvPr id="3" name="Espace réservé du contenu 2">
            <a:extLst>
              <a:ext uri="{FF2B5EF4-FFF2-40B4-BE49-F238E27FC236}">
                <a16:creationId xmlns:a16="http://schemas.microsoft.com/office/drawing/2014/main" id="{226B9EF1-E71F-48A1-9F9F-373F1C571101}"/>
              </a:ext>
            </a:extLst>
          </p:cNvPr>
          <p:cNvSpPr>
            <a:spLocks noGrp="1"/>
          </p:cNvSpPr>
          <p:nvPr>
            <p:ph idx="1"/>
          </p:nvPr>
        </p:nvSpPr>
        <p:spPr/>
        <p:txBody>
          <a:bodyPr>
            <a:normAutofit/>
          </a:bodyPr>
          <a:lstStyle/>
          <a:p>
            <a:pPr marL="0" indent="0">
              <a:buNone/>
            </a:pPr>
            <a:r>
              <a:rPr lang="fr-FR" sz="2400" dirty="0"/>
              <a:t>EVC – Analyse correctement la nature </a:t>
            </a:r>
            <a:r>
              <a:rPr lang="fr-FR" sz="2400" b="1" dirty="0"/>
              <a:t>OU</a:t>
            </a:r>
            <a:r>
              <a:rPr lang="fr-FR" sz="2400" dirty="0"/>
              <a:t> la mesure </a:t>
            </a:r>
            <a:r>
              <a:rPr lang="fr-FR" sz="2400" b="1" dirty="0"/>
              <a:t>OU </a:t>
            </a:r>
            <a:r>
              <a:rPr lang="fr-FR" sz="2400" dirty="0"/>
              <a:t>les deux mais avec petites erreurs</a:t>
            </a:r>
          </a:p>
          <a:p>
            <a:pPr marL="0" indent="0">
              <a:buNone/>
            </a:pPr>
            <a:endParaRPr lang="fr-FR" sz="2400" dirty="0"/>
          </a:p>
          <a:p>
            <a:pPr marL="0" indent="0">
              <a:buNone/>
            </a:pPr>
            <a:r>
              <a:rPr lang="fr-FR" sz="2400" dirty="0"/>
              <a:t>C – Analyse correctement la nature ET la mesure</a:t>
            </a:r>
          </a:p>
          <a:p>
            <a:pPr marL="0" indent="0">
              <a:buNone/>
            </a:pPr>
            <a:endParaRPr lang="fr-FR" sz="2400" dirty="0">
              <a:solidFill>
                <a:srgbClr val="FF0000"/>
              </a:solidFill>
            </a:endParaRPr>
          </a:p>
          <a:p>
            <a:pPr marL="0" indent="0">
              <a:buNone/>
            </a:pPr>
            <a:r>
              <a:rPr lang="fr-FR" sz="2400" dirty="0"/>
              <a:t>CD – Analyse correctement la nature ET la mesure ET plantes détruites</a:t>
            </a:r>
            <a:endParaRPr lang="fr-FR" sz="2400" dirty="0">
              <a:solidFill>
                <a:srgbClr val="FF0000"/>
              </a:solidFill>
            </a:endParaRPr>
          </a:p>
          <a:p>
            <a:pPr marL="0" indent="0">
              <a:buNone/>
            </a:pPr>
            <a:endParaRPr lang="fr-FR" sz="2400" dirty="0">
              <a:solidFill>
                <a:srgbClr val="FF0000"/>
              </a:solidFill>
            </a:endParaRPr>
          </a:p>
          <a:p>
            <a:pPr marL="0" indent="0">
              <a:buNone/>
            </a:pPr>
            <a:r>
              <a:rPr lang="fr-FR" sz="2400" dirty="0">
                <a:solidFill>
                  <a:srgbClr val="0070C0"/>
                </a:solidFill>
              </a:rPr>
              <a:t>Moyenne : 2,0</a:t>
            </a:r>
            <a:endParaRPr lang="fr-FR" dirty="0">
              <a:solidFill>
                <a:srgbClr val="0070C0"/>
              </a:solidFill>
            </a:endParaRPr>
          </a:p>
        </p:txBody>
      </p:sp>
    </p:spTree>
    <p:extLst>
      <p:ext uri="{BB962C8B-B14F-4D97-AF65-F5344CB8AC3E}">
        <p14:creationId xmlns:p14="http://schemas.microsoft.com/office/powerpoint/2010/main" val="40837025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548789-8F36-4868-8B60-1BEC7A26280A}"/>
              </a:ext>
            </a:extLst>
          </p:cNvPr>
          <p:cNvSpPr>
            <a:spLocks noGrp="1"/>
          </p:cNvSpPr>
          <p:nvPr>
            <p:ph type="title"/>
          </p:nvPr>
        </p:nvSpPr>
        <p:spPr/>
        <p:txBody>
          <a:bodyPr/>
          <a:lstStyle/>
          <a:p>
            <a:r>
              <a:rPr lang="fr-CA" sz="3600" b="1" dirty="0"/>
              <a:t>Indicateur 5 : </a:t>
            </a:r>
            <a:r>
              <a:rPr lang="fr-FR" sz="3600" b="1" dirty="0"/>
              <a:t>Lampes (devises)</a:t>
            </a:r>
            <a:endParaRPr lang="fr-FR" b="1" dirty="0"/>
          </a:p>
        </p:txBody>
      </p:sp>
      <p:sp>
        <p:nvSpPr>
          <p:cNvPr id="3" name="Espace réservé du contenu 2">
            <a:extLst>
              <a:ext uri="{FF2B5EF4-FFF2-40B4-BE49-F238E27FC236}">
                <a16:creationId xmlns:a16="http://schemas.microsoft.com/office/drawing/2014/main" id="{226B9EF1-E71F-48A1-9F9F-373F1C571101}"/>
              </a:ext>
            </a:extLst>
          </p:cNvPr>
          <p:cNvSpPr>
            <a:spLocks noGrp="1"/>
          </p:cNvSpPr>
          <p:nvPr>
            <p:ph idx="1"/>
          </p:nvPr>
        </p:nvSpPr>
        <p:spPr/>
        <p:txBody>
          <a:bodyPr>
            <a:noAutofit/>
          </a:bodyPr>
          <a:lstStyle/>
          <a:p>
            <a:pPr marL="0" indent="0">
              <a:buNone/>
            </a:pPr>
            <a:r>
              <a:rPr lang="fr-FR" dirty="0"/>
              <a:t>IAS </a:t>
            </a:r>
            <a:r>
              <a:rPr lang="fr-FR" sz="2400" dirty="0"/>
              <a:t>21 par 21</a:t>
            </a:r>
          </a:p>
          <a:p>
            <a:pPr marL="0" indent="0">
              <a:buNone/>
            </a:pPr>
            <a:r>
              <a:rPr lang="fr-FR" sz="2400" dirty="0"/>
              <a:t>Moment : Fournisseur assume risques liés au transport, donc </a:t>
            </a:r>
            <a:r>
              <a:rPr lang="fr-FR" sz="2400" dirty="0" err="1"/>
              <a:t>compt</a:t>
            </a:r>
            <a:r>
              <a:rPr lang="fr-FR" sz="2400" dirty="0"/>
              <a:t> lampes lors de la réception (3 février)</a:t>
            </a:r>
            <a:r>
              <a:rPr lang="fr-FR" sz="2400" dirty="0">
                <a:solidFill>
                  <a:srgbClr val="FF0000"/>
                </a:solidFill>
              </a:rPr>
              <a:t> – bien réussi</a:t>
            </a:r>
            <a:endParaRPr lang="fr-FR" sz="2400" dirty="0"/>
          </a:p>
          <a:p>
            <a:pPr marL="0" indent="0">
              <a:buNone/>
            </a:pPr>
            <a:r>
              <a:rPr lang="fr-FR" sz="2400" dirty="0"/>
              <a:t> </a:t>
            </a:r>
          </a:p>
          <a:p>
            <a:pPr marL="0" indent="0">
              <a:buNone/>
            </a:pPr>
            <a:r>
              <a:rPr lang="fr-FR" sz="2400" dirty="0"/>
              <a:t>Dépôt lors du versement 24 janvier</a:t>
            </a:r>
            <a:r>
              <a:rPr lang="fr-FR" sz="2400" dirty="0">
                <a:solidFill>
                  <a:srgbClr val="FF0000"/>
                </a:solidFill>
              </a:rPr>
              <a:t> (pas seulement commande)</a:t>
            </a:r>
            <a:endParaRPr lang="fr-FR" sz="2400" dirty="0"/>
          </a:p>
          <a:p>
            <a:pPr marL="0" indent="0">
              <a:buNone/>
            </a:pPr>
            <a:r>
              <a:rPr lang="fr-FR" sz="2400" dirty="0"/>
              <a:t>Gain de change le 3 février (1 080 $)</a:t>
            </a:r>
          </a:p>
          <a:p>
            <a:pPr marL="0" indent="0">
              <a:buNone/>
            </a:pPr>
            <a:r>
              <a:rPr lang="fr-FR" sz="2400" dirty="0"/>
              <a:t> </a:t>
            </a:r>
          </a:p>
          <a:p>
            <a:pPr marL="0" indent="0">
              <a:buNone/>
            </a:pPr>
            <a:r>
              <a:rPr lang="fr-FR" sz="2400" dirty="0"/>
              <a:t>Avec écriture de correction</a:t>
            </a:r>
            <a:r>
              <a:rPr lang="fr-FR" sz="2400" dirty="0">
                <a:solidFill>
                  <a:srgbClr val="FF0000"/>
                </a:solidFill>
              </a:rPr>
              <a:t> – demande explicite</a:t>
            </a:r>
          </a:p>
          <a:p>
            <a:pPr marL="0" indent="0">
              <a:buNone/>
            </a:pPr>
            <a:r>
              <a:rPr lang="fr-FR" sz="2400" dirty="0">
                <a:solidFill>
                  <a:srgbClr val="FF0000"/>
                </a:solidFill>
              </a:rPr>
              <a:t>On acceptait la correction fin de période (lampe  @  gain), sans correction pour le dépôt</a:t>
            </a:r>
            <a:endParaRPr lang="fr-FR" sz="2400" dirty="0"/>
          </a:p>
        </p:txBody>
      </p:sp>
    </p:spTree>
    <p:extLst>
      <p:ext uri="{BB962C8B-B14F-4D97-AF65-F5344CB8AC3E}">
        <p14:creationId xmlns:p14="http://schemas.microsoft.com/office/powerpoint/2010/main" val="34148385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5988BD2-4D3A-49C4-80EE-772861226226}"/>
              </a:ext>
            </a:extLst>
          </p:cNvPr>
          <p:cNvSpPr>
            <a:spLocks noGrp="1"/>
          </p:cNvSpPr>
          <p:nvPr>
            <p:ph type="title"/>
          </p:nvPr>
        </p:nvSpPr>
        <p:spPr/>
        <p:txBody>
          <a:bodyPr/>
          <a:lstStyle/>
          <a:p>
            <a:r>
              <a:rPr lang="fr-CA" dirty="0"/>
              <a:t>  </a:t>
            </a:r>
            <a:endParaRPr lang="fr-FR" dirty="0"/>
          </a:p>
        </p:txBody>
      </p:sp>
      <p:sp>
        <p:nvSpPr>
          <p:cNvPr id="3" name="Espace réservé du contenu 2">
            <a:extLst>
              <a:ext uri="{FF2B5EF4-FFF2-40B4-BE49-F238E27FC236}">
                <a16:creationId xmlns:a16="http://schemas.microsoft.com/office/drawing/2014/main" id="{56EBAD02-AF4D-4987-8229-587A69A63984}"/>
              </a:ext>
            </a:extLst>
          </p:cNvPr>
          <p:cNvSpPr>
            <a:spLocks noGrp="1"/>
          </p:cNvSpPr>
          <p:nvPr>
            <p:ph idx="1"/>
          </p:nvPr>
        </p:nvSpPr>
        <p:spPr>
          <a:xfrm>
            <a:off x="838200" y="1249680"/>
            <a:ext cx="10515600" cy="4927283"/>
          </a:xfrm>
        </p:spPr>
        <p:txBody>
          <a:bodyPr>
            <a:normAutofit fontScale="85000" lnSpcReduction="20000"/>
          </a:bodyPr>
          <a:lstStyle/>
          <a:p>
            <a:pPr marL="0" indent="0">
              <a:buNone/>
            </a:pPr>
            <a:r>
              <a:rPr lang="fr-CA" sz="2400" dirty="0"/>
              <a:t>«  Si ce qu’il a fait est incorrect, il demande que CPA lui dise clairement les corrections à apporter et pourquoi. »</a:t>
            </a:r>
          </a:p>
          <a:p>
            <a:pPr marL="0" indent="0">
              <a:buNone/>
            </a:pPr>
            <a:endParaRPr lang="fr-CA" sz="2400" dirty="0"/>
          </a:p>
          <a:p>
            <a:pPr marL="0" indent="0">
              <a:buNone/>
            </a:pPr>
            <a:r>
              <a:rPr lang="fr-CA" sz="2400" dirty="0"/>
              <a:t>Le fournisseur assumait les risques liés au transport, donc ne comptabilise qu’au moment de la réception, soit le 3 février, en utilisant le cours à cette date.</a:t>
            </a:r>
            <a:endParaRPr lang="fr-FR" sz="2400" dirty="0"/>
          </a:p>
          <a:p>
            <a:pPr marL="0" indent="0">
              <a:buNone/>
            </a:pPr>
            <a:r>
              <a:rPr lang="fr-CA" i="1" dirty="0"/>
              <a:t>Correction : </a:t>
            </a:r>
            <a:endParaRPr lang="fr-FR" dirty="0"/>
          </a:p>
          <a:p>
            <a:pPr marL="0" indent="0">
              <a:buNone/>
            </a:pPr>
            <a:r>
              <a:rPr lang="fr-CA" dirty="0"/>
              <a:t>24 janvier</a:t>
            </a:r>
            <a:endParaRPr lang="fr-FR" dirty="0"/>
          </a:p>
          <a:p>
            <a:pPr marL="0" indent="0">
              <a:buNone/>
            </a:pPr>
            <a:r>
              <a:rPr lang="fr-CA" dirty="0"/>
              <a:t>Dépôt : 80 000 * 1,3140		105 120</a:t>
            </a:r>
            <a:endParaRPr lang="fr-FR" dirty="0"/>
          </a:p>
          <a:p>
            <a:pPr marL="0" indent="0">
              <a:buNone/>
            </a:pPr>
            <a:r>
              <a:rPr lang="fr-CA" dirty="0"/>
              <a:t>@ Lampes				105 120</a:t>
            </a:r>
            <a:endParaRPr lang="fr-FR" dirty="0"/>
          </a:p>
          <a:p>
            <a:pPr marL="0" indent="0">
              <a:buNone/>
            </a:pPr>
            <a:r>
              <a:rPr lang="fr-CA" dirty="0"/>
              <a:t> </a:t>
            </a:r>
            <a:endParaRPr lang="fr-FR" dirty="0"/>
          </a:p>
          <a:p>
            <a:pPr marL="0" indent="0">
              <a:buNone/>
            </a:pPr>
            <a:r>
              <a:rPr lang="fr-CA" dirty="0"/>
              <a:t>3 février</a:t>
            </a:r>
            <a:endParaRPr lang="fr-FR" dirty="0"/>
          </a:p>
          <a:p>
            <a:pPr marL="0" indent="0">
              <a:buNone/>
            </a:pPr>
            <a:r>
              <a:rPr lang="fr-CA" dirty="0"/>
              <a:t>Lampes : 80 000 * 1,3275		106 200</a:t>
            </a:r>
            <a:endParaRPr lang="fr-FR" dirty="0"/>
          </a:p>
          <a:p>
            <a:pPr marL="0" indent="0">
              <a:buNone/>
            </a:pPr>
            <a:r>
              <a:rPr lang="fr-CA" dirty="0"/>
              <a:t>@ Dépôt				105 120</a:t>
            </a:r>
            <a:endParaRPr lang="fr-FR" dirty="0"/>
          </a:p>
          <a:p>
            <a:pPr marL="0" indent="0">
              <a:buNone/>
            </a:pPr>
            <a:r>
              <a:rPr lang="fr-CA" dirty="0"/>
              <a:t>     </a:t>
            </a:r>
            <a:r>
              <a:rPr lang="fr-CA" dirty="0">
                <a:highlight>
                  <a:srgbClr val="FFFF00"/>
                </a:highlight>
              </a:rPr>
              <a:t>Gain</a:t>
            </a:r>
            <a:r>
              <a:rPr lang="fr-CA" dirty="0"/>
              <a:t> de change (RN)			</a:t>
            </a:r>
            <a:r>
              <a:rPr lang="fr-CA" dirty="0">
                <a:highlight>
                  <a:srgbClr val="FFFF00"/>
                </a:highlight>
              </a:rPr>
              <a:t>     1 080</a:t>
            </a:r>
            <a:endParaRPr lang="fr-FR" dirty="0">
              <a:highlight>
                <a:srgbClr val="FFFF00"/>
              </a:highlight>
            </a:endParaRPr>
          </a:p>
          <a:p>
            <a:pPr marL="0" indent="0">
              <a:buNone/>
            </a:pPr>
            <a:endParaRPr lang="fr-FR" dirty="0"/>
          </a:p>
        </p:txBody>
      </p:sp>
    </p:spTree>
    <p:extLst>
      <p:ext uri="{BB962C8B-B14F-4D97-AF65-F5344CB8AC3E}">
        <p14:creationId xmlns:p14="http://schemas.microsoft.com/office/powerpoint/2010/main" val="21054575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548789-8F36-4868-8B60-1BEC7A26280A}"/>
              </a:ext>
            </a:extLst>
          </p:cNvPr>
          <p:cNvSpPr>
            <a:spLocks noGrp="1"/>
          </p:cNvSpPr>
          <p:nvPr>
            <p:ph type="title"/>
          </p:nvPr>
        </p:nvSpPr>
        <p:spPr/>
        <p:txBody>
          <a:bodyPr/>
          <a:lstStyle/>
          <a:p>
            <a:r>
              <a:rPr lang="fr-CA" sz="3600" b="1" dirty="0"/>
              <a:t>Indicateur 5 : </a:t>
            </a:r>
            <a:r>
              <a:rPr lang="fr-FR" sz="3600" b="1" dirty="0"/>
              <a:t>Lampes (devises)</a:t>
            </a:r>
            <a:endParaRPr lang="fr-FR" b="1" dirty="0"/>
          </a:p>
        </p:txBody>
      </p:sp>
      <p:sp>
        <p:nvSpPr>
          <p:cNvPr id="3" name="Espace réservé du contenu 2">
            <a:extLst>
              <a:ext uri="{FF2B5EF4-FFF2-40B4-BE49-F238E27FC236}">
                <a16:creationId xmlns:a16="http://schemas.microsoft.com/office/drawing/2014/main" id="{226B9EF1-E71F-48A1-9F9F-373F1C571101}"/>
              </a:ext>
            </a:extLst>
          </p:cNvPr>
          <p:cNvSpPr>
            <a:spLocks noGrp="1"/>
          </p:cNvSpPr>
          <p:nvPr>
            <p:ph idx="1"/>
          </p:nvPr>
        </p:nvSpPr>
        <p:spPr/>
        <p:txBody>
          <a:bodyPr>
            <a:normAutofit/>
          </a:bodyPr>
          <a:lstStyle/>
          <a:p>
            <a:pPr marL="0" indent="0">
              <a:buNone/>
            </a:pPr>
            <a:r>
              <a:rPr lang="fr-FR" sz="2400" dirty="0"/>
              <a:t>EVC – Analyse correctement moment </a:t>
            </a:r>
            <a:r>
              <a:rPr lang="fr-FR" sz="2400" b="1" dirty="0"/>
              <a:t>OU</a:t>
            </a:r>
            <a:r>
              <a:rPr lang="fr-FR" sz="2400" dirty="0"/>
              <a:t> mesure (bon traitement comptable) </a:t>
            </a:r>
            <a:r>
              <a:rPr lang="fr-FR" sz="2400" b="1" dirty="0"/>
              <a:t>OU </a:t>
            </a:r>
            <a:r>
              <a:rPr lang="fr-FR" sz="2400" dirty="0"/>
              <a:t>les deux mais avec petites erreurs</a:t>
            </a:r>
          </a:p>
          <a:p>
            <a:pPr marL="0" indent="0">
              <a:buNone/>
            </a:pPr>
            <a:endParaRPr lang="fr-FR" sz="2400" dirty="0"/>
          </a:p>
          <a:p>
            <a:pPr marL="0" indent="0">
              <a:buNone/>
            </a:pPr>
            <a:r>
              <a:rPr lang="fr-FR" sz="2400" dirty="0"/>
              <a:t>C – Analyse correctement moment ET mesure (bon traitement comptable) ET écriture de correction</a:t>
            </a:r>
          </a:p>
          <a:p>
            <a:pPr marL="0" indent="0">
              <a:buNone/>
            </a:pPr>
            <a:endParaRPr lang="fr-FR" sz="2400" dirty="0">
              <a:solidFill>
                <a:srgbClr val="FF0000"/>
              </a:solidFill>
            </a:endParaRPr>
          </a:p>
          <a:p>
            <a:pPr marL="0" indent="0">
              <a:buNone/>
            </a:pPr>
            <a:r>
              <a:rPr lang="fr-FR" sz="2400" dirty="0">
                <a:solidFill>
                  <a:srgbClr val="0070C0"/>
                </a:solidFill>
              </a:rPr>
              <a:t>Moyenne : 2,9</a:t>
            </a:r>
            <a:endParaRPr lang="fr-FR" dirty="0">
              <a:solidFill>
                <a:srgbClr val="0070C0"/>
              </a:solidFill>
            </a:endParaRPr>
          </a:p>
        </p:txBody>
      </p:sp>
    </p:spTree>
    <p:extLst>
      <p:ext uri="{BB962C8B-B14F-4D97-AF65-F5344CB8AC3E}">
        <p14:creationId xmlns:p14="http://schemas.microsoft.com/office/powerpoint/2010/main" val="16394000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548789-8F36-4868-8B60-1BEC7A26280A}"/>
              </a:ext>
            </a:extLst>
          </p:cNvPr>
          <p:cNvSpPr>
            <a:spLocks noGrp="1"/>
          </p:cNvSpPr>
          <p:nvPr>
            <p:ph type="title"/>
          </p:nvPr>
        </p:nvSpPr>
        <p:spPr/>
        <p:txBody>
          <a:bodyPr/>
          <a:lstStyle/>
          <a:p>
            <a:r>
              <a:rPr lang="fr-CA" sz="3600" b="1" dirty="0"/>
              <a:t>Indicateur 6 : </a:t>
            </a:r>
            <a:r>
              <a:rPr lang="fr-FR" sz="3600" b="1" dirty="0"/>
              <a:t>Prêt-subvention</a:t>
            </a:r>
            <a:endParaRPr lang="fr-FR" b="1" dirty="0"/>
          </a:p>
        </p:txBody>
      </p:sp>
      <p:sp>
        <p:nvSpPr>
          <p:cNvPr id="3" name="Espace réservé du contenu 2">
            <a:extLst>
              <a:ext uri="{FF2B5EF4-FFF2-40B4-BE49-F238E27FC236}">
                <a16:creationId xmlns:a16="http://schemas.microsoft.com/office/drawing/2014/main" id="{226B9EF1-E71F-48A1-9F9F-373F1C571101}"/>
              </a:ext>
            </a:extLst>
          </p:cNvPr>
          <p:cNvSpPr>
            <a:spLocks noGrp="1"/>
          </p:cNvSpPr>
          <p:nvPr>
            <p:ph idx="1"/>
          </p:nvPr>
        </p:nvSpPr>
        <p:spPr>
          <a:xfrm>
            <a:off x="838200" y="1432874"/>
            <a:ext cx="10515600" cy="4744089"/>
          </a:xfrm>
        </p:spPr>
        <p:txBody>
          <a:bodyPr>
            <a:noAutofit/>
          </a:bodyPr>
          <a:lstStyle/>
          <a:p>
            <a:pPr marL="0" indent="0">
              <a:buNone/>
            </a:pPr>
            <a:r>
              <a:rPr lang="fr-FR" dirty="0"/>
              <a:t>IA</a:t>
            </a:r>
            <a:r>
              <a:rPr lang="fr-FR" sz="2400" dirty="0"/>
              <a:t>S 20 par 10 (ou par 7)</a:t>
            </a:r>
          </a:p>
          <a:p>
            <a:pPr marL="0" indent="0">
              <a:buNone/>
            </a:pPr>
            <a:r>
              <a:rPr lang="fr-FR" sz="2400" dirty="0"/>
              <a:t>Nature : Comptabiliser le prêt comme une subvention (pas la valeur des intérêts)</a:t>
            </a:r>
            <a:r>
              <a:rPr lang="fr-FR" sz="2400" dirty="0">
                <a:solidFill>
                  <a:srgbClr val="FF0000"/>
                </a:solidFill>
              </a:rPr>
              <a:t> – devait expliquer pourquoi IAS 20 s’applique</a:t>
            </a:r>
            <a:endParaRPr lang="fr-FR" sz="2400" dirty="0"/>
          </a:p>
          <a:p>
            <a:pPr marL="0" indent="0">
              <a:buNone/>
            </a:pPr>
            <a:r>
              <a:rPr lang="fr-FR" sz="2400" dirty="0"/>
              <a:t> </a:t>
            </a:r>
          </a:p>
          <a:p>
            <a:pPr marL="0" indent="0">
              <a:buNone/>
            </a:pPr>
            <a:r>
              <a:rPr lang="fr-FR" sz="2400" dirty="0"/>
              <a:t>Analyse des critères</a:t>
            </a:r>
          </a:p>
          <a:p>
            <a:pPr marL="0" indent="0">
              <a:buNone/>
            </a:pPr>
            <a:r>
              <a:rPr lang="fr-FR" sz="2400" dirty="0"/>
              <a:t>Moment : Conclusion : comptabiliser en 2020 même si sera reçu en 2021</a:t>
            </a:r>
            <a:r>
              <a:rPr lang="fr-FR" sz="2400" dirty="0">
                <a:solidFill>
                  <a:srgbClr val="FF0000"/>
                </a:solidFill>
              </a:rPr>
              <a:t> – et non quand reçoit $, ce n’est pas base de caisse (revoir le 2</a:t>
            </a:r>
            <a:r>
              <a:rPr lang="fr-FR" sz="2400" baseline="30000" dirty="0">
                <a:solidFill>
                  <a:srgbClr val="FF0000"/>
                </a:solidFill>
              </a:rPr>
              <a:t>e</a:t>
            </a:r>
            <a:r>
              <a:rPr lang="fr-FR" sz="2400" dirty="0">
                <a:solidFill>
                  <a:srgbClr val="FF0000"/>
                </a:solidFill>
              </a:rPr>
              <a:t> critère, a une confirmation écrite que recevra – critère rencontré)</a:t>
            </a:r>
            <a:endParaRPr lang="fr-FR" sz="2400" dirty="0"/>
          </a:p>
          <a:p>
            <a:pPr marL="0" indent="0">
              <a:buNone/>
            </a:pPr>
            <a:r>
              <a:rPr lang="fr-FR" sz="2400" dirty="0"/>
              <a:t> </a:t>
            </a:r>
          </a:p>
          <a:p>
            <a:pPr marL="0" indent="0">
              <a:buNone/>
            </a:pPr>
            <a:r>
              <a:rPr lang="fr-FR" sz="2400" dirty="0"/>
              <a:t>Présentation : IAS 20 par 24</a:t>
            </a:r>
          </a:p>
          <a:p>
            <a:pPr marL="0" indent="0">
              <a:buNone/>
            </a:pPr>
            <a:r>
              <a:rPr lang="fr-FR" sz="2400" dirty="0"/>
              <a:t>Subvention liée à un actif (serres)</a:t>
            </a:r>
            <a:r>
              <a:rPr lang="fr-FR" sz="2400" dirty="0">
                <a:solidFill>
                  <a:srgbClr val="FF0000"/>
                </a:solidFill>
              </a:rPr>
              <a:t> – et non aux résultats</a:t>
            </a:r>
            <a:endParaRPr lang="fr-FR" sz="2400" dirty="0"/>
          </a:p>
          <a:p>
            <a:pPr marL="0" indent="0">
              <a:buNone/>
            </a:pPr>
            <a:r>
              <a:rPr lang="fr-FR" sz="2400" dirty="0"/>
              <a:t>Conclusion : en réduction coût des serres / en produits différés</a:t>
            </a:r>
            <a:r>
              <a:rPr lang="fr-FR" sz="2400" dirty="0">
                <a:solidFill>
                  <a:srgbClr val="FF0000"/>
                </a:solidFill>
              </a:rPr>
              <a:t> – avec justification choix méthode comptable</a:t>
            </a:r>
            <a:endParaRPr lang="fr-FR" sz="2400" dirty="0"/>
          </a:p>
        </p:txBody>
      </p:sp>
    </p:spTree>
    <p:extLst>
      <p:ext uri="{BB962C8B-B14F-4D97-AF65-F5344CB8AC3E}">
        <p14:creationId xmlns:p14="http://schemas.microsoft.com/office/powerpoint/2010/main" val="3041729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4E33557-45D3-4FBA-A84B-CBBA25409931}"/>
              </a:ext>
            </a:extLst>
          </p:cNvPr>
          <p:cNvSpPr>
            <a:spLocks noGrp="1"/>
          </p:cNvSpPr>
          <p:nvPr>
            <p:ph type="title"/>
          </p:nvPr>
        </p:nvSpPr>
        <p:spPr>
          <a:xfrm>
            <a:off x="838200" y="365126"/>
            <a:ext cx="10515600" cy="209910"/>
          </a:xfrm>
        </p:spPr>
        <p:txBody>
          <a:bodyPr>
            <a:normAutofit fontScale="90000"/>
          </a:bodyPr>
          <a:lstStyle/>
          <a:p>
            <a:r>
              <a:rPr lang="fr-CA" dirty="0"/>
              <a:t> </a:t>
            </a:r>
            <a:endParaRPr lang="fr-FR" dirty="0"/>
          </a:p>
        </p:txBody>
      </p:sp>
      <p:sp>
        <p:nvSpPr>
          <p:cNvPr id="3" name="Espace réservé du contenu 2">
            <a:extLst>
              <a:ext uri="{FF2B5EF4-FFF2-40B4-BE49-F238E27FC236}">
                <a16:creationId xmlns:a16="http://schemas.microsoft.com/office/drawing/2014/main" id="{AA94E075-AE15-4D92-8ED5-087D28CCF98F}"/>
              </a:ext>
            </a:extLst>
          </p:cNvPr>
          <p:cNvSpPr>
            <a:spLocks noGrp="1"/>
          </p:cNvSpPr>
          <p:nvPr>
            <p:ph idx="1"/>
          </p:nvPr>
        </p:nvSpPr>
        <p:spPr>
          <a:xfrm>
            <a:off x="838200" y="575036"/>
            <a:ext cx="10515600" cy="5601927"/>
          </a:xfrm>
        </p:spPr>
        <p:txBody>
          <a:bodyPr>
            <a:normAutofit fontScale="62500" lnSpcReduction="20000"/>
          </a:bodyPr>
          <a:lstStyle/>
          <a:p>
            <a:pPr marL="0" indent="0">
              <a:buNone/>
            </a:pPr>
            <a:r>
              <a:rPr lang="fr-CA" dirty="0"/>
              <a:t>Selon IAS 20</a:t>
            </a:r>
            <a:endParaRPr lang="fr-FR" dirty="0"/>
          </a:p>
          <a:p>
            <a:pPr marL="0" indent="0">
              <a:buNone/>
            </a:pPr>
            <a:r>
              <a:rPr lang="fr-CA" b="1" dirty="0"/>
              <a:t>Les </a:t>
            </a:r>
            <a:r>
              <a:rPr lang="fr-CA" b="1" i="1" dirty="0"/>
              <a:t>prêts transformables en subventions</a:t>
            </a:r>
            <a:r>
              <a:rPr lang="fr-CA" b="1" dirty="0"/>
              <a:t> sont des prêts pour lesquels le prêteur s'engage à renoncer au remboursement sous certaines conditions prescrites.</a:t>
            </a:r>
            <a:endParaRPr lang="fr-FR" dirty="0"/>
          </a:p>
          <a:p>
            <a:pPr marL="0" indent="0">
              <a:buNone/>
            </a:pPr>
            <a:r>
              <a:rPr lang="fr-CA" dirty="0"/>
              <a:t>10      Un prêt de l'autorité publique transformable en subvention est traité comme une subvention publique s'il existe une assurance raisonnable que l'entité remplira les conditions relatives à la dispense de remboursement du prêt.</a:t>
            </a:r>
            <a:endParaRPr lang="fr-FR" dirty="0"/>
          </a:p>
          <a:p>
            <a:pPr marL="0" indent="0">
              <a:buNone/>
            </a:pPr>
            <a:r>
              <a:rPr lang="fr-CA" dirty="0"/>
              <a:t> </a:t>
            </a:r>
            <a:endParaRPr lang="fr-FR" dirty="0"/>
          </a:p>
          <a:p>
            <a:pPr marL="0" indent="0">
              <a:buNone/>
            </a:pPr>
            <a:r>
              <a:rPr lang="fr-FR" b="1" dirty="0"/>
              <a:t>7     Les subventions publiques, y compris les subventions non monétaires évaluées à la juste valeur, ne doivent pas être comptabilisées tant qu'il n'existe pas une assurance raisonnable que :</a:t>
            </a:r>
            <a:endParaRPr lang="fr-FR" dirty="0"/>
          </a:p>
          <a:p>
            <a:pPr marL="0" indent="0">
              <a:buNone/>
            </a:pPr>
            <a:r>
              <a:rPr lang="fr-FR" b="1" dirty="0"/>
              <a:t>(a)     l'entité se conformera aux conditions attachées aux subventions ; et</a:t>
            </a:r>
            <a:endParaRPr lang="fr-FR" dirty="0"/>
          </a:p>
          <a:p>
            <a:pPr marL="0" indent="0">
              <a:buNone/>
            </a:pPr>
            <a:r>
              <a:rPr lang="fr-FR" b="1" dirty="0"/>
              <a:t>(b)     les subventions seront reçues.</a:t>
            </a:r>
            <a:endParaRPr lang="fr-FR" dirty="0"/>
          </a:p>
          <a:p>
            <a:pPr marL="0" indent="0">
              <a:buNone/>
            </a:pPr>
            <a:r>
              <a:rPr lang="fr-FR" dirty="0"/>
              <a:t> </a:t>
            </a:r>
          </a:p>
          <a:p>
            <a:pPr marL="0" indent="0">
              <a:buNone/>
            </a:pPr>
            <a:r>
              <a:rPr lang="fr-CA" dirty="0"/>
              <a:t>Puisque le prêt n’est remboursable que si OMG ne produit pas la quantité minimale pour laquelle il s’est engagé, il s’agit d’un prêt transformable en subvention et selon IAS 20 par 10 il doit être comptabilisé comme une subvention publique (pas la portion intérêts mais le prêt en entier) car</a:t>
            </a:r>
            <a:endParaRPr lang="fr-FR" dirty="0"/>
          </a:p>
          <a:p>
            <a:pPr marL="0" lvl="0" indent="0">
              <a:buNone/>
            </a:pPr>
            <a:r>
              <a:rPr lang="fr-CA" dirty="0"/>
              <a:t>a) Il existe une assurance raisonnable que l’entité remplira les conditions : OMG s’est engagé à une quantité qu’il pourra atteindre sans problème</a:t>
            </a:r>
            <a:endParaRPr lang="fr-FR" dirty="0"/>
          </a:p>
          <a:p>
            <a:pPr marL="0" lvl="0" indent="0">
              <a:buNone/>
            </a:pPr>
            <a:r>
              <a:rPr lang="fr-CA" dirty="0"/>
              <a:t>b) La subvention sera reçue : confirmation écrite du ministère de l’agriculture qu’une somme de 40 000 $ sera versée pour l’aider à payer le coût de ses serres - la somme ne sera reçue qu’en mars 2021.</a:t>
            </a:r>
            <a:endParaRPr lang="fr-FR" dirty="0"/>
          </a:p>
          <a:p>
            <a:pPr marL="0" indent="0">
              <a:buNone/>
            </a:pPr>
            <a:r>
              <a:rPr lang="fr-CA" dirty="0"/>
              <a:t>Il faut donc comptabiliser la subvention (subvention à recevoir) en 2020, même si elle n’a pas encore été reçue.</a:t>
            </a:r>
            <a:endParaRPr lang="fr-FR" dirty="0"/>
          </a:p>
        </p:txBody>
      </p:sp>
    </p:spTree>
    <p:extLst>
      <p:ext uri="{BB962C8B-B14F-4D97-AF65-F5344CB8AC3E}">
        <p14:creationId xmlns:p14="http://schemas.microsoft.com/office/powerpoint/2010/main" val="39247168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849DFFC-84D9-4197-9FB1-6708EB685BAC}"/>
              </a:ext>
            </a:extLst>
          </p:cNvPr>
          <p:cNvSpPr>
            <a:spLocks noGrp="1"/>
          </p:cNvSpPr>
          <p:nvPr>
            <p:ph type="title"/>
          </p:nvPr>
        </p:nvSpPr>
        <p:spPr/>
        <p:txBody>
          <a:bodyPr/>
          <a:lstStyle/>
          <a:p>
            <a:r>
              <a:rPr lang="fr-CA" dirty="0"/>
              <a:t>  </a:t>
            </a:r>
            <a:endParaRPr lang="fr-FR" dirty="0"/>
          </a:p>
        </p:txBody>
      </p:sp>
      <p:sp>
        <p:nvSpPr>
          <p:cNvPr id="3" name="Espace réservé du contenu 2">
            <a:extLst>
              <a:ext uri="{FF2B5EF4-FFF2-40B4-BE49-F238E27FC236}">
                <a16:creationId xmlns:a16="http://schemas.microsoft.com/office/drawing/2014/main" id="{CE49F2CE-7CA1-419C-996F-929FEB538166}"/>
              </a:ext>
            </a:extLst>
          </p:cNvPr>
          <p:cNvSpPr>
            <a:spLocks noGrp="1"/>
          </p:cNvSpPr>
          <p:nvPr>
            <p:ph idx="1"/>
          </p:nvPr>
        </p:nvSpPr>
        <p:spPr/>
        <p:txBody>
          <a:bodyPr/>
          <a:lstStyle/>
          <a:p>
            <a:pPr marL="0" indent="0">
              <a:buNone/>
            </a:pPr>
            <a:r>
              <a:rPr lang="fr-FR" b="1" dirty="0"/>
              <a:t>Prése</a:t>
            </a:r>
            <a:r>
              <a:rPr lang="fr-FR" sz="2400" b="1" dirty="0"/>
              <a:t>ntation des subventions liées à des actifs</a:t>
            </a:r>
            <a:endParaRPr lang="fr-FR" sz="2400" dirty="0"/>
          </a:p>
          <a:p>
            <a:pPr marL="0" indent="0">
              <a:buNone/>
            </a:pPr>
            <a:r>
              <a:rPr lang="fr-FR" sz="2400" b="1" dirty="0"/>
              <a:t>24     Les subventions liées à des actifs, y compris les subventions non monétaires évaluées à la juste valeur, doivent être présentées dans l'état de la situation financière soit en produits différés, soit en déduisant la subvention pour arriver à la valeur comptable de l'actif.</a:t>
            </a:r>
            <a:endParaRPr lang="fr-FR" sz="2400" dirty="0"/>
          </a:p>
          <a:p>
            <a:pPr marL="0" indent="0">
              <a:buNone/>
            </a:pPr>
            <a:r>
              <a:rPr lang="fr-FR" sz="2400" dirty="0"/>
              <a:t>Puisque la subvention est liée aux serres, donc à un actif, on peut déduire le montant de la subvention du coût des serres ou encore la présenter en produits différés (transférer aux résultats au même rythme que l’amortissement des serres).</a:t>
            </a:r>
          </a:p>
          <a:p>
            <a:pPr marL="0" indent="0">
              <a:buNone/>
            </a:pPr>
            <a:r>
              <a:rPr lang="fr-FR" sz="2400" dirty="0"/>
              <a:t>Faire une recommandation choix présentation, avec justification.</a:t>
            </a:r>
          </a:p>
          <a:p>
            <a:pPr marL="0" indent="0">
              <a:buNone/>
            </a:pPr>
            <a:endParaRPr lang="fr-FR" dirty="0"/>
          </a:p>
        </p:txBody>
      </p:sp>
    </p:spTree>
    <p:extLst>
      <p:ext uri="{BB962C8B-B14F-4D97-AF65-F5344CB8AC3E}">
        <p14:creationId xmlns:p14="http://schemas.microsoft.com/office/powerpoint/2010/main" val="17212813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548789-8F36-4868-8B60-1BEC7A26280A}"/>
              </a:ext>
            </a:extLst>
          </p:cNvPr>
          <p:cNvSpPr>
            <a:spLocks noGrp="1"/>
          </p:cNvSpPr>
          <p:nvPr>
            <p:ph type="title"/>
          </p:nvPr>
        </p:nvSpPr>
        <p:spPr/>
        <p:txBody>
          <a:bodyPr/>
          <a:lstStyle/>
          <a:p>
            <a:r>
              <a:rPr lang="fr-CA" sz="3600" b="1" dirty="0"/>
              <a:t>Indicateur 6 : </a:t>
            </a:r>
            <a:r>
              <a:rPr lang="fr-FR" sz="3600" b="1" dirty="0"/>
              <a:t>Prêt-subvention</a:t>
            </a:r>
            <a:endParaRPr lang="fr-FR" b="1" dirty="0"/>
          </a:p>
        </p:txBody>
      </p:sp>
      <p:sp>
        <p:nvSpPr>
          <p:cNvPr id="3" name="Espace réservé du contenu 2">
            <a:extLst>
              <a:ext uri="{FF2B5EF4-FFF2-40B4-BE49-F238E27FC236}">
                <a16:creationId xmlns:a16="http://schemas.microsoft.com/office/drawing/2014/main" id="{226B9EF1-E71F-48A1-9F9F-373F1C571101}"/>
              </a:ext>
            </a:extLst>
          </p:cNvPr>
          <p:cNvSpPr>
            <a:spLocks noGrp="1"/>
          </p:cNvSpPr>
          <p:nvPr>
            <p:ph idx="1"/>
          </p:nvPr>
        </p:nvSpPr>
        <p:spPr>
          <a:xfrm>
            <a:off x="838200" y="1797345"/>
            <a:ext cx="10515600" cy="4351338"/>
          </a:xfrm>
        </p:spPr>
        <p:txBody>
          <a:bodyPr>
            <a:normAutofit/>
          </a:bodyPr>
          <a:lstStyle/>
          <a:p>
            <a:pPr marL="0" indent="0">
              <a:buNone/>
            </a:pPr>
            <a:r>
              <a:rPr lang="fr-FR" sz="2400" dirty="0"/>
              <a:t>EVC – </a:t>
            </a:r>
            <a:r>
              <a:rPr lang="fr-FR" sz="2400" strike="sngStrike" dirty="0"/>
              <a:t>Tente d’analyser la comptabilisation des produits à l’aide des étapes -avec petites erreurs ou incomplet</a:t>
            </a:r>
            <a:r>
              <a:rPr lang="fr-FR" sz="2400" dirty="0"/>
              <a:t> Analyse moment ou nature ou présentation OU en analyse deux mais avec petites erreurs</a:t>
            </a:r>
          </a:p>
          <a:p>
            <a:pPr marL="0" indent="0">
              <a:buNone/>
            </a:pPr>
            <a:endParaRPr lang="fr-FR" sz="2400" dirty="0"/>
          </a:p>
          <a:p>
            <a:pPr marL="0" indent="0">
              <a:buNone/>
            </a:pPr>
            <a:r>
              <a:rPr lang="fr-FR" sz="2400" dirty="0"/>
              <a:t>C – Analyse correctement moment ET (nature OU présentation)</a:t>
            </a:r>
          </a:p>
          <a:p>
            <a:pPr marL="0" indent="0">
              <a:buNone/>
            </a:pPr>
            <a:r>
              <a:rPr lang="fr-FR" sz="2400" b="1" dirty="0"/>
              <a:t>OU </a:t>
            </a:r>
            <a:r>
              <a:rPr lang="fr-FR" sz="2400" dirty="0"/>
              <a:t>les trois mais avec petites erreurs</a:t>
            </a:r>
          </a:p>
          <a:p>
            <a:pPr marL="0" indent="0">
              <a:buNone/>
            </a:pPr>
            <a:endParaRPr lang="fr-FR" sz="2400" dirty="0"/>
          </a:p>
          <a:p>
            <a:pPr marL="0" indent="0">
              <a:buNone/>
            </a:pPr>
            <a:r>
              <a:rPr lang="fr-FR" sz="2400" dirty="0"/>
              <a:t>CD - Analyse correctement nature ET moment ET présentation</a:t>
            </a:r>
          </a:p>
          <a:p>
            <a:pPr marL="0" indent="0">
              <a:buNone/>
            </a:pPr>
            <a:endParaRPr lang="fr-FR" sz="2400" dirty="0">
              <a:solidFill>
                <a:srgbClr val="FF0000"/>
              </a:solidFill>
            </a:endParaRPr>
          </a:p>
          <a:p>
            <a:pPr marL="0" indent="0">
              <a:buNone/>
            </a:pPr>
            <a:r>
              <a:rPr lang="fr-FR" sz="2400" dirty="0">
                <a:solidFill>
                  <a:srgbClr val="0070C0"/>
                </a:solidFill>
              </a:rPr>
              <a:t>Moyenne : 3,1</a:t>
            </a:r>
            <a:endParaRPr lang="fr-FR" dirty="0">
              <a:solidFill>
                <a:srgbClr val="0070C0"/>
              </a:solidFill>
            </a:endParaRPr>
          </a:p>
        </p:txBody>
      </p:sp>
    </p:spTree>
    <p:extLst>
      <p:ext uri="{BB962C8B-B14F-4D97-AF65-F5344CB8AC3E}">
        <p14:creationId xmlns:p14="http://schemas.microsoft.com/office/powerpoint/2010/main" val="26701839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548789-8F36-4868-8B60-1BEC7A26280A}"/>
              </a:ext>
            </a:extLst>
          </p:cNvPr>
          <p:cNvSpPr>
            <a:spLocks noGrp="1"/>
          </p:cNvSpPr>
          <p:nvPr>
            <p:ph type="title"/>
          </p:nvPr>
        </p:nvSpPr>
        <p:spPr/>
        <p:txBody>
          <a:bodyPr/>
          <a:lstStyle/>
          <a:p>
            <a:r>
              <a:rPr lang="fr-CA" sz="3600" b="1" dirty="0"/>
              <a:t>Indicateur 7 : </a:t>
            </a:r>
            <a:r>
              <a:rPr lang="fr-FR" sz="3600" b="1" dirty="0"/>
              <a:t>Prêt de Jean-Philippe</a:t>
            </a:r>
            <a:r>
              <a:rPr lang="fr-FR" sz="3600" b="1" dirty="0">
                <a:solidFill>
                  <a:srgbClr val="FF0000"/>
                </a:solidFill>
              </a:rPr>
              <a:t> – et non prêt de la banque</a:t>
            </a:r>
            <a:endParaRPr lang="fr-FR" b="1" dirty="0"/>
          </a:p>
        </p:txBody>
      </p:sp>
      <p:sp>
        <p:nvSpPr>
          <p:cNvPr id="3" name="Espace réservé du contenu 2">
            <a:extLst>
              <a:ext uri="{FF2B5EF4-FFF2-40B4-BE49-F238E27FC236}">
                <a16:creationId xmlns:a16="http://schemas.microsoft.com/office/drawing/2014/main" id="{226B9EF1-E71F-48A1-9F9F-373F1C571101}"/>
              </a:ext>
            </a:extLst>
          </p:cNvPr>
          <p:cNvSpPr>
            <a:spLocks noGrp="1"/>
          </p:cNvSpPr>
          <p:nvPr>
            <p:ph idx="1"/>
          </p:nvPr>
        </p:nvSpPr>
        <p:spPr/>
        <p:txBody>
          <a:bodyPr>
            <a:noAutofit/>
          </a:bodyPr>
          <a:lstStyle/>
          <a:p>
            <a:pPr marL="0" indent="0">
              <a:buNone/>
            </a:pPr>
            <a:r>
              <a:rPr lang="fr-FR" sz="2400" dirty="0"/>
              <a:t>Présentation : IAS 32 définition (ou autre)</a:t>
            </a:r>
          </a:p>
          <a:p>
            <a:pPr marL="0" indent="0">
              <a:buNone/>
            </a:pPr>
            <a:r>
              <a:rPr lang="fr-FR" sz="2400" dirty="0"/>
              <a:t>Analyse : remboursable en trésorerie</a:t>
            </a:r>
          </a:p>
          <a:p>
            <a:pPr marL="0" indent="0">
              <a:buNone/>
            </a:pPr>
            <a:r>
              <a:rPr lang="fr-FR" sz="2400" dirty="0"/>
              <a:t>Conclusion : passif financier (passif et non capitaux propres) </a:t>
            </a:r>
            <a:r>
              <a:rPr lang="fr-FR" sz="2400" dirty="0">
                <a:solidFill>
                  <a:srgbClr val="FF0000"/>
                </a:solidFill>
              </a:rPr>
              <a:t>– bien réussi</a:t>
            </a:r>
            <a:endParaRPr lang="fr-FR" sz="2400" dirty="0"/>
          </a:p>
          <a:p>
            <a:pPr marL="0" indent="0">
              <a:buNone/>
            </a:pPr>
            <a:r>
              <a:rPr lang="fr-FR" sz="2400" dirty="0"/>
              <a:t> </a:t>
            </a:r>
          </a:p>
          <a:p>
            <a:pPr marL="0" indent="0">
              <a:buNone/>
            </a:pPr>
            <a:r>
              <a:rPr lang="fr-FR" sz="2400" dirty="0"/>
              <a:t>Mesure : IFRS 9 par 5.1.1 à la juste valeur </a:t>
            </a:r>
            <a:r>
              <a:rPr lang="fr-FR" sz="2400" dirty="0">
                <a:solidFill>
                  <a:srgbClr val="FF0000"/>
                </a:solidFill>
              </a:rPr>
              <a:t>– puisque sans intérêt, la juste valeur est inférieure à la valeur nominale</a:t>
            </a:r>
            <a:endParaRPr lang="fr-FR" sz="2400" dirty="0"/>
          </a:p>
          <a:p>
            <a:pPr marL="0" indent="0">
              <a:buNone/>
            </a:pPr>
            <a:r>
              <a:rPr lang="fr-FR" sz="2400" dirty="0"/>
              <a:t>Taux marché 6 % (taux prêt Banque) = 237 628</a:t>
            </a:r>
          </a:p>
          <a:p>
            <a:pPr marL="0" indent="0">
              <a:buNone/>
            </a:pPr>
            <a:r>
              <a:rPr lang="fr-FR" sz="2400" dirty="0"/>
              <a:t>Surplus d’apport : car provient de l’actionnaire </a:t>
            </a:r>
            <a:r>
              <a:rPr lang="fr-FR" sz="2400" i="1" dirty="0">
                <a:solidFill>
                  <a:srgbClr val="FF0000"/>
                </a:solidFill>
              </a:rPr>
              <a:t>(même concept dans Cerises de Zoé)</a:t>
            </a:r>
            <a:endParaRPr lang="fr-FR" sz="2400" dirty="0"/>
          </a:p>
          <a:p>
            <a:pPr marL="0" indent="0">
              <a:buNone/>
            </a:pPr>
            <a:r>
              <a:rPr lang="fr-FR" sz="2400" dirty="0"/>
              <a:t> </a:t>
            </a:r>
          </a:p>
          <a:p>
            <a:pPr marL="0" indent="0">
              <a:buNone/>
            </a:pPr>
            <a:r>
              <a:rPr lang="fr-FR" sz="2400" dirty="0"/>
              <a:t>Frais financiers : 9 505 $</a:t>
            </a:r>
            <a:r>
              <a:rPr lang="fr-FR" sz="2400" dirty="0">
                <a:solidFill>
                  <a:srgbClr val="FF0000"/>
                </a:solidFill>
              </a:rPr>
              <a:t> - omis</a:t>
            </a:r>
            <a:endParaRPr lang="fr-FR" sz="2400" dirty="0"/>
          </a:p>
        </p:txBody>
      </p:sp>
    </p:spTree>
    <p:extLst>
      <p:ext uri="{BB962C8B-B14F-4D97-AF65-F5344CB8AC3E}">
        <p14:creationId xmlns:p14="http://schemas.microsoft.com/office/powerpoint/2010/main" val="36210159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A11EA5E-DDDA-4181-AD34-5BD4557998EF}"/>
              </a:ext>
            </a:extLst>
          </p:cNvPr>
          <p:cNvSpPr>
            <a:spLocks noGrp="1"/>
          </p:cNvSpPr>
          <p:nvPr>
            <p:ph type="title"/>
          </p:nvPr>
        </p:nvSpPr>
        <p:spPr/>
        <p:txBody>
          <a:bodyPr/>
          <a:lstStyle/>
          <a:p>
            <a:r>
              <a:rPr lang="fr-CA" dirty="0"/>
              <a:t> </a:t>
            </a:r>
            <a:endParaRPr lang="fr-FR" dirty="0"/>
          </a:p>
        </p:txBody>
      </p:sp>
      <p:sp>
        <p:nvSpPr>
          <p:cNvPr id="3" name="Espace réservé du contenu 2">
            <a:extLst>
              <a:ext uri="{FF2B5EF4-FFF2-40B4-BE49-F238E27FC236}">
                <a16:creationId xmlns:a16="http://schemas.microsoft.com/office/drawing/2014/main" id="{E18473BC-089F-40B9-AD99-9447808AEA70}"/>
              </a:ext>
            </a:extLst>
          </p:cNvPr>
          <p:cNvSpPr>
            <a:spLocks noGrp="1"/>
          </p:cNvSpPr>
          <p:nvPr>
            <p:ph idx="1"/>
          </p:nvPr>
        </p:nvSpPr>
        <p:spPr/>
        <p:txBody>
          <a:bodyPr/>
          <a:lstStyle/>
          <a:p>
            <a:pPr marL="0" indent="0">
              <a:buNone/>
            </a:pPr>
            <a:r>
              <a:rPr lang="fr-CA" sz="2400" dirty="0"/>
              <a:t>Banque a exigé que Jean-Philippe injecte une somme additionnelle de </a:t>
            </a:r>
            <a:r>
              <a:rPr lang="fr-CA" sz="2400" u="sng" dirty="0"/>
              <a:t>300 000 $ </a:t>
            </a:r>
            <a:r>
              <a:rPr lang="fr-CA" sz="2400" dirty="0"/>
              <a:t>avant d’accorder un prêt, au taux de 6 %. Prêt, subordonné à la banque (qui ne pourra pas être remboursé tant que le prêt de la banque n’ait pas été remboursé), </a:t>
            </a:r>
            <a:r>
              <a:rPr lang="fr-CA" sz="2400" u="sng" dirty="0"/>
              <a:t>sans intérêts, mais avec échéance de quatre ans </a:t>
            </a:r>
            <a:r>
              <a:rPr lang="fr-CA" sz="2400" dirty="0"/>
              <a:t>et une journée ! Jean-Philippe et Banque ont injecté les sommes convenues </a:t>
            </a:r>
            <a:r>
              <a:rPr lang="fr-CA" sz="2400" u="sng" dirty="0"/>
              <a:t>le 30 avril</a:t>
            </a:r>
            <a:r>
              <a:rPr lang="fr-CA" sz="2400" dirty="0"/>
              <a:t>. </a:t>
            </a:r>
            <a:r>
              <a:rPr lang="fr-CA" sz="2400" u="sng" dirty="0"/>
              <a:t>Jean-Philippe a accepté que le prêt ne porte pas intérêt, se disant que cela l’aidera à présenter un résultat net plus élevé ! </a:t>
            </a:r>
            <a:r>
              <a:rPr lang="fr-CA" sz="2400" dirty="0"/>
              <a:t>Il l’a </a:t>
            </a:r>
            <a:r>
              <a:rPr lang="fr-CA" sz="2400" u="sng" dirty="0"/>
              <a:t>présenté dans la section capitaux propres pour l’instant, mais a pris bonne note de faire confirmer le traitement par CPA.</a:t>
            </a:r>
            <a:endParaRPr lang="fr-FR" u="sng" dirty="0"/>
          </a:p>
          <a:p>
            <a:pPr marL="0" indent="0">
              <a:buNone/>
            </a:pPr>
            <a:endParaRPr lang="fr-FR" dirty="0"/>
          </a:p>
        </p:txBody>
      </p:sp>
    </p:spTree>
    <p:extLst>
      <p:ext uri="{BB962C8B-B14F-4D97-AF65-F5344CB8AC3E}">
        <p14:creationId xmlns:p14="http://schemas.microsoft.com/office/powerpoint/2010/main" val="23961982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BF0B99D-3467-4E09-B937-EA73A9E34D23}"/>
              </a:ext>
            </a:extLst>
          </p:cNvPr>
          <p:cNvSpPr>
            <a:spLocks noGrp="1"/>
          </p:cNvSpPr>
          <p:nvPr>
            <p:ph type="title"/>
          </p:nvPr>
        </p:nvSpPr>
        <p:spPr/>
        <p:txBody>
          <a:bodyPr/>
          <a:lstStyle/>
          <a:p>
            <a:r>
              <a:rPr lang="fr-CA" dirty="0"/>
              <a:t> </a:t>
            </a:r>
            <a:endParaRPr lang="fr-FR" dirty="0"/>
          </a:p>
        </p:txBody>
      </p:sp>
      <p:sp>
        <p:nvSpPr>
          <p:cNvPr id="3" name="Espace réservé du contenu 2">
            <a:extLst>
              <a:ext uri="{FF2B5EF4-FFF2-40B4-BE49-F238E27FC236}">
                <a16:creationId xmlns:a16="http://schemas.microsoft.com/office/drawing/2014/main" id="{B41F2522-821E-4D9B-8655-9C437D9B4B57}"/>
              </a:ext>
            </a:extLst>
          </p:cNvPr>
          <p:cNvSpPr>
            <a:spLocks noGrp="1"/>
          </p:cNvSpPr>
          <p:nvPr>
            <p:ph idx="1"/>
          </p:nvPr>
        </p:nvSpPr>
        <p:spPr/>
        <p:txBody>
          <a:bodyPr/>
          <a:lstStyle/>
          <a:p>
            <a:pPr marL="0" indent="0">
              <a:buNone/>
            </a:pPr>
            <a:r>
              <a:rPr lang="fr-CA" dirty="0"/>
              <a:t>Prés</a:t>
            </a:r>
            <a:r>
              <a:rPr lang="fr-CA" sz="2400" dirty="0"/>
              <a:t>entation : Selon IAS 32</a:t>
            </a:r>
            <a:endParaRPr lang="fr-FR" sz="2400" dirty="0"/>
          </a:p>
          <a:p>
            <a:pPr marL="0" indent="0">
              <a:buNone/>
            </a:pPr>
            <a:r>
              <a:rPr lang="fr-FR" sz="2400" b="1" dirty="0"/>
              <a:t>Est un </a:t>
            </a:r>
            <a:r>
              <a:rPr lang="fr-FR" sz="2400" b="1" i="1" dirty="0"/>
              <a:t>passif financier</a:t>
            </a:r>
            <a:r>
              <a:rPr lang="fr-FR" sz="2400" b="1" dirty="0"/>
              <a:t> tout passif qui est :</a:t>
            </a:r>
            <a:endParaRPr lang="fr-FR" sz="2400" dirty="0"/>
          </a:p>
          <a:p>
            <a:pPr marL="0" indent="0">
              <a:buNone/>
            </a:pPr>
            <a:r>
              <a:rPr lang="fr-FR" sz="2400" b="1" dirty="0"/>
              <a:t>(a)     une obligation contractuelle :</a:t>
            </a:r>
            <a:endParaRPr lang="fr-FR" sz="2400" dirty="0"/>
          </a:p>
          <a:p>
            <a:pPr marL="0" indent="0">
              <a:buNone/>
            </a:pPr>
            <a:r>
              <a:rPr lang="fr-FR" sz="2400" b="1" dirty="0"/>
              <a:t>(i)     de remettre à une autre entité de la trésorerie ou un autre actif financier, ou</a:t>
            </a:r>
            <a:endParaRPr lang="fr-FR" sz="2400" dirty="0"/>
          </a:p>
          <a:p>
            <a:pPr marL="0" indent="0">
              <a:buNone/>
            </a:pPr>
            <a:r>
              <a:rPr lang="fr-CA" sz="2400" dirty="0"/>
              <a:t>Puisque le prêt est remboursable en trésorerie, il s’agit d’un passif financier qu’il faut présenter dans le passif et non dans les capitaux propres.</a:t>
            </a:r>
            <a:endParaRPr lang="fr-FR" sz="2400" dirty="0"/>
          </a:p>
          <a:p>
            <a:pPr marL="0" indent="0">
              <a:buNone/>
            </a:pPr>
            <a:endParaRPr lang="fr-FR" dirty="0"/>
          </a:p>
        </p:txBody>
      </p:sp>
    </p:spTree>
    <p:extLst>
      <p:ext uri="{BB962C8B-B14F-4D97-AF65-F5344CB8AC3E}">
        <p14:creationId xmlns:p14="http://schemas.microsoft.com/office/powerpoint/2010/main" val="33401189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91BDA01-6D79-4AF9-9BB9-3FF5FC6FB385}"/>
              </a:ext>
            </a:extLst>
          </p:cNvPr>
          <p:cNvSpPr>
            <a:spLocks noGrp="1"/>
          </p:cNvSpPr>
          <p:nvPr>
            <p:ph type="title"/>
          </p:nvPr>
        </p:nvSpPr>
        <p:spPr>
          <a:xfrm>
            <a:off x="838200" y="365125"/>
            <a:ext cx="10515600" cy="200483"/>
          </a:xfrm>
        </p:spPr>
        <p:txBody>
          <a:bodyPr>
            <a:normAutofit fontScale="90000"/>
          </a:bodyPr>
          <a:lstStyle/>
          <a:p>
            <a:r>
              <a:rPr lang="fr-CA" dirty="0"/>
              <a:t> </a:t>
            </a:r>
            <a:endParaRPr lang="fr-FR" dirty="0"/>
          </a:p>
        </p:txBody>
      </p:sp>
      <p:sp>
        <p:nvSpPr>
          <p:cNvPr id="3" name="Espace réservé du contenu 2">
            <a:extLst>
              <a:ext uri="{FF2B5EF4-FFF2-40B4-BE49-F238E27FC236}">
                <a16:creationId xmlns:a16="http://schemas.microsoft.com/office/drawing/2014/main" id="{9D91177A-3FBC-46D6-BEF9-1086FC15F627}"/>
              </a:ext>
            </a:extLst>
          </p:cNvPr>
          <p:cNvSpPr>
            <a:spLocks noGrp="1"/>
          </p:cNvSpPr>
          <p:nvPr>
            <p:ph idx="1"/>
          </p:nvPr>
        </p:nvSpPr>
        <p:spPr>
          <a:xfrm>
            <a:off x="838200" y="565608"/>
            <a:ext cx="10515600" cy="5611355"/>
          </a:xfrm>
        </p:spPr>
        <p:txBody>
          <a:bodyPr>
            <a:normAutofit fontScale="70000" lnSpcReduction="20000"/>
          </a:bodyPr>
          <a:lstStyle/>
          <a:p>
            <a:pPr marL="0" indent="0">
              <a:buNone/>
            </a:pPr>
            <a:r>
              <a:rPr lang="fr-CA" dirty="0"/>
              <a:t>Selon IFRS 9</a:t>
            </a:r>
            <a:endParaRPr lang="fr-FR" dirty="0"/>
          </a:p>
          <a:p>
            <a:pPr marL="0" indent="0">
              <a:buNone/>
            </a:pPr>
            <a:r>
              <a:rPr lang="fr-FR" b="1" dirty="0"/>
              <a:t>5.1 Évaluation initiale</a:t>
            </a:r>
            <a:endParaRPr lang="fr-FR" dirty="0"/>
          </a:p>
          <a:p>
            <a:pPr marL="0" indent="0">
              <a:buNone/>
            </a:pPr>
            <a:r>
              <a:rPr lang="fr-FR" b="1" dirty="0"/>
              <a:t>5.1.1     À l'exception des créances clients qui entrent dans le champ d'application du paragraphe </a:t>
            </a:r>
            <a:r>
              <a:rPr lang="fr-FR" b="1" u="sng" dirty="0">
                <a:hlinkClick r:id="rId2"/>
              </a:rPr>
              <a:t>5.1.3</a:t>
            </a:r>
            <a:r>
              <a:rPr lang="fr-FR" b="1" dirty="0"/>
              <a:t>, l'entité doit, lors de la comptabilisation initiale, évaluer un actif financier ou un passif financier à sa </a:t>
            </a:r>
            <a:r>
              <a:rPr lang="fr-FR" b="1" u="sng" dirty="0"/>
              <a:t>juste valeur</a:t>
            </a:r>
            <a:r>
              <a:rPr lang="fr-FR" b="1" dirty="0"/>
              <a:t> majorée ou minorée, dans le cas d'un actif financier ou d'un passif financier qui n'est pas à la juste valeur par le biais du résultat net, des </a:t>
            </a:r>
            <a:r>
              <a:rPr lang="fr-FR" b="1" i="1" dirty="0"/>
              <a:t>coûts de transaction</a:t>
            </a:r>
            <a:r>
              <a:rPr lang="fr-FR" b="1" dirty="0"/>
              <a:t> directement attribuables à l'acquisition ou à l'émission de cet actif financier ou de ce passif financier.</a:t>
            </a:r>
            <a:endParaRPr lang="fr-FR" dirty="0"/>
          </a:p>
          <a:p>
            <a:pPr marL="0" indent="0">
              <a:buNone/>
            </a:pPr>
            <a:r>
              <a:rPr lang="fr-FR" dirty="0"/>
              <a:t> </a:t>
            </a:r>
          </a:p>
          <a:p>
            <a:pPr marL="0" indent="0">
              <a:buNone/>
            </a:pPr>
            <a:r>
              <a:rPr lang="fr-FR" dirty="0"/>
              <a:t>Il faut donc comptabiliser le prêt initialement à sa juste valeur. Banque prête au taux de 6 %, ce qui représente le taux du marché </a:t>
            </a:r>
            <a:r>
              <a:rPr lang="fr-FR" i="1" dirty="0"/>
              <a:t>(ou hypothèse un taux un peu plus élevé car dette subordonnée).</a:t>
            </a:r>
            <a:endParaRPr lang="fr-FR" dirty="0"/>
          </a:p>
          <a:p>
            <a:pPr marL="0" indent="0">
              <a:buNone/>
            </a:pPr>
            <a:r>
              <a:rPr lang="fr-CA" dirty="0"/>
              <a:t> </a:t>
            </a:r>
            <a:endParaRPr lang="fr-FR" dirty="0"/>
          </a:p>
          <a:p>
            <a:pPr marL="0" indent="0">
              <a:buNone/>
            </a:pPr>
            <a:r>
              <a:rPr lang="fr-CA" dirty="0"/>
              <a:t>Encaisse		300 000</a:t>
            </a:r>
            <a:endParaRPr lang="fr-FR" dirty="0"/>
          </a:p>
          <a:p>
            <a:pPr marL="0" indent="0">
              <a:buNone/>
            </a:pPr>
            <a:r>
              <a:rPr lang="fr-CA" dirty="0"/>
              <a:t>@  Prêt					237 628</a:t>
            </a:r>
            <a:endParaRPr lang="fr-FR" dirty="0"/>
          </a:p>
          <a:p>
            <a:pPr marL="0" indent="0">
              <a:buNone/>
            </a:pPr>
            <a:r>
              <a:rPr lang="fr-CA" dirty="0"/>
              <a:t>      Surplus d’apport			  62 372  (</a:t>
            </a:r>
            <a:r>
              <a:rPr lang="fr-CA" dirty="0">
                <a:solidFill>
                  <a:srgbClr val="0070C0"/>
                </a:solidFill>
              </a:rPr>
              <a:t>car provient de l’actionnaire</a:t>
            </a:r>
            <a:r>
              <a:rPr lang="fr-CA" dirty="0"/>
              <a:t>)</a:t>
            </a:r>
            <a:endParaRPr lang="fr-FR" dirty="0"/>
          </a:p>
          <a:p>
            <a:pPr marL="0" indent="0">
              <a:buNone/>
            </a:pPr>
            <a:r>
              <a:rPr lang="fr-CA" dirty="0"/>
              <a:t> Il faudra toutefois comptabiliser des frais financiers – affecte résultat net, contrairement à ce que pense Jean-Philippe.</a:t>
            </a:r>
            <a:endParaRPr lang="fr-FR" dirty="0"/>
          </a:p>
          <a:p>
            <a:pPr marL="0" indent="0">
              <a:buNone/>
            </a:pPr>
            <a:r>
              <a:rPr lang="fr-CA" dirty="0"/>
              <a:t>237 628 * 6 % * 8/12 = 9 505</a:t>
            </a:r>
            <a:endParaRPr lang="fr-FR" dirty="0"/>
          </a:p>
        </p:txBody>
      </p:sp>
    </p:spTree>
    <p:extLst>
      <p:ext uri="{BB962C8B-B14F-4D97-AF65-F5344CB8AC3E}">
        <p14:creationId xmlns:p14="http://schemas.microsoft.com/office/powerpoint/2010/main" val="30946450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548789-8F36-4868-8B60-1BEC7A26280A}"/>
              </a:ext>
            </a:extLst>
          </p:cNvPr>
          <p:cNvSpPr>
            <a:spLocks noGrp="1"/>
          </p:cNvSpPr>
          <p:nvPr>
            <p:ph type="title"/>
          </p:nvPr>
        </p:nvSpPr>
        <p:spPr/>
        <p:txBody>
          <a:bodyPr/>
          <a:lstStyle/>
          <a:p>
            <a:r>
              <a:rPr lang="fr-CA" sz="3600" b="1" dirty="0"/>
              <a:t>Indicateur 7 : </a:t>
            </a:r>
            <a:r>
              <a:rPr lang="fr-FR" sz="3600" b="1" dirty="0"/>
              <a:t>Prêt de Jean-Philippe</a:t>
            </a:r>
            <a:endParaRPr lang="fr-FR" b="1" dirty="0"/>
          </a:p>
        </p:txBody>
      </p:sp>
      <p:sp>
        <p:nvSpPr>
          <p:cNvPr id="3" name="Espace réservé du contenu 2">
            <a:extLst>
              <a:ext uri="{FF2B5EF4-FFF2-40B4-BE49-F238E27FC236}">
                <a16:creationId xmlns:a16="http://schemas.microsoft.com/office/drawing/2014/main" id="{226B9EF1-E71F-48A1-9F9F-373F1C571101}"/>
              </a:ext>
            </a:extLst>
          </p:cNvPr>
          <p:cNvSpPr>
            <a:spLocks noGrp="1"/>
          </p:cNvSpPr>
          <p:nvPr>
            <p:ph idx="1"/>
          </p:nvPr>
        </p:nvSpPr>
        <p:spPr/>
        <p:txBody>
          <a:bodyPr>
            <a:normAutofit/>
          </a:bodyPr>
          <a:lstStyle/>
          <a:p>
            <a:pPr marL="0" indent="0">
              <a:buNone/>
            </a:pPr>
            <a:r>
              <a:rPr lang="fr-FR" sz="2400" dirty="0"/>
              <a:t>EVC – Analyse adéquatement présentation </a:t>
            </a:r>
            <a:r>
              <a:rPr lang="fr-FR" sz="2400" b="1" dirty="0"/>
              <a:t>OU</a:t>
            </a:r>
            <a:r>
              <a:rPr lang="fr-FR" sz="2400" dirty="0"/>
              <a:t> Mesure </a:t>
            </a:r>
            <a:r>
              <a:rPr lang="fr-FR" sz="2400" b="1" dirty="0"/>
              <a:t>OU </a:t>
            </a:r>
            <a:r>
              <a:rPr lang="fr-FR" sz="2400" dirty="0"/>
              <a:t>les deux mais avec petites erreurs</a:t>
            </a:r>
          </a:p>
          <a:p>
            <a:pPr marL="0" indent="0">
              <a:buNone/>
            </a:pPr>
            <a:endParaRPr lang="fr-FR" sz="2400" dirty="0"/>
          </a:p>
          <a:p>
            <a:pPr marL="0" indent="0">
              <a:buNone/>
            </a:pPr>
            <a:r>
              <a:rPr lang="fr-FR" sz="2400" dirty="0"/>
              <a:t>C – Analyse adéquatement présentation ET Mesure</a:t>
            </a:r>
          </a:p>
          <a:p>
            <a:pPr marL="0" indent="0">
              <a:buNone/>
            </a:pPr>
            <a:endParaRPr lang="fr-FR" sz="2400" dirty="0"/>
          </a:p>
          <a:p>
            <a:pPr marL="0" indent="0">
              <a:buNone/>
            </a:pPr>
            <a:r>
              <a:rPr lang="fr-FR" sz="2400" dirty="0"/>
              <a:t>CD - Analyse correctement présentation ET Mesure ET frais financiers</a:t>
            </a:r>
          </a:p>
          <a:p>
            <a:pPr marL="0" indent="0">
              <a:buNone/>
            </a:pPr>
            <a:endParaRPr lang="fr-FR" sz="2400" dirty="0">
              <a:solidFill>
                <a:srgbClr val="FF0000"/>
              </a:solidFill>
            </a:endParaRPr>
          </a:p>
          <a:p>
            <a:pPr marL="0" indent="0">
              <a:buNone/>
            </a:pPr>
            <a:r>
              <a:rPr lang="fr-FR" sz="2400" dirty="0">
                <a:solidFill>
                  <a:srgbClr val="0070C0"/>
                </a:solidFill>
              </a:rPr>
              <a:t>Moyenne : 2,1</a:t>
            </a:r>
            <a:endParaRPr lang="fr-FR" dirty="0">
              <a:solidFill>
                <a:srgbClr val="0070C0"/>
              </a:solidFill>
            </a:endParaRPr>
          </a:p>
        </p:txBody>
      </p:sp>
    </p:spTree>
    <p:extLst>
      <p:ext uri="{BB962C8B-B14F-4D97-AF65-F5344CB8AC3E}">
        <p14:creationId xmlns:p14="http://schemas.microsoft.com/office/powerpoint/2010/main" val="38780934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548789-8F36-4868-8B60-1BEC7A26280A}"/>
              </a:ext>
            </a:extLst>
          </p:cNvPr>
          <p:cNvSpPr>
            <a:spLocks noGrp="1"/>
          </p:cNvSpPr>
          <p:nvPr>
            <p:ph type="title"/>
          </p:nvPr>
        </p:nvSpPr>
        <p:spPr/>
        <p:txBody>
          <a:bodyPr/>
          <a:lstStyle/>
          <a:p>
            <a:r>
              <a:rPr lang="fr-CA" sz="3600" b="1" dirty="0"/>
              <a:t>Indicateur 8 : </a:t>
            </a:r>
            <a:r>
              <a:rPr lang="fr-FR" sz="3600" b="1" dirty="0"/>
              <a:t>Plants de cannabis</a:t>
            </a:r>
            <a:endParaRPr lang="fr-FR" b="1" dirty="0"/>
          </a:p>
        </p:txBody>
      </p:sp>
      <p:sp>
        <p:nvSpPr>
          <p:cNvPr id="3" name="Espace réservé du contenu 2">
            <a:extLst>
              <a:ext uri="{FF2B5EF4-FFF2-40B4-BE49-F238E27FC236}">
                <a16:creationId xmlns:a16="http://schemas.microsoft.com/office/drawing/2014/main" id="{226B9EF1-E71F-48A1-9F9F-373F1C571101}"/>
              </a:ext>
            </a:extLst>
          </p:cNvPr>
          <p:cNvSpPr>
            <a:spLocks noGrp="1"/>
          </p:cNvSpPr>
          <p:nvPr>
            <p:ph idx="1"/>
          </p:nvPr>
        </p:nvSpPr>
        <p:spPr>
          <a:xfrm>
            <a:off x="838200" y="1442301"/>
            <a:ext cx="10515600" cy="4734662"/>
          </a:xfrm>
        </p:spPr>
        <p:txBody>
          <a:bodyPr>
            <a:noAutofit/>
          </a:bodyPr>
          <a:lstStyle/>
          <a:p>
            <a:pPr marL="0" indent="0">
              <a:buNone/>
            </a:pPr>
            <a:r>
              <a:rPr lang="fr-FR" sz="2400" dirty="0"/>
              <a:t>IAS 41 (ou IAS 16) : plante productrice</a:t>
            </a:r>
          </a:p>
          <a:p>
            <a:pPr marL="0" indent="0">
              <a:buNone/>
            </a:pPr>
            <a:r>
              <a:rPr lang="fr-FR" sz="2400" dirty="0"/>
              <a:t>Analyse critères</a:t>
            </a:r>
            <a:r>
              <a:rPr lang="fr-FR" sz="2400" dirty="0">
                <a:solidFill>
                  <a:srgbClr val="FF0000"/>
                </a:solidFill>
              </a:rPr>
              <a:t> – il faut analyser tous les critères (profondeur)</a:t>
            </a:r>
            <a:endParaRPr lang="fr-FR" sz="2400" dirty="0"/>
          </a:p>
          <a:p>
            <a:pPr marL="0" indent="0">
              <a:buNone/>
            </a:pPr>
            <a:r>
              <a:rPr lang="fr-FR" sz="2400" dirty="0"/>
              <a:t>Conclusion pas une plante productrice </a:t>
            </a:r>
            <a:r>
              <a:rPr lang="fr-FR" sz="2000" i="1" dirty="0">
                <a:solidFill>
                  <a:srgbClr val="FF0000"/>
                </a:solidFill>
              </a:rPr>
              <a:t>(une fois récolté, il faut recommencer le cycle (semence…) donc pas une plante productrice)</a:t>
            </a:r>
            <a:r>
              <a:rPr lang="fr-FR" sz="2400" dirty="0"/>
              <a:t>, mais un actif biologique – IAS 41</a:t>
            </a:r>
          </a:p>
          <a:p>
            <a:pPr marL="0" indent="0">
              <a:buNone/>
            </a:pPr>
            <a:r>
              <a:rPr lang="fr-FR" sz="1600" dirty="0"/>
              <a:t> </a:t>
            </a:r>
          </a:p>
          <a:p>
            <a:pPr marL="0" indent="0">
              <a:buNone/>
            </a:pPr>
            <a:r>
              <a:rPr lang="fr-FR" sz="2400" dirty="0"/>
              <a:t>Mesure IAS 41 par 12   </a:t>
            </a:r>
            <a:r>
              <a:rPr lang="fr-FR" sz="2400" i="1" dirty="0">
                <a:solidFill>
                  <a:srgbClr val="FF0000"/>
                </a:solidFill>
              </a:rPr>
              <a:t>lors de la récolte : mesure selon IAS 41</a:t>
            </a:r>
            <a:endParaRPr lang="fr-FR" sz="2400" i="1" dirty="0"/>
          </a:p>
          <a:p>
            <a:pPr marL="0" indent="0">
              <a:buNone/>
            </a:pPr>
            <a:r>
              <a:rPr lang="fr-FR" sz="2400" dirty="0"/>
              <a:t>IFRS 13, dont par 19 avoir accès au marché principal</a:t>
            </a:r>
          </a:p>
          <a:p>
            <a:pPr marL="0" indent="0">
              <a:buNone/>
            </a:pPr>
            <a:r>
              <a:rPr lang="fr-FR" sz="2400" dirty="0"/>
              <a:t>Donc ne peut prendre prix SQDC</a:t>
            </a:r>
            <a:r>
              <a:rPr lang="fr-FR" sz="2400" dirty="0">
                <a:solidFill>
                  <a:srgbClr val="FF0000"/>
                </a:solidFill>
              </a:rPr>
              <a:t> (n’a pas accès à ce marché – pas les permis pour vendre directement)</a:t>
            </a:r>
            <a:r>
              <a:rPr lang="fr-FR" sz="2400" dirty="0"/>
              <a:t>, seulement des intermédiaires</a:t>
            </a:r>
          </a:p>
          <a:p>
            <a:pPr marL="0" indent="0">
              <a:buNone/>
            </a:pPr>
            <a:r>
              <a:rPr lang="fr-FR" sz="1600" dirty="0"/>
              <a:t> </a:t>
            </a:r>
          </a:p>
          <a:p>
            <a:pPr marL="0" indent="0">
              <a:buNone/>
            </a:pPr>
            <a:r>
              <a:rPr lang="fr-FR" sz="2400" dirty="0"/>
              <a:t>Calcul : 450 * 125 * 4,05 * (1-5%) = 216 422 $</a:t>
            </a:r>
          </a:p>
          <a:p>
            <a:pPr marL="0" indent="0">
              <a:buNone/>
            </a:pPr>
            <a:r>
              <a:rPr lang="fr-FR" sz="2400" dirty="0"/>
              <a:t>Moins le coût pour terminer la production (dans l’état actuel)</a:t>
            </a:r>
          </a:p>
        </p:txBody>
      </p:sp>
    </p:spTree>
    <p:extLst>
      <p:ext uri="{BB962C8B-B14F-4D97-AF65-F5344CB8AC3E}">
        <p14:creationId xmlns:p14="http://schemas.microsoft.com/office/powerpoint/2010/main" val="36368840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2D77354-1D0D-4F8F-8FDF-A57BE1FE4A2E}"/>
              </a:ext>
            </a:extLst>
          </p:cNvPr>
          <p:cNvSpPr>
            <a:spLocks noGrp="1"/>
          </p:cNvSpPr>
          <p:nvPr>
            <p:ph type="title"/>
          </p:nvPr>
        </p:nvSpPr>
        <p:spPr/>
        <p:txBody>
          <a:bodyPr/>
          <a:lstStyle/>
          <a:p>
            <a:r>
              <a:rPr lang="fr-CA" dirty="0"/>
              <a:t> </a:t>
            </a:r>
            <a:endParaRPr lang="fr-FR" dirty="0"/>
          </a:p>
        </p:txBody>
      </p:sp>
      <p:sp>
        <p:nvSpPr>
          <p:cNvPr id="3" name="Espace réservé du contenu 2">
            <a:extLst>
              <a:ext uri="{FF2B5EF4-FFF2-40B4-BE49-F238E27FC236}">
                <a16:creationId xmlns:a16="http://schemas.microsoft.com/office/drawing/2014/main" id="{376243E6-7CD5-4E2E-B331-41F45A5F5099}"/>
              </a:ext>
            </a:extLst>
          </p:cNvPr>
          <p:cNvSpPr>
            <a:spLocks noGrp="1"/>
          </p:cNvSpPr>
          <p:nvPr>
            <p:ph idx="1"/>
          </p:nvPr>
        </p:nvSpPr>
        <p:spPr/>
        <p:txBody>
          <a:bodyPr/>
          <a:lstStyle/>
          <a:p>
            <a:pPr marL="0" indent="0">
              <a:buNone/>
            </a:pPr>
            <a:r>
              <a:rPr lang="fr-CA" sz="2400" dirty="0"/>
              <a:t>« La production se fait en trois étapes : semence, bouture et plant. Jean-Philippe a opté pour des semences ayant le cycle suivant : </a:t>
            </a:r>
            <a:endParaRPr lang="fr-FR" sz="2400" dirty="0"/>
          </a:p>
          <a:p>
            <a:pPr marL="0" lvl="0" indent="0">
              <a:buNone/>
            </a:pPr>
            <a:r>
              <a:rPr lang="fr-CA" sz="2400" dirty="0"/>
              <a:t>60 jours de floraison</a:t>
            </a:r>
            <a:endParaRPr lang="fr-FR" sz="2400" dirty="0"/>
          </a:p>
          <a:p>
            <a:pPr marL="0" lvl="0" indent="0">
              <a:buNone/>
            </a:pPr>
            <a:r>
              <a:rPr lang="fr-CA" sz="2400" dirty="0"/>
              <a:t>3 jours de récolte</a:t>
            </a:r>
            <a:endParaRPr lang="fr-FR" sz="2400" dirty="0"/>
          </a:p>
          <a:p>
            <a:pPr marL="0" lvl="0" indent="0">
              <a:buNone/>
            </a:pPr>
            <a:r>
              <a:rPr lang="fr-CA" sz="2400" dirty="0"/>
              <a:t>7 jours de séchage</a:t>
            </a:r>
            <a:endParaRPr lang="fr-FR" sz="2400" dirty="0"/>
          </a:p>
          <a:p>
            <a:pPr marL="0" lvl="0" indent="0">
              <a:buNone/>
            </a:pPr>
            <a:r>
              <a:rPr lang="fr-CA" sz="2400" dirty="0"/>
              <a:t>14 jours de maturation</a:t>
            </a:r>
            <a:endParaRPr lang="fr-FR" sz="2400" dirty="0"/>
          </a:p>
          <a:p>
            <a:pPr marL="0" lvl="0" indent="0">
              <a:buNone/>
            </a:pPr>
            <a:r>
              <a:rPr lang="fr-CA" sz="2400" dirty="0"/>
              <a:t>2 jours d’emballage</a:t>
            </a:r>
            <a:endParaRPr lang="fr-FR" sz="2400" dirty="0"/>
          </a:p>
          <a:p>
            <a:pPr marL="0" indent="0">
              <a:buNone/>
            </a:pPr>
            <a:r>
              <a:rPr lang="fr-CA" sz="2400" u="sng" dirty="0"/>
              <a:t>Et une fois la récolte complétée, il faut recommencer le cycle</a:t>
            </a:r>
            <a:r>
              <a:rPr lang="fr-CA" sz="2400" dirty="0"/>
              <a:t>. »</a:t>
            </a:r>
            <a:endParaRPr lang="fr-FR" dirty="0"/>
          </a:p>
          <a:p>
            <a:pPr marL="0" indent="0">
              <a:buNone/>
            </a:pPr>
            <a:endParaRPr lang="fr-FR" dirty="0"/>
          </a:p>
        </p:txBody>
      </p:sp>
    </p:spTree>
    <p:extLst>
      <p:ext uri="{BB962C8B-B14F-4D97-AF65-F5344CB8AC3E}">
        <p14:creationId xmlns:p14="http://schemas.microsoft.com/office/powerpoint/2010/main" val="5190928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CC4C944-A463-474E-A3EB-CE3BF636574A}"/>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19BA1443-C7AB-408A-BBFF-3D07CF1C9189}"/>
              </a:ext>
            </a:extLst>
          </p:cNvPr>
          <p:cNvSpPr>
            <a:spLocks noGrp="1"/>
          </p:cNvSpPr>
          <p:nvPr>
            <p:ph idx="1"/>
          </p:nvPr>
        </p:nvSpPr>
        <p:spPr/>
        <p:txBody>
          <a:bodyPr>
            <a:normAutofit fontScale="92500" lnSpcReduction="20000"/>
          </a:bodyPr>
          <a:lstStyle/>
          <a:p>
            <a:pPr marL="0" indent="0">
              <a:buNone/>
            </a:pPr>
            <a:r>
              <a:rPr lang="fr-CA" dirty="0"/>
              <a:t>Selon IAS 41 (ou IAS 16)</a:t>
            </a:r>
            <a:endParaRPr lang="fr-FR" dirty="0"/>
          </a:p>
          <a:p>
            <a:pPr marL="0" indent="0">
              <a:buNone/>
            </a:pPr>
            <a:r>
              <a:rPr lang="fr-FR" b="1" dirty="0"/>
              <a:t>Une </a:t>
            </a:r>
            <a:r>
              <a:rPr lang="fr-FR" b="1" i="1" dirty="0"/>
              <a:t>plante productrice</a:t>
            </a:r>
            <a:r>
              <a:rPr lang="fr-FR" b="1" dirty="0"/>
              <a:t> est une plante vivante qui :</a:t>
            </a:r>
            <a:endParaRPr lang="fr-FR" dirty="0"/>
          </a:p>
          <a:p>
            <a:pPr marL="0" indent="0">
              <a:buNone/>
            </a:pPr>
            <a:r>
              <a:rPr lang="fr-FR" b="1" dirty="0"/>
              <a:t>(a)     est utilisée dans la production ou la fourniture de produits agricoles ;</a:t>
            </a:r>
            <a:endParaRPr lang="fr-FR" dirty="0"/>
          </a:p>
          <a:p>
            <a:pPr marL="0" indent="0">
              <a:buNone/>
            </a:pPr>
            <a:r>
              <a:rPr lang="fr-FR" b="1" dirty="0"/>
              <a:t>(b)     est susceptible de produire sur plus d'une période ;</a:t>
            </a:r>
            <a:endParaRPr lang="fr-FR" dirty="0"/>
          </a:p>
          <a:p>
            <a:pPr marL="0" indent="0">
              <a:buNone/>
            </a:pPr>
            <a:r>
              <a:rPr lang="fr-FR" b="1" dirty="0"/>
              <a:t>(c)     n'a qu'une faible probabilité d'être vendue comme produit agricole, sauf à titre accessoire en tant que rebut.</a:t>
            </a:r>
            <a:endParaRPr lang="fr-FR" dirty="0"/>
          </a:p>
          <a:p>
            <a:pPr marL="0" indent="0">
              <a:buNone/>
            </a:pPr>
            <a:r>
              <a:rPr lang="fr-FR" dirty="0"/>
              <a:t>a) non, le plant est le produit agricole</a:t>
            </a:r>
          </a:p>
          <a:p>
            <a:pPr marL="0" indent="0">
              <a:buNone/>
            </a:pPr>
            <a:r>
              <a:rPr lang="fr-FR" dirty="0"/>
              <a:t>b) produit une fois et il faut recommencer, cycle app 3 mois</a:t>
            </a:r>
          </a:p>
          <a:p>
            <a:pPr marL="0" indent="0">
              <a:buNone/>
            </a:pPr>
            <a:r>
              <a:rPr lang="fr-FR" dirty="0"/>
              <a:t>c) sera vendu</a:t>
            </a:r>
          </a:p>
          <a:p>
            <a:pPr marL="0" indent="0">
              <a:buNone/>
            </a:pPr>
            <a:r>
              <a:rPr lang="fr-FR" dirty="0"/>
              <a:t>donc les plants de cannabis ne sont pas des plantes productrices mais sont des actifs biologiques, sujet à IAS 41.</a:t>
            </a:r>
          </a:p>
          <a:p>
            <a:pPr marL="0" indent="0">
              <a:buNone/>
            </a:pPr>
            <a:endParaRPr lang="fr-FR" dirty="0"/>
          </a:p>
        </p:txBody>
      </p:sp>
    </p:spTree>
    <p:extLst>
      <p:ext uri="{BB962C8B-B14F-4D97-AF65-F5344CB8AC3E}">
        <p14:creationId xmlns:p14="http://schemas.microsoft.com/office/powerpoint/2010/main" val="12333594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CD3875-16E2-4639-AC85-8A73E1B3A3B5}"/>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31C0524D-A449-4A82-B5B9-451311216B0E}"/>
              </a:ext>
            </a:extLst>
          </p:cNvPr>
          <p:cNvSpPr>
            <a:spLocks noGrp="1"/>
          </p:cNvSpPr>
          <p:nvPr>
            <p:ph idx="1"/>
          </p:nvPr>
        </p:nvSpPr>
        <p:spPr/>
        <p:txBody>
          <a:bodyPr>
            <a:normAutofit fontScale="85000" lnSpcReduction="10000"/>
          </a:bodyPr>
          <a:lstStyle/>
          <a:p>
            <a:pPr marL="0" indent="0">
              <a:buNone/>
            </a:pPr>
            <a:r>
              <a:rPr lang="fr-FR" dirty="0"/>
              <a:t>Selon IAS 41</a:t>
            </a:r>
          </a:p>
          <a:p>
            <a:pPr marL="0" indent="0">
              <a:buNone/>
            </a:pPr>
            <a:r>
              <a:rPr lang="fr-CA" b="1" dirty="0"/>
              <a:t>12     Un actif biologique doit être évalué lors de la comptabilisation initiale et à la fin de chaque période de présentation de l'information financière à sa juste valeur diminuée des coûts de la vente, sauf pour le cas décrit au paragraphe </a:t>
            </a:r>
            <a:r>
              <a:rPr lang="fr-CA" b="1" u="sng" dirty="0">
                <a:hlinkClick r:id="rId2"/>
              </a:rPr>
              <a:t>30</a:t>
            </a:r>
            <a:r>
              <a:rPr lang="fr-CA" b="1" dirty="0"/>
              <a:t> lorsque la juste valeur ne peut être évaluée de manière fiable.</a:t>
            </a:r>
            <a:endParaRPr lang="fr-FR" dirty="0"/>
          </a:p>
          <a:p>
            <a:pPr marL="0" indent="0">
              <a:buNone/>
            </a:pPr>
            <a:r>
              <a:rPr lang="fr-CA" dirty="0"/>
              <a:t>Jean-Philippe se demandait s’il pourrait présenter un actif : oui selon IAS 41 il s’agit d’un actif biologique.</a:t>
            </a:r>
            <a:endParaRPr lang="fr-FR" dirty="0"/>
          </a:p>
          <a:p>
            <a:pPr marL="0" indent="0">
              <a:buNone/>
            </a:pPr>
            <a:r>
              <a:rPr lang="fr-CA" dirty="0"/>
              <a:t>Il n’y a pas de marché pour des plants non matures. Toutefois, il est prévu qu’au 31 décembre, les plants serait au stade de maturation. Il serait possible d’établir la juste valeur en prenant le prix de vente (il est stable) moins les coûts pour terminer la production (les coûts des différentes étapes sont connus), moins les coûts de vente (il ne semble pas il y en avoir). Il n’y a pas de frais de transport vers le marché car le client vient les chercher sur place.</a:t>
            </a:r>
            <a:endParaRPr lang="fr-FR" dirty="0"/>
          </a:p>
          <a:p>
            <a:pPr marL="0" indent="0">
              <a:buNone/>
            </a:pPr>
            <a:endParaRPr lang="fr-FR" dirty="0"/>
          </a:p>
        </p:txBody>
      </p:sp>
    </p:spTree>
    <p:extLst>
      <p:ext uri="{BB962C8B-B14F-4D97-AF65-F5344CB8AC3E}">
        <p14:creationId xmlns:p14="http://schemas.microsoft.com/office/powerpoint/2010/main" val="233475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B937C8E-1339-4376-B042-867E284CAD27}"/>
              </a:ext>
            </a:extLst>
          </p:cNvPr>
          <p:cNvSpPr>
            <a:spLocks noGrp="1"/>
          </p:cNvSpPr>
          <p:nvPr>
            <p:ph type="title"/>
          </p:nvPr>
        </p:nvSpPr>
        <p:spPr>
          <a:xfrm>
            <a:off x="838200" y="365125"/>
            <a:ext cx="10515600" cy="219337"/>
          </a:xfrm>
        </p:spPr>
        <p:txBody>
          <a:bodyPr>
            <a:normAutofit fontScale="90000"/>
          </a:bodyPr>
          <a:lstStyle/>
          <a:p>
            <a:r>
              <a:rPr lang="fr-CA" dirty="0"/>
              <a:t>  </a:t>
            </a:r>
            <a:endParaRPr lang="fr-FR" dirty="0"/>
          </a:p>
        </p:txBody>
      </p:sp>
      <p:sp>
        <p:nvSpPr>
          <p:cNvPr id="3" name="Espace réservé du contenu 2">
            <a:extLst>
              <a:ext uri="{FF2B5EF4-FFF2-40B4-BE49-F238E27FC236}">
                <a16:creationId xmlns:a16="http://schemas.microsoft.com/office/drawing/2014/main" id="{6AFC428B-F522-45CD-AEDE-97596595C087}"/>
              </a:ext>
            </a:extLst>
          </p:cNvPr>
          <p:cNvSpPr>
            <a:spLocks noGrp="1"/>
          </p:cNvSpPr>
          <p:nvPr>
            <p:ph idx="1"/>
          </p:nvPr>
        </p:nvSpPr>
        <p:spPr>
          <a:xfrm>
            <a:off x="838200" y="716437"/>
            <a:ext cx="10515600" cy="5460526"/>
          </a:xfrm>
        </p:spPr>
        <p:txBody>
          <a:bodyPr>
            <a:normAutofit fontScale="62500" lnSpcReduction="20000"/>
          </a:bodyPr>
          <a:lstStyle/>
          <a:p>
            <a:pPr marL="0" indent="0">
              <a:buNone/>
            </a:pPr>
            <a:r>
              <a:rPr lang="fr-CA" dirty="0"/>
              <a:t>Selon IFRS 13</a:t>
            </a:r>
            <a:endParaRPr lang="fr-FR" dirty="0"/>
          </a:p>
          <a:p>
            <a:pPr marL="0" indent="0">
              <a:buNone/>
            </a:pPr>
            <a:r>
              <a:rPr lang="fr-CA" b="1" dirty="0"/>
              <a:t>9     La présente norme définit la juste valeur comme le prix qui serait reçu pour la vente d'un actif ou payé pour le transfert d'un passif lors d'une transaction normale entre des intervenants du marché à la date d'évaluation.</a:t>
            </a:r>
            <a:endParaRPr lang="fr-FR" dirty="0"/>
          </a:p>
          <a:p>
            <a:pPr marL="0" indent="0">
              <a:buNone/>
            </a:pPr>
            <a:r>
              <a:rPr lang="fr-FR" b="1" dirty="0"/>
              <a:t>11     L'évaluation d'une juste valeur porte sur un actif ou un passif spécifique. Par conséquent, lorsqu'elle détermine la juste valeur, l'entité doit prendre en compte les caractéristiques de l'actif ou du passif si c'est ce que feraient les intervenants du marché pour fixer le prix de l'actif ou du passif à la date d'évaluation. Ces caractéristiques comprennent notamment :</a:t>
            </a:r>
            <a:endParaRPr lang="fr-FR" dirty="0"/>
          </a:p>
          <a:p>
            <a:pPr marL="0" indent="0">
              <a:buNone/>
            </a:pPr>
            <a:r>
              <a:rPr lang="fr-FR" b="1" dirty="0"/>
              <a:t>(a)     l'état de l'actif et l'endroit où il se trouve ;</a:t>
            </a:r>
            <a:endParaRPr lang="fr-FR" dirty="0"/>
          </a:p>
          <a:p>
            <a:pPr marL="0" indent="0">
              <a:buNone/>
            </a:pPr>
            <a:r>
              <a:rPr lang="fr-FR" b="1" dirty="0"/>
              <a:t>(b)     les restrictions, le cas échéant, sur la vente ou l'utilisation de l'actif.</a:t>
            </a:r>
            <a:endParaRPr lang="fr-FR" dirty="0"/>
          </a:p>
          <a:p>
            <a:pPr marL="0" indent="0">
              <a:buNone/>
            </a:pPr>
            <a:r>
              <a:rPr lang="fr-FR" b="1" dirty="0"/>
              <a:t>16     L'évaluation d'une juste valeur suppose que la transaction pour la vente de l'actif ou le transfert du passif a lieu :</a:t>
            </a:r>
            <a:endParaRPr lang="fr-FR" dirty="0"/>
          </a:p>
          <a:p>
            <a:pPr marL="0" indent="0">
              <a:buNone/>
            </a:pPr>
            <a:r>
              <a:rPr lang="fr-FR" b="1" dirty="0"/>
              <a:t>(a)     soit sur le </a:t>
            </a:r>
            <a:r>
              <a:rPr lang="fr-FR" b="1" i="1" dirty="0"/>
              <a:t>marché principal</a:t>
            </a:r>
            <a:r>
              <a:rPr lang="fr-FR" b="1" dirty="0"/>
              <a:t> pour l'actif ou le passif ;</a:t>
            </a:r>
            <a:endParaRPr lang="fr-FR" dirty="0"/>
          </a:p>
          <a:p>
            <a:pPr marL="0" indent="0">
              <a:buNone/>
            </a:pPr>
            <a:r>
              <a:rPr lang="fr-FR" b="1" dirty="0"/>
              <a:t>(b)     soit, en l'absence de marché principal, sur le </a:t>
            </a:r>
            <a:r>
              <a:rPr lang="fr-FR" b="1" i="1" dirty="0"/>
              <a:t>marché le plus avantageux</a:t>
            </a:r>
            <a:r>
              <a:rPr lang="fr-FR" b="1" dirty="0"/>
              <a:t> pour l'actif ou le passif</a:t>
            </a:r>
            <a:endParaRPr lang="fr-FR" dirty="0"/>
          </a:p>
          <a:p>
            <a:pPr marL="0" indent="0">
              <a:buNone/>
            </a:pPr>
            <a:r>
              <a:rPr lang="fr-CA" dirty="0"/>
              <a:t>19      L'entité doit avoir accès au marché principal (ou au marché le plus avantageux) à la date d'évaluation. </a:t>
            </a:r>
            <a:endParaRPr lang="fr-FR" dirty="0"/>
          </a:p>
          <a:p>
            <a:pPr marL="0" indent="0">
              <a:buNone/>
            </a:pPr>
            <a:r>
              <a:rPr lang="fr-CA" dirty="0"/>
              <a:t> </a:t>
            </a:r>
            <a:endParaRPr lang="fr-FR" dirty="0"/>
          </a:p>
          <a:p>
            <a:pPr marL="0" indent="0">
              <a:buNone/>
            </a:pPr>
            <a:r>
              <a:rPr lang="fr-CA" dirty="0"/>
              <a:t>OMG ne détient pas de permis pour vendre directement à la SQDC. Il ne s’agit donc pas du marché principal pour elle, selon IFRS 13 par 19.</a:t>
            </a:r>
            <a:endParaRPr lang="fr-FR" dirty="0"/>
          </a:p>
          <a:p>
            <a:pPr marL="0" indent="0">
              <a:buNone/>
            </a:pPr>
            <a:r>
              <a:rPr lang="fr-CA" dirty="0"/>
              <a:t>Il est donc correct d’utiliser le prix de l’intermédiaire. Les différentes sociétés intermédiaires offrent approximativement toutes les mêmes prix et conditions.</a:t>
            </a:r>
            <a:endParaRPr lang="fr-FR" dirty="0"/>
          </a:p>
          <a:p>
            <a:pPr marL="0" indent="0">
              <a:buNone/>
            </a:pPr>
            <a:endParaRPr lang="fr-FR" dirty="0"/>
          </a:p>
        </p:txBody>
      </p:sp>
    </p:spTree>
    <p:extLst>
      <p:ext uri="{BB962C8B-B14F-4D97-AF65-F5344CB8AC3E}">
        <p14:creationId xmlns:p14="http://schemas.microsoft.com/office/powerpoint/2010/main" val="28308521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BF555F5-BDB2-462B-864B-C58B9A4F658B}"/>
              </a:ext>
            </a:extLst>
          </p:cNvPr>
          <p:cNvSpPr>
            <a:spLocks noGrp="1"/>
          </p:cNvSpPr>
          <p:nvPr>
            <p:ph type="title"/>
          </p:nvPr>
        </p:nvSpPr>
        <p:spPr/>
        <p:txBody>
          <a:bodyPr/>
          <a:lstStyle/>
          <a:p>
            <a:r>
              <a:rPr lang="fr-CA" dirty="0"/>
              <a:t> </a:t>
            </a:r>
            <a:endParaRPr lang="fr-FR" dirty="0"/>
          </a:p>
        </p:txBody>
      </p:sp>
      <p:sp>
        <p:nvSpPr>
          <p:cNvPr id="3" name="Espace réservé du contenu 2">
            <a:extLst>
              <a:ext uri="{FF2B5EF4-FFF2-40B4-BE49-F238E27FC236}">
                <a16:creationId xmlns:a16="http://schemas.microsoft.com/office/drawing/2014/main" id="{7DA8570F-0629-40E4-A8F9-68B4071E60BD}"/>
              </a:ext>
            </a:extLst>
          </p:cNvPr>
          <p:cNvSpPr>
            <a:spLocks noGrp="1"/>
          </p:cNvSpPr>
          <p:nvPr>
            <p:ph idx="1"/>
          </p:nvPr>
        </p:nvSpPr>
        <p:spPr/>
        <p:txBody>
          <a:bodyPr/>
          <a:lstStyle/>
          <a:p>
            <a:pPr marL="0" indent="0">
              <a:buNone/>
            </a:pPr>
            <a:r>
              <a:rPr lang="fr-CA" dirty="0"/>
              <a:t>« Je</a:t>
            </a:r>
            <a:r>
              <a:rPr lang="fr-CA" sz="2400" dirty="0"/>
              <a:t>an-Philippe estime qu’au 31 décembre, il aura 450 plants, chaque plant produisant en moyenne 125 grammes de produits finis, dont le prix a été établi à 4,05 $ par gramme selon l’entente avec l’intermédiaire. Pour être réaliste, il note qu’il faudrait tout de même prévoir des pertes de 5 %, avant l’étape finale de produits finis. »</a:t>
            </a:r>
            <a:endParaRPr lang="fr-FR" sz="2400" dirty="0"/>
          </a:p>
          <a:p>
            <a:pPr marL="0" indent="0">
              <a:buNone/>
            </a:pPr>
            <a:r>
              <a:rPr lang="fr-CA" sz="2400" dirty="0"/>
              <a:t> </a:t>
            </a:r>
            <a:endParaRPr lang="fr-FR" sz="2400" dirty="0"/>
          </a:p>
          <a:p>
            <a:pPr marL="0" indent="0">
              <a:buNone/>
            </a:pPr>
            <a:r>
              <a:rPr lang="fr-CA" sz="2400" dirty="0"/>
              <a:t>450 plants * 125 grammes de produits * 4,05 $ par gramme * (1 – 5 % pour les pertes) =216 422 $.</a:t>
            </a:r>
            <a:endParaRPr lang="fr-FR" sz="2400" dirty="0"/>
          </a:p>
          <a:p>
            <a:pPr marL="0" indent="0">
              <a:buNone/>
            </a:pPr>
            <a:r>
              <a:rPr lang="fr-CA" sz="2400" dirty="0"/>
              <a:t>De cette somme il faut soustraire le coût pour terminer la production (dans l’état actuel).</a:t>
            </a:r>
            <a:endParaRPr lang="fr-FR" sz="2400" dirty="0"/>
          </a:p>
          <a:p>
            <a:pPr marL="0" indent="0">
              <a:buNone/>
            </a:pPr>
            <a:endParaRPr lang="fr-FR" dirty="0"/>
          </a:p>
        </p:txBody>
      </p:sp>
    </p:spTree>
    <p:extLst>
      <p:ext uri="{BB962C8B-B14F-4D97-AF65-F5344CB8AC3E}">
        <p14:creationId xmlns:p14="http://schemas.microsoft.com/office/powerpoint/2010/main" val="19235308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548789-8F36-4868-8B60-1BEC7A26280A}"/>
              </a:ext>
            </a:extLst>
          </p:cNvPr>
          <p:cNvSpPr>
            <a:spLocks noGrp="1"/>
          </p:cNvSpPr>
          <p:nvPr>
            <p:ph type="title"/>
          </p:nvPr>
        </p:nvSpPr>
        <p:spPr/>
        <p:txBody>
          <a:bodyPr/>
          <a:lstStyle/>
          <a:p>
            <a:r>
              <a:rPr lang="fr-CA" sz="3600" b="1" dirty="0"/>
              <a:t>Indicateur 8 : </a:t>
            </a:r>
            <a:r>
              <a:rPr lang="fr-FR" sz="3600" b="1" dirty="0"/>
              <a:t>Plants de cannabis</a:t>
            </a:r>
            <a:endParaRPr lang="fr-FR" b="1" dirty="0"/>
          </a:p>
        </p:txBody>
      </p:sp>
      <p:sp>
        <p:nvSpPr>
          <p:cNvPr id="3" name="Espace réservé du contenu 2">
            <a:extLst>
              <a:ext uri="{FF2B5EF4-FFF2-40B4-BE49-F238E27FC236}">
                <a16:creationId xmlns:a16="http://schemas.microsoft.com/office/drawing/2014/main" id="{226B9EF1-E71F-48A1-9F9F-373F1C571101}"/>
              </a:ext>
            </a:extLst>
          </p:cNvPr>
          <p:cNvSpPr>
            <a:spLocks noGrp="1"/>
          </p:cNvSpPr>
          <p:nvPr>
            <p:ph idx="1"/>
          </p:nvPr>
        </p:nvSpPr>
        <p:spPr/>
        <p:txBody>
          <a:bodyPr>
            <a:normAutofit/>
          </a:bodyPr>
          <a:lstStyle/>
          <a:p>
            <a:pPr marL="0" indent="0">
              <a:buNone/>
            </a:pPr>
            <a:r>
              <a:rPr lang="fr-FR" sz="2400" dirty="0"/>
              <a:t>EVC – Analyse adéquatement plante productrice </a:t>
            </a:r>
            <a:r>
              <a:rPr lang="fr-FR" sz="2400" b="1" dirty="0"/>
              <a:t>OU</a:t>
            </a:r>
            <a:r>
              <a:rPr lang="fr-FR" sz="2400" dirty="0"/>
              <a:t> Mesure (calcul ou marché) </a:t>
            </a:r>
            <a:r>
              <a:rPr lang="fr-FR" sz="2400" b="1" dirty="0"/>
              <a:t>OU </a:t>
            </a:r>
            <a:r>
              <a:rPr lang="fr-FR" sz="2400" dirty="0"/>
              <a:t>les deux mais avec petites erreurs</a:t>
            </a:r>
          </a:p>
          <a:p>
            <a:pPr marL="0" indent="0">
              <a:buNone/>
            </a:pPr>
            <a:endParaRPr lang="fr-FR" sz="2400" dirty="0"/>
          </a:p>
          <a:p>
            <a:pPr marL="0" indent="0">
              <a:buNone/>
            </a:pPr>
            <a:r>
              <a:rPr lang="fr-FR" sz="2400" dirty="0"/>
              <a:t>C – Analyse adéquatement plante productrice ET Mesure (calcul ou marché)</a:t>
            </a:r>
          </a:p>
          <a:p>
            <a:pPr marL="0" indent="0">
              <a:buNone/>
            </a:pPr>
            <a:endParaRPr lang="fr-FR" sz="2400" dirty="0"/>
          </a:p>
          <a:p>
            <a:pPr marL="0" indent="0">
              <a:buNone/>
            </a:pPr>
            <a:r>
              <a:rPr lang="fr-FR" sz="2400" dirty="0"/>
              <a:t>CD - Analyse adéquatement plante productrice ET Mesure, incluant IFRS 13 pour justifier « marché »</a:t>
            </a:r>
          </a:p>
          <a:p>
            <a:pPr marL="0" indent="0">
              <a:buNone/>
            </a:pPr>
            <a:endParaRPr lang="fr-FR" sz="2400" dirty="0">
              <a:solidFill>
                <a:srgbClr val="FF0000"/>
              </a:solidFill>
            </a:endParaRPr>
          </a:p>
          <a:p>
            <a:pPr marL="0" indent="0">
              <a:buNone/>
            </a:pPr>
            <a:r>
              <a:rPr lang="fr-FR" sz="2400" dirty="0">
                <a:solidFill>
                  <a:srgbClr val="0070C0"/>
                </a:solidFill>
              </a:rPr>
              <a:t>Moyenne : 1,9</a:t>
            </a:r>
          </a:p>
        </p:txBody>
      </p:sp>
    </p:spTree>
    <p:extLst>
      <p:ext uri="{BB962C8B-B14F-4D97-AF65-F5344CB8AC3E}">
        <p14:creationId xmlns:p14="http://schemas.microsoft.com/office/powerpoint/2010/main" val="2315515004"/>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501</TotalTime>
  <Words>4924</Words>
  <Application>Microsoft Office PowerPoint</Application>
  <PresentationFormat>Grand écran</PresentationFormat>
  <Paragraphs>343</Paragraphs>
  <Slides>38</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38</vt:i4>
      </vt:variant>
    </vt:vector>
  </HeadingPairs>
  <TitlesOfParts>
    <vt:vector size="42" baseType="lpstr">
      <vt:lpstr>Arial</vt:lpstr>
      <vt:lpstr>Calibri</vt:lpstr>
      <vt:lpstr>Calibri Light</vt:lpstr>
      <vt:lpstr>Thème Office</vt:lpstr>
      <vt:lpstr>40938 examen intra</vt:lpstr>
      <vt:lpstr>Examen intra</vt:lpstr>
      <vt:lpstr>Indicateur 1 : Acquisition d’un bâtiment et de terres</vt:lpstr>
      <vt:lpstr>Présentation PowerPoint</vt:lpstr>
      <vt:lpstr>Présentation PowerPoint</vt:lpstr>
      <vt:lpstr>Indicateur 1 : Acquisition d’un bâtiment et de terres</vt:lpstr>
      <vt:lpstr>Indicateur 2 : Acquisition d’un bâtiment et de terres – nature et mesure</vt:lpstr>
      <vt:lpstr> </vt:lpstr>
      <vt:lpstr> </vt:lpstr>
      <vt:lpstr>Indicateur 2 : Acquisition d’un bâtiment et de terres – nature et mesure</vt:lpstr>
      <vt:lpstr>Indicateur 3 : Contrat de location</vt:lpstr>
      <vt:lpstr> </vt:lpstr>
      <vt:lpstr>  </vt:lpstr>
      <vt:lpstr>Présentation PowerPoint</vt:lpstr>
      <vt:lpstr>Indicateur 3 : Contrat de location</vt:lpstr>
      <vt:lpstr>Indicateur 4 : Plants de fraises</vt:lpstr>
      <vt:lpstr> </vt:lpstr>
      <vt:lpstr> </vt:lpstr>
      <vt:lpstr>Indicateur 4 : Plants de fraises</vt:lpstr>
      <vt:lpstr>Indicateur 5 : Lampes (devises)</vt:lpstr>
      <vt:lpstr>  </vt:lpstr>
      <vt:lpstr>Indicateur 5 : Lampes (devises)</vt:lpstr>
      <vt:lpstr>Indicateur 6 : Prêt-subvention</vt:lpstr>
      <vt:lpstr> </vt:lpstr>
      <vt:lpstr>  </vt:lpstr>
      <vt:lpstr>Indicateur 6 : Prêt-subvention</vt:lpstr>
      <vt:lpstr>Indicateur 7 : Prêt de Jean-Philippe – et non prêt de la banque</vt:lpstr>
      <vt:lpstr> </vt:lpstr>
      <vt:lpstr> </vt:lpstr>
      <vt:lpstr> </vt:lpstr>
      <vt:lpstr>Indicateur 7 : Prêt de Jean-Philippe</vt:lpstr>
      <vt:lpstr>Indicateur 8 : Plants de cannabis</vt:lpstr>
      <vt:lpstr> </vt:lpstr>
      <vt:lpstr>Présentation PowerPoint</vt:lpstr>
      <vt:lpstr>Présentation PowerPoint</vt:lpstr>
      <vt:lpstr>  </vt:lpstr>
      <vt:lpstr> </vt:lpstr>
      <vt:lpstr>Indicateur 8 : Plants de cannabis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40938 examen intra</dc:title>
  <dc:creator>louise overbeek</dc:creator>
  <cp:lastModifiedBy>louise overbeek</cp:lastModifiedBy>
  <cp:revision>17</cp:revision>
  <dcterms:created xsi:type="dcterms:W3CDTF">2020-11-01T18:55:12Z</dcterms:created>
  <dcterms:modified xsi:type="dcterms:W3CDTF">2021-02-09T20:13:12Z</dcterms:modified>
</cp:coreProperties>
</file>